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D1A88E33-0907-4EA7-AB97-FFD6E1B9EC48}"/>
    <pc:docChg chg="undo custSel addSld modSld modMainMaster">
      <pc:chgData name="Yujan Basnet" userId="495fd8277ebfbaef" providerId="LiveId" clId="{D1A88E33-0907-4EA7-AB97-FFD6E1B9EC48}" dt="2025-04-30T01:58:21.266" v="334" actId="1035"/>
      <pc:docMkLst>
        <pc:docMk/>
      </pc:docMkLst>
      <pc:sldChg chg="modSp mod">
        <pc:chgData name="Yujan Basnet" userId="495fd8277ebfbaef" providerId="LiveId" clId="{D1A88E33-0907-4EA7-AB97-FFD6E1B9EC48}" dt="2025-04-30T01:58:21.266" v="334" actId="1035"/>
        <pc:sldMkLst>
          <pc:docMk/>
          <pc:sldMk cId="3982245767" sldId="256"/>
        </pc:sldMkLst>
        <pc:spChg chg="mod">
          <ac:chgData name="Yujan Basnet" userId="495fd8277ebfbaef" providerId="LiveId" clId="{D1A88E33-0907-4EA7-AB97-FFD6E1B9EC48}" dt="2025-04-30T01:58:21.266" v="334" actId="1035"/>
          <ac:spMkLst>
            <pc:docMk/>
            <pc:sldMk cId="3982245767" sldId="256"/>
            <ac:spMk id="4" creationId="{DF2A19BA-56A7-90EF-4BBF-0926F5561758}"/>
          </ac:spMkLst>
        </pc:spChg>
      </pc:sldChg>
      <pc:sldChg chg="modSp mod">
        <pc:chgData name="Yujan Basnet" userId="495fd8277ebfbaef" providerId="LiveId" clId="{D1A88E33-0907-4EA7-AB97-FFD6E1B9EC48}" dt="2025-04-30T01:37:50.789" v="1" actId="27636"/>
        <pc:sldMkLst>
          <pc:docMk/>
          <pc:sldMk cId="2840672152" sldId="258"/>
        </pc:sldMkLst>
        <pc:spChg chg="mod">
          <ac:chgData name="Yujan Basnet" userId="495fd8277ebfbaef" providerId="LiveId" clId="{D1A88E33-0907-4EA7-AB97-FFD6E1B9EC48}" dt="2025-04-30T01:37:50.789" v="1" actId="27636"/>
          <ac:spMkLst>
            <pc:docMk/>
            <pc:sldMk cId="2840672152" sldId="258"/>
            <ac:spMk id="3" creationId="{11ACC4B5-8154-2ED2-F0BA-45AB190400E0}"/>
          </ac:spMkLst>
        </pc:spChg>
      </pc:sldChg>
      <pc:sldChg chg="modSp mod modNotesTx">
        <pc:chgData name="Yujan Basnet" userId="495fd8277ebfbaef" providerId="LiveId" clId="{D1A88E33-0907-4EA7-AB97-FFD6E1B9EC48}" dt="2025-04-30T01:57:51.479" v="322" actId="20577"/>
        <pc:sldMkLst>
          <pc:docMk/>
          <pc:sldMk cId="2388321956" sldId="262"/>
        </pc:sldMkLst>
        <pc:spChg chg="mod">
          <ac:chgData name="Yujan Basnet" userId="495fd8277ebfbaef" providerId="LiveId" clId="{D1A88E33-0907-4EA7-AB97-FFD6E1B9EC48}" dt="2025-04-30T01:49:43.445" v="165" actId="113"/>
          <ac:spMkLst>
            <pc:docMk/>
            <pc:sldMk cId="2388321956" sldId="262"/>
            <ac:spMk id="2" creationId="{4314F981-6AC1-BDD0-0562-6B953507CAFE}"/>
          </ac:spMkLst>
        </pc:spChg>
        <pc:spChg chg="mod">
          <ac:chgData name="Yujan Basnet" userId="495fd8277ebfbaef" providerId="LiveId" clId="{D1A88E33-0907-4EA7-AB97-FFD6E1B9EC48}" dt="2025-04-30T01:55:51.295" v="288" actId="20577"/>
          <ac:spMkLst>
            <pc:docMk/>
            <pc:sldMk cId="2388321956" sldId="262"/>
            <ac:spMk id="3" creationId="{8A9BA955-F9C8-2565-1195-8E9AFC6BC946}"/>
          </ac:spMkLst>
        </pc:spChg>
      </pc:sldChg>
      <pc:sldChg chg="modSp new mod modNotesTx">
        <pc:chgData name="Yujan Basnet" userId="495fd8277ebfbaef" providerId="LiveId" clId="{D1A88E33-0907-4EA7-AB97-FFD6E1B9EC48}" dt="2025-04-30T01:56:57.257" v="303" actId="403"/>
        <pc:sldMkLst>
          <pc:docMk/>
          <pc:sldMk cId="3126713030" sldId="267"/>
        </pc:sldMkLst>
        <pc:spChg chg="mod">
          <ac:chgData name="Yujan Basnet" userId="495fd8277ebfbaef" providerId="LiveId" clId="{D1A88E33-0907-4EA7-AB97-FFD6E1B9EC48}" dt="2025-04-30T01:49:50.909" v="169" actId="113"/>
          <ac:spMkLst>
            <pc:docMk/>
            <pc:sldMk cId="3126713030" sldId="267"/>
            <ac:spMk id="2" creationId="{E272DDF4-AAAE-0385-55CB-331444362611}"/>
          </ac:spMkLst>
        </pc:spChg>
        <pc:spChg chg="mod">
          <ac:chgData name="Yujan Basnet" userId="495fd8277ebfbaef" providerId="LiveId" clId="{D1A88E33-0907-4EA7-AB97-FFD6E1B9EC48}" dt="2025-04-30T01:56:57.257" v="303" actId="403"/>
          <ac:spMkLst>
            <pc:docMk/>
            <pc:sldMk cId="3126713030" sldId="267"/>
            <ac:spMk id="3" creationId="{01C7D97E-A36F-E6D9-233D-3F39E8111C46}"/>
          </ac:spMkLst>
        </pc:spChg>
      </pc:sldChg>
      <pc:sldMasterChg chg="modSldLayout">
        <pc:chgData name="Yujan Basnet" userId="495fd8277ebfbaef" providerId="LiveId" clId="{D1A88E33-0907-4EA7-AB97-FFD6E1B9EC48}" dt="2025-04-30T01:47:37.460" v="123" actId="207"/>
        <pc:sldMasterMkLst>
          <pc:docMk/>
          <pc:sldMasterMk cId="3759122237" sldId="2147483648"/>
        </pc:sldMasterMkLst>
        <pc:sldLayoutChg chg="modSp">
          <pc:chgData name="Yujan Basnet" userId="495fd8277ebfbaef" providerId="LiveId" clId="{D1A88E33-0907-4EA7-AB97-FFD6E1B9EC48}" dt="2025-04-30T01:47:37.460" v="123" actId="207"/>
          <pc:sldLayoutMkLst>
            <pc:docMk/>
            <pc:sldMasterMk cId="3759122237" sldId="2147483648"/>
            <pc:sldLayoutMk cId="1986362860" sldId="2147483650"/>
          </pc:sldLayoutMkLst>
          <pc:spChg chg="mod">
            <ac:chgData name="Yujan Basnet" userId="495fd8277ebfbaef" providerId="LiveId" clId="{D1A88E33-0907-4EA7-AB97-FFD6E1B9EC48}" dt="2025-04-30T01:47:20.106" v="121" actId="2711"/>
            <ac:spMkLst>
              <pc:docMk/>
              <pc:sldMasterMk cId="3759122237" sldId="2147483648"/>
              <pc:sldLayoutMk cId="1986362860" sldId="2147483650"/>
              <ac:spMk id="2" creationId="{BF083C14-CC46-5970-0A09-C4B8B98DD066}"/>
            </ac:spMkLst>
          </pc:spChg>
          <pc:spChg chg="mod">
            <ac:chgData name="Yujan Basnet" userId="495fd8277ebfbaef" providerId="LiveId" clId="{D1A88E33-0907-4EA7-AB97-FFD6E1B9EC48}" dt="2025-04-30T01:47:29.179" v="122" actId="207"/>
            <ac:spMkLst>
              <pc:docMk/>
              <pc:sldMasterMk cId="3759122237" sldId="2147483648"/>
              <pc:sldLayoutMk cId="1986362860" sldId="2147483650"/>
              <ac:spMk id="4" creationId="{E8715F68-EFCB-617A-31E9-D45FA1AD032B}"/>
            </ac:spMkLst>
          </pc:spChg>
          <pc:spChg chg="mod">
            <ac:chgData name="Yujan Basnet" userId="495fd8277ebfbaef" providerId="LiveId" clId="{D1A88E33-0907-4EA7-AB97-FFD6E1B9EC48}" dt="2025-04-30T01:47:37.460" v="123" actId="207"/>
            <ac:spMkLst>
              <pc:docMk/>
              <pc:sldMasterMk cId="3759122237" sldId="2147483648"/>
              <pc:sldLayoutMk cId="1986362860" sldId="2147483650"/>
              <ac:spMk id="5" creationId="{8C442806-06B6-183C-49A3-FAD53E1A0096}"/>
            </ac:spMkLst>
          </pc:spChg>
          <pc:spChg chg="mod">
            <ac:chgData name="Yujan Basnet" userId="495fd8277ebfbaef" providerId="LiveId" clId="{D1A88E33-0907-4EA7-AB97-FFD6E1B9EC48}" dt="2025-04-30T01:47:11.466" v="120" actId="403"/>
            <ac:spMkLst>
              <pc:docMk/>
              <pc:sldMasterMk cId="3759122237" sldId="2147483648"/>
              <pc:sldLayoutMk cId="1986362860" sldId="2147483650"/>
              <ac:spMk id="6" creationId="{06CEF7E0-93B1-2B32-1C6B-9524801E0E5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B2844-6211-4EF4-82AC-2AAFF534598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C5EA5-5B12-469B-90AC-60678E609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Object Model</a:t>
            </a:r>
            <a:r>
              <a:rPr lang="en-US" dirty="0"/>
              <a:t> – Describes the </a:t>
            </a:r>
            <a:r>
              <a:rPr lang="en-US" b="1" dirty="0"/>
              <a:t>static structure</a:t>
            </a:r>
            <a:r>
              <a:rPr lang="en-US" dirty="0"/>
              <a:t> of the system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Relationships (e.g., associations, generalizations)</a:t>
            </a:r>
          </a:p>
          <a:p>
            <a:pPr>
              <a:buNone/>
            </a:pPr>
            <a:r>
              <a:rPr lang="en-US" b="1" dirty="0"/>
              <a:t>Dynamic Model</a:t>
            </a:r>
            <a:r>
              <a:rPr lang="en-US" dirty="0"/>
              <a:t> – Describes the </a:t>
            </a:r>
            <a:r>
              <a:rPr lang="en-US" b="1" dirty="0"/>
              <a:t>behavior over time</a:t>
            </a:r>
            <a:r>
              <a:rPr lang="en-US" dirty="0"/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and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Transitions</a:t>
            </a:r>
          </a:p>
          <a:p>
            <a:pPr>
              <a:buNone/>
            </a:pPr>
            <a:r>
              <a:rPr lang="en-US" b="1" dirty="0"/>
              <a:t>Functional Model</a:t>
            </a:r>
            <a:r>
              <a:rPr lang="en-US" dirty="0"/>
              <a:t> – Describes </a:t>
            </a:r>
            <a:r>
              <a:rPr lang="en-US" b="1" dirty="0"/>
              <a:t>data transformations and computations</a:t>
            </a:r>
            <a:r>
              <a:rPr lang="en-US" dirty="0"/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flow diagrams (DFDs)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Functions/processes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stores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5EA5-5B12-469B-90AC-60678E6097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system structure.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system behavior over time.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how data flows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5EA5-5B12-469B-90AC-60678E6097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56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System Design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This is the second phase of the object modeling technique and it comes after the analysis phase.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It determines all system architecture, concurrent tasks and data storage. 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High level architecture of the system is designed during this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5EA5-5B12-469B-90AC-60678E6097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4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Generalization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Inheritance &gt; Dog → Animal -&gt; Is-a (relationship)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b="1" dirty="0"/>
              <a:t>Aggregation</a:t>
            </a:r>
          </a:p>
          <a:p>
            <a:pPr marL="0" indent="0">
              <a:buFontTx/>
              <a:buNone/>
            </a:pPr>
            <a:r>
              <a:rPr lang="en-US" dirty="0"/>
              <a:t>- Association &gt; Library → Books &gt; Has-a (Relationship)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5EA5-5B12-469B-90AC-60678E6097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8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231F-37E7-CAA8-31BC-DAEFF4592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9485C-5EF3-EA8D-3F58-499E4A99B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CA68D-04C5-34FD-EF0D-93A309477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94F07-C3E8-43F6-971B-69ED6998970E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9C87-0667-7F57-024F-C0A94D98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F5984-17DA-CD40-8D74-5BDBF1CC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9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3C14-CC46-5970-0A09-C4B8B98D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E125-0070-A99C-7827-F0CD732F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5F68-EFCB-617A-31E9-D45FA1AD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455525-DEEB-46FB-9155-98FE832C5F82}" type="datetime1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42806-06B6-183C-49A3-FAD53E1A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Object Modeling Technique(OMT)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EF7E0-93B1-2B32-1C6B-9524801E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E602A5B-1DED-465D-9304-F5608C40DC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6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2129-DB47-6922-3E98-A5CF1D62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3E169-E9B2-8EBA-8852-8952F92F9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AC2F9-83DD-5750-2269-D2F7C07E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F3DC-EA03-4171-92EA-2D884C387D8B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1D58-7953-C2FC-FBC5-0BBA0C75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6C37D-C6E0-1647-F256-60262888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553D-C9FF-B2D5-3B02-5F45D13E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2C8D-4812-6D48-092F-6078802DF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9140-9180-EB48-69F0-BB02CEB69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E2D31-81BC-3DA1-5233-B7745EB9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A1A-92FE-4E04-913F-2E06CD6AA069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46E5-F314-C09A-4773-1A17FDA6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CDFB6-0331-546D-12A9-2EC85C82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2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4842-A6D1-44A8-FA9B-A97FA930D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37A73-B33C-620D-0698-72C6EE99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8F19D-7CB2-7395-8867-B369B140D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17487-EED4-CFB7-CE22-7B8F05015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56721-C636-D1FB-404A-2A7A7FB38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B4855-2D8C-BA9C-F944-A4B65A78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13C-CCE6-460B-881A-1F8165F80F74}" type="datetime1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1A1CB-A81E-934B-23C3-4C0C6A03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F4C86-BAF8-575B-CAEF-733BEF69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2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3F4C-D532-4A4C-3A9D-C0B6D8EC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D65EE-1A4B-DE20-8E7D-96400C15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19C6-9D54-4688-9C46-1FC70EECDBCB}" type="datetime1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694EE-FAE1-2A8E-1AAE-70D68150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D2D10-7015-17E5-315A-70575052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8E2F4-81FF-CCD6-34AD-DD1325F0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6751-FF58-48DA-A32B-BBA43377DEDF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9DAE7-4898-9688-0D09-2023291A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81098-034E-15E7-B601-5C0BF658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2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E0C-C689-891D-31A6-BDDE5A26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07A0-32F5-6A63-77E2-75DA407A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3543B-DD79-0507-A7FD-8AC1C50D1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BBE33-C8A4-FEE0-8717-D9E17E1A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10139-28C9-4CF7-927C-D3A50C4E3455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8C45E-E341-59A6-A467-1C5C0D25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8F392-A375-B501-AA9F-76A7E556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0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5E5A-DF47-68D5-E84D-D24A629A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F6EAF-0A6D-449D-BC0E-45BF2180C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79039-3E79-9FA7-7E85-8DCBCFE3D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84C6E-E647-57A5-4EB8-1C5334C0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6C29-1570-4245-9F89-041D39D66D1D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0FCEB-8711-02E2-D50C-2521F60B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6AB6B-29CE-B9C5-E0AC-FD7A29C0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4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5734-06E8-768F-AA4A-FA0D6A4D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961D7-1A87-83BA-C67D-7AAD1880F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15E8-D9A0-0220-A5C3-559F22FE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7BC6-6360-43B3-A57A-4EC25AABA91F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CE50-89F1-012E-5F53-93F966BE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025A-B740-095C-06A1-2102A889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0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E450C-A8C7-5E45-4AB1-C230078B9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10A89-B80A-9952-040E-76D7773EE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67D1-94D3-1521-C66B-402BE785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6F86-9ECB-4205-9EA1-DB4FCDBCDDFE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5AE2-43D3-6C82-BFE2-ECE56D61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28FDC-9EBB-DA78-FD82-4C4105E5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3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8AAA6-8514-CD6F-846E-C68BCADD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E06EE-CD68-4B32-DC82-96F610266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17548-90D2-44CA-C48F-76187C7E3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06EC1-424C-46F6-8B5E-1700BAACA334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91AA9-4DDB-7BFB-DFB1-F6DC0287B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B8702-EB3A-DEFE-EF62-4BC05D602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02A5B-1DED-465D-9304-F5608C40D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2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F191-84DE-0C3C-64BB-52BE6AB1FA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Object Modeling Technique (OMT)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A Structured Approach to Object-Oriented Modeling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1C811-B07B-4333-6E1F-B38236446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Aadrsh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Kumar Gupta </a:t>
            </a:r>
          </a:p>
          <a:p>
            <a:pPr algn="ctr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Manjuli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Sharma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Yujan Basnet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A19BA-56A7-90EF-4BBF-0926F5561758}"/>
              </a:ext>
            </a:extLst>
          </p:cNvPr>
          <p:cNvSpPr txBox="1"/>
          <p:nvPr/>
        </p:nvSpPr>
        <p:spPr>
          <a:xfrm>
            <a:off x="4806704" y="5088984"/>
            <a:ext cx="257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CSIT First Semester</a:t>
            </a:r>
          </a:p>
        </p:txBody>
      </p:sp>
    </p:spTree>
    <p:extLst>
      <p:ext uri="{BB962C8B-B14F-4D97-AF65-F5344CB8AC3E}">
        <p14:creationId xmlns:p14="http://schemas.microsoft.com/office/powerpoint/2010/main" val="398224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4FB2-EE0B-2DAA-EDDE-8343C4AE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1FC50-8143-3CC8-A5D2-1E2D47F39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OMT is an object-oriented modeling methodology developed                 by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James Rumbaugh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in the 1990s.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It provides a structured way to model software systems using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objects, classes, and relationships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Used in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design, analysis, and implementation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Forms the basis for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Unified Modeling Language (UML)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A3C4-3A50-DD40-F9FF-71244201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236C2-E708-4952-9156-461ED0165DDF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B79F-0F8B-9B97-D295-16665BE8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075FB-820C-E415-62C9-49B3B5E8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8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42B6-1DA8-4B61-934E-38AB4CFA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C4B5-8154-2ED2-F0BA-45AB19040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object-oriented software engineering methodology used for analyzing and designing systems.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models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describe different aspects of a system: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Object models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 (static structure)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Dynamic models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 (behavior over time)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Functional models</a:t>
            </a:r>
            <a:r>
              <a:rPr lang="en-US" sz="2800" dirty="0">
                <a:latin typeface="Times New Roman" panose="02020603050405020304" pitchFamily="18" charset="0"/>
                <a:cs typeface="Times New Roman" pitchFamily="18" charset="0"/>
              </a:rPr>
              <a:t> (data transformations)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77F21-C352-C96B-796E-59C0F1F7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7837-B9A8-45BD-AB6E-F3D18A77BCC1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7C36-F2E7-A455-D6D1-4D3A9AD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C3CD-2648-0B68-B952-53BD772F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7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D2C2-532A-E00D-2180-AA3EE87E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Why Use OMT?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29195-6EE3-1B15-3660-D9CD6A7E1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Improves software design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by breaking down complex systems.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Enhances reusability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through object-oriented principles.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Provides clear documentation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for better understanding.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Supports large-scale system modeling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Reduces development time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by identifying issues early.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090CB-673F-F2C3-992B-DF9B9EBD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779DA-3253-4412-BA63-2B14C6FCDD21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3C8E1-F4F5-1249-9005-F5C02C22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EA1EB-A18D-8033-CFDF-57929524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4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A39C-C125-A1CD-FD42-6E52A02D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Key Aspects of OMT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99590-40DC-9FEE-61E4-C47A82AD6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 Model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Represents static structure (classes, objects, relationships).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Dynamic Model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Describes system behavior over time (state transitions).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Functional Model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Defines data flow and transformations (DFD, functions).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1737-7229-E594-E653-56A9FA1C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C447-6EF8-46BF-8801-183FD0CB2F4B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62C6-31F7-AA01-A7BB-F3188099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9843B-4CF9-2099-1C0C-0D009EAB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0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8EEC-4505-AF0E-7FE7-ED4EC4F3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Benefits of OMT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E7D23-2E35-3C62-7A94-D85DE673B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Modularity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Breaks system into manageable objects.</a:t>
            </a:r>
          </a:p>
          <a:p>
            <a:pPr marL="0" indent="0">
              <a:buNone/>
            </a:pP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Reusability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Objects can be reused across projects.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Supports large and complex systems.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Clarity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Visual models improve understanding.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Maintainability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Easier to update and modify.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61F5-2507-FF55-AA82-208F879B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36A6-D633-4C40-8303-FB288DBBE161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FDFE-2EB4-362F-AE1C-44F6EE0B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B28E-33FB-6FD5-D6AC-E6778038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6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F981-6AC1-BDD0-0562-6B953507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Phases of Object Modeling Technique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A955-F9C8-2565-1195-8E9AFC6BC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b="1" dirty="0"/>
              <a:t>Analysis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Analysis phase starts with setting a goal i.e. finding the problem statement.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Problem statement is further divided into above discussed three models i.e. object, dynamic and functional model.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System Design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effectLst/>
              </a:rPr>
              <a:t>High level architecture of the system is designed during this phase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10AF0-77E6-1461-0327-6AEE46CE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AEF8-9FD5-4691-986C-23BBCE1B20C6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98FFC-92FD-5193-0BB8-CB94C7A3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FA891-D9B8-A903-6E9A-36571976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2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DF4-AAAE-0385-55CB-33144436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Phases of Object Modeling Technique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D97E-A36F-E6D9-233D-3F39E811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Object Design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Classifies objects into classes, defines their attributes and operations, and addresses generalization and aggregation.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b="1" dirty="0"/>
              <a:t>Implementation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Converts the object design into actual working software through coding and integration.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14DA-EA4E-D1C6-6D64-C09692B1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55525-DEEB-46FB-9155-98FE832C5F82}" type="datetime1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3909-E792-DE24-10AA-F1C17EE4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3EA90-DBEF-180A-C673-23D7ABB1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5EF6-E936-1D55-D139-992E83DF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 – Library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85ED-4470-1389-744D-01A088E47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Classes: Book, Member, Loan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Relationships: Member borrows Book, Loan records transaction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Dynamic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States: Available, Borrowed, Overdue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Transitions: Check-out, Return, Renew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Functional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Processes: Issue Book, Return Book, Calculate Fine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4C0DB-30AE-CA5A-8A28-42C43819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8FE9-E272-4B1C-9712-37A532A79A93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38778-9686-79DD-BCD0-8144681A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C7C2F-02F0-2A08-4D10-C4EAB18E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8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66BB-59DB-4083-7B15-DAB36C90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3A3CD-1314-9612-E913-CAE87EB0B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OMT is a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powerful object-oriented modeling technique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Helps in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structured system design and analysis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Used in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real-world applications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like banking, healthcare, and enterprise software.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Forms the foundation for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modern UML diagrams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258C6-6C1F-775D-0638-D4622173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35F05-0780-4FBE-93DC-9E9FF9ABE762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14927-2EA8-37FC-BBC3-241BF2CB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35986-E6BF-FD02-F6F2-C2EB6E78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2A5B-1DED-465D-9304-F5608C40DC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97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177281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Thank You!</a:t>
            </a:r>
          </a:p>
          <a:p>
            <a:pPr algn="ctr"/>
            <a:br>
              <a:rPr lang="en-US" sz="4800" dirty="0"/>
            </a:br>
            <a:r>
              <a:rPr lang="en-US" sz="4800" b="1" dirty="0"/>
              <a:t>Any Questions?</a:t>
            </a:r>
            <a:endParaRPr lang="en-US" sz="4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B11C2-6468-B0A7-841A-29AFD39F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11E4-96B5-48A2-A070-80764EEEE016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43CBD-8D53-E819-AF5F-08D14F63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93C41-C6E3-D068-DA49-C2BBA156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Modeling Technique(OMT)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694</Words>
  <Application>Microsoft Office PowerPoint</Application>
  <PresentationFormat>Widescreen</PresentationFormat>
  <Paragraphs>121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Nunito</vt:lpstr>
      <vt:lpstr>Times New Roman</vt:lpstr>
      <vt:lpstr>Office Theme</vt:lpstr>
      <vt:lpstr>Object Modeling Technique (OMT)  A Structured Approach to Object-Oriented Modeling </vt:lpstr>
      <vt:lpstr>Introduction</vt:lpstr>
      <vt:lpstr>Definition</vt:lpstr>
      <vt:lpstr>Why Use OMT?</vt:lpstr>
      <vt:lpstr>Key Aspects of OMT</vt:lpstr>
      <vt:lpstr>Benefits of OMT</vt:lpstr>
      <vt:lpstr>Phases of Object Modeling Technique </vt:lpstr>
      <vt:lpstr>Phases of Object Modeling Technique </vt:lpstr>
      <vt:lpstr>Example – Library Management System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Yujan Basnet</dc:creator>
  <cp:lastModifiedBy>Yujan Basnet</cp:lastModifiedBy>
  <cp:revision>1</cp:revision>
  <dcterms:created xsi:type="dcterms:W3CDTF">2025-04-30T01:37:35Z</dcterms:created>
  <dcterms:modified xsi:type="dcterms:W3CDTF">2025-04-30T02:05:20Z</dcterms:modified>
</cp:coreProperties>
</file>