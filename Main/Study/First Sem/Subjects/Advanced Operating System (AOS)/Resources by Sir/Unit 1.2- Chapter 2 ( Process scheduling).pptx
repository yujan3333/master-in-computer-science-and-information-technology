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43410C07-F104-4CB4-992F-D2B3489AD2B5}"/>
    <pc:docChg chg="custSel modSld">
      <pc:chgData name="Yujan Basnet" userId="495fd8277ebfbaef" providerId="LiveId" clId="{43410C07-F104-4CB4-992F-D2B3489AD2B5}" dt="2025-04-07T10:46:42.714" v="19" actId="33524"/>
      <pc:docMkLst>
        <pc:docMk/>
      </pc:docMkLst>
      <pc:sldChg chg="modSp mod">
        <pc:chgData name="Yujan Basnet" userId="495fd8277ebfbaef" providerId="LiveId" clId="{43410C07-F104-4CB4-992F-D2B3489AD2B5}" dt="2025-04-07T10:19:02.059" v="5" actId="114"/>
        <pc:sldMkLst>
          <pc:docMk/>
          <pc:sldMk cId="0" sldId="257"/>
        </pc:sldMkLst>
        <pc:spChg chg="mod">
          <ac:chgData name="Yujan Basnet" userId="495fd8277ebfbaef" providerId="LiveId" clId="{43410C07-F104-4CB4-992F-D2B3489AD2B5}" dt="2025-04-07T10:19:02.059" v="5" actId="114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Yujan Basnet" userId="495fd8277ebfbaef" providerId="LiveId" clId="{43410C07-F104-4CB4-992F-D2B3489AD2B5}" dt="2025-04-07T10:31:52.342" v="10" actId="1038"/>
        <pc:sldMkLst>
          <pc:docMk/>
          <pc:sldMk cId="0" sldId="265"/>
        </pc:sldMkLst>
        <pc:spChg chg="mod">
          <ac:chgData name="Yujan Basnet" userId="495fd8277ebfbaef" providerId="LiveId" clId="{43410C07-F104-4CB4-992F-D2B3489AD2B5}" dt="2025-04-07T10:31:52.342" v="10" actId="1038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Yujan Basnet" userId="495fd8277ebfbaef" providerId="LiveId" clId="{43410C07-F104-4CB4-992F-D2B3489AD2B5}" dt="2025-04-07T10:31:27.984" v="9" actId="207"/>
        <pc:sldMkLst>
          <pc:docMk/>
          <pc:sldMk cId="0" sldId="267"/>
        </pc:sldMkLst>
        <pc:spChg chg="mod">
          <ac:chgData name="Yujan Basnet" userId="495fd8277ebfbaef" providerId="LiveId" clId="{43410C07-F104-4CB4-992F-D2B3489AD2B5}" dt="2025-04-07T10:31:27.984" v="9" actId="207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Yujan Basnet" userId="495fd8277ebfbaef" providerId="LiveId" clId="{43410C07-F104-4CB4-992F-D2B3489AD2B5}" dt="2025-04-07T10:36:41.575" v="15" actId="207"/>
        <pc:sldMkLst>
          <pc:docMk/>
          <pc:sldMk cId="0" sldId="268"/>
        </pc:sldMkLst>
        <pc:spChg chg="mod">
          <ac:chgData name="Yujan Basnet" userId="495fd8277ebfbaef" providerId="LiveId" clId="{43410C07-F104-4CB4-992F-D2B3489AD2B5}" dt="2025-04-07T10:36:41.575" v="15" actId="20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Yujan Basnet" userId="495fd8277ebfbaef" providerId="LiveId" clId="{43410C07-F104-4CB4-992F-D2B3489AD2B5}" dt="2025-04-07T10:40:51.340" v="16" actId="207"/>
        <pc:sldMkLst>
          <pc:docMk/>
          <pc:sldMk cId="0" sldId="271"/>
        </pc:sldMkLst>
        <pc:spChg chg="mod">
          <ac:chgData name="Yujan Basnet" userId="495fd8277ebfbaef" providerId="LiveId" clId="{43410C07-F104-4CB4-992F-D2B3489AD2B5}" dt="2025-04-07T10:40:51.340" v="16" actId="20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Yujan Basnet" userId="495fd8277ebfbaef" providerId="LiveId" clId="{43410C07-F104-4CB4-992F-D2B3489AD2B5}" dt="2025-04-07T10:46:42.714" v="19" actId="33524"/>
        <pc:sldMkLst>
          <pc:docMk/>
          <pc:sldMk cId="0" sldId="273"/>
        </pc:sldMkLst>
        <pc:spChg chg="mod">
          <ac:chgData name="Yujan Basnet" userId="495fd8277ebfbaef" providerId="LiveId" clId="{43410C07-F104-4CB4-992F-D2B3489AD2B5}" dt="2025-04-07T10:46:42.714" v="19" actId="33524"/>
          <ac:spMkLst>
            <pc:docMk/>
            <pc:sldMk cId="0" sldId="273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AB0F11C1-DF86-477F-BC06-D193E21A9BF1}"/>
    <pc:docChg chg="custSel addSld modSld modMainMaster">
      <pc:chgData name="Binod Kumar Adhikari" userId="256f5a90-d823-4e8d-9a41-a3da19f4a0ad" providerId="ADAL" clId="{AB0F11C1-DF86-477F-BC06-D193E21A9BF1}" dt="2024-03-21T04:13:28.361" v="179" actId="6549"/>
      <pc:docMkLst>
        <pc:docMk/>
      </pc:docMkLst>
      <pc:sldChg chg="modSp">
        <pc:chgData name="Binod Kumar Adhikari" userId="256f5a90-d823-4e8d-9a41-a3da19f4a0ad" providerId="ADAL" clId="{AB0F11C1-DF86-477F-BC06-D193E21A9BF1}" dt="2024-03-20T15:23:38.698" v="176" actId="113"/>
        <pc:sldMkLst>
          <pc:docMk/>
          <pc:sldMk cId="0" sldId="257"/>
        </pc:sldMkLst>
      </pc:sldChg>
      <pc:sldChg chg="modSp">
        <pc:chgData name="Binod Kumar Adhikari" userId="256f5a90-d823-4e8d-9a41-a3da19f4a0ad" providerId="ADAL" clId="{AB0F11C1-DF86-477F-BC06-D193E21A9BF1}" dt="2024-03-20T15:23:32.010" v="175" actId="113"/>
        <pc:sldMkLst>
          <pc:docMk/>
          <pc:sldMk cId="0" sldId="258"/>
        </pc:sldMkLst>
      </pc:sldChg>
      <pc:sldChg chg="addSp modSp">
        <pc:chgData name="Binod Kumar Adhikari" userId="256f5a90-d823-4e8d-9a41-a3da19f4a0ad" providerId="ADAL" clId="{AB0F11C1-DF86-477F-BC06-D193E21A9BF1}" dt="2024-03-20T15:23:23.738" v="174" actId="14100"/>
        <pc:sldMkLst>
          <pc:docMk/>
          <pc:sldMk cId="0" sldId="259"/>
        </pc:sldMkLst>
      </pc:sldChg>
      <pc:sldChg chg="modSp">
        <pc:chgData name="Binod Kumar Adhikari" userId="256f5a90-d823-4e8d-9a41-a3da19f4a0ad" providerId="ADAL" clId="{AB0F11C1-DF86-477F-BC06-D193E21A9BF1}" dt="2024-03-20T15:23:12.921" v="171" actId="113"/>
        <pc:sldMkLst>
          <pc:docMk/>
          <pc:sldMk cId="0" sldId="260"/>
        </pc:sldMkLst>
      </pc:sldChg>
      <pc:sldChg chg="modSp">
        <pc:chgData name="Binod Kumar Adhikari" userId="256f5a90-d823-4e8d-9a41-a3da19f4a0ad" providerId="ADAL" clId="{AB0F11C1-DF86-477F-BC06-D193E21A9BF1}" dt="2024-03-21T04:10:26.120" v="177" actId="123"/>
        <pc:sldMkLst>
          <pc:docMk/>
          <pc:sldMk cId="0" sldId="261"/>
        </pc:sldMkLst>
      </pc:sldChg>
      <pc:sldChg chg="modSp">
        <pc:chgData name="Binod Kumar Adhikari" userId="256f5a90-d823-4e8d-9a41-a3da19f4a0ad" providerId="ADAL" clId="{AB0F11C1-DF86-477F-BC06-D193E21A9BF1}" dt="2024-03-20T15:08:56.925" v="48" actId="113"/>
        <pc:sldMkLst>
          <pc:docMk/>
          <pc:sldMk cId="0" sldId="262"/>
        </pc:sldMkLst>
      </pc:sldChg>
      <pc:sldChg chg="modSp">
        <pc:chgData name="Binod Kumar Adhikari" userId="256f5a90-d823-4e8d-9a41-a3da19f4a0ad" providerId="ADAL" clId="{AB0F11C1-DF86-477F-BC06-D193E21A9BF1}" dt="2024-03-21T04:13:28.361" v="179" actId="6549"/>
        <pc:sldMkLst>
          <pc:docMk/>
          <pc:sldMk cId="0" sldId="263"/>
        </pc:sldMkLst>
      </pc:sldChg>
      <pc:sldChg chg="modSp">
        <pc:chgData name="Binod Kumar Adhikari" userId="256f5a90-d823-4e8d-9a41-a3da19f4a0ad" providerId="ADAL" clId="{AB0F11C1-DF86-477F-BC06-D193E21A9BF1}" dt="2024-03-20T15:12:54.218" v="69" actId="1035"/>
        <pc:sldMkLst>
          <pc:docMk/>
          <pc:sldMk cId="0" sldId="264"/>
        </pc:sldMkLst>
      </pc:sldChg>
      <pc:sldChg chg="modSp">
        <pc:chgData name="Binod Kumar Adhikari" userId="256f5a90-d823-4e8d-9a41-a3da19f4a0ad" providerId="ADAL" clId="{AB0F11C1-DF86-477F-BC06-D193E21A9BF1}" dt="2024-03-20T15:13:30.177" v="75" actId="1035"/>
        <pc:sldMkLst>
          <pc:docMk/>
          <pc:sldMk cId="0" sldId="265"/>
        </pc:sldMkLst>
      </pc:sldChg>
      <pc:sldChg chg="modSp">
        <pc:chgData name="Binod Kumar Adhikari" userId="256f5a90-d823-4e8d-9a41-a3da19f4a0ad" providerId="ADAL" clId="{AB0F11C1-DF86-477F-BC06-D193E21A9BF1}" dt="2024-03-20T15:13:42.745" v="78" actId="14100"/>
        <pc:sldMkLst>
          <pc:docMk/>
          <pc:sldMk cId="0" sldId="266"/>
        </pc:sldMkLst>
      </pc:sldChg>
      <pc:sldChg chg="modSp">
        <pc:chgData name="Binod Kumar Adhikari" userId="256f5a90-d823-4e8d-9a41-a3da19f4a0ad" providerId="ADAL" clId="{AB0F11C1-DF86-477F-BC06-D193E21A9BF1}" dt="2024-03-20T15:14:06.177" v="86" actId="1035"/>
        <pc:sldMkLst>
          <pc:docMk/>
          <pc:sldMk cId="0" sldId="267"/>
        </pc:sldMkLst>
      </pc:sldChg>
      <pc:sldChg chg="modSp">
        <pc:chgData name="Binod Kumar Adhikari" userId="256f5a90-d823-4e8d-9a41-a3da19f4a0ad" providerId="ADAL" clId="{AB0F11C1-DF86-477F-BC06-D193E21A9BF1}" dt="2024-03-20T15:14:21.090" v="91" actId="1035"/>
        <pc:sldMkLst>
          <pc:docMk/>
          <pc:sldMk cId="0" sldId="268"/>
        </pc:sldMkLst>
      </pc:sldChg>
      <pc:sldChg chg="modSp">
        <pc:chgData name="Binod Kumar Adhikari" userId="256f5a90-d823-4e8d-9a41-a3da19f4a0ad" providerId="ADAL" clId="{AB0F11C1-DF86-477F-BC06-D193E21A9BF1}" dt="2024-03-20T15:14:39.521" v="97" actId="1035"/>
        <pc:sldMkLst>
          <pc:docMk/>
          <pc:sldMk cId="0" sldId="269"/>
        </pc:sldMkLst>
      </pc:sldChg>
      <pc:sldChg chg="modSp">
        <pc:chgData name="Binod Kumar Adhikari" userId="256f5a90-d823-4e8d-9a41-a3da19f4a0ad" providerId="ADAL" clId="{AB0F11C1-DF86-477F-BC06-D193E21A9BF1}" dt="2024-03-20T15:15:04.640" v="109" actId="1035"/>
        <pc:sldMkLst>
          <pc:docMk/>
          <pc:sldMk cId="0" sldId="270"/>
        </pc:sldMkLst>
      </pc:sldChg>
      <pc:sldChg chg="modSp">
        <pc:chgData name="Binod Kumar Adhikari" userId="256f5a90-d823-4e8d-9a41-a3da19f4a0ad" providerId="ADAL" clId="{AB0F11C1-DF86-477F-BC06-D193E21A9BF1}" dt="2024-03-20T15:15:26.031" v="113" actId="14100"/>
        <pc:sldMkLst>
          <pc:docMk/>
          <pc:sldMk cId="0" sldId="271"/>
        </pc:sldMkLst>
      </pc:sldChg>
      <pc:sldChg chg="modSp">
        <pc:chgData name="Binod Kumar Adhikari" userId="256f5a90-d823-4e8d-9a41-a3da19f4a0ad" providerId="ADAL" clId="{AB0F11C1-DF86-477F-BC06-D193E21A9BF1}" dt="2024-03-20T15:15:52.101" v="123" actId="1037"/>
        <pc:sldMkLst>
          <pc:docMk/>
          <pc:sldMk cId="0" sldId="272"/>
        </pc:sldMkLst>
      </pc:sldChg>
      <pc:sldChg chg="modSp">
        <pc:chgData name="Binod Kumar Adhikari" userId="256f5a90-d823-4e8d-9a41-a3da19f4a0ad" providerId="ADAL" clId="{AB0F11C1-DF86-477F-BC06-D193E21A9BF1}" dt="2024-03-20T15:16:11.950" v="124" actId="108"/>
        <pc:sldMkLst>
          <pc:docMk/>
          <pc:sldMk cId="0" sldId="273"/>
        </pc:sldMkLst>
      </pc:sldChg>
      <pc:sldChg chg="modSp">
        <pc:chgData name="Binod Kumar Adhikari" userId="256f5a90-d823-4e8d-9a41-a3da19f4a0ad" providerId="ADAL" clId="{AB0F11C1-DF86-477F-BC06-D193E21A9BF1}" dt="2024-03-20T15:16:30.565" v="132" actId="1037"/>
        <pc:sldMkLst>
          <pc:docMk/>
          <pc:sldMk cId="0" sldId="274"/>
        </pc:sldMkLst>
      </pc:sldChg>
      <pc:sldChg chg="modSp">
        <pc:chgData name="Binod Kumar Adhikari" userId="256f5a90-d823-4e8d-9a41-a3da19f4a0ad" providerId="ADAL" clId="{AB0F11C1-DF86-477F-BC06-D193E21A9BF1}" dt="2024-03-20T15:16:48.369" v="133" actId="108"/>
        <pc:sldMkLst>
          <pc:docMk/>
          <pc:sldMk cId="0" sldId="275"/>
        </pc:sldMkLst>
      </pc:sldChg>
      <pc:sldChg chg="modSp">
        <pc:chgData name="Binod Kumar Adhikari" userId="256f5a90-d823-4e8d-9a41-a3da19f4a0ad" providerId="ADAL" clId="{AB0F11C1-DF86-477F-BC06-D193E21A9BF1}" dt="2024-03-20T15:16:57.093" v="134" actId="108"/>
        <pc:sldMkLst>
          <pc:docMk/>
          <pc:sldMk cId="0" sldId="276"/>
        </pc:sldMkLst>
      </pc:sldChg>
      <pc:sldChg chg="modSp">
        <pc:chgData name="Binod Kumar Adhikari" userId="256f5a90-d823-4e8d-9a41-a3da19f4a0ad" providerId="ADAL" clId="{AB0F11C1-DF86-477F-BC06-D193E21A9BF1}" dt="2024-03-20T15:17:08.012" v="135" actId="108"/>
        <pc:sldMkLst>
          <pc:docMk/>
          <pc:sldMk cId="0" sldId="277"/>
        </pc:sldMkLst>
      </pc:sldChg>
      <pc:sldChg chg="addSp delSp modSp add">
        <pc:chgData name="Binod Kumar Adhikari" userId="256f5a90-d823-4e8d-9a41-a3da19f4a0ad" providerId="ADAL" clId="{AB0F11C1-DF86-477F-BC06-D193E21A9BF1}" dt="2024-03-20T15:18:11.371" v="164" actId="1035"/>
        <pc:sldMkLst>
          <pc:docMk/>
          <pc:sldMk cId="248194214" sldId="278"/>
        </pc:sldMkLst>
      </pc:sldChg>
      <pc:sldMasterChg chg="modSp">
        <pc:chgData name="Binod Kumar Adhikari" userId="256f5a90-d823-4e8d-9a41-a3da19f4a0ad" providerId="ADAL" clId="{AB0F11C1-DF86-477F-BC06-D193E21A9BF1}" dt="2024-03-20T15:03:52.919" v="21" actId="20577"/>
        <pc:sldMasterMkLst>
          <pc:docMk/>
          <pc:sldMasterMk cId="786028758" sldId="2147483666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7304B-9B5E-4F84-9F8D-79C44318F7F1}" type="datetimeFigureOut">
              <a:rPr lang="en-IN" smtClean="0"/>
              <a:t>07-04-2025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58338-62A7-4570-BB2B-CCAAD10281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09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2642" y="1862150"/>
            <a:ext cx="545871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82975" y="4067936"/>
            <a:ext cx="317804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AC8A869B-5E0E-48D5-8125-A8242806C9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Prepared By Dr. Binod Kr. Adhikari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924144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01935" y="6465214"/>
            <a:ext cx="2540127" cy="392786"/>
          </a:xfrm>
        </p:spPr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Prepared By Dr. Binod Kr. Adhikari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85151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A189FF5E-932D-4B32-83A6-74649A1E98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Prepared By Dr. Binod Kr. Adhikari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4186154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687C3015-70A5-4104-A364-47F262AAA9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Prepared By Dr. Binod Kr. Adhikari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63922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4">
            <a:extLst>
              <a:ext uri="{FF2B5EF4-FFF2-40B4-BE49-F238E27FC236}">
                <a16:creationId xmlns:a16="http://schemas.microsoft.com/office/drawing/2014/main" id="{00444188-FEAC-4CD9-9B42-C6265C7232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Prepared By Dr. Binod Kr. Adhikari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44338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75002" y="228600"/>
            <a:ext cx="479399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108" y="1610690"/>
            <a:ext cx="7669783" cy="380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 dirty="0"/>
              <a:t>Prepared</a:t>
            </a:r>
            <a:r>
              <a:rPr lang="en-US" spc="-50" dirty="0"/>
              <a:t> </a:t>
            </a:r>
            <a:r>
              <a:rPr lang="en-US" dirty="0"/>
              <a:t>By</a:t>
            </a:r>
            <a:r>
              <a:rPr lang="en-US" spc="5" dirty="0"/>
              <a:t> </a:t>
            </a:r>
            <a:r>
              <a:rPr lang="en-US" spc="-35" dirty="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AABA4-E50B-443F-A413-C9A6AC944C37}"/>
              </a:ext>
            </a:extLst>
          </p:cNvPr>
          <p:cNvSpPr/>
          <p:nvPr/>
        </p:nvSpPr>
        <p:spPr>
          <a:xfrm>
            <a:off x="0" y="990600"/>
            <a:ext cx="91440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8907F-6A2F-4FE4-A88D-C3DE27E73F59}"/>
              </a:ext>
            </a:extLst>
          </p:cNvPr>
          <p:cNvSpPr/>
          <p:nvPr/>
        </p:nvSpPr>
        <p:spPr>
          <a:xfrm>
            <a:off x="8686800" y="6495143"/>
            <a:ext cx="457200" cy="36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1D60167-4931-47E6-BA6A-407CBD079E4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028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sldNum="0" hd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</a:t>
            </a:r>
            <a:r>
              <a:rPr spc="-114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3035045" y="3893896"/>
            <a:ext cx="30740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Unit</a:t>
            </a:r>
            <a:r>
              <a:rPr sz="3200" spc="-10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888888"/>
                </a:solidFill>
                <a:latin typeface="Calibri"/>
                <a:cs typeface="Calibri"/>
              </a:rPr>
              <a:t>1.2-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Chapter</a:t>
            </a:r>
            <a:r>
              <a:rPr sz="3200" spc="-6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228600"/>
            <a:ext cx="47939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CPU Scheduling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360170"/>
            <a:ext cx="7606030" cy="435483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marR="363855" indent="-343535">
              <a:lnSpc>
                <a:spcPts val="3679"/>
              </a:lnSpc>
              <a:spcBef>
                <a:spcPts val="36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Scheduling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processor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among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ready processes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goal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achieve: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dirty="0">
                <a:solidFill>
                  <a:srgbClr val="00B050"/>
                </a:solidFill>
                <a:latin typeface="Calibri"/>
                <a:cs typeface="Calibri"/>
              </a:rPr>
              <a:t>High</a:t>
            </a:r>
            <a:r>
              <a:rPr sz="2800" i="1" spc="-12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B050"/>
                </a:solidFill>
                <a:latin typeface="Calibri"/>
                <a:cs typeface="Calibri"/>
              </a:rPr>
              <a:t>processor</a:t>
            </a:r>
            <a:r>
              <a:rPr sz="2800" i="1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B050"/>
                </a:solidFill>
                <a:latin typeface="Calibri"/>
                <a:cs typeface="Calibri"/>
              </a:rPr>
              <a:t>utilization</a:t>
            </a:r>
            <a:endParaRPr sz="2800" i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dirty="0">
                <a:solidFill>
                  <a:srgbClr val="00B050"/>
                </a:solidFill>
                <a:latin typeface="Calibri"/>
                <a:cs typeface="Calibri"/>
              </a:rPr>
              <a:t>High</a:t>
            </a:r>
            <a:r>
              <a:rPr sz="2800" i="1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i="1" spc="-10" dirty="0">
                <a:solidFill>
                  <a:srgbClr val="00B050"/>
                </a:solidFill>
                <a:latin typeface="Calibri"/>
                <a:cs typeface="Calibri"/>
              </a:rPr>
              <a:t>throughput</a:t>
            </a:r>
            <a:endParaRPr sz="2800" i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1155065" lvl="2" indent="-2279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155065" algn="l"/>
                <a:tab pos="5755005" algn="l"/>
              </a:tabLst>
            </a:pP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per</a:t>
            </a:r>
            <a:r>
              <a:rPr sz="2400" dirty="0">
                <a:latin typeface="Calibri"/>
                <a:cs typeface="Calibri"/>
              </a:rPr>
              <a:t>	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Font typeface="Arial"/>
              <a:buChar char="–"/>
              <a:tabLst>
                <a:tab pos="755650" algn="l"/>
              </a:tabLst>
            </a:pPr>
            <a:r>
              <a:rPr sz="2800" i="1" dirty="0">
                <a:solidFill>
                  <a:srgbClr val="00B050"/>
                </a:solidFill>
                <a:latin typeface="Calibri"/>
                <a:cs typeface="Calibri"/>
              </a:rPr>
              <a:t>Low</a:t>
            </a:r>
            <a:r>
              <a:rPr sz="2800" i="1" spc="-11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00B050"/>
                </a:solidFill>
                <a:latin typeface="Calibri"/>
                <a:cs typeface="Calibri"/>
              </a:rPr>
              <a:t>response</a:t>
            </a:r>
            <a:r>
              <a:rPr sz="2800" i="1" spc="-8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i="1" spc="-20" dirty="0">
                <a:solidFill>
                  <a:srgbClr val="00B050"/>
                </a:solidFill>
                <a:latin typeface="Calibri"/>
                <a:cs typeface="Calibri"/>
              </a:rPr>
              <a:t>time</a:t>
            </a:r>
            <a:endParaRPr sz="2800" i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1154430" marR="5080" lvl="2" indent="-227965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155700" algn="l"/>
                <a:tab pos="7033259" algn="l"/>
              </a:tabLst>
            </a:pP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elapsed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submission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until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produced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9600" y="228600"/>
            <a:ext cx="6910793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Classification of Scheduler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609600" y="4800600"/>
            <a:ext cx="5989320" cy="122110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354965" algn="l"/>
              </a:tabLst>
            </a:pPr>
            <a:r>
              <a:rPr sz="2200" spc="-20" dirty="0">
                <a:solidFill>
                  <a:srgbClr val="FF9966"/>
                </a:solidFill>
                <a:latin typeface="Calibri"/>
                <a:cs typeface="Calibri"/>
              </a:rPr>
              <a:t>Long-</a:t>
            </a:r>
            <a:r>
              <a:rPr sz="2200" dirty="0">
                <a:solidFill>
                  <a:srgbClr val="FF9966"/>
                </a:solidFill>
                <a:latin typeface="Calibri"/>
                <a:cs typeface="Calibri"/>
              </a:rPr>
              <a:t>term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admit?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Arial"/>
              <a:buChar char="•"/>
              <a:tabLst>
                <a:tab pos="354965" algn="l"/>
              </a:tabLst>
            </a:pPr>
            <a:r>
              <a:rPr sz="2200" spc="-10" dirty="0">
                <a:solidFill>
                  <a:srgbClr val="FF9966"/>
                </a:solidFill>
                <a:latin typeface="Calibri"/>
                <a:cs typeface="Calibri"/>
              </a:rPr>
              <a:t>Medium-</a:t>
            </a:r>
            <a:r>
              <a:rPr sz="2200" dirty="0">
                <a:solidFill>
                  <a:srgbClr val="FF9966"/>
                </a:solidFill>
                <a:latin typeface="Calibri"/>
                <a:cs typeface="Calibri"/>
              </a:rPr>
              <a:t>term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swap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out?</a:t>
            </a:r>
            <a:endParaRPr sz="2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354965" algn="l"/>
              </a:tabLst>
            </a:pPr>
            <a:r>
              <a:rPr sz="2200" spc="-20" dirty="0">
                <a:solidFill>
                  <a:srgbClr val="FF9966"/>
                </a:solidFill>
                <a:latin typeface="Calibri"/>
                <a:cs typeface="Calibri"/>
              </a:rPr>
              <a:t>Short-</a:t>
            </a:r>
            <a:r>
              <a:rPr sz="2200" dirty="0">
                <a:solidFill>
                  <a:srgbClr val="FF9966"/>
                </a:solidFill>
                <a:latin typeface="Calibri"/>
                <a:cs typeface="Calibri"/>
              </a:rPr>
              <a:t>term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ready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execute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next?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9600" y="1143000"/>
            <a:ext cx="6345391" cy="35250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236718"/>
            <a:ext cx="716280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Queuing Diagram for Scheduling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405794-C25F-4F46-965C-4CB4DFFF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07" y="1219200"/>
            <a:ext cx="7468493" cy="4844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228600"/>
            <a:ext cx="47939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Long-Term Scheduler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90600" y="1594802"/>
            <a:ext cx="7685405" cy="366839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5080" indent="-343535">
              <a:lnSpc>
                <a:spcPts val="3690"/>
              </a:lnSpc>
              <a:spcBef>
                <a:spcPts val="350"/>
              </a:spcBef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Determines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which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programs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admitted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system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for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processing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Controls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degree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multiprogramming</a:t>
            </a:r>
            <a:endParaRPr sz="3200" dirty="0">
              <a:latin typeface="Calibri"/>
              <a:cs typeface="Calibri"/>
            </a:endParaRPr>
          </a:p>
          <a:p>
            <a:pPr marL="355600" marR="27432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Attempts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keep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balanced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mix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processor-</a:t>
            </a:r>
            <a:r>
              <a:rPr sz="3200" dirty="0">
                <a:latin typeface="Calibri"/>
                <a:cs typeface="Calibri"/>
              </a:rPr>
              <a:t>bound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I/O-</a:t>
            </a:r>
            <a:r>
              <a:rPr sz="3200" dirty="0">
                <a:latin typeface="Calibri"/>
                <a:cs typeface="Calibri"/>
              </a:rPr>
              <a:t>bound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</a:t>
            </a:r>
            <a:endParaRPr sz="32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70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CPU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usage</a:t>
            </a:r>
            <a:endParaRPr sz="28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5650" algn="l"/>
              </a:tabLst>
            </a:pP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performance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3011" y="228600"/>
            <a:ext cx="6130798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Medium-Term Scheduler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6025" y="1967611"/>
            <a:ext cx="7684770" cy="235140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737235" indent="-343535" algn="just">
              <a:lnSpc>
                <a:spcPts val="3690"/>
              </a:lnSpc>
              <a:spcBef>
                <a:spcPts val="35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Makes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swapping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decisions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based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the </a:t>
            </a:r>
            <a:r>
              <a:rPr sz="3200" dirty="0">
                <a:latin typeface="Calibri"/>
                <a:cs typeface="Calibri"/>
              </a:rPr>
              <a:t>current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degree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multiprogramming</a:t>
            </a:r>
            <a:endParaRPr sz="3200" dirty="0">
              <a:latin typeface="Calibri"/>
              <a:cs typeface="Calibri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85" dirty="0">
                <a:latin typeface="Arial"/>
                <a:cs typeface="Arial"/>
              </a:rPr>
              <a:t> </a:t>
            </a:r>
            <a:r>
              <a:rPr sz="2800" spc="-10" dirty="0">
                <a:latin typeface="Calibri"/>
                <a:cs typeface="Calibri"/>
              </a:rPr>
              <a:t>Controls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remains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resident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jobs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swapped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reduce </a:t>
            </a:r>
            <a:r>
              <a:rPr sz="2800" dirty="0">
                <a:latin typeface="Calibri"/>
                <a:cs typeface="Calibri"/>
              </a:rPr>
              <a:t>degree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multiprogramming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5002" y="228600"/>
            <a:ext cx="47939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Short-Term Scheduler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06525" y="1360754"/>
            <a:ext cx="7588250" cy="462661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355600" marR="1227455" indent="-343535">
              <a:lnSpc>
                <a:spcPts val="3460"/>
              </a:lnSpc>
              <a:spcBef>
                <a:spcPts val="334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Selects</a:t>
            </a:r>
            <a:r>
              <a:rPr sz="3000" spc="-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from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among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ready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processes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memory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execute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next</a:t>
            </a:r>
            <a:endParaRPr sz="3000" dirty="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CPU</a:t>
            </a:r>
            <a:endParaRPr sz="28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690"/>
              </a:spcBef>
              <a:buFont typeface="Arial"/>
              <a:buChar char="•"/>
              <a:tabLst>
                <a:tab pos="355600" algn="l"/>
              </a:tabLst>
            </a:pPr>
            <a:r>
              <a:rPr sz="3000" dirty="0">
                <a:latin typeface="Calibri"/>
                <a:cs typeface="Calibri"/>
              </a:rPr>
              <a:t>It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invoked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events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may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lead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choose </a:t>
            </a:r>
            <a:r>
              <a:rPr sz="3000" dirty="0">
                <a:latin typeface="Calibri"/>
                <a:cs typeface="Calibri"/>
              </a:rPr>
              <a:t>another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process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execution: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5"/>
              </a:spcBef>
              <a:buFont typeface="Arial"/>
              <a:buChar char="–"/>
              <a:tabLst>
                <a:tab pos="756285" algn="l"/>
              </a:tabLst>
            </a:pPr>
            <a:r>
              <a:rPr sz="3000" dirty="0">
                <a:latin typeface="Calibri"/>
                <a:cs typeface="Calibri"/>
              </a:rPr>
              <a:t>Clock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interrupts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700"/>
              </a:spcBef>
              <a:buFont typeface="Arial"/>
              <a:buChar char="–"/>
              <a:tabLst>
                <a:tab pos="756285" algn="l"/>
              </a:tabLst>
            </a:pPr>
            <a:r>
              <a:rPr sz="3000" dirty="0">
                <a:latin typeface="Calibri"/>
                <a:cs typeface="Calibri"/>
              </a:rPr>
              <a:t>I/O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interrupts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710"/>
              </a:spcBef>
              <a:buFont typeface="Arial"/>
              <a:buChar char="–"/>
              <a:tabLst>
                <a:tab pos="756285" algn="l"/>
              </a:tabLst>
            </a:pPr>
            <a:r>
              <a:rPr sz="3000" dirty="0">
                <a:latin typeface="Calibri"/>
                <a:cs typeface="Calibri"/>
              </a:rPr>
              <a:t>Operating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</a:t>
            </a:r>
            <a:r>
              <a:rPr sz="3000" spc="-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calls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traps</a:t>
            </a:r>
            <a:endParaRPr sz="3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695"/>
              </a:spcBef>
              <a:buFont typeface="Arial"/>
              <a:buChar char="–"/>
              <a:tabLst>
                <a:tab pos="756285" algn="l"/>
              </a:tabLst>
            </a:pPr>
            <a:r>
              <a:rPr sz="3000" spc="-10" dirty="0">
                <a:latin typeface="Calibri"/>
                <a:cs typeface="Calibri"/>
              </a:rPr>
              <a:t>Signals</a:t>
            </a:r>
            <a:endParaRPr sz="3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Three level scheduling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75154" y="1111572"/>
            <a:ext cx="7431735" cy="1567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/>
              <a:t>From</a:t>
            </a:r>
            <a:r>
              <a:rPr sz="2400" spc="120" dirty="0"/>
              <a:t> </a:t>
            </a:r>
            <a:r>
              <a:rPr sz="2400" dirty="0"/>
              <a:t>a</a:t>
            </a:r>
            <a:r>
              <a:rPr sz="2400" spc="145" dirty="0"/>
              <a:t> </a:t>
            </a:r>
            <a:r>
              <a:rPr sz="2400" dirty="0"/>
              <a:t>certain</a:t>
            </a:r>
            <a:r>
              <a:rPr sz="2400" spc="150" dirty="0"/>
              <a:t> </a:t>
            </a:r>
            <a:r>
              <a:rPr sz="2400" dirty="0"/>
              <a:t>perspective,</a:t>
            </a:r>
            <a:r>
              <a:rPr sz="2400" spc="150" dirty="0"/>
              <a:t> </a:t>
            </a:r>
            <a:r>
              <a:rPr sz="2400" dirty="0"/>
              <a:t>batch</a:t>
            </a:r>
            <a:r>
              <a:rPr sz="2400" spc="150" dirty="0"/>
              <a:t> </a:t>
            </a:r>
            <a:r>
              <a:rPr sz="2400" dirty="0"/>
              <a:t>systems</a:t>
            </a:r>
            <a:r>
              <a:rPr sz="2400" spc="145" dirty="0"/>
              <a:t> </a:t>
            </a:r>
            <a:r>
              <a:rPr sz="2400" dirty="0"/>
              <a:t>allow</a:t>
            </a:r>
            <a:r>
              <a:rPr sz="2400" spc="135" dirty="0"/>
              <a:t> </a:t>
            </a:r>
            <a:r>
              <a:rPr sz="2400" dirty="0"/>
              <a:t>scheduling</a:t>
            </a:r>
            <a:r>
              <a:rPr sz="2400" spc="145" dirty="0"/>
              <a:t> </a:t>
            </a:r>
            <a:r>
              <a:rPr sz="2400" spc="-25" dirty="0"/>
              <a:t>at</a:t>
            </a:r>
            <a:r>
              <a:rPr lang="en-US" sz="2400" spc="-25" dirty="0"/>
              <a:t> </a:t>
            </a:r>
            <a:r>
              <a:rPr sz="2400" dirty="0"/>
              <a:t>three</a:t>
            </a:r>
            <a:r>
              <a:rPr sz="2400" spc="-40" dirty="0"/>
              <a:t> </a:t>
            </a:r>
            <a:r>
              <a:rPr sz="2400" dirty="0"/>
              <a:t>different</a:t>
            </a:r>
            <a:r>
              <a:rPr sz="2400" spc="-20" dirty="0"/>
              <a:t> </a:t>
            </a:r>
            <a:r>
              <a:rPr sz="2400" dirty="0"/>
              <a:t>levels,</a:t>
            </a:r>
            <a:r>
              <a:rPr sz="2400" spc="-40" dirty="0"/>
              <a:t> </a:t>
            </a:r>
            <a:r>
              <a:rPr sz="2400" dirty="0"/>
              <a:t>as</a:t>
            </a:r>
            <a:r>
              <a:rPr sz="2400" spc="-10" dirty="0"/>
              <a:t> </a:t>
            </a:r>
            <a:r>
              <a:rPr sz="2400" dirty="0"/>
              <a:t>illustrated</a:t>
            </a:r>
            <a:r>
              <a:rPr sz="2400" spc="-55" dirty="0"/>
              <a:t> </a:t>
            </a:r>
            <a:r>
              <a:rPr sz="2400" dirty="0"/>
              <a:t>in</a:t>
            </a:r>
            <a:r>
              <a:rPr sz="2400" spc="-25" dirty="0"/>
              <a:t> Fig</a:t>
            </a:r>
            <a:endParaRPr sz="2400" dirty="0"/>
          </a:p>
          <a:p>
            <a:pPr marL="355600" marR="5715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414655" algn="l"/>
                <a:tab pos="881380" algn="l"/>
                <a:tab pos="1518285" algn="l"/>
                <a:tab pos="2359660" algn="l"/>
                <a:tab pos="2707640" algn="l"/>
                <a:tab pos="3207385" algn="l"/>
                <a:tab pos="4257040" algn="l"/>
                <a:tab pos="5411470" algn="l"/>
                <a:tab pos="6482715" algn="l"/>
                <a:tab pos="7406640" algn="l"/>
              </a:tabLst>
            </a:pPr>
            <a:r>
              <a:rPr sz="2400" dirty="0">
                <a:latin typeface="Arial"/>
                <a:cs typeface="Arial"/>
              </a:rPr>
              <a:t>	</a:t>
            </a:r>
            <a:r>
              <a:rPr sz="2400" spc="-25" dirty="0"/>
              <a:t>As</a:t>
            </a:r>
            <a:r>
              <a:rPr sz="2400" dirty="0"/>
              <a:t>	</a:t>
            </a:r>
            <a:r>
              <a:rPr sz="2400" spc="-20" dirty="0"/>
              <a:t>jobs</a:t>
            </a:r>
            <a:r>
              <a:rPr sz="2400" dirty="0"/>
              <a:t>	</a:t>
            </a:r>
            <a:r>
              <a:rPr sz="2400" spc="-10" dirty="0"/>
              <a:t>arrive</a:t>
            </a:r>
            <a:r>
              <a:rPr sz="2400" dirty="0"/>
              <a:t>	</a:t>
            </a:r>
            <a:r>
              <a:rPr sz="2400" spc="-25" dirty="0"/>
              <a:t>at</a:t>
            </a:r>
            <a:r>
              <a:rPr sz="2400" dirty="0"/>
              <a:t>	</a:t>
            </a:r>
            <a:r>
              <a:rPr sz="2400" spc="-25" dirty="0"/>
              <a:t>the</a:t>
            </a:r>
            <a:r>
              <a:rPr sz="2400" dirty="0"/>
              <a:t>	</a:t>
            </a:r>
            <a:r>
              <a:rPr sz="2400" spc="-10" dirty="0"/>
              <a:t>system,</a:t>
            </a:r>
            <a:r>
              <a:rPr sz="2400" dirty="0"/>
              <a:t>	they</a:t>
            </a:r>
            <a:r>
              <a:rPr sz="2400" spc="405" dirty="0"/>
              <a:t> </a:t>
            </a:r>
            <a:r>
              <a:rPr sz="2400" spc="-25" dirty="0"/>
              <a:t>are</a:t>
            </a:r>
            <a:r>
              <a:rPr sz="2400" dirty="0"/>
              <a:t>	</a:t>
            </a:r>
            <a:r>
              <a:rPr sz="2400" spc="-10" dirty="0"/>
              <a:t>initially</a:t>
            </a:r>
            <a:r>
              <a:rPr sz="2400" dirty="0"/>
              <a:t>	</a:t>
            </a:r>
            <a:r>
              <a:rPr sz="2400" spc="-10" dirty="0"/>
              <a:t>placed</a:t>
            </a:r>
            <a:r>
              <a:rPr sz="2400" dirty="0"/>
              <a:t>	in</a:t>
            </a:r>
            <a:r>
              <a:rPr sz="2400" spc="395" dirty="0"/>
              <a:t> </a:t>
            </a:r>
            <a:r>
              <a:rPr sz="2400" spc="-25" dirty="0"/>
              <a:t>an </a:t>
            </a:r>
            <a:r>
              <a:rPr sz="2400" dirty="0"/>
              <a:t>input</a:t>
            </a:r>
            <a:r>
              <a:rPr sz="2400" spc="-40" dirty="0"/>
              <a:t> </a:t>
            </a:r>
            <a:r>
              <a:rPr sz="2400" dirty="0"/>
              <a:t>queue</a:t>
            </a:r>
            <a:r>
              <a:rPr sz="2400" spc="-10" dirty="0"/>
              <a:t> </a:t>
            </a:r>
            <a:r>
              <a:rPr sz="2400" dirty="0"/>
              <a:t>stored</a:t>
            </a:r>
            <a:r>
              <a:rPr sz="2400" spc="-5" dirty="0"/>
              <a:t> </a:t>
            </a:r>
            <a:r>
              <a:rPr sz="2400" dirty="0"/>
              <a:t>on the </a:t>
            </a:r>
            <a:r>
              <a:rPr sz="2400" spc="-10" dirty="0"/>
              <a:t>disk.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3248029"/>
            <a:ext cx="5750956" cy="25126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Three level Scheduling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4000"/>
            <a:ext cx="8074025" cy="3935729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5080" indent="-342900" algn="just">
              <a:lnSpc>
                <a:spcPts val="2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360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admission</a:t>
            </a:r>
            <a:r>
              <a:rPr sz="2700" b="1" spc="365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scheduler</a:t>
            </a:r>
            <a:r>
              <a:rPr sz="2700" b="1" spc="340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(long</a:t>
            </a:r>
            <a:r>
              <a:rPr sz="2700" b="1" spc="360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term</a:t>
            </a:r>
            <a:r>
              <a:rPr sz="2700" b="1" spc="360" dirty="0">
                <a:latin typeface="Times New Roman"/>
                <a:cs typeface="Times New Roman"/>
              </a:rPr>
              <a:t>  </a:t>
            </a:r>
            <a:r>
              <a:rPr sz="2700" b="1" spc="-10" dirty="0">
                <a:latin typeface="Times New Roman"/>
                <a:cs typeface="Times New Roman"/>
              </a:rPr>
              <a:t>scheduler) </a:t>
            </a:r>
            <a:r>
              <a:rPr sz="2700" dirty="0">
                <a:latin typeface="Times New Roman"/>
                <a:cs typeface="Times New Roman"/>
              </a:rPr>
              <a:t>decides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which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2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admit</a:t>
            </a:r>
            <a:r>
              <a:rPr sz="2700" spc="2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system.</a:t>
            </a:r>
            <a:r>
              <a:rPr sz="2700" spc="2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7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others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kept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input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until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they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selected.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1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typical</a:t>
            </a:r>
            <a:r>
              <a:rPr sz="2700" spc="3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algorithm</a:t>
            </a:r>
            <a:r>
              <a:rPr sz="2700" spc="3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admission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control</a:t>
            </a:r>
            <a:r>
              <a:rPr sz="2700" spc="3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might</a:t>
            </a:r>
            <a:r>
              <a:rPr sz="2700" spc="3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to </a:t>
            </a:r>
            <a:r>
              <a:rPr sz="2700" dirty="0">
                <a:latin typeface="Times New Roman"/>
                <a:cs typeface="Times New Roman"/>
              </a:rPr>
              <a:t>look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3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mix</a:t>
            </a:r>
            <a:r>
              <a:rPr sz="2700" spc="39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35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compute-</a:t>
            </a:r>
            <a:r>
              <a:rPr sz="2700" dirty="0">
                <a:latin typeface="Times New Roman"/>
                <a:cs typeface="Times New Roman"/>
              </a:rPr>
              <a:t>bound</a:t>
            </a:r>
            <a:r>
              <a:rPr sz="2700" spc="3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3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37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I/O-</a:t>
            </a:r>
            <a:r>
              <a:rPr sz="2700" spc="-10" dirty="0">
                <a:latin typeface="Times New Roman"/>
                <a:cs typeface="Times New Roman"/>
              </a:rPr>
              <a:t>bound </a:t>
            </a:r>
            <a:r>
              <a:rPr sz="2700" dirty="0">
                <a:latin typeface="Times New Roman"/>
                <a:cs typeface="Times New Roman"/>
              </a:rPr>
              <a:t>jobs.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Alternatively,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short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could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admitted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quickly </a:t>
            </a:r>
            <a:r>
              <a:rPr sz="2700" dirty="0">
                <a:latin typeface="Times New Roman"/>
                <a:cs typeface="Times New Roman"/>
              </a:rPr>
              <a:t>whereas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longer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would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have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wait.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920"/>
              </a:lnSpc>
              <a:spcBef>
                <a:spcPts val="63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admission</a:t>
            </a:r>
            <a:r>
              <a:rPr sz="2700" spc="4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scheduler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40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free</a:t>
            </a:r>
            <a:r>
              <a:rPr sz="2700" spc="40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40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hold</a:t>
            </a:r>
            <a:r>
              <a:rPr sz="2700" spc="38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some</a:t>
            </a:r>
            <a:r>
              <a:rPr sz="2700" spc="40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39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in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input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queue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admit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jobs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arrive</a:t>
            </a:r>
            <a:r>
              <a:rPr sz="2700" spc="2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later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if</a:t>
            </a:r>
            <a:r>
              <a:rPr sz="2700" spc="19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so </a:t>
            </a:r>
            <a:r>
              <a:rPr sz="2700" spc="-10" dirty="0">
                <a:latin typeface="Times New Roman"/>
                <a:cs typeface="Times New Roman"/>
              </a:rPr>
              <a:t>chooses.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28600"/>
            <a:ext cx="777621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Three level scheduling(Cont)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08330" y="1371600"/>
            <a:ext cx="8078470" cy="4306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11430" indent="-342900" algn="just">
              <a:lnSpc>
                <a:spcPts val="2590"/>
              </a:lnSpc>
              <a:spcBef>
                <a:spcPts val="73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Once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job</a:t>
            </a:r>
            <a:r>
              <a:rPr sz="2700" spc="229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has</a:t>
            </a:r>
            <a:r>
              <a:rPr sz="2700" spc="2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been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admitted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2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system,</a:t>
            </a:r>
            <a:r>
              <a:rPr sz="2700" spc="25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</a:t>
            </a:r>
            <a:r>
              <a:rPr sz="2700" spc="23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process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created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contend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for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50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CPU.</a:t>
            </a:r>
            <a:endParaRPr sz="2700" dirty="0">
              <a:latin typeface="Times New Roman"/>
              <a:cs typeface="Times New Roman"/>
            </a:endParaRPr>
          </a:p>
          <a:p>
            <a:pPr marL="355600" marR="8890" indent="-342900" algn="just">
              <a:lnSpc>
                <a:spcPct val="8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However,</a:t>
            </a:r>
            <a:r>
              <a:rPr sz="2700" spc="5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might</a:t>
            </a:r>
            <a:r>
              <a:rPr sz="2700" spc="5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well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happen</a:t>
            </a:r>
            <a:r>
              <a:rPr sz="2700" spc="5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5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number</a:t>
            </a:r>
            <a:r>
              <a:rPr sz="2700" spc="50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of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2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so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large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there</a:t>
            </a:r>
            <a:r>
              <a:rPr sz="2700" spc="20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not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enough</a:t>
            </a:r>
            <a:r>
              <a:rPr sz="2700" spc="2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room</a:t>
            </a:r>
            <a:r>
              <a:rPr sz="2700" spc="195" dirty="0">
                <a:latin typeface="Times New Roman"/>
                <a:cs typeface="Times New Roman"/>
              </a:rPr>
              <a:t> </a:t>
            </a:r>
            <a:r>
              <a:rPr sz="2700" spc="-25" dirty="0">
                <a:latin typeface="Times New Roman"/>
                <a:cs typeface="Times New Roman"/>
              </a:rPr>
              <a:t>for </a:t>
            </a:r>
            <a:r>
              <a:rPr sz="2700" dirty="0">
                <a:latin typeface="Times New Roman"/>
                <a:cs typeface="Times New Roman"/>
              </a:rPr>
              <a:t>all</a:t>
            </a:r>
            <a:r>
              <a:rPr sz="2700" spc="1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9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them</a:t>
            </a:r>
            <a:r>
              <a:rPr sz="2700" spc="9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11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memory.</a:t>
            </a:r>
            <a:r>
              <a:rPr sz="2700" spc="1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1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that</a:t>
            </a:r>
            <a:r>
              <a:rPr sz="2700" spc="10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case,</a:t>
            </a:r>
            <a:r>
              <a:rPr sz="2700" spc="1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some</a:t>
            </a:r>
            <a:r>
              <a:rPr sz="2700" spc="10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100" dirty="0">
                <a:latin typeface="Times New Roman"/>
                <a:cs typeface="Times New Roman"/>
              </a:rPr>
              <a:t>  </a:t>
            </a:r>
            <a:r>
              <a:rPr sz="2700" spc="-25" dirty="0">
                <a:latin typeface="Times New Roman"/>
                <a:cs typeface="Times New Roman"/>
              </a:rPr>
              <a:t>the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-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have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swapped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out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to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disk.</a:t>
            </a:r>
            <a:endParaRPr sz="2700" dirty="0">
              <a:latin typeface="Times New Roman"/>
              <a:cs typeface="Times New Roman"/>
            </a:endParaRPr>
          </a:p>
          <a:p>
            <a:pPr marL="355600" marR="12065" indent="-342900" algn="just">
              <a:lnSpc>
                <a:spcPct val="80000"/>
              </a:lnSpc>
              <a:spcBef>
                <a:spcPts val="650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1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second</a:t>
            </a:r>
            <a:r>
              <a:rPr sz="2700" spc="1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level</a:t>
            </a:r>
            <a:r>
              <a:rPr sz="2700" spc="16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1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scheduling</a:t>
            </a:r>
            <a:r>
              <a:rPr sz="2700" spc="17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is</a:t>
            </a:r>
            <a:r>
              <a:rPr sz="2700" spc="16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deciding</a:t>
            </a:r>
            <a:r>
              <a:rPr sz="2700" spc="160" dirty="0">
                <a:latin typeface="Times New Roman"/>
                <a:cs typeface="Times New Roman"/>
              </a:rPr>
              <a:t>  </a:t>
            </a:r>
            <a:r>
              <a:rPr sz="2700" spc="-10" dirty="0">
                <a:latin typeface="Times New Roman"/>
                <a:cs typeface="Times New Roman"/>
              </a:rPr>
              <a:t>which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4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should</a:t>
            </a:r>
            <a:r>
              <a:rPr sz="2700" spc="48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46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kept</a:t>
            </a:r>
            <a:r>
              <a:rPr sz="2700" spc="48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48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484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</a:t>
            </a:r>
            <a:r>
              <a:rPr sz="2700" spc="4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which</a:t>
            </a:r>
            <a:r>
              <a:rPr sz="2700" spc="484" dirty="0">
                <a:latin typeface="Times New Roman"/>
                <a:cs typeface="Times New Roman"/>
              </a:rPr>
              <a:t> </a:t>
            </a:r>
            <a:r>
              <a:rPr sz="2700" spc="-20" dirty="0">
                <a:latin typeface="Times New Roman"/>
                <a:cs typeface="Times New Roman"/>
              </a:rPr>
              <a:t>ones </a:t>
            </a:r>
            <a:r>
              <a:rPr sz="2700" dirty="0">
                <a:latin typeface="Times New Roman"/>
                <a:cs typeface="Times New Roman"/>
              </a:rPr>
              <a:t>kept</a:t>
            </a:r>
            <a:r>
              <a:rPr sz="2700" spc="-3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disk.</a:t>
            </a:r>
            <a:endParaRPr sz="27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ts val="259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Times New Roman"/>
                <a:cs typeface="Times New Roman"/>
              </a:rPr>
              <a:t>We</a:t>
            </a:r>
            <a:r>
              <a:rPr sz="2700" spc="6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will</a:t>
            </a:r>
            <a:r>
              <a:rPr sz="2700" spc="60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call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this</a:t>
            </a:r>
            <a:r>
              <a:rPr sz="2700" spc="6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scheduler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55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memory</a:t>
            </a:r>
            <a:r>
              <a:rPr sz="2700" b="1" spc="60" dirty="0">
                <a:latin typeface="Times New Roman"/>
                <a:cs typeface="Times New Roman"/>
              </a:rPr>
              <a:t>  </a:t>
            </a:r>
            <a:r>
              <a:rPr sz="2700" b="1" spc="-10" dirty="0">
                <a:latin typeface="Times New Roman"/>
                <a:cs typeface="Times New Roman"/>
              </a:rPr>
              <a:t>scheduler </a:t>
            </a:r>
            <a:r>
              <a:rPr sz="2700" b="1" dirty="0">
                <a:latin typeface="Times New Roman"/>
                <a:cs typeface="Times New Roman"/>
              </a:rPr>
              <a:t>(short</a:t>
            </a:r>
            <a:r>
              <a:rPr sz="2700" b="1" spc="125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term</a:t>
            </a:r>
            <a:r>
              <a:rPr sz="2700" b="1" spc="120" dirty="0">
                <a:latin typeface="Times New Roman"/>
                <a:cs typeface="Times New Roman"/>
              </a:rPr>
              <a:t>  </a:t>
            </a:r>
            <a:r>
              <a:rPr sz="2700" b="1" dirty="0">
                <a:latin typeface="Times New Roman"/>
                <a:cs typeface="Times New Roman"/>
              </a:rPr>
              <a:t>schedular)</a:t>
            </a:r>
            <a:r>
              <a:rPr sz="2700" dirty="0">
                <a:latin typeface="Times New Roman"/>
                <a:cs typeface="Times New Roman"/>
              </a:rPr>
              <a:t>,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since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it</a:t>
            </a:r>
            <a:r>
              <a:rPr sz="2700" spc="125" dirty="0">
                <a:latin typeface="Times New Roman"/>
                <a:cs typeface="Times New Roman"/>
              </a:rPr>
              <a:t>  </a:t>
            </a:r>
            <a:r>
              <a:rPr sz="2700" dirty="0">
                <a:latin typeface="Times New Roman"/>
                <a:cs typeface="Times New Roman"/>
              </a:rPr>
              <a:t>determines</a:t>
            </a:r>
            <a:r>
              <a:rPr sz="2700" spc="130" dirty="0">
                <a:latin typeface="Times New Roman"/>
                <a:cs typeface="Times New Roman"/>
              </a:rPr>
              <a:t>  </a:t>
            </a:r>
            <a:r>
              <a:rPr sz="2700" spc="-10" dirty="0">
                <a:latin typeface="Times New Roman"/>
                <a:cs typeface="Times New Roman"/>
              </a:rPr>
              <a:t>which </a:t>
            </a:r>
            <a:r>
              <a:rPr sz="2700" dirty="0">
                <a:latin typeface="Times New Roman"/>
                <a:cs typeface="Times New Roman"/>
              </a:rPr>
              <a:t>processes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are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kept</a:t>
            </a:r>
            <a:r>
              <a:rPr sz="2700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memory</a:t>
            </a:r>
            <a:r>
              <a:rPr sz="2700" spc="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and which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</a:t>
            </a:r>
            <a:r>
              <a:rPr sz="2700" spc="-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</a:t>
            </a:r>
            <a:r>
              <a:rPr sz="2700" spc="-20" dirty="0">
                <a:latin typeface="Times New Roman"/>
                <a:cs typeface="Times New Roman"/>
              </a:rPr>
              <a:t> </a:t>
            </a:r>
            <a:r>
              <a:rPr sz="2700" spc="-10" dirty="0">
                <a:latin typeface="Times New Roman"/>
                <a:cs typeface="Times New Roman"/>
              </a:rPr>
              <a:t>disk.</a:t>
            </a:r>
            <a:endParaRPr sz="27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617" y="228600"/>
            <a:ext cx="7669783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600" b="1" dirty="0"/>
              <a:t>Three level of scheduling(cont.)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330" marR="5080" indent="-34163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409" dirty="0"/>
              <a:t>  </a:t>
            </a:r>
            <a:r>
              <a:rPr dirty="0"/>
              <a:t>third</a:t>
            </a:r>
            <a:r>
              <a:rPr spc="415" dirty="0"/>
              <a:t>  </a:t>
            </a:r>
            <a:r>
              <a:rPr dirty="0"/>
              <a:t>level</a:t>
            </a:r>
            <a:r>
              <a:rPr spc="409" dirty="0"/>
              <a:t>  </a:t>
            </a:r>
            <a:r>
              <a:rPr dirty="0"/>
              <a:t>of</a:t>
            </a:r>
            <a:r>
              <a:rPr spc="405" dirty="0"/>
              <a:t>  </a:t>
            </a:r>
            <a:r>
              <a:rPr dirty="0"/>
              <a:t>scheduling</a:t>
            </a:r>
            <a:r>
              <a:rPr spc="409" dirty="0"/>
              <a:t>  </a:t>
            </a:r>
            <a:r>
              <a:rPr dirty="0"/>
              <a:t>is</a:t>
            </a:r>
            <a:r>
              <a:rPr spc="415" dirty="0"/>
              <a:t>  </a:t>
            </a:r>
            <a:r>
              <a:rPr spc="-10" dirty="0"/>
              <a:t>actually 	</a:t>
            </a:r>
            <a:r>
              <a:rPr dirty="0"/>
              <a:t>picking</a:t>
            </a:r>
            <a:r>
              <a:rPr spc="5" dirty="0"/>
              <a:t>  </a:t>
            </a:r>
            <a:r>
              <a:rPr dirty="0"/>
              <a:t>one</a:t>
            </a:r>
            <a:r>
              <a:rPr spc="10" dirty="0"/>
              <a:t>  </a:t>
            </a:r>
            <a:r>
              <a:rPr dirty="0"/>
              <a:t>of</a:t>
            </a:r>
            <a:r>
              <a:rPr spc="10" dirty="0"/>
              <a:t>  </a:t>
            </a:r>
            <a:r>
              <a:rPr dirty="0"/>
              <a:t>the</a:t>
            </a:r>
            <a:r>
              <a:rPr spc="15" dirty="0"/>
              <a:t>  </a:t>
            </a:r>
            <a:r>
              <a:rPr dirty="0"/>
              <a:t>ready</a:t>
            </a:r>
            <a:r>
              <a:rPr spc="5" dirty="0"/>
              <a:t>  </a:t>
            </a:r>
            <a:r>
              <a:rPr dirty="0"/>
              <a:t>processes</a:t>
            </a:r>
            <a:r>
              <a:rPr spc="20" dirty="0"/>
              <a:t>  </a:t>
            </a:r>
            <a:r>
              <a:rPr dirty="0"/>
              <a:t>in</a:t>
            </a:r>
            <a:r>
              <a:rPr spc="10" dirty="0"/>
              <a:t>  </a:t>
            </a:r>
            <a:r>
              <a:rPr spc="-20" dirty="0"/>
              <a:t>main 	</a:t>
            </a:r>
            <a:r>
              <a:rPr dirty="0"/>
              <a:t>memory</a:t>
            </a:r>
            <a:r>
              <a:rPr spc="-4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run </a:t>
            </a:r>
            <a:r>
              <a:rPr spc="-10" dirty="0"/>
              <a:t>next.</a:t>
            </a:r>
          </a:p>
          <a:p>
            <a:pPr marL="355600" marR="762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Often</a:t>
            </a:r>
            <a:r>
              <a:rPr spc="250" dirty="0"/>
              <a:t> </a:t>
            </a:r>
            <a:r>
              <a:rPr dirty="0"/>
              <a:t>this</a:t>
            </a:r>
            <a:r>
              <a:rPr spc="240" dirty="0"/>
              <a:t> </a:t>
            </a:r>
            <a:r>
              <a:rPr dirty="0"/>
              <a:t>is</a:t>
            </a:r>
            <a:r>
              <a:rPr spc="250" dirty="0"/>
              <a:t> </a:t>
            </a:r>
            <a:r>
              <a:rPr dirty="0"/>
              <a:t>called</a:t>
            </a:r>
            <a:r>
              <a:rPr spc="254" dirty="0"/>
              <a:t> </a:t>
            </a:r>
            <a:r>
              <a:rPr dirty="0"/>
              <a:t>the</a:t>
            </a:r>
            <a:r>
              <a:rPr spc="240" dirty="0"/>
              <a:t> </a:t>
            </a:r>
            <a:r>
              <a:rPr b="1" dirty="0">
                <a:latin typeface="Times New Roman"/>
                <a:cs typeface="Times New Roman"/>
              </a:rPr>
              <a:t>CPU</a:t>
            </a:r>
            <a:r>
              <a:rPr b="1" spc="25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scheduler</a:t>
            </a:r>
            <a:r>
              <a:rPr b="1" spc="250" dirty="0">
                <a:latin typeface="Times New Roman"/>
                <a:cs typeface="Times New Roman"/>
              </a:rPr>
              <a:t> </a:t>
            </a:r>
            <a:r>
              <a:rPr dirty="0"/>
              <a:t>and</a:t>
            </a:r>
            <a:r>
              <a:rPr spc="245" dirty="0"/>
              <a:t> </a:t>
            </a:r>
            <a:r>
              <a:rPr spc="-25" dirty="0"/>
              <a:t>is </a:t>
            </a:r>
            <a:r>
              <a:rPr dirty="0"/>
              <a:t>the</a:t>
            </a:r>
            <a:r>
              <a:rPr spc="640" dirty="0"/>
              <a:t> </a:t>
            </a:r>
            <a:r>
              <a:rPr dirty="0"/>
              <a:t>one</a:t>
            </a:r>
            <a:r>
              <a:rPr spc="630" dirty="0"/>
              <a:t> </a:t>
            </a:r>
            <a:r>
              <a:rPr dirty="0"/>
              <a:t>people</a:t>
            </a:r>
            <a:r>
              <a:rPr spc="640" dirty="0"/>
              <a:t> </a:t>
            </a:r>
            <a:r>
              <a:rPr dirty="0"/>
              <a:t>usually</a:t>
            </a:r>
            <a:r>
              <a:rPr spc="635" dirty="0"/>
              <a:t> </a:t>
            </a:r>
            <a:r>
              <a:rPr dirty="0"/>
              <a:t>mean</a:t>
            </a:r>
            <a:r>
              <a:rPr spc="635" dirty="0"/>
              <a:t> </a:t>
            </a:r>
            <a:r>
              <a:rPr dirty="0"/>
              <a:t>when</a:t>
            </a:r>
            <a:r>
              <a:rPr spc="645" dirty="0"/>
              <a:t> </a:t>
            </a:r>
            <a:r>
              <a:rPr dirty="0"/>
              <a:t>they</a:t>
            </a:r>
            <a:r>
              <a:rPr spc="645" dirty="0"/>
              <a:t> </a:t>
            </a:r>
            <a:r>
              <a:rPr spc="-20" dirty="0"/>
              <a:t>talk </a:t>
            </a:r>
            <a:r>
              <a:rPr dirty="0"/>
              <a:t>about</a:t>
            </a:r>
            <a:r>
              <a:rPr spc="-60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10" dirty="0"/>
              <a:t>“scheduler.”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</a:tabLst>
            </a:pPr>
            <a:r>
              <a:rPr dirty="0"/>
              <a:t>Any</a:t>
            </a:r>
            <a:r>
              <a:rPr spc="-10" dirty="0"/>
              <a:t> </a:t>
            </a:r>
            <a:r>
              <a:rPr dirty="0"/>
              <a:t>suitable</a:t>
            </a:r>
            <a:r>
              <a:rPr spc="-15" dirty="0"/>
              <a:t> </a:t>
            </a:r>
            <a:r>
              <a:rPr dirty="0"/>
              <a:t>algorithm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used</a:t>
            </a:r>
            <a:r>
              <a:rPr spc="-15" dirty="0"/>
              <a:t> </a:t>
            </a:r>
            <a:r>
              <a:rPr dirty="0"/>
              <a:t>here, </a:t>
            </a:r>
            <a:r>
              <a:rPr spc="-10" dirty="0"/>
              <a:t>either </a:t>
            </a:r>
            <a:r>
              <a:rPr dirty="0"/>
              <a:t>preemptive</a:t>
            </a:r>
            <a:r>
              <a:rPr spc="-55" dirty="0"/>
              <a:t> </a:t>
            </a:r>
            <a:r>
              <a:rPr dirty="0"/>
              <a:t>or</a:t>
            </a:r>
            <a:r>
              <a:rPr spc="-10" dirty="0"/>
              <a:t> </a:t>
            </a:r>
            <a:r>
              <a:rPr dirty="0"/>
              <a:t>non-</a:t>
            </a:r>
            <a:r>
              <a:rPr spc="-10" dirty="0"/>
              <a:t>preemptive.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826" y="228600"/>
            <a:ext cx="826643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Classification of Scheduling(CPU) 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458825" y="1371600"/>
            <a:ext cx="8266430" cy="4528163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55600" marR="767715" indent="-342900">
              <a:lnSpc>
                <a:spcPts val="2760"/>
              </a:lnSpc>
              <a:spcBef>
                <a:spcPts val="290"/>
              </a:spcBef>
              <a:buFont typeface="Arial"/>
              <a:buChar char="•"/>
              <a:tabLst>
                <a:tab pos="355600" algn="l"/>
                <a:tab pos="55238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selection</a:t>
            </a:r>
            <a:r>
              <a:rPr sz="2400" spc="-65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function</a:t>
            </a:r>
            <a:r>
              <a:rPr sz="2400" spc="-40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determines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</a:t>
            </a:r>
            <a:r>
              <a:rPr sz="2400" dirty="0">
                <a:latin typeface="Calibri"/>
                <a:cs typeface="Calibri"/>
              </a:rPr>
              <a:t>	ready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execution</a:t>
            </a:r>
            <a:endParaRPr sz="2400" dirty="0">
              <a:latin typeface="Calibri"/>
              <a:cs typeface="Calibri"/>
            </a:endParaRPr>
          </a:p>
          <a:p>
            <a:pPr marL="355600" marR="316230" indent="-3429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decision</a:t>
            </a:r>
            <a:r>
              <a:rPr sz="2400" spc="-40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mode</a:t>
            </a:r>
            <a:r>
              <a:rPr sz="2400" spc="-45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instants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selection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exercised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5015" algn="l"/>
              </a:tabLst>
            </a:pPr>
            <a:r>
              <a:rPr sz="2400" b="1" spc="-10" dirty="0">
                <a:latin typeface="Calibri"/>
                <a:cs typeface="Calibri"/>
              </a:rPr>
              <a:t>Nonpreemptive</a:t>
            </a:r>
            <a:endParaRPr sz="2400" dirty="0">
              <a:latin typeface="Calibri"/>
              <a:cs typeface="Calibri"/>
            </a:endParaRPr>
          </a:p>
          <a:p>
            <a:pPr marL="1154430" marR="525145" lvl="2" indent="-227329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Once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continue 	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until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24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terminates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I/O</a:t>
            </a:r>
            <a:endParaRPr sz="2400" dirty="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5015" algn="l"/>
              </a:tabLst>
            </a:pPr>
            <a:r>
              <a:rPr sz="2400" b="1" spc="-10" dirty="0">
                <a:latin typeface="Calibri"/>
                <a:cs typeface="Calibri"/>
              </a:rPr>
              <a:t>Preemptive</a:t>
            </a:r>
            <a:endParaRPr sz="2400" dirty="0">
              <a:latin typeface="Calibri"/>
              <a:cs typeface="Calibri"/>
            </a:endParaRPr>
          </a:p>
          <a:p>
            <a:pPr marL="1154430" marR="5080" lvl="2" indent="-227329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Currently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sz="2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interrupted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moved 	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OS</a:t>
            </a:r>
            <a:endParaRPr sz="2400" dirty="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4430" algn="l"/>
                <a:tab pos="6332220" algn="l"/>
              </a:tabLst>
            </a:pPr>
            <a:r>
              <a:rPr sz="2400" spc="-10" dirty="0">
                <a:latin typeface="Calibri"/>
                <a:cs typeface="Calibri"/>
              </a:rPr>
              <a:t>Prevents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monopolizing</a:t>
            </a:r>
            <a:r>
              <a:rPr sz="2400" dirty="0">
                <a:latin typeface="Calibri"/>
                <a:cs typeface="Calibri"/>
              </a:rPr>
              <a:t>	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processor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Scheduling Criteria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7765415" cy="352234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spc="-20" dirty="0">
                <a:solidFill>
                  <a:srgbClr val="7030A0"/>
                </a:solidFill>
                <a:latin typeface="Calibri"/>
                <a:cs typeface="Calibri"/>
              </a:rPr>
              <a:t>User-</a:t>
            </a:r>
            <a:r>
              <a:rPr sz="2400" b="1" dirty="0">
                <a:solidFill>
                  <a:srgbClr val="7030A0"/>
                </a:solidFill>
                <a:latin typeface="Calibri"/>
                <a:cs typeface="Calibri"/>
              </a:rPr>
              <a:t>oriented</a:t>
            </a:r>
            <a:r>
              <a:rPr sz="2400" b="1" spc="-80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030A0"/>
                </a:solidFill>
                <a:latin typeface="Calibri"/>
                <a:cs typeface="Calibri"/>
              </a:rPr>
              <a:t>criteria</a:t>
            </a:r>
            <a:endParaRPr sz="2400" dirty="0">
              <a:solidFill>
                <a:srgbClr val="7030A0"/>
              </a:solidFill>
              <a:latin typeface="Calibri"/>
              <a:cs typeface="Calibri"/>
            </a:endParaRPr>
          </a:p>
          <a:p>
            <a:pPr marL="754380" marR="304165" lvl="1" indent="-285115">
              <a:lnSpc>
                <a:spcPts val="2590"/>
              </a:lnSpc>
              <a:spcBef>
                <a:spcPts val="640"/>
              </a:spcBef>
              <a:buFont typeface="Arial"/>
              <a:buChar char="–"/>
              <a:tabLst>
                <a:tab pos="756285" algn="l"/>
              </a:tabLst>
            </a:pPr>
            <a:r>
              <a:rPr sz="2400" spc="-10" dirty="0">
                <a:solidFill>
                  <a:srgbClr val="FF9966"/>
                </a:solidFill>
                <a:latin typeface="Calibri"/>
                <a:cs typeface="Calibri"/>
              </a:rPr>
              <a:t>Response</a:t>
            </a:r>
            <a:r>
              <a:rPr sz="2400" spc="-85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Time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Elapsed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submission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request</a:t>
            </a:r>
            <a:r>
              <a:rPr sz="24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receipt</a:t>
            </a:r>
            <a:r>
              <a:rPr sz="2400" spc="-6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response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4380" lvl="1" indent="-285115">
              <a:lnSpc>
                <a:spcPts val="2735"/>
              </a:lnSpc>
              <a:spcBef>
                <a:spcPts val="280"/>
              </a:spcBef>
              <a:buFont typeface="Arial"/>
              <a:buChar char="–"/>
              <a:tabLst>
                <a:tab pos="754380" algn="l"/>
              </a:tabLst>
            </a:pPr>
            <a:r>
              <a:rPr sz="2400" spc="-20" dirty="0">
                <a:solidFill>
                  <a:srgbClr val="FF9966"/>
                </a:solidFill>
                <a:latin typeface="Calibri"/>
                <a:cs typeface="Calibri"/>
              </a:rPr>
              <a:t>Turnaround</a:t>
            </a:r>
            <a:r>
              <a:rPr sz="2400" spc="-50" dirty="0">
                <a:solidFill>
                  <a:srgbClr val="FF9966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9966"/>
                </a:solidFill>
                <a:latin typeface="Calibri"/>
                <a:cs typeface="Calibri"/>
              </a:rPr>
              <a:t>Time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Elapsed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submission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>
              <a:lnSpc>
                <a:spcPts val="2735"/>
              </a:lnSpc>
            </a:pP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process</a:t>
            </a:r>
            <a:r>
              <a:rPr sz="2400" spc="-4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to</a:t>
            </a:r>
            <a:r>
              <a:rPr sz="2400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B050"/>
                </a:solidFill>
                <a:latin typeface="Calibri"/>
                <a:cs typeface="Calibri"/>
              </a:rPr>
              <a:t>its</a:t>
            </a:r>
            <a:r>
              <a:rPr sz="2400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B050"/>
                </a:solidFill>
                <a:latin typeface="Calibri"/>
                <a:cs typeface="Calibri"/>
              </a:rPr>
              <a:t>completion</a:t>
            </a:r>
            <a:endParaRPr sz="24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spc="-35" dirty="0">
                <a:solidFill>
                  <a:srgbClr val="7030A0"/>
                </a:solidFill>
                <a:latin typeface="Calibri"/>
                <a:cs typeface="Calibri"/>
              </a:rPr>
              <a:t>System-</a:t>
            </a:r>
            <a:r>
              <a:rPr sz="2400" b="1" dirty="0">
                <a:solidFill>
                  <a:srgbClr val="7030A0"/>
                </a:solidFill>
                <a:latin typeface="Calibri"/>
                <a:cs typeface="Calibri"/>
              </a:rPr>
              <a:t>oriented</a:t>
            </a:r>
            <a:r>
              <a:rPr sz="2400" b="1" spc="-65" dirty="0">
                <a:solidFill>
                  <a:srgbClr val="7030A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030A0"/>
                </a:solidFill>
                <a:latin typeface="Calibri"/>
                <a:cs typeface="Calibri"/>
              </a:rPr>
              <a:t>criteria</a:t>
            </a:r>
            <a:endParaRPr sz="2400" dirty="0">
              <a:solidFill>
                <a:srgbClr val="7030A0"/>
              </a:solidFill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Processor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utilization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4380" algn="l"/>
              </a:tabLst>
            </a:pPr>
            <a:r>
              <a:rPr sz="2400" dirty="0">
                <a:latin typeface="Calibri"/>
                <a:cs typeface="Calibri"/>
              </a:rPr>
              <a:t>Throughput: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754380" lvl="1" indent="-285115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4380" algn="l"/>
              </a:tabLst>
            </a:pPr>
            <a:r>
              <a:rPr sz="2400" spc="-10" dirty="0">
                <a:latin typeface="Calibri"/>
                <a:cs typeface="Calibri"/>
              </a:rPr>
              <a:t>fairness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Scheduling Algorithms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07744" y="1752600"/>
            <a:ext cx="7423784" cy="353822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30" dirty="0">
                <a:latin typeface="Calibri"/>
                <a:cs typeface="Calibri"/>
              </a:rPr>
              <a:t>First-</a:t>
            </a:r>
            <a:r>
              <a:rPr sz="3200" dirty="0">
                <a:latin typeface="Calibri"/>
                <a:cs typeface="Calibri"/>
              </a:rPr>
              <a:t>Come,</a:t>
            </a:r>
            <a:r>
              <a:rPr sz="3200" spc="8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First-</a:t>
            </a:r>
            <a:r>
              <a:rPr sz="3200" spc="-10" dirty="0">
                <a:latin typeface="Calibri"/>
                <a:cs typeface="Calibri"/>
              </a:rPr>
              <a:t>Served(FCFS)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25" dirty="0">
                <a:latin typeface="Calibri"/>
                <a:cs typeface="Calibri"/>
              </a:rPr>
              <a:t>Shortest-</a:t>
            </a:r>
            <a:r>
              <a:rPr sz="3200" spc="-20" dirty="0">
                <a:latin typeface="Calibri"/>
                <a:cs typeface="Calibri"/>
              </a:rPr>
              <a:t>Job-</a:t>
            </a:r>
            <a:r>
              <a:rPr sz="3200" spc="-10" dirty="0">
                <a:latin typeface="Calibri"/>
                <a:cs typeface="Calibri"/>
              </a:rPr>
              <a:t>First(SJF)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70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75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referred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Shortest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Next(SPN)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4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Priority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35"/>
              </a:spcBef>
              <a:buFont typeface="Arial"/>
              <a:buChar char="•"/>
              <a:tabLst>
                <a:tab pos="354965" algn="l"/>
              </a:tabLst>
            </a:pPr>
            <a:r>
              <a:rPr sz="3600" b="1" spc="-30" dirty="0">
                <a:solidFill>
                  <a:srgbClr val="FF0000"/>
                </a:solidFill>
                <a:latin typeface="Calibri"/>
                <a:cs typeface="Calibri"/>
              </a:rPr>
              <a:t>Round-</a:t>
            </a:r>
            <a:r>
              <a:rPr sz="3600" b="1" dirty="0">
                <a:solidFill>
                  <a:srgbClr val="FF0000"/>
                </a:solidFill>
                <a:latin typeface="Calibri"/>
                <a:cs typeface="Calibri"/>
              </a:rPr>
              <a:t>Robin</a:t>
            </a:r>
            <a:r>
              <a:rPr sz="36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0000"/>
                </a:solidFill>
                <a:latin typeface="Calibri"/>
                <a:cs typeface="Calibri"/>
              </a:rPr>
              <a:t>Scheduling</a:t>
            </a:r>
            <a:endParaRPr sz="36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Multilevel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Queue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Process Mix 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34939"/>
              </p:ext>
            </p:extLst>
          </p:nvPr>
        </p:nvGraphicFramePr>
        <p:xfrm>
          <a:off x="1517269" y="1600200"/>
          <a:ext cx="6095999" cy="28174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4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02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86360"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Process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59055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3930" marR="1049655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Arrival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95020" marR="581660" indent="-8255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b="1" spc="-10" dirty="0">
                          <a:latin typeface="Calibri"/>
                          <a:cs typeface="Calibri"/>
                        </a:rPr>
                        <a:t>Service 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Time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R="9779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887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518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9779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887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518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9779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887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518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marR="97790" algn="ct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887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5180" algn="r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0489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530">
                <a:tc>
                  <a:txBody>
                    <a:bodyPr/>
                    <a:lstStyle/>
                    <a:p>
                      <a:pPr marR="9779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5887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9999"/>
                      </a:solidFill>
                      <a:prstDash val="solid"/>
                    </a:lnL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05180" algn="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11125" marB="0">
                    <a:lnL w="19050">
                      <a:solidFill>
                        <a:srgbClr val="009999"/>
                      </a:solidFill>
                      <a:prstDash val="solid"/>
                    </a:lnL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009999"/>
                      </a:solidFill>
                      <a:prstDash val="solid"/>
                    </a:lnR>
                    <a:lnT w="19050">
                      <a:solidFill>
                        <a:srgbClr val="009999"/>
                      </a:solidFill>
                      <a:prstDash val="solid"/>
                    </a:lnT>
                    <a:lnB w="19050">
                      <a:solidFill>
                        <a:srgbClr val="0099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20520" y="4800600"/>
            <a:ext cx="690753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Service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time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=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total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processor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time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needed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(CPU-I/O)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cycle </a:t>
            </a:r>
            <a:r>
              <a:rPr sz="2000" b="1" dirty="0">
                <a:latin typeface="Calibri"/>
                <a:cs typeface="Calibri"/>
              </a:rPr>
              <a:t>Jobs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with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service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time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CPU-bound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jobs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are</a:t>
            </a:r>
            <a:r>
              <a:rPr sz="2000" b="1" spc="-10" dirty="0">
                <a:latin typeface="Calibri"/>
                <a:cs typeface="Calibri"/>
              </a:rPr>
              <a:t> referred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“long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jobs”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467600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First Come First Served (FCFS)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069644" y="3446145"/>
            <a:ext cx="7646670" cy="236029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54965" marR="5080" indent="-342900">
              <a:lnSpc>
                <a:spcPct val="86100"/>
              </a:lnSpc>
              <a:spcBef>
                <a:spcPts val="63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Selection</a:t>
            </a:r>
            <a:r>
              <a:rPr sz="3200" spc="-9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function:</a:t>
            </a:r>
            <a:r>
              <a:rPr sz="3200" spc="-40" dirty="0">
                <a:solidFill>
                  <a:schemeClr val="accent3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process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has </a:t>
            </a:r>
            <a:r>
              <a:rPr sz="3200" dirty="0">
                <a:latin typeface="Calibri"/>
                <a:cs typeface="Calibri"/>
              </a:rPr>
              <a:t>been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waiting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longest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ready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queue </a:t>
            </a:r>
            <a:r>
              <a:rPr sz="3200" dirty="0">
                <a:latin typeface="Calibri"/>
                <a:cs typeface="Calibri"/>
              </a:rPr>
              <a:t>(hence,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FCFS)</a:t>
            </a:r>
            <a:endParaRPr sz="3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Decision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mode: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non-preemptive</a:t>
            </a:r>
            <a:endParaRPr sz="32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65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until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I/O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562100"/>
            <a:ext cx="6497571" cy="1466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28600"/>
            <a:ext cx="809972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Shortest Job First (Shortest Process Next)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3429000"/>
            <a:ext cx="7563484" cy="243395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54965" marR="5080" indent="-342900">
              <a:lnSpc>
                <a:spcPts val="2760"/>
              </a:lnSpc>
              <a:spcBef>
                <a:spcPts val="29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function: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shortest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expected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53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80" dirty="0">
                <a:latin typeface="Arial"/>
                <a:cs typeface="Arial"/>
              </a:rPr>
              <a:t> </a:t>
            </a:r>
            <a:r>
              <a:rPr sz="2400" spc="-10" dirty="0">
                <a:latin typeface="Calibri"/>
                <a:cs typeface="Calibri"/>
              </a:rPr>
              <a:t>I/O-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Decision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non-preemptive</a:t>
            </a:r>
            <a:endParaRPr sz="2400" dirty="0">
              <a:latin typeface="Calibri"/>
              <a:cs typeface="Calibri"/>
            </a:endParaRPr>
          </a:p>
          <a:p>
            <a:pPr marL="354965" marR="510540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burst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time,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estimated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1" y="1323084"/>
            <a:ext cx="6781800" cy="17104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Priorities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763625" y="1211402"/>
            <a:ext cx="7999095" cy="363410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55600" marR="5715" indent="-342900">
              <a:lnSpc>
                <a:spcPts val="3229"/>
              </a:lnSpc>
              <a:spcBef>
                <a:spcPts val="315"/>
              </a:spcBef>
              <a:buFont typeface="Arial"/>
              <a:buChar char="•"/>
              <a:tabLst>
                <a:tab pos="355600" algn="l"/>
                <a:tab pos="2466340" algn="l"/>
                <a:tab pos="2984500" algn="l"/>
                <a:tab pos="4103370" algn="l"/>
                <a:tab pos="5470525" algn="l"/>
                <a:tab pos="6456680" algn="l"/>
                <a:tab pos="7682230" algn="l"/>
              </a:tabLst>
            </a:pPr>
            <a:r>
              <a:rPr sz="2800" spc="-10" dirty="0">
                <a:latin typeface="Calibri"/>
                <a:cs typeface="Calibri"/>
              </a:rPr>
              <a:t>Implemented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having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multiple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ready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queues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endParaRPr sz="28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Schedule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priority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lower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25" dirty="0">
                <a:latin typeface="Calibri"/>
                <a:cs typeface="Calibri"/>
              </a:rPr>
              <a:t>Lower-</a:t>
            </a:r>
            <a:r>
              <a:rPr sz="2800" dirty="0">
                <a:latin typeface="Calibri"/>
                <a:cs typeface="Calibri"/>
              </a:rPr>
              <a:t>priority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suffer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starvation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</a:tabLst>
            </a:pPr>
            <a:r>
              <a:rPr sz="2800" spc="-135" dirty="0">
                <a:latin typeface="Calibri"/>
                <a:cs typeface="Calibri"/>
              </a:rPr>
              <a:t>To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alleviate</a:t>
            </a:r>
            <a:r>
              <a:rPr sz="2800" spc="-155" dirty="0">
                <a:latin typeface="Calibri"/>
                <a:cs typeface="Calibri"/>
              </a:rPr>
              <a:t> </a:t>
            </a:r>
            <a:r>
              <a:rPr lang="en-US" sz="2800" spc="-10" dirty="0">
                <a:solidFill>
                  <a:srgbClr val="FF0000"/>
                </a:solidFill>
                <a:latin typeface="Calibri"/>
                <a:cs typeface="Calibri"/>
              </a:rPr>
              <a:t>starvation,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B050"/>
                </a:solidFill>
                <a:latin typeface="Calibri"/>
                <a:cs typeface="Calibri"/>
              </a:rPr>
              <a:t>dynamic</a:t>
            </a:r>
            <a:r>
              <a:rPr sz="2800" spc="-5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B050"/>
                </a:solidFill>
                <a:latin typeface="Calibri"/>
                <a:cs typeface="Calibri"/>
              </a:rPr>
              <a:t>priorities</a:t>
            </a:r>
            <a:endParaRPr sz="2800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756285" marR="5715" indent="-287020">
              <a:lnSpc>
                <a:spcPct val="100000"/>
              </a:lnSpc>
              <a:spcBef>
                <a:spcPts val="605"/>
              </a:spcBef>
              <a:tabLst>
                <a:tab pos="1349375" algn="l"/>
                <a:tab pos="2395855" algn="l"/>
                <a:tab pos="2781935" algn="l"/>
                <a:tab pos="3060700" algn="l"/>
                <a:tab pos="4266565" algn="l"/>
                <a:tab pos="5405120" algn="l"/>
                <a:tab pos="6275070" algn="l"/>
                <a:tab pos="6727825" algn="l"/>
                <a:tab pos="7150100" algn="l"/>
                <a:tab pos="7721600" algn="l"/>
              </a:tabLst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35" dirty="0">
                <a:latin typeface="Arial"/>
                <a:cs typeface="Arial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priority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changes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based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age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0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history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3429000"/>
            <a:ext cx="7005955" cy="2378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4130" indent="-340995">
              <a:lnSpc>
                <a:spcPct val="100000"/>
              </a:lnSpc>
              <a:spcBef>
                <a:spcPts val="700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1294130" algn="l"/>
              </a:tabLst>
            </a:pP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Selection</a:t>
            </a:r>
            <a:r>
              <a:rPr sz="24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function:</a:t>
            </a:r>
            <a:r>
              <a:rPr sz="24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same</a:t>
            </a:r>
            <a:r>
              <a:rPr sz="24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as</a:t>
            </a:r>
            <a:r>
              <a:rPr sz="24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spc="-20" dirty="0">
                <a:solidFill>
                  <a:srgbClr val="009999"/>
                </a:solidFill>
                <a:latin typeface="Arial"/>
                <a:cs typeface="Arial"/>
              </a:rPr>
              <a:t>FCFS</a:t>
            </a:r>
            <a:endParaRPr sz="2400" dirty="0">
              <a:latin typeface="Arial"/>
              <a:cs typeface="Arial"/>
            </a:endParaRPr>
          </a:p>
          <a:p>
            <a:pPr marL="1751330" lvl="1" indent="-340995">
              <a:lnSpc>
                <a:spcPct val="100000"/>
              </a:lnSpc>
              <a:spcBef>
                <a:spcPts val="600"/>
              </a:spcBef>
              <a:buClr>
                <a:srgbClr val="FF9966"/>
              </a:buClr>
              <a:buSzPct val="50000"/>
              <a:buFont typeface="Wingdings"/>
              <a:buChar char=""/>
              <a:tabLst>
                <a:tab pos="1751330" algn="l"/>
              </a:tabLst>
            </a:pP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Decision</a:t>
            </a:r>
            <a:r>
              <a:rPr sz="2400" spc="-8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9999"/>
                </a:solidFill>
                <a:latin typeface="Arial"/>
                <a:cs typeface="Arial"/>
              </a:rPr>
              <a:t>mode:</a:t>
            </a:r>
            <a:r>
              <a:rPr sz="2400" spc="-10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9999"/>
                </a:solidFill>
                <a:latin typeface="Arial"/>
                <a:cs typeface="Arial"/>
              </a:rPr>
              <a:t>preemptive</a:t>
            </a:r>
            <a:endParaRPr sz="2400" dirty="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500"/>
              </a:spcBef>
              <a:buSzPct val="75000"/>
              <a:buFont typeface="Wingdings"/>
              <a:buChar char=""/>
              <a:tabLst>
                <a:tab pos="297180" algn="l"/>
              </a:tabLst>
            </a:pP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2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process</a:t>
            </a:r>
            <a:r>
              <a:rPr sz="2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is</a:t>
            </a:r>
            <a:r>
              <a:rPr sz="2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allowed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run</a:t>
            </a:r>
            <a:r>
              <a:rPr sz="2200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until</a:t>
            </a:r>
            <a:r>
              <a:rPr sz="2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the</a:t>
            </a:r>
            <a:r>
              <a:rPr sz="220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time</a:t>
            </a:r>
            <a:r>
              <a:rPr sz="2200" spc="-3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slice</a:t>
            </a:r>
            <a:r>
              <a:rPr sz="2200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9999"/>
                </a:solidFill>
                <a:latin typeface="Arial"/>
                <a:cs typeface="Arial"/>
              </a:rPr>
              <a:t>period</a:t>
            </a:r>
            <a:endParaRPr sz="2200" dirty="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(quantum,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typically</a:t>
            </a:r>
            <a:r>
              <a:rPr sz="2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from</a:t>
            </a:r>
            <a:r>
              <a:rPr sz="2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10</a:t>
            </a:r>
            <a:r>
              <a:rPr sz="2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to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100</a:t>
            </a:r>
            <a:r>
              <a:rPr sz="2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ms)</a:t>
            </a:r>
            <a:r>
              <a:rPr sz="2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has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09999"/>
                </a:solidFill>
                <a:latin typeface="Arial"/>
                <a:cs typeface="Arial"/>
              </a:rPr>
              <a:t>expired</a:t>
            </a:r>
            <a:endParaRPr sz="2200" dirty="0">
              <a:latin typeface="Arial"/>
              <a:cs typeface="Arial"/>
            </a:endParaRPr>
          </a:p>
          <a:p>
            <a:pPr marL="297180" marR="5080" indent="-285115">
              <a:lnSpc>
                <a:spcPct val="100000"/>
              </a:lnSpc>
              <a:spcBef>
                <a:spcPts val="500"/>
              </a:spcBef>
              <a:buSzPct val="75000"/>
              <a:buFont typeface="Wingdings"/>
              <a:buChar char=""/>
              <a:tabLst>
                <a:tab pos="297180" algn="l"/>
              </a:tabLst>
            </a:pP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a</a:t>
            </a:r>
            <a:r>
              <a:rPr sz="2200" spc="-6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clock</a:t>
            </a:r>
            <a:r>
              <a:rPr sz="2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interrupt</a:t>
            </a:r>
            <a:r>
              <a:rPr sz="2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occurs</a:t>
            </a:r>
            <a:r>
              <a:rPr sz="2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and</a:t>
            </a:r>
            <a:r>
              <a:rPr sz="2200" spc="-5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the</a:t>
            </a:r>
            <a:r>
              <a:rPr sz="2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running</a:t>
            </a:r>
            <a:r>
              <a:rPr sz="2200" spc="-4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process</a:t>
            </a:r>
            <a:r>
              <a:rPr sz="2200" spc="-6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is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spc="-25" dirty="0">
                <a:solidFill>
                  <a:srgbClr val="009999"/>
                </a:solidFill>
                <a:latin typeface="Arial"/>
                <a:cs typeface="Arial"/>
              </a:rPr>
              <a:t>put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on</a:t>
            </a:r>
            <a:r>
              <a:rPr sz="2200" spc="-5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the</a:t>
            </a:r>
            <a:r>
              <a:rPr sz="2200" spc="-4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09999"/>
                </a:solidFill>
                <a:latin typeface="Arial"/>
                <a:cs typeface="Arial"/>
              </a:rPr>
              <a:t>ready</a:t>
            </a:r>
            <a:r>
              <a:rPr sz="2200" spc="-25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2200" spc="-20" dirty="0">
                <a:solidFill>
                  <a:srgbClr val="009999"/>
                </a:solidFill>
                <a:latin typeface="Arial"/>
                <a:cs typeface="Arial"/>
              </a:rPr>
              <a:t>queue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Round-Robin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190363"/>
            <a:ext cx="7379554" cy="17761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RR Time Quantum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917244" y="1740230"/>
            <a:ext cx="7430134" cy="3465829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4965" marR="5080" indent="-342900">
              <a:lnSpc>
                <a:spcPts val="3679"/>
              </a:lnSpc>
              <a:spcBef>
                <a:spcPts val="360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Quantum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must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substantially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than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time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required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handle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clock interrupt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dispatching</a:t>
            </a:r>
            <a:endParaRPr sz="3200">
              <a:latin typeface="Calibri"/>
              <a:cs typeface="Calibri"/>
            </a:endParaRPr>
          </a:p>
          <a:p>
            <a:pPr marL="354965" marR="61594" indent="-342900">
              <a:lnSpc>
                <a:spcPct val="100000"/>
              </a:lnSpc>
              <a:spcBef>
                <a:spcPts val="68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Quantum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should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larger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typical interaction</a:t>
            </a:r>
            <a:endParaRPr sz="3200">
              <a:latin typeface="Calibri"/>
              <a:cs typeface="Calibri"/>
            </a:endParaRPr>
          </a:p>
          <a:p>
            <a:pPr marL="756285" marR="414020" indent="-28702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latin typeface="Arial"/>
                <a:cs typeface="Arial"/>
              </a:rPr>
              <a:t>–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much</a:t>
            </a:r>
            <a:r>
              <a:rPr sz="2800" spc="-35" dirty="0">
                <a:latin typeface="Calibri"/>
                <a:cs typeface="Calibri"/>
              </a:rPr>
              <a:t> larger,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avoid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penalizing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I/O </a:t>
            </a:r>
            <a:r>
              <a:rPr sz="2800" dirty="0">
                <a:latin typeface="Calibri"/>
                <a:cs typeface="Calibri"/>
              </a:rPr>
              <a:t>bound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Round Robin: critique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752727"/>
            <a:ext cx="8050530" cy="25222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Still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favors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CPU-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I/O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quantum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before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I/O</a:t>
            </a:r>
            <a:endParaRPr sz="2400">
              <a:latin typeface="Calibri"/>
              <a:cs typeface="Calibri"/>
            </a:endParaRPr>
          </a:p>
          <a:p>
            <a:pPr marL="755015" lvl="1" indent="-285115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501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CPU-</a:t>
            </a:r>
            <a:r>
              <a:rPr sz="2400" dirty="0">
                <a:latin typeface="Calibri"/>
                <a:cs typeface="Calibri"/>
              </a:rPr>
              <a:t>bound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slice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put</a:t>
            </a:r>
            <a:endParaRPr sz="24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back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queue</a:t>
            </a:r>
            <a:endParaRPr sz="2400">
              <a:latin typeface="Calibri"/>
              <a:cs typeface="Calibri"/>
            </a:endParaRPr>
          </a:p>
          <a:p>
            <a:pPr marL="1222375" lvl="2" indent="-29527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222375" algn="l"/>
              </a:tabLst>
            </a:pPr>
            <a:r>
              <a:rPr sz="2400" dirty="0">
                <a:latin typeface="Calibri"/>
                <a:cs typeface="Calibri"/>
              </a:rPr>
              <a:t>May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unfairly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blocked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spcBef>
                <a:spcPts val="105"/>
              </a:spcBef>
            </a:pPr>
            <a:r>
              <a:rPr sz="3200" b="1" dirty="0"/>
              <a:t>Round Robin Variants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4290060" cy="119634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Weighted</a:t>
            </a:r>
            <a:r>
              <a:rPr sz="3200" spc="-1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RR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RR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variable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quanta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05400" y="1676400"/>
            <a:ext cx="838200" cy="1371600"/>
          </a:xfrm>
          <a:custGeom>
            <a:avLst/>
            <a:gdLst/>
            <a:ahLst/>
            <a:cxnLst/>
            <a:rect l="l" t="t" r="r" b="b"/>
            <a:pathLst>
              <a:path w="838200" h="1371600">
                <a:moveTo>
                  <a:pt x="838200" y="1371600"/>
                </a:moveTo>
                <a:lnTo>
                  <a:pt x="762850" y="1370475"/>
                </a:lnTo>
                <a:lnTo>
                  <a:pt x="691938" y="1367233"/>
                </a:lnTo>
                <a:lnTo>
                  <a:pt x="626646" y="1362070"/>
                </a:lnTo>
                <a:lnTo>
                  <a:pt x="568155" y="1355182"/>
                </a:lnTo>
                <a:lnTo>
                  <a:pt x="517647" y="1346766"/>
                </a:lnTo>
                <a:lnTo>
                  <a:pt x="476306" y="1337018"/>
                </a:lnTo>
                <a:lnTo>
                  <a:pt x="425850" y="1314313"/>
                </a:lnTo>
                <a:lnTo>
                  <a:pt x="419100" y="1301750"/>
                </a:lnTo>
                <a:lnTo>
                  <a:pt x="419100" y="755650"/>
                </a:lnTo>
                <a:lnTo>
                  <a:pt x="412349" y="743086"/>
                </a:lnTo>
                <a:lnTo>
                  <a:pt x="392886" y="731264"/>
                </a:lnTo>
                <a:lnTo>
                  <a:pt x="320552" y="710633"/>
                </a:lnTo>
                <a:lnTo>
                  <a:pt x="270044" y="702217"/>
                </a:lnTo>
                <a:lnTo>
                  <a:pt x="211553" y="695329"/>
                </a:lnTo>
                <a:lnTo>
                  <a:pt x="146261" y="690166"/>
                </a:lnTo>
                <a:lnTo>
                  <a:pt x="75349" y="686924"/>
                </a:lnTo>
                <a:lnTo>
                  <a:pt x="0" y="685800"/>
                </a:lnTo>
                <a:lnTo>
                  <a:pt x="75349" y="684675"/>
                </a:lnTo>
                <a:lnTo>
                  <a:pt x="146261" y="681433"/>
                </a:lnTo>
                <a:lnTo>
                  <a:pt x="211553" y="676270"/>
                </a:lnTo>
                <a:lnTo>
                  <a:pt x="270044" y="669382"/>
                </a:lnTo>
                <a:lnTo>
                  <a:pt x="320552" y="660966"/>
                </a:lnTo>
                <a:lnTo>
                  <a:pt x="361893" y="651218"/>
                </a:lnTo>
                <a:lnTo>
                  <a:pt x="412349" y="628513"/>
                </a:lnTo>
                <a:lnTo>
                  <a:pt x="419100" y="615950"/>
                </a:lnTo>
                <a:lnTo>
                  <a:pt x="419100" y="69850"/>
                </a:lnTo>
                <a:lnTo>
                  <a:pt x="425850" y="57286"/>
                </a:lnTo>
                <a:lnTo>
                  <a:pt x="445313" y="45464"/>
                </a:lnTo>
                <a:lnTo>
                  <a:pt x="517647" y="24833"/>
                </a:lnTo>
                <a:lnTo>
                  <a:pt x="568155" y="16417"/>
                </a:lnTo>
                <a:lnTo>
                  <a:pt x="626646" y="9529"/>
                </a:lnTo>
                <a:lnTo>
                  <a:pt x="691938" y="4366"/>
                </a:lnTo>
                <a:lnTo>
                  <a:pt x="762850" y="1124"/>
                </a:lnTo>
                <a:lnTo>
                  <a:pt x="838200" y="0"/>
                </a:lnTo>
              </a:path>
            </a:pathLst>
          </a:custGeom>
          <a:ln w="12700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019800" y="1752600"/>
            <a:ext cx="2743200" cy="1066800"/>
          </a:xfrm>
          <a:prstGeom prst="rect">
            <a:avLst/>
          </a:prstGeom>
          <a:solidFill>
            <a:srgbClr val="4F81BC"/>
          </a:solidFill>
          <a:ln w="25400">
            <a:solidFill>
              <a:srgbClr val="385D89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35"/>
              </a:spcBef>
            </a:pPr>
            <a:endParaRPr sz="1800">
              <a:latin typeface="Times New Roman"/>
              <a:cs typeface="Times New Roman"/>
            </a:endParaRPr>
          </a:p>
          <a:p>
            <a:pPr marL="51054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Paper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Study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Prepared By Dr. Binod Kr. Adhikari</a:t>
            </a:r>
            <a:endParaRPr spc="-2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7B9BF0-4B7B-4B0D-91F9-775193E5D5DB}"/>
              </a:ext>
            </a:extLst>
          </p:cNvPr>
          <p:cNvSpPr/>
          <p:nvPr/>
        </p:nvSpPr>
        <p:spPr>
          <a:xfrm>
            <a:off x="1409727" y="2743200"/>
            <a:ext cx="63245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 very much</a:t>
            </a:r>
          </a:p>
        </p:txBody>
      </p:sp>
    </p:spTree>
    <p:extLst>
      <p:ext uri="{BB962C8B-B14F-4D97-AF65-F5344CB8AC3E}">
        <p14:creationId xmlns:p14="http://schemas.microsoft.com/office/powerpoint/2010/main" val="24819421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D686E11A-70D7-488D-9857-BF232B03B157}" vid="{361E00F6-43B0-4859-9256-696880D8D5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2564</TotalTime>
  <Words>1263</Words>
  <Application>Microsoft Office PowerPoint</Application>
  <PresentationFormat>On-screen Show (4:3)</PresentationFormat>
  <Paragraphs>153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Theme3</vt:lpstr>
      <vt:lpstr>Process Scheduling</vt:lpstr>
      <vt:lpstr>CPU Scheduling</vt:lpstr>
      <vt:lpstr>Classification of Scheduler</vt:lpstr>
      <vt:lpstr>Queuing Diagram for Scheduling</vt:lpstr>
      <vt:lpstr>Long-Term Scheduler</vt:lpstr>
      <vt:lpstr>Medium-Term Scheduler</vt:lpstr>
      <vt:lpstr>Short-Term Scheduler</vt:lpstr>
      <vt:lpstr>Three level scheduling</vt:lpstr>
      <vt:lpstr>Three level Scheduling</vt:lpstr>
      <vt:lpstr>Three level scheduling(Cont)</vt:lpstr>
      <vt:lpstr>Three level of scheduling(cont.)</vt:lpstr>
      <vt:lpstr>Classification of Scheduling(CPU) Algorithms</vt:lpstr>
      <vt:lpstr>Scheduling Criteria</vt:lpstr>
      <vt:lpstr>Scheduling Algorithms</vt:lpstr>
      <vt:lpstr>Process Mix Example</vt:lpstr>
      <vt:lpstr>First Come First Served (FCFS)</vt:lpstr>
      <vt:lpstr>Shortest Job First (Shortest Process Next)</vt:lpstr>
      <vt:lpstr>Priorities</vt:lpstr>
      <vt:lpstr>Round-Robin</vt:lpstr>
      <vt:lpstr>RR Time Quantum</vt:lpstr>
      <vt:lpstr>Round Robin: critique</vt:lpstr>
      <vt:lpstr>Round Robin Variants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bishal</dc:creator>
  <cp:lastModifiedBy>Yujan Basnet</cp:lastModifiedBy>
  <cp:revision>3</cp:revision>
  <dcterms:created xsi:type="dcterms:W3CDTF">2024-03-08T16:15:52Z</dcterms:created>
  <dcterms:modified xsi:type="dcterms:W3CDTF">2025-04-07T10:46:45Z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  <property fmtid="{D5CDD505-2E9C-101B-9397-08002B2CF9AE}" pid="5" name="Producer">
    <vt:lpwstr>Microsoft® Office PowerPoint® 2007</vt:lpwstr>
  </property>
</Properties>
</file>