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3"/>
  </p:notesMasterIdLst>
  <p:sldIdLst>
    <p:sldId id="256" r:id="rId2"/>
    <p:sldId id="314" r:id="rId3"/>
    <p:sldId id="371" r:id="rId4"/>
    <p:sldId id="372" r:id="rId5"/>
    <p:sldId id="374" r:id="rId6"/>
    <p:sldId id="375" r:id="rId7"/>
    <p:sldId id="376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89" r:id="rId19"/>
    <p:sldId id="390" r:id="rId20"/>
    <p:sldId id="391" r:id="rId21"/>
    <p:sldId id="392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24" autoAdjust="0"/>
  </p:normalViewPr>
  <p:slideViewPr>
    <p:cSldViewPr>
      <p:cViewPr varScale="1">
        <p:scale>
          <a:sx n="63" d="100"/>
          <a:sy n="63" d="100"/>
        </p:scale>
        <p:origin x="1288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62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EBE57-06B5-493A-882E-E27946C0749C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CAABD-430D-4558-B9E1-99DC9A1109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49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DCAABD-430D-4558-B9E1-99DC9A11099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859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14016-40D0-4842-9A52-81A6F1767BAB}" type="datetime1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5982D-0643-4695-83E6-9BE687780A3B}" type="datetime1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D3D07-98CD-4B67-A34E-47ADB4A5FAD8}" type="datetime1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75C65-16BF-4CB2-B539-9B8E21F3F481}" type="datetime1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9FE52-3D39-4273-BFF1-A803E6F6551D}" type="datetime1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7585-FC12-4453-94A4-53D5E06FFBF4}" type="datetime1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262D7-08F3-4CFB-89E5-10B3951DE747}" type="datetime1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D879-354F-4094-BCAC-0E10621198A6}" type="datetime1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37244-65CC-4DE0-9B1B-227C5819EC26}" type="datetime1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4B8-BC58-45C4-9EB1-8410D920902B}" type="datetime1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4169-01AD-418C-BB14-982904925B28}" type="datetime1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6E578-74D6-4F9E-8E3E-882BCE3C0FDD}" type="datetime1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2444B-AD59-459C-8316-D24326876BE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8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3.xml"/><Relationship Id="rId7" Type="http://schemas.openxmlformats.org/officeDocument/2006/relationships/image" Target="../media/image20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9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en-US" sz="4200" b="1" dirty="0" smtClean="0">
              <a:latin typeface="Book Antiqua" pitchFamily="18" charset="0"/>
            </a:endParaRPr>
          </a:p>
          <a:p>
            <a:pPr algn="ctr">
              <a:buNone/>
            </a:pPr>
            <a:r>
              <a:rPr lang="en-US" sz="4200" b="1" dirty="0" smtClean="0">
                <a:latin typeface="Book Antiqua" pitchFamily="18" charset="0"/>
              </a:rPr>
              <a:t>Unit</a:t>
            </a:r>
            <a:r>
              <a:rPr lang="en-US" sz="4400" b="1" dirty="0" smtClean="0">
                <a:latin typeface="Book Antiqua" pitchFamily="18" charset="0"/>
              </a:rPr>
              <a:t>-2</a:t>
            </a:r>
            <a:endParaRPr lang="en-US" sz="4400" b="1" dirty="0">
              <a:latin typeface="Book Antiqua" pitchFamily="18" charset="0"/>
            </a:endParaRPr>
          </a:p>
          <a:p>
            <a:pPr algn="ctr">
              <a:buNone/>
            </a:pPr>
            <a:r>
              <a:rPr lang="en-US" sz="4200" b="1" u="sng" dirty="0" smtClean="0">
                <a:latin typeface="Book Antiqua" pitchFamily="18" charset="0"/>
              </a:rPr>
              <a:t>Linear Models for Regression and Classification</a:t>
            </a:r>
          </a:p>
          <a:p>
            <a:pPr>
              <a:buNone/>
            </a:pPr>
            <a:r>
              <a:rPr lang="en-US" sz="4200" b="1" dirty="0">
                <a:latin typeface="Book Antiqua" pitchFamily="18" charset="0"/>
              </a:rPr>
              <a:t>	</a:t>
            </a:r>
            <a:r>
              <a:rPr lang="en-US" sz="4200" b="1" dirty="0" smtClean="0">
                <a:latin typeface="Book Antiqua" pitchFamily="18" charset="0"/>
              </a:rPr>
              <a:t>					   		</a:t>
            </a:r>
            <a:endParaRPr lang="en-US" b="1" dirty="0">
              <a:latin typeface="Book Antiqua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7DF2-F439-4098-8F51-12F176ADA032}" type="datetime1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Book Antiqua" pitchFamily="18" charset="0"/>
              </a:rPr>
              <a:t>Polynomial Curve Fitting</a:t>
            </a:r>
            <a:endParaRPr lang="en-US" b="1" dirty="0">
              <a:latin typeface="Book Antiqua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763000" cy="4525963"/>
              </a:xfrm>
            </p:spPr>
            <p:txBody>
              <a:bodyPr>
                <a:normAutofit/>
              </a:bodyPr>
              <a:lstStyle/>
              <a:p>
                <a:pPr algn="just" fontAlgn="base"/>
                <a:r>
                  <a:rPr lang="en-US" sz="2600" dirty="0" smtClean="0">
                    <a:latin typeface="Book Antiqua" pitchFamily="18" charset="0"/>
                  </a:rPr>
                  <a:t>Polynomial curve fitting </a:t>
                </a:r>
                <a:r>
                  <a:rPr lang="en-US" sz="2600" dirty="0">
                    <a:latin typeface="Book Antiqua" pitchFamily="18" charset="0"/>
                  </a:rPr>
                  <a:t>is a form of regression analysis in which the relationship between the independent variables and dependent variables are modeled in the </a:t>
                </a:r>
                <a:r>
                  <a:rPr lang="en-US" sz="2600" dirty="0" err="1" smtClean="0">
                    <a:latin typeface="Book Antiqua" pitchFamily="18" charset="0"/>
                  </a:rPr>
                  <a:t>m</a:t>
                </a:r>
                <a:r>
                  <a:rPr lang="en-US" sz="2600" baseline="30000" dirty="0" err="1" smtClean="0">
                    <a:latin typeface="Book Antiqua" pitchFamily="18" charset="0"/>
                  </a:rPr>
                  <a:t>th</a:t>
                </a:r>
                <a:r>
                  <a:rPr lang="en-US" sz="2600" dirty="0" smtClean="0">
                    <a:latin typeface="Book Antiqua" pitchFamily="18" charset="0"/>
                  </a:rPr>
                  <a:t> </a:t>
                </a:r>
                <a:r>
                  <a:rPr lang="en-US" sz="2600" dirty="0">
                    <a:latin typeface="Book Antiqua" pitchFamily="18" charset="0"/>
                  </a:rPr>
                  <a:t>degree polynomial</a:t>
                </a:r>
                <a:r>
                  <a:rPr lang="en-US" sz="2600" dirty="0" smtClean="0">
                    <a:latin typeface="Book Antiqua" pitchFamily="18" charset="0"/>
                  </a:rPr>
                  <a:t>.</a:t>
                </a:r>
              </a:p>
              <a:p>
                <a:pPr algn="just" fontAlgn="base"/>
                <a:r>
                  <a:rPr lang="en-US" sz="2600" dirty="0">
                    <a:latin typeface="Book Antiqua" pitchFamily="18" charset="0"/>
                  </a:rPr>
                  <a:t>Polynomial Regression models are usually fit with the method of least squares</a:t>
                </a:r>
                <a:r>
                  <a:rPr lang="en-US" sz="2600" dirty="0" smtClean="0">
                    <a:latin typeface="Book Antiqua" pitchFamily="18" charset="0"/>
                  </a:rPr>
                  <a:t>.</a:t>
                </a:r>
              </a:p>
              <a:p>
                <a:pPr algn="just" fontAlgn="base"/>
                <a:r>
                  <a:rPr lang="en-US" sz="2600" dirty="0">
                    <a:latin typeface="Book Antiqua" pitchFamily="18" charset="0"/>
                  </a:rPr>
                  <a:t>If we assume that the relationship is a linear one, then we can use </a:t>
                </a:r>
                <a:r>
                  <a:rPr lang="en-US" sz="2600" dirty="0" smtClean="0">
                    <a:latin typeface="Book Antiqua" pitchFamily="18" charset="0"/>
                  </a:rPr>
                  <a:t>linear equation given as:</a:t>
                </a:r>
              </a:p>
              <a:p>
                <a:pPr marL="0" indent="0" algn="just" fontAlgn="base">
                  <a:buNone/>
                </a:pPr>
                <a:r>
                  <a:rPr lang="en-US" sz="2600" dirty="0" smtClean="0">
                    <a:latin typeface="Book Antiqua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600" dirty="0" smtClean="0">
                  <a:latin typeface="Book Antiqua" pitchFamily="18" charset="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763000" cy="4525963"/>
              </a:xfrm>
              <a:blipFill rotWithShape="0">
                <a:blip r:embed="rId2"/>
                <a:stretch>
                  <a:fillRect l="-1113" t="-1348" r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A44C3-A9E3-47AE-A8FD-E8FAD88F472D}" type="datetime1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607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Book Antiqua" pitchFamily="18" charset="0"/>
              </a:rPr>
              <a:t>Polynomial Curve Fitting</a:t>
            </a:r>
            <a:endParaRPr lang="en-US" b="1" dirty="0">
              <a:latin typeface="Book Antiqua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763000" cy="4525963"/>
              </a:xfrm>
            </p:spPr>
            <p:txBody>
              <a:bodyPr>
                <a:normAutofit/>
              </a:bodyPr>
              <a:lstStyle/>
              <a:p>
                <a:pPr algn="just" fontAlgn="base"/>
                <a:r>
                  <a:rPr lang="en-US" sz="2800" dirty="0" smtClean="0">
                    <a:latin typeface="Book Antiqua" panose="02040602050305030304" pitchFamily="18" charset="0"/>
                  </a:rPr>
                  <a:t>However, if </a:t>
                </a:r>
                <a:r>
                  <a:rPr lang="en-US" sz="2800" dirty="0">
                    <a:latin typeface="Book Antiqua" panose="02040602050305030304" pitchFamily="18" charset="0"/>
                  </a:rPr>
                  <a:t>we assume that the relationship is </a:t>
                </a:r>
                <a:r>
                  <a:rPr lang="en-US" sz="2800" dirty="0" smtClean="0">
                    <a:latin typeface="Book Antiqua" panose="02040602050305030304" pitchFamily="18" charset="0"/>
                  </a:rPr>
                  <a:t>non-linear, we can use polynomial of more than degree one given as below.</a:t>
                </a:r>
              </a:p>
              <a:p>
                <a:pPr marL="0" indent="0" algn="just" fontAlgn="base">
                  <a:buNone/>
                </a:pPr>
                <a:r>
                  <a:rPr lang="en-US" sz="2800" dirty="0">
                    <a:latin typeface="Book Antiqua" panose="02040602050305030304" pitchFamily="18" charset="0"/>
                  </a:rPr>
                  <a:t> </a:t>
                </a:r>
                <a:r>
                  <a:rPr lang="en-US" sz="2800" dirty="0" smtClean="0">
                    <a:latin typeface="Book Antiqua" panose="02040602050305030304" pitchFamily="18" charset="0"/>
                  </a:rPr>
                  <a:t>   	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algn="just" fontAlgn="base"/>
                <a:r>
                  <a:rPr lang="en-US" sz="2600" dirty="0" smtClean="0">
                    <a:latin typeface="Book Antiqua" panose="02040602050305030304" pitchFamily="18" charset="0"/>
                  </a:rPr>
                  <a:t>Here, </a:t>
                </a:r>
                <a:r>
                  <a:rPr lang="en-US" sz="2600" dirty="0" err="1" smtClean="0">
                    <a:latin typeface="Book Antiqua" panose="02040602050305030304" pitchFamily="18" charset="0"/>
                  </a:rPr>
                  <a:t>w</a:t>
                </a:r>
                <a:r>
                  <a:rPr lang="en-US" sz="2600" baseline="-25000" dirty="0" err="1" smtClean="0">
                    <a:latin typeface="Book Antiqua" panose="02040602050305030304" pitchFamily="18" charset="0"/>
                  </a:rPr>
                  <a:t>i</a:t>
                </a:r>
                <a:r>
                  <a:rPr lang="en-US" sz="2600" dirty="0" smtClean="0">
                    <a:latin typeface="Book Antiqua" panose="02040602050305030304" pitchFamily="18" charset="0"/>
                  </a:rPr>
                  <a:t>, </a:t>
                </a:r>
                <a:r>
                  <a:rPr lang="en-US" sz="2600" dirty="0" err="1" smtClean="0">
                    <a:latin typeface="Book Antiqua" panose="02040602050305030304" pitchFamily="18" charset="0"/>
                  </a:rPr>
                  <a:t>i</a:t>
                </a:r>
                <a:r>
                  <a:rPr lang="en-US" sz="2600" dirty="0" smtClean="0">
                    <a:latin typeface="Book Antiqua" panose="02040602050305030304" pitchFamily="18" charset="0"/>
                  </a:rPr>
                  <a:t>=0,1…..m are coefficients of polynomial that needs to be determined minimizing mean squared error.  Error function for the n data points is given by: </a:t>
                </a:r>
              </a:p>
              <a:p>
                <a:pPr marL="400050" lvl="1" indent="68580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200" dirty="0">
                  <a:latin typeface="Book Antiqua" panose="0204060205030503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763000" cy="4525963"/>
              </a:xfrm>
              <a:blipFill rotWithShape="0">
                <a:blip r:embed="rId2"/>
                <a:stretch>
                  <a:fillRect l="-1253" t="-1482" r="-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E5EF-7D13-46AB-AA0D-7248BC332C1D}" type="datetime1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799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Book Antiqua" pitchFamily="18" charset="0"/>
              </a:rPr>
              <a:t>Polynomial Curve Fitting</a:t>
            </a:r>
            <a:endParaRPr lang="en-US" b="1" dirty="0">
              <a:latin typeface="Book Antiqua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524000"/>
                <a:ext cx="8763000" cy="4525963"/>
              </a:xfrm>
            </p:spPr>
            <p:txBody>
              <a:bodyPr>
                <a:normAutofit/>
              </a:bodyPr>
              <a:lstStyle/>
              <a:p>
                <a:pPr marL="0" indent="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 smtClean="0">
                  <a:latin typeface="Book Antiqua" panose="02040602050305030304" pitchFamily="18" charset="0"/>
                </a:endParaRPr>
              </a:p>
              <a:p>
                <a:pPr algn="just" fontAlgn="base"/>
                <a:r>
                  <a:rPr lang="en-US" sz="2600" dirty="0" smtClean="0">
                    <a:latin typeface="Book Antiqua" panose="02040602050305030304" pitchFamily="18" charset="0"/>
                  </a:rPr>
                  <a:t>Now, coefficients can be determined or  updated using gradient decent method as below.</a:t>
                </a:r>
              </a:p>
              <a:p>
                <a:pPr marL="400050" indent="-40005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−…−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e>
                      </m:nary>
                      <m:r>
                        <a:rPr lang="en-US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algn="just" fontAlgn="base"/>
                <a:endParaRPr lang="en-US" sz="2600" dirty="0">
                  <a:latin typeface="Book Antiqua" panose="0204060205030503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524000"/>
                <a:ext cx="8763000" cy="4525963"/>
              </a:xfrm>
              <a:blipFill rotWithShape="0">
                <a:blip r:embed="rId2"/>
                <a:stretch>
                  <a:fillRect l="-1113" r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9FCB-2791-4D05-AF18-45BD19C0DDB4}" type="datetime1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306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Book Antiqua" pitchFamily="18" charset="0"/>
              </a:rPr>
              <a:t>Polynomial Curve Fitting</a:t>
            </a:r>
            <a:endParaRPr lang="en-US" b="1" dirty="0">
              <a:latin typeface="Book Antiqua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95400"/>
                <a:ext cx="8763000" cy="5105400"/>
              </a:xfrm>
            </p:spPr>
            <p:txBody>
              <a:bodyPr>
                <a:normAutofit/>
              </a:bodyPr>
              <a:lstStyle/>
              <a:p>
                <a:pPr marL="400050" indent="-40005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−…−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e>
                      </m:nary>
                      <m:r>
                        <a:rPr lang="en-US" sz="28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7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7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2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7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7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7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7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7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7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7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700" i="1">
                              <a:latin typeface="Cambria Math" panose="02040503050406030204" pitchFamily="18" charset="0"/>
                            </a:rPr>
                            <m:t>−…−</m:t>
                          </m:r>
                          <m:sSub>
                            <m:sSubPr>
                              <m:ctrlPr>
                                <a:rPr lang="en-US" sz="2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7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7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e>
                      </m:nary>
                      <m:r>
                        <a:rPr lang="en-US" sz="2700" i="1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sz="27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7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7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7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r>
                  <a:rPr lang="en-US" sz="2600" dirty="0" smtClean="0">
                    <a:latin typeface="Book Antiqua" panose="02040602050305030304" pitchFamily="18" charset="0"/>
                  </a:rPr>
                  <a:t>So on</a:t>
                </a:r>
              </a:p>
              <a:p>
                <a:pPr marL="0" indent="0" algn="just" fontAlgn="base">
                  <a:buNone/>
                </a:pPr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algn="just" fontAlgn="base"/>
                <a:endParaRPr lang="en-US" sz="2600" dirty="0">
                  <a:latin typeface="Book Antiqua" panose="0204060205030503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95400"/>
                <a:ext cx="8763000" cy="5105400"/>
              </a:xfrm>
              <a:blipFill rotWithShape="0">
                <a:blip r:embed="rId2"/>
                <a:stretch>
                  <a:fillRect l="-1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3C0E7-51C8-4717-9E03-AAE07F3AECE3}" type="datetime1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980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Book Antiqua" pitchFamily="18" charset="0"/>
              </a:rPr>
              <a:t>Polynomial Curve Fitting</a:t>
            </a:r>
            <a:endParaRPr lang="en-US" b="1" dirty="0">
              <a:latin typeface="Book Antiqua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95400"/>
                <a:ext cx="8763000" cy="51054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800" b="1" i="1" dirty="0" smtClean="0">
                    <a:latin typeface="Book Antiqua" panose="02040602050305030304" pitchFamily="18" charset="0"/>
                  </a:rPr>
                  <a:t>Example: </a:t>
                </a:r>
                <a:r>
                  <a:rPr lang="en-US" sz="2800" dirty="0" smtClean="0">
                    <a:latin typeface="Book Antiqua" panose="02040602050305030304" pitchFamily="18" charset="0"/>
                  </a:rPr>
                  <a:t>Fit </a:t>
                </a:r>
                <a:r>
                  <a:rPr lang="en-US" sz="2800" dirty="0">
                    <a:latin typeface="Book Antiqua" panose="02040602050305030304" pitchFamily="18" charset="0"/>
                  </a:rPr>
                  <a:t>the quadratic curve through the following </a:t>
                </a:r>
                <a:r>
                  <a:rPr lang="en-US" sz="2800" dirty="0" smtClean="0">
                    <a:latin typeface="Book Antiqua" panose="02040602050305030304" pitchFamily="18" charset="0"/>
                  </a:rPr>
                  <a:t>data. Show one epoch of computation.</a:t>
                </a:r>
              </a:p>
              <a:p>
                <a:pPr algn="just"/>
                <a:endParaRPr lang="en-US" sz="2800" dirty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r>
                  <a:rPr lang="en-US" sz="2600" b="1" u="sng" dirty="0" smtClean="0">
                    <a:latin typeface="Book Antiqua" panose="02040602050305030304" pitchFamily="18" charset="0"/>
                  </a:rPr>
                  <a:t>Solution</a:t>
                </a:r>
              </a:p>
              <a:p>
                <a:pPr marL="0" indent="0" algn="just" fontAlgn="base">
                  <a:buNone/>
                </a:pPr>
                <a:r>
                  <a:rPr lang="en-US" sz="2600" dirty="0" smtClean="0">
                    <a:latin typeface="Book Antiqua" panose="02040602050305030304" pitchFamily="18" charset="0"/>
                  </a:rPr>
                  <a:t>General form of quadratic equation is: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r>
                  <a:rPr lang="en-US" sz="2600" dirty="0" smtClean="0">
                    <a:latin typeface="Book Antiqua" panose="02040602050305030304" pitchFamily="18" charset="0"/>
                  </a:rPr>
                  <a:t>Let us assume that initial values of parameters are:</a:t>
                </a:r>
              </a:p>
              <a:p>
                <a:pPr marL="0" indent="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dirty="0">
                  <a:latin typeface="Book Antiqua" panose="0204060205030503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95400"/>
                <a:ext cx="8763000" cy="5105400"/>
              </a:xfrm>
              <a:blipFill rotWithShape="0">
                <a:blip r:embed="rId2"/>
                <a:stretch>
                  <a:fillRect l="-1253" t="-1314" r="-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102670"/>
              </p:ext>
            </p:extLst>
          </p:nvPr>
        </p:nvGraphicFramePr>
        <p:xfrm>
          <a:off x="914400" y="2286000"/>
          <a:ext cx="4800603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082"/>
                <a:gridCol w="940118"/>
                <a:gridCol w="1143001"/>
                <a:gridCol w="1066800"/>
                <a:gridCol w="99060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Book Antiqua" panose="02040602050305030304" pitchFamily="18" charset="0"/>
                        </a:rPr>
                        <a:t>X</a:t>
                      </a:r>
                      <a:endParaRPr lang="en-US" sz="2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Book Antiqua" panose="02040602050305030304" pitchFamily="18" charset="0"/>
                        </a:rPr>
                        <a:t>1</a:t>
                      </a:r>
                      <a:endParaRPr lang="en-US" sz="2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Book Antiqua" panose="02040602050305030304" pitchFamily="18" charset="0"/>
                        </a:rPr>
                        <a:t>2</a:t>
                      </a:r>
                      <a:endParaRPr lang="en-US" sz="2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Book Antiqua" panose="02040602050305030304" pitchFamily="18" charset="0"/>
                        </a:rPr>
                        <a:t>3</a:t>
                      </a:r>
                      <a:endParaRPr lang="en-US" sz="2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Book Antiqua" panose="02040602050305030304" pitchFamily="18" charset="0"/>
                        </a:rPr>
                        <a:t>4</a:t>
                      </a:r>
                      <a:endParaRPr lang="en-US" sz="2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Book Antiqua" panose="02040602050305030304" pitchFamily="18" charset="0"/>
                        </a:rPr>
                        <a:t>f(x)</a:t>
                      </a:r>
                      <a:endParaRPr lang="en-US" sz="2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Book Antiqua" panose="02040602050305030304" pitchFamily="18" charset="0"/>
                        </a:rPr>
                        <a:t>2</a:t>
                      </a:r>
                      <a:endParaRPr lang="en-US" sz="2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Book Antiqua" panose="02040602050305030304" pitchFamily="18" charset="0"/>
                        </a:rPr>
                        <a:t>7</a:t>
                      </a:r>
                      <a:endParaRPr lang="en-US" sz="2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Book Antiqua" panose="02040602050305030304" pitchFamily="18" charset="0"/>
                        </a:rPr>
                        <a:t>14</a:t>
                      </a:r>
                      <a:endParaRPr lang="en-US" sz="2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Book Antiqua" panose="02040602050305030304" pitchFamily="18" charset="0"/>
                        </a:rPr>
                        <a:t>23</a:t>
                      </a:r>
                      <a:endParaRPr lang="en-US" sz="240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68BAB-A03D-4CA4-9CFD-69F8D13E3804}" type="datetime1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775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60351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Book Antiqua" pitchFamily="18" charset="0"/>
              </a:rPr>
              <a:t>Polynomial Curve Fitting</a:t>
            </a:r>
            <a:endParaRPr lang="en-US" b="1" dirty="0">
              <a:latin typeface="Book Antiqua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524000"/>
                <a:ext cx="8763000" cy="4876800"/>
              </a:xfrm>
            </p:spPr>
            <p:txBody>
              <a:bodyPr>
                <a:normAutofit/>
              </a:bodyPr>
              <a:lstStyle/>
              <a:p>
                <a:pPr marL="0" indent="0" algn="just" fontAlgn="base">
                  <a:buNone/>
                </a:pPr>
                <a:r>
                  <a:rPr lang="en-US" sz="2400" b="1" u="sng" dirty="0" smtClean="0">
                    <a:latin typeface="Book Antiqua" panose="02040602050305030304" pitchFamily="18" charset="0"/>
                  </a:rPr>
                  <a:t>Iteration 1: </a:t>
                </a:r>
                <a:r>
                  <a:rPr lang="en-US" sz="2400" dirty="0" smtClean="0">
                    <a:latin typeface="Book Antiqua" panose="02040602050305030304" pitchFamily="18" charset="0"/>
                  </a:rPr>
                  <a:t> </a:t>
                </a:r>
                <a:r>
                  <a:rPr lang="en-US" sz="2400" i="1" dirty="0" smtClean="0">
                    <a:latin typeface="Book Antiqua" panose="02040602050305030304" pitchFamily="18" charset="0"/>
                  </a:rPr>
                  <a:t>x</a:t>
                </a:r>
                <a:r>
                  <a:rPr lang="en-US" sz="2400" dirty="0" smtClean="0">
                    <a:latin typeface="Book Antiqua" panose="02040602050305030304" pitchFamily="18" charset="0"/>
                  </a:rPr>
                  <a:t>=1, y=f(</a:t>
                </a:r>
                <a:r>
                  <a:rPr lang="en-US" sz="2400" i="1" dirty="0" smtClean="0">
                    <a:latin typeface="Book Antiqua" panose="02040602050305030304" pitchFamily="18" charset="0"/>
                  </a:rPr>
                  <a:t>x</a:t>
                </a:r>
                <a:r>
                  <a:rPr lang="en-US" sz="2400" dirty="0" smtClean="0">
                    <a:latin typeface="Book Antiqua" panose="02040602050305030304" pitchFamily="18" charset="0"/>
                  </a:rPr>
                  <a:t>)=2 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=0.01</m:t>
                    </m:r>
                  </m:oMath>
                </a14:m>
                <a:endParaRPr lang="en-US" sz="24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)=0+0.01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=0.02</m:t>
                      </m:r>
                    </m:oMath>
                  </m:oMathPara>
                </a14:m>
                <a:endParaRPr lang="en-US" sz="2400" b="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=0+0.01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=0.02</m:t>
                      </m:r>
                    </m:oMath>
                  </m:oMathPara>
                </a14:m>
                <a:endParaRPr lang="en-US" sz="24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0+0.01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=0.02</m:t>
                      </m:r>
                    </m:oMath>
                  </m:oMathPara>
                </a14:m>
                <a:endParaRPr lang="en-US" sz="2400" dirty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3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r>
                  <a:rPr lang="en-US" sz="2000" b="1" u="sng" dirty="0">
                    <a:latin typeface="Book Antiqua" panose="02040602050305030304" pitchFamily="18" charset="0"/>
                  </a:rPr>
                  <a:t>Iteration </a:t>
                </a:r>
                <a:r>
                  <a:rPr lang="en-US" sz="2000" b="1" u="sng" dirty="0" smtClean="0">
                    <a:latin typeface="Book Antiqua" panose="02040602050305030304" pitchFamily="18" charset="0"/>
                  </a:rPr>
                  <a:t>2: </a:t>
                </a:r>
                <a:r>
                  <a:rPr lang="en-US" sz="2000" dirty="0" smtClean="0">
                    <a:latin typeface="Book Antiqua" panose="02040602050305030304" pitchFamily="18" charset="0"/>
                  </a:rPr>
                  <a:t> </a:t>
                </a:r>
                <a:r>
                  <a:rPr lang="en-US" sz="2000" i="1" dirty="0" smtClean="0">
                    <a:latin typeface="Book Antiqua" panose="02040602050305030304" pitchFamily="18" charset="0"/>
                  </a:rPr>
                  <a:t>x</a:t>
                </a:r>
                <a:r>
                  <a:rPr lang="en-US" sz="2000" dirty="0" smtClean="0">
                    <a:latin typeface="Book Antiqua" panose="02040602050305030304" pitchFamily="18" charset="0"/>
                  </a:rPr>
                  <a:t>=2, </a:t>
                </a:r>
                <a:r>
                  <a:rPr lang="en-US" sz="2000" dirty="0">
                    <a:latin typeface="Book Antiqua" panose="02040602050305030304" pitchFamily="18" charset="0"/>
                  </a:rPr>
                  <a:t>y=f(</a:t>
                </a:r>
                <a:r>
                  <a:rPr lang="en-US" sz="2000" i="1" dirty="0">
                    <a:latin typeface="Book Antiqua" panose="02040602050305030304" pitchFamily="18" charset="0"/>
                  </a:rPr>
                  <a:t>x</a:t>
                </a:r>
                <a:r>
                  <a:rPr lang="en-US" sz="2000" dirty="0" smtClean="0">
                    <a:latin typeface="Book Antiqua" panose="02040602050305030304" pitchFamily="18" charset="0"/>
                  </a:rPr>
                  <a:t>)=7</a:t>
                </a:r>
                <a:endParaRPr lang="en-US" sz="2000" dirty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2000" dirty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sz="2000" dirty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2000" dirty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3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r>
                  <a:rPr lang="en-US" sz="2800" dirty="0" smtClean="0">
                    <a:latin typeface="Book Antiqua" panose="02040602050305030304" pitchFamily="18" charset="0"/>
                  </a:rPr>
                  <a:t>In the same way perform iteration 3 and 4.</a:t>
                </a:r>
              </a:p>
              <a:p>
                <a:pPr marL="0" indent="0" algn="just" fontAlgn="base">
                  <a:buNone/>
                </a:pPr>
                <a:endParaRPr lang="en-US" sz="2800" dirty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b="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dirty="0" smtClean="0">
                  <a:latin typeface="Book Antiqua" panose="0204060205030503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524000"/>
                <a:ext cx="8763000" cy="4876800"/>
              </a:xfrm>
              <a:blipFill rotWithShape="0">
                <a:blip r:embed="rId2"/>
                <a:stretch>
                  <a:fillRect l="-1461" t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7F0D-82C3-4101-A633-87ABAD04264C}" type="datetime1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4744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b="1" dirty="0" smtClean="0">
                <a:latin typeface="Book Antiqua" pitchFamily="18" charset="0"/>
              </a:rPr>
              <a:t>Logistic Regression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25425" indent="-225425" algn="just"/>
            <a:r>
              <a:rPr lang="en-US" sz="2800" dirty="0" smtClean="0">
                <a:latin typeface="Book Antiqua" pitchFamily="18" charset="0"/>
              </a:rPr>
              <a:t>Logistic regression is one of the most popular machine learning algorithms for binary classification. This is because it is a simple algorithm that performs very well on a wide range of problems.</a:t>
            </a:r>
          </a:p>
          <a:p>
            <a:pPr marL="225425" indent="-225425" algn="just"/>
            <a:r>
              <a:rPr lang="en-US" sz="2800" dirty="0" smtClean="0">
                <a:latin typeface="Book Antiqua" pitchFamily="18" charset="0"/>
              </a:rPr>
              <a:t>We want to predict a variable            , where 0 is called negative class, while 1 is called positive class. Such task is known as binary classification.</a:t>
            </a:r>
          </a:p>
          <a:p>
            <a:pPr algn="just" fontAlgn="base">
              <a:buNone/>
            </a:pPr>
            <a:r>
              <a:rPr lang="en-US" sz="2800" dirty="0" smtClean="0">
                <a:latin typeface="Book Antiqua" pitchFamily="18" charset="0"/>
              </a:rPr>
              <a:t>	</a:t>
            </a:r>
          </a:p>
          <a:p>
            <a:pPr marL="165100" indent="-165100" algn="just"/>
            <a:endParaRPr lang="en-US" sz="2800" dirty="0">
              <a:latin typeface="Book Antiqua" pitchFamily="18" charset="0"/>
            </a:endParaRP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5381E7-2A59-4E82-9424-6CF65C4C1577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53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altLang="en-US"/>
          </a:p>
        </p:txBody>
      </p:sp>
      <p:sp>
        <p:nvSpPr>
          <p:cNvPr id="33794" name="AutoShape 2" descr="Image result for comparison of ml algorithms small NN, Medium NN and Large N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5638800" y="3886200"/>
          <a:ext cx="10445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Equation" r:id="rId3" imgW="583920" imgH="203040" progId="Equation.3">
                  <p:embed/>
                </p:oleObj>
              </mc:Choice>
              <mc:Fallback>
                <p:oleObj name="Equation" r:id="rId3" imgW="5839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886200"/>
                        <a:ext cx="10445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F97CD-9984-4A1F-B134-662BA711C079}" type="datetime1">
              <a:rPr lang="en-US" smtClean="0"/>
              <a:t>5/6/2025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3766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b="1" dirty="0" smtClean="0">
                <a:latin typeface="Book Antiqua" pitchFamily="18" charset="0"/>
              </a:rPr>
              <a:t>Logistic Regression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Autofit/>
          </a:bodyPr>
          <a:lstStyle/>
          <a:p>
            <a:pPr marL="225425" indent="-225425" algn="just"/>
            <a:r>
              <a:rPr lang="en-US" sz="2800" dirty="0" smtClean="0">
                <a:latin typeface="Book Antiqua" pitchFamily="18" charset="0"/>
              </a:rPr>
              <a:t>The heart of the logistic regression technique is logistic function and is defined as:</a:t>
            </a:r>
          </a:p>
          <a:p>
            <a:pPr marL="225425" indent="-225425" algn="just"/>
            <a:endParaRPr lang="en-US" sz="2800" dirty="0" smtClean="0">
              <a:latin typeface="Book Antiqua" pitchFamily="18" charset="0"/>
            </a:endParaRPr>
          </a:p>
          <a:p>
            <a:pPr marL="225425" indent="-225425" algn="just"/>
            <a:r>
              <a:rPr lang="en-US" sz="2800" dirty="0" smtClean="0">
                <a:latin typeface="Book Antiqua" pitchFamily="18" charset="0"/>
              </a:rPr>
              <a:t>Logistic function transforms the input into the range [0, 1]. Smallest negative numbers results in values close to zero and the larger positive numbers results in values close to one.</a:t>
            </a:r>
          </a:p>
          <a:p>
            <a:pPr marL="225425" indent="-225425" algn="just"/>
            <a:r>
              <a:rPr lang="en-US" sz="2800" dirty="0" smtClean="0">
                <a:latin typeface="Book Antiqua" pitchFamily="18" charset="0"/>
              </a:rPr>
              <a:t>If there are two input variable, logistic regression has two coefficients just like linear regression.</a:t>
            </a:r>
          </a:p>
          <a:p>
            <a:pPr marL="225425" indent="-225425" algn="just"/>
            <a:endParaRPr lang="en-US" sz="2800" dirty="0">
              <a:latin typeface="Book Antiqua" pitchFamily="18" charset="0"/>
            </a:endParaRP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5381E7-2A59-4E82-9424-6CF65C4C1577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53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altLang="en-US"/>
          </a:p>
        </p:txBody>
      </p:sp>
      <p:sp>
        <p:nvSpPr>
          <p:cNvPr id="33794" name="AutoShape 2" descr="Image result for comparison of ml algorithms small NN, Medium NN and Large N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891073"/>
              </p:ext>
            </p:extLst>
          </p:nvPr>
        </p:nvGraphicFramePr>
        <p:xfrm>
          <a:off x="2179638" y="5562600"/>
          <a:ext cx="29051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6" name="Equation" r:id="rId3" imgW="1244520" imgH="228600" progId="Equation.3">
                  <p:embed/>
                </p:oleObj>
              </mc:Choice>
              <mc:Fallback>
                <p:oleObj name="Equation" r:id="rId3" imgW="12445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638" y="5562600"/>
                        <a:ext cx="290512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2971800" y="2122360"/>
          <a:ext cx="2497138" cy="83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7" name="Equation" r:id="rId5" imgW="914400" imgH="393700" progId="Equation.3">
                  <p:embed/>
                </p:oleObj>
              </mc:Choice>
              <mc:Fallback>
                <p:oleObj name="Equation" r:id="rId5" imgW="914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122360"/>
                        <a:ext cx="2497138" cy="83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0F32B-EA6F-41F5-99DE-F82067F040D7}" type="datetime1">
              <a:rPr lang="en-US" smtClean="0"/>
              <a:t>5/6/2025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5285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b="1" dirty="0" smtClean="0">
                <a:latin typeface="Book Antiqua" pitchFamily="18" charset="0"/>
              </a:rPr>
              <a:t>Logistic Regression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Autofit/>
          </a:bodyPr>
          <a:lstStyle/>
          <a:p>
            <a:pPr algn="just" fontAlgn="base"/>
            <a:r>
              <a:rPr lang="en-US" sz="2800" dirty="0" smtClean="0">
                <a:latin typeface="Book Antiqua" pitchFamily="18" charset="0"/>
              </a:rPr>
              <a:t>Unlike linear regression, the output is transformed into a probability using the logistic function:</a:t>
            </a:r>
          </a:p>
          <a:p>
            <a:pPr fontAlgn="base">
              <a:buNone/>
            </a:pPr>
            <a:r>
              <a:rPr lang="en-US" sz="2800" dirty="0" smtClean="0"/>
              <a:t>	</a:t>
            </a:r>
          </a:p>
          <a:p>
            <a:pPr marL="284163" indent="-284163" algn="just"/>
            <a:r>
              <a:rPr lang="en-US" sz="2800" dirty="0" smtClean="0">
                <a:latin typeface="Book Antiqua" pitchFamily="18" charset="0"/>
              </a:rPr>
              <a:t>If the probability is &gt; 0.5 we can take the output as a prediction for the class 1, otherwise the prediction is for the class 0.</a:t>
            </a:r>
          </a:p>
          <a:p>
            <a:pPr marL="284163" indent="-284163" algn="just"/>
            <a:r>
              <a:rPr lang="en-US" sz="2800" dirty="0" smtClean="0">
                <a:latin typeface="Book Antiqua" pitchFamily="18" charset="0"/>
              </a:rPr>
              <a:t>The job of the learning algorithm will be to discover the best values for the coefficients (w</a:t>
            </a:r>
            <a:r>
              <a:rPr lang="en-US" sz="2800" baseline="-25000" dirty="0" smtClean="0">
                <a:latin typeface="Book Antiqua" pitchFamily="18" charset="0"/>
              </a:rPr>
              <a:t>0</a:t>
            </a:r>
            <a:r>
              <a:rPr lang="en-US" sz="2800" dirty="0" smtClean="0">
                <a:latin typeface="Book Antiqua" pitchFamily="18" charset="0"/>
              </a:rPr>
              <a:t>,  w</a:t>
            </a:r>
            <a:r>
              <a:rPr lang="en-US" sz="2800" baseline="-25000" dirty="0" smtClean="0">
                <a:latin typeface="Book Antiqua" pitchFamily="18" charset="0"/>
              </a:rPr>
              <a:t>1</a:t>
            </a:r>
            <a:r>
              <a:rPr lang="en-US" sz="2800" dirty="0" smtClean="0">
                <a:latin typeface="Book Antiqua" pitchFamily="18" charset="0"/>
              </a:rPr>
              <a:t>, and w</a:t>
            </a:r>
            <a:r>
              <a:rPr lang="en-US" sz="2800" baseline="-25000" dirty="0" smtClean="0">
                <a:latin typeface="Book Antiqua" pitchFamily="18" charset="0"/>
              </a:rPr>
              <a:t>2</a:t>
            </a:r>
            <a:r>
              <a:rPr lang="en-US" sz="2800" dirty="0" smtClean="0">
                <a:latin typeface="Book Antiqua" pitchFamily="18" charset="0"/>
              </a:rPr>
              <a:t>) based on the training data.</a:t>
            </a:r>
          </a:p>
          <a:p>
            <a:pPr marL="284163" indent="-284163" algn="just"/>
            <a:endParaRPr lang="en-US" sz="2800" dirty="0" smtClean="0">
              <a:latin typeface="Book Antiqua" pitchFamily="18" charset="0"/>
            </a:endParaRPr>
          </a:p>
          <a:p>
            <a:pPr marL="284163" indent="-284163" algn="just"/>
            <a:endParaRPr lang="en-US" sz="2800" dirty="0">
              <a:latin typeface="Book Antiqua" pitchFamily="18" charset="0"/>
            </a:endParaRP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5381E7-2A59-4E82-9424-6CF65C4C1577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53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altLang="en-US"/>
          </a:p>
        </p:txBody>
      </p:sp>
      <p:sp>
        <p:nvSpPr>
          <p:cNvPr id="33794" name="AutoShape 2" descr="Image result for comparison of ml algorithms small NN, Medium NN and Large N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30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186463"/>
              </p:ext>
            </p:extLst>
          </p:nvPr>
        </p:nvGraphicFramePr>
        <p:xfrm>
          <a:off x="2432050" y="2424113"/>
          <a:ext cx="203200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Equation" r:id="rId3" imgW="1143000" imgH="393480" progId="Equation.3">
                  <p:embed/>
                </p:oleObj>
              </mc:Choice>
              <mc:Fallback>
                <p:oleObj name="Equation" r:id="rId3" imgW="11430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2424113"/>
                        <a:ext cx="2032000" cy="700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C0AA5-B421-405B-8D22-3EE9083A3010}" type="datetime1">
              <a:rPr lang="en-US" smtClean="0"/>
              <a:t>5/6/2025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9153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b="1" dirty="0" smtClean="0">
                <a:latin typeface="Book Antiqua" pitchFamily="18" charset="0"/>
              </a:rPr>
              <a:t>Logistic Regression Cost Function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Autofit/>
          </a:bodyPr>
          <a:lstStyle/>
          <a:p>
            <a:pPr marL="284163" indent="-284163" algn="just"/>
            <a:r>
              <a:rPr lang="en-US" sz="2800" dirty="0" smtClean="0">
                <a:latin typeface="Book Antiqua" pitchFamily="18" charset="0"/>
              </a:rPr>
              <a:t>Unfortunately we can’t use the cost function MSE in logistic regression. It’s because our prediction function is non-linear (due to sigmoid transform). </a:t>
            </a:r>
          </a:p>
          <a:p>
            <a:pPr marL="284163" indent="-284163" algn="just"/>
            <a:r>
              <a:rPr lang="en-US" sz="2800" dirty="0" smtClean="0">
                <a:latin typeface="Book Antiqua" pitchFamily="18" charset="0"/>
              </a:rPr>
              <a:t>Squaring this prediction as we do in MSE results in a non-convex function with many local minimums. If our cost function has many local minimums, gradient descent may not find the optimal global minimum.</a:t>
            </a:r>
            <a:endParaRPr lang="en-US" sz="2800" dirty="0">
              <a:latin typeface="Book Antiqua" pitchFamily="18" charset="0"/>
            </a:endParaRP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5381E7-2A59-4E82-9424-6CF65C4C1577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53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altLang="en-US"/>
          </a:p>
        </p:txBody>
      </p:sp>
      <p:sp>
        <p:nvSpPr>
          <p:cNvPr id="33794" name="AutoShape 2" descr="Image result for comparison of ml algorithms small NN, Medium NN and Large N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20271-96E5-4AC4-BD32-212DC9C2C9C2}" type="datetime1">
              <a:rPr lang="en-US" smtClean="0"/>
              <a:t>5/6/2025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25" y="4800600"/>
            <a:ext cx="3076575" cy="173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2014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b="1" dirty="0" smtClean="0">
                <a:latin typeface="Book Antiqua" pitchFamily="18" charset="0"/>
              </a:rPr>
              <a:t>Logistic Regression Cost Function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Autofit/>
          </a:bodyPr>
          <a:lstStyle/>
          <a:p>
            <a:pPr marL="284163" indent="-284163" algn="just"/>
            <a:r>
              <a:rPr lang="en-US" sz="2800" dirty="0" smtClean="0">
                <a:latin typeface="Book Antiqua" pitchFamily="18" charset="0"/>
              </a:rPr>
              <a:t>Given the training set</a:t>
            </a:r>
          </a:p>
          <a:p>
            <a:pPr marL="284163" indent="-284163" algn="just">
              <a:buNone/>
            </a:pPr>
            <a:r>
              <a:rPr lang="en-US" sz="2800" dirty="0" smtClean="0">
                <a:latin typeface="Book Antiqua" pitchFamily="18" charset="0"/>
              </a:rPr>
              <a:t>	we want </a:t>
            </a:r>
          </a:p>
          <a:p>
            <a:pPr marL="284163" indent="-284163" algn="just"/>
            <a:r>
              <a:rPr lang="en-US" sz="2800" dirty="0" smtClean="0">
                <a:latin typeface="Book Antiqua" pitchFamily="18" charset="0"/>
              </a:rPr>
              <a:t>For logistic regression, we use following loss function or error function</a:t>
            </a:r>
          </a:p>
          <a:p>
            <a:pPr marL="284163" indent="-284163" algn="just"/>
            <a:endParaRPr lang="en-US" sz="2800" dirty="0" smtClean="0">
              <a:latin typeface="Book Antiqua" pitchFamily="18" charset="0"/>
            </a:endParaRPr>
          </a:p>
          <a:p>
            <a:pPr marL="284163" indent="-284163" algn="just"/>
            <a:endParaRPr lang="en-US" sz="2800" dirty="0" smtClean="0">
              <a:latin typeface="Book Antiqua" pitchFamily="18" charset="0"/>
            </a:endParaRPr>
          </a:p>
          <a:p>
            <a:pPr marL="284163" indent="-284163" algn="just"/>
            <a:r>
              <a:rPr lang="en-US" sz="2800" dirty="0" smtClean="0">
                <a:latin typeface="Book Antiqua" pitchFamily="18" charset="0"/>
              </a:rPr>
              <a:t>In case y=1, the output (the cost to pay) approaches to 0 as    approaches to 1. Conversely, the cost to pay grows to infinity as    approaches to 0. </a:t>
            </a:r>
            <a:endParaRPr lang="en-US" sz="2800" dirty="0">
              <a:latin typeface="Book Antiqua" pitchFamily="18" charset="0"/>
            </a:endParaRP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5381E7-2A59-4E82-9424-6CF65C4C1577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53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altLang="en-US"/>
          </a:p>
        </p:txBody>
      </p:sp>
      <p:sp>
        <p:nvSpPr>
          <p:cNvPr id="33794" name="AutoShape 2" descr="Image result for comparison of ml algorithms small NN, Medium NN and Large N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6081" name="Object 1"/>
          <p:cNvGraphicFramePr>
            <a:graphicFrameLocks noChangeAspect="1"/>
          </p:cNvGraphicFramePr>
          <p:nvPr/>
        </p:nvGraphicFramePr>
        <p:xfrm>
          <a:off x="4191000" y="1676400"/>
          <a:ext cx="4572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3" name="Equation" r:id="rId3" imgW="2743200" imgH="228600" progId="Equation.3">
                  <p:embed/>
                </p:oleObj>
              </mc:Choice>
              <mc:Fallback>
                <p:oleObj name="Equation" r:id="rId3" imgW="2743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676400"/>
                        <a:ext cx="4572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2209800" y="2209800"/>
          <a:ext cx="12382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4" name="Equation" r:id="rId5" imgW="622030" imgH="228501" progId="Equation.3">
                  <p:embed/>
                </p:oleObj>
              </mc:Choice>
              <mc:Fallback>
                <p:oleObj name="Equation" r:id="rId5" imgW="622030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09800"/>
                        <a:ext cx="12382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1936750" y="3733800"/>
          <a:ext cx="3746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5" name="Equation" r:id="rId7" imgW="2247840" imgH="457200" progId="Equation.3">
                  <p:embed/>
                </p:oleObj>
              </mc:Choice>
              <mc:Fallback>
                <p:oleObj name="Equation" r:id="rId7" imgW="22478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3733800"/>
                        <a:ext cx="37465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7"/>
          <p:cNvGraphicFramePr>
            <a:graphicFrameLocks noChangeAspect="1"/>
          </p:cNvGraphicFramePr>
          <p:nvPr/>
        </p:nvGraphicFramePr>
        <p:xfrm>
          <a:off x="1765090" y="5105400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" name="Equation" r:id="rId9" imgW="139680" imgH="203040" progId="Equation.3">
                  <p:embed/>
                </p:oleObj>
              </mc:Choice>
              <mc:Fallback>
                <p:oleObj name="Equation" r:id="rId9" imgW="1396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090" y="5105400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8" name="Object 8"/>
          <p:cNvGraphicFramePr>
            <a:graphicFrameLocks noChangeAspect="1"/>
          </p:cNvGraphicFramePr>
          <p:nvPr/>
        </p:nvGraphicFramePr>
        <p:xfrm>
          <a:off x="4267200" y="5562600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7" name="Equation" r:id="rId11" imgW="139680" imgH="203040" progId="Equation.3">
                  <p:embed/>
                </p:oleObj>
              </mc:Choice>
              <mc:Fallback>
                <p:oleObj name="Equation" r:id="rId11" imgW="1396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562600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Date Placeholder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EC11F-76ED-476D-8988-C21CCE28DAF7}" type="datetime1">
              <a:rPr lang="en-US" smtClean="0"/>
              <a:t>5/6/2025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4551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b="1" dirty="0" smtClean="0">
                <a:latin typeface="Book Antiqua" pitchFamily="18" charset="0"/>
              </a:rPr>
              <a:t>Logistic Regression Cost Function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Autofit/>
          </a:bodyPr>
          <a:lstStyle/>
          <a:p>
            <a:pPr marL="284163" indent="-284163" algn="just"/>
            <a:r>
              <a:rPr lang="en-US" sz="2800" dirty="0" smtClean="0">
                <a:latin typeface="Book Antiqua" pitchFamily="18" charset="0"/>
              </a:rPr>
              <a:t>This is a desirable property: we want a bigger penalty as the algorithm predicts something far away from the actual value. the same intuition applies when y=0.</a:t>
            </a:r>
          </a:p>
          <a:p>
            <a:pPr marL="284163" indent="-284163" algn="just"/>
            <a:r>
              <a:rPr lang="en-US" sz="2800" dirty="0" smtClean="0">
                <a:latin typeface="Book Antiqua" pitchFamily="18" charset="0"/>
              </a:rPr>
              <a:t>Thus, cost function for Logistic regression is given as:</a:t>
            </a:r>
            <a:endParaRPr lang="en-US" sz="2800" dirty="0">
              <a:latin typeface="Book Antiqua" pitchFamily="18" charset="0"/>
            </a:endParaRP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5381E7-2A59-4E82-9424-6CF65C4C1577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53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altLang="en-US"/>
          </a:p>
        </p:txBody>
      </p:sp>
      <p:sp>
        <p:nvSpPr>
          <p:cNvPr id="33794" name="AutoShape 2" descr="Image result for comparison of ml algorithms small NN, Medium NN and Large N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710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002323"/>
              </p:ext>
            </p:extLst>
          </p:nvPr>
        </p:nvGraphicFramePr>
        <p:xfrm>
          <a:off x="508000" y="4495800"/>
          <a:ext cx="58420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" name="Equation" r:id="rId3" imgW="2184120" imgH="203040" progId="Equation.3">
                  <p:embed/>
                </p:oleObj>
              </mc:Choice>
              <mc:Fallback>
                <p:oleObj name="Equation" r:id="rId3" imgW="21841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4495800"/>
                        <a:ext cx="5842000" cy="5381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26C7F-2949-4B29-822B-1C12B7CCB79A}" type="datetime1">
              <a:rPr lang="en-US" smtClean="0"/>
              <a:t>5/6/2025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225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b="1" dirty="0" smtClean="0">
                <a:latin typeface="Book Antiqua" pitchFamily="18" charset="0"/>
              </a:rPr>
              <a:t>Logistic Regression GD/Derivatives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029200"/>
          </a:xfrm>
        </p:spPr>
        <p:txBody>
          <a:bodyPr>
            <a:noAutofit/>
          </a:bodyPr>
          <a:lstStyle/>
          <a:p>
            <a:pPr marL="284163" indent="-284163" algn="just"/>
            <a:endParaRPr lang="en-US" sz="2800" dirty="0" smtClean="0">
              <a:latin typeface="Book Antiqua" pitchFamily="18" charset="0"/>
            </a:endParaRPr>
          </a:p>
          <a:p>
            <a:pPr marL="284163" indent="-284163" algn="just"/>
            <a:endParaRPr lang="en-US" sz="2800" dirty="0" smtClean="0">
              <a:latin typeface="Book Antiqua" pitchFamily="18" charset="0"/>
            </a:endParaRPr>
          </a:p>
          <a:p>
            <a:pPr marL="284163" indent="-284163" algn="just"/>
            <a:endParaRPr lang="en-US" sz="2800" dirty="0" smtClean="0">
              <a:latin typeface="Book Antiqua" pitchFamily="18" charset="0"/>
            </a:endParaRPr>
          </a:p>
          <a:p>
            <a:pPr marL="284163" indent="-284163" algn="just"/>
            <a:endParaRPr lang="en-US" sz="2800" dirty="0" smtClean="0">
              <a:latin typeface="Book Antiqua" pitchFamily="18" charset="0"/>
            </a:endParaRPr>
          </a:p>
          <a:p>
            <a:pPr marL="284163" indent="-284163" algn="just">
              <a:buNone/>
            </a:pPr>
            <a:endParaRPr lang="en-US" sz="2800" dirty="0">
              <a:latin typeface="Book Antiqua" pitchFamily="18" charset="0"/>
            </a:endParaRP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5381E7-2A59-4E82-9424-6CF65C4C1577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53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altLang="en-US"/>
          </a:p>
        </p:txBody>
      </p:sp>
      <p:sp>
        <p:nvSpPr>
          <p:cNvPr id="33794" name="AutoShape 2" descr="Image result for comparison of ml algorithms small NN, Medium NN and Large N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47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24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91017"/>
              </p:ext>
            </p:extLst>
          </p:nvPr>
        </p:nvGraphicFramePr>
        <p:xfrm>
          <a:off x="1247775" y="1830388"/>
          <a:ext cx="22479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2" name="Equation" r:id="rId3" imgW="1028520" imgH="419040" progId="Equation.3">
                  <p:embed/>
                </p:oleObj>
              </mc:Choice>
              <mc:Fallback>
                <p:oleObj name="Equation" r:id="rId3" imgW="10285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775" y="1830388"/>
                        <a:ext cx="2247900" cy="9064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24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591009"/>
              </p:ext>
            </p:extLst>
          </p:nvPr>
        </p:nvGraphicFramePr>
        <p:xfrm>
          <a:off x="914400" y="3505200"/>
          <a:ext cx="650557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3" name="Equation" r:id="rId5" imgW="3111480" imgH="685800" progId="Equation.3">
                  <p:embed/>
                </p:oleObj>
              </mc:Choice>
              <mc:Fallback>
                <p:oleObj name="Equation" r:id="rId5" imgW="311148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505200"/>
                        <a:ext cx="6505575" cy="14287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6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6" name="Date Placeholder 3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AFE3E-A555-4BAE-B1D2-490FB5D2E281}" type="datetime1">
              <a:rPr lang="en-US" smtClean="0"/>
              <a:t>5/6/2025</a:t>
            </a:fld>
            <a:endParaRPr lang="en-US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7038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b="1" dirty="0" smtClean="0">
                <a:latin typeface="Book Antiqua" pitchFamily="18" charset="0"/>
              </a:rPr>
              <a:t>Logistic Regression GD/Derivatives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029200"/>
          </a:xfrm>
        </p:spPr>
        <p:txBody>
          <a:bodyPr>
            <a:noAutofit/>
          </a:bodyPr>
          <a:lstStyle/>
          <a:p>
            <a:pPr marL="284163" indent="-284163" algn="just"/>
            <a:endParaRPr lang="en-US" sz="2800" dirty="0" smtClean="0">
              <a:latin typeface="Book Antiqua" pitchFamily="18" charset="0"/>
            </a:endParaRPr>
          </a:p>
          <a:p>
            <a:pPr marL="284163" indent="-284163" algn="just"/>
            <a:endParaRPr lang="en-US" sz="2800" dirty="0" smtClean="0">
              <a:latin typeface="Book Antiqua" pitchFamily="18" charset="0"/>
            </a:endParaRPr>
          </a:p>
          <a:p>
            <a:pPr marL="284163" indent="-284163" algn="just"/>
            <a:endParaRPr lang="en-US" sz="2800" dirty="0" smtClean="0">
              <a:latin typeface="Book Antiqua" pitchFamily="18" charset="0"/>
            </a:endParaRPr>
          </a:p>
          <a:p>
            <a:pPr marL="284163" indent="-284163" algn="just"/>
            <a:endParaRPr lang="en-US" sz="2800" dirty="0" smtClean="0">
              <a:latin typeface="Book Antiqua" pitchFamily="18" charset="0"/>
            </a:endParaRPr>
          </a:p>
          <a:p>
            <a:pPr marL="284163" indent="-284163" algn="just">
              <a:buNone/>
            </a:pPr>
            <a:endParaRPr lang="en-US" sz="2800" dirty="0">
              <a:latin typeface="Book Antiqua" pitchFamily="18" charset="0"/>
            </a:endParaRP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5381E7-2A59-4E82-9424-6CF65C4C1577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53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altLang="en-US"/>
          </a:p>
        </p:txBody>
      </p:sp>
      <p:sp>
        <p:nvSpPr>
          <p:cNvPr id="33794" name="AutoShape 2" descr="Image result for comparison of ml algorithms small NN, Medium NN and Large N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47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47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476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24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586132"/>
              </p:ext>
            </p:extLst>
          </p:nvPr>
        </p:nvGraphicFramePr>
        <p:xfrm>
          <a:off x="525463" y="1962150"/>
          <a:ext cx="4351337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4" name="Equation" r:id="rId3" imgW="1815840" imgH="431640" progId="Equation.3">
                  <p:embed/>
                </p:oleObj>
              </mc:Choice>
              <mc:Fallback>
                <p:oleObj name="Equation" r:id="rId3" imgW="18158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3" y="1962150"/>
                        <a:ext cx="4351337" cy="1028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Date Placeholder 3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FFC1C-95B5-41EE-ADC6-B774B1D0C75D}" type="datetime1">
              <a:rPr lang="en-US" smtClean="0"/>
              <a:t>5/6/2025</a:t>
            </a:fld>
            <a:endParaRPr lang="en-US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 dirty="0"/>
          </a:p>
        </p:txBody>
      </p:sp>
      <p:graphicFrame>
        <p:nvGraphicFramePr>
          <p:cNvPr id="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156110"/>
              </p:ext>
            </p:extLst>
          </p:nvPr>
        </p:nvGraphicFramePr>
        <p:xfrm>
          <a:off x="509587" y="3316932"/>
          <a:ext cx="45942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5" name="Equation" r:id="rId5" imgW="1917360" imgH="431640" progId="Equation.3">
                  <p:embed/>
                </p:oleObj>
              </mc:Choice>
              <mc:Fallback>
                <p:oleObj name="Equation" r:id="rId5" imgW="1917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7" y="3316932"/>
                        <a:ext cx="4594225" cy="1028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933605"/>
              </p:ext>
            </p:extLst>
          </p:nvPr>
        </p:nvGraphicFramePr>
        <p:xfrm>
          <a:off x="503238" y="4672013"/>
          <a:ext cx="4716462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6" name="Equation" r:id="rId7" imgW="1968480" imgH="431640" progId="Equation.3">
                  <p:embed/>
                </p:oleObj>
              </mc:Choice>
              <mc:Fallback>
                <p:oleObj name="Equation" r:id="rId7" imgW="19684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4672013"/>
                        <a:ext cx="4716462" cy="1028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8910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b="1" dirty="0" smtClean="0">
                <a:latin typeface="Book Antiqua" pitchFamily="18" charset="0"/>
              </a:rPr>
              <a:t>Logistic Regression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 smtClean="0">
                <a:latin typeface="Book Antiqua" pitchFamily="18" charset="0"/>
              </a:rPr>
              <a:t>Thus, parameters of Logistic Regression are updated as below:</a:t>
            </a:r>
          </a:p>
          <a:p>
            <a:pPr algn="just">
              <a:buNone/>
            </a:pPr>
            <a:r>
              <a:rPr lang="en-US" sz="2800" i="1" dirty="0" smtClean="0">
                <a:latin typeface="Book Antiqua" pitchFamily="18" charset="0"/>
              </a:rPr>
              <a:t>	</a:t>
            </a:r>
            <a:endParaRPr lang="en-US" sz="2800" dirty="0" smtClean="0">
              <a:latin typeface="Book Antiqua" pitchFamily="18" charset="0"/>
            </a:endParaRPr>
          </a:p>
          <a:p>
            <a:pPr marL="284163" indent="-284163" algn="just"/>
            <a:endParaRPr lang="en-US" sz="2800" dirty="0" smtClean="0">
              <a:latin typeface="Book Antiqua" pitchFamily="18" charset="0"/>
            </a:endParaRPr>
          </a:p>
          <a:p>
            <a:pPr marL="284163" indent="-284163" algn="just"/>
            <a:endParaRPr lang="en-US" sz="2800" dirty="0" smtClean="0">
              <a:latin typeface="Book Antiqua" pitchFamily="18" charset="0"/>
            </a:endParaRPr>
          </a:p>
          <a:p>
            <a:pPr marL="284163" indent="-284163" algn="just"/>
            <a:endParaRPr lang="en-US" sz="2800" dirty="0" smtClean="0">
              <a:latin typeface="Book Antiqua" pitchFamily="18" charset="0"/>
            </a:endParaRPr>
          </a:p>
          <a:p>
            <a:pPr marL="284163" indent="-284163" algn="just"/>
            <a:endParaRPr lang="en-US" sz="2800" dirty="0" smtClean="0">
              <a:latin typeface="Book Antiqua" pitchFamily="18" charset="0"/>
            </a:endParaRPr>
          </a:p>
          <a:p>
            <a:pPr marL="284163" indent="-284163" algn="just">
              <a:buNone/>
            </a:pPr>
            <a:endParaRPr lang="en-US" sz="2800" dirty="0">
              <a:latin typeface="Book Antiqua" pitchFamily="18" charset="0"/>
            </a:endParaRP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5381E7-2A59-4E82-9424-6CF65C4C1577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53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altLang="en-US"/>
          </a:p>
        </p:txBody>
      </p:sp>
      <p:sp>
        <p:nvSpPr>
          <p:cNvPr id="33794" name="AutoShape 2" descr="Image result for comparison of ml algorithms small NN, Medium NN and Large N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47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47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2476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349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34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444098"/>
              </p:ext>
            </p:extLst>
          </p:nvPr>
        </p:nvGraphicFramePr>
        <p:xfrm>
          <a:off x="990600" y="2743200"/>
          <a:ext cx="2959100" cy="305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name="Equation" r:id="rId3" imgW="1028520" imgH="1320480" progId="Equation.3">
                  <p:embed/>
                </p:oleObj>
              </mc:Choice>
              <mc:Fallback>
                <p:oleObj name="Equation" r:id="rId3" imgW="1028520" imgH="1320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743200"/>
                        <a:ext cx="2959100" cy="305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Date Placeholder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34159-3CB5-4A2E-8959-19D821F7CCDC}" type="datetime1">
              <a:rPr lang="en-US" smtClean="0"/>
              <a:t>5/6/2025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9351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latin typeface="Book Antiqua" pitchFamily="18" charset="0"/>
              </a:rPr>
              <a:t>Logistic Regression</a:t>
            </a:r>
            <a:endParaRPr lang="en-US" b="1" dirty="0">
              <a:latin typeface="Book Antiqua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95400"/>
                <a:ext cx="8763000" cy="51054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800" b="1" i="1" dirty="0" smtClean="0">
                    <a:latin typeface="Book Antiqua" panose="02040602050305030304" pitchFamily="18" charset="0"/>
                  </a:rPr>
                  <a:t>Example: </a:t>
                </a:r>
                <a:r>
                  <a:rPr lang="en-US" sz="2800" dirty="0" smtClean="0">
                    <a:latin typeface="Book Antiqua" panose="02040602050305030304" pitchFamily="18" charset="0"/>
                  </a:rPr>
                  <a:t>Fit the logistic regression model through the following data. Show one epoch of training.</a:t>
                </a:r>
              </a:p>
              <a:p>
                <a:pPr algn="just"/>
                <a:endParaRPr lang="en-US" sz="2800" dirty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b="1" u="sng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b="1" u="sng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r>
                  <a:rPr lang="en-US" sz="2600" b="1" u="sng" dirty="0" smtClean="0">
                    <a:latin typeface="Book Antiqua" panose="02040602050305030304" pitchFamily="18" charset="0"/>
                  </a:rPr>
                  <a:t>Solution</a:t>
                </a:r>
              </a:p>
              <a:p>
                <a:pPr marL="0" indent="0" algn="just" fontAlgn="base">
                  <a:buNone/>
                </a:pPr>
                <a:r>
                  <a:rPr lang="en-US" sz="2600" dirty="0" smtClean="0">
                    <a:latin typeface="Book Antiqua" panose="02040602050305030304" pitchFamily="18" charset="0"/>
                  </a:rPr>
                  <a:t>General form of logistic regression equation is: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r>
                  <a:rPr lang="en-US" sz="2600" dirty="0" smtClean="0">
                    <a:latin typeface="Book Antiqua" panose="02040602050305030304" pitchFamily="18" charset="0"/>
                  </a:rPr>
                  <a:t>Let us assume that initial values of parameters are:</a:t>
                </a:r>
              </a:p>
              <a:p>
                <a:pPr marL="0" indent="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dirty="0">
                  <a:latin typeface="Book Antiqua" panose="0204060205030503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95400"/>
                <a:ext cx="8763000" cy="5105400"/>
              </a:xfrm>
              <a:blipFill rotWithShape="0">
                <a:blip r:embed="rId2"/>
                <a:stretch>
                  <a:fillRect l="-1253" t="-1314" r="-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401544"/>
              </p:ext>
            </p:extLst>
          </p:nvPr>
        </p:nvGraphicFramePr>
        <p:xfrm>
          <a:off x="2133600" y="2286000"/>
          <a:ext cx="239729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550"/>
                <a:gridCol w="590550"/>
                <a:gridCol w="121619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i="1" dirty="0" smtClean="0">
                          <a:latin typeface="Book Antiqua" pitchFamily="18" charset="0"/>
                        </a:rPr>
                        <a:t>x</a:t>
                      </a:r>
                      <a:r>
                        <a:rPr lang="en-US" i="1" baseline="-25000" dirty="0" smtClean="0">
                          <a:latin typeface="Book Antiqua" pitchFamily="18" charset="0"/>
                        </a:rPr>
                        <a:t>1</a:t>
                      </a:r>
                      <a:endParaRPr lang="en-US" i="1" baseline="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latin typeface="Book Antiqua" pitchFamily="18" charset="0"/>
                        </a:rPr>
                        <a:t>x</a:t>
                      </a:r>
                      <a:r>
                        <a:rPr lang="en-US" i="1" baseline="-25000" dirty="0" smtClean="0">
                          <a:latin typeface="Book Antiqua" pitchFamily="18" charset="0"/>
                        </a:rPr>
                        <a:t>2</a:t>
                      </a:r>
                      <a:endParaRPr lang="en-US" i="1" baseline="0" dirty="0">
                        <a:latin typeface="Book Antiqu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>
                          <a:latin typeface="Book Antiqua" pitchFamily="18" charset="0"/>
                        </a:rPr>
                        <a:t>Class(y)</a:t>
                      </a:r>
                      <a:endParaRPr lang="en-US" i="1" dirty="0">
                        <a:latin typeface="Book Antiqua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Book Antiqua"/>
                        </a:rPr>
                        <a:t>0.78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Book Antiqua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Book Antiqua"/>
                        </a:rPr>
                        <a:t>0.69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Book Antiqua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Book Antiqua"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Book Antiqua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Book Antiqua"/>
                        </a:rPr>
                        <a:t>0.67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Book Antiqua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Book Antiqua"/>
                        </a:rPr>
                        <a:t>1.00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Book Antiqua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Book Antiqua"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Book Antiqua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Book Antiqua"/>
                        </a:rPr>
                        <a:t>0.00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Book Antiqua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Book Antiqua"/>
                        </a:rPr>
                        <a:t>0.00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Book Antiqua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Book Antiqua"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Book Antiqua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Book Antiqua"/>
                        </a:rPr>
                        <a:t>0.22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Book Antiqua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Book Antiqua"/>
                        </a:rPr>
                        <a:t>0.14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Book Antiqua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latin typeface="Book Antiqua"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latin typeface="Book Antiqua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9364-DDA2-4A2A-9402-13B2AFFBEB13}" type="datetime1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676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60351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b="1" dirty="0">
                <a:latin typeface="Book Antiqua" pitchFamily="18" charset="0"/>
              </a:rPr>
              <a:t>Logistic Regression</a:t>
            </a:r>
            <a:endParaRPr lang="en-US" b="1" dirty="0">
              <a:latin typeface="Book Antiqua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524000"/>
                <a:ext cx="8763000" cy="4876800"/>
              </a:xfrm>
            </p:spPr>
            <p:txBody>
              <a:bodyPr>
                <a:normAutofit/>
              </a:bodyPr>
              <a:lstStyle/>
              <a:p>
                <a:pPr marL="0" indent="0" algn="just" fontAlgn="base">
                  <a:buNone/>
                </a:pPr>
                <a:r>
                  <a:rPr lang="en-US" sz="2400" b="1" u="sng" dirty="0" smtClean="0">
                    <a:latin typeface="Book Antiqua" panose="02040602050305030304" pitchFamily="18" charset="0"/>
                  </a:rPr>
                  <a:t>Iteration 1: </a:t>
                </a:r>
                <a:r>
                  <a:rPr lang="en-US" sz="2400" dirty="0" smtClean="0">
                    <a:latin typeface="Book Antiqua" panose="02040602050305030304" pitchFamily="18" charset="0"/>
                  </a:rPr>
                  <a:t> </a:t>
                </a:r>
                <a:r>
                  <a:rPr lang="en-US" sz="2400" i="1" dirty="0" smtClean="0">
                    <a:latin typeface="Book Antiqua" panose="02040602050305030304" pitchFamily="18" charset="0"/>
                  </a:rPr>
                  <a:t>x</a:t>
                </a:r>
                <a:r>
                  <a:rPr lang="en-US" sz="2400" i="1" baseline="-25000" dirty="0" smtClean="0">
                    <a:latin typeface="Book Antiqua" panose="02040602050305030304" pitchFamily="18" charset="0"/>
                  </a:rPr>
                  <a:t>1</a:t>
                </a:r>
                <a:r>
                  <a:rPr lang="en-US" sz="2400" dirty="0" smtClean="0">
                    <a:latin typeface="Book Antiqua" panose="02040602050305030304" pitchFamily="18" charset="0"/>
                  </a:rPr>
                  <a:t>=0.78, x</a:t>
                </a:r>
                <a:r>
                  <a:rPr lang="en-US" sz="2400" baseline="-25000" dirty="0" smtClean="0">
                    <a:latin typeface="Book Antiqua" panose="02040602050305030304" pitchFamily="18" charset="0"/>
                  </a:rPr>
                  <a:t>2</a:t>
                </a:r>
                <a:r>
                  <a:rPr lang="en-US" sz="2400" dirty="0" smtClean="0">
                    <a:latin typeface="Book Antiqua" panose="02040602050305030304" pitchFamily="18" charset="0"/>
                  </a:rPr>
                  <a:t>=0.69   y=1 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</m:t>
                    </m:r>
                  </m:oMath>
                </a14:m>
                <a:endParaRPr lang="en-US" sz="24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r>
                  <a:rPr lang="en-US" sz="2400" dirty="0" smtClean="0"/>
                  <a:t>z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 smtClean="0">
                    <a:latin typeface="Book Antiqua" panose="02040602050305030304" pitchFamily="18" charset="0"/>
                  </a:rPr>
                  <a:t>         </a:t>
                </a:r>
              </a:p>
              <a:p>
                <a:pPr marL="0" indent="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sz="2400" dirty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=0−0.1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×(−0.5)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US" sz="2400" b="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×(−0.5)×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0.78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=0.0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39</m:t>
                      </m:r>
                    </m:oMath>
                  </m:oMathPara>
                </a14:m>
                <a:endParaRPr lang="en-US" sz="24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=0−0.1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×(−0.5)×0.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69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=0.03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US" sz="2400" dirty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3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3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r>
                  <a:rPr lang="en-US" sz="2800" dirty="0" smtClean="0">
                    <a:latin typeface="Book Antiqua" panose="02040602050305030304" pitchFamily="18" charset="0"/>
                  </a:rPr>
                  <a:t>In the same way perform iteration 2, 3 and 4.</a:t>
                </a:r>
              </a:p>
              <a:p>
                <a:pPr marL="0" indent="0" algn="just" fontAlgn="base">
                  <a:buNone/>
                </a:pPr>
                <a:endParaRPr lang="en-US" sz="2800" dirty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b="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dirty="0" smtClean="0">
                  <a:latin typeface="Book Antiqua" panose="02040602050305030304" pitchFamily="18" charset="0"/>
                </a:endParaRPr>
              </a:p>
              <a:p>
                <a:pPr marL="0" indent="0" algn="just" fontAlgn="base">
                  <a:buNone/>
                </a:pPr>
                <a:endParaRPr lang="en-US" sz="2600" dirty="0" smtClean="0">
                  <a:latin typeface="Book Antiqua" panose="0204060205030503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524000"/>
                <a:ext cx="8763000" cy="4876800"/>
              </a:xfrm>
              <a:blipFill rotWithShape="0">
                <a:blip r:embed="rId2"/>
                <a:stretch>
                  <a:fillRect l="-1461" t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A578A-B03A-406E-BF6A-C885E41133C3}" type="datetime1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2444B-AD59-459C-8316-D24326876BE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612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b="1" dirty="0" smtClean="0">
                <a:latin typeface="Book Antiqua" pitchFamily="18" charset="0"/>
              </a:rPr>
              <a:t>Linear Basis Function Models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65100" indent="-165100" algn="just"/>
            <a:r>
              <a:rPr lang="en-US" sz="2600" dirty="0">
                <a:latin typeface="Book Antiqua" panose="02040602050305030304" pitchFamily="18" charset="0"/>
              </a:rPr>
              <a:t>Given a supervised learning problem of using    inputs </a:t>
            </a:r>
            <a:r>
              <a:rPr lang="en-US" sz="2600" dirty="0" smtClean="0">
                <a:latin typeface="Book Antiqua" pitchFamily="18" charset="0"/>
              </a:rPr>
              <a:t>p </a:t>
            </a:r>
            <a:r>
              <a:rPr lang="en-US" sz="2600" dirty="0">
                <a:latin typeface="Book Antiqua" pitchFamily="18" charset="0"/>
              </a:rPr>
              <a:t>to predict a continuous target </a:t>
            </a:r>
            <a:r>
              <a:rPr lang="en-US" sz="2600" dirty="0" smtClean="0">
                <a:latin typeface="Book Antiqua" pitchFamily="18" charset="0"/>
              </a:rPr>
              <a:t>y, </a:t>
            </a:r>
            <a:r>
              <a:rPr lang="en-US" sz="2600" dirty="0">
                <a:latin typeface="Book Antiqua" pitchFamily="18" charset="0"/>
              </a:rPr>
              <a:t>the simplest model to use would be linear regression.  </a:t>
            </a:r>
          </a:p>
          <a:p>
            <a:pPr marL="165100" indent="-165100" algn="just"/>
            <a:r>
              <a:rPr lang="en-US" sz="2600" dirty="0">
                <a:latin typeface="Book Antiqua" pitchFamily="18" charset="0"/>
              </a:rPr>
              <a:t>However, what if we know that the relationship between the inputs and the target is non-linear, but we are unsure of exactly what form this relationship has? </a:t>
            </a:r>
            <a:endParaRPr lang="en-US" sz="2600" dirty="0" smtClean="0">
              <a:latin typeface="Book Antiqua" pitchFamily="18" charset="0"/>
            </a:endParaRPr>
          </a:p>
          <a:p>
            <a:pPr marL="165100" lvl="0" indent="-165100" algn="just"/>
            <a:r>
              <a:rPr lang="en-US" sz="2600" dirty="0">
                <a:latin typeface="Book Antiqua" panose="02040602050305030304" pitchFamily="18" charset="0"/>
                <a:cs typeface="Arial" panose="020B0604020202020204" pitchFamily="34" charset="0"/>
              </a:rPr>
              <a:t>One way to overcome this problem is to use linear basis function models.  These models assume that the target is a linear combination of a set of </a:t>
            </a:r>
            <a:r>
              <a:rPr lang="en-US" sz="2600" dirty="0" smtClean="0">
                <a:latin typeface="Book Antiqua" panose="02040602050305030304" pitchFamily="18" charset="0"/>
                <a:cs typeface="Arial" panose="020B0604020202020204" pitchFamily="34" charset="0"/>
              </a:rPr>
              <a:t>p+1 basis </a:t>
            </a:r>
            <a:r>
              <a:rPr lang="en-US" sz="2600" dirty="0">
                <a:latin typeface="Book Antiqua" panose="02040602050305030304" pitchFamily="18" charset="0"/>
                <a:cs typeface="Arial" panose="020B0604020202020204" pitchFamily="34" charset="0"/>
              </a:rPr>
              <a:t>functions.</a:t>
            </a:r>
            <a:r>
              <a:rPr lang="en-US" sz="2600" dirty="0">
                <a:latin typeface="Book Antiqua" panose="02040602050305030304" pitchFamily="18" charset="0"/>
              </a:rPr>
              <a:t> </a:t>
            </a:r>
          </a:p>
          <a:p>
            <a:pPr marL="165100" indent="-165100" algn="just"/>
            <a:endParaRPr lang="en-US" sz="2600" dirty="0" smtClean="0">
              <a:latin typeface="Book Antiqua" pitchFamily="18" charset="0"/>
            </a:endParaRPr>
          </a:p>
          <a:p>
            <a:pPr marL="165100" indent="-165100" algn="just"/>
            <a:endParaRPr lang="en-US" sz="2600" dirty="0">
              <a:latin typeface="Book Antiqua" pitchFamily="18" charset="0"/>
            </a:endParaRPr>
          </a:p>
          <a:p>
            <a:pPr marL="165100" indent="-165100" algn="just"/>
            <a:endParaRPr lang="en-US" sz="2600" dirty="0">
              <a:latin typeface="Book Antiqua" pitchFamily="18" charset="0"/>
            </a:endParaRP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5381E7-2A59-4E82-9424-6CF65C4C1577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53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altLang="en-US"/>
          </a:p>
        </p:txBody>
      </p:sp>
      <p:sp>
        <p:nvSpPr>
          <p:cNvPr id="33794" name="AutoShape 2" descr="Image result for comparison of ml algorithms small NN, Medium NN and Large N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DAC61-A070-449B-BED9-D49216C3006B}" type="datetime1">
              <a:rPr lang="en-US" smtClean="0"/>
              <a:t>5/6/2025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 dirty="0"/>
          </a:p>
        </p:txBody>
      </p:sp>
      <p:pic>
        <p:nvPicPr>
          <p:cNvPr id="9233" name="Picture 17" descr="p+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-68263"/>
            <a:ext cx="342900" cy="14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38241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b="1" dirty="0" smtClean="0">
                <a:latin typeface="Book Antiqua" pitchFamily="18" charset="0"/>
              </a:rPr>
              <a:t>Linear Basis Function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40005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600" i="1" dirty="0">
                              <a:latin typeface="Book Antiqua" panose="020406020503050303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600" i="1" dirty="0">
                              <a:latin typeface="Book Antiqua" panose="020406020503050303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)+…+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600" i="1" dirty="0">
                              <a:latin typeface="Book Antiqua" panose="020406020503050303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60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600" dirty="0" smtClean="0">
                  <a:latin typeface="Book Antiqua" pitchFamily="18" charset="0"/>
                </a:endParaRPr>
              </a:p>
              <a:p>
                <a:pPr algn="just"/>
                <a:r>
                  <a:rPr lang="en-US" sz="2600" dirty="0">
                    <a:latin typeface="Book Antiqua" pitchFamily="18" charset="0"/>
                  </a:rPr>
                  <a:t>This is a generalization of linear regression that essentially replaces each input with a function of the input.  </a:t>
                </a:r>
                <a:r>
                  <a:rPr lang="en-US" sz="2600" dirty="0" smtClean="0">
                    <a:latin typeface="Book Antiqua" pitchFamily="18" charset="0"/>
                  </a:rPr>
                  <a:t>A </a:t>
                </a:r>
                <a:r>
                  <a:rPr lang="en-US" sz="2600" dirty="0">
                    <a:latin typeface="Book Antiqua" pitchFamily="18" charset="0"/>
                  </a:rPr>
                  <a:t>linear basis function model that uses the identity function is just linear regression</a:t>
                </a:r>
                <a:r>
                  <a:rPr lang="en-US" sz="2600" dirty="0" smtClean="0">
                    <a:latin typeface="Book Antiqua" pitchFamily="18" charset="0"/>
                  </a:rPr>
                  <a:t>.</a:t>
                </a:r>
              </a:p>
              <a:p>
                <a:pPr algn="just"/>
                <a:r>
                  <a:rPr lang="en-US" sz="2800" dirty="0">
                    <a:latin typeface="Book Antiqua" panose="02040602050305030304" pitchFamily="18" charset="0"/>
                  </a:rPr>
                  <a:t>The example of polynomial regression </a:t>
                </a:r>
                <a:r>
                  <a:rPr lang="en-US" sz="2800" dirty="0" smtClean="0">
                    <a:latin typeface="Book Antiqua" panose="02040602050305030304" pitchFamily="18" charset="0"/>
                  </a:rPr>
                  <a:t>is </a:t>
                </a:r>
                <a:r>
                  <a:rPr lang="en-US" sz="2800" dirty="0">
                    <a:latin typeface="Book Antiqua" panose="02040602050305030304" pitchFamily="18" charset="0"/>
                  </a:rPr>
                  <a:t>a </a:t>
                </a:r>
                <a:r>
                  <a:rPr lang="en-US" sz="2800" dirty="0" smtClean="0">
                    <a:latin typeface="Book Antiqua" panose="02040602050305030304" pitchFamily="18" charset="0"/>
                  </a:rPr>
                  <a:t>particular example </a:t>
                </a:r>
                <a:r>
                  <a:rPr lang="en-US" sz="2800" dirty="0">
                    <a:latin typeface="Book Antiqua" panose="02040602050305030304" pitchFamily="18" charset="0"/>
                  </a:rPr>
                  <a:t>of this model in which there is a single input variable </a:t>
                </a:r>
                <a:r>
                  <a:rPr lang="en-US" sz="2800" i="1" dirty="0">
                    <a:latin typeface="Book Antiqua" panose="02040602050305030304" pitchFamily="18" charset="0"/>
                  </a:rPr>
                  <a:t>x</a:t>
                </a:r>
                <a:r>
                  <a:rPr lang="en-US" sz="2800" dirty="0">
                    <a:latin typeface="Book Antiqua" panose="02040602050305030304" pitchFamily="18" charset="0"/>
                  </a:rPr>
                  <a:t>, and the basis </a:t>
                </a:r>
                <a:r>
                  <a:rPr lang="en-US" sz="2800" dirty="0" smtClean="0">
                    <a:latin typeface="Book Antiqua" panose="02040602050305030304" pitchFamily="18" charset="0"/>
                  </a:rPr>
                  <a:t>functions take </a:t>
                </a:r>
                <a:r>
                  <a:rPr lang="en-US" sz="2800" dirty="0">
                    <a:latin typeface="Book Antiqua" panose="02040602050305030304" pitchFamily="18" charset="0"/>
                  </a:rPr>
                  <a:t>the form of powers of </a:t>
                </a:r>
                <a:r>
                  <a:rPr lang="en-US" sz="2800" i="1" dirty="0">
                    <a:latin typeface="Book Antiqua" panose="02040602050305030304" pitchFamily="18" charset="0"/>
                  </a:rPr>
                  <a:t>x </a:t>
                </a:r>
                <a:r>
                  <a:rPr lang="en-US" sz="2800" dirty="0">
                    <a:latin typeface="Book Antiqua" panose="02040602050305030304" pitchFamily="18" charset="0"/>
                  </a:rPr>
                  <a:t>so that </a:t>
                </a:r>
                <a:r>
                  <a:rPr lang="en-US" sz="2800" i="1" dirty="0" err="1">
                    <a:latin typeface="Book Antiqua" panose="02040602050305030304" pitchFamily="18" charset="0"/>
                  </a:rPr>
                  <a:t>φ</a:t>
                </a:r>
                <a:r>
                  <a:rPr lang="en-US" sz="2800" i="1" baseline="-25000" dirty="0" err="1">
                    <a:latin typeface="Book Antiqua" panose="02040602050305030304" pitchFamily="18" charset="0"/>
                  </a:rPr>
                  <a:t>j</a:t>
                </a:r>
                <a:r>
                  <a:rPr lang="en-US" sz="2800" dirty="0">
                    <a:latin typeface="Book Antiqua" panose="02040602050305030304" pitchFamily="18" charset="0"/>
                  </a:rPr>
                  <a:t>(</a:t>
                </a:r>
                <a:r>
                  <a:rPr lang="en-US" sz="2800" i="1" dirty="0">
                    <a:latin typeface="Book Antiqua" panose="02040602050305030304" pitchFamily="18" charset="0"/>
                  </a:rPr>
                  <a:t>x</a:t>
                </a:r>
                <a:r>
                  <a:rPr lang="en-US" sz="2800" dirty="0">
                    <a:latin typeface="Book Antiqua" panose="02040602050305030304" pitchFamily="18" charset="0"/>
                  </a:rPr>
                  <a:t>) = </a:t>
                </a:r>
                <a:r>
                  <a:rPr lang="en-US" sz="2800" i="1" dirty="0" err="1" smtClean="0">
                    <a:latin typeface="Book Antiqua" panose="02040602050305030304" pitchFamily="18" charset="0"/>
                  </a:rPr>
                  <a:t>x</a:t>
                </a:r>
                <a:r>
                  <a:rPr lang="en-US" sz="2800" i="1" baseline="30000" dirty="0" err="1" smtClean="0">
                    <a:latin typeface="Book Antiqua" panose="02040602050305030304" pitchFamily="18" charset="0"/>
                  </a:rPr>
                  <a:t>j</a:t>
                </a:r>
                <a:r>
                  <a:rPr lang="en-US" sz="2800" i="1" dirty="0" smtClean="0">
                    <a:latin typeface="Book Antiqua" panose="02040602050305030304" pitchFamily="18" charset="0"/>
                  </a:rPr>
                  <a:t>.</a:t>
                </a:r>
                <a:endParaRPr lang="en-US" sz="2600" dirty="0">
                  <a:latin typeface="Book Antiqua" pitchFamily="18" charset="0"/>
                </a:endParaRPr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r="-1481" b="-2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5381E7-2A59-4E82-9424-6CF65C4C1577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53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altLang="en-US"/>
          </a:p>
        </p:txBody>
      </p:sp>
      <p:sp>
        <p:nvSpPr>
          <p:cNvPr id="33794" name="AutoShape 2" descr="Image result for comparison of ml algorithms small NN, Medium NN and Large N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816E4-8B6C-4D2E-B89C-908F866FF9A4}" type="datetime1">
              <a:rPr lang="en-US" smtClean="0"/>
              <a:t>5/6/2025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 dirty="0"/>
          </a:p>
        </p:txBody>
      </p:sp>
      <p:pic>
        <p:nvPicPr>
          <p:cNvPr id="9233" name="Picture 17" descr="p+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-68263"/>
            <a:ext cx="342900" cy="14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77072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b="1" dirty="0" smtClean="0">
                <a:latin typeface="Book Antiqua" pitchFamily="18" charset="0"/>
              </a:rPr>
              <a:t>Linear Basis Function Models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>
                <a:latin typeface="Book Antiqua" panose="02040602050305030304" pitchFamily="18" charset="0"/>
              </a:rPr>
              <a:t>There are many other possible choices for the basis functions, for </a:t>
            </a:r>
            <a:r>
              <a:rPr lang="en-US" sz="2800" dirty="0" smtClean="0">
                <a:latin typeface="Book Antiqua" panose="02040602050305030304" pitchFamily="18" charset="0"/>
              </a:rPr>
              <a:t>example.</a:t>
            </a:r>
          </a:p>
          <a:p>
            <a:pPr algn="just"/>
            <a:r>
              <a:rPr lang="en-GB" sz="2800" dirty="0" smtClean="0">
                <a:latin typeface="Book Antiqua" panose="02040602050305030304" pitchFamily="18" charset="0"/>
              </a:rPr>
              <a:t>Gaussian </a:t>
            </a:r>
            <a:r>
              <a:rPr lang="en-GB" sz="2800" dirty="0">
                <a:latin typeface="Book Antiqua" panose="02040602050305030304" pitchFamily="18" charset="0"/>
              </a:rPr>
              <a:t>basis </a:t>
            </a:r>
            <a:r>
              <a:rPr lang="en-GB" sz="2800" dirty="0" smtClean="0">
                <a:latin typeface="Book Antiqua" panose="02040602050305030304" pitchFamily="18" charset="0"/>
              </a:rPr>
              <a:t>functions:</a:t>
            </a:r>
          </a:p>
          <a:p>
            <a:pPr algn="just"/>
            <a:endParaRPr lang="en-GB" sz="2800" dirty="0">
              <a:latin typeface="Book Antiqua" panose="02040602050305030304" pitchFamily="18" charset="0"/>
            </a:endParaRPr>
          </a:p>
          <a:p>
            <a:pPr algn="just"/>
            <a:r>
              <a:rPr lang="en-GB" sz="2800" dirty="0" smtClean="0">
                <a:latin typeface="Book Antiqua" panose="02040602050305030304" pitchFamily="18" charset="0"/>
              </a:rPr>
              <a:t>Sigmoidal </a:t>
            </a:r>
            <a:r>
              <a:rPr lang="en-GB" sz="2800" dirty="0">
                <a:latin typeface="Book Antiqua" panose="02040602050305030304" pitchFamily="18" charset="0"/>
              </a:rPr>
              <a:t>basis </a:t>
            </a:r>
            <a:r>
              <a:rPr lang="en-GB" sz="2800" dirty="0" smtClean="0">
                <a:latin typeface="Book Antiqua" panose="02040602050305030304" pitchFamily="18" charset="0"/>
              </a:rPr>
              <a:t>functions:</a:t>
            </a:r>
            <a:endParaRPr lang="en-GB" sz="2800" dirty="0">
              <a:latin typeface="Book Antiqua" panose="02040602050305030304" pitchFamily="18" charset="0"/>
            </a:endParaRPr>
          </a:p>
          <a:p>
            <a:pPr marL="0" indent="0"/>
            <a:endParaRPr lang="en-GB" sz="28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GB" sz="2800" dirty="0">
                <a:latin typeface="Book Antiqua" panose="02040602050305030304" pitchFamily="18" charset="0"/>
              </a:rPr>
              <a:t> </a:t>
            </a:r>
            <a:r>
              <a:rPr lang="en-GB" sz="2800" dirty="0" smtClean="0">
                <a:latin typeface="Book Antiqua" panose="02040602050305030304" pitchFamily="18" charset="0"/>
              </a:rPr>
              <a:t>    Where,</a:t>
            </a:r>
            <a:endParaRPr lang="en-GB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 smtClean="0">
              <a:latin typeface="Book Antiqua" panose="02040602050305030304" pitchFamily="18" charset="0"/>
            </a:endParaRP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5381E7-2A59-4E82-9424-6CF65C4C1577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53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altLang="en-US"/>
          </a:p>
        </p:txBody>
      </p:sp>
      <p:sp>
        <p:nvSpPr>
          <p:cNvPr id="33794" name="AutoShape 2" descr="Image result for comparison of ml algorithms small NN, Medium NN and Large N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7B7B9-4224-450A-8159-0401AA8E991A}" type="datetime1">
              <a:rPr lang="en-US" smtClean="0"/>
              <a:t>5/6/2025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Arjun Singh Saud</a:t>
            </a:r>
            <a:endParaRPr lang="en-US" dirty="0"/>
          </a:p>
        </p:txBody>
      </p:sp>
      <p:pic>
        <p:nvPicPr>
          <p:cNvPr id="9233" name="Picture 17" descr="p+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-68263"/>
            <a:ext cx="342900" cy="14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Content Placeholder 7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1600" y="2976560"/>
            <a:ext cx="2997200" cy="661987"/>
          </a:xfrm>
          <a:prstGeom prst="rect">
            <a:avLst/>
          </a:prstGeom>
        </p:spPr>
      </p:pic>
      <p:pic>
        <p:nvPicPr>
          <p:cNvPr id="13" name="Content Placeholder 8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4114800"/>
            <a:ext cx="2420068" cy="685800"/>
          </a:xfrm>
          <a:prstGeom prst="rect">
            <a:avLst/>
          </a:prstGeom>
        </p:spPr>
      </p:pic>
      <p:pic>
        <p:nvPicPr>
          <p:cNvPr id="14" name="Picture 12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5" y="5158581"/>
            <a:ext cx="230981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93965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phi_j(x) = \exp \left\{ - \frac{ (x - \mu_j)^2}{2s^2}  \right\}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118"/>
  <p:tag name="PICTUREFILESIZE" val="49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phi_j(x) = \sigma\left( \frac{x - \mu_j}{s} \right)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88"/>
  <p:tag name="PICTUREFILESIZE" val="387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book}&#10;\pagestyle{empty}&#10;\input{C:/Users/markussv/depots/CMBBOOK/latex/prml-utils}&#10;\begin{document}&#10;\[&#10;\sigma(a) = \frac{1}{1 + \exp( - a ) }.&#10;\]&#10;\end{document}&#10;"/>
  <p:tag name="FILENAME" val="TP_tmp"/>
  <p:tag name="FORMAT" val="png256"/>
  <p:tag name="RES" val="600"/>
  <p:tag name="BLEND" val="0"/>
  <p:tag name="TRANSPARENT" val="1"/>
  <p:tag name="TBUG" val="0"/>
  <p:tag name="ALLOWFS" val="0"/>
  <p:tag name="ORIGWIDTH" val="91"/>
  <p:tag name="PICTUREFILESIZE" val="339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20183</TotalTime>
  <Words>621</Words>
  <Application>Microsoft Office PowerPoint</Application>
  <PresentationFormat>On-screen Show (4:3)</PresentationFormat>
  <Paragraphs>217</Paragraphs>
  <Slides>21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Book Antiqua</vt:lpstr>
      <vt:lpstr>Calibri</vt:lpstr>
      <vt:lpstr>Cambria Math</vt:lpstr>
      <vt:lpstr>Wingdings</vt:lpstr>
      <vt:lpstr>Office Theme</vt:lpstr>
      <vt:lpstr>Equation</vt:lpstr>
      <vt:lpstr>Microsoft Equation 3.0</vt:lpstr>
      <vt:lpstr>PowerPoint Presentation</vt:lpstr>
      <vt:lpstr>Polynomial Curve Fitting</vt:lpstr>
      <vt:lpstr>Polynomial Curve Fitting</vt:lpstr>
      <vt:lpstr>Polynomial Curve Fitting</vt:lpstr>
      <vt:lpstr>Polynomial Curve Fitting</vt:lpstr>
      <vt:lpstr>Polynomial Curve Fitting</vt:lpstr>
      <vt:lpstr>Polynomial Curve Fitting</vt:lpstr>
      <vt:lpstr>Logistic Regression</vt:lpstr>
      <vt:lpstr>Logistic Regression</vt:lpstr>
      <vt:lpstr>Logistic Regression</vt:lpstr>
      <vt:lpstr>Logistic Regression Cost Function</vt:lpstr>
      <vt:lpstr>Logistic Regression Cost Function</vt:lpstr>
      <vt:lpstr>Logistic Regression Cost Function</vt:lpstr>
      <vt:lpstr>Logistic Regression GD/Derivatives</vt:lpstr>
      <vt:lpstr>Logistic Regression GD/Derivatives</vt:lpstr>
      <vt:lpstr>Logistic Regression</vt:lpstr>
      <vt:lpstr>Logistic Regression</vt:lpstr>
      <vt:lpstr>Logistic Regression</vt:lpstr>
      <vt:lpstr>Linear Basis Function Models</vt:lpstr>
      <vt:lpstr>Linear Basis Function Models</vt:lpstr>
      <vt:lpstr>Linear Basis Function Models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Lenovo</cp:lastModifiedBy>
  <cp:revision>447</cp:revision>
  <dcterms:created xsi:type="dcterms:W3CDTF">2018-12-09T05:19:45Z</dcterms:created>
  <dcterms:modified xsi:type="dcterms:W3CDTF">2025-05-06T10:35:28Z</dcterms:modified>
</cp:coreProperties>
</file>