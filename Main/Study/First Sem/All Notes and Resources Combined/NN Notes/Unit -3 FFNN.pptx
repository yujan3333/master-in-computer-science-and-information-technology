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5"/>
  </p:notesMasterIdLst>
  <p:sldIdLst>
    <p:sldId id="256" r:id="rId2"/>
    <p:sldId id="353" r:id="rId3"/>
    <p:sldId id="354" r:id="rId4"/>
    <p:sldId id="355" r:id="rId5"/>
    <p:sldId id="356" r:id="rId6"/>
    <p:sldId id="357" r:id="rId7"/>
    <p:sldId id="358" r:id="rId8"/>
    <p:sldId id="361" r:id="rId9"/>
    <p:sldId id="362" r:id="rId10"/>
    <p:sldId id="303" r:id="rId11"/>
    <p:sldId id="365" r:id="rId12"/>
    <p:sldId id="366" r:id="rId13"/>
    <p:sldId id="367" r:id="rId14"/>
    <p:sldId id="364" r:id="rId15"/>
    <p:sldId id="304" r:id="rId16"/>
    <p:sldId id="310" r:id="rId17"/>
    <p:sldId id="311" r:id="rId18"/>
    <p:sldId id="360" r:id="rId19"/>
    <p:sldId id="377" r:id="rId20"/>
    <p:sldId id="385" r:id="rId21"/>
    <p:sldId id="386" r:id="rId22"/>
    <p:sldId id="387" r:id="rId23"/>
    <p:sldId id="388" r:id="rId24"/>
    <p:sldId id="397" r:id="rId25"/>
    <p:sldId id="398" r:id="rId26"/>
    <p:sldId id="399" r:id="rId27"/>
    <p:sldId id="400" r:id="rId28"/>
    <p:sldId id="401" r:id="rId29"/>
    <p:sldId id="402" r:id="rId30"/>
    <p:sldId id="393" r:id="rId31"/>
    <p:sldId id="394" r:id="rId32"/>
    <p:sldId id="396" r:id="rId33"/>
    <p:sldId id="55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554" r:id="rId64"/>
    <p:sldId id="433" r:id="rId65"/>
    <p:sldId id="434" r:id="rId66"/>
    <p:sldId id="435" r:id="rId67"/>
    <p:sldId id="436" r:id="rId68"/>
    <p:sldId id="437" r:id="rId69"/>
    <p:sldId id="460" r:id="rId70"/>
    <p:sldId id="461" r:id="rId71"/>
    <p:sldId id="462" r:id="rId72"/>
    <p:sldId id="467" r:id="rId73"/>
    <p:sldId id="468" r:id="rId74"/>
    <p:sldId id="469" r:id="rId75"/>
    <p:sldId id="470" r:id="rId76"/>
    <p:sldId id="471" r:id="rId77"/>
    <p:sldId id="472" r:id="rId78"/>
    <p:sldId id="473" r:id="rId79"/>
    <p:sldId id="474" r:id="rId80"/>
    <p:sldId id="528" r:id="rId81"/>
    <p:sldId id="475" r:id="rId82"/>
    <p:sldId id="476" r:id="rId83"/>
    <p:sldId id="477" r:id="rId84"/>
    <p:sldId id="478" r:id="rId85"/>
    <p:sldId id="479" r:id="rId86"/>
    <p:sldId id="480" r:id="rId87"/>
    <p:sldId id="481" r:id="rId88"/>
    <p:sldId id="482" r:id="rId89"/>
    <p:sldId id="483" r:id="rId90"/>
    <p:sldId id="484" r:id="rId91"/>
    <p:sldId id="485" r:id="rId92"/>
    <p:sldId id="486" r:id="rId93"/>
    <p:sldId id="487" r:id="rId94"/>
    <p:sldId id="488" r:id="rId95"/>
    <p:sldId id="489" r:id="rId96"/>
    <p:sldId id="529" r:id="rId97"/>
    <p:sldId id="497" r:id="rId98"/>
    <p:sldId id="498" r:id="rId99"/>
    <p:sldId id="499" r:id="rId100"/>
    <p:sldId id="500" r:id="rId101"/>
    <p:sldId id="501" r:id="rId102"/>
    <p:sldId id="502" r:id="rId103"/>
    <p:sldId id="504" r:id="rId104"/>
    <p:sldId id="520" r:id="rId105"/>
    <p:sldId id="521" r:id="rId106"/>
    <p:sldId id="522" r:id="rId107"/>
    <p:sldId id="523" r:id="rId108"/>
    <p:sldId id="524" r:id="rId109"/>
    <p:sldId id="525" r:id="rId110"/>
    <p:sldId id="526" r:id="rId111"/>
    <p:sldId id="527" r:id="rId112"/>
    <p:sldId id="555" r:id="rId113"/>
    <p:sldId id="530" r:id="rId114"/>
    <p:sldId id="531" r:id="rId115"/>
    <p:sldId id="532" r:id="rId116"/>
    <p:sldId id="533" r:id="rId117"/>
    <p:sldId id="534" r:id="rId118"/>
    <p:sldId id="535" r:id="rId119"/>
    <p:sldId id="536" r:id="rId120"/>
    <p:sldId id="537" r:id="rId121"/>
    <p:sldId id="538" r:id="rId122"/>
    <p:sldId id="539" r:id="rId123"/>
    <p:sldId id="540" r:id="rId124"/>
    <p:sldId id="541" r:id="rId125"/>
    <p:sldId id="542" r:id="rId126"/>
    <p:sldId id="543" r:id="rId127"/>
    <p:sldId id="551" r:id="rId128"/>
    <p:sldId id="544" r:id="rId129"/>
    <p:sldId id="549" r:id="rId130"/>
    <p:sldId id="552" r:id="rId131"/>
    <p:sldId id="546" r:id="rId132"/>
    <p:sldId id="548" r:id="rId133"/>
    <p:sldId id="547"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p:cViewPr varScale="1">
        <p:scale>
          <a:sx n="68" d="100"/>
          <a:sy n="68" d="100"/>
        </p:scale>
        <p:origin x="1470" y="10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AE419EF9-2BB5-4127-BCB5-C15860C0ACF3}"/>
    <pc:docChg chg="custSel modSld">
      <pc:chgData name="Yujan Basnet" userId="495fd8277ebfbaef" providerId="LiveId" clId="{AE419EF9-2BB5-4127-BCB5-C15860C0ACF3}" dt="2025-04-11T03:52:24.519" v="78" actId="207"/>
      <pc:docMkLst>
        <pc:docMk/>
      </pc:docMkLst>
      <pc:sldChg chg="modSp">
        <pc:chgData name="Yujan Basnet" userId="495fd8277ebfbaef" providerId="LiveId" clId="{AE419EF9-2BB5-4127-BCB5-C15860C0ACF3}" dt="2025-04-11T03:27:20.105" v="67" actId="207"/>
        <pc:sldMkLst>
          <pc:docMk/>
          <pc:sldMk cId="2191181589" sldId="304"/>
        </pc:sldMkLst>
        <pc:graphicFrameChg chg="mod">
          <ac:chgData name="Yujan Basnet" userId="495fd8277ebfbaef" providerId="LiveId" clId="{AE419EF9-2BB5-4127-BCB5-C15860C0ACF3}" dt="2025-04-11T03:27:20.105" v="67" actId="207"/>
          <ac:graphicFrameMkLst>
            <pc:docMk/>
            <pc:sldMk cId="2191181589" sldId="304"/>
            <ac:graphicFrameMk id="49156" creationId="{00000000-0000-0000-0000-000000000000}"/>
          </ac:graphicFrameMkLst>
        </pc:graphicFrameChg>
      </pc:sldChg>
      <pc:sldChg chg="modSp mod">
        <pc:chgData name="Yujan Basnet" userId="495fd8277ebfbaef" providerId="LiveId" clId="{AE419EF9-2BB5-4127-BCB5-C15860C0ACF3}" dt="2025-04-10T23:47:51.700" v="3" actId="207"/>
        <pc:sldMkLst>
          <pc:docMk/>
          <pc:sldMk cId="3639393323" sldId="353"/>
        </pc:sldMkLst>
        <pc:spChg chg="mod">
          <ac:chgData name="Yujan Basnet" userId="495fd8277ebfbaef" providerId="LiveId" clId="{AE419EF9-2BB5-4127-BCB5-C15860C0ACF3}" dt="2025-04-10T23:47:51.700" v="3" actId="207"/>
          <ac:spMkLst>
            <pc:docMk/>
            <pc:sldMk cId="3639393323" sldId="353"/>
            <ac:spMk id="3" creationId="{00000000-0000-0000-0000-000000000000}"/>
          </ac:spMkLst>
        </pc:spChg>
      </pc:sldChg>
      <pc:sldChg chg="modSp mod">
        <pc:chgData name="Yujan Basnet" userId="495fd8277ebfbaef" providerId="LiveId" clId="{AE419EF9-2BB5-4127-BCB5-C15860C0ACF3}" dt="2025-04-10T23:51:48.115" v="18" actId="207"/>
        <pc:sldMkLst>
          <pc:docMk/>
          <pc:sldMk cId="2682238484" sldId="354"/>
        </pc:sldMkLst>
        <pc:spChg chg="mod">
          <ac:chgData name="Yujan Basnet" userId="495fd8277ebfbaef" providerId="LiveId" clId="{AE419EF9-2BB5-4127-BCB5-C15860C0ACF3}" dt="2025-04-10T23:51:48.115" v="18" actId="207"/>
          <ac:spMkLst>
            <pc:docMk/>
            <pc:sldMk cId="2682238484" sldId="354"/>
            <ac:spMk id="3" creationId="{00000000-0000-0000-0000-000000000000}"/>
          </ac:spMkLst>
        </pc:spChg>
      </pc:sldChg>
      <pc:sldChg chg="modSp mod">
        <pc:chgData name="Yujan Basnet" userId="495fd8277ebfbaef" providerId="LiveId" clId="{AE419EF9-2BB5-4127-BCB5-C15860C0ACF3}" dt="2025-04-10T23:50:55.134" v="16" actId="207"/>
        <pc:sldMkLst>
          <pc:docMk/>
          <pc:sldMk cId="2754562804" sldId="357"/>
        </pc:sldMkLst>
        <pc:spChg chg="mod">
          <ac:chgData name="Yujan Basnet" userId="495fd8277ebfbaef" providerId="LiveId" clId="{AE419EF9-2BB5-4127-BCB5-C15860C0ACF3}" dt="2025-04-10T23:50:55.134" v="16" actId="207"/>
          <ac:spMkLst>
            <pc:docMk/>
            <pc:sldMk cId="2754562804" sldId="357"/>
            <ac:spMk id="3" creationId="{00000000-0000-0000-0000-000000000000}"/>
          </ac:spMkLst>
        </pc:spChg>
      </pc:sldChg>
      <pc:sldChg chg="modSp mod">
        <pc:chgData name="Yujan Basnet" userId="495fd8277ebfbaef" providerId="LiveId" clId="{AE419EF9-2BB5-4127-BCB5-C15860C0ACF3}" dt="2025-04-10T23:53:59.692" v="21" actId="207"/>
        <pc:sldMkLst>
          <pc:docMk/>
          <pc:sldMk cId="4166603212" sldId="361"/>
        </pc:sldMkLst>
        <pc:spChg chg="mod">
          <ac:chgData name="Yujan Basnet" userId="495fd8277ebfbaef" providerId="LiveId" clId="{AE419EF9-2BB5-4127-BCB5-C15860C0ACF3}" dt="2025-04-10T23:53:59.692" v="21" actId="207"/>
          <ac:spMkLst>
            <pc:docMk/>
            <pc:sldMk cId="4166603212" sldId="361"/>
            <ac:spMk id="3" creationId="{00000000-0000-0000-0000-000000000000}"/>
          </ac:spMkLst>
        </pc:spChg>
      </pc:sldChg>
      <pc:sldChg chg="modSp mod">
        <pc:chgData name="Yujan Basnet" userId="495fd8277ebfbaef" providerId="LiveId" clId="{AE419EF9-2BB5-4127-BCB5-C15860C0ACF3}" dt="2025-04-10T23:54:38.995" v="25" actId="207"/>
        <pc:sldMkLst>
          <pc:docMk/>
          <pc:sldMk cId="1225784651" sldId="362"/>
        </pc:sldMkLst>
        <pc:spChg chg="mod">
          <ac:chgData name="Yujan Basnet" userId="495fd8277ebfbaef" providerId="LiveId" clId="{AE419EF9-2BB5-4127-BCB5-C15860C0ACF3}" dt="2025-04-10T23:54:38.995" v="25" actId="207"/>
          <ac:spMkLst>
            <pc:docMk/>
            <pc:sldMk cId="1225784651" sldId="362"/>
            <ac:spMk id="3" creationId="{00000000-0000-0000-0000-000000000000}"/>
          </ac:spMkLst>
        </pc:spChg>
      </pc:sldChg>
      <pc:sldChg chg="modSp mod">
        <pc:chgData name="Yujan Basnet" userId="495fd8277ebfbaef" providerId="LiveId" clId="{AE419EF9-2BB5-4127-BCB5-C15860C0ACF3}" dt="2025-04-11T00:11:12.781" v="28" actId="207"/>
        <pc:sldMkLst>
          <pc:docMk/>
          <pc:sldMk cId="2191181589" sldId="385"/>
        </pc:sldMkLst>
        <pc:spChg chg="mod">
          <ac:chgData name="Yujan Basnet" userId="495fd8277ebfbaef" providerId="LiveId" clId="{AE419EF9-2BB5-4127-BCB5-C15860C0ACF3}" dt="2025-04-11T00:11:12.781" v="28" actId="207"/>
          <ac:spMkLst>
            <pc:docMk/>
            <pc:sldMk cId="2191181589" sldId="385"/>
            <ac:spMk id="3" creationId="{00000000-0000-0000-0000-000000000000}"/>
          </ac:spMkLst>
        </pc:spChg>
      </pc:sldChg>
      <pc:sldChg chg="modSp mod">
        <pc:chgData name="Yujan Basnet" userId="495fd8277ebfbaef" providerId="LiveId" clId="{AE419EF9-2BB5-4127-BCB5-C15860C0ACF3}" dt="2025-04-11T00:22:01.586" v="36" actId="207"/>
        <pc:sldMkLst>
          <pc:docMk/>
          <pc:sldMk cId="1225784651" sldId="393"/>
        </pc:sldMkLst>
        <pc:spChg chg="mod">
          <ac:chgData name="Yujan Basnet" userId="495fd8277ebfbaef" providerId="LiveId" clId="{AE419EF9-2BB5-4127-BCB5-C15860C0ACF3}" dt="2025-04-11T00:22:01.586" v="36" actId="207"/>
          <ac:spMkLst>
            <pc:docMk/>
            <pc:sldMk cId="1225784651" sldId="393"/>
            <ac:spMk id="3" creationId="{00000000-0000-0000-0000-000000000000}"/>
          </ac:spMkLst>
        </pc:spChg>
      </pc:sldChg>
      <pc:sldChg chg="modSp">
        <pc:chgData name="Yujan Basnet" userId="495fd8277ebfbaef" providerId="LiveId" clId="{AE419EF9-2BB5-4127-BCB5-C15860C0ACF3}" dt="2025-04-11T01:08:30.156" v="37" actId="207"/>
        <pc:sldMkLst>
          <pc:docMk/>
          <pc:sldMk cId="966759105" sldId="396"/>
        </pc:sldMkLst>
        <pc:graphicFrameChg chg="mod">
          <ac:chgData name="Yujan Basnet" userId="495fd8277ebfbaef" providerId="LiveId" clId="{AE419EF9-2BB5-4127-BCB5-C15860C0ACF3}" dt="2025-04-11T01:08:30.156" v="37" actId="207"/>
          <ac:graphicFrameMkLst>
            <pc:docMk/>
            <pc:sldMk cId="966759105" sldId="396"/>
            <ac:graphicFrameMk id="16" creationId="{00000000-0000-0000-0000-000000000000}"/>
          </ac:graphicFrameMkLst>
        </pc:graphicFrameChg>
      </pc:sldChg>
      <pc:sldChg chg="modSp mod">
        <pc:chgData name="Yujan Basnet" userId="495fd8277ebfbaef" providerId="LiveId" clId="{AE419EF9-2BB5-4127-BCB5-C15860C0ACF3}" dt="2025-04-11T00:18:34.753" v="33" actId="207"/>
        <pc:sldMkLst>
          <pc:docMk/>
          <pc:sldMk cId="358696603" sldId="397"/>
        </pc:sldMkLst>
        <pc:spChg chg="mod">
          <ac:chgData name="Yujan Basnet" userId="495fd8277ebfbaef" providerId="LiveId" clId="{AE419EF9-2BB5-4127-BCB5-C15860C0ACF3}" dt="2025-04-11T00:18:34.753" v="33" actId="207"/>
          <ac:spMkLst>
            <pc:docMk/>
            <pc:sldMk cId="358696603" sldId="397"/>
            <ac:spMk id="9" creationId="{00000000-0000-0000-0000-000000000000}"/>
          </ac:spMkLst>
        </pc:spChg>
      </pc:sldChg>
      <pc:sldChg chg="modSp mod">
        <pc:chgData name="Yujan Basnet" userId="495fd8277ebfbaef" providerId="LiveId" clId="{AE419EF9-2BB5-4127-BCB5-C15860C0ACF3}" dt="2025-04-11T01:12:37.858" v="38" actId="207"/>
        <pc:sldMkLst>
          <pc:docMk/>
          <pc:sldMk cId="2170053565" sldId="404"/>
        </pc:sldMkLst>
        <pc:spChg chg="mod">
          <ac:chgData name="Yujan Basnet" userId="495fd8277ebfbaef" providerId="LiveId" clId="{AE419EF9-2BB5-4127-BCB5-C15860C0ACF3}" dt="2025-04-11T01:12:37.858" v="38" actId="207"/>
          <ac:spMkLst>
            <pc:docMk/>
            <pc:sldMk cId="2170053565" sldId="404"/>
            <ac:spMk id="3" creationId="{00000000-0000-0000-0000-000000000000}"/>
          </ac:spMkLst>
        </pc:spChg>
      </pc:sldChg>
      <pc:sldChg chg="modSp mod">
        <pc:chgData name="Yujan Basnet" userId="495fd8277ebfbaef" providerId="LiveId" clId="{AE419EF9-2BB5-4127-BCB5-C15860C0ACF3}" dt="2025-04-11T01:14:47.292" v="39" actId="207"/>
        <pc:sldMkLst>
          <pc:docMk/>
          <pc:sldMk cId="4239925103" sldId="409"/>
        </pc:sldMkLst>
        <pc:spChg chg="mod">
          <ac:chgData name="Yujan Basnet" userId="495fd8277ebfbaef" providerId="LiveId" clId="{AE419EF9-2BB5-4127-BCB5-C15860C0ACF3}" dt="2025-04-11T01:14:47.292" v="39" actId="207"/>
          <ac:spMkLst>
            <pc:docMk/>
            <pc:sldMk cId="4239925103" sldId="409"/>
            <ac:spMk id="3" creationId="{00000000-0000-0000-0000-000000000000}"/>
          </ac:spMkLst>
        </pc:spChg>
      </pc:sldChg>
      <pc:sldChg chg="modSp mod">
        <pc:chgData name="Yujan Basnet" userId="495fd8277ebfbaef" providerId="LiveId" clId="{AE419EF9-2BB5-4127-BCB5-C15860C0ACF3}" dt="2025-04-11T01:18:00.156" v="48" actId="207"/>
        <pc:sldMkLst>
          <pc:docMk/>
          <pc:sldMk cId="430765300" sldId="411"/>
        </pc:sldMkLst>
        <pc:spChg chg="mod">
          <ac:chgData name="Yujan Basnet" userId="495fd8277ebfbaef" providerId="LiveId" clId="{AE419EF9-2BB5-4127-BCB5-C15860C0ACF3}" dt="2025-04-11T01:18:00.156" v="48" actId="207"/>
          <ac:spMkLst>
            <pc:docMk/>
            <pc:sldMk cId="430765300" sldId="411"/>
            <ac:spMk id="3" creationId="{00000000-0000-0000-0000-000000000000}"/>
          </ac:spMkLst>
        </pc:spChg>
      </pc:sldChg>
      <pc:sldChg chg="modSp mod">
        <pc:chgData name="Yujan Basnet" userId="495fd8277ebfbaef" providerId="LiveId" clId="{AE419EF9-2BB5-4127-BCB5-C15860C0ACF3}" dt="2025-04-11T01:16:32.805" v="41" actId="207"/>
        <pc:sldMkLst>
          <pc:docMk/>
          <pc:sldMk cId="4150874108" sldId="412"/>
        </pc:sldMkLst>
        <pc:spChg chg="mod">
          <ac:chgData name="Yujan Basnet" userId="495fd8277ebfbaef" providerId="LiveId" clId="{AE419EF9-2BB5-4127-BCB5-C15860C0ACF3}" dt="2025-04-11T01:16:32.805" v="41" actId="207"/>
          <ac:spMkLst>
            <pc:docMk/>
            <pc:sldMk cId="4150874108" sldId="412"/>
            <ac:spMk id="3" creationId="{00000000-0000-0000-0000-000000000000}"/>
          </ac:spMkLst>
        </pc:spChg>
      </pc:sldChg>
      <pc:sldChg chg="modSp mod">
        <pc:chgData name="Yujan Basnet" userId="495fd8277ebfbaef" providerId="LiveId" clId="{AE419EF9-2BB5-4127-BCB5-C15860C0ACF3}" dt="2025-04-11T01:16:11.946" v="40" actId="207"/>
        <pc:sldMkLst>
          <pc:docMk/>
          <pc:sldMk cId="709322552" sldId="413"/>
        </pc:sldMkLst>
        <pc:spChg chg="mod">
          <ac:chgData name="Yujan Basnet" userId="495fd8277ebfbaef" providerId="LiveId" clId="{AE419EF9-2BB5-4127-BCB5-C15860C0ACF3}" dt="2025-04-11T01:16:11.946" v="40" actId="207"/>
          <ac:spMkLst>
            <pc:docMk/>
            <pc:sldMk cId="709322552" sldId="413"/>
            <ac:spMk id="3" creationId="{00000000-0000-0000-0000-000000000000}"/>
          </ac:spMkLst>
        </pc:spChg>
      </pc:sldChg>
      <pc:sldChg chg="modSp mod">
        <pc:chgData name="Yujan Basnet" userId="495fd8277ebfbaef" providerId="LiveId" clId="{AE419EF9-2BB5-4127-BCB5-C15860C0ACF3}" dt="2025-04-11T01:17:01.171" v="43" actId="207"/>
        <pc:sldMkLst>
          <pc:docMk/>
          <pc:sldMk cId="1902530910" sldId="414"/>
        </pc:sldMkLst>
        <pc:spChg chg="mod">
          <ac:chgData name="Yujan Basnet" userId="495fd8277ebfbaef" providerId="LiveId" clId="{AE419EF9-2BB5-4127-BCB5-C15860C0ACF3}" dt="2025-04-11T01:17:01.171" v="43" actId="207"/>
          <ac:spMkLst>
            <pc:docMk/>
            <pc:sldMk cId="1902530910" sldId="414"/>
            <ac:spMk id="3" creationId="{00000000-0000-0000-0000-000000000000}"/>
          </ac:spMkLst>
        </pc:spChg>
      </pc:sldChg>
      <pc:sldChg chg="modSp mod">
        <pc:chgData name="Yujan Basnet" userId="495fd8277ebfbaef" providerId="LiveId" clId="{AE419EF9-2BB5-4127-BCB5-C15860C0ACF3}" dt="2025-04-11T01:18:53.283" v="49" actId="207"/>
        <pc:sldMkLst>
          <pc:docMk/>
          <pc:sldMk cId="1040478526" sldId="415"/>
        </pc:sldMkLst>
        <pc:spChg chg="mod">
          <ac:chgData name="Yujan Basnet" userId="495fd8277ebfbaef" providerId="LiveId" clId="{AE419EF9-2BB5-4127-BCB5-C15860C0ACF3}" dt="2025-04-11T01:18:53.283" v="49" actId="207"/>
          <ac:spMkLst>
            <pc:docMk/>
            <pc:sldMk cId="1040478526" sldId="415"/>
            <ac:spMk id="3" creationId="{00000000-0000-0000-0000-000000000000}"/>
          </ac:spMkLst>
        </pc:spChg>
      </pc:sldChg>
      <pc:sldChg chg="addSp delSp modSp mod">
        <pc:chgData name="Yujan Basnet" userId="495fd8277ebfbaef" providerId="LiveId" clId="{AE419EF9-2BB5-4127-BCB5-C15860C0ACF3}" dt="2025-04-11T03:34:18.149" v="72" actId="207"/>
        <pc:sldMkLst>
          <pc:docMk/>
          <pc:sldMk cId="2347670694" sldId="417"/>
        </pc:sldMkLst>
        <pc:spChg chg="mod">
          <ac:chgData name="Yujan Basnet" userId="495fd8277ebfbaef" providerId="LiveId" clId="{AE419EF9-2BB5-4127-BCB5-C15860C0ACF3}" dt="2025-04-11T03:33:26.001" v="69" actId="113"/>
          <ac:spMkLst>
            <pc:docMk/>
            <pc:sldMk cId="2347670694" sldId="417"/>
            <ac:spMk id="3" creationId="{00000000-0000-0000-0000-000000000000}"/>
          </ac:spMkLst>
        </pc:spChg>
        <pc:spChg chg="add mod">
          <ac:chgData name="Yujan Basnet" userId="495fd8277ebfbaef" providerId="LiveId" clId="{AE419EF9-2BB5-4127-BCB5-C15860C0ACF3}" dt="2025-04-11T03:34:18.149" v="72" actId="207"/>
          <ac:spMkLst>
            <pc:docMk/>
            <pc:sldMk cId="2347670694" sldId="417"/>
            <ac:spMk id="16" creationId="{00000000-0000-0000-0000-000000000000}"/>
          </ac:spMkLst>
        </pc:spChg>
      </pc:sldChg>
      <pc:sldChg chg="modSp mod">
        <pc:chgData name="Yujan Basnet" userId="495fd8277ebfbaef" providerId="LiveId" clId="{AE419EF9-2BB5-4127-BCB5-C15860C0ACF3}" dt="2025-04-11T03:35:47.630" v="75" actId="207"/>
        <pc:sldMkLst>
          <pc:docMk/>
          <pc:sldMk cId="1718801454" sldId="418"/>
        </pc:sldMkLst>
        <pc:spChg chg="mod">
          <ac:chgData name="Yujan Basnet" userId="495fd8277ebfbaef" providerId="LiveId" clId="{AE419EF9-2BB5-4127-BCB5-C15860C0ACF3}" dt="2025-04-11T03:35:47.630" v="75" actId="207"/>
          <ac:spMkLst>
            <pc:docMk/>
            <pc:sldMk cId="1718801454" sldId="418"/>
            <ac:spMk id="3" creationId="{00000000-0000-0000-0000-000000000000}"/>
          </ac:spMkLst>
        </pc:spChg>
      </pc:sldChg>
      <pc:sldChg chg="modSp mod">
        <pc:chgData name="Yujan Basnet" userId="495fd8277ebfbaef" providerId="LiveId" clId="{AE419EF9-2BB5-4127-BCB5-C15860C0ACF3}" dt="2025-04-11T01:33:18.951" v="51" actId="207"/>
        <pc:sldMkLst>
          <pc:docMk/>
          <pc:sldMk cId="3130313174" sldId="460"/>
        </pc:sldMkLst>
        <pc:spChg chg="mod">
          <ac:chgData name="Yujan Basnet" userId="495fd8277ebfbaef" providerId="LiveId" clId="{AE419EF9-2BB5-4127-BCB5-C15860C0ACF3}" dt="2025-04-11T01:33:18.951" v="51" actId="207"/>
          <ac:spMkLst>
            <pc:docMk/>
            <pc:sldMk cId="3130313174" sldId="460"/>
            <ac:spMk id="3" creationId="{00000000-0000-0000-0000-000000000000}"/>
          </ac:spMkLst>
        </pc:spChg>
      </pc:sldChg>
      <pc:sldChg chg="modSp mod">
        <pc:chgData name="Yujan Basnet" userId="495fd8277ebfbaef" providerId="LiveId" clId="{AE419EF9-2BB5-4127-BCB5-C15860C0ACF3}" dt="2025-04-11T01:34:21.368" v="55" actId="207"/>
        <pc:sldMkLst>
          <pc:docMk/>
          <pc:sldMk cId="1270966140" sldId="467"/>
        </pc:sldMkLst>
        <pc:spChg chg="mod">
          <ac:chgData name="Yujan Basnet" userId="495fd8277ebfbaef" providerId="LiveId" clId="{AE419EF9-2BB5-4127-BCB5-C15860C0ACF3}" dt="2025-04-11T01:34:21.368" v="55" actId="207"/>
          <ac:spMkLst>
            <pc:docMk/>
            <pc:sldMk cId="1270966140" sldId="467"/>
            <ac:spMk id="3" creationId="{00000000-0000-0000-0000-000000000000}"/>
          </ac:spMkLst>
        </pc:spChg>
      </pc:sldChg>
      <pc:sldChg chg="modSp mod">
        <pc:chgData name="Yujan Basnet" userId="495fd8277ebfbaef" providerId="LiveId" clId="{AE419EF9-2BB5-4127-BCB5-C15860C0ACF3}" dt="2025-04-11T03:38:13.239" v="76" actId="207"/>
        <pc:sldMkLst>
          <pc:docMk/>
          <pc:sldMk cId="3445046329" sldId="469"/>
        </pc:sldMkLst>
        <pc:spChg chg="mod">
          <ac:chgData name="Yujan Basnet" userId="495fd8277ebfbaef" providerId="LiveId" clId="{AE419EF9-2BB5-4127-BCB5-C15860C0ACF3}" dt="2025-04-11T03:38:13.239" v="76" actId="207"/>
          <ac:spMkLst>
            <pc:docMk/>
            <pc:sldMk cId="3445046329" sldId="469"/>
            <ac:spMk id="3" creationId="{00000000-0000-0000-0000-000000000000}"/>
          </ac:spMkLst>
        </pc:spChg>
      </pc:sldChg>
      <pc:sldChg chg="modSp">
        <pc:chgData name="Yujan Basnet" userId="495fd8277ebfbaef" providerId="LiveId" clId="{AE419EF9-2BB5-4127-BCB5-C15860C0ACF3}" dt="2025-04-11T01:37:03.408" v="59" actId="207"/>
        <pc:sldMkLst>
          <pc:docMk/>
          <pc:sldMk cId="1435261642" sldId="470"/>
        </pc:sldMkLst>
        <pc:graphicFrameChg chg="mod">
          <ac:chgData name="Yujan Basnet" userId="495fd8277ebfbaef" providerId="LiveId" clId="{AE419EF9-2BB5-4127-BCB5-C15860C0ACF3}" dt="2025-04-11T01:37:03.408" v="59" actId="207"/>
          <ac:graphicFrameMkLst>
            <pc:docMk/>
            <pc:sldMk cId="1435261642" sldId="470"/>
            <ac:graphicFrameMk id="101378" creationId="{00000000-0000-0000-0000-000000000000}"/>
          </ac:graphicFrameMkLst>
        </pc:graphicFrameChg>
      </pc:sldChg>
      <pc:sldChg chg="modSp">
        <pc:chgData name="Yujan Basnet" userId="495fd8277ebfbaef" providerId="LiveId" clId="{AE419EF9-2BB5-4127-BCB5-C15860C0ACF3}" dt="2025-04-11T01:37:19.431" v="60" actId="207"/>
        <pc:sldMkLst>
          <pc:docMk/>
          <pc:sldMk cId="94950000" sldId="471"/>
        </pc:sldMkLst>
        <pc:graphicFrameChg chg="mod">
          <ac:chgData name="Yujan Basnet" userId="495fd8277ebfbaef" providerId="LiveId" clId="{AE419EF9-2BB5-4127-BCB5-C15860C0ACF3}" dt="2025-04-11T01:37:19.431" v="60" actId="207"/>
          <ac:graphicFrameMkLst>
            <pc:docMk/>
            <pc:sldMk cId="94950000" sldId="471"/>
            <ac:graphicFrameMk id="101378" creationId="{00000000-0000-0000-0000-000000000000}"/>
          </ac:graphicFrameMkLst>
        </pc:graphicFrameChg>
      </pc:sldChg>
      <pc:sldChg chg="modSp">
        <pc:chgData name="Yujan Basnet" userId="495fd8277ebfbaef" providerId="LiveId" clId="{AE419EF9-2BB5-4127-BCB5-C15860C0ACF3}" dt="2025-04-11T01:38:03.217" v="61" actId="207"/>
        <pc:sldMkLst>
          <pc:docMk/>
          <pc:sldMk cId="2539197707" sldId="472"/>
        </pc:sldMkLst>
        <pc:graphicFrameChg chg="mod">
          <ac:chgData name="Yujan Basnet" userId="495fd8277ebfbaef" providerId="LiveId" clId="{AE419EF9-2BB5-4127-BCB5-C15860C0ACF3}" dt="2025-04-11T01:38:03.217" v="61" actId="207"/>
          <ac:graphicFrameMkLst>
            <pc:docMk/>
            <pc:sldMk cId="2539197707" sldId="472"/>
            <ac:graphicFrameMk id="101378" creationId="{00000000-0000-0000-0000-000000000000}"/>
          </ac:graphicFrameMkLst>
        </pc:graphicFrameChg>
      </pc:sldChg>
      <pc:sldChg chg="modSp mod">
        <pc:chgData name="Yujan Basnet" userId="495fd8277ebfbaef" providerId="LiveId" clId="{AE419EF9-2BB5-4127-BCB5-C15860C0ACF3}" dt="2025-04-11T01:39:21.052" v="62" actId="207"/>
        <pc:sldMkLst>
          <pc:docMk/>
          <pc:sldMk cId="2495143638" sldId="474"/>
        </pc:sldMkLst>
        <pc:spChg chg="mod">
          <ac:chgData name="Yujan Basnet" userId="495fd8277ebfbaef" providerId="LiveId" clId="{AE419EF9-2BB5-4127-BCB5-C15860C0ACF3}" dt="2025-04-11T01:39:21.052" v="62" actId="207"/>
          <ac:spMkLst>
            <pc:docMk/>
            <pc:sldMk cId="2495143638" sldId="474"/>
            <ac:spMk id="3" creationId="{00000000-0000-0000-0000-000000000000}"/>
          </ac:spMkLst>
        </pc:spChg>
      </pc:sldChg>
      <pc:sldChg chg="modSp mod">
        <pc:chgData name="Yujan Basnet" userId="495fd8277ebfbaef" providerId="LiveId" clId="{AE419EF9-2BB5-4127-BCB5-C15860C0ACF3}" dt="2025-04-11T03:52:24.519" v="78" actId="207"/>
        <pc:sldMkLst>
          <pc:docMk/>
          <pc:sldMk cId="387920267" sldId="480"/>
        </pc:sldMkLst>
        <pc:spChg chg="mod">
          <ac:chgData name="Yujan Basnet" userId="495fd8277ebfbaef" providerId="LiveId" clId="{AE419EF9-2BB5-4127-BCB5-C15860C0ACF3}" dt="2025-04-11T03:52:24.519" v="78" actId="207"/>
          <ac:spMkLst>
            <pc:docMk/>
            <pc:sldMk cId="387920267" sldId="480"/>
            <ac:spMk id="3" creationId="{00000000-0000-0000-0000-000000000000}"/>
          </ac:spMkLst>
        </pc:spChg>
      </pc:sldChg>
      <pc:sldChg chg="modSp mod">
        <pc:chgData name="Yujan Basnet" userId="495fd8277ebfbaef" providerId="LiveId" clId="{AE419EF9-2BB5-4127-BCB5-C15860C0ACF3}" dt="2025-04-11T01:42:00.014" v="64" actId="207"/>
        <pc:sldMkLst>
          <pc:docMk/>
          <pc:sldMk cId="4161330682" sldId="497"/>
        </pc:sldMkLst>
        <pc:spChg chg="mod">
          <ac:chgData name="Yujan Basnet" userId="495fd8277ebfbaef" providerId="LiveId" clId="{AE419EF9-2BB5-4127-BCB5-C15860C0ACF3}" dt="2025-04-11T01:42:00.014" v="64" actId="207"/>
          <ac:spMkLst>
            <pc:docMk/>
            <pc:sldMk cId="4161330682" sldId="497"/>
            <ac:spMk id="3" creationId="{00000000-0000-0000-0000-000000000000}"/>
          </ac:spMkLst>
        </pc:spChg>
      </pc:sldChg>
      <pc:sldChg chg="modSp mod">
        <pc:chgData name="Yujan Basnet" userId="495fd8277ebfbaef" providerId="LiveId" clId="{AE419EF9-2BB5-4127-BCB5-C15860C0ACF3}" dt="2025-04-11T01:42:57.796" v="65" actId="207"/>
        <pc:sldMkLst>
          <pc:docMk/>
          <pc:sldMk cId="4270060726" sldId="521"/>
        </pc:sldMkLst>
        <pc:spChg chg="mod">
          <ac:chgData name="Yujan Basnet" userId="495fd8277ebfbaef" providerId="LiveId" clId="{AE419EF9-2BB5-4127-BCB5-C15860C0ACF3}" dt="2025-04-11T01:42:57.796" v="65" actId="207"/>
          <ac:spMkLst>
            <pc:docMk/>
            <pc:sldMk cId="4270060726" sldId="521"/>
            <ac:spMk id="3" creationId="{00000000-0000-0000-0000-000000000000}"/>
          </ac:spMkLst>
        </pc:spChg>
      </pc:sldChg>
      <pc:sldChg chg="modSp mod">
        <pc:chgData name="Yujan Basnet" userId="495fd8277ebfbaef" providerId="LiveId" clId="{AE419EF9-2BB5-4127-BCB5-C15860C0ACF3}" dt="2025-04-11T01:43:49.217" v="66" actId="207"/>
        <pc:sldMkLst>
          <pc:docMk/>
          <pc:sldMk cId="1049373304" sldId="546"/>
        </pc:sldMkLst>
        <pc:spChg chg="mod">
          <ac:chgData name="Yujan Basnet" userId="495fd8277ebfbaef" providerId="LiveId" clId="{AE419EF9-2BB5-4127-BCB5-C15860C0ACF3}" dt="2025-04-11T01:43:49.217" v="66" actId="207"/>
          <ac:spMkLst>
            <pc:docMk/>
            <pc:sldMk cId="1049373304" sldId="546"/>
            <ac:spMk id="3" creationId="{00000000-0000-0000-0000-000000000000}"/>
          </ac:spMkLst>
        </pc:spChg>
      </pc:sldChg>
    </pc:docChg>
  </pc:docChgLst>
  <pc:docChgLst>
    <pc:chgData name="Yujan Basnet" userId="495fd8277ebfbaef" providerId="LiveId" clId="{E0016DE3-4A98-4E44-9BC4-75F60D7E8FDD}"/>
    <pc:docChg chg="undo custSel modSld">
      <pc:chgData name="Yujan Basnet" userId="495fd8277ebfbaef" providerId="LiveId" clId="{E0016DE3-4A98-4E44-9BC4-75F60D7E8FDD}" dt="2025-06-27T14:24:06.451" v="103" actId="207"/>
      <pc:docMkLst>
        <pc:docMk/>
      </pc:docMkLst>
      <pc:sldChg chg="addSp delSp modSp mod">
        <pc:chgData name="Yujan Basnet" userId="495fd8277ebfbaef" providerId="LiveId" clId="{E0016DE3-4A98-4E44-9BC4-75F60D7E8FDD}" dt="2025-05-22T14:32:20.123" v="2"/>
        <pc:sldMkLst>
          <pc:docMk/>
          <pc:sldMk cId="2191181589" sldId="311"/>
        </pc:sldMkLst>
        <pc:spChg chg="add">
          <ac:chgData name="Yujan Basnet" userId="495fd8277ebfbaef" providerId="LiveId" clId="{E0016DE3-4A98-4E44-9BC4-75F60D7E8FDD}" dt="2025-05-22T14:32:20.123" v="2"/>
          <ac:spMkLst>
            <pc:docMk/>
            <pc:sldMk cId="2191181589" sldId="311"/>
            <ac:spMk id="116737" creationId="{00000000-0000-0000-0000-000000000000}"/>
          </ac:spMkLst>
        </pc:spChg>
      </pc:sldChg>
      <pc:sldChg chg="modSp mod">
        <pc:chgData name="Yujan Basnet" userId="495fd8277ebfbaef" providerId="LiveId" clId="{E0016DE3-4A98-4E44-9BC4-75F60D7E8FDD}" dt="2025-06-03T23:07:26.164" v="11" actId="207"/>
        <pc:sldMkLst>
          <pc:docMk/>
          <pc:sldMk cId="4099039037" sldId="355"/>
        </pc:sldMkLst>
        <pc:spChg chg="mod">
          <ac:chgData name="Yujan Basnet" userId="495fd8277ebfbaef" providerId="LiveId" clId="{E0016DE3-4A98-4E44-9BC4-75F60D7E8FDD}" dt="2025-06-03T23:07:26.164" v="11" actId="207"/>
          <ac:spMkLst>
            <pc:docMk/>
            <pc:sldMk cId="4099039037" sldId="355"/>
            <ac:spMk id="3" creationId="{00000000-0000-0000-0000-000000000000}"/>
          </ac:spMkLst>
        </pc:spChg>
      </pc:sldChg>
      <pc:sldChg chg="modSp mod">
        <pc:chgData name="Yujan Basnet" userId="495fd8277ebfbaef" providerId="LiveId" clId="{E0016DE3-4A98-4E44-9BC4-75F60D7E8FDD}" dt="2025-06-03T23:08:11.868" v="12" actId="207"/>
        <pc:sldMkLst>
          <pc:docMk/>
          <pc:sldMk cId="1225784651" sldId="362"/>
        </pc:sldMkLst>
        <pc:spChg chg="mod">
          <ac:chgData name="Yujan Basnet" userId="495fd8277ebfbaef" providerId="LiveId" clId="{E0016DE3-4A98-4E44-9BC4-75F60D7E8FDD}" dt="2025-06-03T23:08:11.868" v="12" actId="207"/>
          <ac:spMkLst>
            <pc:docMk/>
            <pc:sldMk cId="1225784651" sldId="362"/>
            <ac:spMk id="3" creationId="{00000000-0000-0000-0000-000000000000}"/>
          </ac:spMkLst>
        </pc:spChg>
      </pc:sldChg>
      <pc:sldChg chg="modSp">
        <pc:chgData name="Yujan Basnet" userId="495fd8277ebfbaef" providerId="LiveId" clId="{E0016DE3-4A98-4E44-9BC4-75F60D7E8FDD}" dt="2025-06-03T23:23:17.628" v="21" actId="207"/>
        <pc:sldMkLst>
          <pc:docMk/>
          <pc:sldMk cId="2191181589" sldId="364"/>
        </pc:sldMkLst>
        <pc:graphicFrameChg chg="mod">
          <ac:chgData name="Yujan Basnet" userId="495fd8277ebfbaef" providerId="LiveId" clId="{E0016DE3-4A98-4E44-9BC4-75F60D7E8FDD}" dt="2025-06-03T23:23:17.628" v="21" actId="207"/>
          <ac:graphicFrameMkLst>
            <pc:docMk/>
            <pc:sldMk cId="2191181589" sldId="364"/>
            <ac:graphicFrameMk id="82949" creationId="{00000000-0000-0000-0000-000000000000}"/>
          </ac:graphicFrameMkLst>
        </pc:graphicFrameChg>
      </pc:sldChg>
      <pc:sldChg chg="modSp mod">
        <pc:chgData name="Yujan Basnet" userId="495fd8277ebfbaef" providerId="LiveId" clId="{E0016DE3-4A98-4E44-9BC4-75F60D7E8FDD}" dt="2025-06-03T23:12:05.529" v="16" actId="207"/>
        <pc:sldMkLst>
          <pc:docMk/>
          <pc:sldMk cId="2191181589" sldId="366"/>
        </pc:sldMkLst>
        <pc:spChg chg="mod">
          <ac:chgData name="Yujan Basnet" userId="495fd8277ebfbaef" providerId="LiveId" clId="{E0016DE3-4A98-4E44-9BC4-75F60D7E8FDD}" dt="2025-06-03T23:12:05.529" v="16" actId="207"/>
          <ac:spMkLst>
            <pc:docMk/>
            <pc:sldMk cId="2191181589" sldId="366"/>
            <ac:spMk id="3" creationId="{00000000-0000-0000-0000-000000000000}"/>
          </ac:spMkLst>
        </pc:spChg>
      </pc:sldChg>
      <pc:sldChg chg="modSp mod">
        <pc:chgData name="Yujan Basnet" userId="495fd8277ebfbaef" providerId="LiveId" clId="{E0016DE3-4A98-4E44-9BC4-75F60D7E8FDD}" dt="2025-06-27T10:05:35.157" v="97" actId="207"/>
        <pc:sldMkLst>
          <pc:docMk/>
          <pc:sldMk cId="1225784651" sldId="393"/>
        </pc:sldMkLst>
        <pc:spChg chg="mod">
          <ac:chgData name="Yujan Basnet" userId="495fd8277ebfbaef" providerId="LiveId" clId="{E0016DE3-4A98-4E44-9BC4-75F60D7E8FDD}" dt="2025-06-27T10:05:35.157" v="97" actId="207"/>
          <ac:spMkLst>
            <pc:docMk/>
            <pc:sldMk cId="1225784651" sldId="393"/>
            <ac:spMk id="3" creationId="{00000000-0000-0000-0000-000000000000}"/>
          </ac:spMkLst>
        </pc:spChg>
      </pc:sldChg>
      <pc:sldChg chg="modSp mod">
        <pc:chgData name="Yujan Basnet" userId="495fd8277ebfbaef" providerId="LiveId" clId="{E0016DE3-4A98-4E44-9BC4-75F60D7E8FDD}" dt="2025-06-03T23:23:01.952" v="20" actId="207"/>
        <pc:sldMkLst>
          <pc:docMk/>
          <pc:sldMk cId="3262664063" sldId="400"/>
        </pc:sldMkLst>
        <pc:spChg chg="mod">
          <ac:chgData name="Yujan Basnet" userId="495fd8277ebfbaef" providerId="LiveId" clId="{E0016DE3-4A98-4E44-9BC4-75F60D7E8FDD}" dt="2025-05-28T11:49:34.687" v="3" actId="207"/>
          <ac:spMkLst>
            <pc:docMk/>
            <pc:sldMk cId="3262664063" sldId="400"/>
            <ac:spMk id="9" creationId="{00000000-0000-0000-0000-000000000000}"/>
          </ac:spMkLst>
        </pc:spChg>
        <pc:graphicFrameChg chg="mod">
          <ac:chgData name="Yujan Basnet" userId="495fd8277ebfbaef" providerId="LiveId" clId="{E0016DE3-4A98-4E44-9BC4-75F60D7E8FDD}" dt="2025-06-03T23:23:01.952" v="20" actId="207"/>
          <ac:graphicFrameMkLst>
            <pc:docMk/>
            <pc:sldMk cId="3262664063" sldId="400"/>
            <ac:graphicFrameMk id="52227" creationId="{00000000-0000-0000-0000-000000000000}"/>
          </ac:graphicFrameMkLst>
        </pc:graphicFrameChg>
      </pc:sldChg>
      <pc:sldChg chg="modSp mod">
        <pc:chgData name="Yujan Basnet" userId="495fd8277ebfbaef" providerId="LiveId" clId="{E0016DE3-4A98-4E44-9BC4-75F60D7E8FDD}" dt="2025-06-03T23:25:11.415" v="28" actId="207"/>
        <pc:sldMkLst>
          <pc:docMk/>
          <pc:sldMk cId="3505464780" sldId="401"/>
        </pc:sldMkLst>
        <pc:spChg chg="mod">
          <ac:chgData name="Yujan Basnet" userId="495fd8277ebfbaef" providerId="LiveId" clId="{E0016DE3-4A98-4E44-9BC4-75F60D7E8FDD}" dt="2025-06-03T23:25:11.415" v="28" actId="207"/>
          <ac:spMkLst>
            <pc:docMk/>
            <pc:sldMk cId="3505464780" sldId="401"/>
            <ac:spMk id="9" creationId="{00000000-0000-0000-0000-000000000000}"/>
          </ac:spMkLst>
        </pc:spChg>
      </pc:sldChg>
      <pc:sldChg chg="modSp mod">
        <pc:chgData name="Yujan Basnet" userId="495fd8277ebfbaef" providerId="LiveId" clId="{E0016DE3-4A98-4E44-9BC4-75F60D7E8FDD}" dt="2025-06-03T23:34:05.368" v="29" actId="207"/>
        <pc:sldMkLst>
          <pc:docMk/>
          <pc:sldMk cId="2170053565" sldId="404"/>
        </pc:sldMkLst>
        <pc:spChg chg="mod">
          <ac:chgData name="Yujan Basnet" userId="495fd8277ebfbaef" providerId="LiveId" clId="{E0016DE3-4A98-4E44-9BC4-75F60D7E8FDD}" dt="2025-06-03T23:34:05.368" v="29" actId="207"/>
          <ac:spMkLst>
            <pc:docMk/>
            <pc:sldMk cId="2170053565" sldId="404"/>
            <ac:spMk id="3" creationId="{00000000-0000-0000-0000-000000000000}"/>
          </ac:spMkLst>
        </pc:spChg>
      </pc:sldChg>
      <pc:sldChg chg="modSp mod">
        <pc:chgData name="Yujan Basnet" userId="495fd8277ebfbaef" providerId="LiveId" clId="{E0016DE3-4A98-4E44-9BC4-75F60D7E8FDD}" dt="2025-06-03T23:34:54.587" v="33" actId="207"/>
        <pc:sldMkLst>
          <pc:docMk/>
          <pc:sldMk cId="1990898919" sldId="405"/>
        </pc:sldMkLst>
        <pc:spChg chg="mod">
          <ac:chgData name="Yujan Basnet" userId="495fd8277ebfbaef" providerId="LiveId" clId="{E0016DE3-4A98-4E44-9BC4-75F60D7E8FDD}" dt="2025-06-03T23:34:54.587" v="33" actId="207"/>
          <ac:spMkLst>
            <pc:docMk/>
            <pc:sldMk cId="1990898919" sldId="405"/>
            <ac:spMk id="3" creationId="{00000000-0000-0000-0000-000000000000}"/>
          </ac:spMkLst>
        </pc:spChg>
        <pc:graphicFrameChg chg="mod">
          <ac:chgData name="Yujan Basnet" userId="495fd8277ebfbaef" providerId="LiveId" clId="{E0016DE3-4A98-4E44-9BC4-75F60D7E8FDD}" dt="2025-06-03T23:34:43.813" v="32" actId="207"/>
          <ac:graphicFrameMkLst>
            <pc:docMk/>
            <pc:sldMk cId="1990898919" sldId="405"/>
            <ac:graphicFrameMk id="15" creationId="{00000000-0000-0000-0000-000000000000}"/>
          </ac:graphicFrameMkLst>
        </pc:graphicFrameChg>
      </pc:sldChg>
      <pc:sldChg chg="modSp mod">
        <pc:chgData name="Yujan Basnet" userId="495fd8277ebfbaef" providerId="LiveId" clId="{E0016DE3-4A98-4E44-9BC4-75F60D7E8FDD}" dt="2025-06-03T23:37:40.488" v="35" actId="207"/>
        <pc:sldMkLst>
          <pc:docMk/>
          <pc:sldMk cId="430765300" sldId="411"/>
        </pc:sldMkLst>
        <pc:spChg chg="mod">
          <ac:chgData name="Yujan Basnet" userId="495fd8277ebfbaef" providerId="LiveId" clId="{E0016DE3-4A98-4E44-9BC4-75F60D7E8FDD}" dt="2025-06-03T23:37:40.488" v="35" actId="207"/>
          <ac:spMkLst>
            <pc:docMk/>
            <pc:sldMk cId="430765300" sldId="411"/>
            <ac:spMk id="3" creationId="{00000000-0000-0000-0000-000000000000}"/>
          </ac:spMkLst>
        </pc:spChg>
      </pc:sldChg>
      <pc:sldChg chg="modSp mod">
        <pc:chgData name="Yujan Basnet" userId="495fd8277ebfbaef" providerId="LiveId" clId="{E0016DE3-4A98-4E44-9BC4-75F60D7E8FDD}" dt="2025-06-27T10:30:37.711" v="98" actId="207"/>
        <pc:sldMkLst>
          <pc:docMk/>
          <pc:sldMk cId="4150874108" sldId="412"/>
        </pc:sldMkLst>
        <pc:spChg chg="mod">
          <ac:chgData name="Yujan Basnet" userId="495fd8277ebfbaef" providerId="LiveId" clId="{E0016DE3-4A98-4E44-9BC4-75F60D7E8FDD}" dt="2025-06-27T10:30:37.711" v="98" actId="207"/>
          <ac:spMkLst>
            <pc:docMk/>
            <pc:sldMk cId="4150874108" sldId="412"/>
            <ac:spMk id="3" creationId="{00000000-0000-0000-0000-000000000000}"/>
          </ac:spMkLst>
        </pc:spChg>
      </pc:sldChg>
      <pc:sldChg chg="modSp mod">
        <pc:chgData name="Yujan Basnet" userId="495fd8277ebfbaef" providerId="LiveId" clId="{E0016DE3-4A98-4E44-9BC4-75F60D7E8FDD}" dt="2025-06-27T10:30:51.256" v="99" actId="207"/>
        <pc:sldMkLst>
          <pc:docMk/>
          <pc:sldMk cId="709322552" sldId="413"/>
        </pc:sldMkLst>
        <pc:spChg chg="mod">
          <ac:chgData name="Yujan Basnet" userId="495fd8277ebfbaef" providerId="LiveId" clId="{E0016DE3-4A98-4E44-9BC4-75F60D7E8FDD}" dt="2025-06-27T10:30:51.256" v="99" actId="207"/>
          <ac:spMkLst>
            <pc:docMk/>
            <pc:sldMk cId="709322552" sldId="413"/>
            <ac:spMk id="3" creationId="{00000000-0000-0000-0000-000000000000}"/>
          </ac:spMkLst>
        </pc:spChg>
      </pc:sldChg>
      <pc:sldChg chg="modSp mod">
        <pc:chgData name="Yujan Basnet" userId="495fd8277ebfbaef" providerId="LiveId" clId="{E0016DE3-4A98-4E44-9BC4-75F60D7E8FDD}" dt="2025-06-03T23:40:57.074" v="41" actId="207"/>
        <pc:sldMkLst>
          <pc:docMk/>
          <pc:sldMk cId="192463117" sldId="416"/>
        </pc:sldMkLst>
        <pc:spChg chg="mod">
          <ac:chgData name="Yujan Basnet" userId="495fd8277ebfbaef" providerId="LiveId" clId="{E0016DE3-4A98-4E44-9BC4-75F60D7E8FDD}" dt="2025-06-03T23:40:57.074" v="41" actId="207"/>
          <ac:spMkLst>
            <pc:docMk/>
            <pc:sldMk cId="192463117" sldId="416"/>
            <ac:spMk id="3" creationId="{00000000-0000-0000-0000-000000000000}"/>
          </ac:spMkLst>
        </pc:spChg>
      </pc:sldChg>
      <pc:sldChg chg="modSp">
        <pc:chgData name="Yujan Basnet" userId="495fd8277ebfbaef" providerId="LiveId" clId="{E0016DE3-4A98-4E44-9BC4-75F60D7E8FDD}" dt="2025-06-03T23:56:22.669" v="42" actId="207"/>
        <pc:sldMkLst>
          <pc:docMk/>
          <pc:sldMk cId="1181294828" sldId="426"/>
        </pc:sldMkLst>
        <pc:graphicFrameChg chg="mod">
          <ac:chgData name="Yujan Basnet" userId="495fd8277ebfbaef" providerId="LiveId" clId="{E0016DE3-4A98-4E44-9BC4-75F60D7E8FDD}" dt="2025-06-03T23:56:22.669" v="42" actId="207"/>
          <ac:graphicFrameMkLst>
            <pc:docMk/>
            <pc:sldMk cId="1181294828" sldId="426"/>
            <ac:graphicFrameMk id="38917" creationId="{00000000-0000-0000-0000-000000000000}"/>
          </ac:graphicFrameMkLst>
        </pc:graphicFrameChg>
      </pc:sldChg>
      <pc:sldChg chg="modSp mod">
        <pc:chgData name="Yujan Basnet" userId="495fd8277ebfbaef" providerId="LiveId" clId="{E0016DE3-4A98-4E44-9BC4-75F60D7E8FDD}" dt="2025-06-04T00:41:56.398" v="49" actId="207"/>
        <pc:sldMkLst>
          <pc:docMk/>
          <pc:sldMk cId="2153029951" sldId="433"/>
        </pc:sldMkLst>
        <pc:spChg chg="mod">
          <ac:chgData name="Yujan Basnet" userId="495fd8277ebfbaef" providerId="LiveId" clId="{E0016DE3-4A98-4E44-9BC4-75F60D7E8FDD}" dt="2025-06-04T00:41:56.398" v="49" actId="207"/>
          <ac:spMkLst>
            <pc:docMk/>
            <pc:sldMk cId="2153029951" sldId="433"/>
            <ac:spMk id="3" creationId="{00000000-0000-0000-0000-000000000000}"/>
          </ac:spMkLst>
        </pc:spChg>
      </pc:sldChg>
      <pc:sldChg chg="modSp mod">
        <pc:chgData name="Yujan Basnet" userId="495fd8277ebfbaef" providerId="LiveId" clId="{E0016DE3-4A98-4E44-9BC4-75F60D7E8FDD}" dt="2025-06-04T00:43:36.562" v="51" actId="207"/>
        <pc:sldMkLst>
          <pc:docMk/>
          <pc:sldMk cId="2564406990" sldId="436"/>
        </pc:sldMkLst>
        <pc:spChg chg="mod">
          <ac:chgData name="Yujan Basnet" userId="495fd8277ebfbaef" providerId="LiveId" clId="{E0016DE3-4A98-4E44-9BC4-75F60D7E8FDD}" dt="2025-06-04T00:43:36.562" v="51" actId="207"/>
          <ac:spMkLst>
            <pc:docMk/>
            <pc:sldMk cId="2564406990" sldId="436"/>
            <ac:spMk id="3" creationId="{00000000-0000-0000-0000-000000000000}"/>
          </ac:spMkLst>
        </pc:spChg>
      </pc:sldChg>
      <pc:sldChg chg="modSp mod">
        <pc:chgData name="Yujan Basnet" userId="495fd8277ebfbaef" providerId="LiveId" clId="{E0016DE3-4A98-4E44-9BC4-75F60D7E8FDD}" dt="2025-06-04T00:43:51.105" v="52" actId="207"/>
        <pc:sldMkLst>
          <pc:docMk/>
          <pc:sldMk cId="3130313174" sldId="460"/>
        </pc:sldMkLst>
        <pc:spChg chg="mod">
          <ac:chgData name="Yujan Basnet" userId="495fd8277ebfbaef" providerId="LiveId" clId="{E0016DE3-4A98-4E44-9BC4-75F60D7E8FDD}" dt="2025-06-04T00:43:51.105" v="52" actId="207"/>
          <ac:spMkLst>
            <pc:docMk/>
            <pc:sldMk cId="3130313174" sldId="460"/>
            <ac:spMk id="3" creationId="{00000000-0000-0000-0000-000000000000}"/>
          </ac:spMkLst>
        </pc:spChg>
      </pc:sldChg>
      <pc:sldChg chg="modSp mod">
        <pc:chgData name="Yujan Basnet" userId="495fd8277ebfbaef" providerId="LiveId" clId="{E0016DE3-4A98-4E44-9BC4-75F60D7E8FDD}" dt="2025-06-27T13:27:26.670" v="101" actId="1076"/>
        <pc:sldMkLst>
          <pc:docMk/>
          <pc:sldMk cId="1435261642" sldId="470"/>
        </pc:sldMkLst>
        <pc:spChg chg="mod">
          <ac:chgData name="Yujan Basnet" userId="495fd8277ebfbaef" providerId="LiveId" clId="{E0016DE3-4A98-4E44-9BC4-75F60D7E8FDD}" dt="2025-06-27T13:27:26.670" v="101" actId="1076"/>
          <ac:spMkLst>
            <pc:docMk/>
            <pc:sldMk cId="1435261642" sldId="470"/>
            <ac:spMk id="3" creationId="{00000000-0000-0000-0000-000000000000}"/>
          </ac:spMkLst>
        </pc:spChg>
      </pc:sldChg>
      <pc:sldChg chg="modSp mod">
        <pc:chgData name="Yujan Basnet" userId="495fd8277ebfbaef" providerId="LiveId" clId="{E0016DE3-4A98-4E44-9BC4-75F60D7E8FDD}" dt="2025-06-04T00:52:46.952" v="53" actId="207"/>
        <pc:sldMkLst>
          <pc:docMk/>
          <pc:sldMk cId="2450867659" sldId="473"/>
        </pc:sldMkLst>
        <pc:spChg chg="mod">
          <ac:chgData name="Yujan Basnet" userId="495fd8277ebfbaef" providerId="LiveId" clId="{E0016DE3-4A98-4E44-9BC4-75F60D7E8FDD}" dt="2025-06-04T00:52:46.952" v="53" actId="207"/>
          <ac:spMkLst>
            <pc:docMk/>
            <pc:sldMk cId="2450867659" sldId="473"/>
            <ac:spMk id="3" creationId="{00000000-0000-0000-0000-000000000000}"/>
          </ac:spMkLst>
        </pc:spChg>
      </pc:sldChg>
      <pc:sldChg chg="modSp mod">
        <pc:chgData name="Yujan Basnet" userId="495fd8277ebfbaef" providerId="LiveId" clId="{E0016DE3-4A98-4E44-9BC4-75F60D7E8FDD}" dt="2025-06-04T01:01:14.521" v="72" actId="207"/>
        <pc:sldMkLst>
          <pc:docMk/>
          <pc:sldMk cId="2495143638" sldId="474"/>
        </pc:sldMkLst>
        <pc:spChg chg="mod">
          <ac:chgData name="Yujan Basnet" userId="495fd8277ebfbaef" providerId="LiveId" clId="{E0016DE3-4A98-4E44-9BC4-75F60D7E8FDD}" dt="2025-06-04T01:01:14.521" v="72" actId="207"/>
          <ac:spMkLst>
            <pc:docMk/>
            <pc:sldMk cId="2495143638" sldId="474"/>
            <ac:spMk id="3" creationId="{00000000-0000-0000-0000-000000000000}"/>
          </ac:spMkLst>
        </pc:spChg>
      </pc:sldChg>
      <pc:sldChg chg="modSp mod">
        <pc:chgData name="Yujan Basnet" userId="495fd8277ebfbaef" providerId="LiveId" clId="{E0016DE3-4A98-4E44-9BC4-75F60D7E8FDD}" dt="2025-06-04T01:08:41.928" v="74" actId="207"/>
        <pc:sldMkLst>
          <pc:docMk/>
          <pc:sldMk cId="2876178454" sldId="477"/>
        </pc:sldMkLst>
        <pc:spChg chg="mod">
          <ac:chgData name="Yujan Basnet" userId="495fd8277ebfbaef" providerId="LiveId" clId="{E0016DE3-4A98-4E44-9BC4-75F60D7E8FDD}" dt="2025-06-04T01:08:41.928" v="74" actId="207"/>
          <ac:spMkLst>
            <pc:docMk/>
            <pc:sldMk cId="2876178454" sldId="477"/>
            <ac:spMk id="3" creationId="{00000000-0000-0000-0000-000000000000}"/>
          </ac:spMkLst>
        </pc:spChg>
      </pc:sldChg>
      <pc:sldChg chg="modSp mod modNotesTx">
        <pc:chgData name="Yujan Basnet" userId="495fd8277ebfbaef" providerId="LiveId" clId="{E0016DE3-4A98-4E44-9BC4-75F60D7E8FDD}" dt="2025-06-04T01:32:17.876" v="84"/>
        <pc:sldMkLst>
          <pc:docMk/>
          <pc:sldMk cId="4117323962" sldId="499"/>
        </pc:sldMkLst>
        <pc:spChg chg="mod">
          <ac:chgData name="Yujan Basnet" userId="495fd8277ebfbaef" providerId="LiveId" clId="{E0016DE3-4A98-4E44-9BC4-75F60D7E8FDD}" dt="2025-06-04T01:30:39.559" v="83" actId="207"/>
          <ac:spMkLst>
            <pc:docMk/>
            <pc:sldMk cId="4117323962" sldId="499"/>
            <ac:spMk id="3" creationId="{00000000-0000-0000-0000-000000000000}"/>
          </ac:spMkLst>
        </pc:spChg>
      </pc:sldChg>
      <pc:sldChg chg="modSp mod">
        <pc:chgData name="Yujan Basnet" userId="495fd8277ebfbaef" providerId="LiveId" clId="{E0016DE3-4A98-4E44-9BC4-75F60D7E8FDD}" dt="2025-06-04T01:52:07.546" v="85" actId="207"/>
        <pc:sldMkLst>
          <pc:docMk/>
          <pc:sldMk cId="3281066538" sldId="520"/>
        </pc:sldMkLst>
        <pc:spChg chg="mod">
          <ac:chgData name="Yujan Basnet" userId="495fd8277ebfbaef" providerId="LiveId" clId="{E0016DE3-4A98-4E44-9BC4-75F60D7E8FDD}" dt="2025-06-04T01:52:07.546" v="85" actId="207"/>
          <ac:spMkLst>
            <pc:docMk/>
            <pc:sldMk cId="3281066538" sldId="520"/>
            <ac:spMk id="3" creationId="{00000000-0000-0000-0000-000000000000}"/>
          </ac:spMkLst>
        </pc:spChg>
      </pc:sldChg>
      <pc:sldChg chg="modSp mod">
        <pc:chgData name="Yujan Basnet" userId="495fd8277ebfbaef" providerId="LiveId" clId="{E0016DE3-4A98-4E44-9BC4-75F60D7E8FDD}" dt="2025-06-04T01:54:01.961" v="86" actId="207"/>
        <pc:sldMkLst>
          <pc:docMk/>
          <pc:sldMk cId="4270060726" sldId="521"/>
        </pc:sldMkLst>
        <pc:spChg chg="mod">
          <ac:chgData name="Yujan Basnet" userId="495fd8277ebfbaef" providerId="LiveId" clId="{E0016DE3-4A98-4E44-9BC4-75F60D7E8FDD}" dt="2025-06-04T01:54:01.961" v="86" actId="207"/>
          <ac:spMkLst>
            <pc:docMk/>
            <pc:sldMk cId="4270060726" sldId="521"/>
            <ac:spMk id="3" creationId="{00000000-0000-0000-0000-000000000000}"/>
          </ac:spMkLst>
        </pc:spChg>
      </pc:sldChg>
      <pc:sldChg chg="modSp mod">
        <pc:chgData name="Yujan Basnet" userId="495fd8277ebfbaef" providerId="LiveId" clId="{E0016DE3-4A98-4E44-9BC4-75F60D7E8FDD}" dt="2025-06-27T14:24:06.451" v="103" actId="207"/>
        <pc:sldMkLst>
          <pc:docMk/>
          <pc:sldMk cId="849579952" sldId="523"/>
        </pc:sldMkLst>
        <pc:spChg chg="mod">
          <ac:chgData name="Yujan Basnet" userId="495fd8277ebfbaef" providerId="LiveId" clId="{E0016DE3-4A98-4E44-9BC4-75F60D7E8FDD}" dt="2025-06-27T14:24:06.451" v="103" actId="207"/>
          <ac:spMkLst>
            <pc:docMk/>
            <pc:sldMk cId="849579952" sldId="523"/>
            <ac:spMk id="3" creationId="{00000000-0000-0000-0000-000000000000}"/>
          </ac:spMkLst>
        </pc:spChg>
      </pc:sldChg>
      <pc:sldChg chg="modSp mod">
        <pc:chgData name="Yujan Basnet" userId="495fd8277ebfbaef" providerId="LiveId" clId="{E0016DE3-4A98-4E44-9BC4-75F60D7E8FDD}" dt="2025-06-04T01:55:23.506" v="93" actId="207"/>
        <pc:sldMkLst>
          <pc:docMk/>
          <pc:sldMk cId="2090333778" sldId="525"/>
        </pc:sldMkLst>
        <pc:spChg chg="mod">
          <ac:chgData name="Yujan Basnet" userId="495fd8277ebfbaef" providerId="LiveId" clId="{E0016DE3-4A98-4E44-9BC4-75F60D7E8FDD}" dt="2025-06-04T01:55:23.506" v="93" actId="207"/>
          <ac:spMkLst>
            <pc:docMk/>
            <pc:sldMk cId="2090333778" sldId="525"/>
            <ac:spMk id="3" creationId="{00000000-0000-0000-0000-000000000000}"/>
          </ac:spMkLst>
        </pc:spChg>
      </pc:sldChg>
      <pc:sldChg chg="modSp mod">
        <pc:chgData name="Yujan Basnet" userId="495fd8277ebfbaef" providerId="LiveId" clId="{E0016DE3-4A98-4E44-9BC4-75F60D7E8FDD}" dt="2025-06-04T01:55:58.771" v="96" actId="114"/>
        <pc:sldMkLst>
          <pc:docMk/>
          <pc:sldMk cId="2398435416" sldId="530"/>
        </pc:sldMkLst>
        <pc:spChg chg="mod">
          <ac:chgData name="Yujan Basnet" userId="495fd8277ebfbaef" providerId="LiveId" clId="{E0016DE3-4A98-4E44-9BC4-75F60D7E8FDD}" dt="2025-06-04T01:55:58.771" v="96" actId="114"/>
          <ac:spMkLst>
            <pc:docMk/>
            <pc:sldMk cId="2398435416" sldId="53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69</a:t>
            </a:fld>
            <a:endParaRPr lang="en-US"/>
          </a:p>
        </p:txBody>
      </p:sp>
    </p:spTree>
    <p:extLst>
      <p:ext uri="{BB962C8B-B14F-4D97-AF65-F5344CB8AC3E}">
        <p14:creationId xmlns:p14="http://schemas.microsoft.com/office/powerpoint/2010/main" val="1300330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70</a:t>
            </a:fld>
            <a:endParaRPr lang="en-US"/>
          </a:p>
        </p:txBody>
      </p:sp>
    </p:spTree>
    <p:extLst>
      <p:ext uri="{BB962C8B-B14F-4D97-AF65-F5344CB8AC3E}">
        <p14:creationId xmlns:p14="http://schemas.microsoft.com/office/powerpoint/2010/main" val="276729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71</a:t>
            </a:fld>
            <a:endParaRPr lang="en-US"/>
          </a:p>
        </p:txBody>
      </p:sp>
    </p:spTree>
    <p:extLst>
      <p:ext uri="{BB962C8B-B14F-4D97-AF65-F5344CB8AC3E}">
        <p14:creationId xmlns:p14="http://schemas.microsoft.com/office/powerpoint/2010/main" val="1227306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72</a:t>
            </a:fld>
            <a:endParaRPr lang="en-US"/>
          </a:p>
        </p:txBody>
      </p:sp>
    </p:spTree>
    <p:extLst>
      <p:ext uri="{BB962C8B-B14F-4D97-AF65-F5344CB8AC3E}">
        <p14:creationId xmlns:p14="http://schemas.microsoft.com/office/powerpoint/2010/main" val="1427967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73</a:t>
            </a:fld>
            <a:endParaRPr lang="en-US"/>
          </a:p>
        </p:txBody>
      </p:sp>
    </p:spTree>
    <p:extLst>
      <p:ext uri="{BB962C8B-B14F-4D97-AF65-F5344CB8AC3E}">
        <p14:creationId xmlns:p14="http://schemas.microsoft.com/office/powerpoint/2010/main" val="167968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74</a:t>
            </a:fld>
            <a:endParaRPr lang="en-US"/>
          </a:p>
        </p:txBody>
      </p:sp>
    </p:spTree>
    <p:extLst>
      <p:ext uri="{BB962C8B-B14F-4D97-AF65-F5344CB8AC3E}">
        <p14:creationId xmlns:p14="http://schemas.microsoft.com/office/powerpoint/2010/main" val="3011757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75</a:t>
            </a:fld>
            <a:endParaRPr lang="en-US"/>
          </a:p>
        </p:txBody>
      </p:sp>
    </p:spTree>
    <p:extLst>
      <p:ext uri="{BB962C8B-B14F-4D97-AF65-F5344CB8AC3E}">
        <p14:creationId xmlns:p14="http://schemas.microsoft.com/office/powerpoint/2010/main" val="3464227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76</a:t>
            </a:fld>
            <a:endParaRPr lang="en-US"/>
          </a:p>
        </p:txBody>
      </p:sp>
    </p:spTree>
    <p:extLst>
      <p:ext uri="{BB962C8B-B14F-4D97-AF65-F5344CB8AC3E}">
        <p14:creationId xmlns:p14="http://schemas.microsoft.com/office/powerpoint/2010/main" val="1840466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77</a:t>
            </a:fld>
            <a:endParaRPr lang="en-US"/>
          </a:p>
        </p:txBody>
      </p:sp>
    </p:spTree>
    <p:extLst>
      <p:ext uri="{BB962C8B-B14F-4D97-AF65-F5344CB8AC3E}">
        <p14:creationId xmlns:p14="http://schemas.microsoft.com/office/powerpoint/2010/main" val="24614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78</a:t>
            </a:fld>
            <a:endParaRPr lang="en-US"/>
          </a:p>
        </p:txBody>
      </p:sp>
    </p:spTree>
    <p:extLst>
      <p:ext uri="{BB962C8B-B14F-4D97-AF65-F5344CB8AC3E}">
        <p14:creationId xmlns:p14="http://schemas.microsoft.com/office/powerpoint/2010/main" val="365053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79</a:t>
            </a:fld>
            <a:endParaRPr lang="en-US"/>
          </a:p>
        </p:txBody>
      </p:sp>
    </p:spTree>
    <p:extLst>
      <p:ext uri="{BB962C8B-B14F-4D97-AF65-F5344CB8AC3E}">
        <p14:creationId xmlns:p14="http://schemas.microsoft.com/office/powerpoint/2010/main" val="408067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80</a:t>
            </a:fld>
            <a:endParaRPr lang="en-US"/>
          </a:p>
        </p:txBody>
      </p:sp>
    </p:spTree>
    <p:extLst>
      <p:ext uri="{BB962C8B-B14F-4D97-AF65-F5344CB8AC3E}">
        <p14:creationId xmlns:p14="http://schemas.microsoft.com/office/powerpoint/2010/main" val="4111960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81</a:t>
            </a:fld>
            <a:endParaRPr lang="en-US"/>
          </a:p>
        </p:txBody>
      </p:sp>
    </p:spTree>
    <p:extLst>
      <p:ext uri="{BB962C8B-B14F-4D97-AF65-F5344CB8AC3E}">
        <p14:creationId xmlns:p14="http://schemas.microsoft.com/office/powerpoint/2010/main" val="3792316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82</a:t>
            </a:fld>
            <a:endParaRPr lang="en-US"/>
          </a:p>
        </p:txBody>
      </p:sp>
    </p:spTree>
    <p:extLst>
      <p:ext uri="{BB962C8B-B14F-4D97-AF65-F5344CB8AC3E}">
        <p14:creationId xmlns:p14="http://schemas.microsoft.com/office/powerpoint/2010/main" val="85671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83</a:t>
            </a:fld>
            <a:endParaRPr lang="en-US"/>
          </a:p>
        </p:txBody>
      </p:sp>
    </p:spTree>
    <p:extLst>
      <p:ext uri="{BB962C8B-B14F-4D97-AF65-F5344CB8AC3E}">
        <p14:creationId xmlns:p14="http://schemas.microsoft.com/office/powerpoint/2010/main" val="371319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84</a:t>
            </a:fld>
            <a:endParaRPr lang="en-US"/>
          </a:p>
        </p:txBody>
      </p:sp>
    </p:spTree>
    <p:extLst>
      <p:ext uri="{BB962C8B-B14F-4D97-AF65-F5344CB8AC3E}">
        <p14:creationId xmlns:p14="http://schemas.microsoft.com/office/powerpoint/2010/main" val="3963411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85</a:t>
            </a:fld>
            <a:endParaRPr lang="en-US"/>
          </a:p>
        </p:txBody>
      </p:sp>
    </p:spTree>
    <p:extLst>
      <p:ext uri="{BB962C8B-B14F-4D97-AF65-F5344CB8AC3E}">
        <p14:creationId xmlns:p14="http://schemas.microsoft.com/office/powerpoint/2010/main" val="1458539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86</a:t>
            </a:fld>
            <a:endParaRPr lang="en-US"/>
          </a:p>
        </p:txBody>
      </p:sp>
    </p:spTree>
    <p:extLst>
      <p:ext uri="{BB962C8B-B14F-4D97-AF65-F5344CB8AC3E}">
        <p14:creationId xmlns:p14="http://schemas.microsoft.com/office/powerpoint/2010/main" val="4151223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87</a:t>
            </a:fld>
            <a:endParaRPr lang="en-US"/>
          </a:p>
        </p:txBody>
      </p:sp>
    </p:spTree>
    <p:extLst>
      <p:ext uri="{BB962C8B-B14F-4D97-AF65-F5344CB8AC3E}">
        <p14:creationId xmlns:p14="http://schemas.microsoft.com/office/powerpoint/2010/main" val="3450299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88</a:t>
            </a:fld>
            <a:endParaRPr lang="en-US"/>
          </a:p>
        </p:txBody>
      </p:sp>
    </p:spTree>
    <p:extLst>
      <p:ext uri="{BB962C8B-B14F-4D97-AF65-F5344CB8AC3E}">
        <p14:creationId xmlns:p14="http://schemas.microsoft.com/office/powerpoint/2010/main" val="1707261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89</a:t>
            </a:fld>
            <a:endParaRPr lang="en-US"/>
          </a:p>
        </p:txBody>
      </p:sp>
    </p:spTree>
    <p:extLst>
      <p:ext uri="{BB962C8B-B14F-4D97-AF65-F5344CB8AC3E}">
        <p14:creationId xmlns:p14="http://schemas.microsoft.com/office/powerpoint/2010/main" val="184804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90</a:t>
            </a:fld>
            <a:endParaRPr lang="en-US"/>
          </a:p>
        </p:txBody>
      </p:sp>
    </p:spTree>
    <p:extLst>
      <p:ext uri="{BB962C8B-B14F-4D97-AF65-F5344CB8AC3E}">
        <p14:creationId xmlns:p14="http://schemas.microsoft.com/office/powerpoint/2010/main" val="883916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91</a:t>
            </a:fld>
            <a:endParaRPr lang="en-US"/>
          </a:p>
        </p:txBody>
      </p:sp>
    </p:spTree>
    <p:extLst>
      <p:ext uri="{BB962C8B-B14F-4D97-AF65-F5344CB8AC3E}">
        <p14:creationId xmlns:p14="http://schemas.microsoft.com/office/powerpoint/2010/main" val="13746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92</a:t>
            </a:fld>
            <a:endParaRPr lang="en-US"/>
          </a:p>
        </p:txBody>
      </p:sp>
    </p:spTree>
    <p:extLst>
      <p:ext uri="{BB962C8B-B14F-4D97-AF65-F5344CB8AC3E}">
        <p14:creationId xmlns:p14="http://schemas.microsoft.com/office/powerpoint/2010/main" val="1236450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93</a:t>
            </a:fld>
            <a:endParaRPr lang="en-US"/>
          </a:p>
        </p:txBody>
      </p:sp>
    </p:spTree>
    <p:extLst>
      <p:ext uri="{BB962C8B-B14F-4D97-AF65-F5344CB8AC3E}">
        <p14:creationId xmlns:p14="http://schemas.microsoft.com/office/powerpoint/2010/main" val="567229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94</a:t>
            </a:fld>
            <a:endParaRPr lang="en-US"/>
          </a:p>
        </p:txBody>
      </p:sp>
    </p:spTree>
    <p:extLst>
      <p:ext uri="{BB962C8B-B14F-4D97-AF65-F5344CB8AC3E}">
        <p14:creationId xmlns:p14="http://schemas.microsoft.com/office/powerpoint/2010/main" val="281161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95</a:t>
            </a:fld>
            <a:endParaRPr lang="en-US"/>
          </a:p>
        </p:txBody>
      </p:sp>
    </p:spTree>
    <p:extLst>
      <p:ext uri="{BB962C8B-B14F-4D97-AF65-F5344CB8AC3E}">
        <p14:creationId xmlns:p14="http://schemas.microsoft.com/office/powerpoint/2010/main" val="66191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96</a:t>
            </a:fld>
            <a:endParaRPr lang="en-US"/>
          </a:p>
        </p:txBody>
      </p:sp>
    </p:spTree>
    <p:extLst>
      <p:ext uri="{BB962C8B-B14F-4D97-AF65-F5344CB8AC3E}">
        <p14:creationId xmlns:p14="http://schemas.microsoft.com/office/powerpoint/2010/main" val="409781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97</a:t>
            </a:fld>
            <a:endParaRPr lang="en-US"/>
          </a:p>
        </p:txBody>
      </p:sp>
    </p:spTree>
    <p:extLst>
      <p:ext uri="{BB962C8B-B14F-4D97-AF65-F5344CB8AC3E}">
        <p14:creationId xmlns:p14="http://schemas.microsoft.com/office/powerpoint/2010/main" val="1807941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98</a:t>
            </a:fld>
            <a:endParaRPr lang="en-US"/>
          </a:p>
        </p:txBody>
      </p:sp>
    </p:spTree>
    <p:extLst>
      <p:ext uri="{BB962C8B-B14F-4D97-AF65-F5344CB8AC3E}">
        <p14:creationId xmlns:p14="http://schemas.microsoft.com/office/powerpoint/2010/main" val="917551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K-Fold Cross-Validation (simplified):</a:t>
            </a:r>
          </a:p>
          <a:p>
            <a:endParaRPr lang="en-US" dirty="0"/>
          </a:p>
          <a:p>
            <a:r>
              <a:rPr lang="en-US" dirty="0"/>
              <a:t>    You split your data into k equal parts (called folds).</a:t>
            </a:r>
          </a:p>
          <a:p>
            <a:endParaRPr lang="en-US" dirty="0"/>
          </a:p>
          <a:p>
            <a:r>
              <a:rPr lang="en-US" dirty="0"/>
              <a:t>    You run the model k times:</a:t>
            </a:r>
          </a:p>
          <a:p>
            <a:endParaRPr lang="en-US" dirty="0"/>
          </a:p>
          <a:p>
            <a:r>
              <a:rPr lang="en-US" dirty="0"/>
              <a:t>        Each time, use 1 part as the test set</a:t>
            </a:r>
          </a:p>
          <a:p>
            <a:endParaRPr lang="en-US" dirty="0"/>
          </a:p>
          <a:p>
            <a:r>
              <a:rPr lang="en-US" dirty="0"/>
              <a:t>        Use the other k-1 parts for training + validation</a:t>
            </a:r>
          </a:p>
          <a:p>
            <a:endParaRPr lang="en-US" dirty="0"/>
          </a:p>
          <a:p>
            <a:r>
              <a:rPr lang="en-US" dirty="0"/>
              <a:t>    You do this so that each part gets to be the test set once.</a:t>
            </a:r>
          </a:p>
          <a:p>
            <a:endParaRPr lang="en-US" dirty="0"/>
          </a:p>
          <a:p>
            <a:r>
              <a:rPr lang="en-US" dirty="0"/>
              <a:t>    Then, you average the results from all k runs.</a:t>
            </a:r>
          </a:p>
        </p:txBody>
      </p:sp>
      <p:sp>
        <p:nvSpPr>
          <p:cNvPr id="4" name="Slide Number Placeholder 3"/>
          <p:cNvSpPr>
            <a:spLocks noGrp="1"/>
          </p:cNvSpPr>
          <p:nvPr>
            <p:ph type="sldNum" sz="quarter" idx="10"/>
          </p:nvPr>
        </p:nvSpPr>
        <p:spPr/>
        <p:txBody>
          <a:bodyPr/>
          <a:lstStyle/>
          <a:p>
            <a:fld id="{4BDCAABD-430D-4558-B9E1-99DC9A11099F}" type="slidenum">
              <a:rPr lang="en-US" smtClean="0"/>
              <a:pPr/>
              <a:t>99</a:t>
            </a:fld>
            <a:endParaRPr lang="en-US"/>
          </a:p>
        </p:txBody>
      </p:sp>
    </p:spTree>
    <p:extLst>
      <p:ext uri="{BB962C8B-B14F-4D97-AF65-F5344CB8AC3E}">
        <p14:creationId xmlns:p14="http://schemas.microsoft.com/office/powerpoint/2010/main" val="1362077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100</a:t>
            </a:fld>
            <a:endParaRPr lang="en-US"/>
          </a:p>
        </p:txBody>
      </p:sp>
    </p:spTree>
    <p:extLst>
      <p:ext uri="{BB962C8B-B14F-4D97-AF65-F5344CB8AC3E}">
        <p14:creationId xmlns:p14="http://schemas.microsoft.com/office/powerpoint/2010/main" val="3920358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101</a:t>
            </a:fld>
            <a:endParaRPr lang="en-US"/>
          </a:p>
        </p:txBody>
      </p:sp>
    </p:spTree>
    <p:extLst>
      <p:ext uri="{BB962C8B-B14F-4D97-AF65-F5344CB8AC3E}">
        <p14:creationId xmlns:p14="http://schemas.microsoft.com/office/powerpoint/2010/main" val="2350296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102</a:t>
            </a:fld>
            <a:endParaRPr lang="en-US"/>
          </a:p>
        </p:txBody>
      </p:sp>
    </p:spTree>
    <p:extLst>
      <p:ext uri="{BB962C8B-B14F-4D97-AF65-F5344CB8AC3E}">
        <p14:creationId xmlns:p14="http://schemas.microsoft.com/office/powerpoint/2010/main" val="35330867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103</a:t>
            </a:fld>
            <a:endParaRPr lang="en-US"/>
          </a:p>
        </p:txBody>
      </p:sp>
    </p:spTree>
    <p:extLst>
      <p:ext uri="{BB962C8B-B14F-4D97-AF65-F5344CB8AC3E}">
        <p14:creationId xmlns:p14="http://schemas.microsoft.com/office/powerpoint/2010/main" val="5452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104</a:t>
            </a:fld>
            <a:endParaRPr lang="en-US"/>
          </a:p>
        </p:txBody>
      </p:sp>
    </p:spTree>
    <p:extLst>
      <p:ext uri="{BB962C8B-B14F-4D97-AF65-F5344CB8AC3E}">
        <p14:creationId xmlns:p14="http://schemas.microsoft.com/office/powerpoint/2010/main" val="29940911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105</a:t>
            </a:fld>
            <a:endParaRPr lang="en-US"/>
          </a:p>
        </p:txBody>
      </p:sp>
    </p:spTree>
    <p:extLst>
      <p:ext uri="{BB962C8B-B14F-4D97-AF65-F5344CB8AC3E}">
        <p14:creationId xmlns:p14="http://schemas.microsoft.com/office/powerpoint/2010/main" val="3197233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106</a:t>
            </a:fld>
            <a:endParaRPr lang="en-US"/>
          </a:p>
        </p:txBody>
      </p:sp>
    </p:spTree>
    <p:extLst>
      <p:ext uri="{BB962C8B-B14F-4D97-AF65-F5344CB8AC3E}">
        <p14:creationId xmlns:p14="http://schemas.microsoft.com/office/powerpoint/2010/main" val="4221046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107</a:t>
            </a:fld>
            <a:endParaRPr lang="en-US"/>
          </a:p>
        </p:txBody>
      </p:sp>
    </p:spTree>
    <p:extLst>
      <p:ext uri="{BB962C8B-B14F-4D97-AF65-F5344CB8AC3E}">
        <p14:creationId xmlns:p14="http://schemas.microsoft.com/office/powerpoint/2010/main" val="667213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108</a:t>
            </a:fld>
            <a:endParaRPr lang="en-US"/>
          </a:p>
        </p:txBody>
      </p:sp>
    </p:spTree>
    <p:extLst>
      <p:ext uri="{BB962C8B-B14F-4D97-AF65-F5344CB8AC3E}">
        <p14:creationId xmlns:p14="http://schemas.microsoft.com/office/powerpoint/2010/main" val="1082801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109</a:t>
            </a:fld>
            <a:endParaRPr lang="en-US"/>
          </a:p>
        </p:txBody>
      </p:sp>
    </p:spTree>
    <p:extLst>
      <p:ext uri="{BB962C8B-B14F-4D97-AF65-F5344CB8AC3E}">
        <p14:creationId xmlns:p14="http://schemas.microsoft.com/office/powerpoint/2010/main" val="2971789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110</a:t>
            </a:fld>
            <a:endParaRPr lang="en-US"/>
          </a:p>
        </p:txBody>
      </p:sp>
    </p:spTree>
    <p:extLst>
      <p:ext uri="{BB962C8B-B14F-4D97-AF65-F5344CB8AC3E}">
        <p14:creationId xmlns:p14="http://schemas.microsoft.com/office/powerpoint/2010/main" val="4293122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111</a:t>
            </a:fld>
            <a:endParaRPr lang="en-US"/>
          </a:p>
        </p:txBody>
      </p:sp>
    </p:spTree>
    <p:extLst>
      <p:ext uri="{BB962C8B-B14F-4D97-AF65-F5344CB8AC3E}">
        <p14:creationId xmlns:p14="http://schemas.microsoft.com/office/powerpoint/2010/main" val="2649681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112</a:t>
            </a:fld>
            <a:endParaRPr lang="en-US"/>
          </a:p>
        </p:txBody>
      </p:sp>
    </p:spTree>
    <p:extLst>
      <p:ext uri="{BB962C8B-B14F-4D97-AF65-F5344CB8AC3E}">
        <p14:creationId xmlns:p14="http://schemas.microsoft.com/office/powerpoint/2010/main" val="1320965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113</a:t>
            </a:fld>
            <a:endParaRPr lang="en-US"/>
          </a:p>
        </p:txBody>
      </p:sp>
    </p:spTree>
    <p:extLst>
      <p:ext uri="{BB962C8B-B14F-4D97-AF65-F5344CB8AC3E}">
        <p14:creationId xmlns:p14="http://schemas.microsoft.com/office/powerpoint/2010/main" val="452060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114</a:t>
            </a:fld>
            <a:endParaRPr lang="en-US"/>
          </a:p>
        </p:txBody>
      </p:sp>
    </p:spTree>
    <p:extLst>
      <p:ext uri="{BB962C8B-B14F-4D97-AF65-F5344CB8AC3E}">
        <p14:creationId xmlns:p14="http://schemas.microsoft.com/office/powerpoint/2010/main" val="15261273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115</a:t>
            </a:fld>
            <a:endParaRPr lang="en-US"/>
          </a:p>
        </p:txBody>
      </p:sp>
    </p:spTree>
    <p:extLst>
      <p:ext uri="{BB962C8B-B14F-4D97-AF65-F5344CB8AC3E}">
        <p14:creationId xmlns:p14="http://schemas.microsoft.com/office/powerpoint/2010/main" val="15663840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116</a:t>
            </a:fld>
            <a:endParaRPr lang="en-US"/>
          </a:p>
        </p:txBody>
      </p:sp>
    </p:spTree>
    <p:extLst>
      <p:ext uri="{BB962C8B-B14F-4D97-AF65-F5344CB8AC3E}">
        <p14:creationId xmlns:p14="http://schemas.microsoft.com/office/powerpoint/2010/main" val="27995233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117</a:t>
            </a:fld>
            <a:endParaRPr lang="en-US"/>
          </a:p>
        </p:txBody>
      </p:sp>
    </p:spTree>
    <p:extLst>
      <p:ext uri="{BB962C8B-B14F-4D97-AF65-F5344CB8AC3E}">
        <p14:creationId xmlns:p14="http://schemas.microsoft.com/office/powerpoint/2010/main" val="11160555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118</a:t>
            </a:fld>
            <a:endParaRPr lang="en-US"/>
          </a:p>
        </p:txBody>
      </p:sp>
    </p:spTree>
    <p:extLst>
      <p:ext uri="{BB962C8B-B14F-4D97-AF65-F5344CB8AC3E}">
        <p14:creationId xmlns:p14="http://schemas.microsoft.com/office/powerpoint/2010/main" val="39046472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119</a:t>
            </a:fld>
            <a:endParaRPr lang="en-US"/>
          </a:p>
        </p:txBody>
      </p:sp>
    </p:spTree>
    <p:extLst>
      <p:ext uri="{BB962C8B-B14F-4D97-AF65-F5344CB8AC3E}">
        <p14:creationId xmlns:p14="http://schemas.microsoft.com/office/powerpoint/2010/main" val="2090527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120</a:t>
            </a:fld>
            <a:endParaRPr lang="en-US"/>
          </a:p>
        </p:txBody>
      </p:sp>
    </p:spTree>
    <p:extLst>
      <p:ext uri="{BB962C8B-B14F-4D97-AF65-F5344CB8AC3E}">
        <p14:creationId xmlns:p14="http://schemas.microsoft.com/office/powerpoint/2010/main" val="13824902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121</a:t>
            </a:fld>
            <a:endParaRPr lang="en-US"/>
          </a:p>
        </p:txBody>
      </p:sp>
    </p:spTree>
    <p:extLst>
      <p:ext uri="{BB962C8B-B14F-4D97-AF65-F5344CB8AC3E}">
        <p14:creationId xmlns:p14="http://schemas.microsoft.com/office/powerpoint/2010/main" val="16626339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122</a:t>
            </a:fld>
            <a:endParaRPr lang="en-US"/>
          </a:p>
        </p:txBody>
      </p:sp>
    </p:spTree>
    <p:extLst>
      <p:ext uri="{BB962C8B-B14F-4D97-AF65-F5344CB8AC3E}">
        <p14:creationId xmlns:p14="http://schemas.microsoft.com/office/powerpoint/2010/main" val="42567478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123</a:t>
            </a:fld>
            <a:endParaRPr lang="en-US"/>
          </a:p>
        </p:txBody>
      </p:sp>
    </p:spTree>
    <p:extLst>
      <p:ext uri="{BB962C8B-B14F-4D97-AF65-F5344CB8AC3E}">
        <p14:creationId xmlns:p14="http://schemas.microsoft.com/office/powerpoint/2010/main" val="3418489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124</a:t>
            </a:fld>
            <a:endParaRPr lang="en-US"/>
          </a:p>
        </p:txBody>
      </p:sp>
    </p:spTree>
    <p:extLst>
      <p:ext uri="{BB962C8B-B14F-4D97-AF65-F5344CB8AC3E}">
        <p14:creationId xmlns:p14="http://schemas.microsoft.com/office/powerpoint/2010/main" val="1157344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125</a:t>
            </a:fld>
            <a:endParaRPr lang="en-US"/>
          </a:p>
        </p:txBody>
      </p:sp>
    </p:spTree>
    <p:extLst>
      <p:ext uri="{BB962C8B-B14F-4D97-AF65-F5344CB8AC3E}">
        <p14:creationId xmlns:p14="http://schemas.microsoft.com/office/powerpoint/2010/main" val="5498021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126</a:t>
            </a:fld>
            <a:endParaRPr lang="en-US"/>
          </a:p>
        </p:txBody>
      </p:sp>
    </p:spTree>
    <p:extLst>
      <p:ext uri="{BB962C8B-B14F-4D97-AF65-F5344CB8AC3E}">
        <p14:creationId xmlns:p14="http://schemas.microsoft.com/office/powerpoint/2010/main" val="33712903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127</a:t>
            </a:fld>
            <a:endParaRPr lang="en-US"/>
          </a:p>
        </p:txBody>
      </p:sp>
    </p:spTree>
    <p:extLst>
      <p:ext uri="{BB962C8B-B14F-4D97-AF65-F5344CB8AC3E}">
        <p14:creationId xmlns:p14="http://schemas.microsoft.com/office/powerpoint/2010/main" val="23418502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128</a:t>
            </a:fld>
            <a:endParaRPr lang="en-US"/>
          </a:p>
        </p:txBody>
      </p:sp>
    </p:spTree>
    <p:extLst>
      <p:ext uri="{BB962C8B-B14F-4D97-AF65-F5344CB8AC3E}">
        <p14:creationId xmlns:p14="http://schemas.microsoft.com/office/powerpoint/2010/main" val="23420462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129</a:t>
            </a:fld>
            <a:endParaRPr lang="en-US"/>
          </a:p>
        </p:txBody>
      </p:sp>
    </p:spTree>
    <p:extLst>
      <p:ext uri="{BB962C8B-B14F-4D97-AF65-F5344CB8AC3E}">
        <p14:creationId xmlns:p14="http://schemas.microsoft.com/office/powerpoint/2010/main" val="3136304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130</a:t>
            </a:fld>
            <a:endParaRPr lang="en-US"/>
          </a:p>
        </p:txBody>
      </p:sp>
    </p:spTree>
    <p:extLst>
      <p:ext uri="{BB962C8B-B14F-4D97-AF65-F5344CB8AC3E}">
        <p14:creationId xmlns:p14="http://schemas.microsoft.com/office/powerpoint/2010/main" val="6497725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131</a:t>
            </a:fld>
            <a:endParaRPr lang="en-US"/>
          </a:p>
        </p:txBody>
      </p:sp>
    </p:spTree>
    <p:extLst>
      <p:ext uri="{BB962C8B-B14F-4D97-AF65-F5344CB8AC3E}">
        <p14:creationId xmlns:p14="http://schemas.microsoft.com/office/powerpoint/2010/main" val="36057022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132</a:t>
            </a:fld>
            <a:endParaRPr lang="en-US"/>
          </a:p>
        </p:txBody>
      </p:sp>
    </p:spTree>
    <p:extLst>
      <p:ext uri="{BB962C8B-B14F-4D97-AF65-F5344CB8AC3E}">
        <p14:creationId xmlns:p14="http://schemas.microsoft.com/office/powerpoint/2010/main" val="18673842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133</a:t>
            </a:fld>
            <a:endParaRPr lang="en-US"/>
          </a:p>
        </p:txBody>
      </p:sp>
    </p:spTree>
    <p:extLst>
      <p:ext uri="{BB962C8B-B14F-4D97-AF65-F5344CB8AC3E}">
        <p14:creationId xmlns:p14="http://schemas.microsoft.com/office/powerpoint/2010/main" val="427829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42C7D-C7C6-4ADC-959B-7708E2D9A399}" type="datetime1">
              <a:rPr lang="en-US" smtClean="0"/>
              <a:pPr/>
              <a:t>6/27/2025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E2C38-8235-4A85-B4BD-B2733CA66D8F}" type="datetime1">
              <a:rPr lang="en-US" smtClean="0"/>
              <a:pPr/>
              <a:t>6/27/2025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6/27/2025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F8BAC7-7920-4D52-8A22-C495D3DE8F93}" type="datetime1">
              <a:rPr lang="en-US" smtClean="0"/>
              <a:pPr/>
              <a:t>6/27/2025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0657E-AC86-4CA7-8EAC-CEFFEBF52E09}" type="datetime1">
              <a:rPr lang="en-US" smtClean="0"/>
              <a:pPr/>
              <a:t>6/27/2025</a:t>
            </a:fld>
            <a:endParaRPr lang="en-US"/>
          </a:p>
        </p:txBody>
      </p:sp>
      <p:sp>
        <p:nvSpPr>
          <p:cNvPr id="8" name="Footer Placeholder 7"/>
          <p:cNvSpPr>
            <a:spLocks noGrp="1"/>
          </p:cNvSpPr>
          <p:nvPr>
            <p:ph type="ftr" sz="quarter" idx="11"/>
          </p:nvPr>
        </p:nvSpPr>
        <p:spPr/>
        <p:txBody>
          <a:bodyPr/>
          <a:lstStyle/>
          <a:p>
            <a:r>
              <a:rPr lang="en-US"/>
              <a:t>ANN-CSIT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3C837-F5A1-4C7F-9BC7-F94A5C85704E}" type="datetime1">
              <a:rPr lang="en-US" smtClean="0"/>
              <a:pPr/>
              <a:t>6/27/2025</a:t>
            </a:fld>
            <a:endParaRPr lang="en-US"/>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6/27/2025</a:t>
            </a:fld>
            <a:endParaRPr lang="en-US"/>
          </a:p>
        </p:txBody>
      </p:sp>
      <p:sp>
        <p:nvSpPr>
          <p:cNvPr id="3" name="Footer Placeholder 2"/>
          <p:cNvSpPr>
            <a:spLocks noGrp="1"/>
          </p:cNvSpPr>
          <p:nvPr>
            <p:ph type="ftr" sz="quarter" idx="11"/>
          </p:nvPr>
        </p:nvSpPr>
        <p:spPr/>
        <p:txBody>
          <a:bodyPr/>
          <a:lstStyle/>
          <a:p>
            <a:r>
              <a:rPr lang="en-US"/>
              <a:t>ANN-CSIT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6/27/2025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6/27/2025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DCBEB8-E9BD-4146-99BB-BB11BA00A63B}" type="datetime1">
              <a:rPr lang="en-US" smtClean="0"/>
              <a:pPr/>
              <a:t>6/27/2025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7ADF4-6FE3-4336-877C-9BB191A83E50}" type="datetime1">
              <a:rPr lang="en-US" smtClean="0"/>
              <a:pPr/>
              <a:t>6/27/2025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6/27/2025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 Id="rId9" Type="http://schemas.openxmlformats.org/officeDocument/2006/relationships/image" Target="../media/image15.wmf"/></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oleObject" Target="../embeddings/oleObject20.bin"/></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0.wmf"/></Relationships>
</file>

<file path=ppt/slides/_rels/slide4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26.bin"/></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2.bin"/><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9.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7.wmf"/></Relationships>
</file>

<file path=ppt/slides/_rels/slide51.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oleObject" Target="../embeddings/oleObject35.bin"/><Relationship Id="rId5" Type="http://schemas.openxmlformats.org/officeDocument/2006/relationships/image" Target="../media/image41.wmf"/><Relationship Id="rId4" Type="http://schemas.openxmlformats.org/officeDocument/2006/relationships/oleObject" Target="../embeddings/oleObject34.bin"/></Relationships>
</file>

<file path=ppt/slides/_rels/slide5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36.bin"/><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37.bin"/></Relationships>
</file>

<file path=ppt/slides/_rels/slide53.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38.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9.bin"/><Relationship Id="rId1" Type="http://schemas.openxmlformats.org/officeDocument/2006/relationships/slideLayout" Target="../slideLayouts/slideLayout2.xml"/><Relationship Id="rId5" Type="http://schemas.openxmlformats.org/officeDocument/2006/relationships/image" Target="../media/image47.wmf"/><Relationship Id="rId4" Type="http://schemas.openxmlformats.org/officeDocument/2006/relationships/oleObject" Target="../embeddings/oleObject40.bin"/></Relationships>
</file>

<file path=ppt/slides/_rels/slide55.x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3.bin"/><Relationship Id="rId5" Type="http://schemas.openxmlformats.org/officeDocument/2006/relationships/image" Target="../media/image49.wmf"/><Relationship Id="rId4" Type="http://schemas.openxmlformats.org/officeDocument/2006/relationships/oleObject" Target="../embeddings/oleObject42.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44.bin"/><Relationship Id="rId1" Type="http://schemas.openxmlformats.org/officeDocument/2006/relationships/slideLayout" Target="../slideLayouts/slideLayout2.xml"/><Relationship Id="rId6" Type="http://schemas.openxmlformats.org/officeDocument/2006/relationships/oleObject" Target="../embeddings/oleObject46.bin"/><Relationship Id="rId5" Type="http://schemas.openxmlformats.org/officeDocument/2006/relationships/image" Target="../media/image52.wmf"/><Relationship Id="rId4" Type="http://schemas.openxmlformats.org/officeDocument/2006/relationships/oleObject" Target="../embeddings/oleObject45.bin"/><Relationship Id="rId9" Type="http://schemas.openxmlformats.org/officeDocument/2006/relationships/image" Target="../media/image54.wmf"/></Relationships>
</file>

<file path=ppt/slides/_rels/slide57.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49.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8.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61.wmf"/></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4.wmf"/></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6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0.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4.w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5.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6.w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8.wmf"/><Relationship Id="rId5" Type="http://schemas.openxmlformats.org/officeDocument/2006/relationships/oleObject" Target="../embeddings/oleObject62.bin"/><Relationship Id="rId4" Type="http://schemas.openxmlformats.org/officeDocument/2006/relationships/image" Target="../media/image77.w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0.wmf"/><Relationship Id="rId5" Type="http://schemas.openxmlformats.org/officeDocument/2006/relationships/oleObject" Target="../embeddings/oleObject64.bin"/><Relationship Id="rId4" Type="http://schemas.openxmlformats.org/officeDocument/2006/relationships/image" Target="../media/image79.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2.wmf"/><Relationship Id="rId5" Type="http://schemas.openxmlformats.org/officeDocument/2006/relationships/oleObject" Target="../embeddings/oleObject66.bin"/><Relationship Id="rId4" Type="http://schemas.openxmlformats.org/officeDocument/2006/relationships/image" Target="../media/image81.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7.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8.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9.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0.wmf"/></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wmf"/></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01.png"/><Relationship Id="rId4" Type="http://schemas.openxmlformats.org/officeDocument/2006/relationships/image" Target="../media/image97.wmf"/></Relationships>
</file>

<file path=ppt/slides/_rels/slide1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03.wmf"/></Relationships>
</file>

<file path=ppt/slides/_rels/slide13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a:latin typeface="Book Antiqua" pitchFamily="18" charset="0"/>
            </a:endParaRPr>
          </a:p>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-3</a:t>
            </a:r>
          </a:p>
          <a:p>
            <a:pPr algn="ctr">
              <a:buNone/>
            </a:pPr>
            <a:r>
              <a:rPr lang="en-US" sz="4200" b="1" u="sng" dirty="0">
                <a:latin typeface="Book Antiqua" pitchFamily="18" charset="0"/>
              </a:rPr>
              <a:t>Feedforward Neural Networks</a:t>
            </a:r>
          </a:p>
          <a:p>
            <a:pPr algn="ctr">
              <a:buNone/>
            </a:pPr>
            <a:r>
              <a:rPr lang="en-US" sz="3000" b="1" dirty="0">
                <a:latin typeface="Book Antiqua" pitchFamily="18" charset="0"/>
              </a:rPr>
              <a:t>By: </a:t>
            </a:r>
            <a:r>
              <a:rPr lang="en-US" sz="3000" b="1" dirty="0" err="1">
                <a:latin typeface="Book Antiqua" pitchFamily="18" charset="0"/>
              </a:rPr>
              <a:t>Arjun</a:t>
            </a:r>
            <a:r>
              <a:rPr lang="en-US" sz="3000" b="1" dirty="0">
                <a:latin typeface="Book Antiqua" pitchFamily="18" charset="0"/>
              </a:rPr>
              <a:t> Saud, Asst. Prof. CDCSIT,TU	</a:t>
            </a:r>
            <a:r>
              <a:rPr lang="en-US" sz="3500" dirty="0">
                <a:latin typeface="Book Antiqua" pitchFamily="18" charset="0"/>
              </a:rPr>
              <a:t>	</a:t>
            </a:r>
            <a:r>
              <a:rPr lang="en-US" sz="4200" b="1" dirty="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dirty="0"/>
              <a:t>ANN-CSIT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800" dirty="0">
                <a:latin typeface="Book Antiqua" panose="02040602050305030304" pitchFamily="18" charset="0"/>
              </a:rPr>
              <a:t>The perceptron is the simplest form of a neural network used for the </a:t>
            </a:r>
            <a:r>
              <a:rPr lang="en-US" sz="2800" i="1" dirty="0">
                <a:solidFill>
                  <a:srgbClr val="00B050"/>
                </a:solidFill>
                <a:latin typeface="Book Antiqua" panose="02040602050305030304" pitchFamily="18" charset="0"/>
              </a:rPr>
              <a:t>classifying linearly separable patterns</a:t>
            </a:r>
            <a:r>
              <a:rPr lang="en-US" sz="2800" dirty="0">
                <a:latin typeface="Book Antiqua" panose="02040602050305030304" pitchFamily="18" charset="0"/>
              </a:rPr>
              <a:t>. Patterns that lie on opposite sides of a hyperplane are called linearly separable patterns. </a:t>
            </a:r>
          </a:p>
          <a:p>
            <a:pPr algn="just"/>
            <a:r>
              <a:rPr lang="en-US" sz="2800" dirty="0">
                <a:latin typeface="Book Antiqua" panose="02040602050305030304" pitchFamily="18" charset="0"/>
              </a:rPr>
              <a:t>Basically, perceptron consists of a </a:t>
            </a:r>
            <a:r>
              <a:rPr lang="en-US" sz="2800" i="1" dirty="0">
                <a:solidFill>
                  <a:srgbClr val="00B050"/>
                </a:solidFill>
                <a:latin typeface="Book Antiqua" panose="02040602050305030304" pitchFamily="18" charset="0"/>
              </a:rPr>
              <a:t>single neuron with adjustable synaptic weights and bias</a:t>
            </a:r>
            <a:r>
              <a:rPr lang="en-US" sz="2800" dirty="0">
                <a:latin typeface="Book Antiqua" panose="02040602050305030304" pitchFamily="18" charset="0"/>
              </a:rPr>
              <a:t>. The algorithm used to adjust the free parameters of this neural network first appeared in a learning procedure developed by Rosenblatt (1958, 1962).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fontScale="92500"/>
          </a:bodyPr>
          <a:lstStyle/>
          <a:p>
            <a:pPr algn="just"/>
            <a:r>
              <a:rPr lang="en-US" sz="2800" dirty="0">
                <a:latin typeface="Book Antiqua" panose="02040602050305030304" pitchFamily="18" charset="0"/>
              </a:rPr>
              <a:t>Rosenblatt proved that if the data used to train the perceptron are drawn from two linearly separable classes, then the perceptron algorithm converges and positions the decision surface in the form of a hyperplane between the two classes. </a:t>
            </a:r>
          </a:p>
          <a:p>
            <a:pPr algn="just"/>
            <a:r>
              <a:rPr lang="en-US" sz="2800" dirty="0">
                <a:latin typeface="Book Antiqua" panose="02040602050305030304" pitchFamily="18" charset="0"/>
              </a:rPr>
              <a:t>The perceptron built around a </a:t>
            </a:r>
            <a:r>
              <a:rPr lang="en-US" sz="2800" i="1" dirty="0">
                <a:solidFill>
                  <a:srgbClr val="00B050"/>
                </a:solidFill>
                <a:latin typeface="Book Antiqua" panose="02040602050305030304" pitchFamily="18" charset="0"/>
              </a:rPr>
              <a:t>single neuron </a:t>
            </a:r>
            <a:r>
              <a:rPr lang="en-US" sz="2800" dirty="0">
                <a:latin typeface="Book Antiqua" panose="02040602050305030304" pitchFamily="18" charset="0"/>
              </a:rPr>
              <a:t>is limited to performing </a:t>
            </a:r>
            <a:r>
              <a:rPr lang="en-US" sz="2800" dirty="0">
                <a:solidFill>
                  <a:srgbClr val="00B050"/>
                </a:solidFill>
                <a:latin typeface="Book Antiqua" panose="02040602050305030304" pitchFamily="18" charset="0"/>
              </a:rPr>
              <a:t>pattern classification with only two classes.</a:t>
            </a:r>
            <a:r>
              <a:rPr lang="en-US" sz="2800" dirty="0">
                <a:latin typeface="Book Antiqua" panose="02040602050305030304" pitchFamily="18" charset="0"/>
              </a:rPr>
              <a:t> By expanding the output layer of the perceptron to include more than one neuron, we may correspondingly perform classification with more than two classes. However, the classes have to be </a:t>
            </a:r>
            <a:r>
              <a:rPr lang="en-US" sz="2800" i="1" dirty="0">
                <a:solidFill>
                  <a:srgbClr val="00B050"/>
                </a:solidFill>
                <a:latin typeface="Book Antiqua" panose="02040602050305030304" pitchFamily="18" charset="0"/>
              </a:rPr>
              <a:t>linearly separable for the perceptron to work properly.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68223848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solidFill>
                  <a:srgbClr val="00B050"/>
                </a:solidFill>
                <a:latin typeface="Book Antiqua" panose="02040602050305030304" pitchFamily="18" charset="0"/>
              </a:rPr>
              <a:t>Rosenblatt’s perceptron is built around the </a:t>
            </a:r>
            <a:r>
              <a:rPr lang="en-US" sz="2800" i="1" dirty="0">
                <a:solidFill>
                  <a:srgbClr val="00B050"/>
                </a:solidFill>
                <a:latin typeface="Book Antiqua" panose="02040602050305030304" pitchFamily="18" charset="0"/>
              </a:rPr>
              <a:t>McCulloch–Pitts model </a:t>
            </a:r>
            <a:r>
              <a:rPr lang="en-US" sz="2800" dirty="0">
                <a:solidFill>
                  <a:srgbClr val="00B050"/>
                </a:solidFill>
                <a:latin typeface="Book Antiqua" panose="02040602050305030304" pitchFamily="18" charset="0"/>
              </a:rPr>
              <a:t>of a neuron</a:t>
            </a:r>
            <a:r>
              <a:rPr lang="en-US" sz="2800" dirty="0">
                <a:latin typeface="Book Antiqua" panose="02040602050305030304" pitchFamily="18" charset="0"/>
              </a:rPr>
              <a:t>.</a:t>
            </a:r>
          </a:p>
          <a:p>
            <a:pPr algn="just"/>
            <a:r>
              <a:rPr lang="en-US" sz="2800" dirty="0">
                <a:latin typeface="Book Antiqua" panose="02040602050305030304" pitchFamily="18" charset="0"/>
              </a:rPr>
              <a:t>The summing node of the neural model computes a linear combination of the input. The resulting sum is applied to a hard limit activation function. </a:t>
            </a:r>
          </a:p>
          <a:p>
            <a:pPr algn="just"/>
            <a:r>
              <a:rPr lang="en-US" sz="2800" dirty="0">
                <a:latin typeface="Book Antiqua" panose="02040602050305030304" pitchFamily="18" charset="0"/>
              </a:rPr>
              <a:t>The neuron produces an </a:t>
            </a:r>
            <a:r>
              <a:rPr lang="en-US" sz="2800" dirty="0">
                <a:solidFill>
                  <a:srgbClr val="00B050"/>
                </a:solidFill>
                <a:latin typeface="Book Antiqua" panose="02040602050305030304" pitchFamily="18" charset="0"/>
              </a:rPr>
              <a:t>output equal to 1 </a:t>
            </a:r>
            <a:r>
              <a:rPr lang="en-US" sz="2800" dirty="0">
                <a:latin typeface="Book Antiqua" panose="02040602050305030304" pitchFamily="18" charset="0"/>
              </a:rPr>
              <a:t>if the hard limiter input is </a:t>
            </a:r>
            <a:r>
              <a:rPr lang="en-US" sz="2800" b="1" dirty="0">
                <a:solidFill>
                  <a:srgbClr val="00B050"/>
                </a:solidFill>
                <a:latin typeface="Book Antiqua" panose="02040602050305030304" pitchFamily="18" charset="0"/>
              </a:rPr>
              <a:t>positive</a:t>
            </a:r>
            <a:r>
              <a:rPr lang="en-US" sz="2800" dirty="0">
                <a:latin typeface="Book Antiqua" panose="02040602050305030304" pitchFamily="18" charset="0"/>
              </a:rPr>
              <a:t>, and </a:t>
            </a:r>
            <a:r>
              <a:rPr lang="en-US" sz="2800" dirty="0">
                <a:solidFill>
                  <a:srgbClr val="00B050"/>
                </a:solidFill>
                <a:latin typeface="Book Antiqua" panose="02040602050305030304" pitchFamily="18" charset="0"/>
              </a:rPr>
              <a:t>-1</a:t>
            </a:r>
            <a:r>
              <a:rPr lang="en-US" sz="2800" dirty="0">
                <a:latin typeface="Book Antiqua" panose="02040602050305030304" pitchFamily="18" charset="0"/>
              </a:rPr>
              <a:t> if it is </a:t>
            </a:r>
            <a:r>
              <a:rPr lang="en-US" sz="2800" b="1" dirty="0">
                <a:solidFill>
                  <a:srgbClr val="00B050"/>
                </a:solidFill>
                <a:latin typeface="Book Antiqua" panose="02040602050305030304" pitchFamily="18" charset="0"/>
              </a:rPr>
              <a:t>negative</a:t>
            </a:r>
            <a:r>
              <a:rPr lang="en-US" sz="2800" dirty="0">
                <a:latin typeface="Book Antiqua" panose="02040602050305030304"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990390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r>
              <a:rPr lang="en-US" sz="2800" dirty="0">
                <a:latin typeface="Book Antiqua" pitchFamily="18" charset="0"/>
              </a:rPr>
              <a:t>The hard limiter input of the neuron is computed as below.</a:t>
            </a:r>
          </a:p>
          <a:p>
            <a:pPr marL="0" indent="0"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2438400" y="1714085"/>
            <a:ext cx="4766415" cy="2283163"/>
          </a:xfrm>
          <a:prstGeom prst="rect">
            <a:avLst/>
          </a:prstGeom>
        </p:spPr>
      </p:pic>
      <p:pic>
        <p:nvPicPr>
          <p:cNvPr id="6" name="Picture 5"/>
          <p:cNvPicPr>
            <a:picLocks noChangeAspect="1"/>
          </p:cNvPicPr>
          <p:nvPr/>
        </p:nvPicPr>
        <p:blipFill>
          <a:blip r:embed="rId3"/>
          <a:stretch>
            <a:fillRect/>
          </a:stretch>
        </p:blipFill>
        <p:spPr>
          <a:xfrm>
            <a:off x="1562896" y="4985051"/>
            <a:ext cx="1834780" cy="577549"/>
          </a:xfrm>
          <a:prstGeom prst="rect">
            <a:avLst/>
          </a:prstGeom>
        </p:spPr>
      </p:pic>
      <p:sp>
        <p:nvSpPr>
          <p:cNvPr id="14" name="Slide Number Placeholder 13"/>
          <p:cNvSpPr>
            <a:spLocks noGrp="1"/>
          </p:cNvSpPr>
          <p:nvPr>
            <p:ph type="sldNum" sz="quarter" idx="12"/>
          </p:nvPr>
        </p:nvSpPr>
        <p:spPr/>
        <p:txBody>
          <a:bodyPr/>
          <a:lstStyle/>
          <a:p>
            <a:fld id="{3F22444B-AD59-459C-8316-D24326876BE4}" type="slidenum">
              <a:rPr lang="en-US" smtClean="0"/>
              <a:pPr/>
              <a:t>5</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96376483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The goal of the perceptron is to correctly </a:t>
            </a:r>
            <a:r>
              <a:rPr lang="en-US" sz="2800" b="1" dirty="0">
                <a:solidFill>
                  <a:srgbClr val="00B050"/>
                </a:solidFill>
                <a:latin typeface="Book Antiqua" panose="02040602050305030304" pitchFamily="18" charset="0"/>
              </a:rPr>
              <a:t>classify</a:t>
            </a:r>
            <a:r>
              <a:rPr lang="en-US" sz="2800" dirty="0">
                <a:latin typeface="Book Antiqua" panose="02040602050305030304" pitchFamily="18" charset="0"/>
              </a:rPr>
              <a:t> the set of externally applied stimuli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into one of </a:t>
            </a:r>
            <a:r>
              <a:rPr lang="en-US" sz="2800" i="1" dirty="0">
                <a:solidFill>
                  <a:srgbClr val="00B050"/>
                </a:solidFill>
                <a:latin typeface="Book Antiqua" panose="02040602050305030304" pitchFamily="18" charset="0"/>
              </a:rPr>
              <a:t>two classes,c1 or c2</a:t>
            </a:r>
            <a:r>
              <a:rPr lang="en-US" sz="2800" dirty="0">
                <a:latin typeface="Book Antiqua" panose="02040602050305030304" pitchFamily="18" charset="0"/>
              </a:rPr>
              <a:t>.The decision rule for the classification is to assign the point represented by the inputs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to class c1 if the perceptron output </a:t>
            </a:r>
            <a:r>
              <a:rPr lang="en-US" sz="2800" i="1" dirty="0">
                <a:latin typeface="Book Antiqua" panose="02040602050305030304" pitchFamily="18" charset="0"/>
              </a:rPr>
              <a:t>y </a:t>
            </a:r>
            <a:r>
              <a:rPr lang="en-US" sz="2800" dirty="0">
                <a:latin typeface="Book Antiqua" panose="02040602050305030304" pitchFamily="18" charset="0"/>
              </a:rPr>
              <a:t>is </a:t>
            </a:r>
            <a:r>
              <a:rPr lang="en-US" sz="2800" b="1" dirty="0">
                <a:solidFill>
                  <a:srgbClr val="00B050"/>
                </a:solidFill>
                <a:latin typeface="Book Antiqua" panose="02040602050305030304" pitchFamily="18" charset="0"/>
              </a:rPr>
              <a:t>+1</a:t>
            </a:r>
            <a:r>
              <a:rPr lang="en-US" sz="2800" dirty="0">
                <a:latin typeface="Book Antiqua" panose="02040602050305030304" pitchFamily="18" charset="0"/>
              </a:rPr>
              <a:t> and to class c2 if it is </a:t>
            </a:r>
            <a:r>
              <a:rPr lang="en-US" sz="2800" b="1" dirty="0">
                <a:solidFill>
                  <a:srgbClr val="00B050"/>
                </a:solidFill>
                <a:latin typeface="Book Antiqua" panose="02040602050305030304" pitchFamily="18" charset="0"/>
              </a:rPr>
              <a:t>-1.</a:t>
            </a:r>
          </a:p>
          <a:p>
            <a:pPr algn="just"/>
            <a:r>
              <a:rPr lang="en-US" sz="2800" dirty="0">
                <a:latin typeface="Book Antiqua" panose="02040602050305030304" pitchFamily="18" charset="0"/>
              </a:rPr>
              <a:t>In the simplest form of the perceptron, there are two decision regions </a:t>
            </a:r>
            <a:r>
              <a:rPr lang="en-US" sz="2800" b="1" dirty="0">
                <a:solidFill>
                  <a:srgbClr val="00B050"/>
                </a:solidFill>
                <a:latin typeface="Book Antiqua" panose="02040602050305030304" pitchFamily="18" charset="0"/>
              </a:rPr>
              <a:t>separated</a:t>
            </a:r>
            <a:r>
              <a:rPr lang="en-US" sz="2800" dirty="0">
                <a:latin typeface="Book Antiqua" panose="02040602050305030304" pitchFamily="18" charset="0"/>
              </a:rPr>
              <a:t> by a </a:t>
            </a:r>
            <a:r>
              <a:rPr lang="en-US" sz="2800" i="1" dirty="0">
                <a:latin typeface="Book Antiqua" panose="02040602050305030304" pitchFamily="18" charset="0"/>
              </a:rPr>
              <a:t>hyperplane</a:t>
            </a:r>
            <a:r>
              <a:rPr lang="en-US" sz="2800" dirty="0">
                <a:latin typeface="Book Antiqua" panose="02040602050305030304" pitchFamily="18" charset="0"/>
              </a:rPr>
              <a:t>, which is defined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75456280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pic>
        <p:nvPicPr>
          <p:cNvPr id="4" name="Content Placeholder 3"/>
          <p:cNvPicPr>
            <a:picLocks noGrp="1" noChangeAspect="1"/>
          </p:cNvPicPr>
          <p:nvPr>
            <p:ph idx="1"/>
          </p:nvPr>
        </p:nvPicPr>
        <p:blipFill>
          <a:blip r:embed="rId2"/>
          <a:stretch>
            <a:fillRect/>
          </a:stretch>
        </p:blipFill>
        <p:spPr>
          <a:xfrm>
            <a:off x="1966266" y="1613711"/>
            <a:ext cx="4586934" cy="4068514"/>
          </a:xfrm>
          <a:prstGeom prst="rect">
            <a:avLst/>
          </a:prstGeom>
        </p:spPr>
      </p:pic>
      <p:sp>
        <p:nvSpPr>
          <p:cNvPr id="9" name="Rectangle 6"/>
          <p:cNvSpPr>
            <a:spLocks noChangeArrowheads="1"/>
          </p:cNvSpPr>
          <p:nvPr/>
        </p:nvSpPr>
        <p:spPr bwMode="auto">
          <a:xfrm>
            <a:off x="5220922" y="36479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613086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Perceptron can be trained to show behavior of </a:t>
            </a:r>
            <a:r>
              <a:rPr lang="en-US" sz="2800" dirty="0">
                <a:solidFill>
                  <a:srgbClr val="00B050"/>
                </a:solidFill>
                <a:latin typeface="Book Antiqua" panose="02040602050305030304" pitchFamily="18" charset="0"/>
              </a:rPr>
              <a:t>AND function and OR function </a:t>
            </a:r>
            <a:r>
              <a:rPr lang="en-US" sz="2800" dirty="0">
                <a:latin typeface="Book Antiqua" panose="02040602050305030304" pitchFamily="18" charset="0"/>
              </a:rPr>
              <a:t>because both are linearly separable. But, perceptron can not be trained to learn behavior of </a:t>
            </a:r>
            <a:r>
              <a:rPr lang="en-US" sz="2800" dirty="0">
                <a:solidFill>
                  <a:srgbClr val="FF0000"/>
                </a:solidFill>
                <a:latin typeface="Book Antiqua" panose="02040602050305030304" pitchFamily="18" charset="0"/>
              </a:rPr>
              <a:t>XOR function </a:t>
            </a:r>
            <a:r>
              <a:rPr lang="en-US" sz="2800" dirty="0">
                <a:latin typeface="Book Antiqua" panose="02040602050305030304" pitchFamily="18" charset="0"/>
              </a:rPr>
              <a:t>because it is </a:t>
            </a:r>
            <a:r>
              <a:rPr lang="en-US" sz="2800" dirty="0">
                <a:solidFill>
                  <a:srgbClr val="FF0000"/>
                </a:solidFill>
                <a:latin typeface="Book Antiqua" panose="02040602050305030304" pitchFamily="18" charset="0"/>
              </a:rPr>
              <a:t>not linearly separable</a:t>
            </a:r>
            <a:r>
              <a:rPr lang="en-US" sz="2800" dirty="0">
                <a:latin typeface="Book Antiqua" panose="02040602050305030304"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1" name="Group 10"/>
          <p:cNvGrpSpPr/>
          <p:nvPr/>
        </p:nvGrpSpPr>
        <p:grpSpPr>
          <a:xfrm>
            <a:off x="330994" y="3607832"/>
            <a:ext cx="2590800" cy="2362200"/>
            <a:chOff x="762000" y="1524000"/>
            <a:chExt cx="2590800" cy="2362200"/>
          </a:xfrm>
        </p:grpSpPr>
        <p:sp>
          <p:nvSpPr>
            <p:cNvPr id="14" name="Line 3"/>
            <p:cNvSpPr>
              <a:spLocks noChangeShapeType="1"/>
            </p:cNvSpPr>
            <p:nvPr/>
          </p:nvSpPr>
          <p:spPr bwMode="auto">
            <a:xfrm>
              <a:off x="1676400" y="1676400"/>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4"/>
            <p:cNvSpPr>
              <a:spLocks noChangeShapeType="1"/>
            </p:cNvSpPr>
            <p:nvPr/>
          </p:nvSpPr>
          <p:spPr bwMode="auto">
            <a:xfrm flipH="1">
              <a:off x="762000" y="3048000"/>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Text Box 5"/>
            <p:cNvSpPr txBox="1">
              <a:spLocks noChangeArrowheads="1"/>
            </p:cNvSpPr>
            <p:nvPr/>
          </p:nvSpPr>
          <p:spPr bwMode="auto">
            <a:xfrm>
              <a:off x="2895600" y="25146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8" name="Text Box 6"/>
            <p:cNvSpPr txBox="1">
              <a:spLocks noChangeArrowheads="1"/>
            </p:cNvSpPr>
            <p:nvPr/>
          </p:nvSpPr>
          <p:spPr bwMode="auto">
            <a:xfrm>
              <a:off x="1752600" y="15240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19" name="Line 7"/>
            <p:cNvSpPr>
              <a:spLocks noChangeShapeType="1"/>
            </p:cNvSpPr>
            <p:nvPr/>
          </p:nvSpPr>
          <p:spPr bwMode="auto">
            <a:xfrm>
              <a:off x="1295400" y="16764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Oval 8"/>
            <p:cNvSpPr>
              <a:spLocks noChangeArrowheads="1"/>
            </p:cNvSpPr>
            <p:nvPr/>
          </p:nvSpPr>
          <p:spPr bwMode="auto">
            <a:xfrm>
              <a:off x="2286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1</a:t>
              </a:r>
            </a:p>
          </p:txBody>
        </p:sp>
        <p:sp>
          <p:nvSpPr>
            <p:cNvPr id="21" name="Oval 9"/>
            <p:cNvSpPr>
              <a:spLocks noChangeArrowheads="1"/>
            </p:cNvSpPr>
            <p:nvPr/>
          </p:nvSpPr>
          <p:spPr bwMode="auto">
            <a:xfrm>
              <a:off x="1524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2" name="Oval 10"/>
            <p:cNvSpPr>
              <a:spLocks noChangeArrowheads="1"/>
            </p:cNvSpPr>
            <p:nvPr/>
          </p:nvSpPr>
          <p:spPr bwMode="auto">
            <a:xfrm>
              <a:off x="1524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3" name="Oval 11"/>
            <p:cNvSpPr>
              <a:spLocks noChangeArrowheads="1"/>
            </p:cNvSpPr>
            <p:nvPr/>
          </p:nvSpPr>
          <p:spPr bwMode="auto">
            <a:xfrm>
              <a:off x="2286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grpSp>
      <p:grpSp>
        <p:nvGrpSpPr>
          <p:cNvPr id="4" name="Group 3"/>
          <p:cNvGrpSpPr/>
          <p:nvPr/>
        </p:nvGrpSpPr>
        <p:grpSpPr>
          <a:xfrm>
            <a:off x="3112691" y="3560802"/>
            <a:ext cx="2579688" cy="2362200"/>
            <a:chOff x="4991100" y="3502672"/>
            <a:chExt cx="2579688" cy="2362200"/>
          </a:xfrm>
        </p:grpSpPr>
        <p:sp>
          <p:nvSpPr>
            <p:cNvPr id="25" name="Line 3"/>
            <p:cNvSpPr>
              <a:spLocks noChangeShapeType="1"/>
            </p:cNvSpPr>
            <p:nvPr/>
          </p:nvSpPr>
          <p:spPr bwMode="auto">
            <a:xfrm>
              <a:off x="5905500" y="365507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4"/>
            <p:cNvSpPr>
              <a:spLocks noChangeShapeType="1"/>
            </p:cNvSpPr>
            <p:nvPr/>
          </p:nvSpPr>
          <p:spPr bwMode="auto">
            <a:xfrm flipH="1">
              <a:off x="4991100" y="502667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Text Box 5"/>
            <p:cNvSpPr txBox="1">
              <a:spLocks noChangeArrowheads="1"/>
            </p:cNvSpPr>
            <p:nvPr/>
          </p:nvSpPr>
          <p:spPr bwMode="auto">
            <a:xfrm>
              <a:off x="7124700" y="44932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28" name="Text Box 6"/>
            <p:cNvSpPr txBox="1">
              <a:spLocks noChangeArrowheads="1"/>
            </p:cNvSpPr>
            <p:nvPr/>
          </p:nvSpPr>
          <p:spPr bwMode="auto">
            <a:xfrm>
              <a:off x="5981700" y="35026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29" name="Line 7"/>
            <p:cNvSpPr>
              <a:spLocks noChangeShapeType="1"/>
            </p:cNvSpPr>
            <p:nvPr/>
          </p:nvSpPr>
          <p:spPr bwMode="auto">
            <a:xfrm>
              <a:off x="5181600" y="3974153"/>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Oval 8"/>
            <p:cNvSpPr>
              <a:spLocks noChangeArrowheads="1"/>
            </p:cNvSpPr>
            <p:nvPr/>
          </p:nvSpPr>
          <p:spPr bwMode="auto">
            <a:xfrm>
              <a:off x="6515100" y="413132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1" name="Oval 9"/>
            <p:cNvSpPr>
              <a:spLocks noChangeArrowheads="1"/>
            </p:cNvSpPr>
            <p:nvPr/>
          </p:nvSpPr>
          <p:spPr bwMode="auto">
            <a:xfrm>
              <a:off x="5753100" y="40741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2" name="Oval 10"/>
            <p:cNvSpPr>
              <a:spLocks noChangeArrowheads="1"/>
            </p:cNvSpPr>
            <p:nvPr/>
          </p:nvSpPr>
          <p:spPr bwMode="auto">
            <a:xfrm>
              <a:off x="5753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33" name="Oval 11"/>
            <p:cNvSpPr>
              <a:spLocks noChangeArrowheads="1"/>
            </p:cNvSpPr>
            <p:nvPr/>
          </p:nvSpPr>
          <p:spPr bwMode="auto">
            <a:xfrm>
              <a:off x="6515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grpSp>
      <p:sp>
        <p:nvSpPr>
          <p:cNvPr id="6" name="TextBox 5"/>
          <p:cNvSpPr txBox="1"/>
          <p:nvPr/>
        </p:nvSpPr>
        <p:spPr>
          <a:xfrm>
            <a:off x="441034" y="5970032"/>
            <a:ext cx="2207208" cy="369332"/>
          </a:xfrm>
          <a:prstGeom prst="rect">
            <a:avLst/>
          </a:prstGeom>
          <a:noFill/>
        </p:spPr>
        <p:txBody>
          <a:bodyPr wrap="square" rtlCol="0">
            <a:spAutoFit/>
          </a:bodyPr>
          <a:lstStyle/>
          <a:p>
            <a:r>
              <a:rPr lang="en-US" b="1" dirty="0">
                <a:latin typeface="Book Antiqua" panose="02040602050305030304" pitchFamily="18" charset="0"/>
              </a:rPr>
              <a:t>Fig: AND Function</a:t>
            </a:r>
          </a:p>
        </p:txBody>
      </p:sp>
      <p:sp>
        <p:nvSpPr>
          <p:cNvPr id="34" name="TextBox 33"/>
          <p:cNvSpPr txBox="1"/>
          <p:nvPr/>
        </p:nvSpPr>
        <p:spPr>
          <a:xfrm>
            <a:off x="3460313" y="6123288"/>
            <a:ext cx="2207208" cy="369332"/>
          </a:xfrm>
          <a:prstGeom prst="rect">
            <a:avLst/>
          </a:prstGeom>
          <a:noFill/>
        </p:spPr>
        <p:txBody>
          <a:bodyPr wrap="square" rtlCol="0">
            <a:spAutoFit/>
          </a:bodyPr>
          <a:lstStyle/>
          <a:p>
            <a:r>
              <a:rPr lang="en-US" b="1" dirty="0">
                <a:latin typeface="Book Antiqua" panose="02040602050305030304" pitchFamily="18" charset="0"/>
              </a:rPr>
              <a:t>Fig: OR Function</a:t>
            </a:r>
          </a:p>
        </p:txBody>
      </p:sp>
      <p:sp>
        <p:nvSpPr>
          <p:cNvPr id="36" name="Line 3"/>
          <p:cNvSpPr>
            <a:spLocks noChangeShapeType="1"/>
          </p:cNvSpPr>
          <p:nvPr/>
        </p:nvSpPr>
        <p:spPr bwMode="auto">
          <a:xfrm>
            <a:off x="67329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4"/>
          <p:cNvSpPr>
            <a:spLocks noChangeShapeType="1"/>
          </p:cNvSpPr>
          <p:nvPr/>
        </p:nvSpPr>
        <p:spPr bwMode="auto">
          <a:xfrm flipH="1">
            <a:off x="58185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Text Box 5"/>
          <p:cNvSpPr txBox="1">
            <a:spLocks noChangeArrowheads="1"/>
          </p:cNvSpPr>
          <p:nvPr/>
        </p:nvSpPr>
        <p:spPr bwMode="auto">
          <a:xfrm>
            <a:off x="79521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39" name="Text Box 6"/>
          <p:cNvSpPr txBox="1">
            <a:spLocks noChangeArrowheads="1"/>
          </p:cNvSpPr>
          <p:nvPr/>
        </p:nvSpPr>
        <p:spPr bwMode="auto">
          <a:xfrm>
            <a:off x="6809185" y="35608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41" name="Oval 8"/>
          <p:cNvSpPr>
            <a:spLocks noChangeArrowheads="1"/>
          </p:cNvSpPr>
          <p:nvPr/>
        </p:nvSpPr>
        <p:spPr bwMode="auto">
          <a:xfrm>
            <a:off x="7342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42" name="Oval 9"/>
          <p:cNvSpPr>
            <a:spLocks noChangeArrowheads="1"/>
          </p:cNvSpPr>
          <p:nvPr/>
        </p:nvSpPr>
        <p:spPr bwMode="auto">
          <a:xfrm>
            <a:off x="6580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43" name="Oval 10"/>
          <p:cNvSpPr>
            <a:spLocks noChangeArrowheads="1"/>
          </p:cNvSpPr>
          <p:nvPr/>
        </p:nvSpPr>
        <p:spPr bwMode="auto">
          <a:xfrm>
            <a:off x="6580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44" name="Oval 11"/>
          <p:cNvSpPr>
            <a:spLocks noChangeArrowheads="1"/>
          </p:cNvSpPr>
          <p:nvPr/>
        </p:nvSpPr>
        <p:spPr bwMode="auto">
          <a:xfrm>
            <a:off x="7342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55" name="TextBox 54"/>
          <p:cNvSpPr txBox="1"/>
          <p:nvPr/>
        </p:nvSpPr>
        <p:spPr>
          <a:xfrm>
            <a:off x="6238981" y="6089175"/>
            <a:ext cx="2207208" cy="369332"/>
          </a:xfrm>
          <a:prstGeom prst="rect">
            <a:avLst/>
          </a:prstGeom>
          <a:noFill/>
        </p:spPr>
        <p:txBody>
          <a:bodyPr wrap="square" rtlCol="0">
            <a:spAutoFit/>
          </a:bodyPr>
          <a:lstStyle/>
          <a:p>
            <a:r>
              <a:rPr lang="en-US" b="1" dirty="0">
                <a:latin typeface="Book Antiqua" panose="02040602050305030304" pitchFamily="18" charset="0"/>
              </a:rPr>
              <a:t>Fig: XOR Function</a:t>
            </a:r>
          </a:p>
        </p:txBody>
      </p:sp>
      <p:sp>
        <p:nvSpPr>
          <p:cNvPr id="45" name="Slide Number Placeholder 44"/>
          <p:cNvSpPr>
            <a:spLocks noGrp="1"/>
          </p:cNvSpPr>
          <p:nvPr>
            <p:ph type="sldNum" sz="quarter" idx="12"/>
          </p:nvPr>
        </p:nvSpPr>
        <p:spPr/>
        <p:txBody>
          <a:bodyPr/>
          <a:lstStyle/>
          <a:p>
            <a:fld id="{3F22444B-AD59-459C-8316-D24326876BE4}" type="slidenum">
              <a:rPr lang="en-US" smtClean="0"/>
              <a:pPr/>
              <a:t>8</a:t>
            </a:fld>
            <a:endParaRPr lang="en-US"/>
          </a:p>
        </p:txBody>
      </p:sp>
      <p:sp>
        <p:nvSpPr>
          <p:cNvPr id="46" name="Footer Placeholder 4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66032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Perceptron Convergence Theorem</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anose="02040602050305030304" pitchFamily="18" charset="0"/>
              </a:rPr>
              <a:t>The Perceptron convergence theorem states that “</a:t>
            </a:r>
            <a:r>
              <a:rPr lang="en-US" sz="2800" i="1" dirty="0">
                <a:latin typeface="Book Antiqua" panose="02040602050305030304" pitchFamily="18" charset="0"/>
              </a:rPr>
              <a:t>for any </a:t>
            </a:r>
            <a:r>
              <a:rPr lang="en-US" sz="2800" i="1" dirty="0">
                <a:solidFill>
                  <a:schemeClr val="accent6">
                    <a:lumMod val="75000"/>
                  </a:schemeClr>
                </a:solidFill>
                <a:latin typeface="Book Antiqua" panose="02040602050305030304" pitchFamily="18" charset="0"/>
              </a:rPr>
              <a:t>data set </a:t>
            </a:r>
            <a:r>
              <a:rPr lang="en-US" sz="2800" i="1" dirty="0">
                <a:latin typeface="Book Antiqua" panose="02040602050305030304" pitchFamily="18" charset="0"/>
              </a:rPr>
              <a:t>which is </a:t>
            </a:r>
            <a:r>
              <a:rPr lang="en-US" sz="2800" i="1" dirty="0">
                <a:solidFill>
                  <a:schemeClr val="accent6">
                    <a:lumMod val="75000"/>
                  </a:schemeClr>
                </a:solidFill>
                <a:latin typeface="Book Antiqua" panose="02040602050305030304" pitchFamily="18" charset="0"/>
              </a:rPr>
              <a:t>linearly separable </a:t>
            </a:r>
            <a:r>
              <a:rPr lang="en-US" sz="2800" i="1" dirty="0">
                <a:latin typeface="Book Antiqua" panose="02040602050305030304" pitchFamily="18" charset="0"/>
              </a:rPr>
              <a:t>the Perceptron learning rule is guaranteed to find a </a:t>
            </a:r>
            <a:r>
              <a:rPr lang="en-US" sz="2800" i="1" dirty="0">
                <a:solidFill>
                  <a:schemeClr val="accent6">
                    <a:lumMod val="75000"/>
                  </a:schemeClr>
                </a:solidFill>
                <a:latin typeface="Book Antiqua" panose="02040602050305030304" pitchFamily="18" charset="0"/>
              </a:rPr>
              <a:t>solution</a:t>
            </a:r>
            <a:r>
              <a:rPr lang="en-US" sz="2800" i="1" dirty="0">
                <a:latin typeface="Book Antiqua" panose="02040602050305030304" pitchFamily="18" charset="0"/>
              </a:rPr>
              <a:t> in a </a:t>
            </a:r>
            <a:r>
              <a:rPr lang="en-US" sz="2800" i="1" dirty="0">
                <a:solidFill>
                  <a:schemeClr val="accent6">
                    <a:lumMod val="75000"/>
                  </a:schemeClr>
                </a:solidFill>
                <a:latin typeface="Book Antiqua" panose="02040602050305030304" pitchFamily="18" charset="0"/>
              </a:rPr>
              <a:t>finite number of steps</a:t>
            </a:r>
            <a:r>
              <a:rPr lang="en-US" sz="2800" i="1" dirty="0">
                <a:latin typeface="Book Antiqua" panose="02040602050305030304" pitchFamily="18" charset="0"/>
              </a:rPr>
              <a:t>, provided that </a:t>
            </a:r>
            <a:r>
              <a:rPr lang="en-US" sz="2800" i="1" dirty="0">
                <a:solidFill>
                  <a:schemeClr val="accent6">
                    <a:lumMod val="75000"/>
                  </a:schemeClr>
                </a:solidFill>
                <a:latin typeface="Book Antiqua" panose="02040602050305030304" pitchFamily="18" charset="0"/>
              </a:rPr>
              <a:t>learning rate is small</a:t>
            </a:r>
            <a:r>
              <a:rPr lang="en-US" sz="2800" dirty="0">
                <a:latin typeface="Book Antiqua" panose="02040602050305030304" pitchFamily="18" charset="0"/>
              </a:rPr>
              <a:t>.”</a:t>
            </a:r>
          </a:p>
          <a:p>
            <a:pPr algn="just"/>
            <a:r>
              <a:rPr lang="en-US" sz="2800" dirty="0">
                <a:latin typeface="Book Antiqua" panose="02040602050305030304" pitchFamily="18" charset="0"/>
              </a:rPr>
              <a:t>Perceptron learning rule is guaranteed to converge to a weight vector that correctly classifies the examples provided the training examples are linearly separable.</a:t>
            </a:r>
          </a:p>
          <a:p>
            <a:pPr algn="just"/>
            <a:r>
              <a:rPr lang="en-US" sz="2800" dirty="0">
                <a:latin typeface="Book Antiqua" panose="02040602050305030304" pitchFamily="18" charset="0"/>
              </a:rPr>
              <a:t>Verification of this convergence theorem is provided in the example of perceptron learning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023" name="Picture 79"/>
          <p:cNvPicPr>
            <a:picLocks noChangeAspect="1" noChangeArrowheads="1"/>
          </p:cNvPicPr>
          <p:nvPr/>
        </p:nvPicPr>
        <p:blipFill>
          <a:blip r:embed="rId2"/>
          <a:srcRect/>
          <a:stretch>
            <a:fillRect/>
          </a:stretch>
        </p:blipFill>
        <p:spPr bwMode="auto">
          <a:xfrm>
            <a:off x="1981200" y="2133600"/>
            <a:ext cx="5181600" cy="2518024"/>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We can derive error correction rule for perceptron. Model of perceptron is given below, </a:t>
            </a: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r>
              <a:rPr lang="en-US" sz="2800" dirty="0">
                <a:latin typeface="Book Antiqua" pitchFamily="18" charset="0"/>
              </a:rPr>
              <a:t>For this model, we can write</a:t>
            </a:r>
          </a:p>
          <a:p>
            <a:pPr algn="just"/>
            <a:endParaRPr lang="en-US" sz="2800" dirty="0">
              <a:latin typeface="Book Antiqua" pitchFamily="18" charset="0"/>
            </a:endParaRPr>
          </a:p>
          <a:p>
            <a:pPr algn="just"/>
            <a:r>
              <a:rPr lang="en-US" sz="2800" dirty="0">
                <a:latin typeface="Book Antiqua" pitchFamily="18" charset="0"/>
              </a:rPr>
              <a:t>Let </a:t>
            </a:r>
            <a:r>
              <a:rPr lang="en-US" sz="2800" i="1" dirty="0">
                <a:latin typeface="Book Antiqua" pitchFamily="18" charset="0"/>
              </a:rPr>
              <a:t>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i="1" dirty="0">
                <a:latin typeface="Book Antiqua" pitchFamily="18" charset="0"/>
              </a:rPr>
              <a:t> x</a:t>
            </a:r>
            <a:r>
              <a:rPr lang="en-US" sz="2800" baseline="-25000" dirty="0">
                <a:latin typeface="Book Antiqua" pitchFamily="18" charset="0"/>
              </a:rPr>
              <a:t>1,</a:t>
            </a:r>
            <a:r>
              <a:rPr lang="en-US" sz="2800" i="1" dirty="0">
                <a:latin typeface="Book Antiqua" pitchFamily="18" charset="0"/>
              </a:rPr>
              <a:t> x</a:t>
            </a:r>
            <a:r>
              <a:rPr lang="en-US" sz="2800" baseline="-25000" dirty="0">
                <a:latin typeface="Book Antiqua" pitchFamily="18" charset="0"/>
              </a:rPr>
              <a:t>2,……….</a:t>
            </a:r>
            <a:r>
              <a:rPr lang="en-US" sz="2800" i="1" dirty="0">
                <a:latin typeface="Book Antiqua" pitchFamily="18" charset="0"/>
              </a:rPr>
              <a:t> </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i="1" dirty="0">
                <a:latin typeface="Book Antiqua" pitchFamily="18" charset="0"/>
              </a:rPr>
              <a:t> w</a:t>
            </a:r>
            <a:r>
              <a:rPr lang="en-US" sz="2800" baseline="-25000" dirty="0">
                <a:latin typeface="Book Antiqua" pitchFamily="18" charset="0"/>
              </a:rPr>
              <a:t>1,……….</a:t>
            </a:r>
            <a:r>
              <a:rPr lang="en-US" sz="2800" i="1" dirty="0">
                <a:latin typeface="Book Antiqua" pitchFamily="18" charset="0"/>
              </a:rPr>
              <a:t> w</a:t>
            </a:r>
            <a:r>
              <a:rPr lang="en-US" sz="2800" baseline="-25000" dirty="0">
                <a:latin typeface="Book Antiqua" pitchFamily="18" charset="0"/>
              </a:rPr>
              <a:t>m</a:t>
            </a:r>
            <a:r>
              <a:rPr lang="en-US" sz="28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024" name="Object 80"/>
          <p:cNvGraphicFramePr>
            <a:graphicFrameLocks noChangeAspect="1"/>
          </p:cNvGraphicFramePr>
          <p:nvPr/>
        </p:nvGraphicFramePr>
        <p:xfrm>
          <a:off x="1600200" y="4724400"/>
          <a:ext cx="1449388" cy="898525"/>
        </p:xfrm>
        <a:graphic>
          <a:graphicData uri="http://schemas.openxmlformats.org/presentationml/2006/ole">
            <mc:AlternateContent xmlns:mc="http://schemas.openxmlformats.org/markup-compatibility/2006">
              <mc:Choice xmlns:v="urn:schemas-microsoft-com:vml" Requires="v">
                <p:oleObj name="Equation" r:id="rId3" imgW="698400" imgH="431640" progId="Equation.3">
                  <p:embed/>
                </p:oleObj>
              </mc:Choice>
              <mc:Fallback>
                <p:oleObj name="Equation" r:id="rId3" imgW="698400" imgH="431640" progId="Equation.3">
                  <p:embed/>
                  <p:pic>
                    <p:nvPicPr>
                      <p:cNvPr id="83024" name="Object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724400"/>
                        <a:ext cx="1449388"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10</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itchFamily="18" charset="0"/>
              </a:rPr>
              <a:t>Now, above equation can be written as:</a:t>
            </a:r>
          </a:p>
          <a:p>
            <a:pPr algn="just"/>
            <a:endParaRPr lang="en-US" sz="2800" dirty="0">
              <a:latin typeface="Book Antiqua" pitchFamily="18" charset="0"/>
            </a:endParaRPr>
          </a:p>
          <a:p>
            <a:pPr algn="just"/>
            <a:r>
              <a:rPr lang="en-US" sz="2800" dirty="0">
                <a:latin typeface="Book Antiqua" pitchFamily="18" charset="0"/>
              </a:rPr>
              <a:t>Let us consider for n</a:t>
            </a:r>
            <a:r>
              <a:rPr lang="en-US" sz="2800" baseline="30000" dirty="0">
                <a:latin typeface="Book Antiqua" pitchFamily="18" charset="0"/>
              </a:rPr>
              <a:t>th</a:t>
            </a:r>
            <a:r>
              <a:rPr lang="en-US" sz="2800" dirty="0">
                <a:latin typeface="Book Antiqua" pitchFamily="18" charset="0"/>
              </a:rPr>
              <a:t> step input vector and weight vector is:</a:t>
            </a:r>
          </a:p>
          <a:p>
            <a:pPr algn="just">
              <a:buNone/>
            </a:pPr>
            <a:r>
              <a:rPr lang="en-US" sz="2800" i="1" dirty="0">
                <a:latin typeface="Book Antiqua" pitchFamily="18" charset="0"/>
              </a:rPr>
              <a:t>	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x</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(n)]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m</a:t>
            </a:r>
            <a:r>
              <a:rPr lang="en-US" sz="2800" dirty="0">
                <a:latin typeface="Book Antiqua" pitchFamily="18" charset="0"/>
              </a:rPr>
              <a:t>(n)]</a:t>
            </a:r>
          </a:p>
          <a:p>
            <a:pPr algn="just"/>
            <a:r>
              <a:rPr lang="en-US" sz="2800" dirty="0">
                <a:latin typeface="Book Antiqua" pitchFamily="18" charset="0"/>
              </a:rPr>
              <a:t>Now, for n</a:t>
            </a:r>
            <a:r>
              <a:rPr lang="en-US" sz="2800" baseline="30000" dirty="0">
                <a:latin typeface="Book Antiqua" pitchFamily="18" charset="0"/>
              </a:rPr>
              <a:t>th</a:t>
            </a:r>
            <a:r>
              <a:rPr lang="en-US" sz="2800" dirty="0">
                <a:latin typeface="Book Antiqua" pitchFamily="18" charset="0"/>
              </a:rPr>
              <a:t> step, above equation becomes</a:t>
            </a:r>
          </a:p>
          <a:p>
            <a:pPr algn="just"/>
            <a:endParaRPr lang="en-US" sz="2800" dirty="0">
              <a:latin typeface="Book Antiqua" pitchFamily="18" charset="0"/>
            </a:endParaRPr>
          </a:p>
          <a:p>
            <a:pPr algn="just"/>
            <a:r>
              <a:rPr lang="en-US" sz="2800" dirty="0">
                <a:latin typeface="Book Antiqua" pitchFamily="18" charset="0"/>
              </a:rPr>
              <a:t>Suppose and C</a:t>
            </a:r>
            <a:r>
              <a:rPr lang="en-US" sz="2800" baseline="-25000" dirty="0">
                <a:latin typeface="Book Antiqua" pitchFamily="18" charset="0"/>
              </a:rPr>
              <a:t>1</a:t>
            </a:r>
            <a:r>
              <a:rPr lang="en-US" sz="2800" dirty="0">
                <a:latin typeface="Book Antiqua" pitchFamily="18" charset="0"/>
              </a:rPr>
              <a:t> and C</a:t>
            </a:r>
            <a:r>
              <a:rPr lang="en-US" sz="2800" baseline="-25000" dirty="0">
                <a:latin typeface="Book Antiqua" pitchFamily="18" charset="0"/>
              </a:rPr>
              <a:t>2</a:t>
            </a:r>
            <a:r>
              <a:rPr lang="en-US" sz="2800" dirty="0">
                <a:latin typeface="Book Antiqua" pitchFamily="18" charset="0"/>
              </a:rPr>
              <a:t> are two classes for which perceptron needs to be trained. So, training set must include sufficient examples from both classes.</a:t>
            </a:r>
          </a:p>
          <a:p>
            <a:pPr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619" name="Object 3"/>
          <p:cNvGraphicFramePr>
            <a:graphicFrameLocks noChangeAspect="1"/>
          </p:cNvGraphicFramePr>
          <p:nvPr/>
        </p:nvGraphicFramePr>
        <p:xfrm>
          <a:off x="1752600" y="1905000"/>
          <a:ext cx="1081088"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11161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05000"/>
                        <a:ext cx="1081088"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620" name="Object 4"/>
          <p:cNvGraphicFramePr>
            <a:graphicFrameLocks noChangeAspect="1"/>
          </p:cNvGraphicFramePr>
          <p:nvPr/>
        </p:nvGraphicFramePr>
        <p:xfrm>
          <a:off x="1143000" y="4114800"/>
          <a:ext cx="1871662" cy="474663"/>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1116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114800"/>
                        <a:ext cx="187166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11</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447800"/>
            <a:ext cx="8229600" cy="5029200"/>
          </a:xfrm>
        </p:spPr>
        <p:txBody>
          <a:bodyPr>
            <a:normAutofit/>
          </a:bodyPr>
          <a:lstStyle/>
          <a:p>
            <a:pPr algn="just"/>
            <a:r>
              <a:rPr lang="en-US" sz="2800" dirty="0">
                <a:latin typeface="Book Antiqua" pitchFamily="18" charset="0"/>
              </a:rPr>
              <a:t>Let H</a:t>
            </a:r>
            <a:r>
              <a:rPr lang="en-US" sz="2800" baseline="-25000" dirty="0">
                <a:latin typeface="Book Antiqua" pitchFamily="18" charset="0"/>
              </a:rPr>
              <a:t>1</a:t>
            </a:r>
            <a:r>
              <a:rPr lang="en-US" sz="2800" dirty="0">
                <a:latin typeface="Book Antiqua" pitchFamily="18" charset="0"/>
              </a:rPr>
              <a:t> and H</a:t>
            </a:r>
            <a:r>
              <a:rPr lang="en-US" sz="2800" baseline="-25000" dirty="0">
                <a:latin typeface="Book Antiqua" pitchFamily="18" charset="0"/>
              </a:rPr>
              <a:t>2</a:t>
            </a:r>
            <a:r>
              <a:rPr lang="en-US" sz="2800" dirty="0">
                <a:latin typeface="Book Antiqua" pitchFamily="18" charset="0"/>
              </a:rPr>
              <a:t> are set of training examples such that </a:t>
            </a:r>
            <a:r>
              <a:rPr lang="en-US" sz="2800" dirty="0">
                <a:solidFill>
                  <a:schemeClr val="accent6">
                    <a:lumMod val="75000"/>
                  </a:schemeClr>
                </a:solidFill>
                <a:latin typeface="Book Antiqua" pitchFamily="18" charset="0"/>
              </a:rPr>
              <a:t>H</a:t>
            </a:r>
            <a:r>
              <a:rPr lang="en-US" sz="2800" baseline="-25000" dirty="0">
                <a:solidFill>
                  <a:schemeClr val="accent6">
                    <a:lumMod val="75000"/>
                  </a:schemeClr>
                </a:solidFill>
                <a:latin typeface="Book Antiqua" pitchFamily="18" charset="0"/>
              </a:rPr>
              <a:t>1</a:t>
            </a:r>
            <a:r>
              <a:rPr lang="en-US" sz="2800" dirty="0">
                <a:solidFill>
                  <a:schemeClr val="accent6">
                    <a:lumMod val="75000"/>
                  </a:schemeClr>
                </a:solidFill>
                <a:latin typeface="Book Antiqua" pitchFamily="18" charset="0"/>
                <a:sym typeface="Symbol"/>
              </a:rPr>
              <a:t>C</a:t>
            </a:r>
            <a:r>
              <a:rPr lang="en-US" sz="2800" baseline="-25000" dirty="0">
                <a:solidFill>
                  <a:schemeClr val="accent6">
                    <a:lumMod val="75000"/>
                  </a:schemeClr>
                </a:solidFill>
                <a:latin typeface="Book Antiqua" pitchFamily="18" charset="0"/>
                <a:sym typeface="Symbol"/>
              </a:rPr>
              <a:t>1</a:t>
            </a:r>
            <a:r>
              <a:rPr lang="en-US" sz="2800" dirty="0">
                <a:solidFill>
                  <a:schemeClr val="accent6">
                    <a:lumMod val="75000"/>
                  </a:schemeClr>
                </a:solidFill>
                <a:latin typeface="Book Antiqua" pitchFamily="18" charset="0"/>
                <a:sym typeface="Symbol"/>
              </a:rPr>
              <a:t> and </a:t>
            </a:r>
            <a:r>
              <a:rPr lang="en-US" sz="2800" dirty="0">
                <a:solidFill>
                  <a:schemeClr val="accent6">
                    <a:lumMod val="75000"/>
                  </a:schemeClr>
                </a:solidFill>
                <a:latin typeface="Book Antiqua" pitchFamily="18" charset="0"/>
              </a:rPr>
              <a:t>H</a:t>
            </a:r>
            <a:r>
              <a:rPr lang="en-US" sz="2800" baseline="-25000" dirty="0">
                <a:solidFill>
                  <a:schemeClr val="accent6">
                    <a:lumMod val="75000"/>
                  </a:schemeClr>
                </a:solidFill>
                <a:latin typeface="Book Antiqua" pitchFamily="18" charset="0"/>
              </a:rPr>
              <a:t>2</a:t>
            </a:r>
            <a:r>
              <a:rPr lang="en-US" sz="2800" dirty="0">
                <a:solidFill>
                  <a:schemeClr val="accent6">
                    <a:lumMod val="75000"/>
                  </a:schemeClr>
                </a:solidFill>
                <a:latin typeface="Book Antiqua" pitchFamily="18" charset="0"/>
                <a:sym typeface="Symbol"/>
              </a:rPr>
              <a:t>C</a:t>
            </a:r>
            <a:r>
              <a:rPr lang="en-US" sz="2800" baseline="-25000" dirty="0">
                <a:solidFill>
                  <a:schemeClr val="accent6">
                    <a:lumMod val="75000"/>
                  </a:schemeClr>
                </a:solidFill>
                <a:latin typeface="Book Antiqua" pitchFamily="18" charset="0"/>
                <a:sym typeface="Symbol"/>
              </a:rPr>
              <a:t>2</a:t>
            </a:r>
            <a:r>
              <a:rPr lang="en-US" sz="2800" dirty="0">
                <a:latin typeface="Book Antiqua" pitchFamily="18" charset="0"/>
                <a:sym typeface="Symbol"/>
              </a:rPr>
              <a:t>. Thus, </a:t>
            </a:r>
            <a:r>
              <a:rPr lang="en-US" sz="2800" dirty="0">
                <a:solidFill>
                  <a:srgbClr val="00B050"/>
                </a:solidFill>
                <a:latin typeface="Book Antiqua" pitchFamily="18" charset="0"/>
                <a:sym typeface="Symbol"/>
              </a:rPr>
              <a:t>Training Set(H)=</a:t>
            </a:r>
            <a:r>
              <a:rPr lang="en-US" sz="2800" dirty="0">
                <a:solidFill>
                  <a:srgbClr val="00B050"/>
                </a:solidFill>
                <a:latin typeface="Book Antiqua" pitchFamily="18" charset="0"/>
              </a:rPr>
              <a:t> H</a:t>
            </a:r>
            <a:r>
              <a:rPr lang="en-US" sz="2800" baseline="-25000" dirty="0">
                <a:solidFill>
                  <a:srgbClr val="00B050"/>
                </a:solidFill>
                <a:latin typeface="Book Antiqua" pitchFamily="18" charset="0"/>
              </a:rPr>
              <a:t>1 </a:t>
            </a:r>
            <a:r>
              <a:rPr lang="en-US" sz="2800" dirty="0">
                <a:solidFill>
                  <a:srgbClr val="00B050"/>
                </a:solidFill>
                <a:latin typeface="Book Antiqua" pitchFamily="18" charset="0"/>
                <a:sym typeface="Symbol"/>
              </a:rPr>
              <a:t></a:t>
            </a:r>
            <a:r>
              <a:rPr lang="en-US" sz="2800" dirty="0">
                <a:solidFill>
                  <a:srgbClr val="00B050"/>
                </a:solidFill>
                <a:latin typeface="Book Antiqua" pitchFamily="18" charset="0"/>
              </a:rPr>
              <a:t> H</a:t>
            </a:r>
            <a:r>
              <a:rPr lang="en-US" sz="2800" baseline="-25000" dirty="0">
                <a:solidFill>
                  <a:srgbClr val="00B050"/>
                </a:solidFill>
                <a:latin typeface="Book Antiqua" pitchFamily="18" charset="0"/>
              </a:rPr>
              <a:t>2</a:t>
            </a:r>
            <a:r>
              <a:rPr lang="en-US" sz="2800" dirty="0">
                <a:solidFill>
                  <a:srgbClr val="00B050"/>
                </a:solidFill>
                <a:latin typeface="Book Antiqua" pitchFamily="18" charset="0"/>
              </a:rPr>
              <a:t>.</a:t>
            </a:r>
            <a:endParaRPr lang="en-US" sz="2800" dirty="0">
              <a:solidFill>
                <a:srgbClr val="00B050"/>
              </a:solidFill>
              <a:latin typeface="Book Antiqua" pitchFamily="18" charset="0"/>
              <a:sym typeface="Symbol"/>
            </a:endParaRPr>
          </a:p>
          <a:p>
            <a:pPr algn="just"/>
            <a:r>
              <a:rPr lang="en-US" sz="2800" dirty="0">
                <a:latin typeface="Book Antiqua" pitchFamily="18" charset="0"/>
                <a:sym typeface="Symbol"/>
              </a:rPr>
              <a:t> We know that perceptron puts data point in </a:t>
            </a:r>
            <a:r>
              <a:rPr lang="en-US" sz="2800" dirty="0">
                <a:solidFill>
                  <a:srgbClr val="00B050"/>
                </a:solidFill>
                <a:latin typeface="Book Antiqua" pitchFamily="18" charset="0"/>
                <a:sym typeface="Symbol"/>
              </a:rPr>
              <a:t>class C</a:t>
            </a:r>
            <a:r>
              <a:rPr lang="en-US" sz="2800" baseline="-25000" dirty="0">
                <a:solidFill>
                  <a:srgbClr val="00B050"/>
                </a:solidFill>
                <a:latin typeface="Book Antiqua" pitchFamily="18" charset="0"/>
                <a:sym typeface="Symbol"/>
              </a:rPr>
              <a:t>1 </a:t>
            </a:r>
            <a:r>
              <a:rPr lang="en-US" sz="2800" dirty="0">
                <a:solidFill>
                  <a:srgbClr val="00B050"/>
                </a:solidFill>
                <a:latin typeface="Book Antiqua" pitchFamily="18" charset="0"/>
                <a:sym typeface="Symbol"/>
              </a:rPr>
              <a:t>if output is positive </a:t>
            </a:r>
            <a:r>
              <a:rPr lang="en-US" sz="2800" dirty="0">
                <a:latin typeface="Book Antiqua" pitchFamily="18" charset="0"/>
                <a:sym typeface="Symbol"/>
              </a:rPr>
              <a:t>and in </a:t>
            </a:r>
            <a:r>
              <a:rPr lang="en-US" sz="2800" dirty="0">
                <a:solidFill>
                  <a:srgbClr val="C00000"/>
                </a:solidFill>
                <a:latin typeface="Book Antiqua" pitchFamily="18" charset="0"/>
                <a:sym typeface="Symbol"/>
              </a:rPr>
              <a:t>class C</a:t>
            </a:r>
            <a:r>
              <a:rPr lang="en-US" sz="2800" baseline="-25000" dirty="0">
                <a:solidFill>
                  <a:srgbClr val="C00000"/>
                </a:solidFill>
                <a:latin typeface="Book Antiqua" pitchFamily="18" charset="0"/>
                <a:sym typeface="Symbol"/>
              </a:rPr>
              <a:t>2 </a:t>
            </a:r>
            <a:r>
              <a:rPr lang="en-US" sz="2800" dirty="0">
                <a:solidFill>
                  <a:srgbClr val="C00000"/>
                </a:solidFill>
                <a:latin typeface="Book Antiqua" pitchFamily="18" charset="0"/>
                <a:sym typeface="Symbol"/>
              </a:rPr>
              <a:t>if output is negative.</a:t>
            </a:r>
          </a:p>
          <a:p>
            <a:pPr algn="just"/>
            <a:r>
              <a:rPr lang="en-US" sz="2800" dirty="0">
                <a:latin typeface="Book Antiqua" pitchFamily="18" charset="0"/>
                <a:sym typeface="Symbol"/>
              </a:rPr>
              <a:t>This means, data point lies in class C</a:t>
            </a:r>
            <a:r>
              <a:rPr lang="en-US" sz="2800" baseline="-25000" dirty="0">
                <a:latin typeface="Book Antiqua" pitchFamily="18" charset="0"/>
                <a:sym typeface="Symbol"/>
              </a:rPr>
              <a:t>1 </a:t>
            </a:r>
            <a:r>
              <a:rPr lang="en-US" sz="2800" dirty="0">
                <a:latin typeface="Book Antiqua" pitchFamily="18" charset="0"/>
                <a:sym typeface="Symbol"/>
              </a:rPr>
              <a:t>if v&gt;0 and in class C</a:t>
            </a:r>
            <a:r>
              <a:rPr lang="en-US" sz="2800" baseline="-25000" dirty="0">
                <a:latin typeface="Book Antiqua" pitchFamily="18" charset="0"/>
                <a:sym typeface="Symbol"/>
              </a:rPr>
              <a:t>2</a:t>
            </a:r>
            <a:r>
              <a:rPr lang="en-US" sz="2800" dirty="0">
                <a:latin typeface="Book Antiqua" pitchFamily="18" charset="0"/>
                <a:sym typeface="Symbol"/>
              </a:rPr>
              <a:t> if v≤0. Thus,</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1,                      </a:t>
            </a:r>
            <a:r>
              <a:rPr lang="en-US" sz="2800" dirty="0">
                <a:latin typeface="Book Antiqua" pitchFamily="18" charset="0"/>
              </a:rPr>
              <a:t>and</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2,                      </a:t>
            </a:r>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2644" name="Object 4"/>
          <p:cNvGraphicFramePr>
            <a:graphicFrameLocks noChangeAspect="1"/>
          </p:cNvGraphicFramePr>
          <p:nvPr/>
        </p:nvGraphicFramePr>
        <p:xfrm>
          <a:off x="3429000" y="5105400"/>
          <a:ext cx="1082675"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1126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51054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6" name="Object 6"/>
          <p:cNvGraphicFramePr>
            <a:graphicFrameLocks noChangeAspect="1"/>
          </p:cNvGraphicFramePr>
          <p:nvPr/>
        </p:nvGraphicFramePr>
        <p:xfrm>
          <a:off x="3352800" y="5638800"/>
          <a:ext cx="1082675" cy="422275"/>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1126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56388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12</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Now, we can write weight update rule for n</a:t>
            </a:r>
            <a:r>
              <a:rPr lang="en-US" sz="2800" baseline="30000" dirty="0">
                <a:latin typeface="Book Antiqua" pitchFamily="18" charset="0"/>
              </a:rPr>
              <a:t>th</a:t>
            </a:r>
            <a:r>
              <a:rPr lang="en-US" sz="2800" dirty="0">
                <a:latin typeface="Book Antiqua" pitchFamily="18" charset="0"/>
              </a:rPr>
              <a:t> step as below.</a:t>
            </a:r>
          </a:p>
          <a:p>
            <a:pPr algn="just"/>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nvGraphicFramePr>
        <p:xfrm>
          <a:off x="914400" y="2298700"/>
          <a:ext cx="7239000" cy="3327400"/>
        </p:xfrm>
        <a:graphic>
          <a:graphicData uri="http://schemas.openxmlformats.org/presentationml/2006/ole">
            <mc:AlternateContent xmlns:mc="http://schemas.openxmlformats.org/markup-compatibility/2006">
              <mc:Choice xmlns:v="urn:schemas-microsoft-com:vml" Requires="v">
                <p:oleObj name="Equation" r:id="rId2" imgW="3619440" imgH="1663560" progId="Equation.3">
                  <p:embed/>
                </p:oleObj>
              </mc:Choice>
              <mc:Fallback>
                <p:oleObj name="Equation" r:id="rId2" imgW="3619440" imgH="1663560" progId="Equation.3">
                  <p:embed/>
                  <p:pic>
                    <p:nvPicPr>
                      <p:cNvPr id="14"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298700"/>
                        <a:ext cx="7239000" cy="332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13</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The main theme of above weight change rule is:</a:t>
            </a:r>
          </a:p>
          <a:p>
            <a:pPr lvl="1" algn="just"/>
            <a:r>
              <a:rPr lang="en-US" sz="2400" dirty="0">
                <a:latin typeface="Book Antiqua" pitchFamily="18" charset="0"/>
              </a:rPr>
              <a:t>Do not change weights in case of correct classification</a:t>
            </a:r>
          </a:p>
          <a:p>
            <a:pPr lvl="1" algn="just"/>
            <a:r>
              <a:rPr lang="en-US" sz="2400" dirty="0">
                <a:latin typeface="Book Antiqua" pitchFamily="18" charset="0"/>
              </a:rPr>
              <a:t>Increase weights when perceptron output is smaller than actual target</a:t>
            </a:r>
          </a:p>
          <a:p>
            <a:pPr lvl="1" algn="just"/>
            <a:r>
              <a:rPr lang="en-US" sz="2400" dirty="0">
                <a:latin typeface="Book Antiqua" pitchFamily="18" charset="0"/>
              </a:rPr>
              <a:t>Decrease weights when perceptron output is larger than actual target</a:t>
            </a:r>
          </a:p>
          <a:p>
            <a:pPr algn="just"/>
            <a:r>
              <a:rPr lang="en-US" sz="2800" dirty="0">
                <a:latin typeface="Book Antiqua" pitchFamily="18" charset="0"/>
              </a:rPr>
              <a:t>Thus, we can represent weight change rule using single equation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9" name="Object 5"/>
          <p:cNvGraphicFramePr>
            <a:graphicFrameLocks noChangeAspect="1"/>
          </p:cNvGraphicFramePr>
          <p:nvPr>
            <p:extLst>
              <p:ext uri="{D42A27DB-BD31-4B8C-83A1-F6EECF244321}">
                <p14:modId xmlns:p14="http://schemas.microsoft.com/office/powerpoint/2010/main" val="353649106"/>
              </p:ext>
            </p:extLst>
          </p:nvPr>
        </p:nvGraphicFramePr>
        <p:xfrm>
          <a:off x="1295400" y="4876800"/>
          <a:ext cx="6523037" cy="898525"/>
        </p:xfrm>
        <a:graphic>
          <a:graphicData uri="http://schemas.openxmlformats.org/presentationml/2006/ole">
            <mc:AlternateContent xmlns:mc="http://schemas.openxmlformats.org/markup-compatibility/2006">
              <mc:Choice xmlns:v="urn:schemas-microsoft-com:vml" Requires="v">
                <p:oleObj name="Equation" r:id="rId2" imgW="3136680" imgH="431640" progId="Equation.3">
                  <p:embed/>
                </p:oleObj>
              </mc:Choice>
              <mc:Fallback>
                <p:oleObj name="Equation" r:id="rId2" imgW="3136680" imgH="431640" progId="Equation.3">
                  <p:embed/>
                  <p:pic>
                    <p:nvPicPr>
                      <p:cNvPr id="8294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876800"/>
                        <a:ext cx="6523037" cy="898525"/>
                      </a:xfrm>
                      <a:prstGeom prst="rect">
                        <a:avLst/>
                      </a:prstGeom>
                      <a:solidFill>
                        <a:srgbClr val="92D050"/>
                      </a:solidFill>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14</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fontScale="92500" lnSpcReduction="20000"/>
          </a:bodyPr>
          <a:lstStyle/>
          <a:p>
            <a:pPr algn="just">
              <a:buNone/>
            </a:pPr>
            <a:r>
              <a:rPr lang="en-US" sz="2800" b="1" u="sng" dirty="0">
                <a:latin typeface="Book Antiqua" pitchFamily="18" charset="0"/>
              </a:rPr>
              <a:t>Perceptron Learning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training vector s and target t perform steps </a:t>
            </a:r>
            <a:r>
              <a:rPr lang="en-US" sz="2800" i="1" dirty="0">
                <a:latin typeface="Book Antiqua" pitchFamily="18" charset="0"/>
              </a:rPr>
              <a:t>3 to 6</a:t>
            </a:r>
          </a:p>
          <a:p>
            <a:pPr marL="514350" indent="-514350" algn="just">
              <a:buFont typeface="+mj-lt"/>
              <a:buAutoNum type="arabicPeriod"/>
            </a:pPr>
            <a:r>
              <a:rPr lang="en-US" sz="2800" dirty="0">
                <a:latin typeface="Book Antiqua" pitchFamily="18" charset="0"/>
              </a:rPr>
              <a:t>Set </a:t>
            </a:r>
          </a:p>
          <a:p>
            <a:pPr marL="514350" indent="-514350" algn="just">
              <a:buFont typeface="+mj-lt"/>
              <a:buAutoNum type="arabicPeriod"/>
            </a:pPr>
            <a:r>
              <a:rPr lang="en-US" sz="2800" dirty="0">
                <a:latin typeface="Book Antiqua" pitchFamily="18" charset="0"/>
              </a:rPr>
              <a:t>Compute output using Hard limiter activation function as below</a:t>
            </a: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r>
              <a:rPr lang="en-US" sz="2800" dirty="0">
                <a:latin typeface="Book Antiqua" pitchFamily="18" charset="0"/>
              </a:rPr>
              <a:t>Adapt weights as:</a:t>
            </a:r>
          </a:p>
          <a:p>
            <a:pPr marL="514350" indent="-514350" algn="just">
              <a:buFont typeface="+mj-lt"/>
              <a:buAutoNum type="arabicPeriod"/>
            </a:pPr>
            <a:r>
              <a:rPr lang="en-US" sz="2800" dirty="0">
                <a:latin typeface="Book Antiqua" pitchFamily="18" charset="0"/>
              </a:rPr>
              <a:t>Adapt bias as:</a:t>
            </a:r>
          </a:p>
          <a:p>
            <a:pPr marL="514350" indent="-514350" algn="just">
              <a:buFont typeface="+mj-lt"/>
              <a:buAutoNum type="arabicPeriod"/>
            </a:pPr>
            <a:r>
              <a:rPr lang="en-US" sz="2800" dirty="0">
                <a:latin typeface="Book Antiqua" pitchFamily="18" charset="0"/>
              </a:rPr>
              <a:t>Test for Stopping Criteria</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5" name="Object 3"/>
          <p:cNvGraphicFramePr>
            <a:graphicFrameLocks noChangeAspect="1"/>
          </p:cNvGraphicFramePr>
          <p:nvPr/>
        </p:nvGraphicFramePr>
        <p:xfrm>
          <a:off x="1600200" y="2819400"/>
          <a:ext cx="2743200" cy="457200"/>
        </p:xfrm>
        <a:graphic>
          <a:graphicData uri="http://schemas.openxmlformats.org/presentationml/2006/ole">
            <mc:AlternateContent xmlns:mc="http://schemas.openxmlformats.org/markup-compatibility/2006">
              <mc:Choice xmlns:v="urn:schemas-microsoft-com:vml" Requires="v">
                <p:oleObj name="Equation" r:id="rId2" imgW="1320800" imgH="228600" progId="Equation.3">
                  <p:embed/>
                </p:oleObj>
              </mc:Choice>
              <mc:Fallback>
                <p:oleObj name="Equation" r:id="rId2" imgW="1320800" imgH="228600" progId="Equation.3">
                  <p:embed/>
                  <p:pic>
                    <p:nvPicPr>
                      <p:cNvPr id="4915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819400"/>
                        <a:ext cx="2743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4"/>
          <p:cNvGraphicFramePr>
            <a:graphicFrameLocks noChangeAspect="1"/>
          </p:cNvGraphicFramePr>
          <p:nvPr>
            <p:extLst>
              <p:ext uri="{D42A27DB-BD31-4B8C-83A1-F6EECF244321}">
                <p14:modId xmlns:p14="http://schemas.microsoft.com/office/powerpoint/2010/main" val="488727732"/>
              </p:ext>
            </p:extLst>
          </p:nvPr>
        </p:nvGraphicFramePr>
        <p:xfrm>
          <a:off x="3808180" y="4725993"/>
          <a:ext cx="4410075" cy="457200"/>
        </p:xfrm>
        <a:graphic>
          <a:graphicData uri="http://schemas.openxmlformats.org/presentationml/2006/ole">
            <mc:AlternateContent xmlns:mc="http://schemas.openxmlformats.org/markup-compatibility/2006">
              <mc:Choice xmlns:v="urn:schemas-microsoft-com:vml" Requires="v">
                <p:oleObj name="Equation" r:id="rId4" imgW="2120900" imgH="228600" progId="Equation.3">
                  <p:embed/>
                </p:oleObj>
              </mc:Choice>
              <mc:Fallback>
                <p:oleObj name="Equation" r:id="rId4" imgW="2120900" imgH="228600" progId="Equation.3">
                  <p:embed/>
                  <p:pic>
                    <p:nvPicPr>
                      <p:cNvPr id="4915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180" y="4725993"/>
                        <a:ext cx="4410075" cy="457200"/>
                      </a:xfrm>
                      <a:prstGeom prst="rect">
                        <a:avLst/>
                      </a:prstGeom>
                      <a:solidFill>
                        <a:srgbClr val="92D050"/>
                      </a:solidFill>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3711343030"/>
              </p:ext>
            </p:extLst>
          </p:nvPr>
        </p:nvGraphicFramePr>
        <p:xfrm>
          <a:off x="3122613" y="5202238"/>
          <a:ext cx="1687512" cy="339725"/>
        </p:xfrm>
        <a:graphic>
          <a:graphicData uri="http://schemas.openxmlformats.org/presentationml/2006/ole">
            <mc:AlternateContent xmlns:mc="http://schemas.openxmlformats.org/markup-compatibility/2006">
              <mc:Choice xmlns:v="urn:schemas-microsoft-com:vml" Requires="v">
                <p:oleObj name="Equation" r:id="rId6" imgW="977760" imgH="203040" progId="Equation.3">
                  <p:embed/>
                </p:oleObj>
              </mc:Choice>
              <mc:Fallback>
                <p:oleObj name="Equation" r:id="rId6" imgW="977760" imgH="203040" progId="Equation.3">
                  <p:embed/>
                  <p:pic>
                    <p:nvPicPr>
                      <p:cNvPr id="4915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2613" y="5202238"/>
                        <a:ext cx="1687512"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997" name="Object 5"/>
          <p:cNvGraphicFramePr>
            <a:graphicFrameLocks noChangeAspect="1"/>
          </p:cNvGraphicFramePr>
          <p:nvPr/>
        </p:nvGraphicFramePr>
        <p:xfrm>
          <a:off x="1371600" y="3886200"/>
          <a:ext cx="4016375" cy="863600"/>
        </p:xfrm>
        <a:graphic>
          <a:graphicData uri="http://schemas.openxmlformats.org/presentationml/2006/ole">
            <mc:AlternateContent xmlns:mc="http://schemas.openxmlformats.org/markup-compatibility/2006">
              <mc:Choice xmlns:v="urn:schemas-microsoft-com:vml" Requires="v">
                <p:oleObj name="Equation" r:id="rId8" imgW="1930400" imgH="431800" progId="Equation.3">
                  <p:embed/>
                </p:oleObj>
              </mc:Choice>
              <mc:Fallback>
                <p:oleObj name="Equation" r:id="rId8" imgW="1930400" imgH="431800" progId="Equation.3">
                  <p:embed/>
                  <p:pic>
                    <p:nvPicPr>
                      <p:cNvPr id="8499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886200"/>
                        <a:ext cx="40163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15</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by using given training set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501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5018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16</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61023" y="266839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3+1*-2*1=1</a:t>
                      </a:r>
                    </a:p>
                  </a:txBody>
                  <a:tcPr/>
                </a:tc>
                <a:tc>
                  <a:txBody>
                    <a:bodyPr/>
                    <a:lstStyle/>
                    <a:p>
                      <a:r>
                        <a:rPr lang="en-US" i="0" dirty="0">
                          <a:latin typeface="Book Antiqua" pitchFamily="18" charset="0"/>
                        </a:rPr>
                        <a:t>-1+1*-2=-3</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-3+1*0=-3</a:t>
                      </a:r>
                    </a:p>
                  </a:txBody>
                  <a:tcPr/>
                </a:tc>
                <a:extLst>
                  <a:ext uri="{0D108BD9-81ED-4DB2-BD59-A6C34878D82A}">
                    <a16:rowId xmlns:a16="http://schemas.microsoft.com/office/drawing/2014/main" val="10004"/>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17</a:t>
            </a:fld>
            <a:endParaRPr lang="en-US"/>
          </a:p>
        </p:txBody>
      </p:sp>
      <p:sp>
        <p:nvSpPr>
          <p:cNvPr id="11" name="Footer Placeholder 10"/>
          <p:cNvSpPr>
            <a:spLocks noGrp="1"/>
          </p:cNvSpPr>
          <p:nvPr>
            <p:ph type="ftr" sz="quarter" idx="11"/>
          </p:nvPr>
        </p:nvSpPr>
        <p:spPr/>
        <p:txBody>
          <a:bodyPr/>
          <a:lstStyle/>
          <a:p>
            <a:r>
              <a:rPr lang="en-US"/>
              <a:t>ANN-CSIT               By: Arjun Saud</a:t>
            </a:r>
          </a:p>
        </p:txBody>
      </p:sp>
      <mc:AlternateContent xmlns:mc="http://schemas.openxmlformats.org/markup-compatibility/2006" xmlns:a14="http://schemas.microsoft.com/office/drawing/2010/main">
        <mc:Choice Requires="a14">
          <p:sp>
            <p:nvSpPr>
              <p:cNvPr id="116737" name="Object 1"/>
              <p:cNvSpPr txBox="1"/>
              <p:nvPr/>
            </p:nvSpPr>
            <p:spPr bwMode="auto">
              <a:xfrm>
                <a:off x="533400" y="4953000"/>
                <a:ext cx="8305800" cy="12001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𝜙</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eqArr>
                            <m:eqArrPr>
                              <m:ctrlPr>
                                <a:rPr lang="en-US" i="1">
                                  <a:solidFill>
                                    <a:srgbClr val="000000"/>
                                  </a:solidFill>
                                  <a:latin typeface="Cambria Math" panose="02040503050406030204" pitchFamily="18" charset="0"/>
                                </a:rPr>
                              </m:ctrlPr>
                            </m:eqArrPr>
                            <m:e>
                              <m:r>
                                <a:rPr lang="en-US" i="1">
                                  <a:solidFill>
                                    <a:srgbClr val="000000"/>
                                  </a:solidFill>
                                  <a:latin typeface="Cambria Math" panose="02040503050406030204" pitchFamily="18" charset="0"/>
                                </a:rPr>
                                <m:t>&amp;1    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&gt;0</m:t>
                              </m:r>
                            </m:e>
                            <m:e>
                              <m:r>
                                <a:rPr lang="en-US" i="1">
                                  <a:solidFill>
                                    <a:srgbClr val="000000"/>
                                  </a:solidFill>
                                  <a:latin typeface="Cambria Math" panose="02040503050406030204" pitchFamily="18" charset="0"/>
                                </a:rPr>
                                <m:t>&amp;−1 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&lt;0</m:t>
                              </m:r>
                            </m:e>
                            <m:e>
                              <m:r>
                                <a:rPr lang="en-US" i="1">
                                  <a:solidFill>
                                    <a:srgbClr val="000000"/>
                                  </a:solidFill>
                                  <a:latin typeface="Cambria Math" panose="02040503050406030204" pitchFamily="18" charset="0"/>
                                </a:rPr>
                                <m:t>&amp;0    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=0</m:t>
                              </m:r>
                            </m:e>
                          </m:eqArr>
                        </m:e>
                      </m:d>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𝐴𝑠𝑠𝑖𝑚𝑒𝑑</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h𝑎𝑟𝑑</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𝐿𝑖𝑚𝑖𝑡𝑒𝑟</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𝐴𝑐𝑡𝑖𝑣𝑎𝑡𝑖𝑜𝑛</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𝑓𝑢𝑛𝑐𝑡𝑖𝑜𝑛</m:t>
                      </m:r>
                    </m:oMath>
                  </m:oMathPara>
                </a14:m>
                <a:endParaRPr lang="en-US" dirty="0"/>
              </a:p>
            </p:txBody>
          </p:sp>
        </mc:Choice>
        <mc:Fallback xmlns="">
          <p:sp>
            <p:nvSpPr>
              <p:cNvPr id="116737" name="Object 1"/>
              <p:cNvSpPr txBox="1">
                <a:spLocks noRot="1" noChangeAspect="1" noMove="1" noResize="1" noEditPoints="1" noAdjustHandles="1" noChangeArrowheads="1" noChangeShapeType="1" noTextEdit="1"/>
              </p:cNvSpPr>
              <p:nvPr/>
            </p:nvSpPr>
            <p:spPr bwMode="auto">
              <a:xfrm>
                <a:off x="533400" y="4953000"/>
                <a:ext cx="8305800" cy="120015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911815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dirty="0">
                <a:latin typeface="Book Antiqua" pitchFamily="18" charset="0"/>
              </a:rPr>
              <a:t>	Epoch #2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dirty="0">
                <a:latin typeface="Book Antiqua" pitchFamily="18" charset="0"/>
              </a:rPr>
              <a:t>Thus, Final Neuron is</a:t>
            </a: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20"/>
          <p:cNvGrpSpPr/>
          <p:nvPr/>
        </p:nvGrpSpPr>
        <p:grpSpPr>
          <a:xfrm>
            <a:off x="3886200" y="4267200"/>
            <a:ext cx="3957682" cy="1969532"/>
            <a:chOff x="1447800" y="2590800"/>
            <a:chExt cx="3957682" cy="1969532"/>
          </a:xfrm>
        </p:grpSpPr>
        <p:sp>
          <p:nvSpPr>
            <p:cNvPr id="23"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Oval 2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stCxn id="35"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7"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6" name="TextBox 35"/>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7" name="TextBox 36"/>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38" name="TextBox 37"/>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9" name="TextBox 38"/>
            <p:cNvSpPr txBox="1"/>
            <p:nvPr/>
          </p:nvSpPr>
          <p:spPr>
            <a:xfrm>
              <a:off x="2209800" y="25908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=3</a:t>
              </a:r>
              <a:endParaRPr lang="en-US" i="1" baseline="-25000" dirty="0">
                <a:latin typeface="Book Antiqua" pitchFamily="18" charset="0"/>
              </a:endParaRPr>
            </a:p>
          </p:txBody>
        </p:sp>
        <p:sp>
          <p:nvSpPr>
            <p:cNvPr id="40" name="TextBox 39"/>
            <p:cNvSpPr txBox="1"/>
            <p:nvPr/>
          </p:nvSpPr>
          <p:spPr>
            <a:xfrm>
              <a:off x="2057400" y="32004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=3</a:t>
              </a:r>
              <a:endParaRPr lang="en-US" i="1" baseline="-25000" dirty="0">
                <a:latin typeface="Book Antiqua" pitchFamily="18" charset="0"/>
              </a:endParaRPr>
            </a:p>
          </p:txBody>
        </p:sp>
        <p:cxnSp>
          <p:nvCxnSpPr>
            <p:cNvPr id="41" name="Straight Connector 40"/>
            <p:cNvCxnSpPr>
              <a:stCxn id="24" idx="0"/>
              <a:endCxn id="2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2"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4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43"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8" name="Table 27"/>
          <p:cNvGraphicFramePr>
            <a:graphicFrameLocks noGrp="1"/>
          </p:cNvGraphicFramePr>
          <p:nvPr>
            <p:extLst>
              <p:ext uri="{D42A27DB-BD31-4B8C-83A1-F6EECF244321}">
                <p14:modId xmlns:p14="http://schemas.microsoft.com/office/powerpoint/2010/main" val="3764195037"/>
              </p:ext>
            </p:extLst>
          </p:nvPr>
        </p:nvGraphicFramePr>
        <p:xfrm>
          <a:off x="485775" y="185376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-3+1*2=-1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-7</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a:t>
                      </a:r>
                    </a:p>
                  </a:txBody>
                  <a:tcPr/>
                </a:tc>
                <a:extLst>
                  <a:ext uri="{0D108BD9-81ED-4DB2-BD59-A6C34878D82A}">
                    <a16:rowId xmlns:a16="http://schemas.microsoft.com/office/drawing/2014/main" val="10004"/>
                  </a:ext>
                </a:extLst>
              </a:tr>
            </a:tbl>
          </a:graphicData>
        </a:graphic>
      </p:graphicFrame>
      <p:sp>
        <p:nvSpPr>
          <p:cNvPr id="29" name="Slide Number Placeholder 28"/>
          <p:cNvSpPr>
            <a:spLocks noGrp="1"/>
          </p:cNvSpPr>
          <p:nvPr>
            <p:ph type="sldNum" sz="quarter" idx="12"/>
          </p:nvPr>
        </p:nvSpPr>
        <p:spPr/>
        <p:txBody>
          <a:bodyPr/>
          <a:lstStyle/>
          <a:p>
            <a:fld id="{3F22444B-AD59-459C-8316-D24326876BE4}" type="slidenum">
              <a:rPr lang="en-US" smtClean="0"/>
              <a:pPr/>
              <a:t>18</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36446772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Example 2</a:t>
            </a:r>
          </a:p>
          <a:p>
            <a:pPr algn="just">
              <a:buNone/>
            </a:pPr>
            <a:r>
              <a:rPr lang="en-US" sz="2400" dirty="0">
                <a:latin typeface="Book Antiqua" pitchFamily="18" charset="0"/>
              </a:rPr>
              <a:t>Train perceptron using given training set and predict class for the input (6,82) and (5.3,52)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1905000" y="27432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5.2</a:t>
                      </a:r>
                    </a:p>
                  </a:txBody>
                  <a:tcPr marL="9525" marR="9525" marT="9525" marB="0" anchor="b"/>
                </a:tc>
                <a:tc>
                  <a:txBody>
                    <a:bodyPr/>
                    <a:lstStyle/>
                    <a:p>
                      <a:pPr algn="ctr" fontAlgn="b"/>
                      <a:r>
                        <a:rPr lang="en-US" sz="1800" b="0" i="0" u="none" strike="noStrike">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Solution</a:t>
            </a:r>
          </a:p>
          <a:p>
            <a:pPr algn="just">
              <a:buNone/>
            </a:pPr>
            <a:r>
              <a:rPr lang="en-US" sz="2400" i="1" dirty="0">
                <a:latin typeface="Book Antiqua" pitchFamily="18" charset="0"/>
              </a:rPr>
              <a:t>Normalize the input and encode target</a:t>
            </a:r>
          </a:p>
          <a:p>
            <a:pPr algn="just">
              <a:buNone/>
            </a:pPr>
            <a:r>
              <a:rPr lang="en-US" sz="2400" i="1" dirty="0">
                <a:latin typeface="Book Antiqua" pitchFamily="18" charset="0"/>
              </a:rPr>
              <a:t>Use </a:t>
            </a:r>
            <a:r>
              <a:rPr lang="en-US" sz="2400" b="1" i="1" dirty="0">
                <a:solidFill>
                  <a:schemeClr val="accent6">
                    <a:lumMod val="75000"/>
                  </a:schemeClr>
                </a:solidFill>
                <a:latin typeface="Book Antiqua" pitchFamily="18" charset="0"/>
              </a:rPr>
              <a:t>min-max scaling </a:t>
            </a:r>
            <a:r>
              <a:rPr lang="en-US" sz="2400" i="1" dirty="0">
                <a:solidFill>
                  <a:srgbClr val="00B050"/>
                </a:solidFill>
                <a:latin typeface="Book Antiqua" pitchFamily="18" charset="0"/>
              </a:rPr>
              <a:t>y=(x-min)/(max-min)</a:t>
            </a:r>
          </a:p>
          <a:p>
            <a:pPr algn="just">
              <a:buNone/>
            </a:pPr>
            <a:r>
              <a:rPr lang="en-US" sz="2400" b="1" i="1" u="sng" dirty="0">
                <a:latin typeface="Book Antiqua" pitchFamily="18" charset="0"/>
              </a:rPr>
              <a:t>Scaling of 5.9</a:t>
            </a:r>
            <a:r>
              <a:rPr lang="en-US" sz="2400" i="1" dirty="0">
                <a:latin typeface="Book Antiqua" pitchFamily="18" charset="0"/>
              </a:rPr>
              <a:t> :- (5.9-5.2)/(6.1-5.2)=0.7/0.9=0.778</a:t>
            </a:r>
          </a:p>
          <a:p>
            <a:pPr algn="just">
              <a:buNone/>
            </a:pPr>
            <a:r>
              <a:rPr lang="en-US" sz="2400" i="1" dirty="0">
                <a:latin typeface="Book Antiqua" pitchFamily="18" charset="0"/>
              </a:rPr>
              <a:t>Similarly normalize other values</a:t>
            </a:r>
          </a:p>
          <a:p>
            <a:pPr algn="just">
              <a:buNone/>
            </a:pPr>
            <a:endParaRPr lang="en-US" sz="2400" i="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3048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dirty="0">
                          <a:solidFill>
                            <a:srgbClr val="000000"/>
                          </a:solidFill>
                          <a:latin typeface="Book Antiqua"/>
                        </a:rPr>
                        <a:t>5.2</a:t>
                      </a:r>
                    </a:p>
                  </a:txBody>
                  <a:tcPr marL="9525" marR="9525" marT="9525" marB="0" anchor="b"/>
                </a:tc>
                <a:tc>
                  <a:txBody>
                    <a:bodyPr/>
                    <a:lstStyle/>
                    <a:p>
                      <a:pPr algn="ctr" fontAlgn="b"/>
                      <a:r>
                        <a:rPr lang="en-US" sz="1800" b="0" i="0" u="none" strike="noStrike" dirty="0">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639942953"/>
              </p:ext>
            </p:extLst>
          </p:nvPr>
        </p:nvGraphicFramePr>
        <p:xfrm>
          <a:off x="48006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0.778</a:t>
                      </a:r>
                    </a:p>
                  </a:txBody>
                  <a:tcPr marL="9525" marR="9525" marT="9525" marB="0" anchor="b"/>
                </a:tc>
                <a:tc>
                  <a:txBody>
                    <a:bodyPr/>
                    <a:lstStyle/>
                    <a:p>
                      <a:pPr algn="ctr" fontAlgn="b"/>
                      <a:r>
                        <a:rPr lang="en-US" sz="1800" b="0" i="0" u="none" strike="noStrike">
                          <a:solidFill>
                            <a:srgbClr val="000000"/>
                          </a:solidFill>
                          <a:latin typeface="Book Antiqua"/>
                        </a:rPr>
                        <a:t>0.694</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dirty="0">
                          <a:solidFill>
                            <a:srgbClr val="000000"/>
                          </a:solidFill>
                          <a:latin typeface="Book Antiqua"/>
                        </a:rPr>
                        <a:t>0.667</a:t>
                      </a:r>
                    </a:p>
                  </a:txBody>
                  <a:tcPr marL="9525" marR="9525" marT="9525" marB="0" anchor="b"/>
                </a:tc>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dirty="0">
                          <a:solidFill>
                            <a:srgbClr val="000000"/>
                          </a:solidFill>
                          <a:latin typeface="Book Antiqua"/>
                        </a:rPr>
                        <a:t>0.222</a:t>
                      </a:r>
                    </a:p>
                  </a:txBody>
                  <a:tcPr marL="9525" marR="9525" marT="9525" marB="0" anchor="b"/>
                </a:tc>
                <a:tc>
                  <a:txBody>
                    <a:bodyPr/>
                    <a:lstStyle/>
                    <a:p>
                      <a:pPr algn="ctr" fontAlgn="b"/>
                      <a:r>
                        <a:rPr lang="en-US" sz="1800" b="0" i="0" u="none" strike="noStrike" dirty="0">
                          <a:solidFill>
                            <a:srgbClr val="000000"/>
                          </a:solidFill>
                          <a:latin typeface="Book Antiqua"/>
                        </a:rPr>
                        <a:t>0.139</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0.972</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6"/>
                  </a:ext>
                </a:extLst>
              </a:tr>
            </a:tbl>
          </a:graphicData>
        </a:graphic>
      </p:graphicFrame>
      <p:sp>
        <p:nvSpPr>
          <p:cNvPr id="14" name="Right Arrow 13"/>
          <p:cNvSpPr/>
          <p:nvPr/>
        </p:nvSpPr>
        <p:spPr>
          <a:xfrm>
            <a:off x="4267200" y="47244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3F22444B-AD59-459C-8316-D24326876BE4}" type="slidenum">
              <a:rPr lang="en-US" smtClean="0"/>
              <a:pPr/>
              <a:t>20</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57200" y="2438400"/>
          <a:ext cx="8205769" cy="3403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295400">
                  <a:extLst>
                    <a:ext uri="{9D8B030D-6E8A-4147-A177-3AD203B41FA5}">
                      <a16:colId xmlns:a16="http://schemas.microsoft.com/office/drawing/2014/main" val="20007"/>
                    </a:ext>
                  </a:extLst>
                </a:gridCol>
                <a:gridCol w="1271569">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0.78,0.69,1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0+1*1*0.78=0.78</a:t>
                      </a:r>
                    </a:p>
                  </a:txBody>
                  <a:tcPr/>
                </a:tc>
                <a:tc>
                  <a:txBody>
                    <a:bodyPr/>
                    <a:lstStyle/>
                    <a:p>
                      <a:r>
                        <a:rPr lang="en-US" i="0" dirty="0">
                          <a:latin typeface="Book Antiqua" pitchFamily="18" charset="0"/>
                        </a:rPr>
                        <a:t>0+1*1*0.69=0.69</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0.67,1,1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2.21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0,0,-1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0.78+1*-2*0=0.78</a:t>
                      </a:r>
                    </a:p>
                  </a:txBody>
                  <a:tcPr/>
                </a:tc>
                <a:tc>
                  <a:txBody>
                    <a:bodyPr/>
                    <a:lstStyle/>
                    <a:p>
                      <a:r>
                        <a:rPr lang="en-US" i="0" dirty="0">
                          <a:latin typeface="Book Antiqua" pitchFamily="18" charset="0"/>
                        </a:rPr>
                        <a:t>0.69+1*-2*0=0.69</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0.22,0.14,-1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1,0.97,1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0.45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0.33,0.33,1-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-0.51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6"/>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21</a:t>
            </a:fld>
            <a:endParaRPr lang="en-US"/>
          </a:p>
        </p:txBody>
      </p:sp>
      <p:sp>
        <p:nvSpPr>
          <p:cNvPr id="11" name="Footer Placeholder 10"/>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dirty="0">
                <a:latin typeface="Book Antiqua" pitchFamily="18" charset="0"/>
              </a:rPr>
              <a:t>Thus, Final perceptron is as below:</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b="1" u="sng" dirty="0">
                <a:latin typeface="Book Antiqua" pitchFamily="18" charset="0"/>
              </a:rPr>
              <a:t>For (6,82)</a:t>
            </a:r>
          </a:p>
          <a:p>
            <a:pPr algn="just">
              <a:buNone/>
            </a:pPr>
            <a:r>
              <a:rPr lang="en-US" sz="2800" i="1" dirty="0">
                <a:latin typeface="Book Antiqua" pitchFamily="18" charset="0"/>
              </a:rPr>
              <a:t>Normalized value of 6=(6-5.2)/(6.1-5.2)=0.8/0.9=0.89</a:t>
            </a:r>
          </a:p>
          <a:p>
            <a:pPr algn="just">
              <a:buNone/>
            </a:pPr>
            <a:r>
              <a:rPr lang="en-US" sz="2800" i="1" dirty="0">
                <a:latin typeface="Book Antiqua" pitchFamily="18" charset="0"/>
              </a:rPr>
              <a:t>Normalized value of 82=(82-50)/(86-50)=32/36=0.89</a:t>
            </a:r>
            <a:endParaRPr lang="en-US" sz="2800" b="1" u="sng" dirty="0">
              <a:latin typeface="Book Antiqua" pitchFamily="18" charset="0"/>
            </a:endParaRPr>
          </a:p>
          <a:p>
            <a:pPr algn="just">
              <a:buNone/>
            </a:pPr>
            <a:endParaRPr lang="en-US" sz="2800" b="1" u="sng"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20"/>
          <p:cNvGrpSpPr/>
          <p:nvPr/>
        </p:nvGrpSpPr>
        <p:grpSpPr>
          <a:xfrm>
            <a:off x="1600200" y="2514600"/>
            <a:ext cx="3957682" cy="1969532"/>
            <a:chOff x="1447800" y="2590800"/>
            <a:chExt cx="3957682" cy="1969532"/>
          </a:xfrm>
        </p:grpSpPr>
        <p:sp>
          <p:nvSpPr>
            <p:cNvPr id="11"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20"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2"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21" name="TextBox 20"/>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22" name="TextBox 21"/>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23" name="TextBox 2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24" name="TextBox 23"/>
            <p:cNvSpPr txBox="1"/>
            <p:nvPr/>
          </p:nvSpPr>
          <p:spPr>
            <a:xfrm>
              <a:off x="2209800" y="25908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=0.78</a:t>
              </a:r>
              <a:endParaRPr lang="en-US" i="1" baseline="-25000" dirty="0">
                <a:latin typeface="Book Antiqua" pitchFamily="18" charset="0"/>
              </a:endParaRPr>
            </a:p>
          </p:txBody>
        </p:sp>
        <p:sp>
          <p:nvSpPr>
            <p:cNvPr id="25" name="TextBox 24"/>
            <p:cNvSpPr txBox="1"/>
            <p:nvPr/>
          </p:nvSpPr>
          <p:spPr>
            <a:xfrm>
              <a:off x="2057400" y="32004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=0.69</a:t>
              </a:r>
              <a:endParaRPr lang="en-US" i="1" baseline="-25000" dirty="0">
                <a:latin typeface="Book Antiqua" pitchFamily="18" charset="0"/>
              </a:endParaRPr>
            </a:p>
          </p:txBody>
        </p:sp>
        <p:cxnSp>
          <p:nvCxnSpPr>
            <p:cNvPr id="26" name="Straight Connector 25"/>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7"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2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2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 name="Slide Number Placeholder 27"/>
          <p:cNvSpPr>
            <a:spLocks noGrp="1"/>
          </p:cNvSpPr>
          <p:nvPr>
            <p:ph type="sldNum" sz="quarter" idx="12"/>
          </p:nvPr>
        </p:nvSpPr>
        <p:spPr/>
        <p:txBody>
          <a:bodyPr/>
          <a:lstStyle/>
          <a:p>
            <a:fld id="{3F22444B-AD59-459C-8316-D24326876BE4}" type="slidenum">
              <a:rPr lang="en-US" smtClean="0"/>
              <a:pPr/>
              <a:t>22</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i="1" dirty="0">
                <a:latin typeface="Book Antiqua" pitchFamily="18" charset="0"/>
              </a:rPr>
              <a:t>v=w</a:t>
            </a:r>
            <a:r>
              <a:rPr lang="en-US" sz="2800" i="1" baseline="-25000" dirty="0">
                <a:latin typeface="Book Antiqua" pitchFamily="18" charset="0"/>
              </a:rPr>
              <a:t>1</a:t>
            </a:r>
            <a:r>
              <a:rPr lang="en-US" sz="2800" i="1" dirty="0">
                <a:latin typeface="Book Antiqua" pitchFamily="18" charset="0"/>
              </a:rPr>
              <a:t>x</a:t>
            </a:r>
            <a:r>
              <a:rPr lang="en-US" sz="2800" i="1" baseline="-25000" dirty="0">
                <a:latin typeface="Book Antiqua" pitchFamily="18" charset="0"/>
              </a:rPr>
              <a:t>1</a:t>
            </a:r>
            <a:r>
              <a:rPr lang="en-US" sz="2800" i="1" dirty="0">
                <a:latin typeface="Book Antiqua" pitchFamily="18" charset="0"/>
              </a:rPr>
              <a:t>+w</a:t>
            </a:r>
            <a:r>
              <a:rPr lang="en-US" sz="2800" i="1" baseline="-25000" dirty="0">
                <a:latin typeface="Book Antiqua" pitchFamily="18" charset="0"/>
              </a:rPr>
              <a:t>2</a:t>
            </a:r>
            <a:r>
              <a:rPr lang="en-US" sz="2800" i="1" dirty="0">
                <a:latin typeface="Book Antiqua" pitchFamily="18" charset="0"/>
              </a:rPr>
              <a:t>x</a:t>
            </a:r>
            <a:r>
              <a:rPr lang="en-US" sz="2800" i="1" baseline="-25000" dirty="0">
                <a:latin typeface="Book Antiqua" pitchFamily="18" charset="0"/>
              </a:rPr>
              <a:t>2</a:t>
            </a:r>
            <a:r>
              <a:rPr lang="en-US" sz="2800" i="1" dirty="0">
                <a:latin typeface="Book Antiqua" pitchFamily="18" charset="0"/>
              </a:rPr>
              <a:t>+b=0.78*0.89+0.69*0.89-1=0.31</a:t>
            </a:r>
          </a:p>
          <a:p>
            <a:pPr algn="just">
              <a:buNone/>
            </a:pPr>
            <a:r>
              <a:rPr lang="en-US" sz="2800" dirty="0">
                <a:latin typeface="Book Antiqua" pitchFamily="18" charset="0"/>
              </a:rPr>
              <a:t>Thus, y=1</a:t>
            </a:r>
          </a:p>
          <a:p>
            <a:pPr algn="just">
              <a:buNone/>
            </a:pPr>
            <a:r>
              <a:rPr lang="en-US" sz="2800" dirty="0">
                <a:latin typeface="Book Antiqua" pitchFamily="18" charset="0"/>
              </a:rPr>
              <a:t>Hence, Predicted class for (6,82) is Male.</a:t>
            </a:r>
          </a:p>
          <a:p>
            <a:pPr algn="just">
              <a:buNone/>
            </a:pPr>
            <a:endParaRPr lang="en-US" sz="2800" dirty="0">
              <a:latin typeface="Book Antiqua" pitchFamily="18" charset="0"/>
            </a:endParaRPr>
          </a:p>
          <a:p>
            <a:pPr algn="just">
              <a:buNone/>
            </a:pPr>
            <a:r>
              <a:rPr lang="en-US" sz="2800" dirty="0">
                <a:latin typeface="Book Antiqua" pitchFamily="18" charset="0"/>
              </a:rPr>
              <a:t>Similarly, we can predict class for (5.3,52)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23</a:t>
            </a:fld>
            <a:endParaRPr lang="en-US"/>
          </a:p>
        </p:txBody>
      </p:sp>
      <p:sp>
        <p:nvSpPr>
          <p:cNvPr id="10" name="Footer Placeholder 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Gradient descent is an </a:t>
            </a:r>
            <a:r>
              <a:rPr lang="en-US" sz="2800" b="1" dirty="0">
                <a:solidFill>
                  <a:srgbClr val="00B050"/>
                </a:solidFill>
                <a:latin typeface="Book Antiqua" pitchFamily="18" charset="0"/>
              </a:rPr>
              <a:t>optimization algorithm </a:t>
            </a:r>
            <a:r>
              <a:rPr lang="en-US" sz="2800" dirty="0">
                <a:latin typeface="Book Antiqua" pitchFamily="18" charset="0"/>
              </a:rPr>
              <a:t>used to minimize some convex function by </a:t>
            </a:r>
            <a:r>
              <a:rPr lang="en-US" sz="2800" dirty="0">
                <a:solidFill>
                  <a:srgbClr val="00B050"/>
                </a:solidFill>
                <a:latin typeface="Book Antiqua" pitchFamily="18" charset="0"/>
              </a:rPr>
              <a:t>iteratively moving in the direction of steepest descent </a:t>
            </a:r>
            <a:r>
              <a:rPr lang="en-US" sz="2800" dirty="0">
                <a:latin typeface="Book Antiqua" pitchFamily="18" charset="0"/>
              </a:rPr>
              <a:t>as defined by the negative of the gradient. </a:t>
            </a:r>
          </a:p>
          <a:p>
            <a:pPr marL="284163" indent="-284163" algn="just"/>
            <a:r>
              <a:rPr lang="en-US" sz="2800" dirty="0">
                <a:latin typeface="Book Antiqua" pitchFamily="18" charset="0"/>
              </a:rPr>
              <a:t>In machine learning, we use gradient descent to </a:t>
            </a:r>
            <a:r>
              <a:rPr lang="en-US" sz="2800" dirty="0">
                <a:solidFill>
                  <a:srgbClr val="00B050"/>
                </a:solidFill>
                <a:latin typeface="Book Antiqua" pitchFamily="18" charset="0"/>
              </a:rPr>
              <a:t>update</a:t>
            </a:r>
            <a:r>
              <a:rPr lang="en-US" sz="2800" dirty="0">
                <a:latin typeface="Book Antiqua" pitchFamily="18" charset="0"/>
              </a:rPr>
              <a:t> the </a:t>
            </a:r>
            <a:r>
              <a:rPr lang="en-US" sz="2800" dirty="0">
                <a:solidFill>
                  <a:srgbClr val="00B050"/>
                </a:solidFill>
                <a:latin typeface="Book Antiqua" pitchFamily="18" charset="0"/>
              </a:rPr>
              <a:t>parameters of our model</a:t>
            </a:r>
            <a:r>
              <a:rPr lang="en-US" sz="2800" dirty="0">
                <a:latin typeface="Book Antiqua" pitchFamily="18" charset="0"/>
              </a:rPr>
              <a:t>. Parameters refer to coefficients in Logistic Regression and weights in neural networks.</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A8DA0E6C-AA59-4CA7-BE51-0ADE846DC1FE}" type="datetime1">
              <a:rPr lang="en-US" smtClean="0"/>
              <a:pPr/>
              <a:t>6/27/2025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869660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9154" name="Picture 2" descr="https://cdn-images-1.medium.com/max/1600/0*rBQI7uBhBKE8KT-X.png"/>
          <p:cNvPicPr>
            <a:picLocks noChangeAspect="1" noChangeArrowheads="1"/>
          </p:cNvPicPr>
          <p:nvPr/>
        </p:nvPicPr>
        <p:blipFill>
          <a:blip r:embed="rId2"/>
          <a:srcRect/>
          <a:stretch>
            <a:fillRect/>
          </a:stretch>
        </p:blipFill>
        <p:spPr bwMode="auto">
          <a:xfrm>
            <a:off x="685800" y="1524000"/>
            <a:ext cx="7010401" cy="4419600"/>
          </a:xfrm>
          <a:prstGeom prst="rect">
            <a:avLst/>
          </a:prstGeom>
          <a:noFill/>
        </p:spPr>
      </p:pic>
      <p:sp>
        <p:nvSpPr>
          <p:cNvPr id="11" name="Date Placeholder 10"/>
          <p:cNvSpPr>
            <a:spLocks noGrp="1"/>
          </p:cNvSpPr>
          <p:nvPr>
            <p:ph type="dt" sz="half" idx="10"/>
          </p:nvPr>
        </p:nvSpPr>
        <p:spPr/>
        <p:txBody>
          <a:bodyPr/>
          <a:lstStyle/>
          <a:p>
            <a:fld id="{DCB9DEA5-EE81-4FA7-BF0C-1BD9E5D6556F}" type="datetime1">
              <a:rPr lang="en-US" smtClean="0"/>
              <a:pPr/>
              <a:t>6/27/2025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78454147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0178" name="Picture 2" descr="Image result for Gradient Descent positive and negative slope"/>
          <p:cNvPicPr>
            <a:picLocks noChangeAspect="1" noChangeArrowheads="1"/>
          </p:cNvPicPr>
          <p:nvPr/>
        </p:nvPicPr>
        <p:blipFill>
          <a:blip r:embed="rId2"/>
          <a:srcRect/>
          <a:stretch>
            <a:fillRect/>
          </a:stretch>
        </p:blipFill>
        <p:spPr bwMode="auto">
          <a:xfrm>
            <a:off x="533400" y="2209800"/>
            <a:ext cx="8153400" cy="3276600"/>
          </a:xfrm>
          <a:prstGeom prst="rect">
            <a:avLst/>
          </a:prstGeom>
          <a:noFill/>
        </p:spPr>
      </p:pic>
      <p:sp>
        <p:nvSpPr>
          <p:cNvPr id="11" name="Date Placeholder 10"/>
          <p:cNvSpPr>
            <a:spLocks noGrp="1"/>
          </p:cNvSpPr>
          <p:nvPr>
            <p:ph type="dt" sz="half" idx="10"/>
          </p:nvPr>
        </p:nvSpPr>
        <p:spPr/>
        <p:txBody>
          <a:bodyPr/>
          <a:lstStyle/>
          <a:p>
            <a:fld id="{7472A57F-965B-4B1C-93A2-5E5B77A6B0F2}" type="datetime1">
              <a:rPr lang="en-US" smtClean="0"/>
              <a:pPr/>
              <a:t>6/27/2025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1155356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If </a:t>
            </a:r>
            <a:r>
              <a:rPr lang="en-US" sz="2800" i="1" dirty="0">
                <a:latin typeface="Book Antiqua" pitchFamily="18" charset="0"/>
              </a:rPr>
              <a:t>f </a:t>
            </a:r>
            <a:r>
              <a:rPr lang="en-US" sz="2800" dirty="0">
                <a:latin typeface="Book Antiqua" pitchFamily="18" charset="0"/>
              </a:rPr>
              <a:t>is function to be minimized (cost function), Gradient descent changes the parameters of learning model iteratively as below:</a:t>
            </a:r>
          </a:p>
          <a:p>
            <a:pPr marL="284163" indent="-284163" algn="just">
              <a:buNone/>
            </a:pPr>
            <a:endParaRPr lang="en-US" sz="2800" dirty="0">
              <a:latin typeface="Book Antiqua" pitchFamily="18" charset="0"/>
            </a:endParaRPr>
          </a:p>
          <a:p>
            <a:pPr marL="284163" indent="-284163" algn="just"/>
            <a:endParaRPr lang="en-US" sz="2800" dirty="0">
              <a:latin typeface="Book Antiqua" pitchFamily="18" charset="0"/>
            </a:endParaRPr>
          </a:p>
          <a:p>
            <a:pPr marL="284163" indent="-284163" algn="just">
              <a:buNone/>
            </a:pPr>
            <a:r>
              <a:rPr lang="en-US" sz="2800" dirty="0">
                <a:latin typeface="Book Antiqua" pitchFamily="18" charset="0"/>
              </a:rPr>
              <a:t>		</a:t>
            </a:r>
          </a:p>
          <a:p>
            <a:pPr marL="284163" indent="-284163" algn="just"/>
            <a:r>
              <a:rPr lang="en-US" sz="2800" dirty="0">
                <a:solidFill>
                  <a:srgbClr val="00B050"/>
                </a:solidFill>
                <a:latin typeface="Book Antiqua" pitchFamily="18" charset="0"/>
              </a:rPr>
              <a:t>GD simply measures the change in all weights with regard to the change in error. </a:t>
            </a:r>
            <a:r>
              <a:rPr lang="en-US" sz="2800" dirty="0">
                <a:latin typeface="Book Antiqua" pitchFamily="18" charset="0"/>
              </a:rPr>
              <a:t>We can also think of a gradient as the slope of a function.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7" name="Object 3"/>
          <p:cNvGraphicFramePr>
            <a:graphicFrameLocks noChangeAspect="1"/>
          </p:cNvGraphicFramePr>
          <p:nvPr>
            <p:extLst>
              <p:ext uri="{D42A27DB-BD31-4B8C-83A1-F6EECF244321}">
                <p14:modId xmlns:p14="http://schemas.microsoft.com/office/powerpoint/2010/main" val="3649486058"/>
              </p:ext>
            </p:extLst>
          </p:nvPr>
        </p:nvGraphicFramePr>
        <p:xfrm>
          <a:off x="1143000" y="3048000"/>
          <a:ext cx="6544101" cy="1066800"/>
        </p:xfrm>
        <a:graphic>
          <a:graphicData uri="http://schemas.openxmlformats.org/presentationml/2006/ole">
            <mc:AlternateContent xmlns:mc="http://schemas.openxmlformats.org/markup-compatibility/2006">
              <mc:Choice xmlns:v="urn:schemas-microsoft-com:vml" Requires="v">
                <p:oleObj name="Equation" r:id="rId2" imgW="3911600" imgH="635000" progId="Equation.3">
                  <p:embed/>
                </p:oleObj>
              </mc:Choice>
              <mc:Fallback>
                <p:oleObj name="Equation" r:id="rId2" imgW="3911600" imgH="635000" progId="Equation.3">
                  <p:embed/>
                  <p:pic>
                    <p:nvPicPr>
                      <p:cNvPr id="522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048000"/>
                        <a:ext cx="6544101" cy="1066800"/>
                      </a:xfrm>
                      <a:prstGeom prst="rect">
                        <a:avLst/>
                      </a:prstGeom>
                      <a:solidFill>
                        <a:srgbClr val="92D050"/>
                      </a:solidFill>
                    </p:spPr>
                  </p:pic>
                </p:oleObj>
              </mc:Fallback>
            </mc:AlternateContent>
          </a:graphicData>
        </a:graphic>
      </p:graphicFrame>
      <p:sp>
        <p:nvSpPr>
          <p:cNvPr id="14" name="Date Placeholder 13"/>
          <p:cNvSpPr>
            <a:spLocks noGrp="1"/>
          </p:cNvSpPr>
          <p:nvPr>
            <p:ph type="dt" sz="half" idx="10"/>
          </p:nvPr>
        </p:nvSpPr>
        <p:spPr/>
        <p:txBody>
          <a:bodyPr/>
          <a:lstStyle/>
          <a:p>
            <a:fld id="{3802EA0E-7A6B-4409-A877-3C97A970EC68}" type="datetime1">
              <a:rPr lang="en-US" smtClean="0"/>
              <a:pPr/>
              <a:t>6/27/2025</a:t>
            </a:fld>
            <a:endParaRPr lang="en-US"/>
          </a:p>
        </p:txBody>
      </p:sp>
      <p:sp>
        <p:nvSpPr>
          <p:cNvPr id="15" name="Footer Placeholder 14"/>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2626640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The </a:t>
            </a:r>
            <a:r>
              <a:rPr lang="en-US" sz="2800" dirty="0">
                <a:solidFill>
                  <a:schemeClr val="accent6">
                    <a:lumMod val="75000"/>
                  </a:schemeClr>
                </a:solidFill>
                <a:latin typeface="Book Antiqua" pitchFamily="18" charset="0"/>
              </a:rPr>
              <a:t>higher the gradient</a:t>
            </a:r>
            <a:r>
              <a:rPr lang="en-US" sz="2800" dirty="0">
                <a:latin typeface="Book Antiqua" pitchFamily="18" charset="0"/>
              </a:rPr>
              <a:t>, </a:t>
            </a:r>
            <a:r>
              <a:rPr lang="en-US" sz="2800" dirty="0">
                <a:solidFill>
                  <a:schemeClr val="accent6">
                    <a:lumMod val="75000"/>
                  </a:schemeClr>
                </a:solidFill>
                <a:latin typeface="Book Antiqua" pitchFamily="18" charset="0"/>
              </a:rPr>
              <a:t>the steeper the slope </a:t>
            </a:r>
            <a:r>
              <a:rPr lang="en-US" sz="2800" dirty="0">
                <a:latin typeface="Book Antiqua" pitchFamily="18" charset="0"/>
              </a:rPr>
              <a:t>and the </a:t>
            </a:r>
            <a:r>
              <a:rPr lang="en-US" sz="2800" dirty="0">
                <a:solidFill>
                  <a:srgbClr val="00B050"/>
                </a:solidFill>
                <a:latin typeface="Book Antiqua" pitchFamily="18" charset="0"/>
              </a:rPr>
              <a:t>faster a model can learn</a:t>
            </a:r>
            <a:r>
              <a:rPr lang="en-US" sz="2800" dirty="0">
                <a:latin typeface="Book Antiqua" pitchFamily="18" charset="0"/>
              </a:rPr>
              <a:t>. But if the </a:t>
            </a:r>
            <a:r>
              <a:rPr lang="en-US" sz="2800" dirty="0">
                <a:solidFill>
                  <a:srgbClr val="C00000"/>
                </a:solidFill>
                <a:latin typeface="Book Antiqua" pitchFamily="18" charset="0"/>
              </a:rPr>
              <a:t>slope is zero</a:t>
            </a:r>
            <a:r>
              <a:rPr lang="en-US" sz="2800" dirty="0">
                <a:latin typeface="Book Antiqua" pitchFamily="18" charset="0"/>
              </a:rPr>
              <a:t>, the </a:t>
            </a:r>
            <a:r>
              <a:rPr lang="en-US" sz="2800" dirty="0">
                <a:solidFill>
                  <a:srgbClr val="C00000"/>
                </a:solidFill>
                <a:latin typeface="Book Antiqua" pitchFamily="18" charset="0"/>
              </a:rPr>
              <a:t>model stops learning</a:t>
            </a:r>
            <a:r>
              <a:rPr lang="en-US" sz="2800" dirty="0">
                <a:latin typeface="Book Antiqua" pitchFamily="18" charset="0"/>
              </a:rPr>
              <a:t>. Said it more mathematically, a gradient is a partial derivative with respect to its inputs.</a:t>
            </a:r>
          </a:p>
          <a:p>
            <a:pPr marL="284163" indent="-284163" algn="just"/>
            <a:r>
              <a:rPr lang="en-US" sz="2800" dirty="0">
                <a:latin typeface="Book Antiqua" pitchFamily="18" charset="0"/>
              </a:rPr>
              <a:t>How big the </a:t>
            </a:r>
            <a:r>
              <a:rPr lang="en-US" sz="2800" dirty="0">
                <a:solidFill>
                  <a:srgbClr val="00B050"/>
                </a:solidFill>
                <a:latin typeface="Book Antiqua" pitchFamily="18" charset="0"/>
              </a:rPr>
              <a:t>steps</a:t>
            </a:r>
            <a:r>
              <a:rPr lang="en-US" sz="2800" dirty="0">
                <a:latin typeface="Book Antiqua" pitchFamily="18" charset="0"/>
              </a:rPr>
              <a:t> are that Gradient Descent takes into the direction of the local minimum are </a:t>
            </a:r>
            <a:r>
              <a:rPr lang="en-US" sz="2800" dirty="0">
                <a:solidFill>
                  <a:srgbClr val="00B050"/>
                </a:solidFill>
                <a:latin typeface="Book Antiqua" pitchFamily="18" charset="0"/>
              </a:rPr>
              <a:t>determined by the learning rate</a:t>
            </a:r>
            <a:r>
              <a:rPr lang="en-US" sz="2800" dirty="0">
                <a:latin typeface="Book Antiqua" pitchFamily="18" charset="0"/>
              </a:rPr>
              <a:t>.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28</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9D269C58-D82B-45D0-ACBD-2A23298B4F76}" type="datetime1">
              <a:rPr lang="en-US" smtClean="0"/>
              <a:pPr/>
              <a:t>6/27/2025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054647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With a high learning rate we can cover more ground each step, but we risk overshooting the lowest point. A low learning rate is more precise, but calculating the gradient is time-consuming, so it will take us a very long time to get to the bottom.</a:t>
            </a:r>
          </a:p>
          <a:p>
            <a:pPr marL="284163" indent="-284163" algn="just"/>
            <a:endParaRPr lang="en-US" sz="28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29</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3250" name="Picture 2" descr="Image result for High low and good learning rate"/>
          <p:cNvPicPr>
            <a:picLocks noChangeAspect="1" noChangeArrowheads="1"/>
          </p:cNvPicPr>
          <p:nvPr/>
        </p:nvPicPr>
        <p:blipFill>
          <a:blip r:embed="rId2"/>
          <a:srcRect/>
          <a:stretch>
            <a:fillRect/>
          </a:stretch>
        </p:blipFill>
        <p:spPr bwMode="auto">
          <a:xfrm>
            <a:off x="2133600" y="3810000"/>
            <a:ext cx="4913565" cy="2362200"/>
          </a:xfrm>
          <a:prstGeom prst="rect">
            <a:avLst/>
          </a:prstGeom>
          <a:noFill/>
        </p:spPr>
      </p:pic>
      <p:sp>
        <p:nvSpPr>
          <p:cNvPr id="12" name="Date Placeholder 11"/>
          <p:cNvSpPr>
            <a:spLocks noGrp="1"/>
          </p:cNvSpPr>
          <p:nvPr>
            <p:ph type="dt" sz="half" idx="10"/>
          </p:nvPr>
        </p:nvSpPr>
        <p:spPr/>
        <p:txBody>
          <a:bodyPr/>
          <a:lstStyle/>
          <a:p>
            <a:fld id="{73C39F47-DFDE-4F2D-B24B-A9D97C3C58CB}" type="datetime1">
              <a:rPr lang="en-US" smtClean="0"/>
              <a:pPr/>
              <a:t>6/27/2025</a:t>
            </a:fld>
            <a:endParaRPr lang="en-US"/>
          </a:p>
        </p:txBody>
      </p:sp>
      <p:sp>
        <p:nvSpPr>
          <p:cNvPr id="13" name="Footer Placeholder 12"/>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0982745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When </a:t>
            </a:r>
            <a:r>
              <a:rPr lang="en-US" sz="2400" dirty="0">
                <a:solidFill>
                  <a:srgbClr val="00B050"/>
                </a:solidFill>
                <a:latin typeface="Book Antiqua" pitchFamily="18" charset="0"/>
              </a:rPr>
              <a:t>training set is large</a:t>
            </a:r>
            <a:r>
              <a:rPr lang="en-US" sz="2400" dirty="0">
                <a:latin typeface="Book Antiqua" pitchFamily="18" charset="0"/>
              </a:rPr>
              <a:t>, taking </a:t>
            </a:r>
            <a:r>
              <a:rPr lang="en-US" sz="2400" dirty="0">
                <a:solidFill>
                  <a:srgbClr val="FF0000"/>
                </a:solidFill>
                <a:latin typeface="Book Antiqua" pitchFamily="18" charset="0"/>
              </a:rPr>
              <a:t>each training example one by one and updating perceptron weights is time consuming tasks.</a:t>
            </a:r>
          </a:p>
          <a:p>
            <a:pPr algn="just"/>
            <a:r>
              <a:rPr lang="en-US" sz="2400" dirty="0">
                <a:latin typeface="Book Antiqua" pitchFamily="18" charset="0"/>
              </a:rPr>
              <a:t>In such case batch perceptron algorithm is suitable. The main concept behind batch perceptron algorithm is: “Process training examples in batches. Size of batch should be defined on  the basis of size of training set. Commonly used </a:t>
            </a:r>
            <a:r>
              <a:rPr lang="en-US" sz="2400" dirty="0">
                <a:solidFill>
                  <a:srgbClr val="00B050"/>
                </a:solidFill>
                <a:latin typeface="Book Antiqua" pitchFamily="18" charset="0"/>
              </a:rPr>
              <a:t>batch size are 16, 32, 64,128</a:t>
            </a:r>
            <a:r>
              <a:rPr lang="en-US" sz="2400" dirty="0">
                <a:latin typeface="Book Antiqua" pitchFamily="18" charset="0"/>
              </a:rPr>
              <a:t>, etc. ”</a:t>
            </a:r>
          </a:p>
          <a:p>
            <a:pPr algn="just"/>
            <a:r>
              <a:rPr lang="en-US" sz="2400" dirty="0">
                <a:latin typeface="Book Antiqua" pitchFamily="18" charset="0"/>
              </a:rPr>
              <a:t>Then, update weights for (n+1)</a:t>
            </a:r>
            <a:r>
              <a:rPr lang="en-US" sz="2400" baseline="30000" dirty="0" err="1">
                <a:latin typeface="Book Antiqua" pitchFamily="18" charset="0"/>
              </a:rPr>
              <a:t>th</a:t>
            </a:r>
            <a:r>
              <a:rPr lang="en-US" sz="2400" dirty="0">
                <a:latin typeface="Book Antiqua" pitchFamily="18" charset="0"/>
              </a:rPr>
              <a:t> step by taking sum of all </a:t>
            </a:r>
            <a:r>
              <a:rPr lang="en-US" sz="2400" dirty="0">
                <a:solidFill>
                  <a:srgbClr val="FF0000"/>
                </a:solidFill>
                <a:latin typeface="Book Antiqua" pitchFamily="18" charset="0"/>
              </a:rPr>
              <a:t>misclassifications</a:t>
            </a:r>
            <a:r>
              <a:rPr lang="en-US" sz="2400" dirty="0">
                <a:latin typeface="Book Antiqua" pitchFamily="18" charset="0"/>
              </a:rPr>
              <a:t> in the batch of  training example.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For the training examples that are incorrectly classified by the algorithm:</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Therefore, to reduce misclassification we have to minimize cost function for Perceptron given below.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2875966637"/>
              </p:ext>
            </p:extLst>
          </p:nvPr>
        </p:nvGraphicFramePr>
        <p:xfrm>
          <a:off x="1488717" y="4296938"/>
          <a:ext cx="6311348" cy="1143000"/>
        </p:xfrm>
        <a:graphic>
          <a:graphicData uri="http://schemas.openxmlformats.org/presentationml/2006/ole">
            <mc:AlternateContent xmlns:mc="http://schemas.openxmlformats.org/markup-compatibility/2006">
              <mc:Choice xmlns:v="urn:schemas-microsoft-com:vml" Requires="v">
                <p:oleObj name="Equation" r:id="rId2" imgW="3225600" imgH="583920" progId="Equation.3">
                  <p:embed/>
                </p:oleObj>
              </mc:Choice>
              <mc:Fallback>
                <p:oleObj name="Equation" r:id="rId2" imgW="3225600" imgH="583920" progId="Equation.3">
                  <p:embed/>
                  <p:pic>
                    <p:nvPicPr>
                      <p:cNvPr id="11"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717" y="4296938"/>
                        <a:ext cx="631134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31</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15"/>
          <p:cNvGraphicFramePr>
            <a:graphicFrameLocks noChangeAspect="1"/>
          </p:cNvGraphicFramePr>
          <p:nvPr>
            <p:extLst>
              <p:ext uri="{D42A27DB-BD31-4B8C-83A1-F6EECF244321}">
                <p14:modId xmlns:p14="http://schemas.microsoft.com/office/powerpoint/2010/main" val="157321430"/>
              </p:ext>
            </p:extLst>
          </p:nvPr>
        </p:nvGraphicFramePr>
        <p:xfrm>
          <a:off x="1506538" y="2724150"/>
          <a:ext cx="1166812" cy="447675"/>
        </p:xfrm>
        <a:graphic>
          <a:graphicData uri="http://schemas.openxmlformats.org/presentationml/2006/ole">
            <mc:AlternateContent xmlns:mc="http://schemas.openxmlformats.org/markup-compatibility/2006">
              <mc:Choice xmlns:v="urn:schemas-microsoft-com:vml" Requires="v">
                <p:oleObj name="Equation" r:id="rId4" imgW="596880" imgH="228600" progId="Equation.3">
                  <p:embed/>
                </p:oleObj>
              </mc:Choice>
              <mc:Fallback>
                <p:oleObj name="Equation" r:id="rId4" imgW="596880" imgH="228600" progId="Equation.3">
                  <p:embed/>
                  <p:pic>
                    <p:nvPicPr>
                      <p:cNvPr id="16" name="Object 15"/>
                      <p:cNvPicPr>
                        <a:picLocks noChangeAspect="1" noChangeArrowheads="1"/>
                      </p:cNvPicPr>
                      <p:nvPr/>
                    </p:nvPicPr>
                    <p:blipFill>
                      <a:blip r:embed="rId5"/>
                      <a:srcRect/>
                      <a:stretch>
                        <a:fillRect/>
                      </a:stretch>
                    </p:blipFill>
                    <p:spPr bwMode="auto">
                      <a:xfrm>
                        <a:off x="1506538" y="2724150"/>
                        <a:ext cx="1166812"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17"/>
          <p:cNvSpPr>
            <a:spLocks noChangeArrowheads="1"/>
          </p:cNvSpPr>
          <p:nvPr/>
        </p:nvSpPr>
        <p:spPr bwMode="auto">
          <a:xfrm>
            <a:off x="0" y="-571619"/>
            <a:ext cx="31290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rPr>
              <a:t>  </a:t>
            </a:r>
            <a:endParaRPr kumimoji="0" 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4000" b="0" i="0" u="none" strike="noStrike" cap="none" normalizeH="0" baseline="0" dirty="0">
                <a:ln>
                  <a:noFill/>
                </a:ln>
                <a:solidFill>
                  <a:schemeClr val="tx1"/>
                </a:solidFill>
                <a:effectLst/>
                <a:latin typeface="Arial" panose="020B0604020202020204" pitchFamily="34" charset="0"/>
              </a:rPr>
            </a:br>
            <a:endParaRPr kumimoji="0" 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57846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Differentiate above cost function w.r.t. w to get gradient vector.</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In the </a:t>
            </a:r>
            <a:r>
              <a:rPr lang="en-US" sz="2400" i="1" dirty="0">
                <a:latin typeface="Book Antiqua" pitchFamily="18" charset="0"/>
              </a:rPr>
              <a:t>steepest descent method, the adjustment to the weight vector </a:t>
            </a:r>
            <a:r>
              <a:rPr lang="en-US" sz="2400" b="1" i="1" dirty="0">
                <a:latin typeface="Book Antiqua" pitchFamily="18" charset="0"/>
              </a:rPr>
              <a:t>w at each time step </a:t>
            </a:r>
            <a:r>
              <a:rPr lang="en-US" sz="2400" dirty="0">
                <a:latin typeface="Book Antiqua" pitchFamily="18" charset="0"/>
              </a:rPr>
              <a:t>of the algorithm is applied in a direction </a:t>
            </a:r>
            <a:r>
              <a:rPr lang="en-US" sz="2400" i="1" dirty="0">
                <a:latin typeface="Book Antiqua" pitchFamily="18" charset="0"/>
              </a:rPr>
              <a:t>opposite to the gradient vector.</a:t>
            </a:r>
          </a:p>
          <a:p>
            <a:pPr algn="just"/>
            <a:r>
              <a:rPr lang="en-US" sz="2400" dirty="0">
                <a:latin typeface="Book Antiqua" pitchFamily="18" charset="0"/>
              </a:rPr>
              <a:t>Thus, weight update rule for batch perceptron algorithm can be written as</a:t>
            </a:r>
          </a:p>
          <a:p>
            <a:pPr marL="0" indent="0" algn="just">
              <a:buNone/>
            </a:pPr>
            <a:r>
              <a:rPr lang="en-US" sz="2400" i="1" dirty="0">
                <a:latin typeface="Book Antiqua" pitchFamily="18" charset="0"/>
              </a:rPr>
              <a:t> </a:t>
            </a: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6914" name="Object 2"/>
          <p:cNvGraphicFramePr>
            <a:graphicFrameLocks noChangeAspect="1"/>
          </p:cNvGraphicFramePr>
          <p:nvPr>
            <p:extLst>
              <p:ext uri="{D42A27DB-BD31-4B8C-83A1-F6EECF244321}">
                <p14:modId xmlns:p14="http://schemas.microsoft.com/office/powerpoint/2010/main" val="1056351743"/>
              </p:ext>
            </p:extLst>
          </p:nvPr>
        </p:nvGraphicFramePr>
        <p:xfrm>
          <a:off x="1295242" y="2641811"/>
          <a:ext cx="2162175" cy="720725"/>
        </p:xfrm>
        <a:graphic>
          <a:graphicData uri="http://schemas.openxmlformats.org/presentationml/2006/ole">
            <mc:AlternateContent xmlns:mc="http://schemas.openxmlformats.org/markup-compatibility/2006">
              <mc:Choice xmlns:v="urn:schemas-microsoft-com:vml" Requires="v">
                <p:oleObj name="Equation" r:id="rId2" imgW="1104840" imgH="368280" progId="Equation.3">
                  <p:embed/>
                </p:oleObj>
              </mc:Choice>
              <mc:Fallback>
                <p:oleObj name="Equation" r:id="rId2" imgW="1104840" imgH="368280" progId="Equation.3">
                  <p:embed/>
                  <p:pic>
                    <p:nvPicPr>
                      <p:cNvPr id="16691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242" y="2641811"/>
                        <a:ext cx="21621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32</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2"/>
          <p:cNvGraphicFramePr>
            <a:graphicFrameLocks noChangeAspect="1"/>
          </p:cNvGraphicFramePr>
          <p:nvPr>
            <p:extLst>
              <p:ext uri="{D42A27DB-BD31-4B8C-83A1-F6EECF244321}">
                <p14:modId xmlns:p14="http://schemas.microsoft.com/office/powerpoint/2010/main" val="2385124865"/>
              </p:ext>
            </p:extLst>
          </p:nvPr>
        </p:nvGraphicFramePr>
        <p:xfrm>
          <a:off x="914400" y="5408613"/>
          <a:ext cx="5491163" cy="762000"/>
        </p:xfrm>
        <a:graphic>
          <a:graphicData uri="http://schemas.openxmlformats.org/presentationml/2006/ole">
            <mc:AlternateContent xmlns:mc="http://schemas.openxmlformats.org/markup-compatibility/2006">
              <mc:Choice xmlns:v="urn:schemas-microsoft-com:vml" Requires="v">
                <p:oleObj name="Equation" r:id="rId4" imgW="2654280" imgH="368280" progId="Equation.3">
                  <p:embed/>
                </p:oleObj>
              </mc:Choice>
              <mc:Fallback>
                <p:oleObj name="Equation" r:id="rId4" imgW="2654280" imgH="368280" progId="Equation.3">
                  <p:embed/>
                  <p:pic>
                    <p:nvPicPr>
                      <p:cNvPr id="1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408613"/>
                        <a:ext cx="5491163" cy="762000"/>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96675910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Book Antiqua" panose="02040602050305030304" pitchFamily="18" charset="0"/>
              </a:rPr>
              <a:t>Batch Perceptron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using batch perceptron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501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5018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33</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405411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 multilayer feed-forward network consists of an input layer, one or more hidden layers, and an output layer. Computations take place in the hidden and output layers only.</a:t>
            </a:r>
          </a:p>
          <a:p>
            <a:pPr algn="just"/>
            <a:r>
              <a:rPr lang="en-US" sz="2400" dirty="0">
                <a:latin typeface="Book Antiqua" pitchFamily="18" charset="0"/>
              </a:rPr>
              <a:t>The input signal propagates through the network in a forward direction layer-by-layer. Such neural networks are called multilayer perceptrons (MLPs).</a:t>
            </a:r>
          </a:p>
          <a:p>
            <a:pPr algn="just"/>
            <a:r>
              <a:rPr lang="en-US" sz="2400" dirty="0">
                <a:latin typeface="Book Antiqua" pitchFamily="18" charset="0"/>
              </a:rPr>
              <a:t>They have been successfully applied to many difficult and diverse problems. </a:t>
            </a:r>
          </a:p>
          <a:p>
            <a:pPr algn="just"/>
            <a:r>
              <a:rPr lang="en-US" sz="2400" dirty="0">
                <a:solidFill>
                  <a:schemeClr val="accent6">
                    <a:lumMod val="75000"/>
                  </a:schemeClr>
                </a:solidFill>
                <a:latin typeface="Book Antiqua" pitchFamily="18" charset="0"/>
              </a:rPr>
              <a:t>Multilayer perceptrons are typically trained using so-called error </a:t>
            </a:r>
            <a:r>
              <a:rPr lang="en-US" sz="2400" dirty="0">
                <a:solidFill>
                  <a:srgbClr val="00B050"/>
                </a:solidFill>
                <a:latin typeface="Book Antiqua" pitchFamily="18" charset="0"/>
              </a:rPr>
              <a:t>backpropagation algorithm</a:t>
            </a:r>
            <a:r>
              <a:rPr lang="en-US" sz="2400" dirty="0">
                <a:latin typeface="Book Antiqua" pitchFamily="18" charset="0"/>
              </a:rPr>
              <a:t>. This is a supervised error-correction learning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7005356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itchFamily="18" charset="0"/>
              </a:rPr>
              <a:t>Properties of MLPs</a:t>
            </a:r>
          </a:p>
          <a:p>
            <a:pPr algn="just"/>
            <a:r>
              <a:rPr lang="en-US" sz="2400" dirty="0">
                <a:latin typeface="Book Antiqua" pitchFamily="18" charset="0"/>
              </a:rPr>
              <a:t>Each neuron has a smooth (differentiable everywhere) nonlinear activation function. This is usually a </a:t>
            </a:r>
            <a:r>
              <a:rPr lang="en-US" sz="2400" dirty="0" err="1">
                <a:solidFill>
                  <a:srgbClr val="00B050"/>
                </a:solidFill>
                <a:latin typeface="Book Antiqua" pitchFamily="18" charset="0"/>
              </a:rPr>
              <a:t>sigmoidal</a:t>
            </a:r>
            <a:r>
              <a:rPr lang="en-US" sz="2400" dirty="0">
                <a:latin typeface="Book Antiqua" pitchFamily="18" charset="0"/>
              </a:rPr>
              <a:t> </a:t>
            </a:r>
            <a:r>
              <a:rPr lang="en-US" sz="2400" dirty="0">
                <a:solidFill>
                  <a:srgbClr val="00B050"/>
                </a:solidFill>
                <a:latin typeface="Book Antiqua" pitchFamily="18" charset="0"/>
              </a:rPr>
              <a:t>nonlinearity</a:t>
            </a:r>
            <a:r>
              <a:rPr lang="en-US" sz="2400" dirty="0">
                <a:latin typeface="Book Antiqua" pitchFamily="18" charset="0"/>
              </a:rPr>
              <a:t> defined by the logistic function</a:t>
            </a:r>
          </a:p>
          <a:p>
            <a:pPr algn="just"/>
            <a:endParaRPr lang="en-US" sz="2400" dirty="0">
              <a:latin typeface="Book Antiqua" pitchFamily="18" charset="0"/>
            </a:endParaRPr>
          </a:p>
          <a:p>
            <a:pPr algn="just"/>
            <a:endParaRPr lang="en-US" sz="2400" dirty="0">
              <a:latin typeface="Book Antiqua" pitchFamily="18" charset="0"/>
            </a:endParaRPr>
          </a:p>
          <a:p>
            <a:pPr algn="just">
              <a:buNone/>
            </a:pPr>
            <a:r>
              <a:rPr lang="en-US" sz="2400" dirty="0">
                <a:latin typeface="Book Antiqua" pitchFamily="18" charset="0"/>
              </a:rPr>
              <a:t>	</a:t>
            </a:r>
            <a:r>
              <a:rPr lang="en-US" sz="2400" i="1" dirty="0">
                <a:solidFill>
                  <a:srgbClr val="C00000"/>
                </a:solidFill>
                <a:latin typeface="Book Antiqua" pitchFamily="18" charset="0"/>
              </a:rPr>
              <a:t>Note: </a:t>
            </a:r>
            <a:r>
              <a:rPr lang="en-US" sz="2400" i="1" dirty="0">
                <a:latin typeface="Book Antiqua" pitchFamily="18" charset="0"/>
              </a:rPr>
              <a:t>Nonlinearities are important: otherwise the network could be reduced to a linear single-layer perceptron.</a:t>
            </a:r>
          </a:p>
          <a:p>
            <a:pPr algn="just"/>
            <a:r>
              <a:rPr lang="en-US" sz="2400" dirty="0">
                <a:latin typeface="Book Antiqua" pitchFamily="18" charset="0"/>
              </a:rPr>
              <a:t>The network contains hidden layer(s), enabling learning complicated tasks and mappings.</a:t>
            </a:r>
          </a:p>
          <a:p>
            <a:pPr algn="just"/>
            <a:r>
              <a:rPr lang="en-US" sz="2400" dirty="0">
                <a:latin typeface="Book Antiqua" pitchFamily="18" charset="0"/>
              </a:rPr>
              <a:t>The network has a high connectivity.</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491554585"/>
              </p:ext>
            </p:extLst>
          </p:nvPr>
        </p:nvGraphicFramePr>
        <p:xfrm>
          <a:off x="1066800" y="2971800"/>
          <a:ext cx="7086600" cy="946597"/>
        </p:xfrm>
        <a:graphic>
          <a:graphicData uri="http://schemas.openxmlformats.org/presentationml/2006/ole">
            <mc:AlternateContent xmlns:mc="http://schemas.openxmlformats.org/markup-compatibility/2006">
              <mc:Choice xmlns:v="urn:schemas-microsoft-com:vml" Requires="v">
                <p:oleObj name="Equation" r:id="rId2" imgW="3327120" imgH="444240" progId="Equation.3">
                  <p:embed/>
                </p:oleObj>
              </mc:Choice>
              <mc:Fallback>
                <p:oleObj name="Equation" r:id="rId2" imgW="3327120" imgH="444240" progId="Equation.3">
                  <p:embed/>
                  <p:pic>
                    <p:nvPicPr>
                      <p:cNvPr id="1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971800"/>
                        <a:ext cx="7086600" cy="946597"/>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19908989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An architectural graph of a fully connected multilayer perceptron with two hidden layers and an output layer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3074" name="Picture 2"/>
          <p:cNvPicPr>
            <a:picLocks noChangeAspect="1" noChangeArrowheads="1"/>
          </p:cNvPicPr>
          <p:nvPr/>
        </p:nvPicPr>
        <p:blipFill>
          <a:blip r:embed="rId2"/>
          <a:srcRect/>
          <a:stretch>
            <a:fillRect/>
          </a:stretch>
        </p:blipFill>
        <p:spPr bwMode="auto">
          <a:xfrm>
            <a:off x="1295400" y="2514600"/>
            <a:ext cx="6096000" cy="3292819"/>
          </a:xfrm>
          <a:prstGeom prst="rect">
            <a:avLst/>
          </a:prstGeom>
          <a:noFill/>
          <a:ln w="9525">
            <a:noFill/>
            <a:miter lim="800000"/>
            <a:headEnd/>
            <a:tailEnd/>
          </a:ln>
          <a:effectLst/>
        </p:spPr>
      </p:pic>
    </p:spTree>
    <p:extLst>
      <p:ext uri="{BB962C8B-B14F-4D97-AF65-F5344CB8AC3E}">
        <p14:creationId xmlns:p14="http://schemas.microsoft.com/office/powerpoint/2010/main" val="348161216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Two kinds of signals appear in the MLP networks: Function Signal and Error Signal.</a:t>
            </a:r>
          </a:p>
          <a:p>
            <a:pPr lvl="1" algn="just"/>
            <a:r>
              <a:rPr lang="en-US" sz="2200" b="1" dirty="0">
                <a:latin typeface="Book Antiqua" pitchFamily="18" charset="0"/>
              </a:rPr>
              <a:t>Function Signals: </a:t>
            </a:r>
            <a:r>
              <a:rPr lang="en-US" sz="2200" dirty="0">
                <a:latin typeface="Book Antiqua" pitchFamily="18" charset="0"/>
              </a:rPr>
              <a:t>Function signals are the Input signals that propagates in forward direction through the network and produces output signals in the last phase.</a:t>
            </a:r>
          </a:p>
          <a:p>
            <a:pPr lvl="1" algn="just"/>
            <a:r>
              <a:rPr lang="en-US" sz="2200" b="1" dirty="0">
                <a:latin typeface="Book Antiqua" pitchFamily="18" charset="0"/>
              </a:rPr>
              <a:t>Error Signals: </a:t>
            </a:r>
            <a:r>
              <a:rPr lang="en-US" sz="2200" dirty="0">
                <a:latin typeface="Book Antiqua" pitchFamily="18" charset="0"/>
              </a:rPr>
              <a:t>These are the signals originate at output neurons, and propagate layer by layer in backward direction through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37</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098" name="Picture 2"/>
          <p:cNvPicPr>
            <a:picLocks noChangeAspect="1" noChangeArrowheads="1"/>
          </p:cNvPicPr>
          <p:nvPr/>
        </p:nvPicPr>
        <p:blipFill>
          <a:blip r:embed="rId2"/>
          <a:srcRect/>
          <a:stretch>
            <a:fillRect/>
          </a:stretch>
        </p:blipFill>
        <p:spPr bwMode="auto">
          <a:xfrm>
            <a:off x="2362200" y="4343400"/>
            <a:ext cx="3886200" cy="1924050"/>
          </a:xfrm>
          <a:prstGeom prst="rect">
            <a:avLst/>
          </a:prstGeom>
          <a:noFill/>
          <a:ln w="9525">
            <a:noFill/>
            <a:miter lim="800000"/>
            <a:headEnd/>
            <a:tailEnd/>
          </a:ln>
          <a:effectLst/>
        </p:spPr>
      </p:pic>
    </p:spTree>
    <p:extLst>
      <p:ext uri="{BB962C8B-B14F-4D97-AF65-F5344CB8AC3E}">
        <p14:creationId xmlns:p14="http://schemas.microsoft.com/office/powerpoint/2010/main" val="10997767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Each hidden or output neuron performs two computations:</a:t>
            </a:r>
          </a:p>
          <a:p>
            <a:pPr marL="457200" indent="-457200" algn="just">
              <a:buFont typeface="+mj-lt"/>
              <a:buAutoNum type="arabicPeriod"/>
            </a:pPr>
            <a:r>
              <a:rPr lang="en-US" sz="2400" dirty="0">
                <a:latin typeface="Book Antiqua" pitchFamily="18" charset="0"/>
              </a:rPr>
              <a:t>The computation of the function signal appearing at its output. This is a nonlinear function of the input signal and synaptic weights of that neuron.</a:t>
            </a:r>
          </a:p>
          <a:p>
            <a:pPr marL="457200" indent="-457200" algn="just">
              <a:buFont typeface="+mj-lt"/>
              <a:buAutoNum type="arabicPeriod"/>
            </a:pPr>
            <a:r>
              <a:rPr lang="en-US" sz="2400" dirty="0">
                <a:latin typeface="Book Antiqua" pitchFamily="18" charset="0"/>
              </a:rPr>
              <a:t>The computation of an estimate of the gradient vector, needed in the backward pass.</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9846064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In the batch method of supervised learning, adjustments to the synaptic weights of the multilayer perceptron are  updated </a:t>
            </a:r>
            <a:r>
              <a:rPr lang="en-US" sz="2600" i="1" dirty="0">
                <a:latin typeface="Book Antiqua" pitchFamily="18" charset="0"/>
              </a:rPr>
              <a:t>after the presentation of all the N examples in the </a:t>
            </a:r>
            <a:r>
              <a:rPr lang="en-US" sz="2600" dirty="0">
                <a:latin typeface="Book Antiqua" pitchFamily="18" charset="0"/>
              </a:rPr>
              <a:t>training sample T that constitute one </a:t>
            </a:r>
            <a:r>
              <a:rPr lang="en-US" sz="2600" i="1" dirty="0">
                <a:latin typeface="Book Antiqua" pitchFamily="18" charset="0"/>
              </a:rPr>
              <a:t>epoch of training. </a:t>
            </a:r>
          </a:p>
          <a:p>
            <a:pPr algn="just"/>
            <a:r>
              <a:rPr lang="en-US" sz="2600" i="1" dirty="0">
                <a:latin typeface="Book Antiqua" pitchFamily="18" charset="0"/>
              </a:rPr>
              <a:t>In other words, the cost function </a:t>
            </a:r>
            <a:r>
              <a:rPr lang="en-US" sz="2600" dirty="0">
                <a:latin typeface="Book Antiqua" pitchFamily="18" charset="0"/>
              </a:rPr>
              <a:t>for batch learning is defined by the </a:t>
            </a:r>
            <a:r>
              <a:rPr lang="en-US" sz="2600" dirty="0">
                <a:solidFill>
                  <a:srgbClr val="FFC000"/>
                </a:solidFill>
                <a:latin typeface="Book Antiqua" pitchFamily="18" charset="0"/>
              </a:rPr>
              <a:t>average error energy and adjustments to the synaptic weights</a:t>
            </a:r>
            <a:r>
              <a:rPr lang="en-US" sz="2600" dirty="0">
                <a:latin typeface="Book Antiqua" pitchFamily="18" charset="0"/>
              </a:rPr>
              <a:t> of the multilayer perceptron are made on an </a:t>
            </a:r>
            <a:r>
              <a:rPr lang="en-US" sz="2600" i="1" dirty="0">
                <a:latin typeface="Book Antiqua" pitchFamily="18" charset="0"/>
              </a:rPr>
              <a:t>epoch-by-epoch basis. </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3992510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With the method of gradient descent used to perform the training, the advantages of batch learning include the following:</a:t>
            </a:r>
          </a:p>
          <a:p>
            <a:pPr lvl="1" algn="just"/>
            <a:r>
              <a:rPr lang="en-US" sz="2200" i="1" dirty="0">
                <a:latin typeface="Book Antiqua" pitchFamily="18" charset="0"/>
              </a:rPr>
              <a:t>Accurate estimation of the gradient vector</a:t>
            </a:r>
            <a:r>
              <a:rPr lang="en-US" sz="2200" b="1" dirty="0">
                <a:latin typeface="Book Antiqua" pitchFamily="18" charset="0"/>
              </a:rPr>
              <a:t>, thereby guaranteeing, </a:t>
            </a:r>
            <a:r>
              <a:rPr lang="en-US" sz="2200" dirty="0">
                <a:latin typeface="Book Antiqua" pitchFamily="18" charset="0"/>
              </a:rPr>
              <a:t>convergence of the method of steepest descent to a local minima for non-convex surfaces and at global minima for convex surface;</a:t>
            </a:r>
          </a:p>
          <a:p>
            <a:pPr lvl="1" algn="just"/>
            <a:r>
              <a:rPr lang="en-US" sz="2200" i="1" dirty="0">
                <a:latin typeface="Book Antiqua" pitchFamily="18" charset="0"/>
              </a:rPr>
              <a:t>parallelization of the learning process. </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9647945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For large datasets,  batch learning is </a:t>
            </a:r>
            <a:r>
              <a:rPr lang="en-US" sz="2600" dirty="0">
                <a:solidFill>
                  <a:srgbClr val="C00000"/>
                </a:solidFill>
                <a:latin typeface="Book Antiqua" pitchFamily="18" charset="0"/>
              </a:rPr>
              <a:t>computationally intractable </a:t>
            </a:r>
            <a:r>
              <a:rPr lang="en-US" sz="2600" dirty="0">
                <a:latin typeface="Book Antiqua" pitchFamily="18" charset="0"/>
              </a:rPr>
              <a:t>because it is not possible to store entire dataset into </a:t>
            </a:r>
            <a:r>
              <a:rPr lang="en-US" sz="2600" b="1" dirty="0">
                <a:solidFill>
                  <a:srgbClr val="C00000"/>
                </a:solidFill>
                <a:latin typeface="Book Antiqua" pitchFamily="18" charset="0"/>
              </a:rPr>
              <a:t>memory</a:t>
            </a:r>
            <a:r>
              <a:rPr lang="en-US" sz="2600" dirty="0">
                <a:latin typeface="Book Antiqua" pitchFamily="18" charset="0"/>
              </a:rPr>
              <a:t> at once.</a:t>
            </a:r>
          </a:p>
          <a:p>
            <a:pPr algn="just"/>
            <a:r>
              <a:rPr lang="en-US" sz="2600" dirty="0">
                <a:latin typeface="Book Antiqua" pitchFamily="18" charset="0"/>
              </a:rPr>
              <a:t>Since it </a:t>
            </a:r>
            <a:r>
              <a:rPr lang="en-US" sz="2600" b="1" i="1" dirty="0">
                <a:solidFill>
                  <a:srgbClr val="00B050"/>
                </a:solidFill>
                <a:latin typeface="Book Antiqua" pitchFamily="18" charset="0"/>
              </a:rPr>
              <a:t>updates weights less frequently, it is computationally faster</a:t>
            </a:r>
            <a:r>
              <a:rPr lang="en-US" sz="2600" dirty="0">
                <a:latin typeface="Book Antiqua" pitchFamily="18" charset="0"/>
              </a:rPr>
              <a:t>.</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3076530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In the on-line method of supervised learning, adjustments to the synaptic weights of the multilayer perceptron are performed on an example-by-example basis. The </a:t>
            </a:r>
            <a:r>
              <a:rPr lang="en-US" sz="2600" dirty="0">
                <a:solidFill>
                  <a:srgbClr val="7030A0"/>
                </a:solidFill>
                <a:latin typeface="Book Antiqua" pitchFamily="18" charset="0"/>
              </a:rPr>
              <a:t>cost function </a:t>
            </a:r>
            <a:r>
              <a:rPr lang="en-US" sz="2600" dirty="0">
                <a:latin typeface="Book Antiqua" pitchFamily="18" charset="0"/>
              </a:rPr>
              <a:t>to be minimized is therefore the total instantaneous error energy for one training example.</a:t>
            </a:r>
          </a:p>
          <a:p>
            <a:pPr algn="just"/>
            <a:r>
              <a:rPr lang="en-US" sz="2600" dirty="0">
                <a:latin typeface="Book Antiqua" pitchFamily="18" charset="0"/>
              </a:rPr>
              <a:t>Due to noise gradient descent calculated for each of the training examples, online learning jumps here and there which makes it difficult to converge in global minima. </a:t>
            </a:r>
            <a:r>
              <a:rPr lang="en-US" sz="2600" dirty="0">
                <a:solidFill>
                  <a:srgbClr val="00B050"/>
                </a:solidFill>
                <a:latin typeface="Book Antiqua" pitchFamily="18" charset="0"/>
              </a:rPr>
              <a:t>Due to this behavior of online learning,  it is also called stochastic method.</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5087410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Besides this, </a:t>
            </a:r>
            <a:r>
              <a:rPr lang="en-US" sz="2600" dirty="0">
                <a:solidFill>
                  <a:srgbClr val="FF0000"/>
                </a:solidFill>
                <a:latin typeface="Book Antiqua" pitchFamily="18" charset="0"/>
              </a:rPr>
              <a:t>parallelization</a:t>
            </a:r>
            <a:r>
              <a:rPr lang="en-US" sz="2600" dirty="0">
                <a:latin typeface="Book Antiqua" pitchFamily="18" charset="0"/>
              </a:rPr>
              <a:t> of online learning method is not possible.</a:t>
            </a:r>
          </a:p>
          <a:p>
            <a:pPr algn="just"/>
            <a:r>
              <a:rPr lang="en-US" sz="2600" dirty="0">
                <a:latin typeface="Book Antiqua" pitchFamily="18" charset="0"/>
              </a:rPr>
              <a:t>Since it updates weights example by example basis, it is </a:t>
            </a:r>
            <a:r>
              <a:rPr lang="en-US" sz="2600" dirty="0">
                <a:solidFill>
                  <a:srgbClr val="FF0000"/>
                </a:solidFill>
                <a:latin typeface="Book Antiqua" pitchFamily="18" charset="0"/>
              </a:rPr>
              <a:t>computationally slower than batch learning</a:t>
            </a:r>
            <a:r>
              <a:rPr lang="en-US" sz="2600" dirty="0">
                <a:latin typeface="Book Antiqua" pitchFamily="18" charset="0"/>
              </a:rPr>
              <a:t>. But, it is computationally tractable for the large training set because we do not need to store large dataset into memory at once.</a:t>
            </a: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70932255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Trade-off Between Batch and Online Learning</a:t>
            </a:r>
          </a:p>
          <a:p>
            <a:pPr algn="just"/>
            <a:r>
              <a:rPr lang="en-US" sz="2400" dirty="0">
                <a:latin typeface="Book Antiqua" pitchFamily="18" charset="0"/>
              </a:rPr>
              <a:t>If we look  above discussion, we can conclude that Batch learning is better approach. But, it is computationally intractable for large datasets.</a:t>
            </a:r>
          </a:p>
          <a:p>
            <a:pPr algn="just"/>
            <a:r>
              <a:rPr lang="en-US" sz="2400" dirty="0">
                <a:latin typeface="Book Antiqua" pitchFamily="18" charset="0"/>
              </a:rPr>
              <a:t>On the other hand, online learning is computationally tractable for large datasets but it is difficult to converge in global minim.</a:t>
            </a:r>
          </a:p>
          <a:p>
            <a:pPr algn="just"/>
            <a:r>
              <a:rPr lang="en-US" sz="2400" dirty="0">
                <a:latin typeface="Book Antiqua" pitchFamily="18" charset="0"/>
              </a:rPr>
              <a:t>Thus, the better approach is to </a:t>
            </a:r>
            <a:r>
              <a:rPr lang="en-US" sz="2400" b="1" dirty="0">
                <a:solidFill>
                  <a:srgbClr val="00B050"/>
                </a:solidFill>
                <a:latin typeface="Book Antiqua" pitchFamily="18" charset="0"/>
              </a:rPr>
              <a:t>use mini-batch learning </a:t>
            </a:r>
            <a:r>
              <a:rPr lang="en-US" sz="2400" dirty="0">
                <a:latin typeface="Book Antiqua" pitchFamily="18" charset="0"/>
              </a:rPr>
              <a:t>approach, where entire dataset is divided into batches of size 16 or 32 or 64 or 128 etc., on the basis of need and synaptic weights of the multilayer perceptron are  updated </a:t>
            </a:r>
            <a:r>
              <a:rPr lang="en-US" sz="2400" i="1" dirty="0">
                <a:latin typeface="Book Antiqua" pitchFamily="18" charset="0"/>
              </a:rPr>
              <a:t>after the presentation of all the N examples in a mini-batch.</a:t>
            </a:r>
            <a:endParaRPr lang="en-US" sz="24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0253091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A popular method for the training of </a:t>
            </a:r>
            <a:r>
              <a:rPr lang="en-US" sz="2600" dirty="0">
                <a:solidFill>
                  <a:srgbClr val="FFC000"/>
                </a:solidFill>
                <a:latin typeface="Book Antiqua" pitchFamily="18" charset="0"/>
              </a:rPr>
              <a:t>multilayer perceptron</a:t>
            </a:r>
            <a:r>
              <a:rPr lang="en-US" sz="2600" dirty="0">
                <a:latin typeface="Book Antiqua" pitchFamily="18" charset="0"/>
              </a:rPr>
              <a:t>s is the back-propagation algorithm. The training proceeds in two phases:</a:t>
            </a:r>
          </a:p>
          <a:p>
            <a:pPr lvl="1" algn="just"/>
            <a:r>
              <a:rPr lang="en-US" sz="2400" b="1" dirty="0">
                <a:latin typeface="Book Antiqua" pitchFamily="18" charset="0"/>
              </a:rPr>
              <a:t>Forward Phase</a:t>
            </a:r>
            <a:r>
              <a:rPr lang="en-US" sz="2400" dirty="0">
                <a:latin typeface="Book Antiqua" pitchFamily="18" charset="0"/>
              </a:rPr>
              <a:t>: In this phase, the synaptic weights of the network are fixed and the input signal is propagated through the network, layer by layer, until it reaches the output. Thus, in this phase, changes are confined to the activation potentials and outputs of the neurons in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04047852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lvl="1" algn="just"/>
            <a:r>
              <a:rPr lang="en-US" sz="2400" b="1" dirty="0">
                <a:latin typeface="Book Antiqua" pitchFamily="18" charset="0"/>
              </a:rPr>
              <a:t>Backward Phase</a:t>
            </a:r>
            <a:r>
              <a:rPr lang="en-US" sz="2400" dirty="0">
                <a:latin typeface="Book Antiqua" pitchFamily="18" charset="0"/>
              </a:rPr>
              <a:t>: In this phase, </a:t>
            </a:r>
            <a:r>
              <a:rPr lang="en-US" sz="2400" dirty="0">
                <a:solidFill>
                  <a:srgbClr val="C00000"/>
                </a:solidFill>
                <a:latin typeface="Book Antiqua" pitchFamily="18" charset="0"/>
              </a:rPr>
              <a:t>an error signal </a:t>
            </a:r>
            <a:r>
              <a:rPr lang="en-US" sz="2400" dirty="0">
                <a:latin typeface="Book Antiqua" pitchFamily="18" charset="0"/>
              </a:rPr>
              <a:t>is produced by comparing the </a:t>
            </a:r>
            <a:r>
              <a:rPr lang="en-US" sz="2400" dirty="0">
                <a:solidFill>
                  <a:srgbClr val="C00000"/>
                </a:solidFill>
                <a:latin typeface="Book Antiqua" pitchFamily="18" charset="0"/>
              </a:rPr>
              <a:t>output</a:t>
            </a:r>
            <a:r>
              <a:rPr lang="en-US" sz="2400" dirty="0">
                <a:latin typeface="Book Antiqua" pitchFamily="18" charset="0"/>
              </a:rPr>
              <a:t> of the network with a </a:t>
            </a:r>
            <a:r>
              <a:rPr lang="en-US" sz="2400" dirty="0">
                <a:solidFill>
                  <a:srgbClr val="C00000"/>
                </a:solidFill>
                <a:latin typeface="Book Antiqua" pitchFamily="18" charset="0"/>
              </a:rPr>
              <a:t>desired</a:t>
            </a:r>
            <a:r>
              <a:rPr lang="en-US" sz="2400" dirty="0">
                <a:latin typeface="Book Antiqua" pitchFamily="18" charset="0"/>
              </a:rPr>
              <a:t> response. The resulting error signal is </a:t>
            </a:r>
            <a:r>
              <a:rPr lang="en-US" sz="2400" dirty="0">
                <a:solidFill>
                  <a:schemeClr val="accent6">
                    <a:lumMod val="75000"/>
                  </a:schemeClr>
                </a:solidFill>
                <a:latin typeface="Book Antiqua" pitchFamily="18" charset="0"/>
              </a:rPr>
              <a:t>propagated in backward direction </a:t>
            </a:r>
            <a:r>
              <a:rPr lang="en-US" sz="2400" dirty="0">
                <a:latin typeface="Book Antiqua" pitchFamily="18" charset="0"/>
              </a:rPr>
              <a:t>through the network, again layer by layer. In this second phase, successive adjustments are made to the </a:t>
            </a:r>
            <a:r>
              <a:rPr lang="en-US" sz="2400" dirty="0">
                <a:solidFill>
                  <a:schemeClr val="accent6">
                    <a:lumMod val="75000"/>
                  </a:schemeClr>
                </a:solidFill>
                <a:latin typeface="Book Antiqua" pitchFamily="18" charset="0"/>
              </a:rPr>
              <a:t>synaptic weights of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246311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error signal at the output of neuron j at iteration n is given by</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total </a:t>
            </a:r>
            <a:r>
              <a:rPr lang="en-US" sz="2600" b="1" dirty="0">
                <a:solidFill>
                  <a:srgbClr val="00B050"/>
                </a:solidFill>
                <a:latin typeface="Book Antiqua" pitchFamily="18" charset="0"/>
              </a:rPr>
              <a:t>instantaneous error energy E(n) </a:t>
            </a:r>
            <a:r>
              <a:rPr lang="en-US" sz="2600" dirty="0">
                <a:latin typeface="Book Antiqua" pitchFamily="18" charset="0"/>
              </a:rPr>
              <a:t>for all the neurons in the output layer is therefore</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47</a:t>
            </a:fld>
            <a:endParaRPr lang="en-US"/>
          </a:p>
        </p:txBody>
      </p:sp>
      <p:sp>
        <p:nvSpPr>
          <p:cNvPr id="14" name="Footer Placeholder 13"/>
          <p:cNvSpPr>
            <a:spLocks noGrp="1"/>
          </p:cNvSpPr>
          <p:nvPr>
            <p:ph type="ftr" sz="quarter" idx="11"/>
          </p:nvPr>
        </p:nvSpPr>
        <p:spPr/>
        <p:txBody>
          <a:bodyPr/>
          <a:lstStyle/>
          <a:p>
            <a:r>
              <a:rPr lang="en-US"/>
              <a:t>ANN-CSIT               By: Arjun Saud</a:t>
            </a:r>
          </a:p>
        </p:txBody>
      </p:sp>
      <mc:AlternateContent xmlns:mc="http://schemas.openxmlformats.org/markup-compatibility/2006" xmlns:a14="http://schemas.microsoft.com/office/drawing/2010/main">
        <mc:Choice Requires="a14">
          <p:sp>
            <p:nvSpPr>
              <p:cNvPr id="16" name="Object 15"/>
              <p:cNvSpPr txBox="1"/>
              <p:nvPr/>
            </p:nvSpPr>
            <p:spPr bwMode="auto">
              <a:xfrm>
                <a:off x="990600" y="2209800"/>
                <a:ext cx="7772400" cy="9144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𝑒</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sSub>
                        <m:sSubPr>
                          <m:ctrlPr>
                            <a:rPr lang="en-US" i="1">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𝑑</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sSub>
                        <m:sSubPr>
                          <m:ctrlPr>
                            <a:rPr lang="en-US" i="1">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𝑦</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oMath>
                    <m:oMath xmlns:m="http://schemas.openxmlformats.org/officeDocument/2006/math">
                      <m:r>
                        <a:rPr lang="en-US" i="1">
                          <a:solidFill>
                            <a:srgbClr val="000000"/>
                          </a:solidFill>
                          <a:latin typeface="Cambria Math" panose="02040503050406030204" pitchFamily="18" charset="0"/>
                        </a:rPr>
                        <m:t>𝑤h𝑒𝑟𝑒</m:t>
                      </m:r>
                      <m: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desired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output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m:rPr>
                              <m:nor/>
                            </m:rPr>
                            <a:rPr lang="en-US" i="0">
                              <a:solidFill>
                                <a:srgbClr val="000000"/>
                              </a:solidFill>
                              <a:latin typeface="Cambria Math" panose="02040503050406030204" pitchFamily="18" charset="0"/>
                            </a:rPr>
                            <m:t>y</m:t>
                          </m:r>
                        </m:e>
                        <m:sub>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output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produced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by</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MLP</m:t>
                      </m:r>
                    </m:oMath>
                  </m:oMathPara>
                </a14:m>
                <a:endParaRPr lang="en-US" dirty="0"/>
              </a:p>
            </p:txBody>
          </p:sp>
        </mc:Choice>
        <mc:Fallback xmlns="">
          <p:sp>
            <p:nvSpPr>
              <p:cNvPr id="16" name="Object 15"/>
              <p:cNvSpPr txBox="1">
                <a:spLocks noRot="1" noChangeAspect="1" noMove="1" noResize="1" noEditPoints="1" noAdjustHandles="1" noChangeArrowheads="1" noChangeShapeType="1" noTextEdit="1"/>
              </p:cNvSpPr>
              <p:nvPr/>
            </p:nvSpPr>
            <p:spPr bwMode="auto">
              <a:xfrm>
                <a:off x="990600" y="2209800"/>
                <a:ext cx="7772400" cy="914400"/>
              </a:xfrm>
              <a:prstGeom prst="rect">
                <a:avLst/>
              </a:prstGeom>
              <a:blipFill>
                <a:blip r:embed="rId2"/>
                <a:stretch>
                  <a:fillRect/>
                </a:stretch>
              </a:blipFill>
            </p:spPr>
            <p:txBody>
              <a:bodyPr/>
              <a:lstStyle/>
              <a:p>
                <a:r>
                  <a:rPr lang="en-US">
                    <a:noFill/>
                  </a:rPr>
                  <a:t> </a:t>
                </a:r>
              </a:p>
            </p:txBody>
          </p:sp>
        </mc:Fallback>
      </mc:AlternateContent>
      <p:graphicFrame>
        <p:nvGraphicFramePr>
          <p:cNvPr id="5126" name="Object 6"/>
          <p:cNvGraphicFramePr>
            <a:graphicFrameLocks noChangeAspect="1"/>
          </p:cNvGraphicFramePr>
          <p:nvPr/>
        </p:nvGraphicFramePr>
        <p:xfrm>
          <a:off x="1219200" y="4038600"/>
          <a:ext cx="5638800" cy="1382506"/>
        </p:xfrm>
        <a:graphic>
          <a:graphicData uri="http://schemas.openxmlformats.org/presentationml/2006/ole">
            <mc:AlternateContent xmlns:mc="http://schemas.openxmlformats.org/markup-compatibility/2006">
              <mc:Choice xmlns:v="urn:schemas-microsoft-com:vml" Requires="v">
                <p:oleObj name="Equation" r:id="rId3" imgW="2692080" imgH="660240" progId="Equation.3">
                  <p:embed/>
                </p:oleObj>
              </mc:Choice>
              <mc:Fallback>
                <p:oleObj name="Equation" r:id="rId3" imgW="2692080" imgH="660240" progId="Equation.3">
                  <p:embed/>
                  <p:pic>
                    <p:nvPicPr>
                      <p:cNvPr id="51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038600"/>
                        <a:ext cx="5638800" cy="1382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767069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 N be the total number of training vectors (examples). Then the average squared error is: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Consider the </a:t>
            </a:r>
            <a:r>
              <a:rPr lang="en-US" sz="2600" dirty="0">
                <a:solidFill>
                  <a:srgbClr val="00B050"/>
                </a:solidFill>
                <a:latin typeface="Book Antiqua" pitchFamily="18" charset="0"/>
              </a:rPr>
              <a:t>neuron j </a:t>
            </a:r>
            <a:r>
              <a:rPr lang="en-US" sz="2600" dirty="0">
                <a:latin typeface="Book Antiqua" pitchFamily="18" charset="0"/>
              </a:rPr>
              <a:t>as given in next slide. The </a:t>
            </a:r>
            <a:r>
              <a:rPr lang="en-US" sz="2600" dirty="0">
                <a:solidFill>
                  <a:srgbClr val="00B050"/>
                </a:solidFill>
                <a:latin typeface="Book Antiqua" pitchFamily="18" charset="0"/>
              </a:rPr>
              <a:t>local field </a:t>
            </a:r>
            <a:r>
              <a:rPr lang="en-US" sz="2600" i="1" dirty="0">
                <a:solidFill>
                  <a:srgbClr val="00B050"/>
                </a:solidFill>
                <a:latin typeface="Book Antiqua" pitchFamily="18" charset="0"/>
              </a:rPr>
              <a:t>v</a:t>
            </a:r>
            <a:r>
              <a:rPr lang="en-US" sz="2600" i="1" baseline="-25000" dirty="0">
                <a:solidFill>
                  <a:srgbClr val="00B050"/>
                </a:solidFill>
                <a:latin typeface="Book Antiqua" pitchFamily="18" charset="0"/>
              </a:rPr>
              <a:t>j</a:t>
            </a:r>
            <a:r>
              <a:rPr lang="en-US" sz="2600" i="1" dirty="0">
                <a:solidFill>
                  <a:srgbClr val="00B050"/>
                </a:solidFill>
                <a:latin typeface="Book Antiqua" pitchFamily="18" charset="0"/>
              </a:rPr>
              <a:t>(n) </a:t>
            </a:r>
            <a:r>
              <a:rPr lang="en-US" sz="2600" dirty="0">
                <a:latin typeface="Book Antiqua" pitchFamily="18" charset="0"/>
              </a:rPr>
              <a:t>and </a:t>
            </a:r>
            <a:r>
              <a:rPr lang="en-US" sz="2600" dirty="0">
                <a:solidFill>
                  <a:srgbClr val="00B050"/>
                </a:solidFill>
                <a:latin typeface="Book Antiqua" pitchFamily="18" charset="0"/>
              </a:rPr>
              <a:t>output </a:t>
            </a:r>
            <a:r>
              <a:rPr lang="en-US" sz="2600" i="1" dirty="0" err="1">
                <a:solidFill>
                  <a:srgbClr val="00B050"/>
                </a:solidFill>
                <a:latin typeface="Book Antiqua" pitchFamily="18" charset="0"/>
              </a:rPr>
              <a:t>y</a:t>
            </a:r>
            <a:r>
              <a:rPr lang="en-US" sz="2600" i="1" baseline="-25000" dirty="0" err="1">
                <a:solidFill>
                  <a:srgbClr val="00B050"/>
                </a:solidFill>
                <a:latin typeface="Book Antiqua" pitchFamily="18" charset="0"/>
              </a:rPr>
              <a:t>j</a:t>
            </a:r>
            <a:r>
              <a:rPr lang="en-US" sz="2600" i="1" dirty="0">
                <a:solidFill>
                  <a:srgbClr val="00B050"/>
                </a:solidFill>
                <a:latin typeface="Book Antiqua" pitchFamily="18" charset="0"/>
              </a:rPr>
              <a:t>(n)</a:t>
            </a:r>
            <a:r>
              <a:rPr lang="en-US" sz="2600" dirty="0">
                <a:solidFill>
                  <a:srgbClr val="00B050"/>
                </a:solidFill>
                <a:latin typeface="Book Antiqua" pitchFamily="18" charset="0"/>
              </a:rPr>
              <a:t> of neuron j</a:t>
            </a:r>
            <a:r>
              <a:rPr lang="en-US" sz="2600" dirty="0">
                <a:latin typeface="Book Antiqua" pitchFamily="18" charset="0"/>
              </a:rPr>
              <a:t> is given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5126" name="Object 6"/>
          <p:cNvGraphicFramePr>
            <a:graphicFrameLocks noChangeAspect="1"/>
          </p:cNvGraphicFramePr>
          <p:nvPr/>
        </p:nvGraphicFramePr>
        <p:xfrm>
          <a:off x="1143000" y="2286000"/>
          <a:ext cx="2287587" cy="903287"/>
        </p:xfrm>
        <a:graphic>
          <a:graphicData uri="http://schemas.openxmlformats.org/presentationml/2006/ole">
            <mc:AlternateContent xmlns:mc="http://schemas.openxmlformats.org/markup-compatibility/2006">
              <mc:Choice xmlns:v="urn:schemas-microsoft-com:vml" Requires="v">
                <p:oleObj name="Equation" r:id="rId2" imgW="1091880" imgH="431640" progId="Equation.3">
                  <p:embed/>
                </p:oleObj>
              </mc:Choice>
              <mc:Fallback>
                <p:oleObj name="Equation" r:id="rId2" imgW="1091880" imgH="431640" progId="Equation.3">
                  <p:embed/>
                  <p:pic>
                    <p:nvPicPr>
                      <p:cNvPr id="512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86000"/>
                        <a:ext cx="2287587" cy="903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5"/>
          <p:cNvGraphicFramePr>
            <a:graphicFrameLocks noChangeAspect="1"/>
          </p:cNvGraphicFramePr>
          <p:nvPr/>
        </p:nvGraphicFramePr>
        <p:xfrm>
          <a:off x="762001" y="4343401"/>
          <a:ext cx="8382000" cy="1781355"/>
        </p:xfrm>
        <a:graphic>
          <a:graphicData uri="http://schemas.openxmlformats.org/presentationml/2006/ole">
            <mc:AlternateContent xmlns:mc="http://schemas.openxmlformats.org/markup-compatibility/2006">
              <mc:Choice xmlns:v="urn:schemas-microsoft-com:vml" Requires="v">
                <p:oleObj name="Equation" r:id="rId4" imgW="4419360" imgH="939600" progId="Equation.3">
                  <p:embed/>
                </p:oleObj>
              </mc:Choice>
              <mc:Fallback>
                <p:oleObj name="Equation" r:id="rId4" imgW="4419360" imgH="939600" progId="Equation.3">
                  <p:embed/>
                  <p:pic>
                    <p:nvPicPr>
                      <p:cNvPr id="614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1" y="4343401"/>
                        <a:ext cx="8382000" cy="1781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880145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49</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6148" name="Picture 4"/>
          <p:cNvPicPr>
            <a:picLocks noChangeAspect="1" noChangeArrowheads="1"/>
          </p:cNvPicPr>
          <p:nvPr/>
        </p:nvPicPr>
        <p:blipFill>
          <a:blip r:embed="rId2"/>
          <a:srcRect/>
          <a:stretch>
            <a:fillRect/>
          </a:stretch>
        </p:blipFill>
        <p:spPr bwMode="auto">
          <a:xfrm>
            <a:off x="609600" y="1752600"/>
            <a:ext cx="8055866" cy="4114800"/>
          </a:xfrm>
          <a:prstGeom prst="rect">
            <a:avLst/>
          </a:prstGeom>
          <a:noFill/>
          <a:ln w="9525">
            <a:noFill/>
            <a:miter lim="800000"/>
            <a:headEnd/>
            <a:tailEnd/>
          </a:ln>
          <a:effectLst/>
        </p:spPr>
      </p:pic>
    </p:spTree>
    <p:extLst>
      <p:ext uri="{BB962C8B-B14F-4D97-AF65-F5344CB8AC3E}">
        <p14:creationId xmlns:p14="http://schemas.microsoft.com/office/powerpoint/2010/main" val="323472028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correction       made to the weight is proportional to the partial derivative                      of instantaneous error  </a:t>
            </a:r>
          </a:p>
          <a:p>
            <a:pPr algn="just"/>
            <a:r>
              <a:rPr lang="en-US" sz="2600" dirty="0">
                <a:latin typeface="Book Antiqua" pitchFamily="18" charset="0"/>
              </a:rPr>
              <a:t>Using the chain rule of calculus, this gradient can be expressed as follows: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We can get following partial derivatives</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196" name="Object 4"/>
          <p:cNvGraphicFramePr>
            <a:graphicFrameLocks noChangeAspect="1"/>
          </p:cNvGraphicFramePr>
          <p:nvPr/>
        </p:nvGraphicFramePr>
        <p:xfrm>
          <a:off x="3429000" y="1371600"/>
          <a:ext cx="990600" cy="495300"/>
        </p:xfrm>
        <a:graphic>
          <a:graphicData uri="http://schemas.openxmlformats.org/presentationml/2006/ole">
            <mc:AlternateContent xmlns:mc="http://schemas.openxmlformats.org/markup-compatibility/2006">
              <mc:Choice xmlns:v="urn:schemas-microsoft-com:vml" Requires="v">
                <p:oleObj name="Equation" r:id="rId2" imgW="482400" imgH="241200" progId="Equation.3">
                  <p:embed/>
                </p:oleObj>
              </mc:Choice>
              <mc:Fallback>
                <p:oleObj name="Equation" r:id="rId2" imgW="482400" imgH="241200" progId="Equation.3">
                  <p:embed/>
                  <p:pic>
                    <p:nvPicPr>
                      <p:cNvPr id="81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371600"/>
                        <a:ext cx="990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5"/>
          <p:cNvGraphicFramePr>
            <a:graphicFrameLocks noChangeAspect="1"/>
          </p:cNvGraphicFramePr>
          <p:nvPr/>
        </p:nvGraphicFramePr>
        <p:xfrm>
          <a:off x="6553200" y="1828800"/>
          <a:ext cx="1428751" cy="381000"/>
        </p:xfrm>
        <a:graphic>
          <a:graphicData uri="http://schemas.openxmlformats.org/presentationml/2006/ole">
            <mc:AlternateContent xmlns:mc="http://schemas.openxmlformats.org/markup-compatibility/2006">
              <mc:Choice xmlns:v="urn:schemas-microsoft-com:vml" Requires="v">
                <p:oleObj name="Equation" r:id="rId4" imgW="876240" imgH="241200" progId="Equation.3">
                  <p:embed/>
                </p:oleObj>
              </mc:Choice>
              <mc:Fallback>
                <p:oleObj name="Equation" r:id="rId4" imgW="876240" imgH="241200" progId="Equation.3">
                  <p:embed/>
                  <p:pic>
                    <p:nvPicPr>
                      <p:cNvPr id="81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1828800"/>
                        <a:ext cx="1428751"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8" name="Object 6"/>
          <p:cNvGraphicFramePr>
            <a:graphicFrameLocks noChangeAspect="1"/>
          </p:cNvGraphicFramePr>
          <p:nvPr/>
        </p:nvGraphicFramePr>
        <p:xfrm>
          <a:off x="990600" y="3505200"/>
          <a:ext cx="6437312" cy="963613"/>
        </p:xfrm>
        <a:graphic>
          <a:graphicData uri="http://schemas.openxmlformats.org/presentationml/2006/ole">
            <mc:AlternateContent xmlns:mc="http://schemas.openxmlformats.org/markup-compatibility/2006">
              <mc:Choice xmlns:v="urn:schemas-microsoft-com:vml" Requires="v">
                <p:oleObj name="Equation" r:id="rId6" imgW="3136680" imgH="469800" progId="Equation.3">
                  <p:embed/>
                </p:oleObj>
              </mc:Choice>
              <mc:Fallback>
                <p:oleObj name="Equation" r:id="rId6" imgW="3136680" imgH="469800" progId="Equation.3">
                  <p:embed/>
                  <p:pic>
                    <p:nvPicPr>
                      <p:cNvPr id="81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505200"/>
                        <a:ext cx="6437312" cy="96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9" name="Object 7"/>
          <p:cNvGraphicFramePr>
            <a:graphicFrameLocks noChangeAspect="1"/>
          </p:cNvGraphicFramePr>
          <p:nvPr/>
        </p:nvGraphicFramePr>
        <p:xfrm>
          <a:off x="1066800" y="4953000"/>
          <a:ext cx="1903413" cy="912813"/>
        </p:xfrm>
        <a:graphic>
          <a:graphicData uri="http://schemas.openxmlformats.org/presentationml/2006/ole">
            <mc:AlternateContent xmlns:mc="http://schemas.openxmlformats.org/markup-compatibility/2006">
              <mc:Choice xmlns:v="urn:schemas-microsoft-com:vml" Requires="v">
                <p:oleObj name="Equation" r:id="rId8" imgW="927000" imgH="444240" progId="Equation.3">
                  <p:embed/>
                </p:oleObj>
              </mc:Choice>
              <mc:Fallback>
                <p:oleObj name="Equation" r:id="rId8" imgW="927000" imgH="444240" progId="Equation.3">
                  <p:embed/>
                  <p:pic>
                    <p:nvPicPr>
                      <p:cNvPr id="819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953000"/>
                        <a:ext cx="190341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3581400" y="4876800"/>
          <a:ext cx="1565275" cy="965200"/>
        </p:xfrm>
        <a:graphic>
          <a:graphicData uri="http://schemas.openxmlformats.org/presentationml/2006/ole">
            <mc:AlternateContent xmlns:mc="http://schemas.openxmlformats.org/markup-compatibility/2006">
              <mc:Choice xmlns:v="urn:schemas-microsoft-com:vml" Requires="v">
                <p:oleObj name="Equation" r:id="rId10" imgW="761760" imgH="469800" progId="Equation.3">
                  <p:embed/>
                </p:oleObj>
              </mc:Choice>
              <mc:Fallback>
                <p:oleObj name="Equation" r:id="rId10" imgW="761760" imgH="469800" progId="Equation.3">
                  <p:embed/>
                  <p:pic>
                    <p:nvPicPr>
                      <p:cNvPr id="820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400" y="4876800"/>
                        <a:ext cx="15652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1" name="Object 9"/>
          <p:cNvGraphicFramePr>
            <a:graphicFrameLocks noChangeAspect="1"/>
          </p:cNvGraphicFramePr>
          <p:nvPr/>
        </p:nvGraphicFramePr>
        <p:xfrm>
          <a:off x="5562600" y="4876800"/>
          <a:ext cx="2427287" cy="965200"/>
        </p:xfrm>
        <a:graphic>
          <a:graphicData uri="http://schemas.openxmlformats.org/presentationml/2006/ole">
            <mc:AlternateContent xmlns:mc="http://schemas.openxmlformats.org/markup-compatibility/2006">
              <mc:Choice xmlns:v="urn:schemas-microsoft-com:vml" Requires="v">
                <p:oleObj name="Equation" r:id="rId12" imgW="1180800" imgH="469800" progId="Equation.3">
                  <p:embed/>
                </p:oleObj>
              </mc:Choice>
              <mc:Fallback>
                <p:oleObj name="Equation" r:id="rId12" imgW="1180800" imgH="469800" progId="Equation.3">
                  <p:embed/>
                  <p:pic>
                    <p:nvPicPr>
                      <p:cNvPr id="8201"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2600" y="4876800"/>
                        <a:ext cx="2427287"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6470379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Putting all partial derivatives in equation 1, we get</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800" dirty="0">
                <a:latin typeface="Book Antiqua" pitchFamily="18" charset="0"/>
              </a:rPr>
              <a:t>The correction applied to the weight is defined by</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01" name="Object 9"/>
          <p:cNvGraphicFramePr>
            <a:graphicFrameLocks noChangeAspect="1"/>
          </p:cNvGraphicFramePr>
          <p:nvPr/>
        </p:nvGraphicFramePr>
        <p:xfrm>
          <a:off x="914400" y="1676400"/>
          <a:ext cx="2009775" cy="965200"/>
        </p:xfrm>
        <a:graphic>
          <a:graphicData uri="http://schemas.openxmlformats.org/presentationml/2006/ole">
            <mc:AlternateContent xmlns:mc="http://schemas.openxmlformats.org/markup-compatibility/2006">
              <mc:Choice xmlns:v="urn:schemas-microsoft-com:vml" Requires="v">
                <p:oleObj name="Equation" r:id="rId2" imgW="977760" imgH="469800" progId="Equation.3">
                  <p:embed/>
                </p:oleObj>
              </mc:Choice>
              <mc:Fallback>
                <p:oleObj name="Equation" r:id="rId2" imgW="977760" imgH="469800" progId="Equation.3">
                  <p:embed/>
                  <p:pic>
                    <p:nvPicPr>
                      <p:cNvPr id="8201"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20097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8"/>
          <p:cNvGraphicFramePr>
            <a:graphicFrameLocks noChangeAspect="1"/>
          </p:cNvGraphicFramePr>
          <p:nvPr/>
        </p:nvGraphicFramePr>
        <p:xfrm>
          <a:off x="990600" y="3429000"/>
          <a:ext cx="5368925" cy="912812"/>
        </p:xfrm>
        <a:graphic>
          <a:graphicData uri="http://schemas.openxmlformats.org/presentationml/2006/ole">
            <mc:AlternateContent xmlns:mc="http://schemas.openxmlformats.org/markup-compatibility/2006">
              <mc:Choice xmlns:v="urn:schemas-microsoft-com:vml" Requires="v">
                <p:oleObj name="Equation" r:id="rId4" imgW="2616120" imgH="444240" progId="Equation.3">
                  <p:embed/>
                </p:oleObj>
              </mc:Choice>
              <mc:Fallback>
                <p:oleObj name="Equation" r:id="rId4" imgW="2616120" imgH="444240" progId="Equation.3">
                  <p:embed/>
                  <p:pic>
                    <p:nvPicPr>
                      <p:cNvPr id="1024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429000"/>
                        <a:ext cx="53689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9"/>
          <p:cNvGraphicFramePr>
            <a:graphicFrameLocks noChangeAspect="1"/>
          </p:cNvGraphicFramePr>
          <p:nvPr/>
        </p:nvGraphicFramePr>
        <p:xfrm>
          <a:off x="762000" y="5181600"/>
          <a:ext cx="4195763" cy="912813"/>
        </p:xfrm>
        <a:graphic>
          <a:graphicData uri="http://schemas.openxmlformats.org/presentationml/2006/ole">
            <mc:AlternateContent xmlns:mc="http://schemas.openxmlformats.org/markup-compatibility/2006">
              <mc:Choice xmlns:v="urn:schemas-microsoft-com:vml" Requires="v">
                <p:oleObj name="Equation" r:id="rId6" imgW="2044440" imgH="444240" progId="Equation.3">
                  <p:embed/>
                </p:oleObj>
              </mc:Choice>
              <mc:Fallback>
                <p:oleObj name="Equation" r:id="rId6" imgW="2044440" imgH="444240" progId="Equation.3">
                  <p:embed/>
                  <p:pic>
                    <p:nvPicPr>
                      <p:cNvPr id="1024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5181600"/>
                        <a:ext cx="41957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406464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Using equation (2), equation (3)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This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error term in equation 4 and 5 depends upon location of neuron in the MLP. There can be two possible scenarios.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249" name="Object 9"/>
          <p:cNvGraphicFramePr>
            <a:graphicFrameLocks noChangeAspect="1"/>
          </p:cNvGraphicFramePr>
          <p:nvPr/>
        </p:nvGraphicFramePr>
        <p:xfrm>
          <a:off x="990600" y="2057400"/>
          <a:ext cx="5562599" cy="582347"/>
        </p:xfrm>
        <a:graphic>
          <a:graphicData uri="http://schemas.openxmlformats.org/presentationml/2006/ole">
            <mc:AlternateContent xmlns:mc="http://schemas.openxmlformats.org/markup-compatibility/2006">
              <mc:Choice xmlns:v="urn:schemas-microsoft-com:vml" Requires="v">
                <p:oleObj name="Equation" r:id="rId2" imgW="2425680" imgH="253800" progId="Equation.3">
                  <p:embed/>
                </p:oleObj>
              </mc:Choice>
              <mc:Fallback>
                <p:oleObj name="Equation" r:id="rId2" imgW="2425680" imgH="253800" progId="Equation.3">
                  <p:embed/>
                  <p:pic>
                    <p:nvPicPr>
                      <p:cNvPr id="1024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57400"/>
                        <a:ext cx="5562599" cy="582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914400" y="3276600"/>
          <a:ext cx="5857875" cy="1165225"/>
        </p:xfrm>
        <a:graphic>
          <a:graphicData uri="http://schemas.openxmlformats.org/presentationml/2006/ole">
            <mc:AlternateContent xmlns:mc="http://schemas.openxmlformats.org/markup-compatibility/2006">
              <mc:Choice xmlns:v="urn:schemas-microsoft-com:vml" Requires="v">
                <p:oleObj name="Equation" r:id="rId4" imgW="2552400" imgH="507960" progId="Equation.3">
                  <p:embed/>
                </p:oleObj>
              </mc:Choice>
              <mc:Fallback>
                <p:oleObj name="Equation" r:id="rId4" imgW="2552400" imgH="507960" progId="Equation.3">
                  <p:embed/>
                  <p:pic>
                    <p:nvPicPr>
                      <p:cNvPr id="112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276600"/>
                        <a:ext cx="5857875"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115031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Case I: Neuron j is output layer neuron</a:t>
            </a:r>
          </a:p>
          <a:p>
            <a:pPr algn="just"/>
            <a:r>
              <a:rPr lang="en-US" sz="2600" dirty="0">
                <a:latin typeface="Book Antiqua" pitchFamily="18" charset="0"/>
              </a:rPr>
              <a:t>The desired response </a:t>
            </a:r>
            <a:r>
              <a:rPr lang="en-US" sz="2600" dirty="0" err="1">
                <a:latin typeface="Book Antiqua" pitchFamily="18" charset="0"/>
              </a:rPr>
              <a:t>d</a:t>
            </a:r>
            <a:r>
              <a:rPr lang="en-US" sz="2600" baseline="-25000" dirty="0" err="1">
                <a:latin typeface="Book Antiqua" pitchFamily="18" charset="0"/>
              </a:rPr>
              <a:t>j</a:t>
            </a:r>
            <a:r>
              <a:rPr lang="en-US" sz="2600" dirty="0">
                <a:latin typeface="Book Antiqua" pitchFamily="18" charset="0"/>
              </a:rPr>
              <a:t>(n) for the neuron j is directly available. Computation of the error </a:t>
            </a:r>
            <a:r>
              <a:rPr lang="en-US" sz="2600" dirty="0" err="1">
                <a:latin typeface="Book Antiqua" pitchFamily="18" charset="0"/>
              </a:rPr>
              <a:t>e</a:t>
            </a:r>
            <a:r>
              <a:rPr lang="en-US" sz="2600" baseline="-25000" dirty="0" err="1">
                <a:latin typeface="Book Antiqua" pitchFamily="18" charset="0"/>
              </a:rPr>
              <a:t>j</a:t>
            </a:r>
            <a:r>
              <a:rPr lang="en-US" sz="2600" dirty="0">
                <a:latin typeface="Book Antiqua" pitchFamily="18" charset="0"/>
              </a:rPr>
              <a:t>(n) is straightforward in this case. We can use equation 4 or 5 to calculate weight update term.</a:t>
            </a:r>
          </a:p>
          <a:p>
            <a:pPr algn="just">
              <a:buNone/>
            </a:pPr>
            <a:r>
              <a:rPr lang="en-US" sz="2600" b="1" u="sng" dirty="0">
                <a:latin typeface="Book Antiqua" pitchFamily="18" charset="0"/>
              </a:rPr>
              <a:t>Case II: Neuron j is hidden layer neuron</a:t>
            </a:r>
          </a:p>
          <a:p>
            <a:pPr algn="just"/>
            <a:r>
              <a:rPr lang="en-US" sz="2600" dirty="0">
                <a:latin typeface="Book Antiqua" pitchFamily="18" charset="0"/>
              </a:rPr>
              <a:t>There is no desired response available for neuron j. The error signal for a hidden neuron must be determined recursively in terms of the error signals of all neurons connected to it as below:</a:t>
            </a:r>
          </a:p>
          <a:p>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5844" name="Object 4"/>
          <p:cNvGraphicFramePr>
            <a:graphicFrameLocks noChangeAspect="1"/>
          </p:cNvGraphicFramePr>
          <p:nvPr/>
        </p:nvGraphicFramePr>
        <p:xfrm>
          <a:off x="1012825" y="5675313"/>
          <a:ext cx="6119813" cy="785812"/>
        </p:xfrm>
        <a:graphic>
          <a:graphicData uri="http://schemas.openxmlformats.org/presentationml/2006/ole">
            <mc:AlternateContent xmlns:mc="http://schemas.openxmlformats.org/markup-compatibility/2006">
              <mc:Choice xmlns:v="urn:schemas-microsoft-com:vml" Requires="v">
                <p:oleObj name="Equation" r:id="rId2" imgW="2666880" imgH="342720" progId="Equation.3">
                  <p:embed/>
                </p:oleObj>
              </mc:Choice>
              <mc:Fallback>
                <p:oleObj name="Equation" r:id="rId2" imgW="2666880" imgH="342720" progId="Equation.3">
                  <p:embed/>
                  <p:pic>
                    <p:nvPicPr>
                      <p:cNvPr id="358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825" y="5675313"/>
                        <a:ext cx="6119813"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5503811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a:pPr>
            <a:r>
              <a:rPr lang="en-US" sz="2400" dirty="0">
                <a:latin typeface="Book Antiqua" panose="02040602050305030304" pitchFamily="18" charset="0"/>
              </a:rPr>
              <a:t>Initialize all weights and biases in </a:t>
            </a:r>
            <a:r>
              <a:rPr lang="en-US" sz="2400" i="1" dirty="0">
                <a:latin typeface="Book Antiqua" panose="02040602050305030304" pitchFamily="18" charset="0"/>
              </a:rPr>
              <a:t>network</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While terminating condition is not satisfied</a:t>
            </a:r>
          </a:p>
          <a:p>
            <a:pPr marL="457200" lvl="0" indent="-457200">
              <a:buFont typeface="+mj-lt"/>
              <a:buAutoNum type="arabicPeriod"/>
            </a:pPr>
            <a:r>
              <a:rPr lang="en-US" sz="2400" dirty="0">
                <a:latin typeface="Book Antiqua" panose="02040602050305030304" pitchFamily="18" charset="0"/>
              </a:rPr>
              <a:t>for each training tuple </a:t>
            </a:r>
            <a:r>
              <a:rPr lang="en-US" sz="2400" b="1" i="1" dirty="0">
                <a:latin typeface="Book Antiqua" panose="02040602050305030304" pitchFamily="18" charset="0"/>
              </a:rPr>
              <a:t>X </a:t>
            </a:r>
            <a:r>
              <a:rPr lang="en-US" sz="2400" dirty="0">
                <a:latin typeface="Book Antiqua" panose="02040602050305030304" pitchFamily="18" charset="0"/>
              </a:rPr>
              <a:t>in </a:t>
            </a:r>
            <a:r>
              <a:rPr lang="en-US" sz="2400" i="1" dirty="0">
                <a:latin typeface="Book Antiqua" panose="02040602050305030304" pitchFamily="18" charset="0"/>
              </a:rPr>
              <a:t>D </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for each input layer unit </a:t>
            </a:r>
            <a:r>
              <a:rPr lang="en-US" sz="2400" i="1" dirty="0">
                <a:latin typeface="Book Antiqua" panose="02040602050305030304" pitchFamily="18" charset="0"/>
              </a:rPr>
              <a:t>j: 	</a:t>
            </a:r>
            <a:r>
              <a:rPr lang="en-US" sz="2400" i="1" dirty="0" err="1">
                <a:latin typeface="Book Antiqua" panose="02040602050305030304" pitchFamily="18" charset="0"/>
              </a:rPr>
              <a:t>y</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dirty="0">
                <a:latin typeface="Book Antiqua" panose="02040602050305030304" pitchFamily="18" charset="0"/>
              </a:rPr>
              <a:t>= </a:t>
            </a:r>
            <a:r>
              <a:rPr lang="en-US" sz="2400" dirty="0" err="1">
                <a:latin typeface="Book Antiqua" panose="02040602050305030304" pitchFamily="18" charset="0"/>
              </a:rPr>
              <a:t>x</a:t>
            </a:r>
            <a:r>
              <a:rPr lang="en-US" sz="2400" i="1" baseline="-25000" dirty="0" err="1">
                <a:latin typeface="Book Antiqua" panose="02040602050305030304" pitchFamily="18" charset="0"/>
              </a:rPr>
              <a:t>j</a:t>
            </a:r>
            <a:r>
              <a:rPr lang="en-US" sz="2400" dirty="0">
                <a:latin typeface="Book Antiqua" panose="02040602050305030304" pitchFamily="18" charset="0"/>
              </a:rPr>
              <a:t>; // output of an input unit is its actual input value</a:t>
            </a:r>
          </a:p>
          <a:p>
            <a:pPr marL="457200" lvl="0" indent="-457200">
              <a:buFont typeface="+mj-lt"/>
              <a:buAutoNum type="arabicPeriod"/>
            </a:pPr>
            <a:r>
              <a:rPr lang="en-US" sz="2400" dirty="0">
                <a:latin typeface="Book Antiqua" panose="02040602050305030304" pitchFamily="18" charset="0"/>
              </a:rPr>
              <a:t>for each hidden or output layer unit </a:t>
            </a:r>
            <a:r>
              <a:rPr lang="en-US" sz="2400" i="1" dirty="0">
                <a:latin typeface="Book Antiqua" panose="02040602050305030304" pitchFamily="18" charset="0"/>
              </a:rPr>
              <a:t>j </a:t>
            </a:r>
          </a:p>
          <a:p>
            <a:pPr marL="0" lvl="0" indent="0">
              <a:buNone/>
            </a:pPr>
            <a:r>
              <a:rPr lang="en-US" sz="2400" i="1" dirty="0">
                <a:latin typeface="Book Antiqua" panose="02040602050305030304" pitchFamily="18" charset="0"/>
                <a:ea typeface="Times New Roman" panose="02020603050405020304" pitchFamily="18" charset="0"/>
                <a:cs typeface="Times New Roman" panose="02020603050405020304" pitchFamily="18" charset="0"/>
              </a:rPr>
              <a:t>      </a:t>
            </a:r>
            <a:r>
              <a:rPr lang="en-US" sz="2200" i="1" dirty="0">
                <a:latin typeface="Book Antiqua" panose="02040602050305030304" pitchFamily="18" charset="0"/>
                <a:ea typeface="Times New Roman" panose="02020603050405020304" pitchFamily="18" charset="0"/>
                <a:cs typeface="Times New Roman" panose="02020603050405020304" pitchFamily="18" charset="0"/>
              </a:rPr>
              <a:t>compute the net input of unit j with respect to the previous     </a:t>
            </a:r>
          </a:p>
          <a:p>
            <a:pPr marL="0" lvl="0" indent="0">
              <a:buNone/>
            </a:pPr>
            <a:r>
              <a:rPr lang="en-US" sz="2200" i="1" dirty="0">
                <a:latin typeface="Book Antiqua" panose="02040602050305030304" pitchFamily="18" charset="0"/>
                <a:ea typeface="Times New Roman" panose="02020603050405020304" pitchFamily="18" charset="0"/>
                <a:cs typeface="Times New Roman" panose="02020603050405020304" pitchFamily="18" charset="0"/>
              </a:rPr>
              <a:t>       layer</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a:t>
            </a:r>
          </a:p>
          <a:p>
            <a:pPr marL="0" lv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compute the output of each unit j</a:t>
            </a:r>
            <a:endParaRPr lang="en-US" sz="3600" i="1" dirty="0">
              <a:latin typeface="Arial" panose="020B0604020202020204" pitchFamily="34" charset="0"/>
            </a:endParaRPr>
          </a:p>
          <a:p>
            <a:pPr mar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endParaRPr lang="en-US" sz="2400" dirty="0">
              <a:latin typeface="Book Antiqua" pitchFamily="18" charset="0"/>
            </a:endParaRPr>
          </a:p>
        </p:txBody>
      </p:sp>
      <p:graphicFrame>
        <p:nvGraphicFramePr>
          <p:cNvPr id="14" name="Object 13"/>
          <p:cNvGraphicFramePr>
            <a:graphicFrameLocks noChangeAspect="1"/>
          </p:cNvGraphicFramePr>
          <p:nvPr/>
        </p:nvGraphicFramePr>
        <p:xfrm>
          <a:off x="2859088" y="4954588"/>
          <a:ext cx="1497012" cy="481012"/>
        </p:xfrm>
        <a:graphic>
          <a:graphicData uri="http://schemas.openxmlformats.org/presentationml/2006/ole">
            <mc:AlternateContent xmlns:mc="http://schemas.openxmlformats.org/markup-compatibility/2006">
              <mc:Choice xmlns:v="urn:schemas-microsoft-com:vml" Requires="v">
                <p:oleObj name="Equation" r:id="rId2" imgW="838080" imgH="266400" progId="Equation.3">
                  <p:embed/>
                </p:oleObj>
              </mc:Choice>
              <mc:Fallback>
                <p:oleObj name="Equation" r:id="rId2" imgW="838080" imgH="266400" progId="Equation.3">
                  <p:embed/>
                  <p:pic>
                    <p:nvPicPr>
                      <p:cNvPr id="14"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4954588"/>
                        <a:ext cx="14970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9" name="Object 18"/>
          <p:cNvGraphicFramePr>
            <a:graphicFrameLocks noChangeAspect="1"/>
          </p:cNvGraphicFramePr>
          <p:nvPr/>
        </p:nvGraphicFramePr>
        <p:xfrm>
          <a:off x="1933575" y="5883275"/>
          <a:ext cx="1428750" cy="731838"/>
        </p:xfrm>
        <a:graphic>
          <a:graphicData uri="http://schemas.openxmlformats.org/presentationml/2006/ole">
            <mc:AlternateContent xmlns:mc="http://schemas.openxmlformats.org/markup-compatibility/2006">
              <mc:Choice xmlns:v="urn:schemas-microsoft-com:vml" Requires="v">
                <p:oleObj name="Equation" r:id="rId4" imgW="787320" imgH="406080" progId="Equation.3">
                  <p:embed/>
                </p:oleObj>
              </mc:Choice>
              <mc:Fallback>
                <p:oleObj name="Equation" r:id="rId4" imgW="787320" imgH="406080" progId="Equation.3">
                  <p:embed/>
                  <p:pic>
                    <p:nvPicPr>
                      <p:cNvPr id="19"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3575" y="5883275"/>
                        <a:ext cx="142875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EAC56E11-6B92-4542-A8A4-085CB2104B84}" type="slidenum">
              <a:rPr lang="en-US" smtClean="0"/>
              <a:pPr/>
              <a:t>54</a:t>
            </a:fld>
            <a:endParaRPr lang="en-US"/>
          </a:p>
        </p:txBody>
      </p:sp>
      <p:sp>
        <p:nvSpPr>
          <p:cNvPr id="8" name="Footer Placeholder 7"/>
          <p:cNvSpPr>
            <a:spLocks noGrp="1"/>
          </p:cNvSpPr>
          <p:nvPr>
            <p:ph type="ftr" sz="quarter" idx="11"/>
          </p:nvPr>
        </p:nvSpPr>
        <p:spPr/>
        <p:txBody>
          <a:bodyPr/>
          <a:lstStyle/>
          <a:p>
            <a:r>
              <a:rPr lang="en-US"/>
              <a:t>Prepared By: Arjun Singh Saud</a:t>
            </a:r>
          </a:p>
        </p:txBody>
      </p:sp>
    </p:spTree>
    <p:extLst>
      <p:ext uri="{BB962C8B-B14F-4D97-AF65-F5344CB8AC3E}">
        <p14:creationId xmlns:p14="http://schemas.microsoft.com/office/powerpoint/2010/main" val="2582011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Cambria" pitchFamily="18" charset="0"/>
              </a:rPr>
              <a:t>Learning in ANN</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startAt="6"/>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output layer</a:t>
            </a:r>
          </a:p>
          <a:p>
            <a:pPr marL="0" indent="0">
              <a:buNone/>
            </a:pPr>
            <a:r>
              <a:rPr lang="en-US" sz="2200" i="1" dirty="0">
                <a:latin typeface="Book Antiqua" panose="02040602050305030304" pitchFamily="18" charset="0"/>
              </a:rPr>
              <a:t>	</a:t>
            </a:r>
            <a:endParaRPr lang="en-US" sz="2200" dirty="0">
              <a:latin typeface="Book Antiqua" panose="02040602050305030304" pitchFamily="18" charset="0"/>
            </a:endParaRPr>
          </a:p>
          <a:p>
            <a:pPr marL="457200" lvl="0" indent="-457200">
              <a:buFont typeface="+mj-lt"/>
              <a:buAutoNum type="arabicPeriod" startAt="7"/>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hidden layers, from the last to the first hidden layer</a:t>
            </a:r>
          </a:p>
          <a:p>
            <a:pPr marL="0" indent="0">
              <a:buNone/>
            </a:pPr>
            <a:r>
              <a:rPr lang="en-US" sz="2200" i="1" dirty="0">
                <a:latin typeface="Book Antiqua" panose="02040602050305030304" pitchFamily="18" charset="0"/>
              </a:rPr>
              <a:t>	</a:t>
            </a:r>
            <a:r>
              <a:rPr lang="en-US" sz="2200" dirty="0">
                <a:latin typeface="Book Antiqua" panose="02040602050305030304" pitchFamily="18" charset="0"/>
              </a:rPr>
              <a:t>	</a:t>
            </a:r>
            <a:endParaRPr lang="en-US" sz="2200" i="1" dirty="0">
              <a:latin typeface="Book Antiqua" panose="02040602050305030304" pitchFamily="18" charset="0"/>
            </a:endParaRPr>
          </a:p>
          <a:p>
            <a:pPr marL="457200" lvl="0" indent="-457200">
              <a:buFont typeface="+mj-lt"/>
              <a:buAutoNum type="arabicPeriod" startAt="8"/>
            </a:pPr>
            <a:endParaRPr lang="en-US" sz="2200" dirty="0">
              <a:latin typeface="Book Antiqua" panose="02040602050305030304" pitchFamily="18" charset="0"/>
            </a:endParaRPr>
          </a:p>
          <a:p>
            <a:pPr marL="457200" lvl="0" indent="-457200">
              <a:buFont typeface="+mj-lt"/>
              <a:buAutoNum type="arabicPeriod" startAt="8"/>
            </a:pPr>
            <a:r>
              <a:rPr lang="en-US" sz="2200" dirty="0">
                <a:latin typeface="Book Antiqua" panose="02040602050305030304" pitchFamily="18" charset="0"/>
              </a:rPr>
              <a:t>for each weight </a:t>
            </a:r>
            <a:r>
              <a:rPr lang="en-US" sz="2200" i="1" dirty="0" err="1">
                <a:latin typeface="Book Antiqua" panose="02040602050305030304" pitchFamily="18" charset="0"/>
              </a:rPr>
              <a:t>w</a:t>
            </a:r>
            <a:r>
              <a:rPr lang="en-US" sz="2200" i="1" baseline="-25000" dirty="0" err="1">
                <a:latin typeface="Book Antiqua" panose="02040602050305030304" pitchFamily="18" charset="0"/>
              </a:rPr>
              <a:t>ji</a:t>
            </a:r>
            <a:r>
              <a:rPr lang="en-US" sz="2200" i="1" dirty="0">
                <a:latin typeface="Book Antiqua" panose="02040602050305030304" pitchFamily="18" charset="0"/>
              </a:rPr>
              <a:t> </a:t>
            </a:r>
            <a:r>
              <a:rPr lang="en-US" sz="2200" dirty="0">
                <a:latin typeface="Book Antiqua" panose="02040602050305030304" pitchFamily="18" charset="0"/>
              </a:rPr>
              <a:t>in </a:t>
            </a:r>
            <a:r>
              <a:rPr lang="en-US" sz="2200" i="1" dirty="0">
                <a:latin typeface="Book Antiqua" panose="02040602050305030304" pitchFamily="18" charset="0"/>
              </a:rPr>
              <a:t>network</a:t>
            </a:r>
          </a:p>
          <a:p>
            <a:pPr marL="457200" lvl="0" indent="-457200">
              <a:buNone/>
            </a:pPr>
            <a:endParaRPr lang="en-US" sz="2200" i="1" dirty="0">
              <a:latin typeface="Book Antiqua" panose="02040602050305030304" pitchFamily="18" charset="0"/>
            </a:endParaRPr>
          </a:p>
          <a:p>
            <a:pPr marL="457200" lvl="0" indent="-457200">
              <a:buNone/>
            </a:pPr>
            <a:r>
              <a:rPr lang="en-US" sz="2200" i="1" dirty="0">
                <a:latin typeface="Book Antiqua" panose="02040602050305030304" pitchFamily="18" charset="0"/>
              </a:rPr>
              <a:t>					//Weight Update</a:t>
            </a:r>
          </a:p>
          <a:p>
            <a:pPr marL="0" indent="0">
              <a:buNone/>
            </a:pPr>
            <a:r>
              <a:rPr lang="en-US" sz="2200" dirty="0">
                <a:latin typeface="Book Antiqua" panose="02040602050305030304" pitchFamily="18" charset="0"/>
                <a:sym typeface="Symbol" panose="05050102010706020507" pitchFamily="18" charset="2"/>
              </a:rPr>
              <a:t>	</a:t>
            </a:r>
          </a:p>
          <a:p>
            <a:pPr marL="0" indent="0">
              <a:buNone/>
            </a:pPr>
            <a:r>
              <a:rPr lang="en-US" sz="2200" i="1" dirty="0">
                <a:latin typeface="Book Antiqua" panose="02040602050305030304" pitchFamily="18" charset="0"/>
                <a:sym typeface="Symbol" panose="05050102010706020507" pitchFamily="18" charset="2"/>
              </a:rPr>
              <a:t>					</a:t>
            </a:r>
            <a:endParaRPr lang="en-US" sz="2200" i="1" dirty="0">
              <a:latin typeface="Book Antiqua" panose="02040602050305030304" pitchFamily="18" charset="0"/>
            </a:endParaRPr>
          </a:p>
        </p:txBody>
      </p:sp>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743200" y="3809999"/>
            <a:ext cx="115503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Slide Number Placeholder 6"/>
          <p:cNvSpPr>
            <a:spLocks noGrp="1"/>
          </p:cNvSpPr>
          <p:nvPr>
            <p:ph type="sldNum" sz="quarter" idx="12"/>
          </p:nvPr>
        </p:nvSpPr>
        <p:spPr/>
        <p:txBody>
          <a:bodyPr/>
          <a:lstStyle/>
          <a:p>
            <a:fld id="{EAC56E11-6B92-4542-A8A4-085CB2104B84}" type="slidenum">
              <a:rPr lang="en-US" smtClean="0"/>
              <a:pPr/>
              <a:t>55</a:t>
            </a:fld>
            <a:endParaRPr lang="en-US"/>
          </a:p>
        </p:txBody>
      </p:sp>
      <p:sp>
        <p:nvSpPr>
          <p:cNvPr id="8" name="Footer Placeholder 7"/>
          <p:cNvSpPr>
            <a:spLocks noGrp="1"/>
          </p:cNvSpPr>
          <p:nvPr>
            <p:ph type="ftr" sz="quarter" idx="11"/>
          </p:nvPr>
        </p:nvSpPr>
        <p:spPr/>
        <p:txBody>
          <a:bodyPr/>
          <a:lstStyle/>
          <a:p>
            <a:r>
              <a:rPr lang="en-US" dirty="0"/>
              <a:t>Prepared By: </a:t>
            </a:r>
            <a:r>
              <a:rPr lang="en-US" dirty="0" err="1"/>
              <a:t>Arjun</a:t>
            </a:r>
            <a:r>
              <a:rPr lang="en-US" dirty="0"/>
              <a:t> Singh Saud</a:t>
            </a:r>
          </a:p>
        </p:txBody>
      </p:sp>
      <p:graphicFrame>
        <p:nvGraphicFramePr>
          <p:cNvPr id="37891" name="Object 3"/>
          <p:cNvGraphicFramePr>
            <a:graphicFrameLocks noChangeAspect="1"/>
          </p:cNvGraphicFramePr>
          <p:nvPr/>
        </p:nvGraphicFramePr>
        <p:xfrm>
          <a:off x="1447800" y="2362200"/>
          <a:ext cx="4191000" cy="554869"/>
        </p:xfrm>
        <a:graphic>
          <a:graphicData uri="http://schemas.openxmlformats.org/presentationml/2006/ole">
            <mc:AlternateContent xmlns:mc="http://schemas.openxmlformats.org/markup-compatibility/2006">
              <mc:Choice xmlns:v="urn:schemas-microsoft-com:vml" Requires="v">
                <p:oleObj name="Equation" r:id="rId2" imgW="1917360" imgH="253800" progId="Equation.3">
                  <p:embed/>
                </p:oleObj>
              </mc:Choice>
              <mc:Fallback>
                <p:oleObj name="Equation" r:id="rId2" imgW="1917360" imgH="253800" progId="Equation.3">
                  <p:embed/>
                  <p:pic>
                    <p:nvPicPr>
                      <p:cNvPr id="378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362200"/>
                        <a:ext cx="4191000" cy="554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2" name="Object 4"/>
          <p:cNvGraphicFramePr>
            <a:graphicFrameLocks noChangeAspect="1"/>
          </p:cNvGraphicFramePr>
          <p:nvPr>
            <p:extLst>
              <p:ext uri="{D42A27DB-BD31-4B8C-83A1-F6EECF244321}">
                <p14:modId xmlns:p14="http://schemas.microsoft.com/office/powerpoint/2010/main" val="2008010056"/>
              </p:ext>
            </p:extLst>
          </p:nvPr>
        </p:nvGraphicFramePr>
        <p:xfrm>
          <a:off x="1343025" y="3581400"/>
          <a:ext cx="3032125" cy="785813"/>
        </p:xfrm>
        <a:graphic>
          <a:graphicData uri="http://schemas.openxmlformats.org/presentationml/2006/ole">
            <mc:AlternateContent xmlns:mc="http://schemas.openxmlformats.org/markup-compatibility/2006">
              <mc:Choice xmlns:v="urn:schemas-microsoft-com:vml" Requires="v">
                <p:oleObj name="Equation" r:id="rId4" imgW="1320480" imgH="342720" progId="Equation.3">
                  <p:embed/>
                </p:oleObj>
              </mc:Choice>
              <mc:Fallback>
                <p:oleObj name="Equation" r:id="rId4" imgW="1320480" imgH="342720" progId="Equation.3">
                  <p:embed/>
                  <p:pic>
                    <p:nvPicPr>
                      <p:cNvPr id="37892" name="Object 4"/>
                      <p:cNvPicPr>
                        <a:picLocks noChangeAspect="1" noChangeArrowheads="1"/>
                      </p:cNvPicPr>
                      <p:nvPr/>
                    </p:nvPicPr>
                    <p:blipFill>
                      <a:blip r:embed="rId5"/>
                      <a:srcRect/>
                      <a:stretch>
                        <a:fillRect/>
                      </a:stretch>
                    </p:blipFill>
                    <p:spPr bwMode="auto">
                      <a:xfrm>
                        <a:off x="1343025" y="3581400"/>
                        <a:ext cx="3032125"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5"/>
          <p:cNvGraphicFramePr>
            <a:graphicFrameLocks noChangeAspect="1"/>
          </p:cNvGraphicFramePr>
          <p:nvPr>
            <p:extLst>
              <p:ext uri="{D42A27DB-BD31-4B8C-83A1-F6EECF244321}">
                <p14:modId xmlns:p14="http://schemas.microsoft.com/office/powerpoint/2010/main" val="2520468455"/>
              </p:ext>
            </p:extLst>
          </p:nvPr>
        </p:nvGraphicFramePr>
        <p:xfrm>
          <a:off x="1658938" y="4724400"/>
          <a:ext cx="1939925" cy="1022350"/>
        </p:xfrm>
        <a:graphic>
          <a:graphicData uri="http://schemas.openxmlformats.org/presentationml/2006/ole">
            <mc:AlternateContent xmlns:mc="http://schemas.openxmlformats.org/markup-compatibility/2006">
              <mc:Choice xmlns:v="urn:schemas-microsoft-com:vml" Requires="v">
                <p:oleObj name="Equation" r:id="rId6" imgW="914400" imgH="482400" progId="Equation.3">
                  <p:embed/>
                </p:oleObj>
              </mc:Choice>
              <mc:Fallback>
                <p:oleObj name="Equation" r:id="rId6" imgW="914400" imgH="482400" progId="Equation.3">
                  <p:embed/>
                  <p:pic>
                    <p:nvPicPr>
                      <p:cNvPr id="37893" name="Object 5"/>
                      <p:cNvPicPr>
                        <a:picLocks noChangeAspect="1" noChangeArrowheads="1"/>
                      </p:cNvPicPr>
                      <p:nvPr/>
                    </p:nvPicPr>
                    <p:blipFill>
                      <a:blip r:embed="rId7"/>
                      <a:srcRect/>
                      <a:stretch>
                        <a:fillRect/>
                      </a:stretch>
                    </p:blipFill>
                    <p:spPr bwMode="auto">
                      <a:xfrm>
                        <a:off x="1658938" y="4724400"/>
                        <a:ext cx="1939925"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96364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Backpropagation algorithm needs to compute          </a:t>
            </a:r>
          </a:p>
          <a:p>
            <a:pPr algn="just">
              <a:buNone/>
            </a:pPr>
            <a:r>
              <a:rPr lang="en-US" sz="2600" dirty="0">
                <a:latin typeface="Book Antiqua" pitchFamily="18" charset="0"/>
              </a:rPr>
              <a:t>	to compute   . This depends upon choice of activation function.</a:t>
            </a:r>
          </a:p>
          <a:p>
            <a:pPr algn="just">
              <a:buNone/>
            </a:pPr>
            <a:r>
              <a:rPr lang="en-US" sz="2600" b="1" dirty="0">
                <a:latin typeface="Book Antiqua" pitchFamily="18" charset="0"/>
              </a:rPr>
              <a:t>Case I: Logistic Activation Function</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If we consider general sigmoid function, then</a:t>
            </a: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Logistic activation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5" name="Object 3"/>
          <p:cNvGraphicFramePr>
            <a:graphicFrameLocks noChangeAspect="1"/>
          </p:cNvGraphicFramePr>
          <p:nvPr/>
        </p:nvGraphicFramePr>
        <p:xfrm>
          <a:off x="7696200" y="1371600"/>
          <a:ext cx="738187" cy="434959"/>
        </p:xfrm>
        <a:graphic>
          <a:graphicData uri="http://schemas.openxmlformats.org/presentationml/2006/ole">
            <mc:AlternateContent xmlns:mc="http://schemas.openxmlformats.org/markup-compatibility/2006">
              <mc:Choice xmlns:v="urn:schemas-microsoft-com:vml" Requires="v">
                <p:oleObj name="Equation" r:id="rId2" imgW="431640" imgH="253800" progId="Equation.3">
                  <p:embed/>
                </p:oleObj>
              </mc:Choice>
              <mc:Fallback>
                <p:oleObj name="Equation" r:id="rId2" imgW="431640" imgH="253800" progId="Equation.3">
                  <p:embed/>
                  <p:pic>
                    <p:nvPicPr>
                      <p:cNvPr id="3891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1371600"/>
                        <a:ext cx="738187" cy="43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2895600" y="1905000"/>
          <a:ext cx="303212" cy="414338"/>
        </p:xfrm>
        <a:graphic>
          <a:graphicData uri="http://schemas.openxmlformats.org/presentationml/2006/ole">
            <mc:AlternateContent xmlns:mc="http://schemas.openxmlformats.org/markup-compatibility/2006">
              <mc:Choice xmlns:v="urn:schemas-microsoft-com:vml" Requires="v">
                <p:oleObj name="Equation" r:id="rId4" imgW="177480" imgH="241200" progId="Equation.3">
                  <p:embed/>
                </p:oleObj>
              </mc:Choice>
              <mc:Fallback>
                <p:oleObj name="Equation" r:id="rId4" imgW="177480" imgH="241200" progId="Equation.3">
                  <p:embed/>
                  <p:pic>
                    <p:nvPicPr>
                      <p:cNvPr id="3891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905000"/>
                        <a:ext cx="303212"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5"/>
          <p:cNvGraphicFramePr>
            <a:graphicFrameLocks noChangeAspect="1"/>
          </p:cNvGraphicFramePr>
          <p:nvPr>
            <p:extLst>
              <p:ext uri="{D42A27DB-BD31-4B8C-83A1-F6EECF244321}">
                <p14:modId xmlns:p14="http://schemas.microsoft.com/office/powerpoint/2010/main" val="2140705795"/>
              </p:ext>
            </p:extLst>
          </p:nvPr>
        </p:nvGraphicFramePr>
        <p:xfrm>
          <a:off x="1120775" y="3124200"/>
          <a:ext cx="5281613" cy="914400"/>
        </p:xfrm>
        <a:graphic>
          <a:graphicData uri="http://schemas.openxmlformats.org/presentationml/2006/ole">
            <mc:AlternateContent xmlns:mc="http://schemas.openxmlformats.org/markup-compatibility/2006">
              <mc:Choice xmlns:v="urn:schemas-microsoft-com:vml" Requires="v">
                <p:oleObj name="Equation" r:id="rId6" imgW="2273040" imgH="393480" progId="Equation.3">
                  <p:embed/>
                </p:oleObj>
              </mc:Choice>
              <mc:Fallback>
                <p:oleObj name="Equation" r:id="rId6" imgW="2273040" imgH="393480" progId="Equation.3">
                  <p:embed/>
                  <p:pic>
                    <p:nvPicPr>
                      <p:cNvPr id="3891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775" y="3124200"/>
                        <a:ext cx="5281613" cy="914400"/>
                      </a:xfrm>
                      <a:prstGeom prst="rect">
                        <a:avLst/>
                      </a:prstGeom>
                      <a:solidFill>
                        <a:srgbClr val="92D050"/>
                      </a:solidFill>
                      <a:ln>
                        <a:noFill/>
                      </a:ln>
                      <a:effectLst/>
                    </p:spPr>
                  </p:pic>
                </p:oleObj>
              </mc:Fallback>
            </mc:AlternateContent>
          </a:graphicData>
        </a:graphic>
      </p:graphicFrame>
      <p:graphicFrame>
        <p:nvGraphicFramePr>
          <p:cNvPr id="38919" name="Object 7"/>
          <p:cNvGraphicFramePr>
            <a:graphicFrameLocks noChangeAspect="1"/>
          </p:cNvGraphicFramePr>
          <p:nvPr/>
        </p:nvGraphicFramePr>
        <p:xfrm>
          <a:off x="1079500" y="4648200"/>
          <a:ext cx="5516563" cy="914400"/>
        </p:xfrm>
        <a:graphic>
          <a:graphicData uri="http://schemas.openxmlformats.org/presentationml/2006/ole">
            <mc:AlternateContent xmlns:mc="http://schemas.openxmlformats.org/markup-compatibility/2006">
              <mc:Choice xmlns:v="urn:schemas-microsoft-com:vml" Requires="v">
                <p:oleObj name="Equation" r:id="rId8" imgW="2374560" imgH="393480" progId="Equation.3">
                  <p:embed/>
                </p:oleObj>
              </mc:Choice>
              <mc:Fallback>
                <p:oleObj name="Equation" r:id="rId8" imgW="2374560" imgH="393480" progId="Equation.3">
                  <p:embed/>
                  <p:pic>
                    <p:nvPicPr>
                      <p:cNvPr id="3891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9500" y="4648200"/>
                        <a:ext cx="55165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29482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dirty="0">
                <a:latin typeface="Book Antiqua" pitchFamily="18" charset="0"/>
              </a:rPr>
              <a:t>Case II: Hyperbolic Tangent Function</a:t>
            </a:r>
          </a:p>
          <a:p>
            <a:pPr algn="just">
              <a:buNone/>
            </a:pPr>
            <a:endParaRPr lang="en-US" sz="2600" b="1" dirty="0">
              <a:latin typeface="Book Antiqua" pitchFamily="18" charset="0"/>
            </a:endParaRPr>
          </a:p>
          <a:p>
            <a:pPr algn="just">
              <a:buNone/>
            </a:pPr>
            <a:endParaRPr lang="en-US" sz="2600" b="1" dirty="0">
              <a:latin typeface="Book Antiqua" pitchFamily="18" charset="0"/>
            </a:endParaRPr>
          </a:p>
          <a:p>
            <a:pPr algn="just">
              <a:buNone/>
            </a:pPr>
            <a:r>
              <a:rPr lang="en-US" sz="2600" dirty="0">
                <a:latin typeface="Book Antiqua" pitchFamily="18" charset="0"/>
              </a:rPr>
              <a:t>If we consider general </a:t>
            </a:r>
            <a:r>
              <a:rPr lang="en-US" sz="2600" dirty="0" err="1">
                <a:latin typeface="Book Antiqua" pitchFamily="18" charset="0"/>
              </a:rPr>
              <a:t>Tanh</a:t>
            </a:r>
            <a:r>
              <a:rPr lang="en-US" sz="2600" dirty="0">
                <a:latin typeface="Book Antiqua" pitchFamily="18" charset="0"/>
              </a:rPr>
              <a:t> function, then</a:t>
            </a: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Hyperbolic Tangent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8" name="Object 6"/>
          <p:cNvGraphicFramePr>
            <a:graphicFrameLocks noChangeAspect="1"/>
          </p:cNvGraphicFramePr>
          <p:nvPr/>
        </p:nvGraphicFramePr>
        <p:xfrm>
          <a:off x="1174750" y="1933575"/>
          <a:ext cx="6135688" cy="973138"/>
        </p:xfrm>
        <a:graphic>
          <a:graphicData uri="http://schemas.openxmlformats.org/presentationml/2006/ole">
            <mc:AlternateContent xmlns:mc="http://schemas.openxmlformats.org/markup-compatibility/2006">
              <mc:Choice xmlns:v="urn:schemas-microsoft-com:vml" Requires="v">
                <p:oleObj name="Equation" r:id="rId2" imgW="2641320" imgH="419040" progId="Equation.3">
                  <p:embed/>
                </p:oleObj>
              </mc:Choice>
              <mc:Fallback>
                <p:oleObj name="Equation" r:id="rId2" imgW="2641320" imgH="419040" progId="Equation.3">
                  <p:embed/>
                  <p:pic>
                    <p:nvPicPr>
                      <p:cNvPr id="3891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1933575"/>
                        <a:ext cx="6135688"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6" name="Object 6"/>
          <p:cNvGraphicFramePr>
            <a:graphicFrameLocks noChangeAspect="1"/>
          </p:cNvGraphicFramePr>
          <p:nvPr/>
        </p:nvGraphicFramePr>
        <p:xfrm>
          <a:off x="1066800" y="3352800"/>
          <a:ext cx="6872288" cy="914400"/>
        </p:xfrm>
        <a:graphic>
          <a:graphicData uri="http://schemas.openxmlformats.org/presentationml/2006/ole">
            <mc:AlternateContent xmlns:mc="http://schemas.openxmlformats.org/markup-compatibility/2006">
              <mc:Choice xmlns:v="urn:schemas-microsoft-com:vml" Requires="v">
                <p:oleObj name="Equation" r:id="rId4" imgW="2958840" imgH="393480" progId="Equation.3">
                  <p:embed/>
                </p:oleObj>
              </mc:Choice>
              <mc:Fallback>
                <p:oleObj name="Equation" r:id="rId4" imgW="2958840" imgH="393480" progId="Equation.3">
                  <p:embed/>
                  <p:pic>
                    <p:nvPicPr>
                      <p:cNvPr id="4096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352800"/>
                        <a:ext cx="68722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4007754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Example</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39943" name="Object 7"/>
          <p:cNvGraphicFramePr>
            <a:graphicFrameLocks noChangeAspect="1"/>
          </p:cNvGraphicFramePr>
          <p:nvPr/>
        </p:nvGraphicFramePr>
        <p:xfrm>
          <a:off x="5943600" y="3200400"/>
          <a:ext cx="1466850" cy="659053"/>
        </p:xfrm>
        <a:graphic>
          <a:graphicData uri="http://schemas.openxmlformats.org/presentationml/2006/ole">
            <mc:AlternateContent xmlns:mc="http://schemas.openxmlformats.org/markup-compatibility/2006">
              <mc:Choice xmlns:v="urn:schemas-microsoft-com:vml" Requires="v">
                <p:oleObj name="Equation" r:id="rId3" imgW="876240" imgH="393480" progId="Equation.3">
                  <p:embed/>
                </p:oleObj>
              </mc:Choice>
              <mc:Fallback>
                <p:oleObj name="Equation" r:id="rId3" imgW="876240" imgH="393480" progId="Equation.3">
                  <p:embed/>
                  <p:pic>
                    <p:nvPicPr>
                      <p:cNvPr id="399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3200400"/>
                        <a:ext cx="1466850" cy="659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8180942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u="sng" dirty="0">
                <a:latin typeface="Book Antiqua" panose="02040602050305030304" pitchFamily="18" charset="0"/>
              </a:rPr>
              <a:t>Forward Pass</a:t>
            </a: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4</a:t>
            </a:r>
            <a:r>
              <a:rPr lang="en-US" sz="2400" i="1" dirty="0">
                <a:latin typeface="Book Antiqua" panose="02040602050305030304" pitchFamily="18" charset="0"/>
              </a:rPr>
              <a:t>=1*0.6+0*0.2+1*0.7=1.3		y</a:t>
            </a:r>
            <a:r>
              <a:rPr lang="en-US" sz="2400" i="1" baseline="-25000" dirty="0">
                <a:latin typeface="Book Antiqua" panose="02040602050305030304" pitchFamily="18" charset="0"/>
              </a:rPr>
              <a:t>4</a:t>
            </a:r>
            <a:r>
              <a:rPr lang="en-US" sz="2400" i="1" dirty="0">
                <a:latin typeface="Book Antiqua" panose="02040602050305030304" pitchFamily="18" charset="0"/>
              </a:rPr>
              <a:t>=1/1+e</a:t>
            </a:r>
            <a:r>
              <a:rPr lang="en-US" sz="2400" i="1" baseline="30000" dirty="0">
                <a:latin typeface="Book Antiqua" panose="02040602050305030304" pitchFamily="18" charset="0"/>
              </a:rPr>
              <a:t>-1.3</a:t>
            </a:r>
            <a:r>
              <a:rPr lang="en-US" sz="2400" i="1" dirty="0">
                <a:latin typeface="Book Antiqua" panose="02040602050305030304" pitchFamily="18" charset="0"/>
              </a:rPr>
              <a:t>=0.786</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5</a:t>
            </a:r>
            <a:r>
              <a:rPr lang="en-US" sz="2400" i="1" dirty="0">
                <a:latin typeface="Book Antiqua" panose="02040602050305030304" pitchFamily="18" charset="0"/>
              </a:rPr>
              <a:t>=1*0.4+0*(-0.3)+1*(-0.6)=-0.2	y</a:t>
            </a:r>
            <a:r>
              <a:rPr lang="en-US" sz="2400" i="1" baseline="-25000" dirty="0">
                <a:latin typeface="Book Antiqua" panose="02040602050305030304" pitchFamily="18" charset="0"/>
              </a:rPr>
              <a:t>5</a:t>
            </a:r>
            <a:r>
              <a:rPr lang="en-US" sz="2400" i="1" dirty="0">
                <a:latin typeface="Book Antiqua" panose="02040602050305030304" pitchFamily="18" charset="0"/>
              </a:rPr>
              <a:t>=1/1+e</a:t>
            </a:r>
            <a:r>
              <a:rPr lang="en-US" sz="2400" i="1" baseline="30000" dirty="0">
                <a:latin typeface="Book Antiqua" panose="02040602050305030304" pitchFamily="18" charset="0"/>
              </a:rPr>
              <a:t>0.2</a:t>
            </a:r>
            <a:r>
              <a:rPr lang="en-US" sz="2400" i="1" dirty="0">
                <a:latin typeface="Book Antiqua" panose="02040602050305030304" pitchFamily="18" charset="0"/>
              </a:rPr>
              <a:t>=0.45</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6</a:t>
            </a:r>
            <a:r>
              <a:rPr lang="en-US" sz="2400" i="1" dirty="0">
                <a:latin typeface="Book Antiqua" panose="02040602050305030304" pitchFamily="18" charset="0"/>
              </a:rPr>
              <a:t>=0.786*0.4+0.45*0.1=0.36		y</a:t>
            </a:r>
            <a:r>
              <a:rPr lang="en-US" sz="2400" i="1" baseline="-25000" dirty="0">
                <a:latin typeface="Book Antiqua" panose="02040602050305030304" pitchFamily="18" charset="0"/>
              </a:rPr>
              <a:t>6</a:t>
            </a:r>
            <a:r>
              <a:rPr lang="en-US" sz="2400" i="1" dirty="0">
                <a:latin typeface="Book Antiqua" panose="02040602050305030304" pitchFamily="18" charset="0"/>
              </a:rPr>
              <a:t>=1/1+e</a:t>
            </a:r>
            <a:r>
              <a:rPr lang="en-US" sz="2400" i="1" baseline="30000" dirty="0">
                <a:latin typeface="Book Antiqua" panose="02040602050305030304" pitchFamily="18" charset="0"/>
              </a:rPr>
              <a:t>-0.36</a:t>
            </a:r>
            <a:r>
              <a:rPr lang="en-US" sz="2400" i="1" dirty="0">
                <a:latin typeface="Book Antiqua" panose="02040602050305030304" pitchFamily="18" charset="0"/>
              </a:rPr>
              <a:t>=0.59</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7</a:t>
            </a:r>
            <a:r>
              <a:rPr lang="en-US" sz="2400" i="1" dirty="0">
                <a:latin typeface="Book Antiqua" panose="02040602050305030304" pitchFamily="18" charset="0"/>
              </a:rPr>
              <a:t>=0.786*0.7+0.45*0.8=0.91		y</a:t>
            </a:r>
            <a:r>
              <a:rPr lang="en-US" sz="2400" i="1" baseline="-25000" dirty="0">
                <a:latin typeface="Book Antiqua" panose="02040602050305030304" pitchFamily="18" charset="0"/>
              </a:rPr>
              <a:t>7</a:t>
            </a:r>
            <a:r>
              <a:rPr lang="en-US" sz="2400" i="1" dirty="0">
                <a:latin typeface="Book Antiqua" panose="02040602050305030304" pitchFamily="18" charset="0"/>
              </a:rPr>
              <a:t>=1/1+e</a:t>
            </a:r>
            <a:r>
              <a:rPr lang="en-US" sz="2400" i="1" baseline="30000" dirty="0">
                <a:latin typeface="Book Antiqua" panose="02040602050305030304" pitchFamily="18" charset="0"/>
              </a:rPr>
              <a:t>-0.91</a:t>
            </a:r>
            <a:r>
              <a:rPr lang="en-US" sz="2400" i="1" dirty="0">
                <a:latin typeface="Book Antiqua" panose="02040602050305030304" pitchFamily="18" charset="0"/>
              </a:rPr>
              <a:t>=0.71</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8</a:t>
            </a:r>
            <a:r>
              <a:rPr lang="en-US" sz="2400" i="1" dirty="0">
                <a:latin typeface="Book Antiqua" panose="02040602050305030304" pitchFamily="18" charset="0"/>
              </a:rPr>
              <a:t>=0.59*0.2+0.71*0.5=0.47		y</a:t>
            </a:r>
            <a:r>
              <a:rPr lang="en-US" sz="2400" i="1" baseline="-25000" dirty="0">
                <a:latin typeface="Book Antiqua" panose="02040602050305030304" pitchFamily="18" charset="0"/>
              </a:rPr>
              <a:t>8</a:t>
            </a:r>
            <a:r>
              <a:rPr lang="en-US" sz="2400" i="1" dirty="0">
                <a:latin typeface="Book Antiqua" panose="02040602050305030304" pitchFamily="18" charset="0"/>
              </a:rPr>
              <a:t>=1/1+e</a:t>
            </a:r>
            <a:r>
              <a:rPr lang="en-US" sz="2400" i="1" baseline="30000" dirty="0">
                <a:latin typeface="Book Antiqua" panose="02040602050305030304" pitchFamily="18" charset="0"/>
              </a:rPr>
              <a:t>-0.47</a:t>
            </a:r>
            <a:r>
              <a:rPr lang="en-US" sz="2400" i="1" dirty="0">
                <a:latin typeface="Book Antiqua" panose="02040602050305030304" pitchFamily="18" charset="0"/>
              </a:rPr>
              <a:t>=0.61</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936824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Backward Pass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1986" name="Object 2"/>
          <p:cNvGraphicFramePr>
            <a:graphicFrameLocks noChangeAspect="1"/>
          </p:cNvGraphicFramePr>
          <p:nvPr/>
        </p:nvGraphicFramePr>
        <p:xfrm>
          <a:off x="457200" y="2362200"/>
          <a:ext cx="8158163" cy="3527425"/>
        </p:xfrm>
        <a:graphic>
          <a:graphicData uri="http://schemas.openxmlformats.org/presentationml/2006/ole">
            <mc:AlternateContent xmlns:mc="http://schemas.openxmlformats.org/markup-compatibility/2006">
              <mc:Choice xmlns:v="urn:schemas-microsoft-com:vml" Requires="v">
                <p:oleObj name="Equation" r:id="rId2" imgW="3733560" imgH="1612800" progId="Equation.3">
                  <p:embed/>
                </p:oleObj>
              </mc:Choice>
              <mc:Fallback>
                <p:oleObj name="Equation" r:id="rId2" imgW="3733560" imgH="1612800" progId="Equation.3">
                  <p:embed/>
                  <p:pic>
                    <p:nvPicPr>
                      <p:cNvPr id="419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815816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137692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Update Weights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3011" name="Object 3"/>
          <p:cNvGraphicFramePr>
            <a:graphicFrameLocks noChangeAspect="1"/>
          </p:cNvGraphicFramePr>
          <p:nvPr/>
        </p:nvGraphicFramePr>
        <p:xfrm>
          <a:off x="457200" y="2286000"/>
          <a:ext cx="7581900" cy="3851275"/>
        </p:xfrm>
        <a:graphic>
          <a:graphicData uri="http://schemas.openxmlformats.org/presentationml/2006/ole">
            <mc:AlternateContent xmlns:mc="http://schemas.openxmlformats.org/markup-compatibility/2006">
              <mc:Choice xmlns:v="urn:schemas-microsoft-com:vml" Requires="v">
                <p:oleObj name="Equation" r:id="rId2" imgW="3670200" imgH="1866600" progId="Equation.3">
                  <p:embed/>
                </p:oleObj>
              </mc:Choice>
              <mc:Fallback>
                <p:oleObj name="Equation" r:id="rId2" imgW="3670200" imgH="1866600" progId="Equation.3">
                  <p:embed/>
                  <p:pic>
                    <p:nvPicPr>
                      <p:cNvPr id="4301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0"/>
                        <a:ext cx="7581900"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3467325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HW</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48131" name="Object 3"/>
          <p:cNvGraphicFramePr>
            <a:graphicFrameLocks noChangeAspect="1"/>
          </p:cNvGraphicFramePr>
          <p:nvPr/>
        </p:nvGraphicFramePr>
        <p:xfrm>
          <a:off x="6019800" y="3257552"/>
          <a:ext cx="2317750" cy="800953"/>
        </p:xfrm>
        <a:graphic>
          <a:graphicData uri="http://schemas.openxmlformats.org/presentationml/2006/ole">
            <mc:AlternateContent xmlns:mc="http://schemas.openxmlformats.org/markup-compatibility/2006">
              <mc:Choice xmlns:v="urn:schemas-microsoft-com:vml" Requires="v">
                <p:oleObj name="Equation" r:id="rId3" imgW="1358640" imgH="469800" progId="Equation.3">
                  <p:embed/>
                </p:oleObj>
              </mc:Choice>
              <mc:Fallback>
                <p:oleObj name="Equation" r:id="rId3" imgW="1358640" imgH="469800" progId="Equation.3">
                  <p:embed/>
                  <p:pic>
                    <p:nvPicPr>
                      <p:cNvPr id="481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257552"/>
                        <a:ext cx="2317750" cy="80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1263070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0750" y="3770988"/>
            <a:ext cx="4095750" cy="2780145"/>
          </a:xfrm>
        </p:spPr>
      </p:pic>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63</a:t>
            </a:fld>
            <a:endParaRPr lang="en-US"/>
          </a:p>
        </p:txBody>
      </p:sp>
      <p:sp>
        <p:nvSpPr>
          <p:cNvPr id="8" name="TextBox 7"/>
          <p:cNvSpPr txBox="1"/>
          <p:nvPr/>
        </p:nvSpPr>
        <p:spPr>
          <a:xfrm>
            <a:off x="609600" y="1524000"/>
            <a:ext cx="8077200" cy="2677656"/>
          </a:xfrm>
          <a:prstGeom prst="rect">
            <a:avLst/>
          </a:prstGeom>
          <a:noFill/>
        </p:spPr>
        <p:txBody>
          <a:bodyPr wrap="square" rtlCol="0">
            <a:spAutoFit/>
          </a:bodyPr>
          <a:lstStyle/>
          <a:p>
            <a:pPr algn="just"/>
            <a:r>
              <a:rPr lang="en-US" sz="2400" b="1" u="sng" dirty="0">
                <a:latin typeface="Book Antiqua" panose="02040602050305030304" pitchFamily="18" charset="0"/>
              </a:rPr>
              <a:t>HW</a:t>
            </a:r>
          </a:p>
          <a:p>
            <a:pPr algn="just"/>
            <a:r>
              <a:rPr lang="en-US" sz="2400" dirty="0">
                <a:latin typeface="Book Antiqua" panose="02040602050305030304" pitchFamily="18" charset="0"/>
              </a:rPr>
              <a:t>Consider a MLP given below. Let the learning rate be 1. The initial weights of the network are given in the figure. Assume that first training tuple is (1, 0) and its target output is 1. Calculate weight updates by using back-propagation algorithm. Assume Logistic activation function.</a:t>
            </a:r>
            <a:endParaRPr lang="en-US" sz="2400" dirty="0"/>
          </a:p>
        </p:txBody>
      </p:sp>
    </p:spTree>
    <p:extLst>
      <p:ext uri="{BB962C8B-B14F-4D97-AF65-F5344CB8AC3E}">
        <p14:creationId xmlns:p14="http://schemas.microsoft.com/office/powerpoint/2010/main" val="48833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know that </a:t>
            </a:r>
            <a:r>
              <a:rPr lang="en-US" sz="2400" dirty="0">
                <a:solidFill>
                  <a:schemeClr val="accent6">
                    <a:lumMod val="75000"/>
                  </a:schemeClr>
                </a:solidFill>
                <a:latin typeface="Book Antiqua" pitchFamily="18" charset="0"/>
              </a:rPr>
              <a:t>single layer perceptron</a:t>
            </a:r>
            <a:r>
              <a:rPr lang="en-US" sz="2400" dirty="0">
                <a:latin typeface="Book Antiqua" pitchFamily="18" charset="0"/>
              </a:rPr>
              <a:t> can be trained to classify patterns that is </a:t>
            </a:r>
            <a:r>
              <a:rPr lang="en-US" sz="2400" dirty="0">
                <a:solidFill>
                  <a:schemeClr val="accent6">
                    <a:lumMod val="75000"/>
                  </a:schemeClr>
                </a:solidFill>
                <a:latin typeface="Book Antiqua" pitchFamily="18" charset="0"/>
              </a:rPr>
              <a:t>linearly separable.</a:t>
            </a:r>
          </a:p>
          <a:p>
            <a:pPr algn="just"/>
            <a:r>
              <a:rPr lang="en-US" sz="2400" dirty="0">
                <a:latin typeface="Book Antiqua" pitchFamily="18" charset="0"/>
              </a:rPr>
              <a:t>However,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is </a:t>
            </a:r>
            <a:r>
              <a:rPr lang="en-US" sz="2400" dirty="0">
                <a:solidFill>
                  <a:srgbClr val="C00000"/>
                </a:solidFill>
                <a:latin typeface="Book Antiqua" pitchFamily="18" charset="0"/>
              </a:rPr>
              <a:t>non-linearly separable </a:t>
            </a:r>
            <a:r>
              <a:rPr lang="en-US" sz="2400" dirty="0">
                <a:latin typeface="Book Antiqua" pitchFamily="18" charset="0"/>
              </a:rPr>
              <a:t>as shown in the figure given below. Thus, we </a:t>
            </a:r>
            <a:r>
              <a:rPr lang="en-US" sz="2400" dirty="0">
                <a:solidFill>
                  <a:srgbClr val="C00000"/>
                </a:solidFill>
                <a:latin typeface="Book Antiqua" pitchFamily="18" charset="0"/>
              </a:rPr>
              <a:t>can not train </a:t>
            </a:r>
            <a:r>
              <a:rPr lang="en-US" sz="2400" dirty="0">
                <a:solidFill>
                  <a:schemeClr val="accent6">
                    <a:lumMod val="75000"/>
                  </a:schemeClr>
                </a:solidFill>
                <a:latin typeface="Book Antiqua" pitchFamily="18" charset="0"/>
              </a:rPr>
              <a:t>single layer perceptron </a:t>
            </a:r>
            <a:r>
              <a:rPr lang="en-US" sz="2400" dirty="0">
                <a:latin typeface="Book Antiqua" pitchFamily="18" charset="0"/>
              </a:rPr>
              <a:t>for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This, problem is called </a:t>
            </a:r>
            <a:r>
              <a:rPr lang="en-US" sz="2400" b="1" dirty="0">
                <a:solidFill>
                  <a:srgbClr val="C00000"/>
                </a:solidFill>
                <a:latin typeface="Times New Roman" pitchFamily="18" charset="0"/>
                <a:ea typeface="Tahoma" pitchFamily="34" charset="0"/>
                <a:cs typeface="Times New Roman" pitchFamily="18" charset="0"/>
              </a:rPr>
              <a:t>X</a:t>
            </a:r>
            <a:r>
              <a:rPr lang="en-US" sz="2400" b="1" dirty="0">
                <a:solidFill>
                  <a:srgbClr val="C00000"/>
                </a:solidFill>
                <a:latin typeface="Book Antiqua" pitchFamily="18" charset="0"/>
              </a:rPr>
              <a:t>OR Problem</a:t>
            </a:r>
            <a:r>
              <a:rPr lang="en-US" sz="2400" dirty="0">
                <a:latin typeface="Book Antiqua" pitchFamily="18" charset="0"/>
              </a:rPr>
              <a:t>.</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64</a:t>
            </a:fld>
            <a:endParaRPr lang="en-US"/>
          </a:p>
        </p:txBody>
      </p:sp>
      <p:sp>
        <p:nvSpPr>
          <p:cNvPr id="14" name="Footer Placeholder 13"/>
          <p:cNvSpPr>
            <a:spLocks noGrp="1"/>
          </p:cNvSpPr>
          <p:nvPr>
            <p:ph type="ftr" sz="quarter" idx="11"/>
          </p:nvPr>
        </p:nvSpPr>
        <p:spPr/>
        <p:txBody>
          <a:bodyPr/>
          <a:lstStyle/>
          <a:p>
            <a:r>
              <a:rPr lang="en-US"/>
              <a:t>ANN-CSIT               By: Arjun Saud</a:t>
            </a:r>
          </a:p>
        </p:txBody>
      </p:sp>
      <p:grpSp>
        <p:nvGrpSpPr>
          <p:cNvPr id="25" name="Group 24"/>
          <p:cNvGrpSpPr/>
          <p:nvPr/>
        </p:nvGrpSpPr>
        <p:grpSpPr>
          <a:xfrm>
            <a:off x="2541985" y="3713202"/>
            <a:ext cx="2639615" cy="2209800"/>
            <a:chOff x="2541985" y="3713202"/>
            <a:chExt cx="2639615" cy="2209800"/>
          </a:xfrm>
        </p:grpSpPr>
        <p:sp>
          <p:nvSpPr>
            <p:cNvPr id="15" name="Line 3"/>
            <p:cNvSpPr>
              <a:spLocks noChangeShapeType="1"/>
            </p:cNvSpPr>
            <p:nvPr/>
          </p:nvSpPr>
          <p:spPr bwMode="auto">
            <a:xfrm>
              <a:off x="34563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4"/>
            <p:cNvSpPr>
              <a:spLocks noChangeShapeType="1"/>
            </p:cNvSpPr>
            <p:nvPr/>
          </p:nvSpPr>
          <p:spPr bwMode="auto">
            <a:xfrm flipH="1">
              <a:off x="25419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Text Box 5"/>
            <p:cNvSpPr txBox="1">
              <a:spLocks noChangeArrowheads="1"/>
            </p:cNvSpPr>
            <p:nvPr/>
          </p:nvSpPr>
          <p:spPr bwMode="auto">
            <a:xfrm>
              <a:off x="46755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9" name="Oval 8"/>
            <p:cNvSpPr>
              <a:spLocks noChangeArrowheads="1"/>
            </p:cNvSpPr>
            <p:nvPr/>
          </p:nvSpPr>
          <p:spPr bwMode="auto">
            <a:xfrm>
              <a:off x="4065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0" name="Oval 9"/>
            <p:cNvSpPr>
              <a:spLocks noChangeArrowheads="1"/>
            </p:cNvSpPr>
            <p:nvPr/>
          </p:nvSpPr>
          <p:spPr bwMode="auto">
            <a:xfrm>
              <a:off x="3303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1" name="Oval 10"/>
            <p:cNvSpPr>
              <a:spLocks noChangeArrowheads="1"/>
            </p:cNvSpPr>
            <p:nvPr/>
          </p:nvSpPr>
          <p:spPr bwMode="auto">
            <a:xfrm>
              <a:off x="3303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2" name="Oval 11"/>
            <p:cNvSpPr>
              <a:spLocks noChangeArrowheads="1"/>
            </p:cNvSpPr>
            <p:nvPr/>
          </p:nvSpPr>
          <p:spPr bwMode="auto">
            <a:xfrm>
              <a:off x="4065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3" name="Line 7"/>
            <p:cNvSpPr>
              <a:spLocks noChangeShapeType="1"/>
            </p:cNvSpPr>
            <p:nvPr/>
          </p:nvSpPr>
          <p:spPr bwMode="auto">
            <a:xfrm>
              <a:off x="2743200" y="4080165"/>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7"/>
            <p:cNvSpPr>
              <a:spLocks noChangeShapeType="1"/>
            </p:cNvSpPr>
            <p:nvPr/>
          </p:nvSpPr>
          <p:spPr bwMode="auto">
            <a:xfrm>
              <a:off x="3124200" y="37338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2153029951"/>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srcRect/>
          <a:stretch>
            <a:fillRect/>
          </a:stretch>
        </p:blipFill>
        <p:spPr bwMode="auto">
          <a:xfrm>
            <a:off x="1676400" y="1905000"/>
            <a:ext cx="5225344" cy="3505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need to use multilayer perceptron that contains one hidden layer with two neurons  to achieve </a:t>
            </a:r>
            <a:r>
              <a:rPr lang="en-US" sz="2400" dirty="0">
                <a:latin typeface="Times New Roman" pitchFamily="18" charset="0"/>
                <a:cs typeface="Times New Roman" pitchFamily="18" charset="0"/>
              </a:rPr>
              <a:t>X</a:t>
            </a:r>
            <a:r>
              <a:rPr lang="en-US" sz="2400" dirty="0">
                <a:latin typeface="Book Antiqua" pitchFamily="18" charset="0"/>
              </a:rPr>
              <a:t>OR functionality from it.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300" dirty="0">
                <a:latin typeface="Book Antiqua" pitchFamily="18" charset="0"/>
              </a:rPr>
              <a:t>Determine the weights of links for above MLP such that MLP functions as XOR. Assume that threshold activation function (as shown above) is used in each of the neuron.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5059" name="Object 3"/>
          <p:cNvGraphicFramePr>
            <a:graphicFrameLocks noChangeAspect="1"/>
          </p:cNvGraphicFramePr>
          <p:nvPr/>
        </p:nvGraphicFramePr>
        <p:xfrm>
          <a:off x="5645150" y="3900488"/>
          <a:ext cx="3187700" cy="1027112"/>
        </p:xfrm>
        <a:graphic>
          <a:graphicData uri="http://schemas.openxmlformats.org/presentationml/2006/ole">
            <mc:AlternateContent xmlns:mc="http://schemas.openxmlformats.org/markup-compatibility/2006">
              <mc:Choice xmlns:v="urn:schemas-microsoft-com:vml" Requires="v">
                <p:oleObj name="Equation" r:id="rId3" imgW="1460160" imgH="520560" progId="Equation.3">
                  <p:embed/>
                </p:oleObj>
              </mc:Choice>
              <mc:Fallback>
                <p:oleObj name="Equation" r:id="rId3" imgW="1460160" imgH="520560" progId="Equation.3">
                  <p:embed/>
                  <p:pic>
                    <p:nvPicPr>
                      <p:cNvPr id="450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150" y="3900488"/>
                        <a:ext cx="3187700"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16613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can have following realization of AND, OR, and NOR gates using perceptron.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66</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6082" name="Picture 2"/>
          <p:cNvPicPr>
            <a:picLocks noChangeAspect="1" noChangeArrowheads="1"/>
          </p:cNvPicPr>
          <p:nvPr/>
        </p:nvPicPr>
        <p:blipFill>
          <a:blip r:embed="rId2"/>
          <a:srcRect/>
          <a:stretch>
            <a:fillRect/>
          </a:stretch>
        </p:blipFill>
        <p:spPr bwMode="auto">
          <a:xfrm>
            <a:off x="457200" y="2057400"/>
            <a:ext cx="3514725" cy="2257425"/>
          </a:xfrm>
          <a:prstGeom prst="rect">
            <a:avLst/>
          </a:prstGeom>
          <a:noFill/>
          <a:ln w="9525">
            <a:noFill/>
            <a:miter lim="800000"/>
            <a:headEnd/>
            <a:tailEnd/>
          </a:ln>
          <a:effectLst/>
        </p:spPr>
      </p:pic>
      <p:pic>
        <p:nvPicPr>
          <p:cNvPr id="46083" name="Picture 3"/>
          <p:cNvPicPr>
            <a:picLocks noChangeAspect="1" noChangeArrowheads="1"/>
          </p:cNvPicPr>
          <p:nvPr/>
        </p:nvPicPr>
        <p:blipFill>
          <a:blip r:embed="rId3"/>
          <a:srcRect/>
          <a:stretch>
            <a:fillRect/>
          </a:stretch>
        </p:blipFill>
        <p:spPr bwMode="auto">
          <a:xfrm>
            <a:off x="4876800" y="2209800"/>
            <a:ext cx="3286125" cy="2162175"/>
          </a:xfrm>
          <a:prstGeom prst="rect">
            <a:avLst/>
          </a:prstGeom>
          <a:noFill/>
          <a:ln w="9525">
            <a:noFill/>
            <a:miter lim="800000"/>
            <a:headEnd/>
            <a:tailEnd/>
          </a:ln>
          <a:effectLst/>
        </p:spPr>
      </p:pic>
      <p:pic>
        <p:nvPicPr>
          <p:cNvPr id="46084" name="Picture 4"/>
          <p:cNvPicPr>
            <a:picLocks noChangeAspect="1" noChangeArrowheads="1"/>
          </p:cNvPicPr>
          <p:nvPr/>
        </p:nvPicPr>
        <p:blipFill>
          <a:blip r:embed="rId4"/>
          <a:srcRect/>
          <a:stretch>
            <a:fillRect/>
          </a:stretch>
        </p:blipFill>
        <p:spPr bwMode="auto">
          <a:xfrm>
            <a:off x="2209800" y="4191000"/>
            <a:ext cx="3648075" cy="2085975"/>
          </a:xfrm>
          <a:prstGeom prst="rect">
            <a:avLst/>
          </a:prstGeom>
          <a:noFill/>
          <a:ln w="9525">
            <a:noFill/>
            <a:miter lim="800000"/>
            <a:headEnd/>
            <a:tailEnd/>
          </a:ln>
          <a:effectLst/>
        </p:spPr>
      </p:pic>
      <p:sp>
        <p:nvSpPr>
          <p:cNvPr id="26" name="TextBox 25"/>
          <p:cNvSpPr txBox="1"/>
          <p:nvPr/>
        </p:nvSpPr>
        <p:spPr>
          <a:xfrm>
            <a:off x="1524000" y="4114800"/>
            <a:ext cx="2140330" cy="369332"/>
          </a:xfrm>
          <a:prstGeom prst="rect">
            <a:avLst/>
          </a:prstGeom>
          <a:noFill/>
        </p:spPr>
        <p:txBody>
          <a:bodyPr wrap="none" rtlCol="0">
            <a:spAutoFit/>
          </a:bodyPr>
          <a:lstStyle/>
          <a:p>
            <a:r>
              <a:rPr lang="en-US" dirty="0">
                <a:latin typeface="Book Antiqua" pitchFamily="18" charset="0"/>
              </a:rPr>
              <a:t>Fig: AND Function</a:t>
            </a:r>
          </a:p>
        </p:txBody>
      </p:sp>
      <p:sp>
        <p:nvSpPr>
          <p:cNvPr id="27" name="TextBox 26"/>
          <p:cNvSpPr txBox="1"/>
          <p:nvPr/>
        </p:nvSpPr>
        <p:spPr>
          <a:xfrm>
            <a:off x="5410200" y="4114800"/>
            <a:ext cx="1925527" cy="369332"/>
          </a:xfrm>
          <a:prstGeom prst="rect">
            <a:avLst/>
          </a:prstGeom>
          <a:noFill/>
        </p:spPr>
        <p:txBody>
          <a:bodyPr wrap="none" rtlCol="0">
            <a:spAutoFit/>
          </a:bodyPr>
          <a:lstStyle/>
          <a:p>
            <a:r>
              <a:rPr lang="en-US" dirty="0">
                <a:latin typeface="Book Antiqua" pitchFamily="18" charset="0"/>
              </a:rPr>
              <a:t>Fig: OR Function</a:t>
            </a:r>
          </a:p>
        </p:txBody>
      </p:sp>
      <p:sp>
        <p:nvSpPr>
          <p:cNvPr id="28" name="TextBox 27"/>
          <p:cNvSpPr txBox="1"/>
          <p:nvPr/>
        </p:nvSpPr>
        <p:spPr>
          <a:xfrm>
            <a:off x="3505200" y="5943600"/>
            <a:ext cx="2117887" cy="369332"/>
          </a:xfrm>
          <a:prstGeom prst="rect">
            <a:avLst/>
          </a:prstGeom>
          <a:noFill/>
        </p:spPr>
        <p:txBody>
          <a:bodyPr wrap="none" rtlCol="0">
            <a:spAutoFit/>
          </a:bodyPr>
          <a:lstStyle/>
          <a:p>
            <a:r>
              <a:rPr lang="en-US" dirty="0">
                <a:latin typeface="Book Antiqua" pitchFamily="18" charset="0"/>
              </a:rPr>
              <a:t>Fig: NOR Function</a:t>
            </a:r>
          </a:p>
        </p:txBody>
      </p:sp>
    </p:spTree>
    <p:extLst>
      <p:ext uri="{BB962C8B-B14F-4D97-AF65-F5344CB8AC3E}">
        <p14:creationId xmlns:p14="http://schemas.microsoft.com/office/powerpoint/2010/main" val="244168419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2057400" y="2971800"/>
            <a:ext cx="4705350" cy="337185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solidFill>
                  <a:srgbClr val="00B050"/>
                </a:solidFill>
                <a:latin typeface="Times New Roman" pitchFamily="18" charset="0"/>
                <a:cs typeface="Times New Roman" pitchFamily="18" charset="0"/>
              </a:rPr>
              <a:t>X</a:t>
            </a:r>
            <a:r>
              <a:rPr lang="en-US" sz="2400" dirty="0">
                <a:solidFill>
                  <a:srgbClr val="00B050"/>
                </a:solidFill>
                <a:latin typeface="Book Antiqua" pitchFamily="18" charset="0"/>
              </a:rPr>
              <a:t>OR function can be represented </a:t>
            </a:r>
            <a:r>
              <a:rPr lang="en-US" sz="2400" dirty="0">
                <a:latin typeface="Book Antiqua" pitchFamily="18" charset="0"/>
              </a:rPr>
              <a:t>in terms of function of </a:t>
            </a:r>
            <a:r>
              <a:rPr lang="en-US" sz="2400" dirty="0">
                <a:solidFill>
                  <a:srgbClr val="00B050"/>
                </a:solidFill>
                <a:latin typeface="Book Antiqua" pitchFamily="18" charset="0"/>
              </a:rPr>
              <a:t>AND and NOR </a:t>
            </a:r>
            <a:r>
              <a:rPr lang="en-US" sz="2400" dirty="0">
                <a:latin typeface="Book Antiqua" pitchFamily="18" charset="0"/>
              </a:rPr>
              <a:t>functions as below.</a:t>
            </a:r>
          </a:p>
          <a:p>
            <a:pPr algn="just">
              <a:buNone/>
            </a:pPr>
            <a:r>
              <a:rPr lang="en-US" sz="2400" dirty="0">
                <a:latin typeface="Book Antiqua" pitchFamily="18" charset="0"/>
              </a:rPr>
              <a:t>	</a:t>
            </a:r>
            <a:r>
              <a:rPr lang="en-US" sz="2400" i="1" dirty="0">
                <a:latin typeface="Book Antiqua" pitchFamily="18" charset="0"/>
              </a:rPr>
              <a:t>NOR(AND(x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),NOR(x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a:t>
            </a:r>
          </a:p>
          <a:p>
            <a:pPr algn="just"/>
            <a:r>
              <a:rPr lang="en-US" sz="2400" dirty="0">
                <a:latin typeface="Book Antiqua" pitchFamily="18" charset="0"/>
              </a:rPr>
              <a:t>Thus, Weights of MLP that acts as </a:t>
            </a:r>
            <a:r>
              <a:rPr lang="en-US" sz="2400" dirty="0">
                <a:latin typeface="Times New Roman" pitchFamily="18" charset="0"/>
                <a:cs typeface="Times New Roman" pitchFamily="18" charset="0"/>
              </a:rPr>
              <a:t>X</a:t>
            </a:r>
            <a:r>
              <a:rPr lang="en-US" sz="2400" dirty="0">
                <a:latin typeface="Book Antiqua" pitchFamily="18" charset="0"/>
              </a:rPr>
              <a:t>OR function can be set as below</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6440699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itchFamily="18" charset="0"/>
              </a:rPr>
              <a:t>CW</a:t>
            </a:r>
          </a:p>
          <a:p>
            <a:pPr algn="just"/>
            <a:r>
              <a:rPr lang="en-US" sz="2400" dirty="0">
                <a:latin typeface="Book Antiqua" pitchFamily="18" charset="0"/>
              </a:rPr>
              <a:t>Realize NOT and NAND function using perceptron.</a:t>
            </a:r>
          </a:p>
          <a:p>
            <a:pPr algn="just"/>
            <a:r>
              <a:rPr lang="en-US" sz="2400" dirty="0">
                <a:latin typeface="Book Antiqua" pitchFamily="18" charset="0"/>
              </a:rPr>
              <a:t>Can we realize </a:t>
            </a:r>
            <a:r>
              <a:rPr lang="en-US" sz="2400" dirty="0">
                <a:latin typeface="Times New Roman" pitchFamily="18" charset="0"/>
                <a:cs typeface="Times New Roman" pitchFamily="18" charset="0"/>
              </a:rPr>
              <a:t>X</a:t>
            </a:r>
            <a:r>
              <a:rPr lang="en-US" sz="2400" dirty="0">
                <a:latin typeface="Book Antiqua" pitchFamily="18" charset="0"/>
              </a:rPr>
              <a:t>NOR function using perceptron? If yes, realize it using perceptron. Otherwise, realize </a:t>
            </a:r>
            <a:r>
              <a:rPr lang="en-US" sz="2400" dirty="0">
                <a:latin typeface="Times New Roman" pitchFamily="18" charset="0"/>
                <a:cs typeface="Times New Roman" pitchFamily="18" charset="0"/>
              </a:rPr>
              <a:t>X</a:t>
            </a:r>
            <a:r>
              <a:rPr lang="en-US" sz="2400" dirty="0">
                <a:latin typeface="Book Antiqua" pitchFamily="18" charset="0"/>
              </a:rPr>
              <a:t>NOR function using MLP.</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27330851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r>
              <a:rPr lang="en-US" sz="2700" dirty="0">
                <a:latin typeface="Book Antiqua" pitchFamily="18" charset="0"/>
              </a:rPr>
              <a:t>The Jacobian is a matrix of all the first-order partial derivatives of a vector-valued function. In the neural network case, it is </a:t>
            </a:r>
            <a:r>
              <a:rPr lang="en-US" sz="2700" dirty="0">
                <a:solidFill>
                  <a:srgbClr val="00B050"/>
                </a:solidFill>
                <a:latin typeface="Book Antiqua" pitchFamily="18" charset="0"/>
              </a:rPr>
              <a:t>an N-by-W matrix</a:t>
            </a:r>
            <a:r>
              <a:rPr lang="en-US" sz="2700" dirty="0">
                <a:latin typeface="Book Antiqua" pitchFamily="18" charset="0"/>
              </a:rPr>
              <a:t>, where N is the number of entries in our training set and W is the total number of parameters (weights) of our network. </a:t>
            </a:r>
          </a:p>
          <a:p>
            <a:pPr marL="339725" indent="-339725" algn="just">
              <a:defRPr/>
            </a:pPr>
            <a:r>
              <a:rPr lang="en-US" sz="2700" dirty="0">
                <a:latin typeface="Book Antiqua" pitchFamily="18" charset="0"/>
              </a:rPr>
              <a:t>It can be generated by taking the partial derivatives of each output with respect to each weight.</a:t>
            </a:r>
          </a:p>
          <a:p>
            <a:pPr marL="339725" indent="-339725" algn="just">
              <a:defRPr/>
            </a:pPr>
            <a:r>
              <a:rPr lang="en-US" sz="2700" dirty="0">
                <a:latin typeface="Book Antiqua" pitchFamily="18" charset="0"/>
              </a:rPr>
              <a:t>Each row of the Jacobian corresponds to a particular example in the training sample.</a:t>
            </a:r>
          </a:p>
          <a:p>
            <a:pPr marL="339725" indent="-339725" algn="just">
              <a:defRPr/>
            </a:pPr>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130313174"/>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r>
              <a:rPr lang="en-US" sz="2600" dirty="0">
                <a:latin typeface="Book Antiqua" pitchFamily="18" charset="0"/>
              </a:rPr>
              <a:t>While it is a good exercise to compute the gradient of a neural network with respect to a single parameter (e.g., a single weight), in practice this tends to be quite slow. This approach can’t take advantage of vectorization. Thus, for vectorized implementation of backpropagation algorithm , it is necessary to use Jacobian.</a:t>
            </a:r>
          </a:p>
          <a:p>
            <a:pPr marL="457200" indent="-457200" algn="just">
              <a:defRPr/>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70</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5" name="Picture 2"/>
          <p:cNvPicPr>
            <a:picLocks noChangeAspect="1" noChangeArrowheads="1"/>
          </p:cNvPicPr>
          <p:nvPr/>
        </p:nvPicPr>
        <p:blipFill>
          <a:blip r:embed="rId3"/>
          <a:srcRect/>
          <a:stretch>
            <a:fillRect/>
          </a:stretch>
        </p:blipFill>
        <p:spPr bwMode="auto">
          <a:xfrm>
            <a:off x="1905000" y="1371600"/>
            <a:ext cx="4218254" cy="1828800"/>
          </a:xfrm>
          <a:prstGeom prst="rect">
            <a:avLst/>
          </a:prstGeom>
          <a:noFill/>
          <a:ln w="9525">
            <a:noFill/>
            <a:miter lim="800000"/>
            <a:headEnd/>
            <a:tailEnd/>
          </a:ln>
          <a:effectLst/>
        </p:spPr>
      </p:pic>
    </p:spTree>
    <p:extLst>
      <p:ext uri="{BB962C8B-B14F-4D97-AF65-F5344CB8AC3E}">
        <p14:creationId xmlns:p14="http://schemas.microsoft.com/office/powerpoint/2010/main" val="236583479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457200" indent="-457200" algn="just">
              <a:defRPr/>
            </a:pPr>
            <a:r>
              <a:rPr lang="en-US" sz="2400" dirty="0">
                <a:latin typeface="Book Antiqua" pitchFamily="18" charset="0"/>
              </a:rPr>
              <a:t>Hessian  of a cost function is square matrix whose elements are second order partial derivative of the cost function with respect to each weight in the MLP.</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946" name="Object 2"/>
          <p:cNvGraphicFramePr>
            <a:graphicFrameLocks noChangeAspect="1"/>
          </p:cNvGraphicFramePr>
          <p:nvPr/>
        </p:nvGraphicFramePr>
        <p:xfrm>
          <a:off x="1447800" y="2971800"/>
          <a:ext cx="5873751" cy="2862263"/>
        </p:xfrm>
        <a:graphic>
          <a:graphicData uri="http://schemas.openxmlformats.org/presentationml/2006/ole">
            <mc:AlternateContent xmlns:mc="http://schemas.openxmlformats.org/markup-compatibility/2006">
              <mc:Choice xmlns:v="urn:schemas-microsoft-com:vml" Requires="v">
                <p:oleObj name="Equation" r:id="rId3" imgW="2730240" imgH="1333440" progId="Equation.3">
                  <p:embed/>
                </p:oleObj>
              </mc:Choice>
              <mc:Fallback>
                <p:oleObj name="Equation" r:id="rId3" imgW="2730240" imgH="1333440" progId="Equation.3">
                  <p:embed/>
                  <p:pic>
                    <p:nvPicPr>
                      <p:cNvPr id="829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5873751" cy="28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762235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fontAlgn="base"/>
            <a:r>
              <a:rPr lang="en-US" sz="2800" dirty="0">
                <a:latin typeface="Book Antiqua" pitchFamily="18" charset="0"/>
              </a:rPr>
              <a:t>One of the key hyper parameters to set in order to train a neural network is the </a:t>
            </a:r>
            <a:r>
              <a:rPr lang="en-US" sz="2800" i="1" dirty="0">
                <a:latin typeface="Book Antiqua" pitchFamily="18" charset="0"/>
              </a:rPr>
              <a:t>learning rate</a:t>
            </a:r>
            <a:r>
              <a:rPr lang="en-US" sz="2800" dirty="0">
                <a:latin typeface="Book Antiqua" pitchFamily="18" charset="0"/>
              </a:rPr>
              <a:t>. </a:t>
            </a:r>
          </a:p>
          <a:p>
            <a:pPr algn="just" fontAlgn="base"/>
            <a:r>
              <a:rPr lang="en-US" sz="2800" dirty="0">
                <a:latin typeface="Book Antiqua" pitchFamily="18" charset="0"/>
              </a:rPr>
              <a:t>If learning rate is set </a:t>
            </a:r>
            <a:r>
              <a:rPr lang="en-US" sz="2800" dirty="0">
                <a:solidFill>
                  <a:srgbClr val="FF0000"/>
                </a:solidFill>
                <a:latin typeface="Book Antiqua" pitchFamily="18" charset="0"/>
              </a:rPr>
              <a:t>too low</a:t>
            </a:r>
            <a:r>
              <a:rPr lang="en-US" sz="2800" dirty="0">
                <a:latin typeface="Book Antiqua" pitchFamily="18" charset="0"/>
              </a:rPr>
              <a:t>, training will </a:t>
            </a:r>
            <a:r>
              <a:rPr lang="en-US" sz="2800" dirty="0">
                <a:solidFill>
                  <a:srgbClr val="FF0000"/>
                </a:solidFill>
                <a:latin typeface="Book Antiqua" pitchFamily="18" charset="0"/>
              </a:rPr>
              <a:t>progress very slowly </a:t>
            </a:r>
            <a:r>
              <a:rPr lang="en-US" sz="2800" dirty="0">
                <a:latin typeface="Book Antiqua" pitchFamily="18" charset="0"/>
              </a:rPr>
              <a:t>as we are making very tiny updates to the weights in our network.</a:t>
            </a:r>
          </a:p>
          <a:p>
            <a:pPr algn="just" fontAlgn="base"/>
            <a:r>
              <a:rPr lang="en-US" sz="2800" dirty="0">
                <a:latin typeface="Book Antiqua" pitchFamily="18" charset="0"/>
              </a:rPr>
              <a:t>However, if learning rate is set </a:t>
            </a:r>
            <a:r>
              <a:rPr lang="en-US" sz="2800" dirty="0">
                <a:solidFill>
                  <a:srgbClr val="FF0000"/>
                </a:solidFill>
                <a:latin typeface="Book Antiqua" pitchFamily="18" charset="0"/>
              </a:rPr>
              <a:t>too high</a:t>
            </a:r>
            <a:r>
              <a:rPr lang="en-US" sz="2800" dirty="0">
                <a:latin typeface="Book Antiqua" pitchFamily="18" charset="0"/>
              </a:rPr>
              <a:t>, it can cause </a:t>
            </a:r>
            <a:r>
              <a:rPr lang="en-US" sz="2800" dirty="0">
                <a:solidFill>
                  <a:srgbClr val="FF0000"/>
                </a:solidFill>
                <a:latin typeface="Book Antiqua" pitchFamily="18" charset="0"/>
              </a:rPr>
              <a:t>undesirable divergent behavior in our loss function.</a:t>
            </a:r>
          </a:p>
          <a:p>
            <a:pPr algn="just"/>
            <a:endParaRPr lang="en-US" sz="25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7096614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73</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89090" name="Picture 2" descr="Figure 3 from Working Paper No . 674 Machine learning at central banks  Chiranjit Chakraborty and | Semantic Scholar"/>
          <p:cNvPicPr>
            <a:picLocks noChangeAspect="1" noChangeArrowheads="1"/>
          </p:cNvPicPr>
          <p:nvPr/>
        </p:nvPicPr>
        <p:blipFill>
          <a:blip r:embed="rId3"/>
          <a:srcRect/>
          <a:stretch>
            <a:fillRect/>
          </a:stretch>
        </p:blipFill>
        <p:spPr bwMode="auto">
          <a:xfrm>
            <a:off x="2057400" y="1676400"/>
            <a:ext cx="4495800" cy="4553439"/>
          </a:xfrm>
          <a:prstGeom prst="rect">
            <a:avLst/>
          </a:prstGeom>
          <a:noFill/>
        </p:spPr>
      </p:pic>
    </p:spTree>
    <p:extLst>
      <p:ext uri="{BB962C8B-B14F-4D97-AF65-F5344CB8AC3E}">
        <p14:creationId xmlns:p14="http://schemas.microsoft.com/office/powerpoint/2010/main" val="247181179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Learning Rate Annealing</a:t>
            </a:r>
          </a:p>
          <a:p>
            <a:pPr algn="just"/>
            <a:r>
              <a:rPr lang="en-US" sz="2600" dirty="0">
                <a:latin typeface="Book Antiqua" pitchFamily="18" charset="0"/>
              </a:rPr>
              <a:t>One approach of using learning rate value properly is to start with </a:t>
            </a:r>
            <a:r>
              <a:rPr lang="en-US" sz="2600" dirty="0">
                <a:solidFill>
                  <a:schemeClr val="accent6">
                    <a:lumMod val="75000"/>
                  </a:schemeClr>
                </a:solidFill>
                <a:latin typeface="Book Antiqua" pitchFamily="18" charset="0"/>
              </a:rPr>
              <a:t>large value of learning rate and reduce value of the learning rate </a:t>
            </a:r>
            <a:r>
              <a:rPr lang="en-US" sz="2600" dirty="0">
                <a:latin typeface="Book Antiqua" pitchFamily="18" charset="0"/>
              </a:rPr>
              <a:t>according to some predefined schedule. This approach is called </a:t>
            </a:r>
            <a:r>
              <a:rPr lang="en-US" sz="2600" b="1" dirty="0">
                <a:solidFill>
                  <a:srgbClr val="00B050"/>
                </a:solidFill>
                <a:latin typeface="Book Antiqua" pitchFamily="18" charset="0"/>
              </a:rPr>
              <a:t>learning rate annealing.</a:t>
            </a:r>
          </a:p>
          <a:p>
            <a:pPr algn="just"/>
            <a:r>
              <a:rPr lang="en-US" sz="2600" dirty="0">
                <a:latin typeface="Book Antiqua" pitchFamily="18" charset="0"/>
              </a:rPr>
              <a:t>Three commonly used learning rate annealing techniques or learning rate schedules are:</a:t>
            </a:r>
          </a:p>
          <a:p>
            <a:pPr lvl="1" algn="just"/>
            <a:r>
              <a:rPr lang="en-US" sz="2400" dirty="0">
                <a:latin typeface="Book Antiqua" pitchFamily="18" charset="0"/>
              </a:rPr>
              <a:t>Time Based Decay</a:t>
            </a:r>
          </a:p>
          <a:p>
            <a:pPr lvl="1" algn="just"/>
            <a:r>
              <a:rPr lang="en-US" sz="2400" dirty="0">
                <a:latin typeface="Book Antiqua" pitchFamily="18" charset="0"/>
              </a:rPr>
              <a:t>Step Decay</a:t>
            </a:r>
          </a:p>
          <a:p>
            <a:pPr lvl="1" algn="just"/>
            <a:r>
              <a:rPr lang="en-US" sz="2400" dirty="0">
                <a:latin typeface="Book Antiqua" pitchFamily="18" charset="0"/>
              </a:rPr>
              <a:t>Exponential Decay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445046329"/>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Time Based Decay</a:t>
            </a:r>
          </a:p>
          <a:p>
            <a:pPr algn="just"/>
            <a:r>
              <a:rPr lang="en-US" sz="2500" dirty="0">
                <a:latin typeface="Book Antiqua" pitchFamily="18" charset="0"/>
              </a:rPr>
              <a:t>Mathematical formulation of time-based learning rate decay is given below:</a:t>
            </a:r>
          </a:p>
          <a:p>
            <a:pPr algn="just"/>
            <a:endParaRPr lang="en-US" sz="2500" dirty="0">
              <a:latin typeface="Book Antiqua" pitchFamily="18" charset="0"/>
            </a:endParaRP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Decay_Rate</a:t>
            </a:r>
            <a:r>
              <a:rPr lang="en-US" sz="2500" dirty="0">
                <a:latin typeface="Book Antiqua" pitchFamily="18" charset="0"/>
              </a:rPr>
              <a:t>=1</a:t>
            </a:r>
          </a:p>
          <a:p>
            <a:pPr algn="just" fontAlgn="base">
              <a:buNone/>
            </a:pPr>
            <a:r>
              <a:rPr lang="en-US" sz="2500" dirty="0">
                <a:latin typeface="Book Antiqua" pitchFamily="18" charset="0"/>
              </a:rPr>
              <a:t>For Epoch=1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=0.2/2=0.1</a:t>
            </a:r>
          </a:p>
          <a:p>
            <a:pPr algn="just" fontAlgn="base">
              <a:buNone/>
            </a:pPr>
            <a:r>
              <a:rPr lang="en-US" sz="2500" dirty="0">
                <a:latin typeface="Book Antiqua" pitchFamily="18" charset="0"/>
              </a:rPr>
              <a:t>For Epoch=2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=0.2/3=0.067</a:t>
            </a:r>
          </a:p>
          <a:p>
            <a:pPr algn="just" fontAlgn="base">
              <a:buNone/>
            </a:pPr>
            <a:r>
              <a:rPr lang="en-US" sz="2500" dirty="0">
                <a:latin typeface="Book Antiqua" pitchFamily="18" charset="0"/>
              </a:rPr>
              <a:t>For Epoch=3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=0.2/4=0.05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2969719099"/>
              </p:ext>
            </p:extLst>
          </p:nvPr>
        </p:nvGraphicFramePr>
        <p:xfrm>
          <a:off x="1770063" y="2667000"/>
          <a:ext cx="3279775" cy="760413"/>
        </p:xfrm>
        <a:graphic>
          <a:graphicData uri="http://schemas.openxmlformats.org/presentationml/2006/ole">
            <mc:AlternateContent xmlns:mc="http://schemas.openxmlformats.org/markup-compatibility/2006">
              <mc:Choice xmlns:v="urn:schemas-microsoft-com:vml" Requires="v">
                <p:oleObj name="Equation" r:id="rId3" imgW="1803240" imgH="419040" progId="Equation.3">
                  <p:embed/>
                </p:oleObj>
              </mc:Choice>
              <mc:Fallback>
                <p:oleObj name="Equation" r:id="rId3" imgW="1803240" imgH="419040" progId="Equation.3">
                  <p:embed/>
                  <p:pic>
                    <p:nvPicPr>
                      <p:cNvPr id="101378" name="Object 2"/>
                      <p:cNvPicPr>
                        <a:picLocks noChangeAspect="1" noChangeArrowheads="1"/>
                      </p:cNvPicPr>
                      <p:nvPr/>
                    </p:nvPicPr>
                    <p:blipFill>
                      <a:blip r:embed="rId4"/>
                      <a:srcRect/>
                      <a:stretch>
                        <a:fillRect/>
                      </a:stretch>
                    </p:blipFill>
                    <p:spPr bwMode="auto">
                      <a:xfrm>
                        <a:off x="1770063" y="2667000"/>
                        <a:ext cx="3279775" cy="760413"/>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1435261642"/>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Step Decay</a:t>
            </a:r>
          </a:p>
          <a:p>
            <a:pPr algn="just"/>
            <a:r>
              <a:rPr lang="en-US" sz="2600" dirty="0">
                <a:latin typeface="Book Antiqua" pitchFamily="18" charset="0"/>
              </a:rPr>
              <a:t>Mathematical formulation of step decay of learning rate is given below. A typical way is to drop the learning rate by half </a:t>
            </a:r>
            <a:r>
              <a:rPr lang="en-US" sz="2600" dirty="0" err="1">
                <a:latin typeface="Book Antiqua" pitchFamily="18" charset="0"/>
              </a:rPr>
              <a:t>afterv</a:t>
            </a:r>
            <a:r>
              <a:rPr lang="en-US" sz="2600" dirty="0">
                <a:latin typeface="Book Antiqua" pitchFamily="18" charset="0"/>
              </a:rPr>
              <a:t> every 10 epochs.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drop_rate</a:t>
            </a:r>
            <a:r>
              <a:rPr lang="en-US" sz="2500" dirty="0">
                <a:latin typeface="Book Antiqua" pitchFamily="18" charset="0"/>
              </a:rPr>
              <a:t>=0.5	</a:t>
            </a:r>
            <a:r>
              <a:rPr lang="en-US" sz="2500" dirty="0" err="1">
                <a:latin typeface="Book Antiqua" pitchFamily="18" charset="0"/>
              </a:rPr>
              <a:t>epochs_drop</a:t>
            </a:r>
            <a:r>
              <a:rPr lang="en-US" sz="2500" dirty="0">
                <a:latin typeface="Book Antiqua" pitchFamily="18" charset="0"/>
              </a:rPr>
              <a:t>=5</a:t>
            </a:r>
          </a:p>
          <a:p>
            <a:pPr algn="just" fontAlgn="base">
              <a:buNone/>
            </a:pPr>
            <a:r>
              <a:rPr lang="en-US" sz="2500" dirty="0">
                <a:latin typeface="Book Antiqua" pitchFamily="18" charset="0"/>
              </a:rPr>
              <a:t>For Epoch=5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 x 0.5</a:t>
            </a:r>
            <a:r>
              <a:rPr lang="en-US" sz="2500" baseline="30000" dirty="0">
                <a:latin typeface="Book Antiqua" pitchFamily="18" charset="0"/>
              </a:rPr>
              <a:t>5/5</a:t>
            </a:r>
            <a:r>
              <a:rPr lang="en-US" sz="2500" dirty="0">
                <a:latin typeface="Book Antiqua" pitchFamily="18" charset="0"/>
              </a:rPr>
              <a:t>=0.1</a:t>
            </a:r>
          </a:p>
          <a:p>
            <a:pPr algn="just" fontAlgn="base">
              <a:buNone/>
            </a:pPr>
            <a:r>
              <a:rPr lang="en-US" sz="2500" dirty="0">
                <a:latin typeface="Book Antiqua" pitchFamily="18" charset="0"/>
              </a:rPr>
              <a:t>For Epoch=10</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 0.2 x 0.5</a:t>
            </a:r>
            <a:r>
              <a:rPr lang="en-US" sz="2500" baseline="30000" dirty="0">
                <a:latin typeface="Book Antiqua" pitchFamily="18" charset="0"/>
              </a:rPr>
              <a:t>10/5</a:t>
            </a:r>
            <a:r>
              <a:rPr lang="en-US" sz="2500" dirty="0">
                <a:latin typeface="Book Antiqua" pitchFamily="18" charset="0"/>
              </a:rPr>
              <a:t>=0.05</a:t>
            </a:r>
          </a:p>
          <a:p>
            <a:pPr algn="just" fontAlgn="base">
              <a:buNone/>
            </a:pPr>
            <a:r>
              <a:rPr lang="en-US" sz="2500" dirty="0">
                <a:latin typeface="Book Antiqua" pitchFamily="18" charset="0"/>
              </a:rPr>
              <a:t>For Epoch=15	</a:t>
            </a:r>
            <a:r>
              <a:rPr lang="el-GR" sz="2500" dirty="0">
                <a:latin typeface="Book Antiqua" pitchFamily="18" charset="0"/>
              </a:rPr>
              <a:t> α</a:t>
            </a:r>
            <a:r>
              <a:rPr lang="en-US" sz="2500" dirty="0">
                <a:latin typeface="Book Antiqua" pitchFamily="18" charset="0"/>
              </a:rPr>
              <a:t>= 0.2 x 0.5</a:t>
            </a:r>
            <a:r>
              <a:rPr lang="en-US" sz="2500" baseline="30000" dirty="0">
                <a:latin typeface="Book Antiqua" pitchFamily="18" charset="0"/>
              </a:rPr>
              <a:t>15/5</a:t>
            </a:r>
            <a:r>
              <a:rPr lang="en-US" sz="2500" dirty="0">
                <a:latin typeface="Book Antiqua" pitchFamily="18" charset="0"/>
              </a:rPr>
              <a:t>=0.025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4204624235"/>
              </p:ext>
            </p:extLst>
          </p:nvPr>
        </p:nvGraphicFramePr>
        <p:xfrm>
          <a:off x="1141413" y="3276600"/>
          <a:ext cx="4341812" cy="461963"/>
        </p:xfrm>
        <a:graphic>
          <a:graphicData uri="http://schemas.openxmlformats.org/presentationml/2006/ole">
            <mc:AlternateContent xmlns:mc="http://schemas.openxmlformats.org/markup-compatibility/2006">
              <mc:Choice xmlns:v="urn:schemas-microsoft-com:vml" Requires="v">
                <p:oleObj name="Equation" r:id="rId3" imgW="2387520" imgH="253800" progId="Equation.3">
                  <p:embed/>
                </p:oleObj>
              </mc:Choice>
              <mc:Fallback>
                <p:oleObj name="Equation" r:id="rId3" imgW="2387520" imgH="253800" progId="Equation.3">
                  <p:embed/>
                  <p:pic>
                    <p:nvPicPr>
                      <p:cNvPr id="1013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13" y="3276600"/>
                        <a:ext cx="4341812" cy="461963"/>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94950000"/>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Exponential Decay</a:t>
            </a:r>
          </a:p>
          <a:p>
            <a:pPr algn="just"/>
            <a:r>
              <a:rPr lang="en-US" sz="2600" dirty="0">
                <a:latin typeface="Book Antiqua" pitchFamily="18" charset="0"/>
              </a:rPr>
              <a:t>Mathematical formulation of exponential decay of learning rate is given below.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k=0.1	</a:t>
            </a:r>
          </a:p>
          <a:p>
            <a:pPr algn="just" fontAlgn="base">
              <a:buNone/>
            </a:pPr>
            <a:r>
              <a:rPr lang="en-US" sz="2500" dirty="0">
                <a:latin typeface="Book Antiqua" pitchFamily="18" charset="0"/>
              </a:rPr>
              <a:t>For Epoch=1</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=0.181</a:t>
            </a:r>
          </a:p>
          <a:p>
            <a:pPr algn="just" fontAlgn="base">
              <a:buNone/>
            </a:pPr>
            <a:r>
              <a:rPr lang="en-US" sz="2500" dirty="0">
                <a:latin typeface="Book Antiqua" pitchFamily="18" charset="0"/>
              </a:rPr>
              <a:t>For Epoch=2</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=0.164</a:t>
            </a:r>
          </a:p>
          <a:p>
            <a:pPr algn="just" fontAlgn="base">
              <a:buNone/>
            </a:pPr>
            <a:r>
              <a:rPr lang="en-US" sz="2500" dirty="0">
                <a:latin typeface="Book Antiqua" pitchFamily="18" charset="0"/>
              </a:rPr>
              <a:t>For Epoch=3		</a:t>
            </a:r>
            <a:r>
              <a:rPr lang="el-GR" sz="2500" dirty="0">
                <a:latin typeface="Book Antiqua" pitchFamily="18" charset="0"/>
              </a:rPr>
              <a:t> α</a:t>
            </a:r>
            <a:r>
              <a:rPr lang="en-US" sz="2500" dirty="0">
                <a:latin typeface="Book Antiqua" pitchFamily="18" charset="0"/>
              </a:rPr>
              <a:t>=0.148</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1068971779"/>
              </p:ext>
            </p:extLst>
          </p:nvPr>
        </p:nvGraphicFramePr>
        <p:xfrm>
          <a:off x="1857375" y="2833688"/>
          <a:ext cx="2228850" cy="536575"/>
        </p:xfrm>
        <a:graphic>
          <a:graphicData uri="http://schemas.openxmlformats.org/presentationml/2006/ole">
            <mc:AlternateContent xmlns:mc="http://schemas.openxmlformats.org/markup-compatibility/2006">
              <mc:Choice xmlns:v="urn:schemas-microsoft-com:vml" Requires="v">
                <p:oleObj name="Equation" r:id="rId3" imgW="1002960" imgH="241200" progId="Equation.3">
                  <p:embed/>
                </p:oleObj>
              </mc:Choice>
              <mc:Fallback>
                <p:oleObj name="Equation" r:id="rId3" imgW="1002960" imgH="241200" progId="Equation.3">
                  <p:embed/>
                  <p:pic>
                    <p:nvPicPr>
                      <p:cNvPr id="101378" name="Object 2"/>
                      <p:cNvPicPr>
                        <a:picLocks noChangeAspect="1" noChangeArrowheads="1"/>
                      </p:cNvPicPr>
                      <p:nvPr/>
                    </p:nvPicPr>
                    <p:blipFill>
                      <a:blip r:embed="rId4"/>
                      <a:srcRect/>
                      <a:stretch>
                        <a:fillRect/>
                      </a:stretch>
                    </p:blipFill>
                    <p:spPr bwMode="auto">
                      <a:xfrm>
                        <a:off x="1857375" y="2833688"/>
                        <a:ext cx="2228850" cy="536575"/>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253919770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r>
              <a:rPr lang="en-US" sz="2600" dirty="0">
                <a:latin typeface="Book Antiqua" pitchFamily="18" charset="0"/>
              </a:rPr>
              <a:t>Learning rate annealing techniques reduces learning rate equally for all parameters and applies the same learning rate with all parameters.  </a:t>
            </a:r>
          </a:p>
          <a:p>
            <a:pPr algn="just"/>
            <a:r>
              <a:rPr lang="en-US" sz="2600" dirty="0">
                <a:latin typeface="Book Antiqua" pitchFamily="18" charset="0"/>
              </a:rPr>
              <a:t>However, in many practical situations, we need to change value of different parameters by different extent.</a:t>
            </a:r>
          </a:p>
          <a:p>
            <a:pPr algn="just"/>
            <a:r>
              <a:rPr lang="en-US" sz="2600" dirty="0">
                <a:latin typeface="Book Antiqua" pitchFamily="18" charset="0"/>
              </a:rPr>
              <a:t>Thus, the better approach is to use the techniques that gives learning rate a chance to </a:t>
            </a:r>
            <a:r>
              <a:rPr lang="en-US" sz="2600" dirty="0">
                <a:solidFill>
                  <a:srgbClr val="00B050"/>
                </a:solidFill>
                <a:latin typeface="Book Antiqua" pitchFamily="18" charset="0"/>
              </a:rPr>
              <a:t>adapt</a:t>
            </a:r>
            <a:r>
              <a:rPr lang="en-US" sz="2600" dirty="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50867659"/>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Adaptive Control of Learning Rate</a:t>
            </a:r>
          </a:p>
          <a:p>
            <a:pPr algn="just"/>
            <a:r>
              <a:rPr lang="en-US" sz="2600" dirty="0">
                <a:latin typeface="Book Antiqua" pitchFamily="18" charset="0"/>
              </a:rPr>
              <a:t>The main idea behind adaptive learning rate is to use </a:t>
            </a:r>
            <a:r>
              <a:rPr lang="en-US" sz="2600" b="1" dirty="0">
                <a:solidFill>
                  <a:srgbClr val="00B050"/>
                </a:solidFill>
                <a:latin typeface="Book Antiqua" pitchFamily="18" charset="0"/>
              </a:rPr>
              <a:t>larger learning </a:t>
            </a:r>
            <a:r>
              <a:rPr lang="en-US" sz="2600" dirty="0">
                <a:solidFill>
                  <a:schemeClr val="accent6">
                    <a:lumMod val="75000"/>
                  </a:schemeClr>
                </a:solidFill>
                <a:latin typeface="Book Antiqua" pitchFamily="18" charset="0"/>
              </a:rPr>
              <a:t>rate for updating </a:t>
            </a:r>
            <a:r>
              <a:rPr lang="en-US" sz="2600" dirty="0">
                <a:solidFill>
                  <a:srgbClr val="00B050"/>
                </a:solidFill>
                <a:latin typeface="Book Antiqua" pitchFamily="18" charset="0"/>
              </a:rPr>
              <a:t>parameters</a:t>
            </a:r>
            <a:r>
              <a:rPr lang="en-US" sz="2600" dirty="0">
                <a:solidFill>
                  <a:schemeClr val="accent6">
                    <a:lumMod val="75000"/>
                  </a:schemeClr>
                </a:solidFill>
                <a:latin typeface="Book Antiqua" pitchFamily="18" charset="0"/>
              </a:rPr>
              <a:t> that are </a:t>
            </a:r>
            <a:r>
              <a:rPr lang="en-US" sz="2600" i="1" dirty="0">
                <a:solidFill>
                  <a:schemeClr val="accent6">
                    <a:lumMod val="75000"/>
                  </a:schemeClr>
                </a:solidFill>
                <a:latin typeface="Book Antiqua" pitchFamily="18" charset="0"/>
              </a:rPr>
              <a:t>modified with small scale in past </a:t>
            </a:r>
            <a:r>
              <a:rPr lang="en-US" sz="2600" dirty="0">
                <a:solidFill>
                  <a:schemeClr val="accent6">
                    <a:lumMod val="75000"/>
                  </a:schemeClr>
                </a:solidFill>
                <a:latin typeface="Book Antiqua" pitchFamily="18" charset="0"/>
              </a:rPr>
              <a:t>and </a:t>
            </a:r>
            <a:r>
              <a:rPr lang="en-US" sz="2600" i="1" dirty="0">
                <a:solidFill>
                  <a:schemeClr val="accent6">
                    <a:lumMod val="75000"/>
                  </a:schemeClr>
                </a:solidFill>
                <a:latin typeface="Book Antiqua" pitchFamily="18" charset="0"/>
              </a:rPr>
              <a:t>use</a:t>
            </a:r>
            <a:r>
              <a:rPr lang="en-US" sz="2600" i="1" dirty="0">
                <a:solidFill>
                  <a:srgbClr val="00B050"/>
                </a:solidFill>
                <a:latin typeface="Book Antiqua" pitchFamily="18" charset="0"/>
              </a:rPr>
              <a:t> </a:t>
            </a:r>
            <a:r>
              <a:rPr lang="en-US" sz="2600" b="1" dirty="0">
                <a:solidFill>
                  <a:srgbClr val="00B050"/>
                </a:solidFill>
                <a:latin typeface="Book Antiqua" pitchFamily="18" charset="0"/>
              </a:rPr>
              <a:t>smaller learning rate </a:t>
            </a:r>
            <a:r>
              <a:rPr lang="en-US" sz="2600" i="1" dirty="0">
                <a:solidFill>
                  <a:schemeClr val="accent6">
                    <a:lumMod val="75000"/>
                  </a:schemeClr>
                </a:solidFill>
                <a:latin typeface="Book Antiqua" pitchFamily="18" charset="0"/>
              </a:rPr>
              <a:t>for updating</a:t>
            </a:r>
            <a:r>
              <a:rPr lang="en-US" sz="2600" dirty="0">
                <a:solidFill>
                  <a:schemeClr val="accent6">
                    <a:lumMod val="75000"/>
                  </a:schemeClr>
                </a:solidFill>
                <a:latin typeface="Book Antiqua" pitchFamily="18" charset="0"/>
              </a:rPr>
              <a:t> </a:t>
            </a:r>
            <a:r>
              <a:rPr lang="en-US" sz="2600" b="1" dirty="0">
                <a:solidFill>
                  <a:srgbClr val="00B050"/>
                </a:solidFill>
                <a:latin typeface="Book Antiqua" pitchFamily="18" charset="0"/>
              </a:rPr>
              <a:t>parameters</a:t>
            </a:r>
            <a:r>
              <a:rPr lang="en-US" sz="2600" dirty="0">
                <a:solidFill>
                  <a:schemeClr val="accent6">
                    <a:lumMod val="75000"/>
                  </a:schemeClr>
                </a:solidFill>
                <a:latin typeface="Book Antiqua" pitchFamily="18" charset="0"/>
              </a:rPr>
              <a:t> that are modified with </a:t>
            </a:r>
            <a:r>
              <a:rPr lang="en-US" sz="2600" i="1" dirty="0">
                <a:solidFill>
                  <a:schemeClr val="accent6">
                    <a:lumMod val="75000"/>
                  </a:schemeClr>
                </a:solidFill>
                <a:latin typeface="Book Antiqua" pitchFamily="18" charset="0"/>
              </a:rPr>
              <a:t>large scale in the past</a:t>
            </a:r>
            <a:r>
              <a:rPr lang="en-US" sz="2600" dirty="0">
                <a:latin typeface="Book Antiqua" pitchFamily="18" charset="0"/>
              </a:rPr>
              <a:t>.  </a:t>
            </a:r>
          </a:p>
          <a:p>
            <a:pPr algn="just"/>
            <a:r>
              <a:rPr lang="en-US" sz="2600" dirty="0">
                <a:latin typeface="Book Antiqua" pitchFamily="18" charset="0"/>
              </a:rPr>
              <a:t>Four commonly used </a:t>
            </a:r>
            <a:r>
              <a:rPr lang="en-US" sz="2600" dirty="0">
                <a:solidFill>
                  <a:srgbClr val="00B050"/>
                </a:solidFill>
                <a:latin typeface="Book Antiqua" pitchFamily="18" charset="0"/>
              </a:rPr>
              <a:t>learning rate adaptation techniques</a:t>
            </a:r>
            <a:r>
              <a:rPr lang="en-US" sz="2600" dirty="0">
                <a:latin typeface="Book Antiqua" pitchFamily="18" charset="0"/>
              </a:rPr>
              <a:t> are: </a:t>
            </a:r>
            <a:r>
              <a:rPr lang="en-US" sz="2600" dirty="0">
                <a:solidFill>
                  <a:srgbClr val="0070C0"/>
                </a:solidFill>
                <a:latin typeface="Book Antiqua" pitchFamily="18" charset="0"/>
              </a:rPr>
              <a:t>Momentum, </a:t>
            </a:r>
            <a:r>
              <a:rPr lang="en-US" sz="2400" dirty="0">
                <a:solidFill>
                  <a:srgbClr val="0070C0"/>
                </a:solidFill>
                <a:latin typeface="Book Antiqua" pitchFamily="18" charset="0"/>
              </a:rPr>
              <a:t>Adagrad, </a:t>
            </a:r>
            <a:r>
              <a:rPr lang="en-US" sz="2400" dirty="0" err="1">
                <a:solidFill>
                  <a:srgbClr val="0070C0"/>
                </a:solidFill>
                <a:latin typeface="Book Antiqua" pitchFamily="18" charset="0"/>
              </a:rPr>
              <a:t>Adadelta</a:t>
            </a:r>
            <a:r>
              <a:rPr lang="en-US" sz="2400" dirty="0">
                <a:solidFill>
                  <a:srgbClr val="0070C0"/>
                </a:solidFill>
                <a:latin typeface="Book Antiqua" pitchFamily="18" charset="0"/>
              </a:rPr>
              <a:t>, RMSProp, and Adam.</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9514363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Momentum</a:t>
            </a:r>
          </a:p>
          <a:p>
            <a:pPr algn="just"/>
            <a:r>
              <a:rPr lang="en-US" sz="2800" dirty="0">
                <a:latin typeface="Book Antiqua" panose="02040602050305030304" pitchFamily="18" charset="0"/>
              </a:rPr>
              <a:t>Momentum uses the past gradients to smooth out the parameter update. </a:t>
            </a:r>
          </a:p>
          <a:p>
            <a:pPr algn="just"/>
            <a:r>
              <a:rPr lang="en-US" sz="2800" dirty="0">
                <a:latin typeface="Book Antiqua" panose="02040602050305030304" pitchFamily="18" charset="0"/>
              </a:rPr>
              <a:t>It computes an exponentially weighted average of gradients and then uses this gradient to update the weights.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extLst>
              <p:ext uri="{D42A27DB-BD31-4B8C-83A1-F6EECF244321}">
                <p14:modId xmlns:p14="http://schemas.microsoft.com/office/powerpoint/2010/main" val="836849268"/>
              </p:ext>
            </p:extLst>
          </p:nvPr>
        </p:nvGraphicFramePr>
        <p:xfrm>
          <a:off x="1517650" y="4225925"/>
          <a:ext cx="2962275" cy="1016000"/>
        </p:xfrm>
        <a:graphic>
          <a:graphicData uri="http://schemas.openxmlformats.org/presentationml/2006/ole">
            <mc:AlternateContent xmlns:mc="http://schemas.openxmlformats.org/markup-compatibility/2006">
              <mc:Choice xmlns:v="urn:schemas-microsoft-com:vml" Requires="v">
                <p:oleObj name="Equation" r:id="rId3" imgW="1333440" imgH="457200" progId="Equation.3">
                  <p:embed/>
                </p:oleObj>
              </mc:Choice>
              <mc:Fallback>
                <p:oleObj name="Equation" r:id="rId3" imgW="1333440" imgH="457200" progId="Equation.3">
                  <p:embed/>
                  <p:pic>
                    <p:nvPicPr>
                      <p:cNvPr id="115714" name="Object 2"/>
                      <p:cNvPicPr>
                        <a:picLocks noChangeAspect="1" noChangeArrowheads="1"/>
                      </p:cNvPicPr>
                      <p:nvPr/>
                    </p:nvPicPr>
                    <p:blipFill>
                      <a:blip r:embed="rId4"/>
                      <a:srcRect/>
                      <a:stretch>
                        <a:fillRect/>
                      </a:stretch>
                    </p:blipFill>
                    <p:spPr bwMode="auto">
                      <a:xfrm>
                        <a:off x="1517650" y="4225925"/>
                        <a:ext cx="2962275"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4739924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600" dirty="0">
                <a:latin typeface="Book Antiqua" pitchFamily="18" charset="0"/>
              </a:rPr>
              <a:t>In Adagrad, the variable </a:t>
            </a:r>
            <a:r>
              <a:rPr lang="en-US" sz="2600" i="1" dirty="0">
                <a:latin typeface="Book Antiqua" pitchFamily="18" charset="0"/>
              </a:rPr>
              <a:t>v</a:t>
            </a:r>
            <a:r>
              <a:rPr lang="en-US" sz="2600" dirty="0">
                <a:latin typeface="Book Antiqua" pitchFamily="18" charset="0"/>
              </a:rPr>
              <a:t>, called cache, keeps track of sum of the squared gradients, which in turn is used to normalize the parameter update.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extLst>
              <p:ext uri="{D42A27DB-BD31-4B8C-83A1-F6EECF244321}">
                <p14:modId xmlns:p14="http://schemas.microsoft.com/office/powerpoint/2010/main" val="3154614541"/>
              </p:ext>
            </p:extLst>
          </p:nvPr>
        </p:nvGraphicFramePr>
        <p:xfrm>
          <a:off x="1166813" y="3451225"/>
          <a:ext cx="3132137" cy="1582738"/>
        </p:xfrm>
        <a:graphic>
          <a:graphicData uri="http://schemas.openxmlformats.org/presentationml/2006/ole">
            <mc:AlternateContent xmlns:mc="http://schemas.openxmlformats.org/markup-compatibility/2006">
              <mc:Choice xmlns:v="urn:schemas-microsoft-com:vml" Requires="v">
                <p:oleObj name="Equation" r:id="rId3" imgW="1409400" imgH="711000" progId="Equation.3">
                  <p:embed/>
                </p:oleObj>
              </mc:Choice>
              <mc:Fallback>
                <p:oleObj name="Equation" r:id="rId3" imgW="1409400" imgH="711000" progId="Equation.3">
                  <p:embed/>
                  <p:pic>
                    <p:nvPicPr>
                      <p:cNvPr id="115714" name="Object 2"/>
                      <p:cNvPicPr>
                        <a:picLocks noChangeAspect="1" noChangeArrowheads="1"/>
                      </p:cNvPicPr>
                      <p:nvPr/>
                    </p:nvPicPr>
                    <p:blipFill>
                      <a:blip r:embed="rId4"/>
                      <a:srcRect/>
                      <a:stretch>
                        <a:fillRect/>
                      </a:stretch>
                    </p:blipFill>
                    <p:spPr bwMode="auto">
                      <a:xfrm>
                        <a:off x="1166813" y="3451225"/>
                        <a:ext cx="3132137" cy="158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7635229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800" dirty="0">
                <a:latin typeface="Book Antiqua" pitchFamily="18" charset="0"/>
              </a:rPr>
              <a:t>The effect of above equations is that Weights receiving high gradients will have their effective learning rate reduced. On the other hand, weights receiving small gradients will have their effective learning rate increased.</a:t>
            </a:r>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07935420"/>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Adadelta</a:t>
            </a:r>
          </a:p>
          <a:p>
            <a:pPr algn="just"/>
            <a:r>
              <a:rPr lang="en-US" sz="2800" dirty="0">
                <a:latin typeface="Book Antiqua" pitchFamily="18" charset="0"/>
              </a:rPr>
              <a:t>Adadelta  is an extension of Adagrad that seeks to reduce its aggressive, monotonically decreasing learning rate. </a:t>
            </a:r>
            <a:r>
              <a:rPr lang="en-US" sz="2800" dirty="0">
                <a:solidFill>
                  <a:srgbClr val="00B050"/>
                </a:solidFill>
                <a:latin typeface="Book Antiqua" pitchFamily="18" charset="0"/>
              </a:rPr>
              <a:t>Instead of accumulating all past squared gradients, Adadelta </a:t>
            </a:r>
            <a:r>
              <a:rPr lang="en-US" sz="2800" dirty="0">
                <a:solidFill>
                  <a:srgbClr val="C00000"/>
                </a:solidFill>
                <a:latin typeface="Book Antiqua" pitchFamily="18" charset="0"/>
              </a:rPr>
              <a:t>restricts</a:t>
            </a:r>
            <a:r>
              <a:rPr lang="en-US" sz="2800" dirty="0">
                <a:solidFill>
                  <a:srgbClr val="00B050"/>
                </a:solidFill>
                <a:latin typeface="Book Antiqua" pitchFamily="18" charset="0"/>
              </a:rPr>
              <a:t> the window of accumulated past gradients to some fixed size W.</a:t>
            </a:r>
            <a:endParaRPr lang="en-US" sz="2600" dirty="0">
              <a:solidFill>
                <a:srgbClr val="00B050"/>
              </a:solidFill>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6178454"/>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700" b="1" u="sng" dirty="0">
                <a:latin typeface="Book Antiqua" pitchFamily="18" charset="0"/>
              </a:rPr>
              <a:t>RMSProp</a:t>
            </a:r>
          </a:p>
          <a:p>
            <a:pPr algn="just"/>
            <a:r>
              <a:rPr lang="en-US" sz="2700" dirty="0">
                <a:latin typeface="Book Antiqua" pitchFamily="18" charset="0"/>
              </a:rPr>
              <a:t>Adagrad decays the learning rate very aggressively (as the denominator grows). As a result, after a while, parameters receiving larger gradients will start receiving very small updates because of the decayed learning rate. </a:t>
            </a:r>
          </a:p>
          <a:p>
            <a:pPr algn="just"/>
            <a:r>
              <a:rPr lang="en-US" sz="2700" dirty="0">
                <a:latin typeface="Book Antiqua" pitchFamily="18" charset="0"/>
              </a:rPr>
              <a:t>To avoid this why not decay the denominator and prevent its rapid growth.</a:t>
            </a:r>
          </a:p>
          <a:p>
            <a:pPr algn="just"/>
            <a:r>
              <a:rPr lang="en-US" sz="2700" dirty="0">
                <a:latin typeface="Book Antiqua" pitchFamily="18" charset="0"/>
              </a:rPr>
              <a:t>RMSProp stands for root mean squared propagation and avoids monotonically increasing denominator of Adagrad.</a:t>
            </a:r>
          </a:p>
          <a:p>
            <a:pPr algn="just"/>
            <a:endParaRPr lang="en-US" sz="2700" dirty="0">
              <a:latin typeface="Book Antiqua" pitchFamily="18" charset="0"/>
            </a:endParaRPr>
          </a:p>
          <a:p>
            <a:pPr algn="just"/>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2425485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RMSProp</a:t>
            </a:r>
          </a:p>
          <a:p>
            <a:pPr algn="just"/>
            <a:r>
              <a:rPr lang="en-US" sz="2800" dirty="0">
                <a:latin typeface="Book Antiqua" pitchFamily="18" charset="0"/>
              </a:rPr>
              <a:t>The central idea of RMSProp is keep the moving average of the squared gradients for each weight. And then divide the learning rate by root mean square of the squared gradients.</a:t>
            </a: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7762" name="Object 2"/>
          <p:cNvGraphicFramePr>
            <a:graphicFrameLocks noChangeAspect="1"/>
          </p:cNvGraphicFramePr>
          <p:nvPr/>
        </p:nvGraphicFramePr>
        <p:xfrm>
          <a:off x="1219200" y="3810000"/>
          <a:ext cx="3657600" cy="533400"/>
        </p:xfrm>
        <a:graphic>
          <a:graphicData uri="http://schemas.openxmlformats.org/presentationml/2006/ole">
            <mc:AlternateContent xmlns:mc="http://schemas.openxmlformats.org/markup-compatibility/2006">
              <mc:Choice xmlns:v="urn:schemas-microsoft-com:vml" Requires="v">
                <p:oleObj name="Equation" r:id="rId3" imgW="1562040" imgH="253800" progId="Equation.3">
                  <p:embed/>
                </p:oleObj>
              </mc:Choice>
              <mc:Fallback>
                <p:oleObj name="Equation" r:id="rId3" imgW="1562040" imgH="253800" progId="Equation.3">
                  <p:embed/>
                  <p:pic>
                    <p:nvPicPr>
                      <p:cNvPr id="1177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0"/>
                        <a:ext cx="3657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3" name="Object 3"/>
          <p:cNvGraphicFramePr>
            <a:graphicFrameLocks noChangeAspect="1"/>
          </p:cNvGraphicFramePr>
          <p:nvPr>
            <p:extLst>
              <p:ext uri="{D42A27DB-BD31-4B8C-83A1-F6EECF244321}">
                <p14:modId xmlns:p14="http://schemas.microsoft.com/office/powerpoint/2010/main" val="2177728968"/>
              </p:ext>
            </p:extLst>
          </p:nvPr>
        </p:nvGraphicFramePr>
        <p:xfrm>
          <a:off x="1233488" y="4776788"/>
          <a:ext cx="3322637" cy="960437"/>
        </p:xfrm>
        <a:graphic>
          <a:graphicData uri="http://schemas.openxmlformats.org/presentationml/2006/ole">
            <mc:AlternateContent xmlns:mc="http://schemas.openxmlformats.org/markup-compatibility/2006">
              <mc:Choice xmlns:v="urn:schemas-microsoft-com:vml" Requires="v">
                <p:oleObj name="Equation" r:id="rId5" imgW="1384200" imgH="457200" progId="Equation.3">
                  <p:embed/>
                </p:oleObj>
              </mc:Choice>
              <mc:Fallback>
                <p:oleObj name="Equation" r:id="rId5" imgW="1384200" imgH="457200" progId="Equation.3">
                  <p:embed/>
                  <p:pic>
                    <p:nvPicPr>
                      <p:cNvPr id="117763" name="Object 3"/>
                      <p:cNvPicPr>
                        <a:picLocks noChangeAspect="1" noChangeArrowheads="1"/>
                      </p:cNvPicPr>
                      <p:nvPr/>
                    </p:nvPicPr>
                    <p:blipFill>
                      <a:blip r:embed="rId6"/>
                      <a:srcRect/>
                      <a:stretch>
                        <a:fillRect/>
                      </a:stretch>
                    </p:blipFill>
                    <p:spPr bwMode="auto">
                      <a:xfrm>
                        <a:off x="1233488" y="4776788"/>
                        <a:ext cx="3322637"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452019"/>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r>
              <a:rPr lang="en-US" sz="2800" dirty="0">
                <a:latin typeface="Book Antiqua" pitchFamily="18" charset="0"/>
              </a:rPr>
              <a:t>Adam </a:t>
            </a:r>
            <a:r>
              <a:rPr lang="en-US" sz="2800" dirty="0">
                <a:solidFill>
                  <a:srgbClr val="00B050"/>
                </a:solidFill>
                <a:latin typeface="Book Antiqua" pitchFamily="18" charset="0"/>
              </a:rPr>
              <a:t>update</a:t>
            </a:r>
            <a:r>
              <a:rPr lang="en-US" sz="2800" dirty="0">
                <a:latin typeface="Book Antiqua" pitchFamily="18" charset="0"/>
              </a:rPr>
              <a:t> can be considered as </a:t>
            </a:r>
            <a:r>
              <a:rPr lang="en-US" sz="2800" dirty="0" err="1">
                <a:solidFill>
                  <a:srgbClr val="0070C0"/>
                </a:solidFill>
                <a:latin typeface="Book Antiqua" pitchFamily="18" charset="0"/>
              </a:rPr>
              <a:t>RMSprop</a:t>
            </a:r>
            <a:r>
              <a:rPr lang="en-US" sz="2800" dirty="0">
                <a:solidFill>
                  <a:srgbClr val="0070C0"/>
                </a:solidFill>
                <a:latin typeface="Book Antiqua" pitchFamily="18" charset="0"/>
              </a:rPr>
              <a:t> with momentum. </a:t>
            </a:r>
            <a:r>
              <a:rPr lang="en-US" sz="2800" dirty="0">
                <a:latin typeface="Book Antiqua" pitchFamily="18" charset="0"/>
              </a:rPr>
              <a:t>In place of raw and noisy gradient vector </a:t>
            </a:r>
            <a:r>
              <a:rPr lang="en-US" sz="2800" i="1" dirty="0" err="1">
                <a:latin typeface="Book Antiqua" pitchFamily="18" charset="0"/>
              </a:rPr>
              <a:t>dw</a:t>
            </a:r>
            <a:r>
              <a:rPr lang="en-US" sz="2800" dirty="0">
                <a:latin typeface="Book Antiqua" pitchFamily="18" charset="0"/>
              </a:rPr>
              <a:t>, weighted average of gradients are used.</a:t>
            </a:r>
          </a:p>
          <a:p>
            <a:pPr algn="just">
              <a:buNone/>
            </a:pPr>
            <a:r>
              <a:rPr lang="en-US" sz="2800" dirty="0">
                <a:latin typeface="Book Antiqua" pitchFamily="18" charset="0"/>
              </a:rPr>
              <a:t>	</a:t>
            </a:r>
            <a:r>
              <a:rPr lang="en-US" sz="2800" i="1" dirty="0">
                <a:latin typeface="Book Antiqua" pitchFamily="18" charset="0"/>
              </a:rPr>
              <a:t>Weighted average of gradients</a:t>
            </a:r>
          </a:p>
          <a:p>
            <a:pPr algn="just">
              <a:buNone/>
            </a:pPr>
            <a:endParaRPr lang="en-US" sz="2800" i="1" dirty="0">
              <a:latin typeface="Book Antiqua" pitchFamily="18" charset="0"/>
            </a:endParaRPr>
          </a:p>
          <a:p>
            <a:pPr algn="just">
              <a:buNone/>
            </a:pPr>
            <a:r>
              <a:rPr lang="en-US" sz="2800" i="1" dirty="0">
                <a:latin typeface="Book Antiqua" pitchFamily="18" charset="0"/>
              </a:rPr>
              <a:t>	 Weighted average of squared gradients</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9811" name="Object 3"/>
          <p:cNvGraphicFramePr>
            <a:graphicFrameLocks noChangeAspect="1"/>
          </p:cNvGraphicFramePr>
          <p:nvPr/>
        </p:nvGraphicFramePr>
        <p:xfrm>
          <a:off x="990600" y="4267200"/>
          <a:ext cx="4038600" cy="468313"/>
        </p:xfrm>
        <a:graphic>
          <a:graphicData uri="http://schemas.openxmlformats.org/presentationml/2006/ole">
            <mc:AlternateContent xmlns:mc="http://schemas.openxmlformats.org/markup-compatibility/2006">
              <mc:Choice xmlns:v="urn:schemas-microsoft-com:vml" Requires="v">
                <p:oleObj name="Equation" r:id="rId3" imgW="1625400" imgH="241200" progId="Equation.3">
                  <p:embed/>
                </p:oleObj>
              </mc:Choice>
              <mc:Fallback>
                <p:oleObj name="Equation" r:id="rId3" imgW="1625400" imgH="241200" progId="Equation.3">
                  <p:embed/>
                  <p:pic>
                    <p:nvPicPr>
                      <p:cNvPr id="1198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267200"/>
                        <a:ext cx="403860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2" name="Object 4"/>
          <p:cNvGraphicFramePr>
            <a:graphicFrameLocks noChangeAspect="1"/>
          </p:cNvGraphicFramePr>
          <p:nvPr/>
        </p:nvGraphicFramePr>
        <p:xfrm>
          <a:off x="1041400" y="5486400"/>
          <a:ext cx="3683000" cy="481013"/>
        </p:xfrm>
        <a:graphic>
          <a:graphicData uri="http://schemas.openxmlformats.org/presentationml/2006/ole">
            <mc:AlternateContent xmlns:mc="http://schemas.openxmlformats.org/markup-compatibility/2006">
              <mc:Choice xmlns:v="urn:schemas-microsoft-com:vml" Requires="v">
                <p:oleObj name="Equation" r:id="rId5" imgW="1676160" imgH="253800" progId="Equation.3">
                  <p:embed/>
                </p:oleObj>
              </mc:Choice>
              <mc:Fallback>
                <p:oleObj name="Equation" r:id="rId5" imgW="1676160" imgH="253800" progId="Equation.3">
                  <p:embed/>
                  <p:pic>
                    <p:nvPicPr>
                      <p:cNvPr id="11981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400" y="5486400"/>
                        <a:ext cx="3683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920267"/>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buNone/>
            </a:pPr>
            <a:r>
              <a:rPr lang="en-US" sz="2800" i="1" dirty="0">
                <a:latin typeface="Book Antiqua" pitchFamily="18" charset="0"/>
              </a:rPr>
              <a:t>Bias Correction</a:t>
            </a:r>
          </a:p>
          <a:p>
            <a:pPr algn="just">
              <a:buNone/>
            </a:pPr>
            <a:endParaRPr lang="en-US" sz="2800" i="1" dirty="0">
              <a:latin typeface="Book Antiqua" pitchFamily="18" charset="0"/>
            </a:endParaRPr>
          </a:p>
          <a:p>
            <a:pPr algn="just">
              <a:buNone/>
            </a:pPr>
            <a:endParaRPr lang="en-US" sz="2800" i="1" dirty="0">
              <a:latin typeface="Book Antiqua" pitchFamily="18" charset="0"/>
            </a:endParaRPr>
          </a:p>
          <a:p>
            <a:pPr algn="just">
              <a:buNone/>
            </a:pPr>
            <a:r>
              <a:rPr lang="en-US" sz="2800" i="1" dirty="0">
                <a:latin typeface="Book Antiqua" pitchFamily="18" charset="0"/>
              </a:rPr>
              <a:t>Finally, update weights as below:</a:t>
            </a:r>
          </a:p>
          <a:p>
            <a:pPr algn="just">
              <a:buNone/>
            </a:pPr>
            <a:endParaRPr lang="en-US" sz="2800" i="1"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0836" name="Object 4"/>
          <p:cNvGraphicFramePr>
            <a:graphicFrameLocks noChangeAspect="1"/>
          </p:cNvGraphicFramePr>
          <p:nvPr/>
        </p:nvGraphicFramePr>
        <p:xfrm>
          <a:off x="609600" y="2514600"/>
          <a:ext cx="4965700" cy="962025"/>
        </p:xfrm>
        <a:graphic>
          <a:graphicData uri="http://schemas.openxmlformats.org/presentationml/2006/ole">
            <mc:AlternateContent xmlns:mc="http://schemas.openxmlformats.org/markup-compatibility/2006">
              <mc:Choice xmlns:v="urn:schemas-microsoft-com:vml" Requires="v">
                <p:oleObj name="Equation" r:id="rId3" imgW="2120760" imgH="495000" progId="Equation.3">
                  <p:embed/>
                </p:oleObj>
              </mc:Choice>
              <mc:Fallback>
                <p:oleObj name="Equation" r:id="rId3" imgW="2120760" imgH="495000" progId="Equation.3">
                  <p:embed/>
                  <p:pic>
                    <p:nvPicPr>
                      <p:cNvPr id="120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14600"/>
                        <a:ext cx="496570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7" name="Object 5"/>
          <p:cNvGraphicFramePr>
            <a:graphicFrameLocks noChangeAspect="1"/>
          </p:cNvGraphicFramePr>
          <p:nvPr>
            <p:extLst>
              <p:ext uri="{D42A27DB-BD31-4B8C-83A1-F6EECF244321}">
                <p14:modId xmlns:p14="http://schemas.microsoft.com/office/powerpoint/2010/main" val="2996466324"/>
              </p:ext>
            </p:extLst>
          </p:nvPr>
        </p:nvGraphicFramePr>
        <p:xfrm>
          <a:off x="500063" y="4240213"/>
          <a:ext cx="4168775" cy="887412"/>
        </p:xfrm>
        <a:graphic>
          <a:graphicData uri="http://schemas.openxmlformats.org/presentationml/2006/ole">
            <mc:AlternateContent xmlns:mc="http://schemas.openxmlformats.org/markup-compatibility/2006">
              <mc:Choice xmlns:v="urn:schemas-microsoft-com:vml" Requires="v">
                <p:oleObj name="Equation" r:id="rId5" imgW="1282680" imgH="457200" progId="Equation.3">
                  <p:embed/>
                </p:oleObj>
              </mc:Choice>
              <mc:Fallback>
                <p:oleObj name="Equation" r:id="rId5" imgW="1282680" imgH="457200" progId="Equation.3">
                  <p:embed/>
                  <p:pic>
                    <p:nvPicPr>
                      <p:cNvPr id="120837" name="Object 5"/>
                      <p:cNvPicPr>
                        <a:picLocks noChangeAspect="1" noChangeArrowheads="1"/>
                      </p:cNvPicPr>
                      <p:nvPr/>
                    </p:nvPicPr>
                    <p:blipFill>
                      <a:blip r:embed="rId6"/>
                      <a:srcRect/>
                      <a:stretch>
                        <a:fillRect/>
                      </a:stretch>
                    </p:blipFill>
                    <p:spPr bwMode="auto">
                      <a:xfrm>
                        <a:off x="500063" y="4240213"/>
                        <a:ext cx="4168775"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8526479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1218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810000" y="342900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1219200" y="3810000"/>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7607434"/>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931426557"/>
              </p:ext>
            </p:extLst>
          </p:nvPr>
        </p:nvGraphicFramePr>
        <p:xfrm>
          <a:off x="4062413" y="1984375"/>
          <a:ext cx="4067175" cy="4175125"/>
        </p:xfrm>
        <a:graphic>
          <a:graphicData uri="http://schemas.openxmlformats.org/presentationml/2006/ole">
            <mc:AlternateContent xmlns:mc="http://schemas.openxmlformats.org/markup-compatibility/2006">
              <mc:Choice xmlns:v="urn:schemas-microsoft-com:vml" Requires="v">
                <p:oleObj name="Equation" r:id="rId3" imgW="2425680" imgH="2489040" progId="Equation.3">
                  <p:embed/>
                </p:oleObj>
              </mc:Choice>
              <mc:Fallback>
                <p:oleObj name="Equation" r:id="rId3" imgW="2425680" imgH="2489040" progId="Equation.3">
                  <p:embed/>
                  <p:pic>
                    <p:nvPicPr>
                      <p:cNvPr id="15" name="Object 14"/>
                      <p:cNvPicPr>
                        <a:picLocks noChangeAspect="1" noChangeArrowheads="1"/>
                      </p:cNvPicPr>
                      <p:nvPr/>
                    </p:nvPicPr>
                    <p:blipFill>
                      <a:blip r:embed="rId4"/>
                      <a:srcRect/>
                      <a:stretch>
                        <a:fillRect/>
                      </a:stretch>
                    </p:blipFill>
                    <p:spPr bwMode="auto">
                      <a:xfrm>
                        <a:off x="4062413" y="1984375"/>
                        <a:ext cx="4067175"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1841155"/>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323111757"/>
              </p:ext>
            </p:extLst>
          </p:nvPr>
        </p:nvGraphicFramePr>
        <p:xfrm>
          <a:off x="3646488" y="2149475"/>
          <a:ext cx="4748212" cy="4175125"/>
        </p:xfrm>
        <a:graphic>
          <a:graphicData uri="http://schemas.openxmlformats.org/presentationml/2006/ole">
            <mc:AlternateContent xmlns:mc="http://schemas.openxmlformats.org/markup-compatibility/2006">
              <mc:Choice xmlns:v="urn:schemas-microsoft-com:vml" Requires="v">
                <p:oleObj name="Equation" r:id="rId3" imgW="2831760" imgH="2489040" progId="Equation.3">
                  <p:embed/>
                </p:oleObj>
              </mc:Choice>
              <mc:Fallback>
                <p:oleObj name="Equation" r:id="rId3" imgW="2831760" imgH="2489040" progId="Equation.3">
                  <p:embed/>
                  <p:pic>
                    <p:nvPicPr>
                      <p:cNvPr id="15" name="Object 14"/>
                      <p:cNvPicPr>
                        <a:picLocks noChangeAspect="1" noChangeArrowheads="1"/>
                      </p:cNvPicPr>
                      <p:nvPr/>
                    </p:nvPicPr>
                    <p:blipFill>
                      <a:blip r:embed="rId4"/>
                      <a:srcRect/>
                      <a:stretch>
                        <a:fillRect/>
                      </a:stretch>
                    </p:blipFill>
                    <p:spPr bwMode="auto">
                      <a:xfrm>
                        <a:off x="3646488" y="2149475"/>
                        <a:ext cx="4748212"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8285324"/>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606205096"/>
              </p:ext>
            </p:extLst>
          </p:nvPr>
        </p:nvGraphicFramePr>
        <p:xfrm>
          <a:off x="4381500" y="2347913"/>
          <a:ext cx="3427413" cy="3449637"/>
        </p:xfrm>
        <a:graphic>
          <a:graphicData uri="http://schemas.openxmlformats.org/presentationml/2006/ole">
            <mc:AlternateContent xmlns:mc="http://schemas.openxmlformats.org/markup-compatibility/2006">
              <mc:Choice xmlns:v="urn:schemas-microsoft-com:vml" Requires="v">
                <p:oleObj name="Equation" r:id="rId3" imgW="2044440" imgH="2057400" progId="Equation.3">
                  <p:embed/>
                </p:oleObj>
              </mc:Choice>
              <mc:Fallback>
                <p:oleObj name="Equation" r:id="rId3" imgW="2044440" imgH="2057400" progId="Equation.3">
                  <p:embed/>
                  <p:pic>
                    <p:nvPicPr>
                      <p:cNvPr id="15" name="Object 14"/>
                      <p:cNvPicPr>
                        <a:picLocks noChangeAspect="1" noChangeArrowheads="1"/>
                      </p:cNvPicPr>
                      <p:nvPr/>
                    </p:nvPicPr>
                    <p:blipFill>
                      <a:blip r:embed="rId4"/>
                      <a:srcRect/>
                      <a:stretch>
                        <a:fillRect/>
                      </a:stretch>
                    </p:blipFill>
                    <p:spPr bwMode="auto">
                      <a:xfrm>
                        <a:off x="4381500" y="2347913"/>
                        <a:ext cx="3427413" cy="344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00310208"/>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373438" y="1676400"/>
          <a:ext cx="5770562" cy="4792663"/>
        </p:xfrm>
        <a:graphic>
          <a:graphicData uri="http://schemas.openxmlformats.org/presentationml/2006/ole">
            <mc:AlternateContent xmlns:mc="http://schemas.openxmlformats.org/markup-compatibility/2006">
              <mc:Choice xmlns:v="urn:schemas-microsoft-com:vml" Requires="v">
                <p:oleObj name="Equation" r:id="rId3" imgW="3441600" imgH="2857320" progId="Equation.3">
                  <p:embed/>
                </p:oleObj>
              </mc:Choice>
              <mc:Fallback>
                <p:oleObj name="Equation" r:id="rId3" imgW="3441600" imgH="2857320" progId="Equation.3">
                  <p:embed/>
                  <p:pic>
                    <p:nvPicPr>
                      <p:cNvPr id="15"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438" y="1676400"/>
                        <a:ext cx="5770562"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52660176"/>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600185781"/>
              </p:ext>
            </p:extLst>
          </p:nvPr>
        </p:nvGraphicFramePr>
        <p:xfrm>
          <a:off x="3886200" y="1401762"/>
          <a:ext cx="4821839" cy="4303713"/>
        </p:xfrm>
        <a:graphic>
          <a:graphicData uri="http://schemas.openxmlformats.org/presentationml/2006/ole">
            <mc:AlternateContent xmlns:mc="http://schemas.openxmlformats.org/markup-compatibility/2006">
              <mc:Choice xmlns:v="urn:schemas-microsoft-com:vml" Requires="v">
                <p:oleObj name="Equation" r:id="rId3" imgW="2730240" imgH="2565360" progId="Equation.3">
                  <p:embed/>
                </p:oleObj>
              </mc:Choice>
              <mc:Fallback>
                <p:oleObj name="Equation" r:id="rId3" imgW="2730240" imgH="2565360" progId="Equation.3">
                  <p:embed/>
                  <p:pic>
                    <p:nvPicPr>
                      <p:cNvPr id="15" name="Object 14"/>
                      <p:cNvPicPr>
                        <a:picLocks noChangeAspect="1" noChangeArrowheads="1"/>
                      </p:cNvPicPr>
                      <p:nvPr/>
                    </p:nvPicPr>
                    <p:blipFill>
                      <a:blip r:embed="rId4"/>
                      <a:srcRect/>
                      <a:stretch>
                        <a:fillRect/>
                      </a:stretch>
                    </p:blipFill>
                    <p:spPr bwMode="auto">
                      <a:xfrm>
                        <a:off x="3886200" y="1401762"/>
                        <a:ext cx="4821839" cy="4303713"/>
                      </a:xfrm>
                      <a:prstGeom prst="rect">
                        <a:avLst/>
                      </a:prstGeom>
                      <a:noFill/>
                    </p:spPr>
                  </p:pic>
                </p:oleObj>
              </mc:Fallback>
            </mc:AlternateContent>
          </a:graphicData>
        </a:graphic>
      </p:graphicFrame>
    </p:spTree>
    <p:extLst>
      <p:ext uri="{BB962C8B-B14F-4D97-AF65-F5344CB8AC3E}">
        <p14:creationId xmlns:p14="http://schemas.microsoft.com/office/powerpoint/2010/main" val="312044838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941763" y="1600200"/>
          <a:ext cx="4429125" cy="4921250"/>
        </p:xfrm>
        <a:graphic>
          <a:graphicData uri="http://schemas.openxmlformats.org/presentationml/2006/ole">
            <mc:AlternateContent xmlns:mc="http://schemas.openxmlformats.org/markup-compatibility/2006">
              <mc:Choice xmlns:v="urn:schemas-microsoft-com:vml" Requires="v">
                <p:oleObj name="Equation" r:id="rId3" imgW="2641320" imgH="2933640" progId="Equation.3">
                  <p:embed/>
                </p:oleObj>
              </mc:Choice>
              <mc:Fallback>
                <p:oleObj name="Equation" r:id="rId3" imgW="2641320" imgH="2933640" progId="Equation.3">
                  <p:embed/>
                  <p:pic>
                    <p:nvPicPr>
                      <p:cNvPr id="15"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1763" y="1600200"/>
                        <a:ext cx="4429125" cy="492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08401842"/>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Momentum and Adam</a:t>
            </a:r>
          </a:p>
          <a:p>
            <a:pPr algn="just">
              <a:buNone/>
            </a:pPr>
            <a:r>
              <a:rPr lang="en-US" sz="2400" dirty="0">
                <a:latin typeface="Book Antiqua" pitchFamily="18" charset="0"/>
              </a:rPr>
              <a:t> ??????---try yourself</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1870836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r>
              <a:rPr lang="en-US" sz="2400" dirty="0">
                <a:latin typeface="Book Antiqua" pitchFamily="18" charset="0"/>
              </a:rPr>
              <a:t>Note: Use bias correction feature in each case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1218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759707" y="427058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extLst>
              <p:ext uri="{D42A27DB-BD31-4B8C-83A1-F6EECF244321}">
                <p14:modId xmlns:p14="http://schemas.microsoft.com/office/powerpoint/2010/main" val="1343927346"/>
              </p:ext>
            </p:extLst>
          </p:nvPr>
        </p:nvGraphicFramePr>
        <p:xfrm>
          <a:off x="1341946" y="4441276"/>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738225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In machine learning, datasets are divided into </a:t>
            </a:r>
            <a:r>
              <a:rPr lang="en-US" sz="2600" dirty="0">
                <a:solidFill>
                  <a:schemeClr val="accent6">
                    <a:lumMod val="75000"/>
                  </a:schemeClr>
                </a:solidFill>
                <a:latin typeface="Book Antiqua" pitchFamily="18" charset="0"/>
              </a:rPr>
              <a:t>three</a:t>
            </a:r>
            <a:r>
              <a:rPr lang="en-US" sz="2600" dirty="0">
                <a:latin typeface="Book Antiqua" pitchFamily="18" charset="0"/>
              </a:rPr>
              <a:t> sets: </a:t>
            </a:r>
            <a:r>
              <a:rPr lang="en-US" sz="2600" dirty="0">
                <a:solidFill>
                  <a:srgbClr val="00B050"/>
                </a:solidFill>
                <a:latin typeface="Book Antiqua" pitchFamily="18" charset="0"/>
              </a:rPr>
              <a:t>Training Set, Validation Set, and Test Set.</a:t>
            </a:r>
            <a:r>
              <a:rPr lang="en-US" sz="2600" dirty="0">
                <a:latin typeface="Book Antiqua" pitchFamily="18" charset="0"/>
              </a:rPr>
              <a:t> Split ratio of dataset into three sets is not fix. It depends upon size of the dataset. If we have very large dataset split ratio can be 98:1:1. Otherwise, we can opt for split ratio 80:10:10 or 70:15:15 so on.</a:t>
            </a:r>
          </a:p>
          <a:p>
            <a:pPr algn="just" fontAlgn="base"/>
            <a:r>
              <a:rPr lang="en-US" sz="2600" dirty="0">
                <a:latin typeface="Book Antiqua" pitchFamily="18" charset="0"/>
              </a:rPr>
              <a:t>Training set is used to train neural network and update weights on the basis of error. Validation set is used to compute prediction error using weights resulted from training. If the error is higher than a user-defined threshold then the whole training-validation epoch is repeated.</a:t>
            </a:r>
          </a:p>
          <a:p>
            <a:pPr algn="just" fontAlgn="base"/>
            <a:endParaRPr lang="en-US" sz="2600" dirty="0">
              <a:latin typeface="Book Antiqua" pitchFamily="18" charset="0"/>
            </a:endParaRPr>
          </a:p>
          <a:p>
            <a:pPr fontAlgn="base">
              <a:buNone/>
            </a:pPr>
            <a:endParaRPr lang="en-US" sz="2600" dirty="0">
              <a:latin typeface="Book Antiqua" pitchFamily="18" charset="0"/>
            </a:endParaRPr>
          </a:p>
          <a:p>
            <a:pPr fontAlgn="base">
              <a:buNone/>
            </a:pPr>
            <a:endParaRPr lang="en-US" sz="2600" dirty="0">
              <a:latin typeface="Book Antiqua" pitchFamily="18" charset="0"/>
            </a:endParaRPr>
          </a:p>
          <a:p>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1330682"/>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testing set is then used to measure the performance of the network. This is the data that was never used throughout the training and validation phase. </a:t>
            </a:r>
          </a:p>
          <a:p>
            <a:pPr algn="just"/>
            <a:r>
              <a:rPr lang="en-US" sz="2600" i="1" dirty="0">
                <a:latin typeface="Book Antiqua" pitchFamily="18" charset="0"/>
              </a:rPr>
              <a:t>Cross-validation is a re-sampling procedure used to evaluate machine learning models on a limited data sample</a:t>
            </a:r>
            <a:r>
              <a:rPr lang="en-US" sz="2600" dirty="0">
                <a:latin typeface="Book Antiqua" pitchFamily="18" charset="0"/>
              </a:rPr>
              <a:t>.</a:t>
            </a:r>
          </a:p>
          <a:p>
            <a:pPr algn="just"/>
            <a:r>
              <a:rPr lang="en-US" sz="2600" dirty="0">
                <a:latin typeface="Book Antiqua" pitchFamily="18" charset="0"/>
              </a:rPr>
              <a:t>k-Fold Cross-Validation (</a:t>
            </a:r>
            <a:r>
              <a:rPr lang="en-US" sz="2600" dirty="0" err="1">
                <a:latin typeface="Book Antiqua" pitchFamily="18" charset="0"/>
              </a:rPr>
              <a:t>Muti</a:t>
            </a:r>
            <a:r>
              <a:rPr lang="en-US" sz="2600" dirty="0">
                <a:latin typeface="Book Antiqua" pitchFamily="18" charset="0"/>
              </a:rPr>
              <a:t>-Fold Cross-Validation) is widely used for cross validation. If we choose k=10, it becomes 10-fold cross validation.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549135116"/>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In this approach, the </a:t>
            </a:r>
            <a:r>
              <a:rPr lang="en-US" sz="2600" dirty="0">
                <a:solidFill>
                  <a:srgbClr val="00B050"/>
                </a:solidFill>
                <a:latin typeface="Book Antiqua" pitchFamily="18" charset="0"/>
              </a:rPr>
              <a:t>original sample </a:t>
            </a:r>
            <a:r>
              <a:rPr lang="en-US" sz="2600" dirty="0">
                <a:latin typeface="Book Antiqua" pitchFamily="18" charset="0"/>
              </a:rPr>
              <a:t>is </a:t>
            </a:r>
            <a:r>
              <a:rPr lang="en-US" sz="2600" i="1" dirty="0">
                <a:solidFill>
                  <a:schemeClr val="bg2">
                    <a:lumMod val="25000"/>
                  </a:schemeClr>
                </a:solidFill>
                <a:latin typeface="Book Antiqua" pitchFamily="18" charset="0"/>
              </a:rPr>
              <a:t>randomly partitioned into k equal sized subsamples</a:t>
            </a:r>
            <a:r>
              <a:rPr lang="en-US" sz="2600" dirty="0">
                <a:latin typeface="Book Antiqua" pitchFamily="18" charset="0"/>
              </a:rPr>
              <a:t>. Out of the </a:t>
            </a:r>
            <a:r>
              <a:rPr lang="en-US" sz="2600" i="1" dirty="0">
                <a:latin typeface="Book Antiqua" pitchFamily="18" charset="0"/>
              </a:rPr>
              <a:t>k</a:t>
            </a:r>
            <a:r>
              <a:rPr lang="en-US" sz="2600" dirty="0">
                <a:latin typeface="Book Antiqua" pitchFamily="18" charset="0"/>
              </a:rPr>
              <a:t> subsamples, a </a:t>
            </a:r>
            <a:r>
              <a:rPr lang="en-US" sz="2600" dirty="0">
                <a:solidFill>
                  <a:srgbClr val="00B050"/>
                </a:solidFill>
                <a:latin typeface="Book Antiqua" pitchFamily="18" charset="0"/>
              </a:rPr>
              <a:t>single subsample </a:t>
            </a:r>
            <a:r>
              <a:rPr lang="en-US" sz="2600" dirty="0">
                <a:latin typeface="Book Antiqua" pitchFamily="18" charset="0"/>
              </a:rPr>
              <a:t>is used as the </a:t>
            </a:r>
            <a:r>
              <a:rPr lang="en-US" sz="2600" dirty="0">
                <a:solidFill>
                  <a:srgbClr val="00B050"/>
                </a:solidFill>
                <a:latin typeface="Book Antiqua" pitchFamily="18" charset="0"/>
              </a:rPr>
              <a:t>testing set</a:t>
            </a:r>
            <a:r>
              <a:rPr lang="en-US" sz="2600" dirty="0">
                <a:latin typeface="Book Antiqua" pitchFamily="18" charset="0"/>
              </a:rPr>
              <a:t>, and the </a:t>
            </a:r>
            <a:r>
              <a:rPr lang="en-US" sz="2600" dirty="0">
                <a:solidFill>
                  <a:srgbClr val="00B050"/>
                </a:solidFill>
                <a:latin typeface="Book Antiqua" pitchFamily="18" charset="0"/>
              </a:rPr>
              <a:t>remaining </a:t>
            </a:r>
            <a:r>
              <a:rPr lang="en-US" sz="2600" i="1" dirty="0">
                <a:solidFill>
                  <a:srgbClr val="00B050"/>
                </a:solidFill>
                <a:latin typeface="Book Antiqua" pitchFamily="18" charset="0"/>
              </a:rPr>
              <a:t>k</a:t>
            </a:r>
            <a:r>
              <a:rPr lang="en-US" sz="2600" dirty="0">
                <a:solidFill>
                  <a:srgbClr val="00B050"/>
                </a:solidFill>
                <a:latin typeface="Book Antiqua" pitchFamily="18" charset="0"/>
              </a:rPr>
              <a:t> − 1 subsamples </a:t>
            </a:r>
            <a:r>
              <a:rPr lang="en-US" sz="2600" dirty="0">
                <a:latin typeface="Book Antiqua" pitchFamily="18" charset="0"/>
              </a:rPr>
              <a:t>are used as </a:t>
            </a:r>
            <a:r>
              <a:rPr lang="en-US" sz="2600" dirty="0" err="1">
                <a:latin typeface="Book Antiqua" pitchFamily="18" charset="0"/>
              </a:rPr>
              <a:t>training+validation</a:t>
            </a:r>
            <a:r>
              <a:rPr lang="en-US" sz="2600" dirty="0">
                <a:latin typeface="Book Antiqua" pitchFamily="18" charset="0"/>
              </a:rPr>
              <a:t> data. </a:t>
            </a:r>
          </a:p>
          <a:p>
            <a:pPr algn="just"/>
            <a:r>
              <a:rPr lang="en-US" sz="2600" dirty="0">
                <a:latin typeface="Book Antiqua" pitchFamily="18" charset="0"/>
              </a:rPr>
              <a:t>The cross-validation process is then repeated </a:t>
            </a:r>
            <a:r>
              <a:rPr lang="en-US" sz="2600" i="1" dirty="0">
                <a:latin typeface="Book Antiqua" pitchFamily="18" charset="0"/>
              </a:rPr>
              <a:t>k</a:t>
            </a:r>
            <a:r>
              <a:rPr lang="en-US" sz="2600" dirty="0">
                <a:latin typeface="Book Antiqua" pitchFamily="18" charset="0"/>
              </a:rPr>
              <a:t> times, with each of the </a:t>
            </a:r>
            <a:r>
              <a:rPr lang="en-US" sz="2600" i="1" dirty="0">
                <a:latin typeface="Book Antiqua" pitchFamily="18" charset="0"/>
              </a:rPr>
              <a:t>k</a:t>
            </a:r>
            <a:r>
              <a:rPr lang="en-US" sz="2600" dirty="0">
                <a:latin typeface="Book Antiqua" pitchFamily="18" charset="0"/>
              </a:rPr>
              <a:t> subsamples used exactly once as the testing data. The </a:t>
            </a:r>
            <a:r>
              <a:rPr lang="en-US" sz="2600" i="1" dirty="0">
                <a:latin typeface="Book Antiqua" pitchFamily="18" charset="0"/>
              </a:rPr>
              <a:t>k</a:t>
            </a:r>
            <a:r>
              <a:rPr lang="en-US" sz="2600" dirty="0">
                <a:latin typeface="Book Antiqua" pitchFamily="18" charset="0"/>
              </a:rPr>
              <a:t> results can then be averaged to produce a single estimation. </a:t>
            </a:r>
          </a:p>
          <a:p>
            <a:pPr algn="just">
              <a:buNone/>
            </a:pPr>
            <a:br>
              <a:rPr lang="en-US" sz="2600" dirty="0">
                <a:latin typeface="Book Antiqua" pitchFamily="18" charset="0"/>
              </a:rPr>
            </a:b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1732396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advantage of this method is that all observations are used for both training and testing, and each observation is used for testing exactly once. 10-fold cross-validation is commonly used, but in general </a:t>
            </a:r>
            <a:r>
              <a:rPr lang="en-US" sz="2600" i="1" dirty="0">
                <a:latin typeface="Book Antiqua" pitchFamily="18" charset="0"/>
              </a:rPr>
              <a:t>k</a:t>
            </a:r>
            <a:r>
              <a:rPr lang="en-US" sz="2600" dirty="0">
                <a:latin typeface="Book Antiqua" pitchFamily="18" charset="0"/>
              </a:rPr>
              <a:t> remains an unfixed parameter.</a:t>
            </a:r>
          </a:p>
          <a:p>
            <a:pPr algn="just"/>
            <a:r>
              <a:rPr lang="en-US" sz="2600" dirty="0">
                <a:latin typeface="Book Antiqua" pitchFamily="18" charset="0"/>
              </a:rPr>
              <a:t>For example, setting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2</a:t>
            </a:r>
            <a:r>
              <a:rPr lang="en-US" sz="2600" dirty="0">
                <a:latin typeface="Book Antiqua" pitchFamily="18" charset="0"/>
              </a:rPr>
              <a:t> results in 2-fold cross-validation. In 2-fold cross-validation, we randomly shuffle the dataset into two sets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so that both sets are equal size. We then train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test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followed by training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and testing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40371201"/>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When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n</a:t>
            </a:r>
            <a:r>
              <a:rPr lang="en-US" sz="2600" dirty="0">
                <a:latin typeface="Book Antiqua" pitchFamily="18" charset="0"/>
              </a:rPr>
              <a:t> (the number of observations), </a:t>
            </a:r>
            <a:r>
              <a:rPr lang="en-US" sz="2600" i="1" dirty="0">
                <a:latin typeface="Book Antiqua" pitchFamily="18" charset="0"/>
              </a:rPr>
              <a:t>k</a:t>
            </a:r>
            <a:r>
              <a:rPr lang="en-US" sz="2600" dirty="0">
                <a:latin typeface="Book Antiqua" pitchFamily="18" charset="0"/>
              </a:rPr>
              <a:t>-fold cross-validation is equivalent to leave-one-out cross-validation. In this case,</a:t>
            </a:r>
            <a:r>
              <a:rPr lang="en-US" sz="2600" i="1" dirty="0">
                <a:latin typeface="Book Antiqua" pitchFamily="18" charset="0"/>
              </a:rPr>
              <a:t> n - 1 examples are used to train the model, and the model is validated by testing </a:t>
            </a:r>
            <a:r>
              <a:rPr lang="en-US" sz="2600" dirty="0">
                <a:latin typeface="Book Antiqua" pitchFamily="18" charset="0"/>
              </a:rPr>
              <a:t>it on the example that is left out. This approach is suitable when we have small number of training example.</a:t>
            </a:r>
          </a:p>
          <a:p>
            <a:pPr algn="just" fontAlgn="base"/>
            <a:r>
              <a:rPr lang="en-US" sz="2600" dirty="0">
                <a:latin typeface="Book Antiqua" pitchFamily="18" charset="0"/>
              </a:rPr>
              <a:t>To make the cross-validation procedure concrete, let’s look at a worked example. Imagine we have a data sample with 6 observations: </a:t>
            </a:r>
          </a:p>
          <a:p>
            <a:pPr algn="just" fontAlgn="base">
              <a:buNone/>
            </a:pPr>
            <a:r>
              <a:rPr lang="en-US" sz="2600" dirty="0">
                <a:latin typeface="Book Antiqua" pitchFamily="18" charset="0"/>
              </a:rPr>
              <a:t>	{(1,3),(2,5),(3,7),(4,9),(5,11),(6,13)}</a:t>
            </a:r>
          </a:p>
          <a:p>
            <a:pPr algn="just" fontAlgn="base"/>
            <a:r>
              <a:rPr lang="en-US" sz="2600" dirty="0">
                <a:latin typeface="Book Antiqua" pitchFamily="18" charset="0"/>
              </a:rPr>
              <a:t>Let k=3. That means we will shuffle the data and then split the data into 3 groups. </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82568428"/>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Let k=3. That means we will shuffle the data and then split the data into 3 groups.</a:t>
            </a:r>
          </a:p>
          <a:p>
            <a:pPr algn="just" fontAlgn="base">
              <a:buNone/>
            </a:pPr>
            <a:r>
              <a:rPr lang="en-US" sz="2600" dirty="0">
                <a:latin typeface="Book Antiqua" pitchFamily="18" charset="0"/>
              </a:rPr>
              <a:t>	Fold 1= {(1,3),(5,11)}  </a:t>
            </a:r>
          </a:p>
          <a:p>
            <a:pPr algn="just" fontAlgn="base">
              <a:buNone/>
            </a:pPr>
            <a:r>
              <a:rPr lang="en-US" sz="2600" dirty="0">
                <a:latin typeface="Book Antiqua" pitchFamily="18" charset="0"/>
              </a:rPr>
              <a:t>	Fold 2= {(6,13),(3,7)}</a:t>
            </a:r>
          </a:p>
          <a:p>
            <a:pPr algn="just" fontAlgn="base">
              <a:buNone/>
            </a:pPr>
            <a:r>
              <a:rPr lang="en-US" sz="2600" dirty="0">
                <a:latin typeface="Book Antiqua" pitchFamily="18" charset="0"/>
              </a:rPr>
              <a:t>	Fold 3= {(2,5),(4,9)}</a:t>
            </a:r>
          </a:p>
          <a:p>
            <a:pPr algn="just" fontAlgn="base"/>
            <a:r>
              <a:rPr lang="en-US" sz="2600" dirty="0">
                <a:latin typeface="Book Antiqua" pitchFamily="18" charset="0"/>
              </a:rPr>
              <a:t>Three models are trained and evaluated with each fold given a chance to be the held out test set. For example:</a:t>
            </a:r>
          </a:p>
          <a:p>
            <a:pPr lvl="1" algn="just" fontAlgn="base"/>
            <a:r>
              <a:rPr lang="en-US" sz="2400" b="1" dirty="0">
                <a:latin typeface="Book Antiqua" pitchFamily="18" charset="0"/>
              </a:rPr>
              <a:t>Model 1</a:t>
            </a:r>
            <a:r>
              <a:rPr lang="en-US" sz="2400" dirty="0">
                <a:latin typeface="Book Antiqua" pitchFamily="18" charset="0"/>
              </a:rPr>
              <a:t>: Trained on Fold 1 + Fold 2, Tested on Fold 3</a:t>
            </a:r>
          </a:p>
          <a:p>
            <a:pPr lvl="1" algn="just" fontAlgn="base"/>
            <a:r>
              <a:rPr lang="en-US" sz="2400" b="1" dirty="0">
                <a:latin typeface="Book Antiqua" pitchFamily="18" charset="0"/>
              </a:rPr>
              <a:t>Model 2</a:t>
            </a:r>
            <a:r>
              <a:rPr lang="en-US" sz="2400" dirty="0">
                <a:latin typeface="Book Antiqua" pitchFamily="18" charset="0"/>
              </a:rPr>
              <a:t>: Trained on Fold 2 + Fold 3, Tested on Fold 1</a:t>
            </a:r>
          </a:p>
          <a:p>
            <a:pPr lvl="1" algn="just" fontAlgn="base"/>
            <a:r>
              <a:rPr lang="en-US" sz="2400" b="1" dirty="0">
                <a:latin typeface="Book Antiqua" pitchFamily="18" charset="0"/>
              </a:rPr>
              <a:t>Model 3</a:t>
            </a:r>
            <a:r>
              <a:rPr lang="en-US" sz="2400" dirty="0">
                <a:latin typeface="Book Antiqua" pitchFamily="18" charset="0"/>
              </a:rPr>
              <a:t>: Trained on Fold 1 + Fold 3, Tested on Fold 2</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007336770"/>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itchFamily="18" charset="0"/>
              </a:rPr>
              <a:t>In typical cross-validation, results of multiple runs of model-testing are averaged together. In contrast, the holdout method, involves a single run. </a:t>
            </a:r>
          </a:p>
          <a:p>
            <a:pPr algn="just"/>
            <a:r>
              <a:rPr lang="en-US" sz="2800" dirty="0">
                <a:latin typeface="Book Antiqua" pitchFamily="18" charset="0"/>
              </a:rPr>
              <a:t>It should be used with caution because without such averaging of multiple runs, one may achieve highly misleading results. Predictive accuracy will tend to be unstable since it will not be smoothed out by multiple iterations.</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702762351"/>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CNN is a type of multilayer neural network  specially designed for detecting, recognizing, and classifying images.</a:t>
            </a:r>
          </a:p>
          <a:p>
            <a:pPr algn="just"/>
            <a:r>
              <a:rPr lang="en-US" sz="2600" dirty="0">
                <a:latin typeface="Book Antiqua" pitchFamily="18" charset="0"/>
              </a:rPr>
              <a:t>Every CNN consist following three types of layers: </a:t>
            </a:r>
            <a:r>
              <a:rPr lang="en-US" sz="2600" i="1" dirty="0">
                <a:solidFill>
                  <a:srgbClr val="00B050"/>
                </a:solidFill>
                <a:latin typeface="Book Antiqua" pitchFamily="18" charset="0"/>
              </a:rPr>
              <a:t>Convolution Layer, Pooling layer, and Fully-connected Layer</a:t>
            </a:r>
            <a:r>
              <a:rPr lang="en-US" sz="2600" i="1" dirty="0">
                <a:latin typeface="Book Antiqua" pitchFamily="18" charset="0"/>
              </a:rPr>
              <a:t>. Typical a</a:t>
            </a:r>
            <a:r>
              <a:rPr lang="en-US" sz="2600" dirty="0">
                <a:latin typeface="Book Antiqua" pitchFamily="18" charset="0"/>
              </a:rPr>
              <a:t>rchitecture of CNN is shown below:</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104</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98659" name="Picture 3"/>
          <p:cNvPicPr>
            <a:picLocks noChangeAspect="1" noChangeArrowheads="1"/>
          </p:cNvPicPr>
          <p:nvPr/>
        </p:nvPicPr>
        <p:blipFill>
          <a:blip r:embed="rId3"/>
          <a:srcRect/>
          <a:stretch>
            <a:fillRect/>
          </a:stretch>
        </p:blipFill>
        <p:spPr bwMode="auto">
          <a:xfrm>
            <a:off x="1371600" y="3962400"/>
            <a:ext cx="5715000" cy="2203923"/>
          </a:xfrm>
          <a:prstGeom prst="rect">
            <a:avLst/>
          </a:prstGeom>
          <a:noFill/>
          <a:ln w="9525">
            <a:noFill/>
            <a:miter lim="800000"/>
            <a:headEnd/>
            <a:tailEnd/>
          </a:ln>
          <a:effectLst/>
        </p:spPr>
      </p:pic>
    </p:spTree>
    <p:extLst>
      <p:ext uri="{BB962C8B-B14F-4D97-AF65-F5344CB8AC3E}">
        <p14:creationId xmlns:p14="http://schemas.microsoft.com/office/powerpoint/2010/main" val="3281066538"/>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r>
              <a:rPr lang="en-US" sz="2600" dirty="0">
                <a:latin typeface="Book Antiqua" pitchFamily="18" charset="0"/>
              </a:rPr>
              <a:t>Convolution layer  </a:t>
            </a:r>
            <a:r>
              <a:rPr lang="en-US" sz="2600" dirty="0">
                <a:solidFill>
                  <a:schemeClr val="accent6">
                    <a:lumMod val="75000"/>
                  </a:schemeClr>
                </a:solidFill>
                <a:latin typeface="Book Antiqua" pitchFamily="18" charset="0"/>
              </a:rPr>
              <a:t>extracts features </a:t>
            </a:r>
            <a:r>
              <a:rPr lang="en-US" sz="2600" dirty="0">
                <a:latin typeface="Book Antiqua" pitchFamily="18" charset="0"/>
              </a:rPr>
              <a:t>from an input image. It preserves the relationship between pixels by learning image features using small squares of input data. It is a mathematical operation that takes two inputs such as image matrix and a filter or kernel and produces an image with convolved features.</a:t>
            </a:r>
          </a:p>
          <a:p>
            <a:pPr algn="just"/>
            <a:r>
              <a:rPr lang="en-US" sz="2600" dirty="0">
                <a:latin typeface="Book Antiqua" pitchFamily="18" charset="0"/>
              </a:rPr>
              <a:t>Consider a 5 x 5 image whose pixel values are 0, 1 and filter matrix 3 x 3 as shown in below.</a:t>
            </a:r>
          </a:p>
          <a:p>
            <a:pPr algn="just"/>
            <a:r>
              <a:rPr lang="en-US" sz="2600" dirty="0">
                <a:latin typeface="Book Antiqua" pitchFamily="18" charset="0"/>
              </a:rPr>
              <a:t>The matrix formed by sliding the filter over the image and computing the dot product is called </a:t>
            </a:r>
            <a:r>
              <a:rPr lang="en-US" sz="2600" dirty="0">
                <a:solidFill>
                  <a:srgbClr val="00B050"/>
                </a:solidFill>
                <a:latin typeface="Book Antiqua" pitchFamily="18" charset="0"/>
              </a:rPr>
              <a:t>Feature Map or Convolved Feature</a:t>
            </a:r>
            <a:r>
              <a:rPr lang="en-US" sz="2600" dirty="0">
                <a:latin typeface="Book Antiqua" pitchFamily="18" charset="0"/>
              </a:rPr>
              <a:t>. </a:t>
            </a:r>
          </a:p>
          <a:p>
            <a:pPr algn="just"/>
            <a:endParaRPr lang="en-US" sz="2600" dirty="0">
              <a:latin typeface="Book Antiqua" pitchFamily="18" charset="0"/>
            </a:endParaRPr>
          </a:p>
          <a:p>
            <a:br>
              <a:rPr lang="en-US" sz="2600" dirty="0">
                <a:latin typeface="Book Antiqua" pitchFamily="18" charset="0"/>
              </a:rPr>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70060726"/>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r>
              <a:rPr lang="en-US" sz="2600" dirty="0">
                <a:latin typeface="Book Antiqua" pitchFamily="18" charset="0"/>
              </a:rPr>
              <a:t>Convolution of an image with different filters can perform operations such as edge detection, blur and sharpen by applying filters. </a:t>
            </a:r>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0708" name="Picture 4"/>
          <p:cNvPicPr>
            <a:picLocks noChangeAspect="1" noChangeArrowheads="1"/>
          </p:cNvPicPr>
          <p:nvPr/>
        </p:nvPicPr>
        <p:blipFill>
          <a:blip r:embed="rId3"/>
          <a:srcRect/>
          <a:stretch>
            <a:fillRect/>
          </a:stretch>
        </p:blipFill>
        <p:spPr bwMode="auto">
          <a:xfrm>
            <a:off x="457200" y="1905000"/>
            <a:ext cx="3886200" cy="2438926"/>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5562600" y="2209800"/>
          <a:ext cx="1752599" cy="1112520"/>
        </p:xfrm>
        <a:graphic>
          <a:graphicData uri="http://schemas.openxmlformats.org/drawingml/2006/table">
            <a:tbl>
              <a:tblPr firstRow="1" bandRow="1">
                <a:tableStyleId>{5C22544A-7EE6-4342-B048-85BDC9FD1C3A}</a:tableStyleId>
              </a:tblPr>
              <a:tblGrid>
                <a:gridCol w="533399">
                  <a:extLst>
                    <a:ext uri="{9D8B030D-6E8A-4147-A177-3AD203B41FA5}">
                      <a16:colId xmlns:a16="http://schemas.microsoft.com/office/drawing/2014/main" val="20000"/>
                    </a:ext>
                  </a:extLst>
                </a:gridCol>
                <a:gridCol w="540774">
                  <a:extLst>
                    <a:ext uri="{9D8B030D-6E8A-4147-A177-3AD203B41FA5}">
                      <a16:colId xmlns:a16="http://schemas.microsoft.com/office/drawing/2014/main" val="20001"/>
                    </a:ext>
                  </a:extLst>
                </a:gridCol>
                <a:gridCol w="678426">
                  <a:extLst>
                    <a:ext uri="{9D8B030D-6E8A-4147-A177-3AD203B41FA5}">
                      <a16:colId xmlns:a16="http://schemas.microsoft.com/office/drawing/2014/main" val="20002"/>
                    </a:ext>
                  </a:extLst>
                </a:gridCol>
              </a:tblGrid>
              <a:tr h="370840">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0"/>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extLst>
                  <a:ext uri="{0D108BD9-81ED-4DB2-BD59-A6C34878D82A}">
                    <a16:rowId xmlns:a16="http://schemas.microsoft.com/office/drawing/2014/main" val="10001"/>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2"/>
                  </a:ext>
                </a:extLst>
              </a:tr>
            </a:tbl>
          </a:graphicData>
        </a:graphic>
      </p:graphicFrame>
      <p:sp>
        <p:nvSpPr>
          <p:cNvPr id="18" name="Right Arrow 17"/>
          <p:cNvSpPr/>
          <p:nvPr/>
        </p:nvSpPr>
        <p:spPr>
          <a:xfrm>
            <a:off x="4343400" y="274320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791200" y="3505200"/>
            <a:ext cx="1828800" cy="381000"/>
          </a:xfrm>
          <a:prstGeom prst="rect">
            <a:avLst/>
          </a:prstGeom>
          <a:noFill/>
        </p:spPr>
        <p:txBody>
          <a:bodyPr wrap="square" rtlCol="0">
            <a:spAutoFit/>
          </a:bodyPr>
          <a:lstStyle/>
          <a:p>
            <a:r>
              <a:rPr lang="en-US" dirty="0">
                <a:latin typeface="Book Antiqua" pitchFamily="18" charset="0"/>
              </a:rPr>
              <a:t>Feature Map</a:t>
            </a:r>
          </a:p>
        </p:txBody>
      </p:sp>
    </p:spTree>
    <p:extLst>
      <p:ext uri="{BB962C8B-B14F-4D97-AF65-F5344CB8AC3E}">
        <p14:creationId xmlns:p14="http://schemas.microsoft.com/office/powerpoint/2010/main" val="3279645288"/>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Spatial Pooling or simply Pooling </a:t>
            </a:r>
            <a:r>
              <a:rPr lang="en-US" sz="2800" i="1" dirty="0">
                <a:latin typeface="Book Antiqua" pitchFamily="18" charset="0"/>
              </a:rPr>
              <a:t>reduces the </a:t>
            </a:r>
            <a:r>
              <a:rPr lang="en-US" sz="2800" i="1" dirty="0">
                <a:solidFill>
                  <a:srgbClr val="00B050"/>
                </a:solidFill>
                <a:latin typeface="Book Antiqua" pitchFamily="18" charset="0"/>
              </a:rPr>
              <a:t>dimensionality</a:t>
            </a:r>
            <a:r>
              <a:rPr lang="en-US" sz="2800" i="1" dirty="0">
                <a:latin typeface="Book Antiqua" pitchFamily="18" charset="0"/>
              </a:rPr>
              <a:t> of each feature map but retains the most important information. </a:t>
            </a:r>
          </a:p>
          <a:p>
            <a:pPr algn="just"/>
            <a:r>
              <a:rPr lang="en-US" sz="2800" dirty="0">
                <a:latin typeface="Book Antiqua" pitchFamily="18" charset="0"/>
              </a:rPr>
              <a:t>It is also called sub-sampling or </a:t>
            </a:r>
            <a:r>
              <a:rPr lang="en-US" sz="2800" dirty="0">
                <a:solidFill>
                  <a:srgbClr val="7030A0"/>
                </a:solidFill>
                <a:latin typeface="Book Antiqua" pitchFamily="18" charset="0"/>
              </a:rPr>
              <a:t>down-sampling</a:t>
            </a:r>
            <a:r>
              <a:rPr lang="en-US" sz="2800" dirty="0">
                <a:latin typeface="Book Antiqua" pitchFamily="18" charset="0"/>
              </a:rPr>
              <a:t>. Spatial Pooling can be of different types: </a:t>
            </a:r>
            <a:r>
              <a:rPr lang="en-US" sz="2800" i="1" dirty="0">
                <a:solidFill>
                  <a:srgbClr val="7030A0"/>
                </a:solidFill>
                <a:latin typeface="Book Antiqua" pitchFamily="18" charset="0"/>
              </a:rPr>
              <a:t>Max, Average, Sum etc.</a:t>
            </a:r>
          </a:p>
          <a:p>
            <a:pPr algn="just"/>
            <a:r>
              <a:rPr lang="en-US" sz="2800" dirty="0">
                <a:latin typeface="Book Antiqua" pitchFamily="18" charset="0"/>
              </a:rPr>
              <a:t>In case of Max Pooling, we define a spatial neighborhood (for example, a 3×3 window) and take the largest element from the rectified feature map within that window.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9579952"/>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Instead of taking the largest element we could also take the average (Average Pooling) or sum of all elements in that window. In practice, Max Pooling has been shown to work better.</a:t>
            </a:r>
          </a:p>
          <a:p>
            <a:pPr algn="just"/>
            <a:endParaRPr lang="en-US" sz="2800" dirty="0">
              <a:latin typeface="Book Antiqua" pitchFamily="18" charset="0"/>
            </a:endParaRPr>
          </a:p>
          <a:p>
            <a:pPr algn="just">
              <a:buNone/>
            </a:pPr>
            <a:endParaRPr lang="en-US" sz="2600"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800" dirty="0">
              <a:latin typeface="Book Antiqua" pitchFamily="18" charset="0"/>
            </a:endParaRPr>
          </a:p>
          <a:p>
            <a:pPr algn="just"/>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0946" name="Picture 2"/>
          <p:cNvPicPr>
            <a:picLocks noChangeAspect="1" noChangeArrowheads="1"/>
          </p:cNvPicPr>
          <p:nvPr/>
        </p:nvPicPr>
        <p:blipFill>
          <a:blip r:embed="rId3"/>
          <a:srcRect/>
          <a:stretch>
            <a:fillRect/>
          </a:stretch>
        </p:blipFill>
        <p:spPr bwMode="auto">
          <a:xfrm>
            <a:off x="2057400" y="3657600"/>
            <a:ext cx="4343400" cy="1936619"/>
          </a:xfrm>
          <a:prstGeom prst="rect">
            <a:avLst/>
          </a:prstGeom>
          <a:noFill/>
          <a:ln w="9525">
            <a:noFill/>
            <a:miter lim="800000"/>
            <a:headEnd/>
            <a:tailEnd/>
          </a:ln>
          <a:effectLst/>
        </p:spPr>
      </p:pic>
      <p:sp>
        <p:nvSpPr>
          <p:cNvPr id="15" name="TextBox 14"/>
          <p:cNvSpPr txBox="1"/>
          <p:nvPr/>
        </p:nvSpPr>
        <p:spPr>
          <a:xfrm>
            <a:off x="1905000" y="5638800"/>
            <a:ext cx="5596404" cy="369332"/>
          </a:xfrm>
          <a:prstGeom prst="rect">
            <a:avLst/>
          </a:prstGeom>
          <a:noFill/>
        </p:spPr>
        <p:txBody>
          <a:bodyPr wrap="none" rtlCol="0">
            <a:spAutoFit/>
          </a:bodyPr>
          <a:lstStyle/>
          <a:p>
            <a:r>
              <a:rPr lang="en-US" b="1" dirty="0">
                <a:latin typeface="Book Antiqua" pitchFamily="18" charset="0"/>
              </a:rPr>
              <a:t>Figure: 3x3 Max Pooling over 5x5 convolved feature</a:t>
            </a:r>
          </a:p>
        </p:txBody>
      </p:sp>
    </p:spTree>
    <p:extLst>
      <p:ext uri="{BB962C8B-B14F-4D97-AF65-F5344CB8AC3E}">
        <p14:creationId xmlns:p14="http://schemas.microsoft.com/office/powerpoint/2010/main" val="960881143"/>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Fully Connected layer is a </a:t>
            </a:r>
            <a:r>
              <a:rPr lang="en-US" sz="2600" i="1" dirty="0">
                <a:solidFill>
                  <a:srgbClr val="00B050"/>
                </a:solidFill>
                <a:latin typeface="Book Antiqua" pitchFamily="18" charset="0"/>
              </a:rPr>
              <a:t>traditional Multi Layer Perceptron</a:t>
            </a:r>
            <a:r>
              <a:rPr lang="en-US" sz="2600" i="1" dirty="0">
                <a:latin typeface="Book Antiqua" pitchFamily="18" charset="0"/>
              </a:rPr>
              <a:t> that uses a </a:t>
            </a:r>
            <a:r>
              <a:rPr lang="en-US" sz="2600" i="1" dirty="0">
                <a:solidFill>
                  <a:srgbClr val="00B050"/>
                </a:solidFill>
                <a:latin typeface="Book Antiqua" pitchFamily="18" charset="0"/>
              </a:rPr>
              <a:t>softmax activation function </a:t>
            </a:r>
            <a:r>
              <a:rPr lang="en-US" sz="2600" i="1" dirty="0">
                <a:latin typeface="Book Antiqua" pitchFamily="18" charset="0"/>
              </a:rPr>
              <a:t>in the output layer</a:t>
            </a:r>
            <a:r>
              <a:rPr lang="en-US" sz="2600" dirty="0">
                <a:latin typeface="Book Antiqua" pitchFamily="18" charset="0"/>
              </a:rPr>
              <a:t>. The term “</a:t>
            </a:r>
            <a:r>
              <a:rPr lang="en-US" sz="2600" i="1" dirty="0">
                <a:latin typeface="Book Antiqua" pitchFamily="18" charset="0"/>
              </a:rPr>
              <a:t>Fully Connected”</a:t>
            </a:r>
            <a:r>
              <a:rPr lang="en-US" sz="2600" dirty="0">
                <a:latin typeface="Book Antiqua" pitchFamily="18" charset="0"/>
              </a:rPr>
              <a:t> implies that every neuron in the previous layer is connected to every neuron on the next layer. </a:t>
            </a:r>
          </a:p>
          <a:p>
            <a:pPr algn="just"/>
            <a:r>
              <a:rPr lang="en-US" sz="2600" dirty="0">
                <a:latin typeface="Book Antiqua" pitchFamily="18" charset="0"/>
              </a:rPr>
              <a:t>The output from the Convolutional and Pooling layers represent high-level features of the input image. The purpose of the Fully Connected layer is to use these features for classifying the input image into various classes based on the training dataset.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90333778"/>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Softmax function takes a vector of arbitrary real-valued scores and squashes it to a vector of values between zero and one that sum to one.  </a:t>
            </a:r>
          </a:p>
          <a:p>
            <a:pPr algn="just"/>
            <a:r>
              <a:rPr lang="en-US" sz="2600" dirty="0">
                <a:latin typeface="Book Antiqua" pitchFamily="18" charset="0"/>
              </a:rPr>
              <a:t>The Fully-Connected layer learns non-linear function in output produced by Convolutional and Pooling Layer.</a:t>
            </a:r>
          </a:p>
          <a:p>
            <a:pPr algn="just"/>
            <a:r>
              <a:rPr lang="en-US" sz="2600" dirty="0">
                <a:latin typeface="Book Antiqua" pitchFamily="18" charset="0"/>
              </a:rPr>
              <a:t>We should flatten the image into a column vector. The flattened output is fed to the Fully Connected Layer and backpropagation can be applied to train the network.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9874672"/>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a:latin typeface="Book Antiqua" pitchFamily="18" charset="0"/>
              </a:rPr>
              <a:t>Example</a:t>
            </a:r>
          </a:p>
          <a:p>
            <a:pPr algn="just">
              <a:buNone/>
            </a:pPr>
            <a:r>
              <a:rPr lang="en-US" sz="2600" dirty="0">
                <a:latin typeface="Book Antiqua" pitchFamily="18" charset="0"/>
              </a:rPr>
              <a:t>	Consider following 6x6 image and 3x3 filter as below.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Table 14"/>
          <p:cNvGraphicFramePr>
            <a:graphicFrameLocks noGrp="1"/>
          </p:cNvGraphicFramePr>
          <p:nvPr/>
        </p:nvGraphicFramePr>
        <p:xfrm>
          <a:off x="685800" y="3581400"/>
          <a:ext cx="3429000" cy="222504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tblGrid>
              <a:tr h="370840">
                <a:tc>
                  <a:txBody>
                    <a:bodyPr/>
                    <a:lstStyle/>
                    <a:p>
                      <a:r>
                        <a:rPr lang="en-US" dirty="0">
                          <a:latin typeface="Book Antiqua" pitchFamily="18" charset="0"/>
                        </a:rPr>
                        <a:t>255</a:t>
                      </a:r>
                    </a:p>
                  </a:txBody>
                  <a:tcPr/>
                </a:tc>
                <a:tc>
                  <a:txBody>
                    <a:bodyPr/>
                    <a:lstStyle/>
                    <a:p>
                      <a:r>
                        <a:rPr lang="en-US" dirty="0">
                          <a:latin typeface="Book Antiqua" pitchFamily="18" charset="0"/>
                        </a:rPr>
                        <a:t>200</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89</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180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210</a:t>
                      </a:r>
                    </a:p>
                  </a:txBody>
                  <a:tcPr/>
                </a:tc>
                <a:tc>
                  <a:txBody>
                    <a:bodyPr/>
                    <a:lstStyle/>
                    <a:p>
                      <a:r>
                        <a:rPr lang="en-US" dirty="0">
                          <a:latin typeface="Book Antiqua" pitchFamily="18" charset="0"/>
                        </a:rPr>
                        <a:t>230</a:t>
                      </a:r>
                    </a:p>
                  </a:txBody>
                  <a:tcPr/>
                </a:tc>
                <a:tc>
                  <a:txBody>
                    <a:bodyPr/>
                    <a:lstStyle/>
                    <a:p>
                      <a:r>
                        <a:rPr lang="en-US" dirty="0">
                          <a:latin typeface="Book Antiqua" pitchFamily="18" charset="0"/>
                        </a:rPr>
                        <a:t>170</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87</a:t>
                      </a:r>
                    </a:p>
                  </a:txBody>
                  <a:tcPr/>
                </a:tc>
                <a:tc>
                  <a:txBody>
                    <a:bodyPr/>
                    <a:lstStyle/>
                    <a:p>
                      <a:r>
                        <a:rPr lang="en-US" dirty="0">
                          <a:latin typeface="Book Antiqua" pitchFamily="18" charset="0"/>
                        </a:rPr>
                        <a:t>76</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49</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115</a:t>
                      </a:r>
                    </a:p>
                  </a:txBody>
                  <a:tcPr/>
                </a:tc>
                <a:tc>
                  <a:txBody>
                    <a:bodyPr/>
                    <a:lstStyle/>
                    <a:p>
                      <a:r>
                        <a:rPr lang="en-US" dirty="0">
                          <a:latin typeface="Book Antiqua" pitchFamily="18" charset="0"/>
                        </a:rPr>
                        <a:t>125</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140</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20</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32</a:t>
                      </a:r>
                    </a:p>
                  </a:txBody>
                  <a:tcPr/>
                </a:tc>
                <a:tc>
                  <a:txBody>
                    <a:bodyPr/>
                    <a:lstStyle/>
                    <a:p>
                      <a:r>
                        <a:rPr lang="en-US" dirty="0">
                          <a:latin typeface="Book Antiqua" pitchFamily="18" charset="0"/>
                        </a:rPr>
                        <a:t>42</a:t>
                      </a:r>
                    </a:p>
                  </a:txBody>
                  <a:tcPr/>
                </a:tc>
                <a:tc>
                  <a:txBody>
                    <a:bodyPr/>
                    <a:lstStyle/>
                    <a:p>
                      <a:r>
                        <a:rPr lang="en-US" dirty="0">
                          <a:latin typeface="Book Antiqua" pitchFamily="18" charset="0"/>
                        </a:rPr>
                        <a:t>37</a:t>
                      </a:r>
                    </a:p>
                  </a:txBody>
                  <a:tcPr/>
                </a:tc>
                <a:tc>
                  <a:txBody>
                    <a:bodyPr/>
                    <a:lstStyle/>
                    <a:p>
                      <a:r>
                        <a:rPr lang="en-US" dirty="0">
                          <a:latin typeface="Book Antiqua" pitchFamily="18" charset="0"/>
                        </a:rPr>
                        <a:t>78</a:t>
                      </a:r>
                    </a:p>
                  </a:txBody>
                  <a:tcPr/>
                </a:tc>
                <a:extLst>
                  <a:ext uri="{0D108BD9-81ED-4DB2-BD59-A6C34878D82A}">
                    <a16:rowId xmlns:a16="http://schemas.microsoft.com/office/drawing/2014/main" val="10003"/>
                  </a:ext>
                </a:extLst>
              </a:tr>
              <a:tr h="370840">
                <a:tc>
                  <a:txBody>
                    <a:bodyPr/>
                    <a:lstStyle/>
                    <a:p>
                      <a:r>
                        <a:rPr lang="en-US" dirty="0">
                          <a:latin typeface="Book Antiqua" pitchFamily="18" charset="0"/>
                        </a:rPr>
                        <a:t>55</a:t>
                      </a:r>
                    </a:p>
                  </a:txBody>
                  <a:tcPr/>
                </a:tc>
                <a:tc>
                  <a:txBody>
                    <a:bodyPr/>
                    <a:lstStyle/>
                    <a:p>
                      <a:r>
                        <a:rPr lang="en-US" dirty="0">
                          <a:latin typeface="Book Antiqua" pitchFamily="18" charset="0"/>
                        </a:rPr>
                        <a:t>65</a:t>
                      </a:r>
                    </a:p>
                  </a:txBody>
                  <a:tcPr/>
                </a:tc>
                <a:tc>
                  <a:txBody>
                    <a:bodyPr/>
                    <a:lstStyle/>
                    <a:p>
                      <a:r>
                        <a:rPr lang="en-US" dirty="0">
                          <a:latin typeface="Book Antiqua" pitchFamily="18" charset="0"/>
                        </a:rPr>
                        <a:t>75</a:t>
                      </a:r>
                    </a:p>
                  </a:txBody>
                  <a:tcPr/>
                </a:tc>
                <a:tc>
                  <a:txBody>
                    <a:bodyPr/>
                    <a:lstStyle/>
                    <a:p>
                      <a:r>
                        <a:rPr lang="en-US" dirty="0">
                          <a:latin typeface="Book Antiqua" pitchFamily="18" charset="0"/>
                        </a:rPr>
                        <a:t>45</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69</a:t>
                      </a:r>
                    </a:p>
                  </a:txBody>
                  <a:tcPr/>
                </a:tc>
                <a:extLst>
                  <a:ext uri="{0D108BD9-81ED-4DB2-BD59-A6C34878D82A}">
                    <a16:rowId xmlns:a16="http://schemas.microsoft.com/office/drawing/2014/main" val="10004"/>
                  </a:ext>
                </a:extLst>
              </a:tr>
              <a:tr h="370840">
                <a:tc>
                  <a:txBody>
                    <a:bodyPr/>
                    <a:lstStyle/>
                    <a:p>
                      <a:r>
                        <a:rPr lang="en-US" dirty="0">
                          <a:latin typeface="Book Antiqua" pitchFamily="18" charset="0"/>
                        </a:rPr>
                        <a:t>190</a:t>
                      </a:r>
                    </a:p>
                  </a:txBody>
                  <a:tcPr/>
                </a:tc>
                <a:tc>
                  <a:txBody>
                    <a:bodyPr/>
                    <a:lstStyle/>
                    <a:p>
                      <a:r>
                        <a:rPr lang="en-US" dirty="0">
                          <a:latin typeface="Book Antiqua" pitchFamily="18" charset="0"/>
                        </a:rPr>
                        <a:t>180</a:t>
                      </a:r>
                    </a:p>
                  </a:txBody>
                  <a:tcPr/>
                </a:tc>
                <a:tc>
                  <a:txBody>
                    <a:bodyPr/>
                    <a:lstStyle/>
                    <a:p>
                      <a:r>
                        <a:rPr lang="en-US" dirty="0">
                          <a:latin typeface="Book Antiqua" pitchFamily="18" charset="0"/>
                        </a:rPr>
                        <a:t>160</a:t>
                      </a:r>
                    </a:p>
                  </a:txBody>
                  <a:tcPr/>
                </a:tc>
                <a:tc>
                  <a:txBody>
                    <a:bodyPr/>
                    <a:lstStyle/>
                    <a:p>
                      <a:r>
                        <a:rPr lang="en-US" dirty="0">
                          <a:latin typeface="Book Antiqua" pitchFamily="18" charset="0"/>
                        </a:rPr>
                        <a:t>150</a:t>
                      </a:r>
                    </a:p>
                  </a:txBody>
                  <a:tcPr/>
                </a:tc>
                <a:tc>
                  <a:txBody>
                    <a:bodyPr/>
                    <a:lstStyle/>
                    <a:p>
                      <a:r>
                        <a:rPr lang="en-US" dirty="0">
                          <a:latin typeface="Book Antiqua" pitchFamily="18" charset="0"/>
                        </a:rPr>
                        <a:t>155</a:t>
                      </a:r>
                    </a:p>
                  </a:txBody>
                  <a:tcPr/>
                </a:tc>
                <a:tc>
                  <a:txBody>
                    <a:bodyPr/>
                    <a:lstStyle/>
                    <a:p>
                      <a:r>
                        <a:rPr lang="en-US" dirty="0">
                          <a:latin typeface="Book Antiqua" pitchFamily="18" charset="0"/>
                        </a:rPr>
                        <a:t>165</a:t>
                      </a:r>
                    </a:p>
                  </a:txBody>
                  <a:tcPr/>
                </a:tc>
                <a:extLst>
                  <a:ext uri="{0D108BD9-81ED-4DB2-BD59-A6C34878D82A}">
                    <a16:rowId xmlns:a16="http://schemas.microsoft.com/office/drawing/2014/main" val="10005"/>
                  </a:ext>
                </a:extLst>
              </a:tr>
            </a:tbl>
          </a:graphicData>
        </a:graphic>
      </p:graphicFrame>
      <p:graphicFrame>
        <p:nvGraphicFramePr>
          <p:cNvPr id="16" name="Table 15"/>
          <p:cNvGraphicFramePr>
            <a:graphicFrameLocks noGrp="1"/>
          </p:cNvGraphicFramePr>
          <p:nvPr/>
        </p:nvGraphicFramePr>
        <p:xfrm>
          <a:off x="4419600" y="4038600"/>
          <a:ext cx="1752600" cy="1112520"/>
        </p:xfrm>
        <a:graphic>
          <a:graphicData uri="http://schemas.openxmlformats.org/drawingml/2006/table">
            <a:tbl>
              <a:tblPr firstRow="1" bandRow="1">
                <a:tableStyleId>{5C22544A-7EE6-4342-B048-85BDC9FD1C3A}</a:tableStyleId>
              </a:tblPr>
              <a:tblGrid>
                <a:gridCol w="5842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tblGrid>
              <a:tr h="37084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42186666"/>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a:latin typeface="Book Antiqua" pitchFamily="18" charset="0"/>
              </a:rPr>
              <a:t>HW</a:t>
            </a:r>
          </a:p>
          <a:p>
            <a:pPr algn="just">
              <a:buNone/>
            </a:pPr>
            <a:r>
              <a:rPr lang="en-US" sz="2600" dirty="0">
                <a:latin typeface="Book Antiqua" pitchFamily="18" charset="0"/>
              </a:rPr>
              <a:t>	Consider 4-bit grayscale image of resolution 5x5 image and 3x3 filter as below. Assume pixel values and filter of your own interest.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99048898"/>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One of the main problem with gradient descent is slow convergence.</a:t>
            </a:r>
          </a:p>
          <a:p>
            <a:pPr algn="just"/>
            <a:r>
              <a:rPr lang="en-US" sz="2600" b="1" dirty="0">
                <a:solidFill>
                  <a:srgbClr val="00B050"/>
                </a:solidFill>
                <a:latin typeface="Book Antiqua" pitchFamily="18" charset="0"/>
              </a:rPr>
              <a:t>Newton's method </a:t>
            </a:r>
            <a:r>
              <a:rPr lang="en-US" sz="2600" dirty="0">
                <a:latin typeface="Book Antiqua" pitchFamily="18" charset="0"/>
              </a:rPr>
              <a:t>is a </a:t>
            </a:r>
            <a:r>
              <a:rPr lang="en-US" sz="2600" i="1" dirty="0">
                <a:latin typeface="Book Antiqua" pitchFamily="18" charset="0"/>
              </a:rPr>
              <a:t>second-order algorithm </a:t>
            </a:r>
            <a:r>
              <a:rPr lang="en-US" sz="2600" dirty="0">
                <a:latin typeface="Book Antiqua" pitchFamily="18" charset="0"/>
              </a:rPr>
              <a:t>because it makes use of the Hessian matrix. </a:t>
            </a:r>
          </a:p>
          <a:p>
            <a:pPr algn="just"/>
            <a:r>
              <a:rPr lang="en-US" sz="2600" dirty="0">
                <a:latin typeface="Book Antiqua" pitchFamily="18" charset="0"/>
              </a:rPr>
              <a:t>This method's objective is to find better training directions by using the second derivatives of the loss function.</a:t>
            </a:r>
          </a:p>
          <a:p>
            <a:pPr algn="just"/>
            <a:r>
              <a:rPr lang="en-US" sz="2600" dirty="0">
                <a:latin typeface="Book Antiqua" pitchFamily="18" charset="0"/>
              </a:rPr>
              <a:t>Second order Taylor series expansion of the cost function around point w(n) is given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8435416"/>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14:m>
                  <m:oMathPara xmlns:m="http://schemas.openxmlformats.org/officeDocument/2006/math">
                    <m:oMathParaPr>
                      <m:jc m:val="left"/>
                    </m:oMathParaPr>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oMath>
                  </m:oMathPara>
                </a14:m>
                <a:endParaRPr lang="en-US" sz="2600" dirty="0">
                  <a:latin typeface="Book Antiqua" pitchFamily="18" charset="0"/>
                </a:endParaRPr>
              </a:p>
              <a:p>
                <a:pPr marL="0" indent="0" algn="just">
                  <a:buNone/>
                </a:pPr>
                <a:r>
                  <a:rPr lang="en-US" sz="2600" dirty="0">
                    <a:latin typeface="Book Antiqua" pitchFamily="18" charset="0"/>
                  </a:rPr>
                  <a:t>	       </a:t>
                </a:r>
                <a14:m>
                  <m:oMath xmlns:m="http://schemas.openxmlformats.org/officeDocument/2006/math">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𝑔</m:t>
                        </m:r>
                      </m:e>
                      <m:sup>
                        <m:r>
                          <a:rPr lang="en-US" sz="2600" b="0" i="1" smtClean="0">
                            <a:latin typeface="Cambria Math" panose="02040503050406030204" pitchFamily="18" charset="0"/>
                          </a:rPr>
                          <m:t>𝑇</m:t>
                        </m:r>
                      </m:sup>
                    </m:sSup>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2</m:t>
                        </m:r>
                      </m:den>
                    </m:f>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𝑤</m:t>
                        </m:r>
                      </m:e>
                      <m:sup>
                        <m:r>
                          <a:rPr lang="en-US" sz="2600" b="0" i="1" smtClean="0">
                            <a:latin typeface="Cambria Math" panose="02040503050406030204" pitchFamily="18" charset="0"/>
                            <a:ea typeface="Cambria Math" panose="02040503050406030204" pitchFamily="18" charset="0"/>
                          </a:rPr>
                          <m:t>𝑇</m:t>
                        </m:r>
                      </m:sup>
                    </m:sSup>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𝐻</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(1)</a:t>
                </a:r>
              </a:p>
              <a:p>
                <a:pPr algn="just"/>
                <a:r>
                  <a:rPr lang="en-US" sz="2600" dirty="0">
                    <a:latin typeface="Book Antiqua" pitchFamily="18" charset="0"/>
                  </a:rPr>
                  <a:t>Where, g is gradient vector of cost function evaluated at w(n) and H(n) is hessian evaluated at w(n).</a:t>
                </a:r>
              </a:p>
              <a:p>
                <a:pPr algn="just"/>
                <a:r>
                  <a:rPr lang="en-US" sz="2600" dirty="0">
                    <a:latin typeface="Book Antiqua" pitchFamily="18" charset="0"/>
                  </a:rPr>
                  <a:t>Differentiating </a:t>
                </a:r>
                <a:r>
                  <a:rPr lang="en-US" sz="2600" dirty="0" err="1">
                    <a:latin typeface="Book Antiqua" pitchFamily="18" charset="0"/>
                  </a:rPr>
                  <a:t>eq</a:t>
                </a:r>
                <a:r>
                  <a:rPr lang="en-US" sz="2600" dirty="0">
                    <a:latin typeface="Book Antiqua" pitchFamily="18" charset="0"/>
                  </a:rPr>
                  <a:t>(1) w.r.t. w(n) and equating it with zero, we get.</a:t>
                </a:r>
              </a:p>
              <a:p>
                <a:pPr marL="0" indent="1543050" algn="just">
                  <a:buNone/>
                </a:pPr>
                <a:r>
                  <a:rPr lang="en-US" sz="2600" b="0" dirty="0"/>
                  <a:t>	</a:t>
                </a:r>
                <a14:m>
                  <m:oMath xmlns:m="http://schemas.openxmlformats.org/officeDocument/2006/math">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𝐻</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=0</m:t>
                    </m:r>
                  </m:oMath>
                </a14:m>
                <a:endParaRPr lang="en-US" sz="2600" b="0" dirty="0">
                  <a:latin typeface="Book Antiqua" pitchFamily="18" charset="0"/>
                </a:endParaRPr>
              </a:p>
              <a:p>
                <a:pPr marL="0" indent="1828800" algn="just">
                  <a:buNone/>
                </a:pPr>
                <a14:m>
                  <m:oMath xmlns:m="http://schemas.openxmlformats.org/officeDocument/2006/math">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𝐻</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m:t>
                    </m:r>
                    <m:r>
                      <a:rPr lang="en-US" sz="2600" b="0" i="1" smtClean="0">
                        <a:latin typeface="Cambria Math" panose="02040503050406030204" pitchFamily="18" charset="0"/>
                      </a:rPr>
                      <m:t>𝑛</m:t>
                    </m:r>
                    <m:r>
                      <a:rPr lang="en-US" sz="2600" b="0" i="1" smtClean="0">
                        <a:latin typeface="Cambria Math" panose="02040503050406030204" pitchFamily="18" charset="0"/>
                      </a:rPr>
                      <m:t>)</m:t>
                    </m:r>
                  </m:oMath>
                </a14:m>
                <a:r>
                  <a:rPr lang="en-US" sz="2600" dirty="0">
                    <a:latin typeface="Book Antiqua" pitchFamily="18" charset="0"/>
                  </a:rPr>
                  <a:t>			(2)</a:t>
                </a:r>
              </a:p>
              <a:p>
                <a:pPr algn="just"/>
                <a:r>
                  <a:rPr lang="en-US" sz="2600" dirty="0">
                    <a:latin typeface="Book Antiqua" pitchFamily="18" charset="0"/>
                  </a:rPr>
                  <a:t>Since,	</a:t>
                </a:r>
                <a14:m>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endParaRPr lang="en-US" sz="2600" dirty="0">
                  <a:latin typeface="Book Antiqua" pitchFamily="18" charset="0"/>
                </a:endParaRPr>
              </a:p>
              <a:p>
                <a:pPr algn="just"/>
                <a:endParaRPr lang="en-US" sz="26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76978707"/>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buFont typeface="Symbol" panose="05050102010706020507" pitchFamily="18" charset="2"/>
                  <a:buChar char="Þ"/>
                </a:pPr>
                <a14:m>
                  <m:oMath xmlns:m="http://schemas.openxmlformats.org/officeDocument/2006/math">
                    <m:r>
                      <a:rPr lang="en-US" sz="2600" b="0" i="1" smtClean="0">
                        <a:latin typeface="Cambria Math" panose="02040503050406030204" pitchFamily="18" charset="0"/>
                      </a:rPr>
                      <m:t>          </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r>
                          <a:rPr lang="en-US" sz="2600" b="0" i="1" smtClean="0">
                            <a:latin typeface="Cambria Math" panose="02040503050406030204" pitchFamily="18" charset="0"/>
                          </a:rPr>
                          <m:t>+1</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oMath>
                </a14:m>
                <a:endParaRPr lang="en-US" sz="2600" b="0" i="1" dirty="0">
                  <a:latin typeface="Cambria Math" panose="02040503050406030204" pitchFamily="18" charset="0"/>
                  <a:ea typeface="Cambria Math" panose="02040503050406030204" pitchFamily="18" charset="0"/>
                </a:endParaRPr>
              </a:p>
              <a:p>
                <a:pPr marL="0" indent="0" algn="just">
                  <a:buNone/>
                </a:pPr>
                <a:r>
                  <a:rPr lang="en-US" sz="2600" b="0" dirty="0">
                    <a:ea typeface="Cambria Math" panose="02040503050406030204" pitchFamily="18" charset="0"/>
                  </a:rPr>
                  <a:t>                                 </a:t>
                </a:r>
                <a14:m>
                  <m:oMath xmlns:m="http://schemas.openxmlformats.org/officeDocument/2006/math">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𝑔</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𝐻</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(3)</a:t>
                </a:r>
              </a:p>
              <a:p>
                <a:pPr algn="just"/>
                <a:r>
                  <a:rPr lang="en-US" sz="2600" dirty="0">
                    <a:latin typeface="Book Antiqua" pitchFamily="18" charset="0"/>
                  </a:rPr>
                  <a:t>This equation is used to update weights of neural network.</a:t>
                </a:r>
              </a:p>
              <a:p>
                <a:pPr algn="just"/>
                <a:r>
                  <a:rPr lang="en-US" sz="2600" dirty="0">
                    <a:latin typeface="Book Antiqua" pitchFamily="18" charset="0"/>
                  </a:rPr>
                  <a:t>Newton’s method converges quickly and does not exhibit the zigzagging behavior that sometimes characterizes the method of gradient descent. </a:t>
                </a:r>
              </a:p>
              <a:p>
                <a:pPr algn="just"/>
                <a:r>
                  <a:rPr lang="en-US" sz="2600" dirty="0">
                    <a:latin typeface="Book Antiqua" pitchFamily="18" charset="0"/>
                  </a:rPr>
                  <a:t>However, for Newton’s method to work, the Hessian </a:t>
                </a:r>
                <a:r>
                  <a:rPr lang="en-US" sz="2600" b="1" dirty="0">
                    <a:latin typeface="Book Antiqua" panose="02040602050305030304" pitchFamily="18" charset="0"/>
                  </a:rPr>
                  <a:t>H</a:t>
                </a:r>
                <a:r>
                  <a:rPr lang="en-US" sz="2600" dirty="0">
                    <a:latin typeface="Book Antiqua" panose="02040602050305030304" pitchFamily="18" charset="0"/>
                  </a:rPr>
                  <a:t>(n) has to be a positive definite matrix for all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25270940"/>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Unfortunately, in general, there is no guarantee that </a:t>
            </a:r>
            <a:r>
              <a:rPr lang="en-US" sz="2800" b="1" dirty="0">
                <a:latin typeface="Book Antiqua" panose="02040602050305030304" pitchFamily="18" charset="0"/>
              </a:rPr>
              <a:t>H</a:t>
            </a:r>
            <a:r>
              <a:rPr lang="en-US" sz="2800" dirty="0">
                <a:latin typeface="Book Antiqua" panose="02040602050305030304" pitchFamily="18" charset="0"/>
              </a:rPr>
              <a:t>(</a:t>
            </a:r>
            <a:r>
              <a:rPr lang="en-US" sz="2800" i="1" dirty="0">
                <a:latin typeface="Book Antiqua" panose="02040602050305030304" pitchFamily="18" charset="0"/>
              </a:rPr>
              <a:t>n</a:t>
            </a:r>
            <a:r>
              <a:rPr lang="en-US" sz="2800" dirty="0">
                <a:latin typeface="Book Antiqua" panose="02040602050305030304" pitchFamily="18" charset="0"/>
              </a:rPr>
              <a:t>) is positive definite at every iteration of the algorithm. </a:t>
            </a:r>
          </a:p>
          <a:p>
            <a:pPr algn="just"/>
            <a:r>
              <a:rPr lang="en-US" sz="2800" dirty="0">
                <a:latin typeface="Book Antiqua" panose="02040602050305030304" pitchFamily="18" charset="0"/>
              </a:rPr>
              <a:t>In any event, a major limitation of Newton’s method is its computational complexity.</a:t>
            </a:r>
            <a:endParaRPr lang="en-US" sz="2600" dirty="0">
              <a:latin typeface="Book Antiqua" pitchFamily="18" charset="0"/>
            </a:endParaRPr>
          </a:p>
          <a:p>
            <a:pPr marL="0" indent="0"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78687586"/>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Backpropagation algorithm adjusts the weights in the steepest descent direction (negative of the gradient). </a:t>
            </a:r>
          </a:p>
          <a:p>
            <a:pPr algn="just"/>
            <a:r>
              <a:rPr lang="en-US" sz="2800" dirty="0">
                <a:latin typeface="Book Antiqua" panose="02040602050305030304" pitchFamily="18" charset="0"/>
              </a:rPr>
              <a:t>This is the direction in which the cost function decreases most rapidly. </a:t>
            </a:r>
          </a:p>
          <a:p>
            <a:pPr algn="just"/>
            <a:r>
              <a:rPr lang="en-US" sz="2800" dirty="0">
                <a:latin typeface="Book Antiqua" panose="02040602050305030304" pitchFamily="18" charset="0"/>
              </a:rPr>
              <a:t>Although the function decreases most rapidly along the negative of the gradient, this does not necessarily produce the fastest convergence due to zigzag nature of convergence path.</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85705722"/>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If gradient descent finds minimum in each search direction, successive search directions will be orthogonal to each other. This is the reason behind zig-zag convergence path of the gradient descent.</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543175" y="3232666"/>
            <a:ext cx="3495675" cy="2743200"/>
          </a:xfrm>
          <a:prstGeom prst="rect">
            <a:avLst/>
          </a:prstGeom>
        </p:spPr>
      </p:pic>
    </p:spTree>
    <p:extLst>
      <p:ext uri="{BB962C8B-B14F-4D97-AF65-F5344CB8AC3E}">
        <p14:creationId xmlns:p14="http://schemas.microsoft.com/office/powerpoint/2010/main" val="1721568558"/>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In Backpropagation, a learning rate is used to determine the length of the weight update (step size).</a:t>
            </a:r>
          </a:p>
          <a:p>
            <a:pPr algn="just"/>
            <a:r>
              <a:rPr lang="en-US" sz="2800" dirty="0">
                <a:latin typeface="Book Antiqua" panose="02040602050305030304" pitchFamily="18" charset="0"/>
              </a:rPr>
              <a:t>However, In the conjugate gradient algorithms, the step size is adjusted at each iteration. A search is made along the conjugate gradient direction to determine the step size, which minimizes the cost function along that line.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1437480"/>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700" dirty="0">
                <a:latin typeface="Book Antiqua" panose="02040602050305030304" pitchFamily="18" charset="0"/>
              </a:rPr>
              <a:t>The concept behind conjugate gradient descent is that since each step is taking the same general direction, the combination of search directions should minimize the zig-zag nature of convergence path and capture the general trend towards the minimum</a:t>
            </a:r>
            <a:r>
              <a:rPr lang="en-US" sz="2800" dirty="0">
                <a:latin typeface="Book Antiqua" panose="02040602050305030304" pitchFamily="18" charset="0"/>
              </a:rPr>
              <a:t>.</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819400" y="3671979"/>
            <a:ext cx="3200400" cy="2762250"/>
          </a:xfrm>
          <a:prstGeom prst="rect">
            <a:avLst/>
          </a:prstGeom>
        </p:spPr>
      </p:pic>
    </p:spTree>
    <p:extLst>
      <p:ext uri="{BB962C8B-B14F-4D97-AF65-F5344CB8AC3E}">
        <p14:creationId xmlns:p14="http://schemas.microsoft.com/office/powerpoint/2010/main" val="1488125028"/>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All of the conjugate gradient algorithms start out by searching in the steepest descent direction (negative of the gradient) on the first iteration.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0</m:t>
                          </m:r>
                        </m:sub>
                      </m:sSub>
                    </m:oMath>
                  </m:oMathPara>
                </a14:m>
                <a:endParaRPr lang="en-US" sz="2800" b="0" dirty="0">
                  <a:latin typeface="Book Antiqua" panose="02040602050305030304" pitchFamily="18" charset="0"/>
                </a:endParaRPr>
              </a:p>
              <a:p>
                <a:pPr algn="just"/>
                <a:r>
                  <a:rPr lang="en-US" sz="2800" dirty="0">
                    <a:latin typeface="Book Antiqua" panose="02040602050305030304" pitchFamily="18" charset="0"/>
                  </a:rPr>
                  <a:t>Then the next search direction is determined so that it is conjugate to previous search directions. The general procedure for determining the new search direction is to combine the new steepest descent direction with the previous search direction.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m:oMathPara>
                </a14:m>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79421362"/>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Here</a:t>
                </a:r>
                <a14:m>
                  <m:oMath xmlns:m="http://schemas.openxmlformats.org/officeDocument/2006/math">
                    <m:r>
                      <a:rPr lang="en-US" sz="280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oMath>
                </a14:m>
                <a:r>
                  <a:rPr lang="en-US" sz="2800" dirty="0">
                    <a:latin typeface="Book Antiqua" panose="02040602050305030304" pitchFamily="18" charset="0"/>
                  </a:rPr>
                  <a:t>is called the conjugate parameter, and there are different ways to calculate it. Using the Fletcher-Reeves procedure </a:t>
                </a:r>
                <a14:m>
                  <m:oMath xmlns:m="http://schemas.openxmlformats.org/officeDocument/2006/math">
                    <m:r>
                      <a:rPr lang="en-US" sz="2800" i="1">
                        <a:latin typeface="Cambria Math" panose="02040503050406030204" pitchFamily="18" charset="0"/>
                        <a:ea typeface="Cambria Math" panose="02040503050406030204" pitchFamily="18" charset="0"/>
                      </a:rPr>
                      <m:t>𝛽</m:t>
                    </m:r>
                  </m:oMath>
                </a14:m>
                <a:r>
                  <a:rPr lang="en-US" sz="2800" dirty="0">
                    <a:latin typeface="Book Antiqua" panose="02040602050305030304" pitchFamily="18" charset="0"/>
                  </a:rPr>
                  <a:t> can be calculated as below.</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num>
                        <m:den>
                          <m:sSubSup>
                            <m:sSubSupPr>
                              <m:ctrlPr>
                                <a:rPr lang="en-US" sz="2800" i="1">
                                  <a:latin typeface="Cambria Math" panose="02040503050406030204" pitchFamily="18" charset="0"/>
                                </a:rPr>
                              </m:ctrlPr>
                            </m:sSubSup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Sub>
                        </m:den>
                      </m:f>
                    </m:oMath>
                  </m:oMathPara>
                </a14:m>
                <a:endParaRPr lang="en-US" sz="2800" dirty="0">
                  <a:latin typeface="Book Antiqua" panose="02040602050305030304" pitchFamily="18" charset="0"/>
                </a:endParaRPr>
              </a:p>
              <a:p>
                <a:pPr marL="400050" indent="0" algn="just">
                  <a:buNone/>
                </a:pPr>
                <a:r>
                  <a:rPr lang="en-US" sz="2800" dirty="0">
                    <a:latin typeface="Book Antiqua" panose="02040602050305030304" pitchFamily="18" charset="0"/>
                  </a:rPr>
                  <a:t>This is the ratio of the squared norm of the current gradient to the squared norm of the previous gradient.</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5127926"/>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Finally, parameters are updated to move along the current search direction as below.</a:t>
                </a:r>
              </a:p>
              <a:p>
                <a:pPr marL="0" indent="0" algn="just">
                  <a:buNone/>
                </a:pPr>
                <a:r>
                  <a:rPr lang="en-US" sz="2800" dirty="0">
                    <a:latin typeface="Book Antiqua" panose="02040602050305030304" pitchFamily="18" charset="0"/>
                  </a:rPr>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𝛼</m:t>
                        </m:r>
                      </m:e>
                      <m:sub>
                        <m:r>
                          <a:rPr lang="en-US" sz="2800" i="1">
                            <a:latin typeface="Cambria Math" panose="02040503050406030204" pitchFamily="18" charset="0"/>
                          </a:rPr>
                          <m:t>𝑘</m:t>
                        </m:r>
                      </m:sub>
                    </m:sSub>
                    <m:sSub>
                      <m:sSubPr>
                        <m:ctrlPr>
                          <a:rPr lang="en-US" sz="2800" i="1">
                            <a:latin typeface="Cambria Math" panose="02040503050406030204" pitchFamily="18" charset="0"/>
                          </a:rPr>
                        </m:ctrlPr>
                      </m:sSubPr>
                      <m:e>
                        <m:r>
                          <a:rPr lang="en-US" sz="2800" b="0" i="1" smtClean="0">
                            <a:latin typeface="Cambria Math" panose="02040503050406030204" pitchFamily="18" charset="0"/>
                          </a:rPr>
                          <m:t>𝑑</m:t>
                        </m:r>
                      </m:e>
                      <m:sub>
                        <m:r>
                          <a:rPr lang="en-US" sz="2800" i="1">
                            <a:latin typeface="Cambria Math" panose="02040503050406030204" pitchFamily="18" charset="0"/>
                          </a:rPr>
                          <m:t>𝑘</m:t>
                        </m:r>
                      </m:sub>
                    </m:sSub>
                  </m:oMath>
                </a14:m>
                <a:endParaRPr lang="en-US" sz="2800" dirty="0">
                  <a:latin typeface="Book Antiqua" panose="02040602050305030304" pitchFamily="18" charset="0"/>
                </a:endParaRPr>
              </a:p>
              <a:p>
                <a:pPr algn="just"/>
                <a:r>
                  <a:rPr lang="en-US" sz="2800" dirty="0">
                    <a:latin typeface="Book Antiqua" panose="02040602050305030304" pitchFamily="18" charset="0"/>
                  </a:rPr>
                  <a:t>It is an effective search method for minimizing objective functions if the number of parameters to be optimized are few.</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82794674"/>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This is a fully-connected neural network in which the input training vector and the output target vectors are the same. </a:t>
            </a:r>
          </a:p>
          <a:p>
            <a:pPr algn="just"/>
            <a:r>
              <a:rPr lang="en-US" sz="2800" dirty="0">
                <a:latin typeface="Book Antiqua" panose="02040602050305030304" pitchFamily="18" charset="0"/>
              </a:rPr>
              <a:t>The weights are determined so that the network stores a set of patterns.</a:t>
            </a:r>
          </a:p>
          <a:p>
            <a:pPr algn="just"/>
            <a:r>
              <a:rPr lang="en-US" sz="2800" dirty="0">
                <a:latin typeface="Book Antiqua" panose="02040602050305030304" pitchFamily="18" charset="0"/>
              </a:rPr>
              <a:t>A stored vector can be retrieved from a distorted or noisy vector if the input is similar to it.</a:t>
            </a:r>
          </a:p>
          <a:p>
            <a:pPr algn="just"/>
            <a:r>
              <a:rPr lang="en-US" sz="2800" dirty="0">
                <a:latin typeface="Book Antiqua" panose="02040602050305030304" pitchFamily="18" charset="0"/>
              </a:rPr>
              <a:t>This network can be trained using Hebbian learning rule or </a:t>
            </a:r>
            <a:r>
              <a:rPr lang="en-US" sz="2800" dirty="0" err="1">
                <a:latin typeface="Book Antiqua" panose="02040602050305030304" pitchFamily="18" charset="0"/>
              </a:rPr>
              <a:t>Heb’s</a:t>
            </a:r>
            <a:r>
              <a:rPr lang="en-US" sz="2800" dirty="0">
                <a:latin typeface="Book Antiqua" panose="02040602050305030304" pitchFamily="18" charset="0"/>
              </a:rPr>
              <a:t>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7715916"/>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rule is based  on the assumption that if two neighbor neurons activated and deactivated at the same time. Then the weight connecting these neurons should increase. For neurons operating in the opposite phase, the weight between them should decrease. If there is no signal correlation, the weight should not change.</a:t>
            </a:r>
          </a:p>
          <a:p>
            <a:pPr algn="just"/>
            <a:r>
              <a:rPr lang="en-US" sz="2800" dirty="0">
                <a:latin typeface="Book Antiqua" panose="02040602050305030304" pitchFamily="18" charset="0"/>
              </a:rPr>
              <a:t>This assumption can be described by using following formula.	</a:t>
            </a:r>
          </a:p>
          <a:p>
            <a:pPr lvl="1" algn="just">
              <a:buNone/>
            </a:pPr>
            <a:endParaRPr lang="en-US" sz="2400" dirty="0">
              <a:latin typeface="Book Antiqua"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73930"/>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126</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702981525"/>
              </p:ext>
            </p:extLst>
          </p:nvPr>
        </p:nvGraphicFramePr>
        <p:xfrm>
          <a:off x="1143000" y="1487073"/>
          <a:ext cx="5705475" cy="2481263"/>
        </p:xfrm>
        <a:graphic>
          <a:graphicData uri="http://schemas.openxmlformats.org/presentationml/2006/ole">
            <mc:AlternateContent xmlns:mc="http://schemas.openxmlformats.org/markup-compatibility/2006">
              <mc:Choice xmlns:v="urn:schemas-microsoft-com:vml" Requires="v">
                <p:oleObj name="Equation" r:id="rId3" imgW="2743200" imgH="1193760" progId="Equation.3">
                  <p:embed/>
                </p:oleObj>
              </mc:Choice>
              <mc:Fallback>
                <p:oleObj name="Equation" r:id="rId3" imgW="2743200" imgH="1193760" progId="Equation.3">
                  <p:embed/>
                  <p:pic>
                    <p:nvPicPr>
                      <p:cNvPr id="15" name="Object 14"/>
                      <p:cNvPicPr>
                        <a:picLocks noChangeAspect="1" noChangeArrowheads="1"/>
                      </p:cNvPicPr>
                      <p:nvPr/>
                    </p:nvPicPr>
                    <p:blipFill>
                      <a:blip r:embed="rId4"/>
                      <a:srcRect/>
                      <a:stretch>
                        <a:fillRect/>
                      </a:stretch>
                    </p:blipFill>
                    <p:spPr bwMode="auto">
                      <a:xfrm>
                        <a:off x="1143000" y="1487073"/>
                        <a:ext cx="5705475" cy="248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TextBox 3"/>
              <p:cNvSpPr txBox="1"/>
              <p:nvPr/>
            </p:nvSpPr>
            <p:spPr>
              <a:xfrm>
                <a:off x="609600" y="4037771"/>
                <a:ext cx="8077200" cy="2781724"/>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latin typeface="Book Antiqua" panose="02040602050305030304" pitchFamily="18" charset="0"/>
                  </a:rPr>
                  <a:t>Activation function for auto associative neural network is:</a:t>
                </a:r>
              </a:p>
              <a:p>
                <a:pPr marL="342900" algn="just"/>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b="0" i="1" smtClean="0">
                        <a:latin typeface="Cambria Math" panose="02040503050406030204" pitchFamily="18" charset="0"/>
                      </a:rPr>
                      <m:t>=1 </m:t>
                    </m:r>
                    <m:r>
                      <a:rPr lang="en-US" sz="2800" b="0" i="1" smtClean="0">
                        <a:latin typeface="Cambria Math" panose="02040503050406030204" pitchFamily="18" charset="0"/>
                      </a:rPr>
                      <m:t>𝑖𝑓</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𝑖𝑛</m:t>
                        </m:r>
                      </m:sub>
                    </m:sSub>
                    <m:r>
                      <a:rPr lang="en-US" sz="2800" b="0" i="1" smtClean="0">
                        <a:latin typeface="Cambria Math" panose="02040503050406030204" pitchFamily="18" charset="0"/>
                      </a:rPr>
                      <m:t>&gt;</m:t>
                    </m:r>
                    <m:r>
                      <a:rPr lang="en-US" sz="2800" b="0" i="1" smtClean="0">
                        <a:latin typeface="Cambria Math" panose="02040503050406030204" pitchFamily="18" charset="0"/>
                      </a:rPr>
                      <m:t>𝑐</m:t>
                    </m:r>
                  </m:oMath>
                </a14:m>
                <a:r>
                  <a:rPr lang="en-US" sz="2800" dirty="0">
                    <a:latin typeface="Book Antiqua" panose="02040602050305030304" pitchFamily="18" charset="0"/>
                  </a:rPr>
                  <a:t>,</a:t>
                </a:r>
              </a:p>
              <a:p>
                <a:pPr marL="342900" algn="just"/>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r>
                      <a:rPr lang="en-US" sz="2800" i="1">
                        <a:latin typeface="Cambria Math" panose="02040503050406030204" pitchFamily="18" charset="0"/>
                      </a:rPr>
                      <m:t>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m:t>
                    </m:r>
                    <m:r>
                      <a:rPr lang="en-US" sz="2800" i="1">
                        <a:latin typeface="Cambria Math" panose="02040503050406030204" pitchFamily="18" charset="0"/>
                      </a:rPr>
                      <m:t>𝑐</m:t>
                    </m:r>
                  </m:oMath>
                </a14:m>
                <a:r>
                  <a:rPr lang="en-US" sz="2800" dirty="0">
                    <a:latin typeface="Book Antiqua" panose="02040602050305030304" pitchFamily="18" charset="0"/>
                  </a:rPr>
                  <a:t> and</a:t>
                </a:r>
              </a:p>
              <a:p>
                <a:pPr marL="342900" algn="just"/>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=−1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&lt;</m:t>
                      </m:r>
                      <m:r>
                        <a:rPr lang="en-US" sz="2800" i="1">
                          <a:latin typeface="Cambria Math" panose="02040503050406030204" pitchFamily="18" charset="0"/>
                        </a:rPr>
                        <m:t>𝑐</m:t>
                      </m:r>
                    </m:oMath>
                  </m:oMathPara>
                </a14:m>
                <a:endParaRPr lang="en-US" sz="2800" dirty="0">
                  <a:latin typeface="Book Antiqua" panose="02040602050305030304" pitchFamily="18" charset="0"/>
                </a:endParaRPr>
              </a:p>
              <a:p>
                <a:pPr marL="342900" algn="just"/>
                <a:endParaRPr lang="en-US" sz="2800" dirty="0">
                  <a:latin typeface="Book Antiqua" panose="0204060205030503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9600" y="4037771"/>
                <a:ext cx="8077200" cy="2781724"/>
              </a:xfrm>
              <a:prstGeom prst="rect">
                <a:avLst/>
              </a:prstGeom>
              <a:blipFill rotWithShape="0">
                <a:blip r:embed="rId6"/>
                <a:stretch>
                  <a:fillRect l="-1358" t="-2188" r="-1509"/>
                </a:stretch>
              </a:blipFill>
            </p:spPr>
            <p:txBody>
              <a:bodyPr/>
              <a:lstStyle/>
              <a:p>
                <a:r>
                  <a:rPr lang="en-US">
                    <a:noFill/>
                  </a:rPr>
                  <a:t> </a:t>
                </a:r>
              </a:p>
            </p:txBody>
          </p:sp>
        </mc:Fallback>
      </mc:AlternateContent>
    </p:spTree>
    <p:extLst>
      <p:ext uri="{BB962C8B-B14F-4D97-AF65-F5344CB8AC3E}">
        <p14:creationId xmlns:p14="http://schemas.microsoft.com/office/powerpoint/2010/main" val="2470816153"/>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127</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900237" y="1385974"/>
            <a:ext cx="5343525" cy="3914775"/>
          </a:xfrm>
          <a:prstGeom prst="rect">
            <a:avLst/>
          </a:prstGeom>
        </p:spPr>
      </p:pic>
      <p:sp>
        <p:nvSpPr>
          <p:cNvPr id="10" name="TextBox 9"/>
          <p:cNvSpPr txBox="1"/>
          <p:nvPr/>
        </p:nvSpPr>
        <p:spPr>
          <a:xfrm>
            <a:off x="3200400" y="5341214"/>
            <a:ext cx="3102131" cy="430887"/>
          </a:xfrm>
          <a:prstGeom prst="rect">
            <a:avLst/>
          </a:prstGeom>
          <a:noFill/>
        </p:spPr>
        <p:txBody>
          <a:bodyPr wrap="none" rtlCol="0">
            <a:spAutoFit/>
          </a:bodyPr>
          <a:lstStyle/>
          <a:p>
            <a:r>
              <a:rPr lang="en-US" sz="2200" b="1" dirty="0">
                <a:latin typeface="Book Antiqua" panose="02040602050305030304" pitchFamily="18" charset="0"/>
              </a:rPr>
              <a:t>Architecture of AANN</a:t>
            </a:r>
          </a:p>
        </p:txBody>
      </p:sp>
    </p:spTree>
    <p:extLst>
      <p:ext uri="{BB962C8B-B14F-4D97-AF65-F5344CB8AC3E}">
        <p14:creationId xmlns:p14="http://schemas.microsoft.com/office/powerpoint/2010/main" val="2920509690"/>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u="sng" dirty="0">
                    <a:latin typeface="Book Antiqua" panose="02040602050305030304" pitchFamily="18" charset="0"/>
                  </a:rPr>
                  <a:t>Training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vector to be stored (Say s) perform steps </a:t>
                </a:r>
                <a:r>
                  <a:rPr lang="en-US" sz="2800" i="1" dirty="0">
                    <a:latin typeface="Book Antiqua" pitchFamily="18" charset="0"/>
                  </a:rPr>
                  <a:t>3 to 5</a:t>
                </a:r>
              </a:p>
              <a:p>
                <a:pPr marL="514350" indent="-514350" algn="just">
                  <a:buFont typeface="+mj-lt"/>
                  <a:buAutoNum type="arabicPeriod"/>
                </a:pPr>
                <a:r>
                  <a:rPr lang="en-US" sz="2800" dirty="0">
                    <a:latin typeface="Book Antiqua" pitchFamily="18" charset="0"/>
                  </a:rPr>
                  <a:t>For each input unit </a:t>
                </a:r>
                <a:r>
                  <a:rPr lang="en-US" sz="2800" dirty="0" err="1">
                    <a:latin typeface="Book Antiqua" pitchFamily="18" charset="0"/>
                  </a:rPr>
                  <a:t>i</a:t>
                </a:r>
                <a:r>
                  <a:rPr lang="en-US" sz="2800" dirty="0">
                    <a:latin typeface="Book Antiqua" pitchFamily="18" charset="0"/>
                  </a:rPr>
                  <a:t>, set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𝑠</m:t>
                        </m:r>
                      </m:e>
                      <m:sub>
                        <m:r>
                          <a:rPr lang="en-US" sz="2800" i="1">
                            <a:latin typeface="Cambria Math" panose="02040503050406030204" pitchFamily="18" charset="0"/>
                          </a:rPr>
                          <m:t>𝑖</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For each output unit j set set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b="0" i="1" smtClean="0">
                            <a:latin typeface="Cambria Math" panose="02040503050406030204" pitchFamily="18" charset="0"/>
                          </a:rPr>
                          <m:t>𝑗</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Adapt weights as: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𝑖𝑗</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b="0" i="0" smtClean="0">
                        <a:latin typeface="Cambria Math" panose="02040503050406030204" pitchFamily="18" charset="0"/>
                      </a:rPr>
                      <m:t>+</m:t>
                    </m:r>
                    <m:r>
                      <m:rPr>
                        <m:sty m:val="p"/>
                      </m:rPr>
                      <a:rPr lang="el-GR" sz="2800" b="0" i="1" smtClean="0">
                        <a:latin typeface="Cambria Math" panose="02040503050406030204" pitchFamily="18" charset="0"/>
                        <a:ea typeface="Cambria Math" panose="02040503050406030204" pitchFamily="18" charset="0"/>
                      </a:rPr>
                      <m:t>α</m:t>
                    </m:r>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𝑖</m:t>
                        </m:r>
                      </m:sub>
                    </m:sSub>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𝑗</m:t>
                        </m:r>
                      </m:sub>
                    </m:sSub>
                  </m:oMath>
                </a14:m>
                <a:endParaRPr lang="en-US" sz="2800" dirty="0">
                  <a:latin typeface="Book Antiqua" pitchFamily="18" charset="0"/>
                </a:endParaRPr>
              </a:p>
              <a:p>
                <a:pPr marL="0" indent="0" algn="just">
                  <a:buNone/>
                </a:pPr>
                <a:r>
                  <a:rPr lang="en-US" sz="2800" dirty="0">
                    <a:latin typeface="Book Antiqua" pitchFamily="18" charset="0"/>
                  </a:rPr>
                  <a:t>      Weights can also be determined as: </a:t>
                </a:r>
                <a14:m>
                  <m:oMath xmlns:m="http://schemas.openxmlformats.org/officeDocument/2006/math">
                    <m:r>
                      <a:rPr lang="en-US" sz="2800" b="0" i="1" smtClean="0">
                        <a:latin typeface="Cambria Math" panose="02040503050406030204" pitchFamily="18" charset="0"/>
                      </a:rPr>
                      <m:t>𝑤</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𝑇</m:t>
                        </m:r>
                      </m:sup>
                    </m:sSup>
                    <m:r>
                      <a:rPr lang="en-US" sz="2800" i="1">
                        <a:latin typeface="Cambria Math" panose="02040503050406030204" pitchFamily="18" charset="0"/>
                      </a:rPr>
                      <m:t>.</m:t>
                    </m:r>
                    <m:r>
                      <a:rPr lang="en-US" sz="2800" i="1">
                        <a:latin typeface="Cambria Math" panose="02040503050406030204" pitchFamily="18" charset="0"/>
                      </a:rPr>
                      <m:t>𝑠</m:t>
                    </m:r>
                  </m:oMath>
                </a14:m>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527" t="-1500"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8220317"/>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dirty="0">
                <a:latin typeface="Book Antiqua" panose="02040602050305030304" pitchFamily="18" charset="0"/>
              </a:rPr>
              <a:t>Example</a:t>
            </a:r>
          </a:p>
          <a:p>
            <a:pPr marL="0" indent="0" algn="just">
              <a:buNone/>
            </a:pPr>
            <a:r>
              <a:rPr lang="en-US" sz="2800" dirty="0">
                <a:latin typeface="Book Antiqua" panose="02040602050305030304" pitchFamily="18" charset="0"/>
              </a:rPr>
              <a:t>Use the </a:t>
            </a:r>
            <a:r>
              <a:rPr lang="en-US" sz="2800" dirty="0" err="1">
                <a:latin typeface="Book Antiqua" panose="02040602050305030304" pitchFamily="18" charset="0"/>
              </a:rPr>
              <a:t>Heb’s</a:t>
            </a:r>
            <a:r>
              <a:rPr lang="en-US" sz="2800" dirty="0">
                <a:latin typeface="Book Antiqua" panose="02040602050305030304" pitchFamily="18" charset="0"/>
              </a:rPr>
              <a:t> rule  to store the pattern [1, 1,-1,-1] in an AANN. Find weight matrix and Test the input vector [-1,1,-1,-1].</a:t>
            </a:r>
          </a:p>
          <a:p>
            <a:pPr marL="0" indent="0" algn="just">
              <a:buNone/>
            </a:pPr>
            <a:r>
              <a:rPr lang="en-US" sz="2800" b="1" dirty="0">
                <a:latin typeface="Book Antiqua" panose="02040602050305030304" pitchFamily="18" charset="0"/>
              </a:rPr>
              <a:t>Solution</a:t>
            </a: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Here, pattern to be stored(s)=[1,1,-1,-1]</a:t>
            </a:r>
          </a:p>
          <a:p>
            <a:pPr marL="0" indent="0" algn="just">
              <a:buNone/>
            </a:pP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Now, 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1568814091"/>
              </p:ext>
            </p:extLst>
          </p:nvPr>
        </p:nvGraphicFramePr>
        <p:xfrm>
          <a:off x="1910758" y="4336501"/>
          <a:ext cx="5252042" cy="1826535"/>
        </p:xfrm>
        <a:graphic>
          <a:graphicData uri="http://schemas.openxmlformats.org/presentationml/2006/ole">
            <mc:AlternateContent xmlns:mc="http://schemas.openxmlformats.org/markup-compatibility/2006">
              <mc:Choice xmlns:v="urn:schemas-microsoft-com:vml" Requires="v">
                <p:oleObj name="Equation" r:id="rId3" imgW="2323800" imgH="914400" progId="Equation.3">
                  <p:embed/>
                </p:oleObj>
              </mc:Choice>
              <mc:Fallback>
                <p:oleObj name="Equation" r:id="rId3" imgW="2323800" imgH="914400" progId="Equation.3">
                  <p:embed/>
                  <p:pic>
                    <p:nvPicPr>
                      <p:cNvPr id="4" name="Object 3"/>
                      <p:cNvPicPr/>
                      <p:nvPr/>
                    </p:nvPicPr>
                    <p:blipFill>
                      <a:blip r:embed="rId4"/>
                      <a:stretch>
                        <a:fillRect/>
                      </a:stretch>
                    </p:blipFill>
                    <p:spPr>
                      <a:xfrm>
                        <a:off x="1910758" y="4336501"/>
                        <a:ext cx="5252042" cy="1826535"/>
                      </a:xfrm>
                      <a:prstGeom prst="rect">
                        <a:avLst/>
                      </a:prstGeom>
                    </p:spPr>
                  </p:pic>
                </p:oleObj>
              </mc:Fallback>
            </mc:AlternateContent>
          </a:graphicData>
        </a:graphic>
      </p:graphicFrame>
    </p:spTree>
    <p:extLst>
      <p:ext uri="{BB962C8B-B14F-4D97-AF65-F5344CB8AC3E}">
        <p14:creationId xmlns:p14="http://schemas.microsoft.com/office/powerpoint/2010/main" val="1196187299"/>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400" dirty="0">
                    <a:latin typeface="Book Antiqua" panose="02040602050305030304" pitchFamily="18" charset="0"/>
                  </a:rPr>
                  <a:t>Now,</a:t>
                </a:r>
              </a:p>
              <a:p>
                <a:pPr marL="0" indent="0" algn="just">
                  <a:buNone/>
                </a:pPr>
                <a:r>
                  <a:rPr lang="en-US" sz="2400" dirty="0">
                    <a:latin typeface="Book Antiqua" panose="02040602050305030304" pitchFamily="18" charset="0"/>
                  </a:rPr>
                  <a:t>Test input=</a:t>
                </a:r>
                <a14:m>
                  <m:oMath xmlns:m="http://schemas.openxmlformats.org/officeDocument/2006/math">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The calculate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=[2   2   −2   −2]</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Finally compute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endParaRPr lang="en-US" sz="2800" b="1"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t="-1000"/>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4502716"/>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Taking a </a:t>
            </a:r>
            <a:r>
              <a:rPr lang="en-US" sz="2800" dirty="0">
                <a:solidFill>
                  <a:srgbClr val="00B050"/>
                </a:solidFill>
                <a:latin typeface="Book Antiqua" panose="02040602050305030304" pitchFamily="18" charset="0"/>
              </a:rPr>
              <a:t>probabilistic approach </a:t>
            </a:r>
            <a:r>
              <a:rPr lang="en-US" sz="2800" dirty="0">
                <a:latin typeface="Book Antiqua" panose="02040602050305030304" pitchFamily="18" charset="0"/>
              </a:rPr>
              <a:t>to neural network allows to account for </a:t>
            </a:r>
            <a:r>
              <a:rPr lang="en-US" sz="2800" i="1" dirty="0">
                <a:latin typeface="Book Antiqua" panose="02040602050305030304" pitchFamily="18" charset="0"/>
              </a:rPr>
              <a:t>uncertainty</a:t>
            </a:r>
            <a:r>
              <a:rPr lang="en-US" sz="2800" dirty="0">
                <a:latin typeface="Book Antiqua" panose="02040602050305030304" pitchFamily="18" charset="0"/>
              </a:rPr>
              <a:t>, so that models can assign less levels of confidence to incorrect predictions. </a:t>
            </a:r>
          </a:p>
          <a:p>
            <a:pPr algn="just"/>
            <a:r>
              <a:rPr lang="en-US" sz="2800" dirty="0">
                <a:latin typeface="Book Antiqua" panose="02040602050305030304" pitchFamily="18" charset="0"/>
              </a:rPr>
              <a:t>Sources of uncertainty can be found in the data, due to measurement error or noise in the labels, or the model, due to insufficient data availability for the model to learn effectively.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9373304"/>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idea behind Bayesian neural network is that, instead of learning specific weight (and bias) </a:t>
            </a:r>
            <a:r>
              <a:rPr lang="en-US" sz="2800" i="1" dirty="0">
                <a:latin typeface="Book Antiqua" panose="02040602050305030304" pitchFamily="18" charset="0"/>
              </a:rPr>
              <a:t>values</a:t>
            </a:r>
            <a:r>
              <a:rPr lang="en-US" sz="2800" dirty="0">
                <a:latin typeface="Book Antiqua" panose="02040602050305030304" pitchFamily="18" charset="0"/>
              </a:rPr>
              <a:t> in the neural network, the Bayesian approach learns weight </a:t>
            </a:r>
            <a:r>
              <a:rPr lang="en-US" sz="2800" i="1" dirty="0">
                <a:latin typeface="Book Antiqua" panose="02040602050305030304" pitchFamily="18" charset="0"/>
              </a:rPr>
              <a:t>distributions</a:t>
            </a:r>
            <a:r>
              <a:rPr lang="en-US" sz="2800" dirty="0">
                <a:latin typeface="Book Antiqua" panose="02040602050305030304" pitchFamily="18" charset="0"/>
              </a:rPr>
              <a:t> - from which we can sample to produce an output for a given input - to encode weight uncertainty.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0390601"/>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143000" y="1746566"/>
            <a:ext cx="7322188" cy="3436198"/>
          </a:xfrm>
          <a:prstGeom prst="rect">
            <a:avLst/>
          </a:prstGeom>
        </p:spPr>
      </p:pic>
    </p:spTree>
    <p:extLst>
      <p:ext uri="{BB962C8B-B14F-4D97-AF65-F5344CB8AC3E}">
        <p14:creationId xmlns:p14="http://schemas.microsoft.com/office/powerpoint/2010/main" val="3618695794"/>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18152</TotalTime>
  <Words>8724</Words>
  <Application>Microsoft Office PowerPoint</Application>
  <PresentationFormat>On-screen Show (4:3)</PresentationFormat>
  <Paragraphs>1543</Paragraphs>
  <Slides>133</Slides>
  <Notes>65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133</vt:i4>
      </vt:variant>
    </vt:vector>
  </HeadingPairs>
  <TitlesOfParts>
    <vt:vector size="144" baseType="lpstr">
      <vt:lpstr>新細明體</vt:lpstr>
      <vt:lpstr>Arial</vt:lpstr>
      <vt:lpstr>Book Antiqua</vt:lpstr>
      <vt:lpstr>Calibri</vt:lpstr>
      <vt:lpstr>Cambria</vt:lpstr>
      <vt:lpstr>Cambria Math</vt:lpstr>
      <vt:lpstr>Symbol</vt:lpstr>
      <vt:lpstr>Times New Roman</vt:lpstr>
      <vt:lpstr>Wingdings</vt:lpstr>
      <vt:lpstr>Office Theme</vt:lpstr>
      <vt:lpstr>Equation</vt:lpstr>
      <vt:lpstr>PowerPoint Presentation</vt:lpstr>
      <vt:lpstr>Perceptron</vt:lpstr>
      <vt:lpstr>Perceptron</vt:lpstr>
      <vt:lpstr>Perceptron</vt:lpstr>
      <vt:lpstr>Perceptron</vt:lpstr>
      <vt:lpstr>Perceptron</vt:lpstr>
      <vt:lpstr>Perceptron</vt:lpstr>
      <vt:lpstr>Perceptron</vt:lpstr>
      <vt:lpstr>Perceptron Convergence Theorem</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Gradient Descent</vt:lpstr>
      <vt:lpstr>Gradient Descent</vt:lpstr>
      <vt:lpstr>Gradient Descent</vt:lpstr>
      <vt:lpstr>Gradient Descent</vt:lpstr>
      <vt:lpstr>Gradient Descent</vt:lpstr>
      <vt:lpstr>Gradient Descent</vt:lpstr>
      <vt:lpstr>Batch Perceptron Algorithm</vt:lpstr>
      <vt:lpstr>Batch Perceptron Algorithm</vt:lpstr>
      <vt:lpstr>Batch Perceptron Algorithm</vt:lpstr>
      <vt:lpstr>Batch Perceptron Algorithm</vt:lpstr>
      <vt:lpstr>Multi-Layer Feedforward NN</vt:lpstr>
      <vt:lpstr>Multi-Layer Feedforward NN</vt:lpstr>
      <vt:lpstr>Multi-Layer Feedforward NN</vt:lpstr>
      <vt:lpstr>Multi-Layer Feedforward NN</vt:lpstr>
      <vt:lpstr>Multi-Layer Feedforward NN</vt:lpstr>
      <vt:lpstr>Batch and Online Learning</vt:lpstr>
      <vt:lpstr>Batch and Online Learning</vt:lpstr>
      <vt:lpstr>Batch and Online Learning</vt:lpstr>
      <vt:lpstr>Batch and Online Learning</vt:lpstr>
      <vt:lpstr>Batch and Online Learning</vt:lpstr>
      <vt:lpstr>Batch and Online Learning</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Learning in ANN</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XOR Problem</vt:lpstr>
      <vt:lpstr>XOR Problem</vt:lpstr>
      <vt:lpstr>XOR Problem</vt:lpstr>
      <vt:lpstr>XOR Problem</vt:lpstr>
      <vt:lpstr>XOR Problem</vt:lpstr>
      <vt:lpstr>Jacobian and Hessian</vt:lpstr>
      <vt:lpstr>Jacobian and Hessian</vt:lpstr>
      <vt:lpstr>Jacobian and Hessian</vt:lpstr>
      <vt:lpstr>Learning Rate Annealing</vt:lpstr>
      <vt:lpstr>Learning Rate Annealing</vt:lpstr>
      <vt:lpstr>Learning Rate Annealing</vt:lpstr>
      <vt:lpstr>Learning Rate Annealing</vt:lpstr>
      <vt:lpstr>Learning Rate Annealing</vt:lpstr>
      <vt:lpstr>Learning Rate Annealing</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Cross-Validation</vt:lpstr>
      <vt:lpstr>Cross-Validation</vt:lpstr>
      <vt:lpstr>Cross-Validation</vt:lpstr>
      <vt:lpstr>Cross-Validation</vt:lpstr>
      <vt:lpstr>Cross-Validation</vt:lpstr>
      <vt:lpstr>Cross-Validation</vt:lpstr>
      <vt:lpstr>Cross-Validation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Fast Learning Method: Newton’s Method</vt:lpstr>
      <vt:lpstr>Fast Learning Method: Newton’s Method</vt:lpstr>
      <vt:lpstr>Fast Learning Method: Newton’s Method</vt:lpstr>
      <vt:lpstr>Fast Learning Method: Newton’s Method</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Bayesian Neural Network</vt:lpstr>
      <vt:lpstr>Bayesian Neural Network</vt:lpstr>
      <vt:lpstr>Bayesian Neural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408</cp:revision>
  <dcterms:created xsi:type="dcterms:W3CDTF">2018-12-09T05:19:45Z</dcterms:created>
  <dcterms:modified xsi:type="dcterms:W3CDTF">2025-06-27T14:25:37Z</dcterms:modified>
</cp:coreProperties>
</file>