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312" r:id="rId4"/>
    <p:sldId id="416" r:id="rId5"/>
    <p:sldId id="414" r:id="rId6"/>
    <p:sldId id="415" r:id="rId7"/>
    <p:sldId id="417" r:id="rId8"/>
    <p:sldId id="356" r:id="rId9"/>
    <p:sldId id="357" r:id="rId10"/>
    <p:sldId id="358" r:id="rId11"/>
    <p:sldId id="359" r:id="rId12"/>
    <p:sldId id="360" r:id="rId13"/>
    <p:sldId id="361" r:id="rId14"/>
    <p:sldId id="388" r:id="rId15"/>
    <p:sldId id="362" r:id="rId16"/>
    <p:sldId id="363" r:id="rId17"/>
    <p:sldId id="369" r:id="rId18"/>
    <p:sldId id="370" r:id="rId19"/>
    <p:sldId id="389" r:id="rId20"/>
    <p:sldId id="418" r:id="rId21"/>
    <p:sldId id="419" r:id="rId22"/>
    <p:sldId id="420" r:id="rId23"/>
    <p:sldId id="421" r:id="rId24"/>
    <p:sldId id="422" r:id="rId25"/>
    <p:sldId id="423" r:id="rId26"/>
    <p:sldId id="424" r:id="rId27"/>
    <p:sldId id="425" r:id="rId28"/>
    <p:sldId id="266" r:id="rId29"/>
    <p:sldId id="381" r:id="rId30"/>
    <p:sldId id="382" r:id="rId31"/>
    <p:sldId id="383" r:id="rId32"/>
    <p:sldId id="395" r:id="rId33"/>
    <p:sldId id="396" r:id="rId34"/>
    <p:sldId id="397" r:id="rId35"/>
    <p:sldId id="398" r:id="rId36"/>
    <p:sldId id="399" r:id="rId37"/>
    <p:sldId id="400" r:id="rId38"/>
    <p:sldId id="401" r:id="rId39"/>
    <p:sldId id="402" r:id="rId40"/>
    <p:sldId id="403" r:id="rId41"/>
    <p:sldId id="404" r:id="rId42"/>
    <p:sldId id="426" r:id="rId43"/>
    <p:sldId id="427" r:id="rId44"/>
    <p:sldId id="428" r:id="rId45"/>
    <p:sldId id="429" r:id="rId46"/>
    <p:sldId id="430" r:id="rId47"/>
    <p:sldId id="431" r:id="rId48"/>
    <p:sldId id="43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68" d="100"/>
          <a:sy n="68" d="100"/>
        </p:scale>
        <p:origin x="1440" y="108"/>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CF25E929-184C-4165-99ED-8AD243A75CA4}"/>
    <pc:docChg chg="modSld">
      <pc:chgData name="Yujan Basnet" userId="495fd8277ebfbaef" providerId="LiveId" clId="{CF25E929-184C-4165-99ED-8AD243A75CA4}" dt="2025-06-28T12:14:58.745" v="0" actId="207"/>
      <pc:docMkLst>
        <pc:docMk/>
      </pc:docMkLst>
      <pc:sldChg chg="modSp mod">
        <pc:chgData name="Yujan Basnet" userId="495fd8277ebfbaef" providerId="LiveId" clId="{CF25E929-184C-4165-99ED-8AD243A75CA4}" dt="2025-06-28T12:14:58.745" v="0" actId="207"/>
        <pc:sldMkLst>
          <pc:docMk/>
          <pc:sldMk cId="2317034463" sldId="425"/>
        </pc:sldMkLst>
        <pc:spChg chg="mod">
          <ac:chgData name="Yujan Basnet" userId="495fd8277ebfbaef" providerId="LiveId" clId="{CF25E929-184C-4165-99ED-8AD243A75CA4}" dt="2025-06-28T12:14:58.745" v="0" actId="207"/>
          <ac:spMkLst>
            <pc:docMk/>
            <pc:sldMk cId="2317034463" sldId="425"/>
            <ac:spMk id="9" creationId="{00000000-0000-0000-0000-000000000000}"/>
          </ac:spMkLst>
        </pc:spChg>
      </pc:sldChg>
    </pc:docChg>
  </pc:docChgLst>
  <pc:docChgLst>
    <pc:chgData name="Yujan Basnet" userId="495fd8277ebfbaef" providerId="LiveId" clId="{336517B1-8863-409E-90DF-8193AB82D4A7}"/>
    <pc:docChg chg="modSld">
      <pc:chgData name="Yujan Basnet" userId="495fd8277ebfbaef" providerId="LiveId" clId="{336517B1-8863-409E-90DF-8193AB82D4A7}" dt="2025-06-03T16:36:34.713" v="71" actId="207"/>
      <pc:docMkLst>
        <pc:docMk/>
      </pc:docMkLst>
      <pc:sldChg chg="modSp mod">
        <pc:chgData name="Yujan Basnet" userId="495fd8277ebfbaef" providerId="LiveId" clId="{336517B1-8863-409E-90DF-8193AB82D4A7}" dt="2025-06-03T16:17:22.270" v="26" actId="113"/>
        <pc:sldMkLst>
          <pc:docMk/>
          <pc:sldMk cId="0" sldId="266"/>
        </pc:sldMkLst>
        <pc:spChg chg="mod">
          <ac:chgData name="Yujan Basnet" userId="495fd8277ebfbaef" providerId="LiveId" clId="{336517B1-8863-409E-90DF-8193AB82D4A7}" dt="2025-06-03T16:17:22.270" v="26" actId="113"/>
          <ac:spMkLst>
            <pc:docMk/>
            <pc:sldMk cId="0" sldId="266"/>
            <ac:spMk id="5" creationId="{00000000-0000-0000-0000-000000000000}"/>
          </ac:spMkLst>
        </pc:spChg>
      </pc:sldChg>
      <pc:sldChg chg="modSp mod">
        <pc:chgData name="Yujan Basnet" userId="495fd8277ebfbaef" providerId="LiveId" clId="{336517B1-8863-409E-90DF-8193AB82D4A7}" dt="2025-06-03T16:16:37.313" v="24" actId="207"/>
        <pc:sldMkLst>
          <pc:docMk/>
          <pc:sldMk cId="3674221558" sldId="356"/>
        </pc:sldMkLst>
        <pc:spChg chg="mod">
          <ac:chgData name="Yujan Basnet" userId="495fd8277ebfbaef" providerId="LiveId" clId="{336517B1-8863-409E-90DF-8193AB82D4A7}" dt="2025-06-03T16:16:37.313" v="24" actId="207"/>
          <ac:spMkLst>
            <pc:docMk/>
            <pc:sldMk cId="3674221558" sldId="356"/>
            <ac:spMk id="5" creationId="{00000000-0000-0000-0000-000000000000}"/>
          </ac:spMkLst>
        </pc:spChg>
      </pc:sldChg>
      <pc:sldChg chg="modSp mod">
        <pc:chgData name="Yujan Basnet" userId="495fd8277ebfbaef" providerId="LiveId" clId="{336517B1-8863-409E-90DF-8193AB82D4A7}" dt="2025-06-03T15:39:49.977" v="0" actId="207"/>
        <pc:sldMkLst>
          <pc:docMk/>
          <pc:sldMk cId="573957946" sldId="369"/>
        </pc:sldMkLst>
        <pc:spChg chg="mod">
          <ac:chgData name="Yujan Basnet" userId="495fd8277ebfbaef" providerId="LiveId" clId="{336517B1-8863-409E-90DF-8193AB82D4A7}" dt="2025-06-03T15:39:49.977" v="0" actId="207"/>
          <ac:spMkLst>
            <pc:docMk/>
            <pc:sldMk cId="573957946" sldId="369"/>
            <ac:spMk id="5" creationId="{00000000-0000-0000-0000-000000000000}"/>
          </ac:spMkLst>
        </pc:spChg>
      </pc:sldChg>
      <pc:sldChg chg="modSp">
        <pc:chgData name="Yujan Basnet" userId="495fd8277ebfbaef" providerId="LiveId" clId="{336517B1-8863-409E-90DF-8193AB82D4A7}" dt="2025-06-03T15:47:54.972" v="4" actId="14100"/>
        <pc:sldMkLst>
          <pc:docMk/>
          <pc:sldMk cId="1663925070" sldId="370"/>
        </pc:sldMkLst>
        <pc:graphicFrameChg chg="mod">
          <ac:chgData name="Yujan Basnet" userId="495fd8277ebfbaef" providerId="LiveId" clId="{336517B1-8863-409E-90DF-8193AB82D4A7}" dt="2025-06-03T15:47:54.972" v="4" actId="14100"/>
          <ac:graphicFrameMkLst>
            <pc:docMk/>
            <pc:sldMk cId="1663925070" sldId="370"/>
            <ac:graphicFrameMk id="6" creationId="{00000000-0000-0000-0000-000000000000}"/>
          </ac:graphicFrameMkLst>
        </pc:graphicFrameChg>
      </pc:sldChg>
      <pc:sldChg chg="modSp mod">
        <pc:chgData name="Yujan Basnet" userId="495fd8277ebfbaef" providerId="LiveId" clId="{336517B1-8863-409E-90DF-8193AB82D4A7}" dt="2025-06-03T16:15:18.951" v="16" actId="207"/>
        <pc:sldMkLst>
          <pc:docMk/>
          <pc:sldMk cId="2558595786" sldId="382"/>
        </pc:sldMkLst>
        <pc:spChg chg="mod">
          <ac:chgData name="Yujan Basnet" userId="495fd8277ebfbaef" providerId="LiveId" clId="{336517B1-8863-409E-90DF-8193AB82D4A7}" dt="2025-06-03T16:15:18.951" v="16" actId="207"/>
          <ac:spMkLst>
            <pc:docMk/>
            <pc:sldMk cId="2558595786" sldId="382"/>
            <ac:spMk id="5" creationId="{00000000-0000-0000-0000-000000000000}"/>
          </ac:spMkLst>
        </pc:spChg>
      </pc:sldChg>
      <pc:sldChg chg="modSp mod">
        <pc:chgData name="Yujan Basnet" userId="495fd8277ebfbaef" providerId="LiveId" clId="{336517B1-8863-409E-90DF-8193AB82D4A7}" dt="2025-06-03T16:16:10.229" v="23" actId="114"/>
        <pc:sldMkLst>
          <pc:docMk/>
          <pc:sldMk cId="1526947684" sldId="383"/>
        </pc:sldMkLst>
        <pc:spChg chg="mod">
          <ac:chgData name="Yujan Basnet" userId="495fd8277ebfbaef" providerId="LiveId" clId="{336517B1-8863-409E-90DF-8193AB82D4A7}" dt="2025-06-03T16:16:10.229" v="23" actId="114"/>
          <ac:spMkLst>
            <pc:docMk/>
            <pc:sldMk cId="1526947684" sldId="383"/>
            <ac:spMk id="5" creationId="{00000000-0000-0000-0000-000000000000}"/>
          </ac:spMkLst>
        </pc:spChg>
      </pc:sldChg>
      <pc:sldChg chg="modSp mod">
        <pc:chgData name="Yujan Basnet" userId="495fd8277ebfbaef" providerId="LiveId" clId="{336517B1-8863-409E-90DF-8193AB82D4A7}" dt="2025-06-03T16:18:50.864" v="29" actId="113"/>
        <pc:sldMkLst>
          <pc:docMk/>
          <pc:sldMk cId="2414218711" sldId="397"/>
        </pc:sldMkLst>
        <pc:spChg chg="mod">
          <ac:chgData name="Yujan Basnet" userId="495fd8277ebfbaef" providerId="LiveId" clId="{336517B1-8863-409E-90DF-8193AB82D4A7}" dt="2025-06-03T16:18:50.864" v="29" actId="113"/>
          <ac:spMkLst>
            <pc:docMk/>
            <pc:sldMk cId="2414218711" sldId="397"/>
            <ac:spMk id="5" creationId="{00000000-0000-0000-0000-000000000000}"/>
          </ac:spMkLst>
        </pc:spChg>
      </pc:sldChg>
      <pc:sldChg chg="modSp mod">
        <pc:chgData name="Yujan Basnet" userId="495fd8277ebfbaef" providerId="LiveId" clId="{336517B1-8863-409E-90DF-8193AB82D4A7}" dt="2025-06-03T16:20:42.335" v="40" actId="207"/>
        <pc:sldMkLst>
          <pc:docMk/>
          <pc:sldMk cId="1602830308" sldId="398"/>
        </pc:sldMkLst>
        <pc:spChg chg="mod">
          <ac:chgData name="Yujan Basnet" userId="495fd8277ebfbaef" providerId="LiveId" clId="{336517B1-8863-409E-90DF-8193AB82D4A7}" dt="2025-06-03T16:20:42.335" v="40" actId="207"/>
          <ac:spMkLst>
            <pc:docMk/>
            <pc:sldMk cId="1602830308" sldId="398"/>
            <ac:spMk id="5" creationId="{00000000-0000-0000-0000-000000000000}"/>
          </ac:spMkLst>
        </pc:spChg>
      </pc:sldChg>
      <pc:sldChg chg="modSp mod">
        <pc:chgData name="Yujan Basnet" userId="495fd8277ebfbaef" providerId="LiveId" clId="{336517B1-8863-409E-90DF-8193AB82D4A7}" dt="2025-06-03T16:20:30.063" v="39" actId="207"/>
        <pc:sldMkLst>
          <pc:docMk/>
          <pc:sldMk cId="1473678498" sldId="399"/>
        </pc:sldMkLst>
        <pc:spChg chg="mod">
          <ac:chgData name="Yujan Basnet" userId="495fd8277ebfbaef" providerId="LiveId" clId="{336517B1-8863-409E-90DF-8193AB82D4A7}" dt="2025-06-03T16:20:30.063" v="39" actId="207"/>
          <ac:spMkLst>
            <pc:docMk/>
            <pc:sldMk cId="1473678498" sldId="399"/>
            <ac:spMk id="5" creationId="{00000000-0000-0000-0000-000000000000}"/>
          </ac:spMkLst>
        </pc:spChg>
      </pc:sldChg>
      <pc:sldChg chg="modSp mod">
        <pc:chgData name="Yujan Basnet" userId="495fd8277ebfbaef" providerId="LiveId" clId="{336517B1-8863-409E-90DF-8193AB82D4A7}" dt="2025-06-03T16:20:53.043" v="42" actId="113"/>
        <pc:sldMkLst>
          <pc:docMk/>
          <pc:sldMk cId="3524183219" sldId="400"/>
        </pc:sldMkLst>
        <pc:spChg chg="mod">
          <ac:chgData name="Yujan Basnet" userId="495fd8277ebfbaef" providerId="LiveId" clId="{336517B1-8863-409E-90DF-8193AB82D4A7}" dt="2025-06-03T16:20:53.043" v="42" actId="113"/>
          <ac:spMkLst>
            <pc:docMk/>
            <pc:sldMk cId="3524183219" sldId="400"/>
            <ac:spMk id="5" creationId="{00000000-0000-0000-0000-000000000000}"/>
          </ac:spMkLst>
        </pc:spChg>
      </pc:sldChg>
      <pc:sldChg chg="modSp mod">
        <pc:chgData name="Yujan Basnet" userId="495fd8277ebfbaef" providerId="LiveId" clId="{336517B1-8863-409E-90DF-8193AB82D4A7}" dt="2025-06-03T16:23:37.563" v="54" actId="207"/>
        <pc:sldMkLst>
          <pc:docMk/>
          <pc:sldMk cId="1041406891" sldId="401"/>
        </pc:sldMkLst>
        <pc:spChg chg="mod">
          <ac:chgData name="Yujan Basnet" userId="495fd8277ebfbaef" providerId="LiveId" clId="{336517B1-8863-409E-90DF-8193AB82D4A7}" dt="2025-06-03T16:23:37.563" v="54" actId="207"/>
          <ac:spMkLst>
            <pc:docMk/>
            <pc:sldMk cId="1041406891" sldId="401"/>
            <ac:spMk id="5" creationId="{00000000-0000-0000-0000-000000000000}"/>
          </ac:spMkLst>
        </pc:spChg>
      </pc:sldChg>
      <pc:sldChg chg="modSp mod">
        <pc:chgData name="Yujan Basnet" userId="495fd8277ebfbaef" providerId="LiveId" clId="{336517B1-8863-409E-90DF-8193AB82D4A7}" dt="2025-06-03T16:22:08.783" v="46" actId="207"/>
        <pc:sldMkLst>
          <pc:docMk/>
          <pc:sldMk cId="4139227190" sldId="402"/>
        </pc:sldMkLst>
        <pc:spChg chg="mod">
          <ac:chgData name="Yujan Basnet" userId="495fd8277ebfbaef" providerId="LiveId" clId="{336517B1-8863-409E-90DF-8193AB82D4A7}" dt="2025-06-03T16:22:08.783" v="46" actId="207"/>
          <ac:spMkLst>
            <pc:docMk/>
            <pc:sldMk cId="4139227190" sldId="402"/>
            <ac:spMk id="5" creationId="{00000000-0000-0000-0000-000000000000}"/>
          </ac:spMkLst>
        </pc:spChg>
      </pc:sldChg>
      <pc:sldChg chg="modSp mod">
        <pc:chgData name="Yujan Basnet" userId="495fd8277ebfbaef" providerId="LiveId" clId="{336517B1-8863-409E-90DF-8193AB82D4A7}" dt="2025-06-03T16:22:48.033" v="49" actId="207"/>
        <pc:sldMkLst>
          <pc:docMk/>
          <pc:sldMk cId="3879354222" sldId="403"/>
        </pc:sldMkLst>
        <pc:spChg chg="mod">
          <ac:chgData name="Yujan Basnet" userId="495fd8277ebfbaef" providerId="LiveId" clId="{336517B1-8863-409E-90DF-8193AB82D4A7}" dt="2025-06-03T16:22:48.033" v="49" actId="207"/>
          <ac:spMkLst>
            <pc:docMk/>
            <pc:sldMk cId="3879354222" sldId="403"/>
            <ac:spMk id="5" creationId="{00000000-0000-0000-0000-000000000000}"/>
          </ac:spMkLst>
        </pc:spChg>
      </pc:sldChg>
      <pc:sldChg chg="modSp mod">
        <pc:chgData name="Yujan Basnet" userId="495fd8277ebfbaef" providerId="LiveId" clId="{336517B1-8863-409E-90DF-8193AB82D4A7}" dt="2025-06-03T16:16:52.158" v="25" actId="207"/>
        <pc:sldMkLst>
          <pc:docMk/>
          <pc:sldMk cId="303630664" sldId="419"/>
        </pc:sldMkLst>
        <pc:spChg chg="mod">
          <ac:chgData name="Yujan Basnet" userId="495fd8277ebfbaef" providerId="LiveId" clId="{336517B1-8863-409E-90DF-8193AB82D4A7}" dt="2025-06-03T16:16:52.158" v="25" actId="207"/>
          <ac:spMkLst>
            <pc:docMk/>
            <pc:sldMk cId="303630664" sldId="419"/>
            <ac:spMk id="9" creationId="{00000000-0000-0000-0000-000000000000}"/>
          </ac:spMkLst>
        </pc:spChg>
      </pc:sldChg>
      <pc:sldChg chg="modSp mod">
        <pc:chgData name="Yujan Basnet" userId="495fd8277ebfbaef" providerId="LiveId" clId="{336517B1-8863-409E-90DF-8193AB82D4A7}" dt="2025-06-03T16:00:29.922" v="10" actId="207"/>
        <pc:sldMkLst>
          <pc:docMk/>
          <pc:sldMk cId="589468245" sldId="421"/>
        </pc:sldMkLst>
        <pc:spChg chg="mod">
          <ac:chgData name="Yujan Basnet" userId="495fd8277ebfbaef" providerId="LiveId" clId="{336517B1-8863-409E-90DF-8193AB82D4A7}" dt="2025-06-03T16:00:29.922" v="10" actId="207"/>
          <ac:spMkLst>
            <pc:docMk/>
            <pc:sldMk cId="589468245" sldId="421"/>
            <ac:spMk id="9" creationId="{00000000-0000-0000-0000-000000000000}"/>
          </ac:spMkLst>
        </pc:spChg>
      </pc:sldChg>
      <pc:sldChg chg="modSp mod">
        <pc:chgData name="Yujan Basnet" userId="495fd8277ebfbaef" providerId="LiveId" clId="{336517B1-8863-409E-90DF-8193AB82D4A7}" dt="2025-06-03T16:00:40.703" v="11" actId="207"/>
        <pc:sldMkLst>
          <pc:docMk/>
          <pc:sldMk cId="2194454738" sldId="422"/>
        </pc:sldMkLst>
        <pc:spChg chg="mod">
          <ac:chgData name="Yujan Basnet" userId="495fd8277ebfbaef" providerId="LiveId" clId="{336517B1-8863-409E-90DF-8193AB82D4A7}" dt="2025-06-03T16:00:40.703" v="11" actId="207"/>
          <ac:spMkLst>
            <pc:docMk/>
            <pc:sldMk cId="2194454738" sldId="422"/>
            <ac:spMk id="9" creationId="{00000000-0000-0000-0000-000000000000}"/>
          </ac:spMkLst>
        </pc:spChg>
      </pc:sldChg>
      <pc:sldChg chg="modSp mod">
        <pc:chgData name="Yujan Basnet" userId="495fd8277ebfbaef" providerId="LiveId" clId="{336517B1-8863-409E-90DF-8193AB82D4A7}" dt="2025-06-03T16:03:51.088" v="14" actId="207"/>
        <pc:sldMkLst>
          <pc:docMk/>
          <pc:sldMk cId="3443511541" sldId="423"/>
        </pc:sldMkLst>
        <pc:spChg chg="mod">
          <ac:chgData name="Yujan Basnet" userId="495fd8277ebfbaef" providerId="LiveId" clId="{336517B1-8863-409E-90DF-8193AB82D4A7}" dt="2025-06-03T16:03:51.088" v="14" actId="207"/>
          <ac:spMkLst>
            <pc:docMk/>
            <pc:sldMk cId="3443511541" sldId="423"/>
            <ac:spMk id="9" creationId="{00000000-0000-0000-0000-000000000000}"/>
          </ac:spMkLst>
        </pc:spChg>
      </pc:sldChg>
      <pc:sldChg chg="modSp mod">
        <pc:chgData name="Yujan Basnet" userId="495fd8277ebfbaef" providerId="LiveId" clId="{336517B1-8863-409E-90DF-8193AB82D4A7}" dt="2025-06-03T16:13:15.913" v="15" actId="207"/>
        <pc:sldMkLst>
          <pc:docMk/>
          <pc:sldMk cId="2317034463" sldId="425"/>
        </pc:sldMkLst>
        <pc:spChg chg="mod">
          <ac:chgData name="Yujan Basnet" userId="495fd8277ebfbaef" providerId="LiveId" clId="{336517B1-8863-409E-90DF-8193AB82D4A7}" dt="2025-06-03T16:13:15.913" v="15" actId="207"/>
          <ac:spMkLst>
            <pc:docMk/>
            <pc:sldMk cId="2317034463" sldId="425"/>
            <ac:spMk id="9" creationId="{00000000-0000-0000-0000-000000000000}"/>
          </ac:spMkLst>
        </pc:spChg>
      </pc:sldChg>
      <pc:sldChg chg="modSp mod">
        <pc:chgData name="Yujan Basnet" userId="495fd8277ebfbaef" providerId="LiveId" clId="{336517B1-8863-409E-90DF-8193AB82D4A7}" dt="2025-06-03T16:24:51.202" v="56" actId="207"/>
        <pc:sldMkLst>
          <pc:docMk/>
          <pc:sldMk cId="242252304" sldId="426"/>
        </pc:sldMkLst>
        <pc:spChg chg="mod">
          <ac:chgData name="Yujan Basnet" userId="495fd8277ebfbaef" providerId="LiveId" clId="{336517B1-8863-409E-90DF-8193AB82D4A7}" dt="2025-06-03T16:24:51.202" v="56" actId="207"/>
          <ac:spMkLst>
            <pc:docMk/>
            <pc:sldMk cId="242252304" sldId="426"/>
            <ac:spMk id="5" creationId="{00000000-0000-0000-0000-000000000000}"/>
          </ac:spMkLst>
        </pc:spChg>
      </pc:sldChg>
      <pc:sldChg chg="modSp mod">
        <pc:chgData name="Yujan Basnet" userId="495fd8277ebfbaef" providerId="LiveId" clId="{336517B1-8863-409E-90DF-8193AB82D4A7}" dt="2025-06-03T16:25:48.900" v="60" actId="207"/>
        <pc:sldMkLst>
          <pc:docMk/>
          <pc:sldMk cId="3368345454" sldId="427"/>
        </pc:sldMkLst>
        <pc:spChg chg="mod">
          <ac:chgData name="Yujan Basnet" userId="495fd8277ebfbaef" providerId="LiveId" clId="{336517B1-8863-409E-90DF-8193AB82D4A7}" dt="2025-06-03T16:25:48.900" v="60" actId="207"/>
          <ac:spMkLst>
            <pc:docMk/>
            <pc:sldMk cId="3368345454" sldId="427"/>
            <ac:spMk id="5" creationId="{00000000-0000-0000-0000-000000000000}"/>
          </ac:spMkLst>
        </pc:spChg>
      </pc:sldChg>
      <pc:sldChg chg="modSp mod">
        <pc:chgData name="Yujan Basnet" userId="495fd8277ebfbaef" providerId="LiveId" clId="{336517B1-8863-409E-90DF-8193AB82D4A7}" dt="2025-06-03T16:27:59.617" v="62" actId="207"/>
        <pc:sldMkLst>
          <pc:docMk/>
          <pc:sldMk cId="4087446319" sldId="428"/>
        </pc:sldMkLst>
        <pc:spChg chg="mod">
          <ac:chgData name="Yujan Basnet" userId="495fd8277ebfbaef" providerId="LiveId" clId="{336517B1-8863-409E-90DF-8193AB82D4A7}" dt="2025-06-03T16:27:59.617" v="62" actId="207"/>
          <ac:spMkLst>
            <pc:docMk/>
            <pc:sldMk cId="4087446319" sldId="428"/>
            <ac:spMk id="5" creationId="{00000000-0000-0000-0000-000000000000}"/>
          </ac:spMkLst>
        </pc:spChg>
      </pc:sldChg>
      <pc:sldChg chg="modSp mod">
        <pc:chgData name="Yujan Basnet" userId="495fd8277ebfbaef" providerId="LiveId" clId="{336517B1-8863-409E-90DF-8193AB82D4A7}" dt="2025-06-03T16:31:45.628" v="64" actId="207"/>
        <pc:sldMkLst>
          <pc:docMk/>
          <pc:sldMk cId="3695827198" sldId="429"/>
        </pc:sldMkLst>
        <pc:spChg chg="mod">
          <ac:chgData name="Yujan Basnet" userId="495fd8277ebfbaef" providerId="LiveId" clId="{336517B1-8863-409E-90DF-8193AB82D4A7}" dt="2025-06-03T16:31:45.628" v="64" actId="207"/>
          <ac:spMkLst>
            <pc:docMk/>
            <pc:sldMk cId="3695827198" sldId="429"/>
            <ac:spMk id="5" creationId="{00000000-0000-0000-0000-000000000000}"/>
          </ac:spMkLst>
        </pc:spChg>
      </pc:sldChg>
      <pc:sldChg chg="modSp mod">
        <pc:chgData name="Yujan Basnet" userId="495fd8277ebfbaef" providerId="LiveId" clId="{336517B1-8863-409E-90DF-8193AB82D4A7}" dt="2025-06-03T16:36:05.065" v="65" actId="207"/>
        <pc:sldMkLst>
          <pc:docMk/>
          <pc:sldMk cId="3319825149" sldId="430"/>
        </pc:sldMkLst>
        <pc:spChg chg="mod">
          <ac:chgData name="Yujan Basnet" userId="495fd8277ebfbaef" providerId="LiveId" clId="{336517B1-8863-409E-90DF-8193AB82D4A7}" dt="2025-06-03T16:36:05.065" v="65" actId="207"/>
          <ac:spMkLst>
            <pc:docMk/>
            <pc:sldMk cId="3319825149" sldId="430"/>
            <ac:spMk id="5" creationId="{00000000-0000-0000-0000-000000000000}"/>
          </ac:spMkLst>
        </pc:spChg>
      </pc:sldChg>
      <pc:sldChg chg="modSp mod">
        <pc:chgData name="Yujan Basnet" userId="495fd8277ebfbaef" providerId="LiveId" clId="{336517B1-8863-409E-90DF-8193AB82D4A7}" dt="2025-06-03T16:36:34.713" v="71" actId="207"/>
        <pc:sldMkLst>
          <pc:docMk/>
          <pc:sldMk cId="3124752961" sldId="431"/>
        </pc:sldMkLst>
        <pc:spChg chg="mod">
          <ac:chgData name="Yujan Basnet" userId="495fd8277ebfbaef" providerId="LiveId" clId="{336517B1-8863-409E-90DF-8193AB82D4A7}" dt="2025-06-03T16:36:34.713" v="71" actId="207"/>
          <ac:spMkLst>
            <pc:docMk/>
            <pc:sldMk cId="3124752961" sldId="43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DCAABD-430D-4558-B9E1-99DC9A11099F}" type="slidenum">
              <a:rPr lang="en-US" smtClean="0"/>
              <a:pPr/>
              <a:t>29</a:t>
            </a:fld>
            <a:endParaRPr lang="en-US"/>
          </a:p>
        </p:txBody>
      </p:sp>
    </p:spTree>
    <p:extLst>
      <p:ext uri="{BB962C8B-B14F-4D97-AF65-F5344CB8AC3E}">
        <p14:creationId xmlns:p14="http://schemas.microsoft.com/office/powerpoint/2010/main" val="1908101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973A45-E808-4DE1-B5F5-5C474A96C3AF}" type="datetime1">
              <a:rPr lang="en-US" smtClean="0"/>
              <a:t>6/28/2025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ED0CC9-D3BB-411A-A928-EEDC6ACC32EA}" type="datetime1">
              <a:rPr lang="en-US" smtClean="0"/>
              <a:t>6/28/2025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C85315-E6F0-43E1-8D75-22B2F33F2E50}" type="datetime1">
              <a:rPr lang="en-US" smtClean="0"/>
              <a:t>6/28/2025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BEE8EF-B5D5-4C89-B4F6-E2A9E7D54FD5}" type="datetime1">
              <a:rPr lang="en-US" smtClean="0"/>
              <a:t>6/28/2025</a:t>
            </a:fld>
            <a:endParaRPr lang="en-US"/>
          </a:p>
        </p:txBody>
      </p:sp>
      <p:sp>
        <p:nvSpPr>
          <p:cNvPr id="6" name="Footer Placeholder 5"/>
          <p:cNvSpPr>
            <a:spLocks noGrp="1"/>
          </p:cNvSpPr>
          <p:nvPr>
            <p:ph type="ftr" sz="quarter" idx="11"/>
          </p:nvPr>
        </p:nvSpPr>
        <p:spPr/>
        <p:txBody>
          <a:bodyPr/>
          <a:lstStyle/>
          <a:p>
            <a:r>
              <a:rPr lang="en-US"/>
              <a:t>Prepared By: Arjun Saud        Neural Network:M.Sc. CSIT I</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A31B42-D524-434E-90CE-74FA6F624DA7}" type="datetime1">
              <a:rPr lang="en-US" smtClean="0"/>
              <a:t>6/28/2025</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A12CBF-1D4B-447D-95C5-3E69D9EDDF94}" type="datetime1">
              <a:rPr lang="en-US" smtClean="0"/>
              <a:t>6/28/2025</a:t>
            </a:fld>
            <a:endParaRPr lang="en-US"/>
          </a:p>
        </p:txBody>
      </p:sp>
      <p:sp>
        <p:nvSpPr>
          <p:cNvPr id="4" name="Footer Placeholder 3"/>
          <p:cNvSpPr>
            <a:spLocks noGrp="1"/>
          </p:cNvSpPr>
          <p:nvPr>
            <p:ph type="ftr" sz="quarter" idx="11"/>
          </p:nvPr>
        </p:nvSpPr>
        <p:spPr/>
        <p:txBody>
          <a:bodyPr/>
          <a:lstStyle/>
          <a:p>
            <a:r>
              <a:rPr lang="en-US"/>
              <a:t>Prepared By: Arjun Saud        Neural Network:M.Sc. CSIT I</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51663F-CFD7-4A29-9E7C-FEA62B0F3FF4}" type="datetime1">
              <a:rPr lang="en-US" smtClean="0"/>
              <a:t>6/28/2025</a:t>
            </a:fld>
            <a:endParaRPr lang="en-US"/>
          </a:p>
        </p:txBody>
      </p:sp>
      <p:sp>
        <p:nvSpPr>
          <p:cNvPr id="3" name="Footer Placeholder 2"/>
          <p:cNvSpPr>
            <a:spLocks noGrp="1"/>
          </p:cNvSpPr>
          <p:nvPr>
            <p:ph type="ftr" sz="quarter" idx="11"/>
          </p:nvPr>
        </p:nvSpPr>
        <p:spPr/>
        <p:txBody>
          <a:bodyPr/>
          <a:lstStyle/>
          <a:p>
            <a:r>
              <a:rPr lang="en-US"/>
              <a:t>Prepared By: Arjun Saud        Neural Network:M.Sc. CSIT I</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4DC412-ECFC-4DE3-9D2E-55184920634B}" type="datetime1">
              <a:rPr lang="en-US" smtClean="0"/>
              <a:t>6/28/2025</a:t>
            </a:fld>
            <a:endParaRPr lang="en-US"/>
          </a:p>
        </p:txBody>
      </p:sp>
      <p:sp>
        <p:nvSpPr>
          <p:cNvPr id="6" name="Footer Placeholder 5"/>
          <p:cNvSpPr>
            <a:spLocks noGrp="1"/>
          </p:cNvSpPr>
          <p:nvPr>
            <p:ph type="ftr" sz="quarter" idx="11"/>
          </p:nvPr>
        </p:nvSpPr>
        <p:spPr/>
        <p:txBody>
          <a:bodyPr/>
          <a:lstStyle/>
          <a:p>
            <a:r>
              <a:rPr lang="en-US"/>
              <a:t>Prepared By: Arjun Saud        Neural Network:M.Sc. CSIT I</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72E79-9B25-44C7-BBAB-7D259F23E352}" type="datetime1">
              <a:rPr lang="en-US" smtClean="0"/>
              <a:t>6/28/2025</a:t>
            </a:fld>
            <a:endParaRPr lang="en-US"/>
          </a:p>
        </p:txBody>
      </p:sp>
      <p:sp>
        <p:nvSpPr>
          <p:cNvPr id="6" name="Footer Placeholder 5"/>
          <p:cNvSpPr>
            <a:spLocks noGrp="1"/>
          </p:cNvSpPr>
          <p:nvPr>
            <p:ph type="ftr" sz="quarter" idx="11"/>
          </p:nvPr>
        </p:nvSpPr>
        <p:spPr/>
        <p:txBody>
          <a:bodyPr/>
          <a:lstStyle/>
          <a:p>
            <a:r>
              <a:rPr lang="en-US"/>
              <a:t>Prepared By: Arjun Saud        Neural Network:M.Sc. CSIT I</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5252F6-ABD8-458E-8EA7-0DD4FE700704}" type="datetime1">
              <a:rPr lang="en-US" smtClean="0"/>
              <a:t>6/28/2025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BFB6F-5DD8-444A-BDEF-1B92E2203776}" type="datetime1">
              <a:rPr lang="en-US" smtClean="0"/>
              <a:t>6/28/2025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4AFE3-6763-450B-8B86-061CCC9B9A00}" type="datetime1">
              <a:rPr lang="en-US" smtClean="0"/>
              <a:t>6/28/2025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Arjun Saud        Neural Network:M.Sc. CSIT 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2.bin"/><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3.bin"/><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3600" b="1" dirty="0">
              <a:latin typeface="Book Antiqua" pitchFamily="18" charset="0"/>
            </a:endParaRPr>
          </a:p>
          <a:p>
            <a:pPr algn="ctr">
              <a:buNone/>
            </a:pPr>
            <a:r>
              <a:rPr lang="en-US" sz="3600" b="1" dirty="0">
                <a:latin typeface="Book Antiqua" pitchFamily="18" charset="0"/>
              </a:rPr>
              <a:t>Unit-1</a:t>
            </a:r>
          </a:p>
          <a:p>
            <a:pPr algn="ctr">
              <a:buNone/>
            </a:pPr>
            <a:r>
              <a:rPr lang="en-US" sz="3600" b="1" u="sng" dirty="0">
                <a:latin typeface="Book Antiqua" pitchFamily="18" charset="0"/>
              </a:rPr>
              <a:t>Introduction</a:t>
            </a:r>
          </a:p>
          <a:p>
            <a:pPr algn="ctr">
              <a:buNone/>
            </a:pPr>
            <a:endParaRPr lang="en-US" sz="3600" b="1" u="sng" dirty="0">
              <a:latin typeface="Book Antiqua" pitchFamily="18" charset="0"/>
            </a:endParaRPr>
          </a:p>
          <a:p>
            <a:pPr algn="ctr">
              <a:buNone/>
            </a:pPr>
            <a:r>
              <a:rPr lang="en-US" sz="3600" b="1" dirty="0">
                <a:latin typeface="Book Antiqua" pitchFamily="18" charset="0"/>
              </a:rPr>
              <a:t>Prepared By: Arjun Sing Saud</a:t>
            </a:r>
          </a:p>
          <a:p>
            <a:pPr algn="ctr">
              <a:buNone/>
            </a:pPr>
            <a:r>
              <a:rPr lang="en-US" sz="3600" b="1" dirty="0">
                <a:latin typeface="Book Antiqua" pitchFamily="18" charset="0"/>
              </a:rPr>
              <a:t>Asst. Prof. CSCSIT, TU</a:t>
            </a:r>
          </a:p>
          <a:p>
            <a:pPr algn="ctr">
              <a:buNone/>
            </a:pPr>
            <a:endParaRPr lang="en-US" sz="3600" b="1" dirty="0">
              <a:latin typeface="Book Antiqua" pitchFamily="18" charset="0"/>
            </a:endParaRPr>
          </a:p>
          <a:p>
            <a:pPr algn="ctr">
              <a:buNone/>
            </a:pPr>
            <a:r>
              <a:rPr lang="en-US" sz="3600" b="1" dirty="0">
                <a:latin typeface="Book Antiqua" pitchFamily="18" charset="0"/>
              </a:rPr>
              <a:t>						   		</a:t>
            </a: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a:t>Prepared By: Arjun Saud        Neural Network:M.Sc. CSIT I</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What is ANN?</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Artificial Neural Network (ANN) is commonly referred as Neural Network (NN). It is the computational paradigm that is motivated from the way the computation is performed by human brain or nervous system.</a:t>
            </a:r>
          </a:p>
          <a:p>
            <a:pPr algn="just"/>
            <a:r>
              <a:rPr lang="en-US" sz="2400" dirty="0">
                <a:latin typeface="Book Antiqua" pitchFamily="18" charset="0"/>
              </a:rPr>
              <a:t>Brain is a highly complex, non-linear, and parallel computation system that can perform computations like perception, pattern recognition, motor control etc. Neuron or nerve cell is the basic structural unit of brain.</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What is ANN?</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Human can perform the task much faster than the fastest digital computers that exists todays. This is possible due to parallel computation of neurons interconnected with each other.</a:t>
            </a:r>
          </a:p>
          <a:p>
            <a:pPr algn="just"/>
            <a:r>
              <a:rPr lang="en-US" sz="2400" dirty="0">
                <a:latin typeface="Book Antiqua" pitchFamily="18" charset="0"/>
              </a:rPr>
              <a:t>Thus we can define ANN as </a:t>
            </a:r>
            <a:r>
              <a:rPr lang="en-US" sz="2400" i="1" dirty="0">
                <a:latin typeface="Book Antiqua" pitchFamily="18" charset="0"/>
              </a:rPr>
              <a:t>“It is a massively parallel distributed processing system made up of simple processing units that has capability of storing experiential knowledge and making it available for use.” </a:t>
            </a:r>
          </a:p>
          <a:p>
            <a:pPr algn="just"/>
            <a:r>
              <a:rPr lang="en-US" sz="2400" dirty="0">
                <a:latin typeface="Book Antiqua" pitchFamily="18" charset="0"/>
              </a:rPr>
              <a:t>ANNs perform useful computations through the process of learning by using some algorithm.</a:t>
            </a:r>
          </a:p>
        </p:txBody>
      </p:sp>
      <p:sp>
        <p:nvSpPr>
          <p:cNvPr id="6" name="Slide Number Placeholder 5"/>
          <p:cNvSpPr>
            <a:spLocks noGrp="1"/>
          </p:cNvSpPr>
          <p:nvPr>
            <p:ph type="sldNum" sz="quarter" idx="12"/>
          </p:nvPr>
        </p:nvSpPr>
        <p:spPr/>
        <p:txBody>
          <a:bodyPr/>
          <a:lstStyle/>
          <a:p>
            <a:fld id="{3F22444B-AD59-459C-8316-D24326876BE4}" type="slidenum">
              <a:rPr lang="en-US" smtClean="0"/>
              <a:pPr/>
              <a:t>3</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5" name="Content Placeholder 4"/>
          <p:cNvSpPr>
            <a:spLocks noGrp="1"/>
          </p:cNvSpPr>
          <p:nvPr>
            <p:ph idx="1"/>
          </p:nvPr>
        </p:nvSpPr>
        <p:spPr>
          <a:xfrm>
            <a:off x="228600" y="1600200"/>
            <a:ext cx="8763000" cy="4525963"/>
          </a:xfrm>
        </p:spPr>
        <p:txBody>
          <a:bodyPr>
            <a:normAutofit fontScale="92500"/>
          </a:bodyPr>
          <a:lstStyle/>
          <a:p>
            <a:pPr algn="just"/>
            <a:r>
              <a:rPr lang="en-US" sz="2400" dirty="0">
                <a:latin typeface="Book Antiqua" panose="02040602050305030304" pitchFamily="18" charset="0"/>
              </a:rPr>
              <a:t>Most living creatures, which have the ability to adapt to a changing environment, need a controlling unit which is able to learn. </a:t>
            </a:r>
          </a:p>
          <a:p>
            <a:pPr algn="just"/>
            <a:r>
              <a:rPr lang="en-US" sz="2400" dirty="0">
                <a:latin typeface="Book Antiqua" panose="02040602050305030304" pitchFamily="18" charset="0"/>
              </a:rPr>
              <a:t>Humans have very complex networks of highly specialized neurons to perform this task.</a:t>
            </a:r>
          </a:p>
          <a:p>
            <a:pPr algn="just"/>
            <a:r>
              <a:rPr lang="en-US" sz="2400" dirty="0">
                <a:latin typeface="Book Antiqua" panose="02040602050305030304" pitchFamily="18" charset="0"/>
              </a:rPr>
              <a:t>Human brain consists of a very large number of neurons, about 10</a:t>
            </a:r>
            <a:r>
              <a:rPr lang="en-US" sz="2400" baseline="30000" dirty="0">
                <a:latin typeface="Book Antiqua" panose="02040602050305030304" pitchFamily="18" charset="0"/>
              </a:rPr>
              <a:t>11</a:t>
            </a:r>
            <a:r>
              <a:rPr lang="en-US" sz="2400" dirty="0">
                <a:latin typeface="Book Antiqua" panose="02040602050305030304" pitchFamily="18" charset="0"/>
              </a:rPr>
              <a:t> in average. These can be seen as the basic building bricks for the central nervous system. </a:t>
            </a:r>
          </a:p>
          <a:p>
            <a:pPr algn="just"/>
            <a:r>
              <a:rPr lang="en-US" sz="2400" dirty="0">
                <a:latin typeface="Book Antiqua" panose="02040602050305030304" pitchFamily="18" charset="0"/>
              </a:rPr>
              <a:t>The neurons are interconnected at points called synapses. The complexity of the brain is due to the massive number of highly interconnected simple units working in parallel, with an individual neuron receiving input from up to 10000 others.</a:t>
            </a:r>
          </a:p>
          <a:p>
            <a:pPr algn="just"/>
            <a:endParaRPr lang="en-US" sz="24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85206337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6" name="Slide Number Placeholder 5"/>
          <p:cNvSpPr>
            <a:spLocks noGrp="1"/>
          </p:cNvSpPr>
          <p:nvPr>
            <p:ph type="sldNum" sz="quarter" idx="12"/>
          </p:nvPr>
        </p:nvSpPr>
        <p:spPr/>
        <p:txBody>
          <a:bodyPr/>
          <a:lstStyle/>
          <a:p>
            <a:fld id="{3F22444B-AD59-459C-8316-D24326876BE4}" type="slidenum">
              <a:rPr lang="en-US" smtClean="0"/>
              <a:pPr/>
              <a:t>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pic>
        <p:nvPicPr>
          <p:cNvPr id="3" name="Picture 2"/>
          <p:cNvPicPr>
            <a:picLocks noChangeAspect="1"/>
          </p:cNvPicPr>
          <p:nvPr/>
        </p:nvPicPr>
        <p:blipFill>
          <a:blip r:embed="rId2"/>
          <a:stretch>
            <a:fillRect/>
          </a:stretch>
        </p:blipFill>
        <p:spPr>
          <a:xfrm>
            <a:off x="1524000" y="1408113"/>
            <a:ext cx="6096000" cy="3828486"/>
          </a:xfrm>
          <a:prstGeom prst="rect">
            <a:avLst/>
          </a:prstGeom>
        </p:spPr>
      </p:pic>
    </p:spTree>
    <p:extLst>
      <p:ext uri="{BB962C8B-B14F-4D97-AF65-F5344CB8AC3E}">
        <p14:creationId xmlns:p14="http://schemas.microsoft.com/office/powerpoint/2010/main" val="356678287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800" dirty="0">
                <a:latin typeface="Book Antiqua" pitchFamily="18" charset="0"/>
              </a:rPr>
              <a:t>A human neuron contains:</a:t>
            </a:r>
          </a:p>
          <a:p>
            <a:pPr lvl="1" algn="just">
              <a:buFont typeface="Arial" panose="020B0604020202020204" pitchFamily="34" charset="0"/>
              <a:buChar char="•"/>
            </a:pPr>
            <a:r>
              <a:rPr lang="en-US" sz="2400" dirty="0">
                <a:latin typeface="Book Antiqua" pitchFamily="18" charset="0"/>
              </a:rPr>
              <a:t>a cell body for signal processing,</a:t>
            </a:r>
          </a:p>
          <a:p>
            <a:pPr lvl="1" algn="just">
              <a:buFont typeface="Arial" panose="020B0604020202020204" pitchFamily="34" charset="0"/>
              <a:buChar char="•"/>
            </a:pPr>
            <a:r>
              <a:rPr lang="en-US" sz="2400" dirty="0">
                <a:latin typeface="Book Antiqua" pitchFamily="18" charset="0"/>
              </a:rPr>
              <a:t>many dendrites to receive signals,</a:t>
            </a:r>
          </a:p>
          <a:p>
            <a:pPr lvl="1" algn="just">
              <a:buFont typeface="Arial" panose="020B0604020202020204" pitchFamily="34" charset="0"/>
              <a:buChar char="•"/>
            </a:pPr>
            <a:r>
              <a:rPr lang="en-US" sz="2400" dirty="0">
                <a:latin typeface="Book Antiqua" pitchFamily="18" charset="0"/>
              </a:rPr>
              <a:t>an axon for outputting the result, and</a:t>
            </a:r>
          </a:p>
          <a:p>
            <a:pPr lvl="1" algn="just">
              <a:buFont typeface="Arial" panose="020B0604020202020204" pitchFamily="34" charset="0"/>
              <a:buChar char="•"/>
            </a:pPr>
            <a:r>
              <a:rPr lang="en-US" sz="2400" dirty="0">
                <a:latin typeface="Book Antiqua" pitchFamily="18" charset="0"/>
              </a:rPr>
              <a:t>synapses between the axon and dendrites of other cells.</a:t>
            </a:r>
          </a:p>
          <a:p>
            <a:pPr algn="just">
              <a:buNone/>
            </a:pPr>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6</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0572623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5" name="Content Placeholder 4"/>
          <p:cNvSpPr>
            <a:spLocks noGrp="1"/>
          </p:cNvSpPr>
          <p:nvPr>
            <p:ph idx="1"/>
          </p:nvPr>
        </p:nvSpPr>
        <p:spPr>
          <a:xfrm>
            <a:off x="228600" y="1600200"/>
            <a:ext cx="8763000" cy="4525963"/>
          </a:xfrm>
        </p:spPr>
        <p:txBody>
          <a:bodyPr>
            <a:normAutofit/>
          </a:bodyPr>
          <a:lstStyle/>
          <a:p>
            <a:pPr marL="342900" lvl="1" indent="-342900" algn="just">
              <a:buFont typeface="Arial" panose="020B0604020202020204" pitchFamily="34" charset="0"/>
              <a:buChar char="•"/>
            </a:pPr>
            <a:r>
              <a:rPr lang="en-US" sz="2400" dirty="0">
                <a:latin typeface="Book Antiqua" pitchFamily="18" charset="0"/>
              </a:rPr>
              <a:t>Signals come into the dendrites through the synapses of other neurons.</a:t>
            </a:r>
          </a:p>
          <a:p>
            <a:pPr marL="342900" lvl="1" indent="-342900" algn="just">
              <a:buFont typeface="Arial" panose="020B0604020202020204" pitchFamily="34" charset="0"/>
              <a:buChar char="•"/>
            </a:pPr>
            <a:r>
              <a:rPr lang="en-US" sz="2400" dirty="0">
                <a:latin typeface="Book Antiqua" pitchFamily="18" charset="0"/>
              </a:rPr>
              <a:t>All signals from all dendrites are summed up in the cell body.</a:t>
            </a:r>
          </a:p>
          <a:p>
            <a:pPr marL="342900" lvl="1" indent="-342900" algn="just">
              <a:buFont typeface="Arial" panose="020B0604020202020204" pitchFamily="34" charset="0"/>
              <a:buChar char="•"/>
            </a:pPr>
            <a:r>
              <a:rPr lang="en-US" sz="2400" dirty="0">
                <a:latin typeface="Book Antiqua" pitchFamily="18" charset="0"/>
              </a:rPr>
              <a:t>When the sum is larger than a threshold, the neuron fires, and sends out an output signal to other neurons through the axon.</a:t>
            </a:r>
          </a:p>
          <a:p>
            <a:pPr marL="342900" lvl="1" indent="-342900" algn="just">
              <a:buFont typeface="Arial" panose="020B0604020202020204" pitchFamily="34" charset="0"/>
              <a:buChar char="•"/>
            </a:pPr>
            <a:r>
              <a:rPr lang="en-US" sz="2400" dirty="0">
                <a:latin typeface="Book Antiqua" pitchFamily="18" charset="0"/>
              </a:rPr>
              <a:t>The end of the axon is divided in many branches, called synapses, which are then connected to other dendrites of other cells.</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9890916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A </a:t>
            </a:r>
            <a:r>
              <a:rPr lang="en-US" sz="2400" i="1" dirty="0">
                <a:latin typeface="Book Antiqua" panose="02040602050305030304" pitchFamily="18" charset="0"/>
              </a:rPr>
              <a:t>neuron </a:t>
            </a:r>
            <a:r>
              <a:rPr lang="en-US" sz="2400" dirty="0">
                <a:latin typeface="Book Antiqua" panose="02040602050305030304" pitchFamily="18" charset="0"/>
              </a:rPr>
              <a:t>is an information-processing unit that is fundamental to the operation of a neural network.</a:t>
            </a:r>
          </a:p>
          <a:p>
            <a:pPr algn="just"/>
            <a:r>
              <a:rPr lang="en-US" sz="2400" dirty="0">
                <a:latin typeface="Book Antiqua" panose="02040602050305030304" pitchFamily="18" charset="0"/>
              </a:rPr>
              <a:t>Basically, Models of neuron can be divided into two categories:</a:t>
            </a:r>
          </a:p>
          <a:p>
            <a:pPr lvl="1" algn="just"/>
            <a:r>
              <a:rPr lang="en-US" sz="2400" b="1" dirty="0">
                <a:solidFill>
                  <a:srgbClr val="0070C0"/>
                </a:solidFill>
                <a:latin typeface="Book Antiqua" panose="02040602050305030304" pitchFamily="18" charset="0"/>
              </a:rPr>
              <a:t>Deterministic model of Neuron</a:t>
            </a:r>
          </a:p>
          <a:p>
            <a:pPr lvl="1" algn="just"/>
            <a:r>
              <a:rPr lang="en-US" sz="2400" b="1" dirty="0">
                <a:solidFill>
                  <a:srgbClr val="0070C0"/>
                </a:solidFill>
                <a:latin typeface="Book Antiqua" panose="02040602050305030304" pitchFamily="18" charset="0"/>
              </a:rPr>
              <a:t>Stochastic model of Neuron</a:t>
            </a:r>
          </a:p>
          <a:p>
            <a:pPr marL="400050" lvl="1" indent="0" algn="just">
              <a:buNone/>
            </a:pPr>
            <a:r>
              <a:rPr lang="en-US" sz="2400" b="1" dirty="0">
                <a:latin typeface="Book Antiqua" panose="02040602050305030304" pitchFamily="18" charset="0"/>
              </a:rPr>
              <a:t> </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67422155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a:p>
            <a:pPr algn="just"/>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457200" y="2209800"/>
            <a:ext cx="6400800" cy="3724813"/>
          </a:xfrm>
          <a:prstGeom prst="rect">
            <a:avLst/>
          </a:prstGeom>
        </p:spPr>
      </p:pic>
      <p:sp>
        <p:nvSpPr>
          <p:cNvPr id="6" name="Slide Number Placeholder 5"/>
          <p:cNvSpPr>
            <a:spLocks noGrp="1"/>
          </p:cNvSpPr>
          <p:nvPr>
            <p:ph type="sldNum" sz="quarter" idx="12"/>
          </p:nvPr>
        </p:nvSpPr>
        <p:spPr/>
        <p:txBody>
          <a:bodyPr/>
          <a:lstStyle/>
          <a:p>
            <a:fld id="{3F22444B-AD59-459C-8316-D24326876BE4}" type="slidenum">
              <a:rPr lang="en-US" smtClean="0"/>
              <a:pPr/>
              <a:t>9</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046538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marL="0" indent="0" algn="just">
              <a:buNone/>
            </a:pPr>
            <a:r>
              <a:rPr lang="en-US" sz="2400" b="1" u="sng" dirty="0">
                <a:latin typeface="Book Antiqua" pitchFamily="18" charset="0"/>
              </a:rPr>
              <a:t>Deterministic Model of Neuron</a:t>
            </a:r>
          </a:p>
          <a:p>
            <a:pPr algn="just"/>
            <a:r>
              <a:rPr lang="en-US" sz="2800" dirty="0">
                <a:latin typeface="Book Antiqua" panose="02040602050305030304" pitchFamily="18" charset="0"/>
              </a:rPr>
              <a:t>The block diagram this </a:t>
            </a:r>
            <a:r>
              <a:rPr lang="en-US" sz="2800" i="1" dirty="0">
                <a:latin typeface="Book Antiqua" panose="02040602050305030304" pitchFamily="18" charset="0"/>
              </a:rPr>
              <a:t>model </a:t>
            </a:r>
            <a:r>
              <a:rPr lang="en-US" sz="2800" dirty="0">
                <a:latin typeface="Book Antiqua" panose="02040602050305030304" pitchFamily="18" charset="0"/>
              </a:rPr>
              <a:t>of a neuron is presented in previous slide. Three basic elements of this neural model are: </a:t>
            </a:r>
            <a:r>
              <a:rPr lang="en-US" sz="2800" i="1" dirty="0">
                <a:latin typeface="Book Antiqua" panose="02040602050305030304" pitchFamily="18" charset="0"/>
              </a:rPr>
              <a:t>Synapses or connecting links, Adder, and Activation Function.</a:t>
            </a:r>
          </a:p>
          <a:p>
            <a:pPr lvl="1" algn="just"/>
            <a:r>
              <a:rPr lang="en-US" sz="2400" b="1" dirty="0">
                <a:latin typeface="Book Antiqua" panose="02040602050305030304" pitchFamily="18" charset="0"/>
              </a:rPr>
              <a:t>Synapses: </a:t>
            </a:r>
            <a:r>
              <a:rPr lang="en-US" sz="2400" dirty="0">
                <a:latin typeface="Book Antiqua" panose="02040602050305030304" pitchFamily="18" charset="0"/>
              </a:rPr>
              <a:t>These are the connecting links that are used to collect input for the neuron. Each link is characterized by weight that defines strength of the link.</a:t>
            </a:r>
          </a:p>
          <a:p>
            <a:pPr lvl="1" algn="just"/>
            <a:r>
              <a:rPr lang="en-US" sz="2400" b="1" dirty="0">
                <a:latin typeface="Book Antiqua" panose="02040602050305030304" pitchFamily="18" charset="0"/>
              </a:rPr>
              <a:t>Adder:</a:t>
            </a:r>
            <a:r>
              <a:rPr lang="en-US" sz="2400" dirty="0">
                <a:latin typeface="Book Antiqua" panose="02040602050305030304" pitchFamily="18" charset="0"/>
              </a:rPr>
              <a:t> It is responsible for finding weighted sum of inputs to the neuron.</a:t>
            </a:r>
          </a:p>
          <a:p>
            <a:pPr lvl="1" algn="just"/>
            <a:r>
              <a:rPr lang="en-US" sz="2400" b="1" dirty="0">
                <a:latin typeface="Book Antiqua" panose="02040602050305030304" pitchFamily="18" charset="0"/>
              </a:rPr>
              <a:t>Activation Function: </a:t>
            </a:r>
            <a:r>
              <a:rPr lang="en-US" sz="2400" dirty="0">
                <a:latin typeface="Book Antiqua" panose="02040602050305030304" pitchFamily="18" charset="0"/>
              </a:rPr>
              <a:t>It is responsible for finding output of the neuron. It is also referred as squashing function.</a:t>
            </a:r>
          </a:p>
          <a:p>
            <a:pPr lvl="1" algn="just"/>
            <a:endParaRPr lang="en-US" sz="2400" dirty="0">
              <a:latin typeface="Book Antiqua" panose="02040602050305030304"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35921545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lnSpcReduction="10000"/>
          </a:bodyPr>
          <a:lstStyle/>
          <a:p>
            <a:pPr marL="0" indent="0" algn="just">
              <a:buNone/>
            </a:pPr>
            <a:r>
              <a:rPr lang="en-US" sz="2400" b="1" u="sng" dirty="0">
                <a:latin typeface="Book Antiqua" pitchFamily="18" charset="0"/>
              </a:rPr>
              <a:t>Deterministic Model of Neuron</a:t>
            </a:r>
            <a:endParaRPr lang="en-US" sz="2400" dirty="0">
              <a:latin typeface="Book Antiqua" pitchFamily="18" charset="0"/>
            </a:endParaRPr>
          </a:p>
          <a:p>
            <a:pPr algn="just"/>
            <a:r>
              <a:rPr lang="en-US" sz="2400" dirty="0">
                <a:latin typeface="Book Antiqua" pitchFamily="18" charset="0"/>
              </a:rPr>
              <a:t>The neural model also includes an externally applied </a:t>
            </a:r>
            <a:r>
              <a:rPr lang="en-US" sz="2400" i="1" dirty="0">
                <a:latin typeface="Book Antiqua" panose="02040602050305030304" pitchFamily="18" charset="0"/>
              </a:rPr>
              <a:t>bias</a:t>
            </a:r>
            <a:r>
              <a:rPr lang="en-US" sz="2400" dirty="0">
                <a:latin typeface="Book Antiqua" panose="02040602050305030304" pitchFamily="18" charset="0"/>
              </a:rPr>
              <a:t>, denoted by </a:t>
            </a:r>
            <a:r>
              <a:rPr lang="en-US" sz="2400" i="1" dirty="0">
                <a:latin typeface="Book Antiqua" panose="02040602050305030304" pitchFamily="18" charset="0"/>
              </a:rPr>
              <a:t>b</a:t>
            </a:r>
            <a:r>
              <a:rPr lang="en-US" sz="2400" i="1" baseline="-25000" dirty="0">
                <a:latin typeface="Book Antiqua" panose="02040602050305030304" pitchFamily="18" charset="0"/>
              </a:rPr>
              <a:t>k</a:t>
            </a:r>
            <a:r>
              <a:rPr lang="en-US" sz="2400" i="1" dirty="0">
                <a:latin typeface="Book Antiqua" panose="02040602050305030304" pitchFamily="18" charset="0"/>
              </a:rPr>
              <a:t>. </a:t>
            </a:r>
            <a:r>
              <a:rPr lang="en-US" sz="2400" dirty="0">
                <a:latin typeface="Book Antiqua" panose="02040602050305030304" pitchFamily="18" charset="0"/>
              </a:rPr>
              <a:t>The bias </a:t>
            </a:r>
            <a:r>
              <a:rPr lang="en-US" sz="2400" i="1" dirty="0">
                <a:latin typeface="Book Antiqua" panose="02040602050305030304" pitchFamily="18" charset="0"/>
              </a:rPr>
              <a:t>b</a:t>
            </a:r>
            <a:r>
              <a:rPr lang="en-US" sz="2400" i="1" baseline="-25000" dirty="0">
                <a:latin typeface="Book Antiqua" panose="02040602050305030304" pitchFamily="18" charset="0"/>
              </a:rPr>
              <a:t>k</a:t>
            </a:r>
            <a:r>
              <a:rPr lang="en-US" sz="2400" i="1" dirty="0">
                <a:latin typeface="Book Antiqua" panose="02040602050305030304" pitchFamily="18" charset="0"/>
              </a:rPr>
              <a:t> </a:t>
            </a:r>
            <a:r>
              <a:rPr lang="en-US" sz="2400" dirty="0">
                <a:latin typeface="Book Antiqua" panose="02040602050305030304" pitchFamily="18" charset="0"/>
              </a:rPr>
              <a:t>has the effect of increasing or lowering the net input. In mathematical terms, we may describe the neural model by writing the set of equations:</a:t>
            </a:r>
          </a:p>
          <a:p>
            <a:pPr algn="just"/>
            <a:endParaRPr lang="en-US" sz="2400" dirty="0">
              <a:latin typeface="Book Antiqua" panose="02040602050305030304" pitchFamily="18" charset="0"/>
            </a:endParaRPr>
          </a:p>
          <a:p>
            <a:pPr algn="just"/>
            <a:endParaRPr lang="en-US" sz="2400" dirty="0">
              <a:latin typeface="Book Antiqua" panose="02040602050305030304" pitchFamily="18" charset="0"/>
            </a:endParaRPr>
          </a:p>
          <a:p>
            <a:pPr algn="just"/>
            <a:endParaRPr lang="en-US" sz="2400" dirty="0">
              <a:latin typeface="Book Antiqua" panose="02040602050305030304" pitchFamily="18" charset="0"/>
            </a:endParaRPr>
          </a:p>
          <a:p>
            <a:pPr algn="just"/>
            <a:endParaRPr lang="en-US" sz="2400" dirty="0">
              <a:latin typeface="Book Antiqua" panose="02040602050305030304" pitchFamily="18" charset="0"/>
            </a:endParaRPr>
          </a:p>
          <a:p>
            <a:pPr marL="0" indent="0" algn="just">
              <a:buNone/>
            </a:pPr>
            <a:r>
              <a:rPr lang="en-US" sz="2400" i="1" dirty="0">
                <a:latin typeface="Book Antiqua" panose="02040602050305030304" pitchFamily="18" charset="0"/>
              </a:rPr>
              <a:t>Where, x</a:t>
            </a:r>
            <a:r>
              <a:rPr lang="en-US" sz="2400" i="1" baseline="-25000" dirty="0">
                <a:latin typeface="Book Antiqua" panose="02040602050305030304" pitchFamily="18" charset="0"/>
              </a:rPr>
              <a:t>1</a:t>
            </a:r>
            <a:r>
              <a:rPr lang="en-US" sz="2400" i="1" dirty="0">
                <a:latin typeface="Book Antiqua" panose="02040602050305030304" pitchFamily="18" charset="0"/>
              </a:rPr>
              <a:t>, x</a:t>
            </a:r>
            <a:r>
              <a:rPr lang="en-US" sz="2400" i="1" baseline="-25000" dirty="0">
                <a:latin typeface="Book Antiqua" panose="02040602050305030304" pitchFamily="18" charset="0"/>
              </a:rPr>
              <a:t>2</a:t>
            </a:r>
            <a:r>
              <a:rPr lang="en-US" sz="2400" i="1" dirty="0">
                <a:latin typeface="Book Antiqua" panose="02040602050305030304" pitchFamily="18" charset="0"/>
              </a:rPr>
              <a:t>,….,</a:t>
            </a:r>
            <a:r>
              <a:rPr lang="en-US" sz="2400" i="1" dirty="0" err="1">
                <a:latin typeface="Book Antiqua" panose="02040602050305030304" pitchFamily="18" charset="0"/>
              </a:rPr>
              <a:t>x</a:t>
            </a:r>
            <a:r>
              <a:rPr lang="en-US" sz="2400" i="1" baseline="-25000" dirty="0" err="1">
                <a:latin typeface="Book Antiqua" panose="02040602050305030304" pitchFamily="18" charset="0"/>
              </a:rPr>
              <a:t>n</a:t>
            </a:r>
            <a:r>
              <a:rPr lang="en-US" sz="2400" i="1" dirty="0">
                <a:latin typeface="Book Antiqua" panose="02040602050305030304" pitchFamily="18" charset="0"/>
              </a:rPr>
              <a:t> are input signals, w</a:t>
            </a:r>
            <a:r>
              <a:rPr lang="en-US" sz="2400" i="1" baseline="-25000" dirty="0">
                <a:latin typeface="Book Antiqua" panose="02040602050305030304" pitchFamily="18" charset="0"/>
              </a:rPr>
              <a:t>k1</a:t>
            </a:r>
            <a:r>
              <a:rPr lang="en-US" sz="2400" i="1" dirty="0">
                <a:latin typeface="Book Antiqua" panose="02040602050305030304" pitchFamily="18" charset="0"/>
              </a:rPr>
              <a:t>,w</a:t>
            </a:r>
            <a:r>
              <a:rPr lang="en-US" sz="2400" i="1" baseline="-25000" dirty="0">
                <a:latin typeface="Book Antiqua" panose="02040602050305030304" pitchFamily="18" charset="0"/>
              </a:rPr>
              <a:t>k2</a:t>
            </a:r>
            <a:r>
              <a:rPr lang="en-US" sz="2400" i="1" dirty="0">
                <a:latin typeface="Book Antiqua" panose="02040602050305030304" pitchFamily="18" charset="0"/>
              </a:rPr>
              <a:t>,….,</a:t>
            </a:r>
            <a:r>
              <a:rPr lang="en-US" sz="2400" i="1" dirty="0" err="1">
                <a:latin typeface="Book Antiqua" panose="02040602050305030304" pitchFamily="18" charset="0"/>
              </a:rPr>
              <a:t>w</a:t>
            </a:r>
            <a:r>
              <a:rPr lang="en-US" sz="2400" i="1" baseline="-25000" dirty="0" err="1">
                <a:latin typeface="Book Antiqua" panose="02040602050305030304" pitchFamily="18" charset="0"/>
              </a:rPr>
              <a:t>kn</a:t>
            </a:r>
            <a:r>
              <a:rPr lang="en-US" sz="2400" i="1" dirty="0">
                <a:latin typeface="Book Antiqua" panose="02040602050305030304" pitchFamily="18" charset="0"/>
              </a:rPr>
              <a:t> are weights, </a:t>
            </a:r>
            <a:r>
              <a:rPr lang="en-US" sz="2400" i="1" dirty="0" err="1">
                <a:latin typeface="Book Antiqua" panose="02040602050305030304" pitchFamily="18" charset="0"/>
              </a:rPr>
              <a:t>u</a:t>
            </a:r>
            <a:r>
              <a:rPr lang="en-US" sz="2400" i="1" baseline="-25000" dirty="0" err="1">
                <a:latin typeface="Book Antiqua" panose="02040602050305030304" pitchFamily="18" charset="0"/>
              </a:rPr>
              <a:t>k</a:t>
            </a:r>
            <a:r>
              <a:rPr lang="en-US" sz="2400" i="1" dirty="0">
                <a:latin typeface="Book Antiqua" panose="02040602050305030304" pitchFamily="18" charset="0"/>
              </a:rPr>
              <a:t> is weighted sum of inputs, </a:t>
            </a:r>
            <a:r>
              <a:rPr lang="el-GR" sz="2400" i="1" dirty="0">
                <a:latin typeface="Book Antiqua" panose="02040602050305030304" pitchFamily="18" charset="0"/>
              </a:rPr>
              <a:t>φ</a:t>
            </a:r>
            <a:r>
              <a:rPr lang="en-US" sz="2400" i="1" dirty="0">
                <a:latin typeface="Book Antiqua" panose="02040602050305030304" pitchFamily="18" charset="0"/>
              </a:rPr>
              <a:t> is activation function, and </a:t>
            </a:r>
            <a:r>
              <a:rPr lang="en-US" sz="2400" i="1" dirty="0" err="1">
                <a:latin typeface="Book Antiqua" panose="02040602050305030304" pitchFamily="18" charset="0"/>
              </a:rPr>
              <a:t>y</a:t>
            </a:r>
            <a:r>
              <a:rPr lang="en-US" sz="2400" i="1" baseline="-25000" dirty="0" err="1">
                <a:latin typeface="Book Antiqua" panose="02040602050305030304" pitchFamily="18" charset="0"/>
              </a:rPr>
              <a:t>k</a:t>
            </a:r>
            <a:r>
              <a:rPr lang="en-US" sz="2400" i="1" dirty="0">
                <a:latin typeface="Book Antiqua" panose="02040602050305030304" pitchFamily="18" charset="0"/>
              </a:rPr>
              <a:t> is output signal</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6" name="Object 3"/>
          <p:cNvGraphicFramePr>
            <a:graphicFrameLocks noChangeAspect="1"/>
          </p:cNvGraphicFramePr>
          <p:nvPr>
            <p:extLst>
              <p:ext uri="{D42A27DB-BD31-4B8C-83A1-F6EECF244321}">
                <p14:modId xmlns:p14="http://schemas.microsoft.com/office/powerpoint/2010/main" val="2861299058"/>
              </p:ext>
            </p:extLst>
          </p:nvPr>
        </p:nvGraphicFramePr>
        <p:xfrm>
          <a:off x="1062037" y="3346725"/>
          <a:ext cx="2286000" cy="1072806"/>
        </p:xfrm>
        <a:graphic>
          <a:graphicData uri="http://schemas.openxmlformats.org/presentationml/2006/ole">
            <mc:AlternateContent xmlns:mc="http://schemas.openxmlformats.org/markup-compatibility/2006">
              <mc:Choice xmlns:v="urn:schemas-microsoft-com:vml" Requires="v">
                <p:oleObj name="Equation" r:id="rId2" imgW="952200" imgH="444240" progId="Equation.3">
                  <p:embed/>
                </p:oleObj>
              </mc:Choice>
              <mc:Fallback>
                <p:oleObj name="Equation" r:id="rId2" imgW="952200" imgH="444240" progId="Equation.3">
                  <p:embed/>
                  <p:pic>
                    <p:nvPicPr>
                      <p:cNvPr id="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037" y="3346725"/>
                        <a:ext cx="2286000" cy="1072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3333467289"/>
              </p:ext>
            </p:extLst>
          </p:nvPr>
        </p:nvGraphicFramePr>
        <p:xfrm>
          <a:off x="4181474" y="3519143"/>
          <a:ext cx="1736725" cy="552450"/>
        </p:xfrm>
        <a:graphic>
          <a:graphicData uri="http://schemas.openxmlformats.org/presentationml/2006/ole">
            <mc:AlternateContent xmlns:mc="http://schemas.openxmlformats.org/markup-compatibility/2006">
              <mc:Choice xmlns:v="urn:schemas-microsoft-com:vml" Requires="v">
                <p:oleObj name="Equation" r:id="rId4" imgW="723600" imgH="228600" progId="Equation.3">
                  <p:embed/>
                </p:oleObj>
              </mc:Choice>
              <mc:Fallback>
                <p:oleObj name="Equation" r:id="rId4" imgW="723600" imgH="228600" progId="Equation.3">
                  <p:embed/>
                  <p:pic>
                    <p:nvPicPr>
                      <p:cNvPr id="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1474" y="3519143"/>
                        <a:ext cx="1736725"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17916990"/>
              </p:ext>
            </p:extLst>
          </p:nvPr>
        </p:nvGraphicFramePr>
        <p:xfrm>
          <a:off x="1062037" y="4398721"/>
          <a:ext cx="3443287" cy="552450"/>
        </p:xfrm>
        <a:graphic>
          <a:graphicData uri="http://schemas.openxmlformats.org/presentationml/2006/ole">
            <mc:AlternateContent xmlns:mc="http://schemas.openxmlformats.org/markup-compatibility/2006">
              <mc:Choice xmlns:v="urn:schemas-microsoft-com:vml" Requires="v">
                <p:oleObj name="Equation" r:id="rId6" imgW="1434960" imgH="228600" progId="Equation.3">
                  <p:embed/>
                </p:oleObj>
              </mc:Choice>
              <mc:Fallback>
                <p:oleObj name="Equation" r:id="rId6" imgW="1434960" imgH="228600" progId="Equation.3">
                  <p:embed/>
                  <p:pic>
                    <p:nvPicPr>
                      <p:cNvPr id="8"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2037" y="4398721"/>
                        <a:ext cx="3443287"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3F22444B-AD59-459C-8316-D24326876BE4}" type="slidenum">
              <a:rPr lang="en-US" smtClean="0"/>
              <a:pPr/>
              <a:t>11</a:t>
            </a:fld>
            <a:endParaRPr lang="en-US"/>
          </a:p>
        </p:txBody>
      </p:sp>
      <p:sp>
        <p:nvSpPr>
          <p:cNvPr id="10" name="Footer Placeholder 9"/>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80552150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a:p>
            <a:pPr algn="just"/>
            <a:r>
              <a:rPr lang="en-US" sz="2400" dirty="0">
                <a:latin typeface="Book Antiqua" panose="02040602050305030304" pitchFamily="18" charset="0"/>
              </a:rPr>
              <a:t>The use of bias b</a:t>
            </a:r>
            <a:r>
              <a:rPr lang="en-US" sz="2400" baseline="-25000" dirty="0">
                <a:latin typeface="Book Antiqua" panose="02040602050305030304" pitchFamily="18" charset="0"/>
              </a:rPr>
              <a:t>k</a:t>
            </a:r>
            <a:r>
              <a:rPr lang="en-US" sz="2400" dirty="0">
                <a:latin typeface="Book Antiqua" panose="02040602050305030304" pitchFamily="18" charset="0"/>
              </a:rPr>
              <a:t> has the effect of applying an affine transformation to the output </a:t>
            </a:r>
            <a:r>
              <a:rPr lang="en-US" sz="2400" dirty="0" err="1">
                <a:latin typeface="Book Antiqua" panose="02040602050305030304" pitchFamily="18" charset="0"/>
              </a:rPr>
              <a:t>u</a:t>
            </a:r>
            <a:r>
              <a:rPr lang="en-US" sz="2400" baseline="-25000" dirty="0" err="1">
                <a:latin typeface="Book Antiqua" panose="02040602050305030304" pitchFamily="18" charset="0"/>
              </a:rPr>
              <a:t>k</a:t>
            </a:r>
            <a:r>
              <a:rPr lang="en-US" sz="2400" dirty="0">
                <a:latin typeface="Book Antiqua" panose="02040602050305030304" pitchFamily="18" charset="0"/>
              </a:rPr>
              <a:t> of the linear combiner in the neural model.</a:t>
            </a:r>
          </a:p>
          <a:p>
            <a:pPr algn="just"/>
            <a:r>
              <a:rPr lang="en-US" sz="2400" dirty="0">
                <a:latin typeface="Book Antiqua" panose="02040602050305030304" pitchFamily="18" charset="0"/>
              </a:rPr>
              <a:t>Depending on whether the bias b</a:t>
            </a:r>
            <a:r>
              <a:rPr lang="en-US" sz="2400" baseline="-25000" dirty="0">
                <a:latin typeface="Book Antiqua" panose="02040602050305030304" pitchFamily="18" charset="0"/>
              </a:rPr>
              <a:t>k</a:t>
            </a:r>
            <a:r>
              <a:rPr lang="en-US" sz="2400" i="1" dirty="0">
                <a:latin typeface="Book Antiqua" panose="02040602050305030304" pitchFamily="18" charset="0"/>
              </a:rPr>
              <a:t> </a:t>
            </a:r>
            <a:r>
              <a:rPr lang="en-US" sz="2400" dirty="0">
                <a:latin typeface="Book Antiqua" panose="02040602050305030304" pitchFamily="18" charset="0"/>
              </a:rPr>
              <a:t>is positive or negative, the relationship between the </a:t>
            </a:r>
            <a:r>
              <a:rPr lang="en-US" sz="2400" i="1" dirty="0">
                <a:latin typeface="Book Antiqua" panose="02040602050305030304" pitchFamily="18" charset="0"/>
              </a:rPr>
              <a:t>activation potential</a:t>
            </a:r>
            <a:r>
              <a:rPr lang="en-US" sz="2400" dirty="0">
                <a:latin typeface="Book Antiqua" panose="02040602050305030304" pitchFamily="18" charset="0"/>
              </a:rPr>
              <a:t> (</a:t>
            </a:r>
            <a:r>
              <a:rPr lang="en-US" sz="2400" dirty="0" err="1">
                <a:latin typeface="Book Antiqua" panose="02040602050305030304" pitchFamily="18" charset="0"/>
              </a:rPr>
              <a:t>v</a:t>
            </a:r>
            <a:r>
              <a:rPr lang="en-US" sz="2400" baseline="-25000" dirty="0" err="1">
                <a:latin typeface="Book Antiqua" panose="02040602050305030304" pitchFamily="18" charset="0"/>
              </a:rPr>
              <a:t>k</a:t>
            </a:r>
            <a:r>
              <a:rPr lang="en-US" sz="2400" dirty="0">
                <a:latin typeface="Book Antiqua" panose="02040602050305030304" pitchFamily="18" charset="0"/>
              </a:rPr>
              <a:t>)</a:t>
            </a:r>
            <a:r>
              <a:rPr lang="en-US" sz="2400" i="1" dirty="0">
                <a:latin typeface="Book Antiqua" panose="02040602050305030304" pitchFamily="18" charset="0"/>
              </a:rPr>
              <a:t> </a:t>
            </a:r>
            <a:r>
              <a:rPr lang="en-US" sz="2400" dirty="0">
                <a:latin typeface="Book Antiqua" panose="02040602050305030304" pitchFamily="18" charset="0"/>
              </a:rPr>
              <a:t>and the linear combiner output (</a:t>
            </a:r>
            <a:r>
              <a:rPr lang="en-US" sz="2400" dirty="0" err="1">
                <a:latin typeface="Book Antiqua" panose="02040602050305030304" pitchFamily="18" charset="0"/>
              </a:rPr>
              <a:t>u</a:t>
            </a:r>
            <a:r>
              <a:rPr lang="en-US" sz="2400" baseline="-25000" dirty="0" err="1">
                <a:latin typeface="Book Antiqua" panose="02040602050305030304" pitchFamily="18" charset="0"/>
              </a:rPr>
              <a:t>k</a:t>
            </a:r>
            <a:r>
              <a:rPr lang="en-US" sz="2400" dirty="0">
                <a:latin typeface="Book Antiqua" panose="02040602050305030304" pitchFamily="18" charset="0"/>
              </a:rPr>
              <a:t>) is modified as below.</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12</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02745171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1676400" y="2320940"/>
            <a:ext cx="3657600" cy="3805223"/>
          </a:xfrm>
          <a:prstGeom prst="rect">
            <a:avLst/>
          </a:prstGeom>
        </p:spPr>
      </p:pic>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p:cNvSpPr txBox="1"/>
          <p:nvPr/>
        </p:nvSpPr>
        <p:spPr>
          <a:xfrm>
            <a:off x="1009248" y="2857500"/>
            <a:ext cx="2020105" cy="307777"/>
          </a:xfrm>
          <a:prstGeom prst="rect">
            <a:avLst/>
          </a:prstGeom>
          <a:noFill/>
        </p:spPr>
        <p:txBody>
          <a:bodyPr wrap="none" rtlCol="0">
            <a:spAutoFit/>
          </a:bodyPr>
          <a:lstStyle/>
          <a:p>
            <a:r>
              <a:rPr lang="en-US" sz="1400" dirty="0">
                <a:latin typeface="Book Antiqua" panose="02040602050305030304" pitchFamily="18" charset="0"/>
              </a:rPr>
              <a:t>Activation Potential </a:t>
            </a:r>
            <a:r>
              <a:rPr lang="en-US" sz="1400" dirty="0" err="1">
                <a:latin typeface="Book Antiqua" panose="02040602050305030304" pitchFamily="18" charset="0"/>
              </a:rPr>
              <a:t>V</a:t>
            </a:r>
            <a:r>
              <a:rPr lang="en-US" sz="1400" baseline="-25000" dirty="0" err="1">
                <a:latin typeface="Book Antiqua" panose="02040602050305030304" pitchFamily="18" charset="0"/>
              </a:rPr>
              <a:t>k</a:t>
            </a:r>
            <a:endParaRPr lang="en-US" sz="1400" baseline="-25000" dirty="0">
              <a:latin typeface="Book Antiqua" panose="02040602050305030304" pitchFamily="18" charset="0"/>
            </a:endParaRPr>
          </a:p>
        </p:txBody>
      </p:sp>
      <p:sp>
        <p:nvSpPr>
          <p:cNvPr id="8" name="Slide Number Placeholder 7"/>
          <p:cNvSpPr>
            <a:spLocks noGrp="1"/>
          </p:cNvSpPr>
          <p:nvPr>
            <p:ph type="sldNum" sz="quarter" idx="12"/>
          </p:nvPr>
        </p:nvSpPr>
        <p:spPr/>
        <p:txBody>
          <a:bodyPr/>
          <a:lstStyle/>
          <a:p>
            <a:fld id="{3F22444B-AD59-459C-8316-D24326876BE4}" type="slidenum">
              <a:rPr lang="en-US" smtClean="0"/>
              <a:pPr/>
              <a:t>13</a:t>
            </a:fld>
            <a:endParaRPr lang="en-US"/>
          </a:p>
        </p:txBody>
      </p:sp>
      <p:sp>
        <p:nvSpPr>
          <p:cNvPr id="9" name="Footer Placeholder 8"/>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9449427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Example: </a:t>
            </a:r>
            <a:r>
              <a:rPr lang="en-US" sz="2000" i="1" dirty="0">
                <a:latin typeface="Book Antiqua" pitchFamily="18" charset="0"/>
              </a:rPr>
              <a:t>Consider following neuron and compute its output by assume activation function F(x)=1 if x&gt;5 and F(x)=0, otherwise</a:t>
            </a:r>
          </a:p>
          <a:p>
            <a:pPr marL="0" indent="0" algn="just">
              <a:buNone/>
            </a:pPr>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 name="Group 13"/>
          <p:cNvGrpSpPr/>
          <p:nvPr/>
        </p:nvGrpSpPr>
        <p:grpSpPr>
          <a:xfrm>
            <a:off x="4041894" y="2467768"/>
            <a:ext cx="4695825" cy="2790825"/>
            <a:chOff x="0" y="0"/>
            <a:chExt cx="4819650" cy="2381250"/>
          </a:xfrm>
        </p:grpSpPr>
        <p:sp>
          <p:nvSpPr>
            <p:cNvPr id="15" name="Text Box 18"/>
            <p:cNvSpPr txBox="1"/>
            <p:nvPr/>
          </p:nvSpPr>
          <p:spPr>
            <a:xfrm>
              <a:off x="876300" y="17335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3</a:t>
              </a:r>
              <a:r>
                <a:rPr lang="en-US" sz="1000">
                  <a:effectLst/>
                  <a:latin typeface="Book Antiqua" panose="02040602050305030304" pitchFamily="18" charset="0"/>
                  <a:ea typeface="Calibri" panose="020F0502020204030204" pitchFamily="34" charset="0"/>
                  <a:cs typeface="Arial" panose="020B0604020202020204" pitchFamily="34" charset="0"/>
                </a:rPr>
                <a:t>=0.5</a:t>
              </a:r>
              <a:endParaRPr lang="en-US" sz="1100">
                <a:effectLst/>
                <a:ea typeface="Calibri" panose="020F0502020204030204" pitchFamily="34" charset="0"/>
                <a:cs typeface="Times New Roman" panose="02020603050405020304" pitchFamily="18" charset="0"/>
              </a:endParaRPr>
            </a:p>
          </p:txBody>
        </p:sp>
        <p:sp>
          <p:nvSpPr>
            <p:cNvPr id="16" name="Text Box 17"/>
            <p:cNvSpPr txBox="1"/>
            <p:nvPr/>
          </p:nvSpPr>
          <p:spPr>
            <a:xfrm>
              <a:off x="876300" y="1285875"/>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2</a:t>
              </a:r>
              <a:r>
                <a:rPr lang="en-US" sz="1000">
                  <a:effectLst/>
                  <a:latin typeface="Book Antiqua" panose="02040602050305030304" pitchFamily="18" charset="0"/>
                  <a:ea typeface="Calibri" panose="020F0502020204030204" pitchFamily="34" charset="0"/>
                  <a:cs typeface="Arial" panose="020B0604020202020204" pitchFamily="34" charset="0"/>
                </a:rPr>
                <a:t>=2</a:t>
              </a:r>
              <a:endParaRPr lang="en-US" sz="1100">
                <a:effectLst/>
                <a:ea typeface="Calibri" panose="020F0502020204030204" pitchFamily="34" charset="0"/>
                <a:cs typeface="Times New Roman" panose="02020603050405020304" pitchFamily="18" charset="0"/>
              </a:endParaRPr>
            </a:p>
          </p:txBody>
        </p:sp>
        <p:sp>
          <p:nvSpPr>
            <p:cNvPr id="17" name="Text Box 16"/>
            <p:cNvSpPr txBox="1"/>
            <p:nvPr/>
          </p:nvSpPr>
          <p:spPr>
            <a:xfrm>
              <a:off x="952500" y="8572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1</a:t>
              </a:r>
              <a:r>
                <a:rPr lang="en-US" sz="1000">
                  <a:effectLst/>
                  <a:latin typeface="Book Antiqua" panose="02040602050305030304" pitchFamily="18" charset="0"/>
                  <a:ea typeface="Calibri" panose="020F0502020204030204" pitchFamily="34" charset="0"/>
                  <a:cs typeface="Arial" panose="020B0604020202020204" pitchFamily="34" charset="0"/>
                </a:rPr>
                <a:t>=1.5</a:t>
              </a:r>
              <a:endParaRPr lang="en-US" sz="1100">
                <a:effectLst/>
                <a:ea typeface="Calibri" panose="020F0502020204030204" pitchFamily="34" charset="0"/>
                <a:cs typeface="Times New Roman" panose="02020603050405020304" pitchFamily="18" charset="0"/>
              </a:endParaRPr>
            </a:p>
          </p:txBody>
        </p:sp>
        <p:grpSp>
          <p:nvGrpSpPr>
            <p:cNvPr id="18" name="Group 17"/>
            <p:cNvGrpSpPr/>
            <p:nvPr/>
          </p:nvGrpSpPr>
          <p:grpSpPr>
            <a:xfrm>
              <a:off x="523875" y="352425"/>
              <a:ext cx="3695700" cy="1838325"/>
              <a:chOff x="0" y="0"/>
              <a:chExt cx="3695700" cy="1838325"/>
            </a:xfrm>
          </p:grpSpPr>
          <p:sp>
            <p:nvSpPr>
              <p:cNvPr id="24" name="Oval 23"/>
              <p:cNvSpPr/>
              <p:nvPr/>
            </p:nvSpPr>
            <p:spPr>
              <a:xfrm>
                <a:off x="1371600" y="619125"/>
                <a:ext cx="1143000" cy="1076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p:cNvCxnSpPr/>
              <p:nvPr/>
            </p:nvCxnSpPr>
            <p:spPr>
              <a:xfrm>
                <a:off x="0" y="619125"/>
                <a:ext cx="1504950" cy="219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0" y="1190625"/>
                <a:ext cx="1389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33350" y="1485900"/>
                <a:ext cx="1371600" cy="35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952625" y="0"/>
                <a:ext cx="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14600" y="1190625"/>
                <a:ext cx="1181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Box 9"/>
            <p:cNvSpPr txBox="1"/>
            <p:nvPr/>
          </p:nvSpPr>
          <p:spPr>
            <a:xfrm>
              <a:off x="114300" y="78105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1</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1"/>
            <p:cNvSpPr txBox="1"/>
            <p:nvPr/>
          </p:nvSpPr>
          <p:spPr>
            <a:xfrm>
              <a:off x="0" y="140970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2</a:t>
              </a:r>
              <a:r>
                <a:rPr lang="en-US" sz="1000">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21" name="Text Box 12"/>
            <p:cNvSpPr txBox="1"/>
            <p:nvPr/>
          </p:nvSpPr>
          <p:spPr>
            <a:xfrm>
              <a:off x="133350" y="20478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3</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2" name="Text Box 14"/>
            <p:cNvSpPr txBox="1"/>
            <p:nvPr/>
          </p:nvSpPr>
          <p:spPr>
            <a:xfrm>
              <a:off x="2238375" y="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b=1</a:t>
              </a:r>
              <a:endParaRPr lang="en-US" sz="1100">
                <a:effectLst/>
                <a:ea typeface="Calibri" panose="020F0502020204030204" pitchFamily="34" charset="0"/>
                <a:cs typeface="Times New Roman" panose="02020603050405020304" pitchFamily="18" charset="0"/>
              </a:endParaRPr>
            </a:p>
          </p:txBody>
        </p:sp>
        <p:sp>
          <p:nvSpPr>
            <p:cNvPr id="23" name="Text Box 15"/>
            <p:cNvSpPr txBox="1"/>
            <p:nvPr/>
          </p:nvSpPr>
          <p:spPr>
            <a:xfrm>
              <a:off x="4295775" y="14001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y</a:t>
              </a:r>
              <a:endParaRPr lang="en-US" sz="1100">
                <a:effectLst/>
                <a:ea typeface="Calibri" panose="020F0502020204030204" pitchFamily="34" charset="0"/>
                <a:cs typeface="Times New Roman" panose="02020603050405020304" pitchFamily="18" charset="0"/>
              </a:endParaRPr>
            </a:p>
          </p:txBody>
        </p:sp>
      </p:grpSp>
      <p:sp>
        <p:nvSpPr>
          <p:cNvPr id="30" name="TextBox 29"/>
          <p:cNvSpPr txBox="1"/>
          <p:nvPr/>
        </p:nvSpPr>
        <p:spPr>
          <a:xfrm>
            <a:off x="228600" y="2971800"/>
            <a:ext cx="3729772" cy="3139321"/>
          </a:xfrm>
          <a:prstGeom prst="rect">
            <a:avLst/>
          </a:prstGeom>
          <a:noFill/>
        </p:spPr>
        <p:txBody>
          <a:bodyPr wrap="square" rtlCol="0">
            <a:spAutoFit/>
          </a:bodyPr>
          <a:lstStyle/>
          <a:p>
            <a:pPr>
              <a:lnSpc>
                <a:spcPct val="150000"/>
              </a:lnSpc>
            </a:pPr>
            <a:r>
              <a:rPr lang="en-US" sz="2400" dirty="0">
                <a:latin typeface="Book Antiqua" panose="02040602050305030304" pitchFamily="18" charset="0"/>
              </a:rPr>
              <a:t>u=x</a:t>
            </a:r>
            <a:r>
              <a:rPr lang="en-US" sz="2400" baseline="-25000" dirty="0">
                <a:latin typeface="Book Antiqua" panose="02040602050305030304" pitchFamily="18" charset="0"/>
              </a:rPr>
              <a:t>1</a:t>
            </a:r>
            <a:r>
              <a:rPr lang="en-US" sz="2400" dirty="0">
                <a:latin typeface="Book Antiqua" panose="02040602050305030304" pitchFamily="18" charset="0"/>
              </a:rPr>
              <a:t>*w</a:t>
            </a:r>
            <a:r>
              <a:rPr lang="en-US" sz="2400" baseline="-25000" dirty="0">
                <a:latin typeface="Book Antiqua" panose="02040602050305030304" pitchFamily="18" charset="0"/>
              </a:rPr>
              <a:t>1</a:t>
            </a:r>
            <a:r>
              <a:rPr lang="en-US" sz="2400" dirty="0">
                <a:latin typeface="Book Antiqua" panose="02040602050305030304" pitchFamily="18" charset="0"/>
              </a:rPr>
              <a:t>+x</a:t>
            </a:r>
            <a:r>
              <a:rPr lang="en-US" sz="2400" baseline="-25000" dirty="0">
                <a:latin typeface="Book Antiqua" panose="02040602050305030304" pitchFamily="18" charset="0"/>
              </a:rPr>
              <a:t>2</a:t>
            </a:r>
            <a:r>
              <a:rPr lang="en-US" sz="2400" dirty="0">
                <a:latin typeface="Book Antiqua" panose="02040602050305030304" pitchFamily="18" charset="0"/>
              </a:rPr>
              <a:t>*w</a:t>
            </a:r>
            <a:r>
              <a:rPr lang="en-US" sz="2400" baseline="-25000" dirty="0">
                <a:latin typeface="Book Antiqua" panose="02040602050305030304" pitchFamily="18" charset="0"/>
              </a:rPr>
              <a:t>2</a:t>
            </a:r>
            <a:r>
              <a:rPr lang="en-US" sz="2400" dirty="0">
                <a:latin typeface="Book Antiqua" panose="02040602050305030304" pitchFamily="18" charset="0"/>
              </a:rPr>
              <a:t>+x</a:t>
            </a:r>
            <a:r>
              <a:rPr lang="en-US" sz="2400" baseline="-25000" dirty="0">
                <a:latin typeface="Book Antiqua" panose="02040602050305030304" pitchFamily="18" charset="0"/>
              </a:rPr>
              <a:t>3</a:t>
            </a:r>
            <a:r>
              <a:rPr lang="en-US" sz="2400" dirty="0">
                <a:latin typeface="Book Antiqua" panose="02040602050305030304" pitchFamily="18" charset="0"/>
              </a:rPr>
              <a:t>*w</a:t>
            </a:r>
            <a:r>
              <a:rPr lang="en-US" sz="2400" baseline="-25000" dirty="0">
                <a:latin typeface="Book Antiqua" panose="02040602050305030304" pitchFamily="18" charset="0"/>
              </a:rPr>
              <a:t>3</a:t>
            </a:r>
            <a:endParaRPr lang="en-US" sz="2400" dirty="0">
              <a:latin typeface="Book Antiqua" panose="02040602050305030304" pitchFamily="18" charset="0"/>
            </a:endParaRPr>
          </a:p>
          <a:p>
            <a:pPr>
              <a:lnSpc>
                <a:spcPct val="150000"/>
              </a:lnSpc>
            </a:pPr>
            <a:r>
              <a:rPr lang="en-US" sz="2400" dirty="0">
                <a:latin typeface="Book Antiqua" panose="02040602050305030304" pitchFamily="18" charset="0"/>
              </a:rPr>
              <a:t>   =2*1.5+1*2+2*0.5=6</a:t>
            </a:r>
          </a:p>
          <a:p>
            <a:pPr>
              <a:lnSpc>
                <a:spcPct val="150000"/>
              </a:lnSpc>
            </a:pPr>
            <a:r>
              <a:rPr lang="en-US" sz="2400" dirty="0">
                <a:latin typeface="Book Antiqua" panose="02040602050305030304" pitchFamily="18" charset="0"/>
              </a:rPr>
              <a:t>v=</a:t>
            </a:r>
            <a:r>
              <a:rPr lang="en-US" sz="2400" dirty="0" err="1">
                <a:latin typeface="Book Antiqua" panose="02040602050305030304" pitchFamily="18" charset="0"/>
              </a:rPr>
              <a:t>u+b</a:t>
            </a:r>
            <a:r>
              <a:rPr lang="en-US" sz="2400" dirty="0">
                <a:latin typeface="Book Antiqua" panose="02040602050305030304" pitchFamily="18" charset="0"/>
              </a:rPr>
              <a:t>=6+1=7</a:t>
            </a:r>
          </a:p>
          <a:p>
            <a:pPr>
              <a:lnSpc>
                <a:spcPct val="150000"/>
              </a:lnSpc>
            </a:pPr>
            <a:r>
              <a:rPr lang="en-US" sz="2400" dirty="0">
                <a:latin typeface="Book Antiqua" panose="02040602050305030304" pitchFamily="18" charset="0"/>
              </a:rPr>
              <a:t>Now,</a:t>
            </a:r>
          </a:p>
          <a:p>
            <a:pPr>
              <a:lnSpc>
                <a:spcPct val="150000"/>
              </a:lnSpc>
            </a:pPr>
            <a:r>
              <a:rPr lang="en-US" sz="2400" dirty="0">
                <a:latin typeface="Book Antiqua" panose="02040602050305030304" pitchFamily="18" charset="0"/>
              </a:rPr>
              <a:t>y=f(v)=1</a:t>
            </a:r>
          </a:p>
          <a:p>
            <a:endParaRPr lang="en-US" dirty="0">
              <a:latin typeface="Book Antiqua" panose="02040602050305030304" pitchFamily="18" charset="0"/>
            </a:endParaRPr>
          </a:p>
        </p:txBody>
      </p:sp>
      <p:sp>
        <p:nvSpPr>
          <p:cNvPr id="31" name="Slide Number Placeholder 30"/>
          <p:cNvSpPr>
            <a:spLocks noGrp="1"/>
          </p:cNvSpPr>
          <p:nvPr>
            <p:ph type="sldNum" sz="quarter" idx="12"/>
          </p:nvPr>
        </p:nvSpPr>
        <p:spPr/>
        <p:txBody>
          <a:bodyPr/>
          <a:lstStyle/>
          <a:p>
            <a:fld id="{3F22444B-AD59-459C-8316-D24326876BE4}" type="slidenum">
              <a:rPr lang="en-US" smtClean="0"/>
              <a:pPr/>
              <a:t>14</a:t>
            </a:fld>
            <a:endParaRPr lang="en-US"/>
          </a:p>
        </p:txBody>
      </p:sp>
      <p:sp>
        <p:nvSpPr>
          <p:cNvPr id="32" name="Footer Placeholder 31"/>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43964101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a:p>
            <a:pPr algn="just"/>
            <a:r>
              <a:rPr lang="en-US" sz="2400" dirty="0">
                <a:latin typeface="Book Antiqua" panose="02040602050305030304" pitchFamily="18" charset="0"/>
              </a:rPr>
              <a:t>We can reformulate the model of neuron by doing two things: </a:t>
            </a:r>
          </a:p>
          <a:p>
            <a:pPr marL="857250" lvl="1" indent="-457200" algn="just">
              <a:buFont typeface="+mj-lt"/>
              <a:buAutoNum type="arabicPeriod"/>
            </a:pPr>
            <a:r>
              <a:rPr lang="en-US" sz="2200" dirty="0">
                <a:latin typeface="Book Antiqua" panose="02040602050305030304" pitchFamily="18" charset="0"/>
              </a:rPr>
              <a:t>Adding a new input signal fixed at 1, and  </a:t>
            </a:r>
          </a:p>
          <a:p>
            <a:pPr marL="857250" lvl="1" indent="-457200" algn="just">
              <a:buFont typeface="+mj-lt"/>
              <a:buAutoNum type="arabicPeriod"/>
            </a:pPr>
            <a:r>
              <a:rPr lang="en-US" sz="2200" dirty="0">
                <a:latin typeface="Book Antiqua" panose="02040602050305030304" pitchFamily="18" charset="0"/>
              </a:rPr>
              <a:t>Adding a new synaptic weight equal to the bias </a:t>
            </a:r>
            <a:r>
              <a:rPr lang="en-US" sz="2200" i="1" dirty="0">
                <a:latin typeface="Book Antiqua" panose="02040602050305030304" pitchFamily="18" charset="0"/>
              </a:rPr>
              <a:t>bk. </a:t>
            </a:r>
          </a:p>
          <a:p>
            <a:pPr algn="just"/>
            <a:r>
              <a:rPr lang="en-US" sz="2400" dirty="0">
                <a:latin typeface="Book Antiqua" panose="02040602050305030304" pitchFamily="18" charset="0"/>
              </a:rPr>
              <a:t>Although the two models are different in appearance, they are mathematically equivalent.</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7635068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914400" y="2286000"/>
            <a:ext cx="7010400" cy="4132057"/>
          </a:xfrm>
          <a:prstGeom prst="rect">
            <a:avLst/>
          </a:prstGeom>
        </p:spPr>
      </p:pic>
      <p:sp>
        <p:nvSpPr>
          <p:cNvPr id="6" name="Slide Number Placeholder 5"/>
          <p:cNvSpPr>
            <a:spLocks noGrp="1"/>
          </p:cNvSpPr>
          <p:nvPr>
            <p:ph type="sldNum" sz="quarter" idx="12"/>
          </p:nvPr>
        </p:nvSpPr>
        <p:spPr/>
        <p:txBody>
          <a:bodyPr/>
          <a:lstStyle/>
          <a:p>
            <a:fld id="{3F22444B-AD59-459C-8316-D24326876BE4}" type="slidenum">
              <a:rPr lang="en-US" smtClean="0"/>
              <a:pPr/>
              <a:t>16</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643768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 Contd…</a:t>
            </a:r>
          </a:p>
        </p:txBody>
      </p:sp>
      <p:sp>
        <p:nvSpPr>
          <p:cNvPr id="5" name="Content Placeholder 4"/>
          <p:cNvSpPr>
            <a:spLocks noGrp="1"/>
          </p:cNvSpPr>
          <p:nvPr>
            <p:ph idx="1"/>
          </p:nvPr>
        </p:nvSpPr>
        <p:spPr>
          <a:xfrm>
            <a:off x="228600" y="1600200"/>
            <a:ext cx="8763000" cy="4724400"/>
          </a:xfrm>
        </p:spPr>
        <p:txBody>
          <a:bodyPr>
            <a:normAutofit/>
          </a:bodyPr>
          <a:lstStyle/>
          <a:p>
            <a:pPr marL="0" indent="0" algn="just">
              <a:buNone/>
            </a:pPr>
            <a:r>
              <a:rPr lang="en-US" sz="2400" b="1" u="sng" dirty="0">
                <a:latin typeface="Book Antiqua" pitchFamily="18" charset="0"/>
              </a:rPr>
              <a:t>Stochastic Model of Neuron</a:t>
            </a:r>
          </a:p>
          <a:p>
            <a:pPr algn="just"/>
            <a:r>
              <a:rPr lang="en-US" sz="2400" dirty="0">
                <a:latin typeface="Book Antiqua" panose="02040602050305030304" pitchFamily="18" charset="0"/>
              </a:rPr>
              <a:t>The deterministic neural model defines input–output behavior precisely for all inputs. However, stochastic model of neuron makes input-output behavior non-deterministic. </a:t>
            </a:r>
          </a:p>
          <a:p>
            <a:pPr algn="just"/>
            <a:r>
              <a:rPr lang="en-US" sz="2400" dirty="0">
                <a:latin typeface="Book Antiqua" panose="02040602050305030304" pitchFamily="18" charset="0"/>
              </a:rPr>
              <a:t>Stochastic neural model achieves this by </a:t>
            </a:r>
            <a:r>
              <a:rPr lang="en-US" sz="2400" dirty="0">
                <a:solidFill>
                  <a:srgbClr val="92D050"/>
                </a:solidFill>
                <a:latin typeface="Book Antiqua" panose="02040602050305030304" pitchFamily="18" charset="0"/>
              </a:rPr>
              <a:t>giving probabilistic interpretation</a:t>
            </a:r>
            <a:r>
              <a:rPr lang="en-US" sz="2400" dirty="0">
                <a:latin typeface="Book Antiqua" panose="02040602050305030304" pitchFamily="18" charset="0"/>
              </a:rPr>
              <a:t> to the activation function used in deterministic neural model.</a:t>
            </a:r>
          </a:p>
          <a:p>
            <a:pPr algn="just"/>
            <a:r>
              <a:rPr lang="en-US" sz="2400" dirty="0">
                <a:latin typeface="Book Antiqua" panose="02040602050305030304" pitchFamily="18" charset="0"/>
              </a:rPr>
              <a:t>Specifically, a neuron is permitted to reside in only one of two states:+1 (ON) or -1 (OFF). The decision for a neuron to </a:t>
            </a:r>
            <a:r>
              <a:rPr lang="en-US" sz="2400" i="1" dirty="0">
                <a:latin typeface="Book Antiqua" panose="02040602050305030304" pitchFamily="18" charset="0"/>
              </a:rPr>
              <a:t>fire </a:t>
            </a:r>
            <a:r>
              <a:rPr lang="en-US" sz="2400" dirty="0">
                <a:latin typeface="Book Antiqua" panose="02040602050305030304" pitchFamily="18" charset="0"/>
              </a:rPr>
              <a:t>is probabilistic. Let </a:t>
            </a:r>
            <a:r>
              <a:rPr lang="en-US" sz="2400" i="1" dirty="0">
                <a:latin typeface="Book Antiqua" panose="02040602050305030304" pitchFamily="18" charset="0"/>
              </a:rPr>
              <a:t>x </a:t>
            </a:r>
            <a:r>
              <a:rPr lang="en-US" sz="2400" dirty="0">
                <a:latin typeface="Book Antiqua" panose="02040602050305030304" pitchFamily="18" charset="0"/>
              </a:rPr>
              <a:t>denote the state of the neuron and </a:t>
            </a:r>
            <a:r>
              <a:rPr lang="en-US" sz="2400" i="1" dirty="0">
                <a:latin typeface="Book Antiqua" panose="02040602050305030304" pitchFamily="18" charset="0"/>
              </a:rPr>
              <a:t>P</a:t>
            </a:r>
            <a:r>
              <a:rPr lang="en-US" sz="2400" dirty="0">
                <a:latin typeface="Book Antiqua" panose="02040602050305030304" pitchFamily="18" charset="0"/>
              </a:rPr>
              <a:t>(v) denote the </a:t>
            </a:r>
            <a:r>
              <a:rPr lang="en-US" sz="2400" i="1" dirty="0">
                <a:latin typeface="Book Antiqua" panose="02040602050305030304" pitchFamily="18" charset="0"/>
              </a:rPr>
              <a:t>probability </a:t>
            </a:r>
            <a:r>
              <a:rPr lang="en-US" sz="2400" dirty="0">
                <a:latin typeface="Book Antiqua" panose="02040602050305030304" pitchFamily="18" charset="0"/>
              </a:rPr>
              <a:t>of firing, where v is the activation potential of the neuron.</a:t>
            </a:r>
          </a:p>
          <a:p>
            <a:endParaRPr lang="en-US" sz="2400" b="1" u="sng"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57395794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 Contd…</a:t>
            </a:r>
          </a:p>
        </p:txBody>
      </p:sp>
      <p:sp>
        <p:nvSpPr>
          <p:cNvPr id="5" name="Content Placeholder 4"/>
          <p:cNvSpPr>
            <a:spLocks noGrp="1"/>
          </p:cNvSpPr>
          <p:nvPr>
            <p:ph idx="1"/>
          </p:nvPr>
        </p:nvSpPr>
        <p:spPr>
          <a:xfrm>
            <a:off x="228600" y="1600200"/>
            <a:ext cx="8763000" cy="4724400"/>
          </a:xfrm>
        </p:spPr>
        <p:txBody>
          <a:bodyPr>
            <a:normAutofit lnSpcReduction="10000"/>
          </a:bodyPr>
          <a:lstStyle/>
          <a:p>
            <a:pPr marL="0" indent="0" algn="just">
              <a:buNone/>
            </a:pPr>
            <a:r>
              <a:rPr lang="en-US" sz="2400" b="1" u="sng" dirty="0">
                <a:latin typeface="Book Antiqua" pitchFamily="18" charset="0"/>
              </a:rPr>
              <a:t>Stochastic Model of Neuron</a:t>
            </a: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algn="just"/>
            <a:r>
              <a:rPr lang="en-US" sz="2400" dirty="0">
                <a:latin typeface="Book Antiqua" pitchFamily="18" charset="0"/>
              </a:rPr>
              <a:t>This adds uncertainty to firing of neuron and hence makes the input-output behavior stochastic. Rest of things in stochastic model of neuron is similar to the deterministic model.</a:t>
            </a:r>
          </a:p>
          <a:p>
            <a:pPr marL="0" indent="0" algn="just">
              <a:buNone/>
            </a:pPr>
            <a:r>
              <a:rPr lang="en-US" sz="2400" dirty="0">
                <a:latin typeface="Book Antiqua" pitchFamily="18" charset="0"/>
              </a:rPr>
              <a:t> </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3668286158"/>
              </p:ext>
            </p:extLst>
          </p:nvPr>
        </p:nvGraphicFramePr>
        <p:xfrm>
          <a:off x="1066799" y="2457450"/>
          <a:ext cx="4029075" cy="895350"/>
        </p:xfrm>
        <a:graphic>
          <a:graphicData uri="http://schemas.openxmlformats.org/presentationml/2006/ole">
            <mc:AlternateContent xmlns:mc="http://schemas.openxmlformats.org/markup-compatibility/2006">
              <mc:Choice xmlns:v="urn:schemas-microsoft-com:vml" Requires="v">
                <p:oleObj name="Equation" r:id="rId2" imgW="2057400" imgH="457200" progId="Equation.3">
                  <p:embed/>
                </p:oleObj>
              </mc:Choice>
              <mc:Fallback>
                <p:oleObj name="Equation" r:id="rId2" imgW="2057400" imgH="457200" progId="Equation.3">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799" y="2457450"/>
                        <a:ext cx="4029075"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054606826"/>
              </p:ext>
            </p:extLst>
          </p:nvPr>
        </p:nvGraphicFramePr>
        <p:xfrm>
          <a:off x="900113" y="3384550"/>
          <a:ext cx="7037387" cy="1111250"/>
        </p:xfrm>
        <a:graphic>
          <a:graphicData uri="http://schemas.openxmlformats.org/presentationml/2006/ole">
            <mc:AlternateContent xmlns:mc="http://schemas.openxmlformats.org/markup-compatibility/2006">
              <mc:Choice xmlns:v="urn:schemas-microsoft-com:vml" Requires="v">
                <p:oleObj name="Equation" r:id="rId4" imgW="3593880" imgH="634680" progId="Equation.3">
                  <p:embed/>
                </p:oleObj>
              </mc:Choice>
              <mc:Fallback>
                <p:oleObj name="Equation" r:id="rId4" imgW="3593880" imgH="63468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384550"/>
                        <a:ext cx="7037387" cy="1111250"/>
                      </a:xfrm>
                      <a:prstGeom prst="rect">
                        <a:avLst/>
                      </a:prstGeom>
                      <a:solidFill>
                        <a:srgbClr val="FFC000"/>
                      </a:solidFill>
                    </p:spPr>
                  </p:pic>
                </p:oleObj>
              </mc:Fallback>
            </mc:AlternateContent>
          </a:graphicData>
        </a:graphic>
      </p:graphicFrame>
      <p:sp>
        <p:nvSpPr>
          <p:cNvPr id="7" name="Slide Number Placeholder 6"/>
          <p:cNvSpPr>
            <a:spLocks noGrp="1"/>
          </p:cNvSpPr>
          <p:nvPr>
            <p:ph type="sldNum" sz="quarter" idx="12"/>
          </p:nvPr>
        </p:nvSpPr>
        <p:spPr/>
        <p:txBody>
          <a:bodyPr/>
          <a:lstStyle/>
          <a:p>
            <a:fld id="{3F22444B-AD59-459C-8316-D24326876BE4}" type="slidenum">
              <a:rPr lang="en-US" smtClean="0"/>
              <a:pPr/>
              <a:t>18</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66392507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 Contd..</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Example: </a:t>
            </a:r>
            <a:r>
              <a:rPr lang="en-US" sz="2000" i="1" dirty="0">
                <a:latin typeface="Book Antiqua" pitchFamily="18" charset="0"/>
              </a:rPr>
              <a:t>Consider following stochastic neuron and compute its probability of firing by assuming T=5</a:t>
            </a:r>
          </a:p>
          <a:p>
            <a:pPr marL="0" indent="0" algn="just">
              <a:buNone/>
            </a:pPr>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 name="Group 13"/>
          <p:cNvGrpSpPr/>
          <p:nvPr/>
        </p:nvGrpSpPr>
        <p:grpSpPr>
          <a:xfrm>
            <a:off x="4041894" y="2467768"/>
            <a:ext cx="4695825" cy="2790825"/>
            <a:chOff x="0" y="0"/>
            <a:chExt cx="4819650" cy="2381250"/>
          </a:xfrm>
        </p:grpSpPr>
        <p:sp>
          <p:nvSpPr>
            <p:cNvPr id="15" name="Text Box 18"/>
            <p:cNvSpPr txBox="1"/>
            <p:nvPr/>
          </p:nvSpPr>
          <p:spPr>
            <a:xfrm>
              <a:off x="876300" y="17335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3</a:t>
              </a:r>
              <a:r>
                <a:rPr lang="en-US" sz="1000">
                  <a:effectLst/>
                  <a:latin typeface="Book Antiqua" panose="02040602050305030304" pitchFamily="18" charset="0"/>
                  <a:ea typeface="Calibri" panose="020F0502020204030204" pitchFamily="34" charset="0"/>
                  <a:cs typeface="Arial" panose="020B0604020202020204" pitchFamily="34" charset="0"/>
                </a:rPr>
                <a:t>=0.5</a:t>
              </a:r>
              <a:endParaRPr lang="en-US" sz="1100">
                <a:effectLst/>
                <a:ea typeface="Calibri" panose="020F0502020204030204" pitchFamily="34" charset="0"/>
                <a:cs typeface="Times New Roman" panose="02020603050405020304" pitchFamily="18" charset="0"/>
              </a:endParaRPr>
            </a:p>
          </p:txBody>
        </p:sp>
        <p:sp>
          <p:nvSpPr>
            <p:cNvPr id="16" name="Text Box 17"/>
            <p:cNvSpPr txBox="1"/>
            <p:nvPr/>
          </p:nvSpPr>
          <p:spPr>
            <a:xfrm>
              <a:off x="876300" y="1285875"/>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2</a:t>
              </a:r>
              <a:r>
                <a:rPr lang="en-US" sz="1000">
                  <a:effectLst/>
                  <a:latin typeface="Book Antiqua" panose="02040602050305030304" pitchFamily="18" charset="0"/>
                  <a:ea typeface="Calibri" panose="020F0502020204030204" pitchFamily="34" charset="0"/>
                  <a:cs typeface="Arial" panose="020B0604020202020204" pitchFamily="34" charset="0"/>
                </a:rPr>
                <a:t>=2</a:t>
              </a:r>
              <a:endParaRPr lang="en-US" sz="1100">
                <a:effectLst/>
                <a:ea typeface="Calibri" panose="020F0502020204030204" pitchFamily="34" charset="0"/>
                <a:cs typeface="Times New Roman" panose="02020603050405020304" pitchFamily="18" charset="0"/>
              </a:endParaRPr>
            </a:p>
          </p:txBody>
        </p:sp>
        <p:sp>
          <p:nvSpPr>
            <p:cNvPr id="17" name="Text Box 16"/>
            <p:cNvSpPr txBox="1"/>
            <p:nvPr/>
          </p:nvSpPr>
          <p:spPr>
            <a:xfrm>
              <a:off x="952500" y="8572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1</a:t>
              </a:r>
              <a:r>
                <a:rPr lang="en-US" sz="1000">
                  <a:effectLst/>
                  <a:latin typeface="Book Antiqua" panose="02040602050305030304" pitchFamily="18" charset="0"/>
                  <a:ea typeface="Calibri" panose="020F0502020204030204" pitchFamily="34" charset="0"/>
                  <a:cs typeface="Arial" panose="020B0604020202020204" pitchFamily="34" charset="0"/>
                </a:rPr>
                <a:t>=1.5</a:t>
              </a:r>
              <a:endParaRPr lang="en-US" sz="1100">
                <a:effectLst/>
                <a:ea typeface="Calibri" panose="020F0502020204030204" pitchFamily="34" charset="0"/>
                <a:cs typeface="Times New Roman" panose="02020603050405020304" pitchFamily="18" charset="0"/>
              </a:endParaRPr>
            </a:p>
          </p:txBody>
        </p:sp>
        <p:grpSp>
          <p:nvGrpSpPr>
            <p:cNvPr id="18" name="Group 17"/>
            <p:cNvGrpSpPr/>
            <p:nvPr/>
          </p:nvGrpSpPr>
          <p:grpSpPr>
            <a:xfrm>
              <a:off x="523875" y="352425"/>
              <a:ext cx="3695700" cy="1838325"/>
              <a:chOff x="0" y="0"/>
              <a:chExt cx="3695700" cy="1838325"/>
            </a:xfrm>
          </p:grpSpPr>
          <p:sp>
            <p:nvSpPr>
              <p:cNvPr id="24" name="Oval 23"/>
              <p:cNvSpPr/>
              <p:nvPr/>
            </p:nvSpPr>
            <p:spPr>
              <a:xfrm>
                <a:off x="1371600" y="619125"/>
                <a:ext cx="1143000" cy="1076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p:cNvCxnSpPr/>
              <p:nvPr/>
            </p:nvCxnSpPr>
            <p:spPr>
              <a:xfrm>
                <a:off x="0" y="619125"/>
                <a:ext cx="1504950" cy="219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0" y="1190625"/>
                <a:ext cx="1389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33350" y="1485900"/>
                <a:ext cx="1371600" cy="35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952625" y="0"/>
                <a:ext cx="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14600" y="1190625"/>
                <a:ext cx="1181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Box 9"/>
            <p:cNvSpPr txBox="1"/>
            <p:nvPr/>
          </p:nvSpPr>
          <p:spPr>
            <a:xfrm>
              <a:off x="114300" y="78105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1</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1"/>
            <p:cNvSpPr txBox="1"/>
            <p:nvPr/>
          </p:nvSpPr>
          <p:spPr>
            <a:xfrm>
              <a:off x="0" y="140970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2</a:t>
              </a:r>
              <a:r>
                <a:rPr lang="en-US" sz="1000">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21" name="Text Box 12"/>
            <p:cNvSpPr txBox="1"/>
            <p:nvPr/>
          </p:nvSpPr>
          <p:spPr>
            <a:xfrm>
              <a:off x="133350" y="20478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3</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2" name="Text Box 14"/>
            <p:cNvSpPr txBox="1"/>
            <p:nvPr/>
          </p:nvSpPr>
          <p:spPr>
            <a:xfrm>
              <a:off x="2238375" y="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b=1</a:t>
              </a:r>
              <a:endParaRPr lang="en-US" sz="1100">
                <a:effectLst/>
                <a:ea typeface="Calibri" panose="020F0502020204030204" pitchFamily="34" charset="0"/>
                <a:cs typeface="Times New Roman" panose="02020603050405020304" pitchFamily="18" charset="0"/>
              </a:endParaRPr>
            </a:p>
          </p:txBody>
        </p:sp>
        <p:sp>
          <p:nvSpPr>
            <p:cNvPr id="23" name="Text Box 15"/>
            <p:cNvSpPr txBox="1"/>
            <p:nvPr/>
          </p:nvSpPr>
          <p:spPr>
            <a:xfrm>
              <a:off x="4295775" y="14001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y</a:t>
              </a:r>
              <a:endParaRPr lang="en-US" sz="1100">
                <a:effectLst/>
                <a:ea typeface="Calibri" panose="020F0502020204030204" pitchFamily="34" charset="0"/>
                <a:cs typeface="Times New Roman" panose="02020603050405020304" pitchFamily="18" charset="0"/>
              </a:endParaRPr>
            </a:p>
          </p:txBody>
        </p:sp>
      </p:grpSp>
      <p:sp>
        <p:nvSpPr>
          <p:cNvPr id="30" name="TextBox 29"/>
          <p:cNvSpPr txBox="1"/>
          <p:nvPr/>
        </p:nvSpPr>
        <p:spPr>
          <a:xfrm>
            <a:off x="191557" y="2405353"/>
            <a:ext cx="6810747" cy="4247317"/>
          </a:xfrm>
          <a:prstGeom prst="rect">
            <a:avLst/>
          </a:prstGeom>
          <a:noFill/>
        </p:spPr>
        <p:txBody>
          <a:bodyPr wrap="square" rtlCol="0">
            <a:spAutoFit/>
          </a:bodyPr>
          <a:lstStyle/>
          <a:p>
            <a:pPr>
              <a:lnSpc>
                <a:spcPct val="150000"/>
              </a:lnSpc>
            </a:pPr>
            <a:r>
              <a:rPr lang="en-US" sz="2400" dirty="0">
                <a:latin typeface="Book Antiqua" panose="02040602050305030304" pitchFamily="18" charset="0"/>
              </a:rPr>
              <a:t>u=x</a:t>
            </a:r>
            <a:r>
              <a:rPr lang="en-US" sz="2400" baseline="-25000" dirty="0">
                <a:latin typeface="Book Antiqua" panose="02040602050305030304" pitchFamily="18" charset="0"/>
              </a:rPr>
              <a:t>1</a:t>
            </a:r>
            <a:r>
              <a:rPr lang="en-US" sz="2400" dirty="0">
                <a:latin typeface="Book Antiqua" panose="02040602050305030304" pitchFamily="18" charset="0"/>
              </a:rPr>
              <a:t>*w</a:t>
            </a:r>
            <a:r>
              <a:rPr lang="en-US" sz="2400" baseline="-25000" dirty="0">
                <a:latin typeface="Book Antiqua" panose="02040602050305030304" pitchFamily="18" charset="0"/>
              </a:rPr>
              <a:t>1</a:t>
            </a:r>
            <a:r>
              <a:rPr lang="en-US" sz="2400" dirty="0">
                <a:latin typeface="Book Antiqua" panose="02040602050305030304" pitchFamily="18" charset="0"/>
              </a:rPr>
              <a:t>+x</a:t>
            </a:r>
            <a:r>
              <a:rPr lang="en-US" sz="2400" baseline="-25000" dirty="0">
                <a:latin typeface="Book Antiqua" panose="02040602050305030304" pitchFamily="18" charset="0"/>
              </a:rPr>
              <a:t>2</a:t>
            </a:r>
            <a:r>
              <a:rPr lang="en-US" sz="2400" dirty="0">
                <a:latin typeface="Book Antiqua" panose="02040602050305030304" pitchFamily="18" charset="0"/>
              </a:rPr>
              <a:t>*w</a:t>
            </a:r>
            <a:r>
              <a:rPr lang="en-US" sz="2400" baseline="-25000" dirty="0">
                <a:latin typeface="Book Antiqua" panose="02040602050305030304" pitchFamily="18" charset="0"/>
              </a:rPr>
              <a:t>2</a:t>
            </a:r>
            <a:r>
              <a:rPr lang="en-US" sz="2400" dirty="0">
                <a:latin typeface="Book Antiqua" panose="02040602050305030304" pitchFamily="18" charset="0"/>
              </a:rPr>
              <a:t>+x</a:t>
            </a:r>
            <a:r>
              <a:rPr lang="en-US" sz="2400" baseline="-25000" dirty="0">
                <a:latin typeface="Book Antiqua" panose="02040602050305030304" pitchFamily="18" charset="0"/>
              </a:rPr>
              <a:t>3</a:t>
            </a:r>
            <a:r>
              <a:rPr lang="en-US" sz="2400" dirty="0">
                <a:latin typeface="Book Antiqua" panose="02040602050305030304" pitchFamily="18" charset="0"/>
              </a:rPr>
              <a:t>*w</a:t>
            </a:r>
            <a:r>
              <a:rPr lang="en-US" sz="2400" baseline="-25000" dirty="0">
                <a:latin typeface="Book Antiqua" panose="02040602050305030304" pitchFamily="18" charset="0"/>
              </a:rPr>
              <a:t>3</a:t>
            </a:r>
            <a:endParaRPr lang="en-US" sz="2400" dirty="0">
              <a:latin typeface="Book Antiqua" panose="02040602050305030304" pitchFamily="18" charset="0"/>
            </a:endParaRPr>
          </a:p>
          <a:p>
            <a:pPr>
              <a:lnSpc>
                <a:spcPct val="150000"/>
              </a:lnSpc>
            </a:pPr>
            <a:r>
              <a:rPr lang="en-US" sz="2400" dirty="0">
                <a:latin typeface="Book Antiqua" panose="02040602050305030304" pitchFamily="18" charset="0"/>
              </a:rPr>
              <a:t>   =2*1.5+1*2+2*0.5=6</a:t>
            </a:r>
          </a:p>
          <a:p>
            <a:pPr>
              <a:lnSpc>
                <a:spcPct val="150000"/>
              </a:lnSpc>
            </a:pPr>
            <a:r>
              <a:rPr lang="en-US" sz="2400" dirty="0">
                <a:latin typeface="Book Antiqua" panose="02040602050305030304" pitchFamily="18" charset="0"/>
              </a:rPr>
              <a:t>v=</a:t>
            </a:r>
            <a:r>
              <a:rPr lang="en-US" sz="2400" dirty="0" err="1">
                <a:latin typeface="Book Antiqua" panose="02040602050305030304" pitchFamily="18" charset="0"/>
              </a:rPr>
              <a:t>u+b</a:t>
            </a:r>
            <a:r>
              <a:rPr lang="en-US" sz="2400" dirty="0">
                <a:latin typeface="Book Antiqua" panose="02040602050305030304" pitchFamily="18" charset="0"/>
              </a:rPr>
              <a:t>=6+1=7</a:t>
            </a:r>
          </a:p>
          <a:p>
            <a:pPr>
              <a:lnSpc>
                <a:spcPct val="150000"/>
              </a:lnSpc>
            </a:pPr>
            <a:r>
              <a:rPr lang="en-US" sz="2400" dirty="0">
                <a:latin typeface="Book Antiqua" panose="02040602050305030304" pitchFamily="18" charset="0"/>
              </a:rPr>
              <a:t>Now,</a:t>
            </a:r>
          </a:p>
          <a:p>
            <a:pPr>
              <a:lnSpc>
                <a:spcPct val="150000"/>
              </a:lnSpc>
            </a:pPr>
            <a:r>
              <a:rPr lang="en-US" sz="2400" dirty="0">
                <a:latin typeface="Book Antiqua" panose="02040602050305030304" pitchFamily="18" charset="0"/>
              </a:rPr>
              <a:t>P(v)=1/(1+e</a:t>
            </a:r>
            <a:r>
              <a:rPr lang="en-US" sz="2400" baseline="30000" dirty="0">
                <a:latin typeface="Book Antiqua" panose="02040602050305030304" pitchFamily="18" charset="0"/>
              </a:rPr>
              <a:t>-v/T</a:t>
            </a:r>
            <a:r>
              <a:rPr lang="en-US" sz="2400" dirty="0">
                <a:latin typeface="Book Antiqua" panose="02040602050305030304" pitchFamily="18" charset="0"/>
              </a:rPr>
              <a:t>)</a:t>
            </a:r>
          </a:p>
          <a:p>
            <a:pPr>
              <a:lnSpc>
                <a:spcPct val="150000"/>
              </a:lnSpc>
            </a:pPr>
            <a:r>
              <a:rPr lang="en-US" sz="2400" dirty="0">
                <a:latin typeface="Book Antiqua" panose="02040602050305030304" pitchFamily="18" charset="0"/>
              </a:rPr>
              <a:t>       =1/(1+e</a:t>
            </a:r>
            <a:r>
              <a:rPr lang="en-US" sz="2400" baseline="30000" dirty="0">
                <a:latin typeface="Book Antiqua" panose="02040602050305030304" pitchFamily="18" charset="0"/>
              </a:rPr>
              <a:t>-7/5</a:t>
            </a:r>
            <a:r>
              <a:rPr lang="en-US" sz="2400" dirty="0">
                <a:latin typeface="Book Antiqua" panose="02040602050305030304" pitchFamily="18" charset="0"/>
              </a:rPr>
              <a:t>)=0.802</a:t>
            </a:r>
          </a:p>
          <a:p>
            <a:pPr>
              <a:lnSpc>
                <a:spcPct val="150000"/>
              </a:lnSpc>
            </a:pPr>
            <a:r>
              <a:rPr lang="en-US" sz="2400" dirty="0">
                <a:latin typeface="Book Antiqua" panose="02040602050305030304" pitchFamily="18" charset="0"/>
              </a:rPr>
              <a:t>Thus, the probability of firing the neuron is 0.802</a:t>
            </a:r>
          </a:p>
          <a:p>
            <a:endParaRPr lang="en-US" dirty="0">
              <a:latin typeface="Book Antiqua" panose="02040602050305030304" pitchFamily="18" charset="0"/>
            </a:endParaRPr>
          </a:p>
        </p:txBody>
      </p:sp>
      <p:sp>
        <p:nvSpPr>
          <p:cNvPr id="31" name="Slide Number Placeholder 30"/>
          <p:cNvSpPr>
            <a:spLocks noGrp="1"/>
          </p:cNvSpPr>
          <p:nvPr>
            <p:ph type="sldNum" sz="quarter" idx="12"/>
          </p:nvPr>
        </p:nvSpPr>
        <p:spPr/>
        <p:txBody>
          <a:bodyPr/>
          <a:lstStyle/>
          <a:p>
            <a:fld id="{3F22444B-AD59-459C-8316-D24326876BE4}" type="slidenum">
              <a:rPr lang="en-US" smtClean="0"/>
              <a:pPr/>
              <a:t>19</a:t>
            </a:fld>
            <a:endParaRPr lang="en-US"/>
          </a:p>
        </p:txBody>
      </p:sp>
      <p:sp>
        <p:nvSpPr>
          <p:cNvPr id="32" name="Footer Placeholder 31"/>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71115650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Activation Functions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800" dirty="0">
                <a:latin typeface="Book Antiqua" pitchFamily="18" charset="0"/>
              </a:rPr>
              <a:t>Activation functions are the functions responsible to convert a input signal of a node in a ANN to an output signal. </a:t>
            </a:r>
          </a:p>
          <a:p>
            <a:pPr algn="just"/>
            <a:r>
              <a:rPr lang="en-US" sz="2800" dirty="0">
                <a:latin typeface="Book Antiqua" pitchFamily="18" charset="0"/>
              </a:rPr>
              <a:t>The activation function is the non linear transformation that we do over the input signal. This transformed output is then sent to the next layer of neurons as input.</a:t>
            </a:r>
          </a:p>
          <a:p>
            <a:pPr algn="just"/>
            <a:r>
              <a:rPr lang="en-US" sz="2800" dirty="0">
                <a:latin typeface="Book Antiqua" pitchFamily="18" charset="0"/>
              </a:rPr>
              <a:t>Some widely used activation functions are: </a:t>
            </a:r>
            <a:r>
              <a:rPr lang="en-US" sz="2800" i="1" dirty="0">
                <a:latin typeface="Book Antiqua" pitchFamily="18" charset="0"/>
              </a:rPr>
              <a:t>Threshold, linear, sigmoid, </a:t>
            </a:r>
            <a:r>
              <a:rPr lang="en-US" sz="2800" i="1" dirty="0" err="1">
                <a:latin typeface="Book Antiqua" pitchFamily="18" charset="0"/>
              </a:rPr>
              <a:t>tanh</a:t>
            </a:r>
            <a:r>
              <a:rPr lang="en-US" sz="2800" i="1" dirty="0">
                <a:latin typeface="Book Antiqua" pitchFamily="18" charset="0"/>
              </a:rPr>
              <a:t>, </a:t>
            </a:r>
            <a:r>
              <a:rPr lang="en-US" sz="2800" dirty="0">
                <a:latin typeface="Book Antiqua" pitchFamily="18" charset="0"/>
              </a:rPr>
              <a:t>etc.</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81546547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 </a:t>
            </a:r>
          </a:p>
        </p:txBody>
      </p:sp>
      <p:sp>
        <p:nvSpPr>
          <p:cNvPr id="9" name="Content Placeholder 8"/>
          <p:cNvSpPr>
            <a:spLocks noGrp="1"/>
          </p:cNvSpPr>
          <p:nvPr>
            <p:ph idx="1"/>
          </p:nvPr>
        </p:nvSpPr>
        <p:spPr>
          <a:xfrm>
            <a:off x="457200" y="1219200"/>
            <a:ext cx="8229600" cy="4906963"/>
          </a:xfrm>
        </p:spPr>
        <p:txBody>
          <a:bodyPr>
            <a:noAutofit/>
          </a:bodyPr>
          <a:lstStyle/>
          <a:p>
            <a:pPr marL="284163" indent="-284163" algn="just">
              <a:buNone/>
            </a:pPr>
            <a:r>
              <a:rPr lang="en-US" sz="2400" b="1" u="sng" dirty="0">
                <a:latin typeface="Book Antiqua" pitchFamily="18" charset="0"/>
              </a:rPr>
              <a:t>Threshold Function</a:t>
            </a: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r>
              <a:rPr lang="en-US" sz="2400" dirty="0">
                <a:latin typeface="Book Antiqua" pitchFamily="18" charset="0"/>
              </a:rPr>
              <a:t>It is also referred as Healviside function. The non-linear neural model that use threshold function as activation function is referred as the </a:t>
            </a:r>
            <a:r>
              <a:rPr lang="en-US" sz="2400" b="1" i="1" dirty="0">
                <a:solidFill>
                  <a:srgbClr val="00B050"/>
                </a:solidFill>
                <a:latin typeface="Book Antiqua" panose="02040602050305030304" pitchFamily="18" charset="0"/>
              </a:rPr>
              <a:t>McCulloch–Pitts model.</a:t>
            </a:r>
            <a:endParaRPr lang="en-US" sz="2400" b="1" dirty="0">
              <a:solidFill>
                <a:srgbClr val="00B050"/>
              </a:solidFill>
              <a:latin typeface="Book Antiqua" pitchFamily="18" charset="0"/>
            </a:endParaRPr>
          </a:p>
          <a:p>
            <a:pPr marL="284163" indent="-284163" algn="just">
              <a:buNone/>
            </a:pPr>
            <a:endParaRPr lang="en-US" sz="24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21</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971" name="Object 3"/>
          <p:cNvGraphicFramePr>
            <a:graphicFrameLocks noChangeAspect="1"/>
          </p:cNvGraphicFramePr>
          <p:nvPr/>
        </p:nvGraphicFramePr>
        <p:xfrm>
          <a:off x="722313" y="2438400"/>
          <a:ext cx="1874837" cy="911225"/>
        </p:xfrm>
        <a:graphic>
          <a:graphicData uri="http://schemas.openxmlformats.org/presentationml/2006/ole">
            <mc:AlternateContent xmlns:mc="http://schemas.openxmlformats.org/markup-compatibility/2006">
              <mc:Choice xmlns:v="urn:schemas-microsoft-com:vml" Requires="v">
                <p:oleObj name="Equation" r:id="rId2" imgW="1257120" imgH="457200" progId="Equation.3">
                  <p:embed/>
                </p:oleObj>
              </mc:Choice>
              <mc:Fallback>
                <p:oleObj name="Equation" r:id="rId2" imgW="1257120" imgH="457200" progId="Equation.3">
                  <p:embed/>
                  <p:pic>
                    <p:nvPicPr>
                      <p:cNvPr id="8397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313" y="2438400"/>
                        <a:ext cx="1874837"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4"/>
          <a:stretch>
            <a:fillRect/>
          </a:stretch>
        </p:blipFill>
        <p:spPr>
          <a:xfrm>
            <a:off x="3505200" y="1720850"/>
            <a:ext cx="3812167" cy="1992593"/>
          </a:xfrm>
          <a:prstGeom prst="rect">
            <a:avLst/>
          </a:prstGeom>
        </p:spPr>
      </p:pic>
      <p:sp>
        <p:nvSpPr>
          <p:cNvPr id="4" name="Rectangle 3"/>
          <p:cNvSpPr/>
          <p:nvPr/>
        </p:nvSpPr>
        <p:spPr>
          <a:xfrm>
            <a:off x="5000624" y="2438400"/>
            <a:ext cx="381000" cy="4572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TextBox 25"/>
          <p:cNvSpPr txBox="1"/>
          <p:nvPr/>
        </p:nvSpPr>
        <p:spPr>
          <a:xfrm>
            <a:off x="4830395" y="2347814"/>
            <a:ext cx="609462" cy="369332"/>
          </a:xfrm>
          <a:prstGeom prst="rect">
            <a:avLst/>
          </a:prstGeom>
          <a:noFill/>
        </p:spPr>
        <p:txBody>
          <a:bodyPr wrap="none" rtlCol="0">
            <a:spAutoFit/>
          </a:bodyPr>
          <a:lstStyle/>
          <a:p>
            <a:r>
              <a:rPr lang="el-GR" dirty="0">
                <a:latin typeface="Book Antiqua" panose="02040602050305030304" pitchFamily="18" charset="0"/>
              </a:rPr>
              <a:t>φ</a:t>
            </a:r>
            <a:r>
              <a:rPr lang="en-US" dirty="0">
                <a:latin typeface="Book Antiqua" panose="02040602050305030304" pitchFamily="18" charset="0"/>
              </a:rPr>
              <a:t>(x)</a:t>
            </a:r>
          </a:p>
        </p:txBody>
      </p:sp>
    </p:spTree>
    <p:extLst>
      <p:ext uri="{BB962C8B-B14F-4D97-AF65-F5344CB8AC3E}">
        <p14:creationId xmlns:p14="http://schemas.microsoft.com/office/powerpoint/2010/main" val="3036306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 </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Linear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0" indent="0" algn="just">
              <a:buNone/>
            </a:pPr>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22</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4995" name="Object 3"/>
          <p:cNvGraphicFramePr>
            <a:graphicFrameLocks noChangeAspect="1"/>
          </p:cNvGraphicFramePr>
          <p:nvPr/>
        </p:nvGraphicFramePr>
        <p:xfrm>
          <a:off x="609600" y="2057400"/>
          <a:ext cx="1752600" cy="434975"/>
        </p:xfrm>
        <a:graphic>
          <a:graphicData uri="http://schemas.openxmlformats.org/presentationml/2006/ole">
            <mc:AlternateContent xmlns:mc="http://schemas.openxmlformats.org/markup-compatibility/2006">
              <mc:Choice xmlns:v="urn:schemas-microsoft-com:vml" Requires="v">
                <p:oleObj name="Equation" r:id="rId2" imgW="863225" imgH="203112" progId="Equation.3">
                  <p:embed/>
                </p:oleObj>
              </mc:Choice>
              <mc:Fallback>
                <p:oleObj name="Equation" r:id="rId2" imgW="863225" imgH="203112" progId="Equation.3">
                  <p:embed/>
                  <p:pic>
                    <p:nvPicPr>
                      <p:cNvPr id="8499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57400"/>
                        <a:ext cx="17526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4996" name="Picture 4"/>
          <p:cNvPicPr>
            <a:picLocks noChangeAspect="1" noChangeArrowheads="1"/>
          </p:cNvPicPr>
          <p:nvPr/>
        </p:nvPicPr>
        <p:blipFill>
          <a:blip r:embed="rId4"/>
          <a:srcRect/>
          <a:stretch>
            <a:fillRect/>
          </a:stretch>
        </p:blipFill>
        <p:spPr bwMode="auto">
          <a:xfrm>
            <a:off x="3209925" y="2506662"/>
            <a:ext cx="4191000" cy="3048000"/>
          </a:xfrm>
          <a:prstGeom prst="rect">
            <a:avLst/>
          </a:prstGeom>
          <a:noFill/>
          <a:ln w="9525">
            <a:noFill/>
            <a:miter lim="800000"/>
            <a:headEnd/>
            <a:tailEnd/>
          </a:ln>
          <a:effectLst/>
        </p:spPr>
      </p:pic>
      <p:graphicFrame>
        <p:nvGraphicFramePr>
          <p:cNvPr id="84997" name="Object 5"/>
          <p:cNvGraphicFramePr>
            <a:graphicFrameLocks noChangeAspect="1"/>
          </p:cNvGraphicFramePr>
          <p:nvPr/>
        </p:nvGraphicFramePr>
        <p:xfrm>
          <a:off x="5727700" y="2947988"/>
          <a:ext cx="1289050" cy="434975"/>
        </p:xfrm>
        <a:graphic>
          <a:graphicData uri="http://schemas.openxmlformats.org/presentationml/2006/ole">
            <mc:AlternateContent xmlns:mc="http://schemas.openxmlformats.org/markup-compatibility/2006">
              <mc:Choice xmlns:v="urn:schemas-microsoft-com:vml" Requires="v">
                <p:oleObj name="Equation" r:id="rId5" imgW="634680" imgH="203040" progId="Equation.3">
                  <p:embed/>
                </p:oleObj>
              </mc:Choice>
              <mc:Fallback>
                <p:oleObj name="Equation" r:id="rId5" imgW="634680" imgH="203040" progId="Equation.3">
                  <p:embed/>
                  <p:pic>
                    <p:nvPicPr>
                      <p:cNvPr id="8499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7700" y="2947988"/>
                        <a:ext cx="12890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6611967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 </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Sigmoid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algn="just"/>
            <a:r>
              <a:rPr lang="en-US" sz="2400" dirty="0">
                <a:latin typeface="Book Antiqua" panose="02040602050305030304" pitchFamily="18" charset="0"/>
              </a:rPr>
              <a:t>By varying the parameter </a:t>
            </a:r>
            <a:r>
              <a:rPr lang="en-US" sz="2400" i="1" dirty="0">
                <a:latin typeface="Book Antiqua" panose="02040602050305030304" pitchFamily="18" charset="0"/>
              </a:rPr>
              <a:t>a (slope)</a:t>
            </a:r>
            <a:r>
              <a:rPr lang="en-US" sz="2400" dirty="0">
                <a:latin typeface="Book Antiqua" panose="02040602050305030304" pitchFamily="18" charset="0"/>
              </a:rPr>
              <a:t>, we obtain sigmoid functions of different slopes. The sigmoid function is the class of functions whose graph is </a:t>
            </a:r>
            <a:r>
              <a:rPr lang="en-US" sz="2400" i="1" dirty="0">
                <a:solidFill>
                  <a:srgbClr val="92D050"/>
                </a:solidFill>
                <a:latin typeface="Book Antiqua" panose="02040602050305030304" pitchFamily="18" charset="0"/>
              </a:rPr>
              <a:t>S-shaped curve</a:t>
            </a:r>
            <a:r>
              <a:rPr lang="en-US" sz="2400" dirty="0">
                <a:latin typeface="Book Antiqua" panose="02040602050305030304" pitchFamily="18" charset="0"/>
              </a:rPr>
              <a:t>. It is the most common form of activation function used in the construction of neural networks. An example of the sigmoid function is the </a:t>
            </a:r>
            <a:r>
              <a:rPr lang="en-US" sz="2400" i="1" dirty="0">
                <a:latin typeface="Book Antiqua" panose="02040602050305030304" pitchFamily="18" charset="0"/>
              </a:rPr>
              <a:t>logistic function</a:t>
            </a:r>
            <a:r>
              <a:rPr lang="en-US" sz="2400" dirty="0">
                <a:latin typeface="Book Antiqua" panose="02040602050305030304" pitchFamily="18" charset="0"/>
              </a:rPr>
              <a:t>, </a:t>
            </a:r>
            <a:r>
              <a:rPr lang="en-US" sz="2400" i="1" dirty="0">
                <a:latin typeface="Book Antiqua" panose="02040602050305030304" pitchFamily="18" charset="0"/>
              </a:rPr>
              <a:t>where a=1</a:t>
            </a:r>
            <a:r>
              <a:rPr lang="en-US" sz="2400" dirty="0">
                <a:latin typeface="Book Antiqua" panose="02040602050305030304" pitchFamily="18" charset="0"/>
              </a:rPr>
              <a:t>. It squashes the </a:t>
            </a:r>
            <a:r>
              <a:rPr lang="en-US" sz="2400" i="1" dirty="0">
                <a:solidFill>
                  <a:srgbClr val="92D050"/>
                </a:solidFill>
                <a:latin typeface="Book Antiqua" panose="02040602050305030304" pitchFamily="18" charset="0"/>
              </a:rPr>
              <a:t>output in the range(0,1).</a:t>
            </a:r>
          </a:p>
          <a:p>
            <a:pPr marL="284163" indent="-284163" algn="just"/>
            <a:endParaRPr lang="en-US" sz="2800" dirty="0">
              <a:latin typeface="Book Antiqua" pitchFamily="18" charset="0"/>
            </a:endParaRP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23</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6020" name="Object 4"/>
          <p:cNvGraphicFramePr>
            <a:graphicFrameLocks noChangeAspect="1"/>
          </p:cNvGraphicFramePr>
          <p:nvPr/>
        </p:nvGraphicFramePr>
        <p:xfrm>
          <a:off x="596900" y="1752600"/>
          <a:ext cx="1792288" cy="754063"/>
        </p:xfrm>
        <a:graphic>
          <a:graphicData uri="http://schemas.openxmlformats.org/presentationml/2006/ole">
            <mc:AlternateContent xmlns:mc="http://schemas.openxmlformats.org/markup-compatibility/2006">
              <mc:Choice xmlns:v="urn:schemas-microsoft-com:vml" Requires="v">
                <p:oleObj name="Equation" r:id="rId2" imgW="914400" imgH="393480" progId="Equation.3">
                  <p:embed/>
                </p:oleObj>
              </mc:Choice>
              <mc:Fallback>
                <p:oleObj name="Equation" r:id="rId2" imgW="914400" imgH="393480" progId="Equation.3">
                  <p:embed/>
                  <p:pic>
                    <p:nvPicPr>
                      <p:cNvPr id="860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900" y="1752600"/>
                        <a:ext cx="1792288"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4"/>
          <a:stretch>
            <a:fillRect/>
          </a:stretch>
        </p:blipFill>
        <p:spPr>
          <a:xfrm>
            <a:off x="3385389" y="1310819"/>
            <a:ext cx="4201273" cy="2209125"/>
          </a:xfrm>
          <a:prstGeom prst="rect">
            <a:avLst/>
          </a:prstGeom>
        </p:spPr>
      </p:pic>
      <p:sp>
        <p:nvSpPr>
          <p:cNvPr id="4" name="Rectangle 3"/>
          <p:cNvSpPr/>
          <p:nvPr/>
        </p:nvSpPr>
        <p:spPr>
          <a:xfrm>
            <a:off x="5029200" y="1600200"/>
            <a:ext cx="457200"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p:cNvSpPr txBox="1"/>
          <p:nvPr/>
        </p:nvSpPr>
        <p:spPr>
          <a:xfrm>
            <a:off x="4876563" y="1720334"/>
            <a:ext cx="609462" cy="369332"/>
          </a:xfrm>
          <a:prstGeom prst="rect">
            <a:avLst/>
          </a:prstGeom>
          <a:noFill/>
        </p:spPr>
        <p:txBody>
          <a:bodyPr wrap="none" rtlCol="0">
            <a:spAutoFit/>
          </a:bodyPr>
          <a:lstStyle/>
          <a:p>
            <a:r>
              <a:rPr lang="el-GR" dirty="0">
                <a:latin typeface="Book Antiqua" panose="02040602050305030304" pitchFamily="18" charset="0"/>
              </a:rPr>
              <a:t>φ</a:t>
            </a:r>
            <a:r>
              <a:rPr lang="en-US" dirty="0">
                <a:latin typeface="Book Antiqua" panose="02040602050305030304" pitchFamily="18" charset="0"/>
              </a:rPr>
              <a:t>(x)</a:t>
            </a:r>
          </a:p>
        </p:txBody>
      </p:sp>
    </p:spTree>
    <p:extLst>
      <p:ext uri="{BB962C8B-B14F-4D97-AF65-F5344CB8AC3E}">
        <p14:creationId xmlns:p14="http://schemas.microsoft.com/office/powerpoint/2010/main" val="58946824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Tanh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r>
              <a:rPr lang="en-US" sz="2400" dirty="0">
                <a:latin typeface="Book Antiqua" panose="02040602050305030304" pitchFamily="18" charset="0"/>
              </a:rPr>
              <a:t>It has characteristics similar to sigmoid that we discussed above. But, it squashes the </a:t>
            </a:r>
            <a:r>
              <a:rPr lang="en-US" sz="2400" dirty="0">
                <a:solidFill>
                  <a:srgbClr val="92D050"/>
                </a:solidFill>
                <a:latin typeface="Book Antiqua" panose="02040602050305030304" pitchFamily="18" charset="0"/>
              </a:rPr>
              <a:t>output between (-1,1). </a:t>
            </a:r>
            <a:r>
              <a:rPr lang="en-US" sz="2400" dirty="0">
                <a:latin typeface="Book Antiqua" panose="02040602050305030304" pitchFamily="18" charset="0"/>
              </a:rPr>
              <a:t>Tanh is also a very popular and widely used activation function. It is special case of sigmoid function.</a:t>
            </a: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7044" name="Object 4"/>
          <p:cNvGraphicFramePr>
            <a:graphicFrameLocks noChangeAspect="1"/>
          </p:cNvGraphicFramePr>
          <p:nvPr/>
        </p:nvGraphicFramePr>
        <p:xfrm>
          <a:off x="592138" y="1800225"/>
          <a:ext cx="3979862" cy="762000"/>
        </p:xfrm>
        <a:graphic>
          <a:graphicData uri="http://schemas.openxmlformats.org/presentationml/2006/ole">
            <mc:AlternateContent xmlns:mc="http://schemas.openxmlformats.org/markup-compatibility/2006">
              <mc:Choice xmlns:v="urn:schemas-microsoft-com:vml" Requires="v">
                <p:oleObj name="Equation" r:id="rId2" imgW="2387520" imgH="419040" progId="Equation.3">
                  <p:embed/>
                </p:oleObj>
              </mc:Choice>
              <mc:Fallback>
                <p:oleObj name="Equation" r:id="rId2" imgW="2387520" imgH="419040" progId="Equation.3">
                  <p:embed/>
                  <p:pic>
                    <p:nvPicPr>
                      <p:cNvPr id="870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38" y="1800225"/>
                        <a:ext cx="397986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8978" name="Picture 18" descr="What are the benefits of a tanh activation function over a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6938" y="1244600"/>
            <a:ext cx="4114800" cy="263525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6019800" y="1763712"/>
            <a:ext cx="609462" cy="369332"/>
          </a:xfrm>
          <a:prstGeom prst="rect">
            <a:avLst/>
          </a:prstGeom>
          <a:noFill/>
        </p:spPr>
        <p:txBody>
          <a:bodyPr wrap="none" rtlCol="0">
            <a:spAutoFit/>
          </a:bodyPr>
          <a:lstStyle/>
          <a:p>
            <a:r>
              <a:rPr lang="el-GR" dirty="0">
                <a:latin typeface="Book Antiqua" panose="02040602050305030304" pitchFamily="18" charset="0"/>
              </a:rPr>
              <a:t>φ</a:t>
            </a:r>
            <a:r>
              <a:rPr lang="en-US" dirty="0">
                <a:latin typeface="Book Antiqua" panose="02040602050305030304" pitchFamily="18" charset="0"/>
              </a:rPr>
              <a:t>(x)</a:t>
            </a:r>
          </a:p>
        </p:txBody>
      </p:sp>
    </p:spTree>
    <p:extLst>
      <p:ext uri="{BB962C8B-B14F-4D97-AF65-F5344CB8AC3E}">
        <p14:creationId xmlns:p14="http://schemas.microsoft.com/office/powerpoint/2010/main" val="219445473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ReLU Activation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r>
              <a:rPr lang="en-US" sz="2400" dirty="0">
                <a:latin typeface="Book Antiqua" pitchFamily="18" charset="0"/>
              </a:rPr>
              <a:t>ReLU is </a:t>
            </a:r>
            <a:r>
              <a:rPr lang="en-US" sz="2400" dirty="0">
                <a:solidFill>
                  <a:srgbClr val="00B050"/>
                </a:solidFill>
                <a:latin typeface="Book Antiqua" pitchFamily="18" charset="0"/>
              </a:rPr>
              <a:t>less computationally </a:t>
            </a:r>
            <a:r>
              <a:rPr lang="en-US" sz="2400" dirty="0">
                <a:latin typeface="Book Antiqua" pitchFamily="18" charset="0"/>
              </a:rPr>
              <a:t>expensive than </a:t>
            </a:r>
            <a:r>
              <a:rPr lang="en-US" sz="2400" dirty="0" err="1">
                <a:latin typeface="Book Antiqua" pitchFamily="18" charset="0"/>
              </a:rPr>
              <a:t>tanh</a:t>
            </a:r>
            <a:r>
              <a:rPr lang="en-US" sz="2400" dirty="0">
                <a:latin typeface="Book Antiqua" pitchFamily="18" charset="0"/>
              </a:rPr>
              <a:t> and sigmoid because it involves simpler mathematical operations. This function is </a:t>
            </a:r>
            <a:r>
              <a:rPr lang="en-US" sz="2400" b="1" dirty="0">
                <a:solidFill>
                  <a:srgbClr val="92D050"/>
                </a:solidFill>
                <a:latin typeface="Book Antiqua" pitchFamily="18" charset="0"/>
              </a:rPr>
              <a:t>also non-linear.</a:t>
            </a: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4" name="Object 4"/>
          <p:cNvGraphicFramePr>
            <a:graphicFrameLocks noChangeAspect="1"/>
          </p:cNvGraphicFramePr>
          <p:nvPr>
            <p:extLst>
              <p:ext uri="{D42A27DB-BD31-4B8C-83A1-F6EECF244321}">
                <p14:modId xmlns:p14="http://schemas.microsoft.com/office/powerpoint/2010/main" val="2488162104"/>
              </p:ext>
            </p:extLst>
          </p:nvPr>
        </p:nvGraphicFramePr>
        <p:xfrm>
          <a:off x="813436" y="2362200"/>
          <a:ext cx="2310764" cy="457200"/>
        </p:xfrm>
        <a:graphic>
          <a:graphicData uri="http://schemas.openxmlformats.org/presentationml/2006/ole">
            <mc:AlternateContent xmlns:mc="http://schemas.openxmlformats.org/markup-compatibility/2006">
              <mc:Choice xmlns:v="urn:schemas-microsoft-com:vml" Requires="v">
                <p:oleObj name="Equation" r:id="rId2" imgW="1104840" imgH="203040" progId="Equation.3">
                  <p:embed/>
                </p:oleObj>
              </mc:Choice>
              <mc:Fallback>
                <p:oleObj name="Equation" r:id="rId2" imgW="1104840" imgH="203040" progId="Equation.3">
                  <p:embed/>
                  <p:pic>
                    <p:nvPicPr>
                      <p:cNvPr id="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436" y="2362200"/>
                        <a:ext cx="2310764"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4"/>
          <a:stretch>
            <a:fillRect/>
          </a:stretch>
        </p:blipFill>
        <p:spPr>
          <a:xfrm>
            <a:off x="4495800" y="1525588"/>
            <a:ext cx="3398565" cy="1914525"/>
          </a:xfrm>
          <a:prstGeom prst="rect">
            <a:avLst/>
          </a:prstGeom>
        </p:spPr>
      </p:pic>
    </p:spTree>
    <p:extLst>
      <p:ext uri="{BB962C8B-B14F-4D97-AF65-F5344CB8AC3E}">
        <p14:creationId xmlns:p14="http://schemas.microsoft.com/office/powerpoint/2010/main" val="34435115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Leaky ReLU Activation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endParaRPr lang="en-US" sz="2600" dirty="0">
              <a:latin typeface="Book Antiqua" pitchFamily="18" charset="0"/>
            </a:endParaRPr>
          </a:p>
          <a:p>
            <a:pPr marL="284163" indent="-284163" algn="just"/>
            <a:r>
              <a:rPr lang="en-US" sz="2600" dirty="0">
                <a:latin typeface="Book Antiqua" pitchFamily="18" charset="0"/>
              </a:rPr>
              <a:t>Leaky ReLU, is a type of activation function based on a ReLU, but it has a small slope for negative values instead of a flat slope.</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4" name="Object 4"/>
          <p:cNvGraphicFramePr>
            <a:graphicFrameLocks noChangeAspect="1"/>
          </p:cNvGraphicFramePr>
          <p:nvPr>
            <p:extLst>
              <p:ext uri="{D42A27DB-BD31-4B8C-83A1-F6EECF244321}">
                <p14:modId xmlns:p14="http://schemas.microsoft.com/office/powerpoint/2010/main" val="4023116811"/>
              </p:ext>
            </p:extLst>
          </p:nvPr>
        </p:nvGraphicFramePr>
        <p:xfrm>
          <a:off x="455613" y="2133600"/>
          <a:ext cx="3278187" cy="914400"/>
        </p:xfrm>
        <a:graphic>
          <a:graphicData uri="http://schemas.openxmlformats.org/presentationml/2006/ole">
            <mc:AlternateContent xmlns:mc="http://schemas.openxmlformats.org/markup-compatibility/2006">
              <mc:Choice xmlns:v="urn:schemas-microsoft-com:vml" Requires="v">
                <p:oleObj name="Equation" r:id="rId2" imgW="1447560" imgH="406080" progId="Equation.3">
                  <p:embed/>
                </p:oleObj>
              </mc:Choice>
              <mc:Fallback>
                <p:oleObj name="Equation" r:id="rId2" imgW="1447560" imgH="406080" progId="Equation.3">
                  <p:embed/>
                  <p:pic>
                    <p:nvPicPr>
                      <p:cNvPr id="24" name="Object 4"/>
                      <p:cNvPicPr>
                        <a:picLocks noChangeAspect="1" noChangeArrowheads="1"/>
                      </p:cNvPicPr>
                      <p:nvPr/>
                    </p:nvPicPr>
                    <p:blipFill>
                      <a:blip r:embed="rId3"/>
                      <a:srcRect/>
                      <a:stretch>
                        <a:fillRect/>
                      </a:stretch>
                    </p:blipFill>
                    <p:spPr bwMode="auto">
                      <a:xfrm>
                        <a:off x="455613" y="2133600"/>
                        <a:ext cx="3278187" cy="914400"/>
                      </a:xfrm>
                      <a:prstGeom prst="rect">
                        <a:avLst/>
                      </a:prstGeom>
                      <a:noFill/>
                    </p:spPr>
                  </p:pic>
                </p:oleObj>
              </mc:Fallback>
            </mc:AlternateContent>
          </a:graphicData>
        </a:graphic>
      </p:graphicFrame>
      <p:pic>
        <p:nvPicPr>
          <p:cNvPr id="23" name="Picture 6" descr="Image result for Leaky ReLU Function and Derivative"/>
          <p:cNvPicPr>
            <a:picLocks noChangeAspect="1" noChangeArrowheads="1"/>
          </p:cNvPicPr>
          <p:nvPr/>
        </p:nvPicPr>
        <p:blipFill>
          <a:blip r:embed="rId4"/>
          <a:srcRect/>
          <a:stretch>
            <a:fillRect/>
          </a:stretch>
        </p:blipFill>
        <p:spPr bwMode="auto">
          <a:xfrm>
            <a:off x="4324350" y="1654175"/>
            <a:ext cx="3614976" cy="2536825"/>
          </a:xfrm>
          <a:prstGeom prst="rect">
            <a:avLst/>
          </a:prstGeom>
          <a:noFill/>
        </p:spPr>
      </p:pic>
    </p:spTree>
    <p:extLst>
      <p:ext uri="{BB962C8B-B14F-4D97-AF65-F5344CB8AC3E}">
        <p14:creationId xmlns:p14="http://schemas.microsoft.com/office/powerpoint/2010/main" val="397759787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Softmax Activation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r>
              <a:rPr lang="en-US" sz="2600" dirty="0">
                <a:latin typeface="Book Antiqua" pitchFamily="18" charset="0"/>
              </a:rPr>
              <a:t>Softmax is fundamentally a </a:t>
            </a:r>
            <a:r>
              <a:rPr lang="en-US" sz="2600" dirty="0">
                <a:solidFill>
                  <a:srgbClr val="FF0000"/>
                </a:solidFill>
                <a:latin typeface="Book Antiqua" pitchFamily="18" charset="0"/>
              </a:rPr>
              <a:t>vector function. </a:t>
            </a:r>
            <a:r>
              <a:rPr lang="en-US" sz="2600" dirty="0">
                <a:latin typeface="Book Antiqua" pitchFamily="18" charset="0"/>
              </a:rPr>
              <a:t>It takes a vector as input and produces a vector as output.</a:t>
            </a:r>
          </a:p>
          <a:p>
            <a:pPr marL="284163" indent="-284163" algn="just"/>
            <a:r>
              <a:rPr lang="en-US" sz="2400" dirty="0">
                <a:latin typeface="Book Antiqua" pitchFamily="18" charset="0"/>
              </a:rPr>
              <a:t>The Softmax function also </a:t>
            </a:r>
            <a:r>
              <a:rPr lang="en-US" sz="2400" dirty="0">
                <a:solidFill>
                  <a:srgbClr val="00B050"/>
                </a:solidFill>
                <a:latin typeface="Book Antiqua" pitchFamily="18" charset="0"/>
              </a:rPr>
              <a:t>squashes the outputs of each unit to be between 0 and 1</a:t>
            </a:r>
            <a:r>
              <a:rPr lang="en-US" sz="2400" dirty="0">
                <a:latin typeface="Book Antiqua" pitchFamily="18" charset="0"/>
              </a:rPr>
              <a:t>. But it also divides each output such that the total sum of the outputs is equal to 1. The output of the Softmax function tells you the probability that any of the classes are true</a:t>
            </a:r>
            <a:r>
              <a:rPr lang="en-US" sz="2400" dirty="0"/>
              <a:t>.</a:t>
            </a:r>
            <a:endParaRPr lang="en-US" sz="2400" dirty="0">
              <a:latin typeface="Book Antiqua" pitchFamily="18" charset="0"/>
            </a:endParaRP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5" name="Object 4"/>
          <p:cNvGraphicFramePr>
            <a:graphicFrameLocks noChangeAspect="1"/>
          </p:cNvGraphicFramePr>
          <p:nvPr/>
        </p:nvGraphicFramePr>
        <p:xfrm>
          <a:off x="762000" y="1828800"/>
          <a:ext cx="3630613" cy="1211263"/>
        </p:xfrm>
        <a:graphic>
          <a:graphicData uri="http://schemas.openxmlformats.org/presentationml/2006/ole">
            <mc:AlternateContent xmlns:mc="http://schemas.openxmlformats.org/markup-compatibility/2006">
              <mc:Choice xmlns:v="urn:schemas-microsoft-com:vml" Requires="v">
                <p:oleObj name="Equation" r:id="rId2" imgW="2006280" imgH="647640" progId="Equation.3">
                  <p:embed/>
                </p:oleObj>
              </mc:Choice>
              <mc:Fallback>
                <p:oleObj name="Equation" r:id="rId2" imgW="2006280" imgH="647640" progId="Equation.3">
                  <p:embed/>
                  <p:pic>
                    <p:nvPicPr>
                      <p:cNvPr id="2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828800"/>
                        <a:ext cx="3630613" cy="121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6" descr="How does a softmax function work"/>
          <p:cNvPicPr>
            <a:picLocks noChangeAspect="1" noChangeArrowheads="1"/>
          </p:cNvPicPr>
          <p:nvPr/>
        </p:nvPicPr>
        <p:blipFill>
          <a:blip r:embed="rId4"/>
          <a:srcRect/>
          <a:stretch>
            <a:fillRect/>
          </a:stretch>
        </p:blipFill>
        <p:spPr bwMode="auto">
          <a:xfrm>
            <a:off x="4914900" y="1701800"/>
            <a:ext cx="3276600" cy="1254647"/>
          </a:xfrm>
          <a:prstGeom prst="rect">
            <a:avLst/>
          </a:prstGeom>
          <a:noFill/>
        </p:spPr>
      </p:pic>
    </p:spTree>
    <p:extLst>
      <p:ext uri="{BB962C8B-B14F-4D97-AF65-F5344CB8AC3E}">
        <p14:creationId xmlns:p14="http://schemas.microsoft.com/office/powerpoint/2010/main" val="231703446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Structures of Neural Network</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The manner in which neurons of a neural network are structured is called neural network architecture. Broadly, we can divide neural network architectures or structures into three categories. </a:t>
            </a:r>
          </a:p>
          <a:p>
            <a:pPr lvl="1" algn="just"/>
            <a:r>
              <a:rPr lang="en-US" sz="2200" b="1" dirty="0">
                <a:solidFill>
                  <a:srgbClr val="0070C0"/>
                </a:solidFill>
                <a:latin typeface="Book Antiqua" pitchFamily="18" charset="0"/>
              </a:rPr>
              <a:t>Single-Layer Feedforward Networks</a:t>
            </a:r>
          </a:p>
          <a:p>
            <a:pPr lvl="1" algn="just"/>
            <a:r>
              <a:rPr lang="en-US" sz="2200" b="1" dirty="0">
                <a:solidFill>
                  <a:srgbClr val="0070C0"/>
                </a:solidFill>
                <a:latin typeface="Book Antiqua" pitchFamily="18" charset="0"/>
              </a:rPr>
              <a:t>Multi-Layer Feedforward Networks</a:t>
            </a:r>
          </a:p>
          <a:p>
            <a:pPr lvl="1" algn="just"/>
            <a:r>
              <a:rPr lang="en-US" sz="2200" b="1" dirty="0">
                <a:solidFill>
                  <a:srgbClr val="0070C0"/>
                </a:solidFill>
                <a:latin typeface="Book Antiqua" pitchFamily="18" charset="0"/>
              </a:rPr>
              <a:t>Recurrent Networks</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905000" y="3364200"/>
            <a:ext cx="2514600" cy="2944525"/>
          </a:xfrm>
          <a:prstGeom prst="rect">
            <a:avLst/>
          </a:prstGeom>
        </p:spPr>
      </p:pic>
      <p:sp>
        <p:nvSpPr>
          <p:cNvPr id="4" name="Title 3"/>
          <p:cNvSpPr>
            <a:spLocks noGrp="1"/>
          </p:cNvSpPr>
          <p:nvPr>
            <p:ph type="title"/>
          </p:nvPr>
        </p:nvSpPr>
        <p:spPr/>
        <p:txBody>
          <a:bodyPr/>
          <a:lstStyle/>
          <a:p>
            <a:r>
              <a:rPr lang="en-US" b="1" dirty="0">
                <a:latin typeface="Book Antiqua" pitchFamily="18" charset="0"/>
              </a:rPr>
              <a:t>Structures of Neural Network</a:t>
            </a:r>
          </a:p>
        </p:txBody>
      </p:sp>
      <p:sp>
        <p:nvSpPr>
          <p:cNvPr id="5" name="Content Placeholder 4"/>
          <p:cNvSpPr>
            <a:spLocks noGrp="1"/>
          </p:cNvSpPr>
          <p:nvPr>
            <p:ph idx="1"/>
          </p:nvPr>
        </p:nvSpPr>
        <p:spPr>
          <a:xfrm>
            <a:off x="228600" y="1600200"/>
            <a:ext cx="8763000" cy="4525963"/>
          </a:xfrm>
        </p:spPr>
        <p:txBody>
          <a:bodyPr>
            <a:normAutofit/>
          </a:bodyPr>
          <a:lstStyle/>
          <a:p>
            <a:pPr marL="57150" indent="0" algn="just">
              <a:buNone/>
            </a:pPr>
            <a:r>
              <a:rPr lang="en-US" sz="2600" b="1" u="sng" dirty="0">
                <a:latin typeface="Book Antiqua" pitchFamily="18" charset="0"/>
              </a:rPr>
              <a:t>Single-Layer Feedforward Networks</a:t>
            </a:r>
          </a:p>
          <a:p>
            <a:pPr algn="just"/>
            <a:r>
              <a:rPr lang="en-US" sz="2400" dirty="0">
                <a:latin typeface="Book Antiqua" panose="02040602050305030304" pitchFamily="18" charset="0"/>
              </a:rPr>
              <a:t>It is the simplest form of a network architecture. In this architecture we have an </a:t>
            </a:r>
            <a:r>
              <a:rPr lang="en-US" sz="2400" i="1" dirty="0">
                <a:latin typeface="Book Antiqua" panose="02040602050305030304" pitchFamily="18" charset="0"/>
              </a:rPr>
              <a:t>input layer </a:t>
            </a:r>
            <a:r>
              <a:rPr lang="en-US" sz="2400" dirty="0">
                <a:latin typeface="Book Antiqua" panose="02040602050305030304" pitchFamily="18" charset="0"/>
              </a:rPr>
              <a:t>of source nodes that are connected directly with an </a:t>
            </a:r>
            <a:r>
              <a:rPr lang="en-US" sz="2400" i="1" dirty="0">
                <a:latin typeface="Book Antiqua" panose="02040602050305030304" pitchFamily="18" charset="0"/>
              </a:rPr>
              <a:t>output layer </a:t>
            </a:r>
            <a:r>
              <a:rPr lang="en-US" sz="2400" dirty="0">
                <a:latin typeface="Book Antiqua" panose="02040602050305030304" pitchFamily="18" charset="0"/>
              </a:rPr>
              <a:t>of neurons (computation nodes), but not vice versa.</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29</a:t>
            </a:fld>
            <a:endParaRPr lang="en-US"/>
          </a:p>
        </p:txBody>
      </p:sp>
      <p:sp>
        <p:nvSpPr>
          <p:cNvPr id="7" name="Footer Placeholder 6"/>
          <p:cNvSpPr>
            <a:spLocks noGrp="1"/>
          </p:cNvSpPr>
          <p:nvPr>
            <p:ph type="ftr" sz="quarter" idx="11"/>
          </p:nvPr>
        </p:nvSpPr>
        <p:spPr/>
        <p:txBody>
          <a:bodyPr/>
          <a:lstStyle/>
          <a:p>
            <a:r>
              <a:rPr lang="en-US" dirty="0"/>
              <a:t>Prepared By: Arjun Saud        Neural Network: M.Sc. CSIT I</a:t>
            </a:r>
          </a:p>
        </p:txBody>
      </p:sp>
    </p:spTree>
    <p:extLst>
      <p:ext uri="{BB962C8B-B14F-4D97-AF65-F5344CB8AC3E}">
        <p14:creationId xmlns:p14="http://schemas.microsoft.com/office/powerpoint/2010/main" val="306097339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200400" y="3522663"/>
            <a:ext cx="2819400" cy="2805112"/>
          </a:xfrm>
          <a:prstGeom prst="rect">
            <a:avLst/>
          </a:prstGeom>
        </p:spPr>
      </p:pic>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Multi-Layer Feedforward Networks</a:t>
            </a:r>
          </a:p>
          <a:p>
            <a:pPr algn="just"/>
            <a:r>
              <a:rPr lang="en-US" sz="2200" dirty="0">
                <a:latin typeface="Book Antiqua" pitchFamily="18" charset="0"/>
              </a:rPr>
              <a:t>In this type of network architecture, </a:t>
            </a:r>
            <a:r>
              <a:rPr lang="en-US" sz="2200" dirty="0">
                <a:solidFill>
                  <a:srgbClr val="00B050"/>
                </a:solidFill>
                <a:latin typeface="Book Antiqua" pitchFamily="18" charset="0"/>
              </a:rPr>
              <a:t>one or more hidden layers </a:t>
            </a:r>
            <a:r>
              <a:rPr lang="en-US" sz="2200" dirty="0">
                <a:latin typeface="Book Antiqua" pitchFamily="18" charset="0"/>
              </a:rPr>
              <a:t>are present between input and output layers. These layers are not directly visible and information only flows in the direction of input to output layer. This type of network is designed to extract higher order statistics from input.</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55859578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67000" y="3200400"/>
            <a:ext cx="5181600" cy="2819400"/>
          </a:xfrm>
          <a:prstGeom prst="rect">
            <a:avLst/>
          </a:prstGeom>
        </p:spPr>
      </p:pic>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Recurrent Networks</a:t>
            </a:r>
          </a:p>
          <a:p>
            <a:pPr algn="just"/>
            <a:r>
              <a:rPr lang="en-US" sz="2200" dirty="0">
                <a:latin typeface="Book Antiqua" pitchFamily="18" charset="0"/>
              </a:rPr>
              <a:t>This class of networks are also referred as </a:t>
            </a:r>
            <a:r>
              <a:rPr lang="en-US" sz="2200" dirty="0">
                <a:solidFill>
                  <a:srgbClr val="00B050"/>
                </a:solidFill>
                <a:latin typeface="Book Antiqua" pitchFamily="18" charset="0"/>
              </a:rPr>
              <a:t>feedback neural networks</a:t>
            </a:r>
            <a:r>
              <a:rPr lang="en-US" sz="2200" dirty="0">
                <a:latin typeface="Book Antiqua" pitchFamily="18" charset="0"/>
              </a:rPr>
              <a:t>. This type of network architecture may contain </a:t>
            </a:r>
            <a:r>
              <a:rPr lang="en-US" sz="2200" i="1" dirty="0">
                <a:solidFill>
                  <a:srgbClr val="00B050"/>
                </a:solidFill>
                <a:latin typeface="Book Antiqua" pitchFamily="18" charset="0"/>
              </a:rPr>
              <a:t>feedback loop</a:t>
            </a:r>
            <a:r>
              <a:rPr lang="en-US" sz="2200" dirty="0">
                <a:latin typeface="Book Antiqua" pitchFamily="18" charset="0"/>
              </a:rPr>
              <a:t> that can feed output of neuron as input to neurons of previous layers.</a:t>
            </a:r>
          </a:p>
          <a:p>
            <a:pPr algn="just"/>
            <a:endParaRPr lang="en-US" sz="2200" dirty="0">
              <a:latin typeface="Book Antiqua" pitchFamily="18" charset="0"/>
            </a:endParaRP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31</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52694768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Box 41"/>
          <p:cNvSpPr txBox="1"/>
          <p:nvPr/>
        </p:nvSpPr>
        <p:spPr>
          <a:xfrm>
            <a:off x="2324824" y="3765535"/>
            <a:ext cx="474961" cy="39466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latin typeface="Book Antiqua" panose="02040602050305030304" pitchFamily="18" charset="0"/>
                <a:ea typeface="Calibri" panose="020F0502020204030204" pitchFamily="34" charset="0"/>
                <a:cs typeface="Times New Roman" panose="02020603050405020304" pitchFamily="18" charset="0"/>
              </a:rPr>
              <a:t>1</a:t>
            </a:r>
            <a:endParaRPr lang="en-US" sz="1100" dirty="0">
              <a:effectLst/>
              <a:ea typeface="Calibri" panose="020F0502020204030204" pitchFamily="34" charset="0"/>
              <a:cs typeface="Times New Roman" panose="02020603050405020304" pitchFamily="18" charset="0"/>
            </a:endParaRPr>
          </a:p>
        </p:txBody>
      </p:sp>
      <p:sp>
        <p:nvSpPr>
          <p:cNvPr id="34" name="Text Box 41"/>
          <p:cNvSpPr txBox="1"/>
          <p:nvPr/>
        </p:nvSpPr>
        <p:spPr>
          <a:xfrm>
            <a:off x="2190848" y="3477124"/>
            <a:ext cx="545944" cy="39466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effectLst/>
                <a:latin typeface="Book Antiqua" panose="02040602050305030304" pitchFamily="18" charset="0"/>
                <a:ea typeface="Calibri" panose="020F0502020204030204" pitchFamily="34" charset="0"/>
                <a:cs typeface="Times New Roman" panose="02020603050405020304" pitchFamily="18" charset="0"/>
              </a:rPr>
              <a:t>0.4</a:t>
            </a:r>
            <a:endParaRPr lang="en-US" sz="1100" dirty="0">
              <a:effectLst/>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itchFamily="18" charset="0"/>
              </a:rPr>
              <a:t>Example:</a:t>
            </a:r>
            <a:r>
              <a:rPr lang="en-US" sz="2400" dirty="0">
                <a:latin typeface="Book Antiqua" pitchFamily="18" charset="0"/>
              </a:rPr>
              <a:t> </a:t>
            </a:r>
            <a:r>
              <a:rPr lang="en-US" sz="2400" i="1" dirty="0">
                <a:latin typeface="Book Antiqua" pitchFamily="18" charset="0"/>
              </a:rPr>
              <a:t>Consider following Neural Network and compute its output using activation function F(x)=2x-1. Weights of synaptic links  are provided above each link.</a:t>
            </a:r>
          </a:p>
          <a:p>
            <a:pPr marL="0" indent="0" algn="just">
              <a:buNone/>
            </a:pPr>
            <a:endParaRPr lang="en-US" sz="2400" i="1" dirty="0">
              <a:latin typeface="Book Antiqua" pitchFamily="18" charset="0"/>
            </a:endParaRPr>
          </a:p>
          <a:p>
            <a:pPr marL="0" indent="0" algn="just">
              <a:buNone/>
            </a:pPr>
            <a:endParaRPr lang="en-US" sz="2400" i="1" dirty="0">
              <a:latin typeface="Book Antiqua" pitchFamily="18" charset="0"/>
            </a:endParaRPr>
          </a:p>
          <a:p>
            <a:pPr marL="0" indent="0" algn="just">
              <a:buNone/>
            </a:pPr>
            <a:endParaRPr lang="en-US" sz="2400" i="1" dirty="0">
              <a:latin typeface="Book Antiqua" pitchFamily="18" charset="0"/>
            </a:endParaRPr>
          </a:p>
          <a:p>
            <a:pPr marL="0" indent="0" algn="just">
              <a:buNone/>
            </a:pPr>
            <a:endParaRPr lang="en-US" sz="2400" i="1" dirty="0">
              <a:latin typeface="Book Antiqua" pitchFamily="18" charset="0"/>
            </a:endParaRPr>
          </a:p>
          <a:p>
            <a:pPr marL="0" indent="0" algn="just">
              <a:buNone/>
            </a:pPr>
            <a:r>
              <a:rPr lang="en-US" sz="2400" b="1" i="1" u="sng" dirty="0">
                <a:latin typeface="Book Antiqua" pitchFamily="18" charset="0"/>
              </a:rPr>
              <a:t>For Node 1</a:t>
            </a:r>
          </a:p>
          <a:p>
            <a:pPr marL="0" indent="0" algn="just">
              <a:buNone/>
            </a:pPr>
            <a:r>
              <a:rPr lang="en-US" sz="2400" b="1" i="1" dirty="0">
                <a:latin typeface="Book Antiqua" pitchFamily="18" charset="0"/>
              </a:rPr>
              <a:t>u1=2*0.8+3*1=4.6	=&gt;	y1=f(u1)=2*4.6-1=8.2</a:t>
            </a:r>
          </a:p>
          <a:p>
            <a:pPr marL="0" indent="0" algn="just">
              <a:buNone/>
            </a:pPr>
            <a:r>
              <a:rPr lang="en-US" sz="2400" b="1" i="1" u="sng" dirty="0">
                <a:latin typeface="Book Antiqua" pitchFamily="18" charset="0"/>
              </a:rPr>
              <a:t>For Node 2</a:t>
            </a:r>
          </a:p>
          <a:p>
            <a:pPr marL="0" indent="0" algn="just">
              <a:buNone/>
            </a:pPr>
            <a:r>
              <a:rPr lang="en-US" sz="2400" b="1" i="1" dirty="0">
                <a:latin typeface="Book Antiqua" pitchFamily="18" charset="0"/>
              </a:rPr>
              <a:t>u2=2*0.4+3*0.6=2.6	=&gt;	y2=f(u2)=4.2</a:t>
            </a:r>
          </a:p>
          <a:p>
            <a:pPr marL="0" indent="0" algn="just">
              <a:buNone/>
            </a:pPr>
            <a:endParaRPr lang="en-US" sz="2400" b="1" i="1" dirty="0">
              <a:latin typeface="Book Antiqua" pitchFamily="18" charset="0"/>
            </a:endParaRPr>
          </a:p>
        </p:txBody>
      </p:sp>
      <p:grpSp>
        <p:nvGrpSpPr>
          <p:cNvPr id="7" name="Group 6"/>
          <p:cNvGrpSpPr/>
          <p:nvPr/>
        </p:nvGrpSpPr>
        <p:grpSpPr>
          <a:xfrm>
            <a:off x="1676400" y="2797969"/>
            <a:ext cx="5160009" cy="1947862"/>
            <a:chOff x="0" y="0"/>
            <a:chExt cx="4681347" cy="1457325"/>
          </a:xfrm>
        </p:grpSpPr>
        <p:sp>
          <p:nvSpPr>
            <p:cNvPr id="8" name="Text Box 46"/>
            <p:cNvSpPr txBox="1"/>
            <p:nvPr/>
          </p:nvSpPr>
          <p:spPr>
            <a:xfrm>
              <a:off x="1885950" y="809625"/>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0.7</a:t>
              </a:r>
              <a:endParaRPr lang="en-US" sz="1100">
                <a:effectLst/>
                <a:ea typeface="Calibri" panose="020F0502020204030204" pitchFamily="34" charset="0"/>
                <a:cs typeface="Times New Roman" panose="02020603050405020304" pitchFamily="18" charset="0"/>
              </a:endParaRPr>
            </a:p>
          </p:txBody>
        </p:sp>
        <p:grpSp>
          <p:nvGrpSpPr>
            <p:cNvPr id="9" name="Group 8"/>
            <p:cNvGrpSpPr/>
            <p:nvPr/>
          </p:nvGrpSpPr>
          <p:grpSpPr>
            <a:xfrm>
              <a:off x="0" y="0"/>
              <a:ext cx="4681347" cy="1457325"/>
              <a:chOff x="0" y="0"/>
              <a:chExt cx="4681347" cy="1457325"/>
            </a:xfrm>
          </p:grpSpPr>
          <p:sp>
            <p:nvSpPr>
              <p:cNvPr id="10" name="Text Box 48"/>
              <p:cNvSpPr txBox="1"/>
              <p:nvPr/>
            </p:nvSpPr>
            <p:spPr>
              <a:xfrm>
                <a:off x="3019425" y="95250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0.5</a:t>
                </a:r>
                <a:endParaRPr lang="en-US" sz="1100">
                  <a:effectLst/>
                  <a:ea typeface="Calibri" panose="020F0502020204030204" pitchFamily="34" charset="0"/>
                  <a:cs typeface="Times New Roman" panose="02020603050405020304" pitchFamily="18" charset="0"/>
                </a:endParaRPr>
              </a:p>
            </p:txBody>
          </p:sp>
          <p:sp>
            <p:nvSpPr>
              <p:cNvPr id="11" name="Text Box 47"/>
              <p:cNvSpPr txBox="1"/>
              <p:nvPr/>
            </p:nvSpPr>
            <p:spPr>
              <a:xfrm>
                <a:off x="3019425" y="2476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1.5</a:t>
                </a:r>
                <a:endParaRPr lang="en-US" sz="1100">
                  <a:effectLst/>
                  <a:ea typeface="Calibri" panose="020F0502020204030204" pitchFamily="34" charset="0"/>
                  <a:cs typeface="Times New Roman" panose="02020603050405020304" pitchFamily="18" charset="0"/>
                </a:endParaRPr>
              </a:p>
            </p:txBody>
          </p:sp>
          <p:sp>
            <p:nvSpPr>
              <p:cNvPr id="12" name="Text Box 45"/>
              <p:cNvSpPr txBox="1"/>
              <p:nvPr/>
            </p:nvSpPr>
            <p:spPr>
              <a:xfrm>
                <a:off x="1943100" y="4381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0.4</a:t>
                </a:r>
                <a:endParaRPr lang="en-US" sz="1100">
                  <a:effectLst/>
                  <a:ea typeface="Calibri" panose="020F0502020204030204" pitchFamily="34" charset="0"/>
                  <a:cs typeface="Times New Roman" panose="02020603050405020304" pitchFamily="18" charset="0"/>
                </a:endParaRPr>
              </a:p>
            </p:txBody>
          </p:sp>
          <p:sp>
            <p:nvSpPr>
              <p:cNvPr id="13" name="Oval 12"/>
              <p:cNvSpPr/>
              <p:nvPr/>
            </p:nvSpPr>
            <p:spPr>
              <a:xfrm>
                <a:off x="1285875" y="1238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14" name="Oval 13"/>
              <p:cNvSpPr/>
              <p:nvPr/>
            </p:nvSpPr>
            <p:spPr>
              <a:xfrm>
                <a:off x="1285875" y="94297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15" name="Oval 14"/>
              <p:cNvSpPr/>
              <p:nvPr/>
            </p:nvSpPr>
            <p:spPr>
              <a:xfrm>
                <a:off x="2447925" y="1238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3</a:t>
                </a:r>
                <a:endParaRPr lang="en-US" sz="1100">
                  <a:effectLst/>
                  <a:ea typeface="Calibri" panose="020F0502020204030204" pitchFamily="34" charset="0"/>
                  <a:cs typeface="Times New Roman" panose="02020603050405020304" pitchFamily="18" charset="0"/>
                </a:endParaRPr>
              </a:p>
            </p:txBody>
          </p:sp>
          <p:sp>
            <p:nvSpPr>
              <p:cNvPr id="16" name="Oval 15"/>
              <p:cNvSpPr/>
              <p:nvPr/>
            </p:nvSpPr>
            <p:spPr>
              <a:xfrm>
                <a:off x="2438400" y="952500"/>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4</a:t>
                </a:r>
                <a:endParaRPr lang="en-US" sz="1100">
                  <a:effectLst/>
                  <a:ea typeface="Calibri" panose="020F0502020204030204" pitchFamily="34" charset="0"/>
                  <a:cs typeface="Times New Roman" panose="02020603050405020304" pitchFamily="18" charset="0"/>
                </a:endParaRPr>
              </a:p>
            </p:txBody>
          </p:sp>
          <p:sp>
            <p:nvSpPr>
              <p:cNvPr id="17" name="Oval 16"/>
              <p:cNvSpPr/>
              <p:nvPr/>
            </p:nvSpPr>
            <p:spPr>
              <a:xfrm>
                <a:off x="3514725" y="5429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5</a:t>
                </a:r>
                <a:endParaRPr lang="en-US" sz="1100">
                  <a:effectLst/>
                  <a:ea typeface="Calibri" panose="020F0502020204030204" pitchFamily="34" charset="0"/>
                  <a:cs typeface="Times New Roman" panose="02020603050405020304" pitchFamily="18" charset="0"/>
                </a:endParaRPr>
              </a:p>
            </p:txBody>
          </p:sp>
          <p:sp>
            <p:nvSpPr>
              <p:cNvPr id="18" name="Text Box 27"/>
              <p:cNvSpPr txBox="1"/>
              <p:nvPr/>
            </p:nvSpPr>
            <p:spPr>
              <a:xfrm>
                <a:off x="0" y="1714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X1=2</a:t>
                </a:r>
                <a:endParaRPr lang="en-US" sz="1100">
                  <a:effectLst/>
                  <a:ea typeface="Calibri" panose="020F0502020204030204" pitchFamily="34" charset="0"/>
                  <a:cs typeface="Times New Roman" panose="02020603050405020304" pitchFamily="18" charset="0"/>
                </a:endParaRPr>
              </a:p>
            </p:txBody>
          </p:sp>
          <p:sp>
            <p:nvSpPr>
              <p:cNvPr id="19" name="Text Box 29"/>
              <p:cNvSpPr txBox="1"/>
              <p:nvPr/>
            </p:nvSpPr>
            <p:spPr>
              <a:xfrm>
                <a:off x="0" y="9715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X2=3</a:t>
                </a:r>
                <a:endParaRPr lang="en-US" sz="1100">
                  <a:effectLst/>
                  <a:ea typeface="Calibri" panose="020F0502020204030204" pitchFamily="34" charset="0"/>
                  <a:cs typeface="Times New Roman" panose="02020603050405020304" pitchFamily="18" charset="0"/>
                </a:endParaRPr>
              </a:p>
            </p:txBody>
          </p:sp>
          <p:cxnSp>
            <p:nvCxnSpPr>
              <p:cNvPr id="20" name="Straight Arrow Connector 19"/>
              <p:cNvCxnSpPr/>
              <p:nvPr/>
            </p:nvCxnSpPr>
            <p:spPr>
              <a:xfrm>
                <a:off x="495300" y="314325"/>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95300" y="112395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647825" y="30480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647825" y="1133475"/>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600200" y="438150"/>
                <a:ext cx="939165" cy="5810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600200" y="438150"/>
                <a:ext cx="85217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800350" y="323850"/>
                <a:ext cx="742950" cy="314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00350" y="828675"/>
                <a:ext cx="742950" cy="276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876675" y="70485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 Box 41"/>
              <p:cNvSpPr txBox="1"/>
              <p:nvPr/>
            </p:nvSpPr>
            <p:spPr>
              <a:xfrm>
                <a:off x="619125" y="9525"/>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effectLst/>
                    <a:latin typeface="Book Antiqua" panose="02040602050305030304" pitchFamily="18" charset="0"/>
                    <a:ea typeface="Calibri" panose="020F0502020204030204" pitchFamily="34" charset="0"/>
                    <a:cs typeface="Times New Roman" panose="02020603050405020304" pitchFamily="18" charset="0"/>
                  </a:rPr>
                  <a:t>0.8</a:t>
                </a:r>
                <a:endParaRPr lang="en-US" sz="1100" dirty="0">
                  <a:effectLst/>
                  <a:ea typeface="Calibri" panose="020F0502020204030204" pitchFamily="34" charset="0"/>
                  <a:cs typeface="Times New Roman" panose="02020603050405020304" pitchFamily="18" charset="0"/>
                </a:endParaRPr>
              </a:p>
            </p:txBody>
          </p:sp>
          <p:sp>
            <p:nvSpPr>
              <p:cNvPr id="30" name="Text Box 42"/>
              <p:cNvSpPr txBox="1"/>
              <p:nvPr/>
            </p:nvSpPr>
            <p:spPr>
              <a:xfrm>
                <a:off x="619125" y="114300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0.6</a:t>
                </a:r>
                <a:endParaRPr lang="en-US" sz="1100">
                  <a:effectLst/>
                  <a:ea typeface="Calibri" panose="020F0502020204030204" pitchFamily="34" charset="0"/>
                  <a:cs typeface="Times New Roman" panose="02020603050405020304" pitchFamily="18" charset="0"/>
                </a:endParaRPr>
              </a:p>
            </p:txBody>
          </p:sp>
          <p:sp>
            <p:nvSpPr>
              <p:cNvPr id="31" name="Text Box 43"/>
              <p:cNvSpPr txBox="1"/>
              <p:nvPr/>
            </p:nvSpPr>
            <p:spPr>
              <a:xfrm>
                <a:off x="1781175" y="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1.2</a:t>
                </a:r>
                <a:endParaRPr lang="en-US" sz="1100">
                  <a:effectLst/>
                  <a:ea typeface="Calibri" panose="020F0502020204030204" pitchFamily="34" charset="0"/>
                  <a:cs typeface="Times New Roman" panose="02020603050405020304" pitchFamily="18" charset="0"/>
                </a:endParaRPr>
              </a:p>
            </p:txBody>
          </p:sp>
          <p:sp>
            <p:nvSpPr>
              <p:cNvPr id="32" name="Text Box 44"/>
              <p:cNvSpPr txBox="1"/>
              <p:nvPr/>
            </p:nvSpPr>
            <p:spPr>
              <a:xfrm>
                <a:off x="1781175" y="11620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0.5</a:t>
                </a:r>
                <a:endParaRPr lang="en-US" sz="1100">
                  <a:effectLst/>
                  <a:ea typeface="Calibri" panose="020F0502020204030204" pitchFamily="34" charset="0"/>
                  <a:cs typeface="Times New Roman" panose="02020603050405020304" pitchFamily="18" charset="0"/>
                </a:endParaRPr>
              </a:p>
            </p:txBody>
          </p:sp>
        </p:grpSp>
      </p:grpSp>
      <p:cxnSp>
        <p:nvCxnSpPr>
          <p:cNvPr id="3" name="Straight Arrow Connector 2"/>
          <p:cNvCxnSpPr>
            <a:stCxn id="19" idx="3"/>
            <a:endCxn id="13" idx="3"/>
          </p:cNvCxnSpPr>
          <p:nvPr/>
        </p:nvCxnSpPr>
        <p:spPr>
          <a:xfrm flipV="1">
            <a:off x="2222344" y="3365542"/>
            <a:ext cx="929836" cy="9283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222344" y="3230827"/>
            <a:ext cx="886949" cy="9293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lide Number Placeholder 35"/>
          <p:cNvSpPr>
            <a:spLocks noGrp="1"/>
          </p:cNvSpPr>
          <p:nvPr>
            <p:ph type="sldNum" sz="quarter" idx="12"/>
          </p:nvPr>
        </p:nvSpPr>
        <p:spPr/>
        <p:txBody>
          <a:bodyPr/>
          <a:lstStyle/>
          <a:p>
            <a:fld id="{3F22444B-AD59-459C-8316-D24326876BE4}" type="slidenum">
              <a:rPr lang="en-US" smtClean="0"/>
              <a:pPr/>
              <a:t>32</a:t>
            </a:fld>
            <a:endParaRPr lang="en-US"/>
          </a:p>
        </p:txBody>
      </p:sp>
      <p:sp>
        <p:nvSpPr>
          <p:cNvPr id="37" name="Footer Placeholder 3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7586709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983162"/>
          </a:xfrm>
        </p:spPr>
        <p:txBody>
          <a:bodyPr>
            <a:normAutofit/>
          </a:bodyPr>
          <a:lstStyle/>
          <a:p>
            <a:pPr marL="0" indent="0" algn="just">
              <a:buNone/>
            </a:pPr>
            <a:r>
              <a:rPr lang="en-US" sz="2400" b="1" i="1" u="sng" dirty="0">
                <a:latin typeface="Book Antiqua" pitchFamily="18" charset="0"/>
              </a:rPr>
              <a:t>For Node 3</a:t>
            </a:r>
          </a:p>
          <a:p>
            <a:pPr marL="0" indent="0" algn="just">
              <a:buNone/>
            </a:pPr>
            <a:r>
              <a:rPr lang="en-US" sz="2400" b="1" i="1" dirty="0">
                <a:latin typeface="Book Antiqua" pitchFamily="18" charset="0"/>
              </a:rPr>
              <a:t>u3=8.2*1.2+4.2*0.4=11.51			=&gt;y3=f(u3)=22.04</a:t>
            </a:r>
          </a:p>
          <a:p>
            <a:pPr marL="0" indent="0" algn="just">
              <a:buNone/>
            </a:pPr>
            <a:r>
              <a:rPr lang="en-US" sz="2400" b="1" i="1" u="sng" dirty="0">
                <a:latin typeface="Book Antiqua" pitchFamily="18" charset="0"/>
              </a:rPr>
              <a:t>For Node 4</a:t>
            </a:r>
          </a:p>
          <a:p>
            <a:pPr marL="0" indent="0" algn="just">
              <a:buNone/>
            </a:pPr>
            <a:r>
              <a:rPr lang="en-US" sz="2400" b="1" i="1" dirty="0">
                <a:latin typeface="Book Antiqua" pitchFamily="18" charset="0"/>
              </a:rPr>
              <a:t>u4=8.2*0.7+4.2*0.5=7.84			=&gt;y4=f(u4)=14.68</a:t>
            </a:r>
          </a:p>
          <a:p>
            <a:pPr marL="0" indent="0" algn="just">
              <a:buNone/>
            </a:pPr>
            <a:r>
              <a:rPr lang="en-US" sz="2400" b="1" i="1" u="sng" dirty="0">
                <a:latin typeface="Book Antiqua" pitchFamily="18" charset="0"/>
              </a:rPr>
              <a:t>For Node 5</a:t>
            </a:r>
          </a:p>
          <a:p>
            <a:pPr marL="0" indent="0" algn="just">
              <a:buNone/>
            </a:pPr>
            <a:r>
              <a:rPr lang="en-US" sz="2400" b="1" i="1" dirty="0">
                <a:latin typeface="Book Antiqua" pitchFamily="18" charset="0"/>
              </a:rPr>
              <a:t>u5=22.04*1.5+14.68*0.5=40.4		=&gt; y5=f(u5)=79.8</a:t>
            </a:r>
          </a:p>
          <a:p>
            <a:pPr marL="0" indent="0" algn="just">
              <a:buNone/>
            </a:pPr>
            <a:endParaRPr lang="en-US" sz="2400" b="1" i="1" dirty="0">
              <a:latin typeface="Book Antiqua" pitchFamily="18" charset="0"/>
            </a:endParaRPr>
          </a:p>
          <a:p>
            <a:pPr marL="0" indent="0" algn="just">
              <a:buNone/>
            </a:pPr>
            <a:r>
              <a:rPr lang="en-US" sz="2400" b="1" u="sng" dirty="0">
                <a:latin typeface="Book Antiqua" pitchFamily="18" charset="0"/>
              </a:rPr>
              <a:t>Thus,</a:t>
            </a:r>
          </a:p>
          <a:p>
            <a:pPr marL="0" indent="0" algn="just">
              <a:buNone/>
            </a:pPr>
            <a:r>
              <a:rPr lang="en-US" sz="2400" b="1" dirty="0">
                <a:latin typeface="Book Antiqua" pitchFamily="18" charset="0"/>
              </a:rPr>
              <a:t>	Final output of the neural network (y)=79.8 </a:t>
            </a:r>
          </a:p>
          <a:p>
            <a:pPr marL="0" indent="0" algn="just">
              <a:buNone/>
            </a:pPr>
            <a:endParaRPr lang="en-US" sz="2400" b="1" i="1" dirty="0">
              <a:latin typeface="Book Antiqua" pitchFamily="18" charset="0"/>
            </a:endParaRPr>
          </a:p>
          <a:p>
            <a:pPr marL="0" indent="0" algn="just">
              <a:buNone/>
            </a:pPr>
            <a:endParaRPr lang="en-US" sz="2400" b="1" i="1"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33</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68120597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algn="just"/>
            <a:r>
              <a:rPr lang="en-US" sz="2400" dirty="0">
                <a:latin typeface="Book Antiqua" pitchFamily="18" charset="0"/>
              </a:rPr>
              <a:t>Neural networks learns from its environment. Broadly, we cam categorize learning principles in neural networks into two categories.</a:t>
            </a:r>
          </a:p>
          <a:p>
            <a:pPr lvl="1" algn="just"/>
            <a:r>
              <a:rPr lang="en-US" sz="2200" b="1" dirty="0">
                <a:solidFill>
                  <a:srgbClr val="0070C0"/>
                </a:solidFill>
                <a:latin typeface="Book Antiqua" pitchFamily="18" charset="0"/>
              </a:rPr>
              <a:t>Learning with Teacher</a:t>
            </a:r>
          </a:p>
          <a:p>
            <a:pPr lvl="1" algn="just"/>
            <a:r>
              <a:rPr lang="en-US" sz="2200" b="1" dirty="0">
                <a:solidFill>
                  <a:srgbClr val="0070C0"/>
                </a:solidFill>
                <a:latin typeface="Book Antiqua" pitchFamily="18" charset="0"/>
              </a:rPr>
              <a:t>Learning without Teacher</a:t>
            </a:r>
          </a:p>
        </p:txBody>
      </p:sp>
      <p:sp>
        <p:nvSpPr>
          <p:cNvPr id="6" name="Slide Number Placeholder 5"/>
          <p:cNvSpPr>
            <a:spLocks noGrp="1"/>
          </p:cNvSpPr>
          <p:nvPr>
            <p:ph type="sldNum" sz="quarter" idx="12"/>
          </p:nvPr>
        </p:nvSpPr>
        <p:spPr/>
        <p:txBody>
          <a:bodyPr/>
          <a:lstStyle/>
          <a:p>
            <a:fld id="{3F22444B-AD59-459C-8316-D24326876BE4}" type="slidenum">
              <a:rPr lang="en-US" smtClean="0"/>
              <a:pPr/>
              <a:t>34</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41421871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lnSpcReduction="10000"/>
          </a:bodyPr>
          <a:lstStyle/>
          <a:p>
            <a:pPr marL="57150" indent="0" algn="just">
              <a:buNone/>
            </a:pPr>
            <a:r>
              <a:rPr lang="en-US" sz="2600" b="1" u="sng" dirty="0">
                <a:latin typeface="Book Antiqua" pitchFamily="18" charset="0"/>
              </a:rPr>
              <a:t>Learning with Teacher</a:t>
            </a:r>
          </a:p>
          <a:p>
            <a:pPr algn="just"/>
            <a:r>
              <a:rPr lang="en-US" sz="2400" dirty="0">
                <a:latin typeface="Book Antiqua" pitchFamily="18" charset="0"/>
              </a:rPr>
              <a:t>It is also called </a:t>
            </a:r>
            <a:r>
              <a:rPr lang="en-US" sz="2400" dirty="0">
                <a:solidFill>
                  <a:srgbClr val="0070C0"/>
                </a:solidFill>
                <a:latin typeface="Book Antiqua" pitchFamily="18" charset="0"/>
              </a:rPr>
              <a:t>supervised learning</a:t>
            </a:r>
            <a:r>
              <a:rPr lang="en-US" sz="2400" dirty="0">
                <a:latin typeface="Book Antiqua" pitchFamily="18" charset="0"/>
              </a:rPr>
              <a:t>. In this learning paradigm, we present examples of </a:t>
            </a:r>
            <a:r>
              <a:rPr lang="en-US" sz="2400" dirty="0">
                <a:solidFill>
                  <a:srgbClr val="00B050"/>
                </a:solidFill>
                <a:latin typeface="Book Antiqua" pitchFamily="18" charset="0"/>
              </a:rPr>
              <a:t>correct input-output pairs</a:t>
            </a:r>
            <a:r>
              <a:rPr lang="en-US" sz="2400" dirty="0">
                <a:latin typeface="Book Antiqua" pitchFamily="18" charset="0"/>
              </a:rPr>
              <a:t> to the neural network during the </a:t>
            </a:r>
            <a:r>
              <a:rPr lang="en-US" sz="2400" i="1" dirty="0">
                <a:solidFill>
                  <a:srgbClr val="00B050"/>
                </a:solidFill>
                <a:latin typeface="Book Antiqua" pitchFamily="18" charset="0"/>
              </a:rPr>
              <a:t>training phase</a:t>
            </a:r>
            <a:r>
              <a:rPr lang="en-US" sz="2400" dirty="0">
                <a:latin typeface="Book Antiqua" pitchFamily="18" charset="0"/>
              </a:rPr>
              <a:t>. </a:t>
            </a:r>
          </a:p>
          <a:p>
            <a:pPr algn="just"/>
            <a:r>
              <a:rPr lang="en-US" sz="2400" dirty="0">
                <a:latin typeface="Book Antiqua" pitchFamily="18" charset="0"/>
              </a:rPr>
              <a:t>This training set of examples is equivalent to the teacher for the neural network. During the training of ANN under supervised learning, the ANN takes input vector and computes output vector. </a:t>
            </a:r>
          </a:p>
          <a:p>
            <a:pPr algn="just"/>
            <a:r>
              <a:rPr lang="en-US" sz="2400" dirty="0">
                <a:latin typeface="Book Antiqua" pitchFamily="18" charset="0"/>
              </a:rPr>
              <a:t>An </a:t>
            </a:r>
            <a:r>
              <a:rPr lang="en-US" sz="2400" dirty="0">
                <a:solidFill>
                  <a:srgbClr val="C00000"/>
                </a:solidFill>
                <a:latin typeface="Book Antiqua" pitchFamily="18" charset="0"/>
              </a:rPr>
              <a:t>error signal </a:t>
            </a:r>
            <a:r>
              <a:rPr lang="en-US" sz="2400" dirty="0">
                <a:latin typeface="Book Antiqua" pitchFamily="18" charset="0"/>
              </a:rPr>
              <a:t>is generated, if there is a </a:t>
            </a:r>
            <a:r>
              <a:rPr lang="en-US" sz="2400" i="1" dirty="0">
                <a:solidFill>
                  <a:srgbClr val="C00000"/>
                </a:solidFill>
                <a:latin typeface="Book Antiqua" pitchFamily="18" charset="0"/>
              </a:rPr>
              <a:t>difference between the computed output and the desired output vector</a:t>
            </a:r>
            <a:r>
              <a:rPr lang="en-US" sz="2400" dirty="0">
                <a:latin typeface="Book Antiqua" pitchFamily="18" charset="0"/>
              </a:rPr>
              <a:t>. On the basis of this error signal, the weights are adjusted until the actual output is matched with the desired output.</a:t>
            </a:r>
          </a:p>
          <a:p>
            <a:pPr algn="just"/>
            <a:r>
              <a:rPr lang="en-US" sz="2400" dirty="0">
                <a:latin typeface="Book Antiqua" pitchFamily="18" charset="0"/>
              </a:rPr>
              <a:t>This form of learning is called </a:t>
            </a:r>
            <a:r>
              <a:rPr lang="en-US" sz="2400" b="1" dirty="0">
                <a:solidFill>
                  <a:srgbClr val="C00000"/>
                </a:solidFill>
                <a:latin typeface="Book Antiqua" pitchFamily="18" charset="0"/>
              </a:rPr>
              <a:t>error correction learning</a:t>
            </a:r>
            <a:r>
              <a:rPr lang="en-US" sz="2400" dirty="0">
                <a:latin typeface="Book Antiqua" pitchFamily="18" charset="0"/>
              </a:rPr>
              <a:t>.</a:t>
            </a:r>
            <a:endParaRPr lang="en-US" sz="26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60283030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Learning with Teacher</a:t>
            </a: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400050" algn="just"/>
            <a:r>
              <a:rPr lang="en-US" sz="2400" dirty="0">
                <a:latin typeface="Book Antiqua" pitchFamily="18" charset="0"/>
              </a:rPr>
              <a:t>Supervised machine learning is used for performing tasks like: </a:t>
            </a:r>
            <a:r>
              <a:rPr lang="en-US" sz="2400" b="1" i="1" dirty="0">
                <a:solidFill>
                  <a:srgbClr val="00B050"/>
                </a:solidFill>
                <a:latin typeface="Book Antiqua" pitchFamily="18" charset="0"/>
              </a:rPr>
              <a:t>Regression and Classification</a:t>
            </a:r>
            <a:r>
              <a:rPr lang="en-US" sz="2400" b="1" dirty="0">
                <a:solidFill>
                  <a:srgbClr val="00B050"/>
                </a:solidFill>
                <a:latin typeface="Book Antiqua" pitchFamily="18" charset="0"/>
              </a:rPr>
              <a:t>. </a:t>
            </a:r>
          </a:p>
          <a:p>
            <a:pPr marL="57150" indent="0" algn="just">
              <a:buNone/>
            </a:pPr>
            <a:endParaRPr lang="en-US" sz="2600" b="1" u="sng" dirty="0">
              <a:latin typeface="Book Antiqua" pitchFamily="18" charset="0"/>
            </a:endParaRPr>
          </a:p>
          <a:p>
            <a:pPr algn="just"/>
            <a:endParaRPr lang="en-US" sz="2600" dirty="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36</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pic>
        <p:nvPicPr>
          <p:cNvPr id="2" name="Picture 1"/>
          <p:cNvPicPr>
            <a:picLocks noChangeAspect="1"/>
          </p:cNvPicPr>
          <p:nvPr/>
        </p:nvPicPr>
        <p:blipFill>
          <a:blip r:embed="rId2"/>
          <a:stretch>
            <a:fillRect/>
          </a:stretch>
        </p:blipFill>
        <p:spPr>
          <a:xfrm>
            <a:off x="914400" y="2133600"/>
            <a:ext cx="5781675" cy="2600325"/>
          </a:xfrm>
          <a:prstGeom prst="rect">
            <a:avLst/>
          </a:prstGeom>
        </p:spPr>
      </p:pic>
    </p:spTree>
    <p:extLst>
      <p:ext uri="{BB962C8B-B14F-4D97-AF65-F5344CB8AC3E}">
        <p14:creationId xmlns:p14="http://schemas.microsoft.com/office/powerpoint/2010/main" val="147367849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Learning without Teacher</a:t>
            </a:r>
          </a:p>
          <a:p>
            <a:pPr algn="just"/>
            <a:r>
              <a:rPr lang="en-US" sz="2400" dirty="0">
                <a:latin typeface="Book Antiqua" pitchFamily="18" charset="0"/>
              </a:rPr>
              <a:t>In this learning paradigm, we do not provide training set to the neural network to teach it about mapping between input and output.</a:t>
            </a:r>
          </a:p>
          <a:p>
            <a:pPr algn="just"/>
            <a:r>
              <a:rPr lang="en-US" sz="2400" dirty="0">
                <a:latin typeface="Book Antiqua" pitchFamily="18" charset="0"/>
              </a:rPr>
              <a:t>There are two types of learning processes under this learning paradigm.</a:t>
            </a:r>
          </a:p>
          <a:p>
            <a:pPr lvl="1" algn="just"/>
            <a:r>
              <a:rPr lang="en-US" sz="2200" b="1" dirty="0">
                <a:solidFill>
                  <a:srgbClr val="0070C0"/>
                </a:solidFill>
                <a:latin typeface="Book Antiqua" pitchFamily="18" charset="0"/>
              </a:rPr>
              <a:t>Unsupervised Learning</a:t>
            </a:r>
          </a:p>
          <a:p>
            <a:pPr lvl="1" algn="just"/>
            <a:r>
              <a:rPr lang="en-US" sz="2200" b="1" dirty="0">
                <a:solidFill>
                  <a:srgbClr val="0070C0"/>
                </a:solidFill>
                <a:latin typeface="Book Antiqua" pitchFamily="18" charset="0"/>
              </a:rPr>
              <a:t>Reinforcement Learning</a:t>
            </a:r>
            <a:r>
              <a:rPr lang="en-US" sz="2200" dirty="0">
                <a:latin typeface="Book Antiqua" pitchFamily="18" charset="0"/>
              </a:rPr>
              <a:t>	</a:t>
            </a:r>
          </a:p>
          <a:p>
            <a:pPr algn="just"/>
            <a:endParaRPr lang="en-US" sz="26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52418321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Unsupervised Learning</a:t>
            </a:r>
          </a:p>
          <a:p>
            <a:pPr algn="just"/>
            <a:r>
              <a:rPr lang="en-US" sz="2400" dirty="0">
                <a:latin typeface="Book Antiqua" pitchFamily="18" charset="0"/>
              </a:rPr>
              <a:t>In unsupervised learning </a:t>
            </a:r>
            <a:r>
              <a:rPr lang="en-US" sz="2400" i="1" dirty="0">
                <a:solidFill>
                  <a:schemeClr val="accent6">
                    <a:lumMod val="75000"/>
                  </a:schemeClr>
                </a:solidFill>
                <a:latin typeface="Book Antiqua" pitchFamily="18" charset="0"/>
              </a:rPr>
              <a:t>neural network is provided with dataset </a:t>
            </a:r>
            <a:r>
              <a:rPr lang="en-US" sz="2400" i="1" dirty="0">
                <a:solidFill>
                  <a:srgbClr val="C00000"/>
                </a:solidFill>
                <a:latin typeface="Book Antiqua" pitchFamily="18" charset="0"/>
              </a:rPr>
              <a:t>without</a:t>
            </a:r>
            <a:r>
              <a:rPr lang="en-US" sz="2400" i="1" dirty="0">
                <a:solidFill>
                  <a:schemeClr val="accent6">
                    <a:lumMod val="75000"/>
                  </a:schemeClr>
                </a:solidFill>
                <a:latin typeface="Book Antiqua" pitchFamily="18" charset="0"/>
              </a:rPr>
              <a:t> desired output</a:t>
            </a:r>
            <a:r>
              <a:rPr lang="en-US" sz="2400" dirty="0">
                <a:latin typeface="Book Antiqua" pitchFamily="18" charset="0"/>
              </a:rPr>
              <a:t>.</a:t>
            </a:r>
          </a:p>
          <a:p>
            <a:pPr algn="just"/>
            <a:r>
              <a:rPr lang="en-US" sz="2400" dirty="0">
                <a:latin typeface="Book Antiqua" pitchFamily="18" charset="0"/>
              </a:rPr>
              <a:t>The neural network then attempts to find </a:t>
            </a:r>
            <a:r>
              <a:rPr lang="en-US" sz="2400" dirty="0">
                <a:solidFill>
                  <a:srgbClr val="00B050"/>
                </a:solidFill>
                <a:latin typeface="Book Antiqua" pitchFamily="18" charset="0"/>
              </a:rPr>
              <a:t>structure</a:t>
            </a:r>
            <a:r>
              <a:rPr lang="en-US" sz="2400" dirty="0">
                <a:solidFill>
                  <a:schemeClr val="accent6">
                    <a:lumMod val="75000"/>
                  </a:schemeClr>
                </a:solidFill>
                <a:latin typeface="Book Antiqua" pitchFamily="18" charset="0"/>
              </a:rPr>
              <a:t> in the data by extracting </a:t>
            </a:r>
            <a:r>
              <a:rPr lang="en-US" sz="2400" dirty="0">
                <a:solidFill>
                  <a:srgbClr val="00B050"/>
                </a:solidFill>
                <a:latin typeface="Book Antiqua" pitchFamily="18" charset="0"/>
              </a:rPr>
              <a:t>useful</a:t>
            </a:r>
            <a:r>
              <a:rPr lang="en-US" sz="2400" dirty="0">
                <a:solidFill>
                  <a:schemeClr val="accent6">
                    <a:lumMod val="75000"/>
                  </a:schemeClr>
                </a:solidFill>
                <a:latin typeface="Book Antiqua" pitchFamily="18" charset="0"/>
              </a:rPr>
              <a:t> </a:t>
            </a:r>
            <a:r>
              <a:rPr lang="en-US" sz="2400" dirty="0">
                <a:solidFill>
                  <a:srgbClr val="00B050"/>
                </a:solidFill>
                <a:latin typeface="Book Antiqua" pitchFamily="18" charset="0"/>
              </a:rPr>
              <a:t>features</a:t>
            </a:r>
            <a:r>
              <a:rPr lang="en-US" sz="2400" dirty="0">
                <a:solidFill>
                  <a:schemeClr val="accent6">
                    <a:lumMod val="75000"/>
                  </a:schemeClr>
                </a:solidFill>
                <a:latin typeface="Book Antiqua" pitchFamily="18" charset="0"/>
              </a:rPr>
              <a:t> and analyzing its structure.</a:t>
            </a:r>
          </a:p>
          <a:p>
            <a:pPr algn="just"/>
            <a:r>
              <a:rPr lang="en-US" sz="2400" dirty="0">
                <a:latin typeface="Book Antiqua" pitchFamily="18" charset="0"/>
              </a:rPr>
              <a:t>To perform this type of learning, we use competitive learning rule.</a:t>
            </a: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04140689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Unsupervised Learning</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Unsupervised learning algorithms are widely used for tasks like: </a:t>
            </a:r>
            <a:r>
              <a:rPr lang="en-US" sz="2400" b="1" i="1" dirty="0">
                <a:solidFill>
                  <a:srgbClr val="00B050"/>
                </a:solidFill>
                <a:latin typeface="Book Antiqua" pitchFamily="18" charset="0"/>
              </a:rPr>
              <a:t>clustering, dimensionality reduction, association mining </a:t>
            </a:r>
            <a:r>
              <a:rPr lang="en-US" sz="2400" i="1" dirty="0">
                <a:latin typeface="Book Antiqua" pitchFamily="18" charset="0"/>
              </a:rPr>
              <a:t>etc.</a:t>
            </a:r>
            <a:endParaRPr lang="en-US" sz="2400" dirty="0">
              <a:latin typeface="Book Antiqua" pitchFamily="18" charset="0"/>
            </a:endParaRPr>
          </a:p>
          <a:p>
            <a:pPr algn="just"/>
            <a:endParaRPr lang="en-US" sz="2400" dirty="0">
              <a:latin typeface="Book Antiqua" pitchFamily="18" charset="0"/>
            </a:endParaRP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39</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pic>
        <p:nvPicPr>
          <p:cNvPr id="2" name="Picture 1"/>
          <p:cNvPicPr>
            <a:picLocks noChangeAspect="1"/>
          </p:cNvPicPr>
          <p:nvPr/>
        </p:nvPicPr>
        <p:blipFill>
          <a:blip r:embed="rId2"/>
          <a:stretch>
            <a:fillRect/>
          </a:stretch>
        </p:blipFill>
        <p:spPr>
          <a:xfrm>
            <a:off x="1295400" y="1905000"/>
            <a:ext cx="5314950" cy="1600200"/>
          </a:xfrm>
          <a:prstGeom prst="rect">
            <a:avLst/>
          </a:prstGeom>
        </p:spPr>
      </p:pic>
    </p:spTree>
    <p:extLst>
      <p:ext uri="{BB962C8B-B14F-4D97-AF65-F5344CB8AC3E}">
        <p14:creationId xmlns:p14="http://schemas.microsoft.com/office/powerpoint/2010/main" val="413922719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Reinforcement Learning</a:t>
            </a:r>
          </a:p>
          <a:p>
            <a:pPr algn="just"/>
            <a:r>
              <a:rPr lang="en-US" sz="2400" dirty="0">
                <a:latin typeface="Book Antiqua" pitchFamily="18" charset="0"/>
              </a:rPr>
              <a:t>In reinforcement learning, we do not provide the machine with examples of correct input-output pairs, but we do provide a method for the machine to quantify its performance in the form of a reward signal. </a:t>
            </a:r>
          </a:p>
          <a:p>
            <a:pPr algn="just"/>
            <a:r>
              <a:rPr lang="en-US" sz="2400" dirty="0">
                <a:latin typeface="Book Antiqua" pitchFamily="18" charset="0"/>
              </a:rPr>
              <a:t>Reinforcement learning methods </a:t>
            </a:r>
            <a:r>
              <a:rPr lang="en-US" sz="2400" dirty="0">
                <a:solidFill>
                  <a:srgbClr val="00B050"/>
                </a:solidFill>
                <a:latin typeface="Book Antiqua" pitchFamily="18" charset="0"/>
              </a:rPr>
              <a:t>resemble how humans and animals learn</a:t>
            </a:r>
            <a:r>
              <a:rPr lang="en-US" sz="2400" dirty="0">
                <a:latin typeface="Book Antiqua" pitchFamily="18" charset="0"/>
              </a:rPr>
              <a:t>: the machine tries a bunch of different things and is </a:t>
            </a:r>
            <a:r>
              <a:rPr lang="en-US" sz="2400" b="1" dirty="0">
                <a:solidFill>
                  <a:srgbClr val="00B050"/>
                </a:solidFill>
                <a:latin typeface="Book Antiqua" pitchFamily="18" charset="0"/>
              </a:rPr>
              <a:t>rewarded</a:t>
            </a:r>
            <a:r>
              <a:rPr lang="en-US" sz="2400" dirty="0">
                <a:latin typeface="Book Antiqua" pitchFamily="18" charset="0"/>
              </a:rPr>
              <a:t> with performance signal.</a:t>
            </a: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87935422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Reinforcement Learning</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Reinforcement learning algorithms are widely used for training agents interacting with its environment.</a:t>
            </a:r>
          </a:p>
          <a:p>
            <a:pPr algn="just"/>
            <a:endParaRPr lang="en-US" sz="2400" dirty="0">
              <a:latin typeface="Book Antiqua" pitchFamily="18" charset="0"/>
            </a:endParaRP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41</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pic>
        <p:nvPicPr>
          <p:cNvPr id="2" name="Picture 1"/>
          <p:cNvPicPr>
            <a:picLocks noChangeAspect="1"/>
          </p:cNvPicPr>
          <p:nvPr/>
        </p:nvPicPr>
        <p:blipFill>
          <a:blip r:embed="rId2"/>
          <a:stretch>
            <a:fillRect/>
          </a:stretch>
        </p:blipFill>
        <p:spPr>
          <a:xfrm>
            <a:off x="838200" y="1828800"/>
            <a:ext cx="6076950" cy="2752725"/>
          </a:xfrm>
          <a:prstGeom prst="rect">
            <a:avLst/>
          </a:prstGeom>
        </p:spPr>
      </p:pic>
    </p:spTree>
    <p:extLst>
      <p:ext uri="{BB962C8B-B14F-4D97-AF65-F5344CB8AC3E}">
        <p14:creationId xmlns:p14="http://schemas.microsoft.com/office/powerpoint/2010/main" val="215026143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algn="just"/>
            <a:r>
              <a:rPr lang="en-US" sz="2600" dirty="0">
                <a:latin typeface="Book Antiqua" pitchFamily="18" charset="0"/>
              </a:rPr>
              <a:t>We can apply many learning tools and techniques in ANN. Selection of particular learning tool and technique depends upon the pattern analysis task to be performed. Some of the major pattern analysis tasks are listed below.</a:t>
            </a:r>
          </a:p>
          <a:p>
            <a:pPr lvl="1" algn="just"/>
            <a:r>
              <a:rPr lang="en-US" sz="2200" b="1" dirty="0">
                <a:solidFill>
                  <a:srgbClr val="0070C0"/>
                </a:solidFill>
                <a:latin typeface="Book Antiqua" pitchFamily="18" charset="0"/>
              </a:rPr>
              <a:t>Classification</a:t>
            </a:r>
          </a:p>
          <a:p>
            <a:pPr lvl="1" algn="just"/>
            <a:r>
              <a:rPr lang="en-US" sz="2200" b="1" dirty="0">
                <a:solidFill>
                  <a:srgbClr val="0070C0"/>
                </a:solidFill>
                <a:latin typeface="Book Antiqua" pitchFamily="18" charset="0"/>
              </a:rPr>
              <a:t>Regression</a:t>
            </a:r>
          </a:p>
          <a:p>
            <a:pPr lvl="1" algn="just"/>
            <a:r>
              <a:rPr lang="en-US" sz="2200" b="1" dirty="0">
                <a:solidFill>
                  <a:srgbClr val="0070C0"/>
                </a:solidFill>
                <a:latin typeface="Book Antiqua" pitchFamily="18" charset="0"/>
              </a:rPr>
              <a:t>Clustering</a:t>
            </a:r>
          </a:p>
        </p:txBody>
      </p:sp>
      <p:sp>
        <p:nvSpPr>
          <p:cNvPr id="6" name="Slide Number Placeholder 5"/>
          <p:cNvSpPr>
            <a:spLocks noGrp="1"/>
          </p:cNvSpPr>
          <p:nvPr>
            <p:ph type="sldNum" sz="quarter" idx="12"/>
          </p:nvPr>
        </p:nvSpPr>
        <p:spPr/>
        <p:txBody>
          <a:bodyPr/>
          <a:lstStyle/>
          <a:p>
            <a:fld id="{3F22444B-AD59-459C-8316-D24326876BE4}" type="slidenum">
              <a:rPr lang="en-US" smtClean="0"/>
              <a:pPr/>
              <a:t>42</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4225230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a:latin typeface="Book Antiqua" panose="02040602050305030304" pitchFamily="18" charset="0"/>
              </a:rPr>
              <a:t>Classification and Regression are two major categories of prediction problems which are usually dealt with machine learning. </a:t>
            </a:r>
          </a:p>
          <a:p>
            <a:pPr algn="just"/>
            <a:r>
              <a:rPr lang="en-US" sz="2400" dirty="0">
                <a:latin typeface="Book Antiqua" panose="02040602050305030304" pitchFamily="18" charset="0"/>
              </a:rPr>
              <a:t>Both of them are </a:t>
            </a:r>
            <a:r>
              <a:rPr lang="en-US" sz="2400" dirty="0">
                <a:solidFill>
                  <a:srgbClr val="00B050"/>
                </a:solidFill>
                <a:latin typeface="Book Antiqua" panose="02040602050305030304" pitchFamily="18" charset="0"/>
              </a:rPr>
              <a:t>supervised learning </a:t>
            </a:r>
            <a:r>
              <a:rPr lang="en-US" sz="2400" dirty="0">
                <a:latin typeface="Book Antiqua" panose="02040602050305030304" pitchFamily="18" charset="0"/>
              </a:rPr>
              <a:t>approaches. Classification is the process of finding or discovering a model or function which helps to </a:t>
            </a:r>
            <a:r>
              <a:rPr lang="en-US" sz="2400" dirty="0">
                <a:solidFill>
                  <a:srgbClr val="00B050"/>
                </a:solidFill>
                <a:latin typeface="Book Antiqua" panose="02040602050305030304" pitchFamily="18" charset="0"/>
              </a:rPr>
              <a:t>predict class label for a given data.</a:t>
            </a:r>
          </a:p>
          <a:p>
            <a:pPr algn="just"/>
            <a:r>
              <a:rPr lang="en-US" sz="2400" dirty="0">
                <a:latin typeface="Book Antiqua" panose="02040602050305030304" pitchFamily="18" charset="0"/>
              </a:rPr>
              <a:t>Regression is the process of finding a model or function which is used to predict </a:t>
            </a:r>
            <a:r>
              <a:rPr lang="en-US" sz="2400" dirty="0">
                <a:solidFill>
                  <a:srgbClr val="00B050"/>
                </a:solidFill>
                <a:latin typeface="Book Antiqua" panose="02040602050305030304" pitchFamily="18" charset="0"/>
              </a:rPr>
              <a:t>continuous real-valued output for a given data.</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43</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6834545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a:latin typeface="Book Antiqua" panose="02040602050305030304" pitchFamily="18" charset="0"/>
              </a:rPr>
              <a:t>For example, we can build a classification model to categorize </a:t>
            </a:r>
            <a:r>
              <a:rPr lang="en-US" sz="2400" dirty="0">
                <a:solidFill>
                  <a:srgbClr val="00B050"/>
                </a:solidFill>
                <a:latin typeface="Book Antiqua" panose="02040602050305030304" pitchFamily="18" charset="0"/>
              </a:rPr>
              <a:t>bank loan </a:t>
            </a:r>
            <a:r>
              <a:rPr lang="en-US" sz="2400" dirty="0">
                <a:latin typeface="Book Antiqua" panose="02040602050305030304" pitchFamily="18" charset="0"/>
              </a:rPr>
              <a:t>applications as either </a:t>
            </a:r>
            <a:r>
              <a:rPr lang="en-US" sz="2400" i="1" dirty="0">
                <a:latin typeface="Book Antiqua" panose="02040602050305030304" pitchFamily="18" charset="0"/>
              </a:rPr>
              <a:t>safe or risky</a:t>
            </a:r>
            <a:r>
              <a:rPr lang="en-US" sz="2400" dirty="0">
                <a:latin typeface="Book Antiqua" panose="02040602050305030304" pitchFamily="18" charset="0"/>
              </a:rPr>
              <a:t>. We can also construct a classification model to identify digits.</a:t>
            </a:r>
          </a:p>
          <a:p>
            <a:pPr algn="just"/>
            <a:r>
              <a:rPr lang="en-US" sz="2400" dirty="0">
                <a:latin typeface="Book Antiqua" panose="02040602050305030304" pitchFamily="18" charset="0"/>
              </a:rPr>
              <a:t>On the other hand, we can build a regression model to predict the expenditures of a potential customers on computer equipment given their income and occupation. We can also build a prediction model to predict </a:t>
            </a:r>
            <a:r>
              <a:rPr lang="en-US" sz="2400" dirty="0">
                <a:solidFill>
                  <a:srgbClr val="00B050"/>
                </a:solidFill>
                <a:latin typeface="Book Antiqua" panose="02040602050305030304" pitchFamily="18" charset="0"/>
              </a:rPr>
              <a:t>stock price </a:t>
            </a:r>
            <a:r>
              <a:rPr lang="en-US" sz="2400" dirty="0">
                <a:latin typeface="Book Antiqua" panose="02040602050305030304" pitchFamily="18" charset="0"/>
              </a:rPr>
              <a:t>given historical trading data.</a:t>
            </a:r>
          </a:p>
          <a:p>
            <a:pPr algn="just"/>
            <a:endParaRPr lang="en-US" sz="2400" dirty="0">
              <a:latin typeface="Book Antiqua" panose="02040602050305030304" pitchFamily="18" charset="0"/>
            </a:endParaRP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44</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08744631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a:latin typeface="Book Antiqua" panose="02040602050305030304" pitchFamily="18" charset="0"/>
              </a:rPr>
              <a:t>The classification and regression process works in following two steps: Learning Step and Testing Step</a:t>
            </a:r>
          </a:p>
          <a:p>
            <a:pPr algn="just"/>
            <a:r>
              <a:rPr lang="en-US" sz="2400" b="1" dirty="0">
                <a:latin typeface="Book Antiqua" panose="02040602050305030304" pitchFamily="18" charset="0"/>
              </a:rPr>
              <a:t>Learning Step: </a:t>
            </a:r>
            <a:r>
              <a:rPr lang="en-US" sz="2400" dirty="0">
                <a:latin typeface="Book Antiqua" panose="02040602050305030304" pitchFamily="18" charset="0"/>
              </a:rPr>
              <a:t>This step is also called </a:t>
            </a:r>
            <a:r>
              <a:rPr lang="en-US" sz="2400" dirty="0">
                <a:solidFill>
                  <a:srgbClr val="00B050"/>
                </a:solidFill>
                <a:latin typeface="Book Antiqua" panose="02040602050305030304" pitchFamily="18" charset="0"/>
              </a:rPr>
              <a:t>training step or training phase.</a:t>
            </a:r>
            <a:r>
              <a:rPr lang="en-US" sz="2400" dirty="0">
                <a:latin typeface="Book Antiqua" panose="02040602050305030304" pitchFamily="18" charset="0"/>
              </a:rPr>
              <a:t> In this step the learning algorithms build a model on the basis of </a:t>
            </a:r>
            <a:r>
              <a:rPr lang="en-US" sz="2400" dirty="0">
                <a:solidFill>
                  <a:srgbClr val="00B050"/>
                </a:solidFill>
                <a:latin typeface="Book Antiqua" panose="02040602050305030304" pitchFamily="18" charset="0"/>
              </a:rPr>
              <a:t>relationship</a:t>
            </a:r>
            <a:r>
              <a:rPr lang="en-US" sz="2400" dirty="0">
                <a:latin typeface="Book Antiqua" panose="02040602050305030304" pitchFamily="18" charset="0"/>
              </a:rPr>
              <a:t> between input and output in the training dataset. This dataset contains input attributes along with output for every input tuple.</a:t>
            </a:r>
          </a:p>
          <a:p>
            <a:pPr algn="just"/>
            <a:r>
              <a:rPr lang="en-US" sz="2400" dirty="0">
                <a:latin typeface="Book Antiqua" panose="02040602050305030304" pitchFamily="18" charset="0"/>
              </a:rPr>
              <a:t>Because the output of each training tuple </a:t>
            </a:r>
            <a:r>
              <a:rPr lang="en-US" sz="2400" i="1" dirty="0">
                <a:latin typeface="Book Antiqua" panose="02040602050305030304" pitchFamily="18" charset="0"/>
              </a:rPr>
              <a:t>is provided</a:t>
            </a:r>
            <a:r>
              <a:rPr lang="en-US" sz="2400" dirty="0">
                <a:latin typeface="Book Antiqua" panose="02040602050305030304" pitchFamily="18" charset="0"/>
              </a:rPr>
              <a:t>, this step is also known as supervised learning </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69582719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lvl="0" algn="just"/>
            <a:r>
              <a:rPr lang="en-US" sz="2400" b="1" dirty="0">
                <a:latin typeface="Book Antiqua" panose="02040602050305030304" pitchFamily="18" charset="0"/>
              </a:rPr>
              <a:t>Testing Step: </a:t>
            </a:r>
            <a:r>
              <a:rPr lang="en-US" sz="2400" dirty="0">
                <a:latin typeface="Book Antiqua" panose="02040602050305030304" pitchFamily="18" charset="0"/>
              </a:rPr>
              <a:t>In this step, the model is used for prediction. Here the </a:t>
            </a:r>
            <a:r>
              <a:rPr lang="en-US" sz="2400" dirty="0">
                <a:solidFill>
                  <a:srgbClr val="00B050"/>
                </a:solidFill>
                <a:latin typeface="Book Antiqua" panose="02040602050305030304" pitchFamily="18" charset="0"/>
              </a:rPr>
              <a:t>test dataset </a:t>
            </a:r>
            <a:r>
              <a:rPr lang="en-US" sz="2400" dirty="0">
                <a:latin typeface="Book Antiqua" panose="02040602050305030304" pitchFamily="18" charset="0"/>
              </a:rPr>
              <a:t>is used to estimate the accuracy of the model. This dataset contains values of input attributes along with value output attribute. </a:t>
            </a:r>
          </a:p>
          <a:p>
            <a:pPr lvl="0" algn="just"/>
            <a:r>
              <a:rPr lang="en-US" sz="2400" dirty="0">
                <a:latin typeface="Book Antiqua" panose="02040602050305030304" pitchFamily="18" charset="0"/>
              </a:rPr>
              <a:t>However, the model only takes values of input attributes and predicts output of each input tuple. </a:t>
            </a:r>
          </a:p>
          <a:p>
            <a:pPr lvl="0" algn="just"/>
            <a:r>
              <a:rPr lang="en-US" sz="2400" dirty="0">
                <a:latin typeface="Book Antiqua" panose="02040602050305030304" pitchFamily="18" charset="0"/>
              </a:rPr>
              <a:t>Then, efficiency measures of the model is computed by looking at predicted output and actual output of test dataset.  The model can be applied to the new data tuples if the accuracy is considered acceptable.</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46</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1982514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Clustering</a:t>
            </a:r>
          </a:p>
          <a:p>
            <a:pPr algn="just"/>
            <a:r>
              <a:rPr lang="en-US" sz="2400" dirty="0">
                <a:latin typeface="Book Antiqua" panose="02040602050305030304" pitchFamily="18" charset="0"/>
              </a:rPr>
              <a:t>Unlike classification and prediction, which analyze output-labeled data objects, clustering analyzes data objects without consulting a known output. </a:t>
            </a:r>
          </a:p>
          <a:p>
            <a:pPr algn="just"/>
            <a:r>
              <a:rPr lang="en-US" sz="2400" dirty="0">
                <a:latin typeface="Book Antiqua" panose="02040602050305030304" pitchFamily="18" charset="0"/>
              </a:rPr>
              <a:t>Clustering can be used to generate output labels. The objects are clustered or grouped based on the principle of </a:t>
            </a:r>
            <a:r>
              <a:rPr lang="en-US" sz="2400" b="1" i="1" dirty="0">
                <a:solidFill>
                  <a:srgbClr val="00B050"/>
                </a:solidFill>
                <a:latin typeface="Book Antiqua" panose="02040602050305030304" pitchFamily="18" charset="0"/>
              </a:rPr>
              <a:t>maximizing</a:t>
            </a:r>
            <a:r>
              <a:rPr lang="en-US" sz="2400" i="1" dirty="0">
                <a:latin typeface="Book Antiqua" panose="02040602050305030304" pitchFamily="18" charset="0"/>
              </a:rPr>
              <a:t> the </a:t>
            </a:r>
            <a:r>
              <a:rPr lang="en-US" sz="2400" i="1" dirty="0">
                <a:solidFill>
                  <a:srgbClr val="00B050"/>
                </a:solidFill>
                <a:latin typeface="Book Antiqua" panose="02040602050305030304" pitchFamily="18" charset="0"/>
              </a:rPr>
              <a:t>intra-class similarity</a:t>
            </a:r>
            <a:r>
              <a:rPr lang="en-US" sz="2400" i="1" dirty="0">
                <a:latin typeface="Book Antiqua" panose="02040602050305030304" pitchFamily="18" charset="0"/>
              </a:rPr>
              <a:t> and </a:t>
            </a:r>
            <a:r>
              <a:rPr lang="en-US" sz="2400" b="1" i="1" dirty="0">
                <a:solidFill>
                  <a:srgbClr val="00B050"/>
                </a:solidFill>
                <a:latin typeface="Book Antiqua" panose="02040602050305030304" pitchFamily="18" charset="0"/>
              </a:rPr>
              <a:t>minimizing</a:t>
            </a:r>
            <a:r>
              <a:rPr lang="en-US" sz="2400" i="1" dirty="0">
                <a:latin typeface="Book Antiqua" panose="02040602050305030304" pitchFamily="18" charset="0"/>
              </a:rPr>
              <a:t> the </a:t>
            </a:r>
            <a:r>
              <a:rPr lang="en-US" sz="2400" i="1" dirty="0">
                <a:solidFill>
                  <a:srgbClr val="00B050"/>
                </a:solidFill>
                <a:latin typeface="Book Antiqua" panose="02040602050305030304" pitchFamily="18" charset="0"/>
              </a:rPr>
              <a:t>interclass similarity</a:t>
            </a:r>
            <a:r>
              <a:rPr lang="en-US" sz="2400" dirty="0">
                <a:latin typeface="Book Antiqua" panose="02040602050305030304" pitchFamily="18" charset="0"/>
              </a:rPr>
              <a:t>. </a:t>
            </a:r>
          </a:p>
          <a:p>
            <a:pPr algn="just"/>
            <a:r>
              <a:rPr lang="en-US" sz="2400" dirty="0">
                <a:latin typeface="Book Antiqua" panose="02040602050305030304" pitchFamily="18" charset="0"/>
              </a:rPr>
              <a:t>That is, clusters of objects are formed so that objects within a cluster have high similarity in comparison to one another, but are very dissimilar to objects in other clusters</a:t>
            </a:r>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12475296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a:latin typeface="Book Antiqua" panose="02040602050305030304" pitchFamily="18" charset="0"/>
              </a:rPr>
              <a:t>Clustering</a:t>
            </a:r>
          </a:p>
          <a:p>
            <a:pPr algn="just"/>
            <a:r>
              <a:rPr lang="en-US" sz="2400">
                <a:latin typeface="Book Antiqua" panose="02040602050305030304" pitchFamily="18" charset="0"/>
              </a:rPr>
              <a:t>For </a:t>
            </a:r>
            <a:r>
              <a:rPr lang="en-US" sz="2400" dirty="0">
                <a:latin typeface="Book Antiqua" panose="02040602050305030304" pitchFamily="18" charset="0"/>
              </a:rPr>
              <a:t>example, cluster analysis can be performed on customer data to identify homogeneous subpopulations of customers. These clusters may represent individual target groups for marketing.</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288665758"/>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11645</TotalTime>
  <Words>3441</Words>
  <Application>Microsoft Office PowerPoint</Application>
  <PresentationFormat>On-screen Show (4:3)</PresentationFormat>
  <Paragraphs>412</Paragraphs>
  <Slides>48</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4" baseType="lpstr">
      <vt:lpstr>Arial</vt:lpstr>
      <vt:lpstr>Book Antiqua</vt:lpstr>
      <vt:lpstr>Calibri</vt:lpstr>
      <vt:lpstr>Wingdings</vt:lpstr>
      <vt:lpstr>Office Theme</vt:lpstr>
      <vt:lpstr>Equation</vt:lpstr>
      <vt:lpstr>PowerPoint Presentation</vt:lpstr>
      <vt:lpstr>What is ANN?</vt:lpstr>
      <vt:lpstr>What is ANN?</vt:lpstr>
      <vt:lpstr>Biological Neural Networks</vt:lpstr>
      <vt:lpstr>Biological Neural Networks</vt:lpstr>
      <vt:lpstr>Biological Neural Networks</vt:lpstr>
      <vt:lpstr>Biological Neural Networks</vt:lpstr>
      <vt:lpstr>Models of Neuron</vt:lpstr>
      <vt:lpstr>Models of Neuron</vt:lpstr>
      <vt:lpstr>Models of Neuron</vt:lpstr>
      <vt:lpstr>Models of Neuron</vt:lpstr>
      <vt:lpstr>Models of Neuron</vt:lpstr>
      <vt:lpstr>Models of Neuron</vt:lpstr>
      <vt:lpstr>Models of Neuron</vt:lpstr>
      <vt:lpstr>Models of Neuron</vt:lpstr>
      <vt:lpstr>Models of Neuron</vt:lpstr>
      <vt:lpstr>Models of Neuron Contd…</vt:lpstr>
      <vt:lpstr>Models of Neuron Contd…</vt:lpstr>
      <vt:lpstr>Models of Neuron Contd..</vt:lpstr>
      <vt:lpstr>Activation Functions</vt:lpstr>
      <vt:lpstr>Activation Functions </vt:lpstr>
      <vt:lpstr>Activation Functions </vt:lpstr>
      <vt:lpstr>Activation Functions </vt:lpstr>
      <vt:lpstr>Activation Functions</vt:lpstr>
      <vt:lpstr>Activation Functions</vt:lpstr>
      <vt:lpstr>Activation Functions</vt:lpstr>
      <vt:lpstr>Activation Functions</vt:lpstr>
      <vt:lpstr>Structures of Neural Network</vt:lpstr>
      <vt:lpstr>Structures of Neural Network</vt:lpstr>
      <vt:lpstr>Neural Network Architectures</vt:lpstr>
      <vt:lpstr>Neural Network Architectures</vt:lpstr>
      <vt:lpstr>Neural Network Architectures</vt:lpstr>
      <vt:lpstr>Neural Network Architectures</vt:lpstr>
      <vt:lpstr>Learning Principles</vt:lpstr>
      <vt:lpstr>Learning Principles</vt:lpstr>
      <vt:lpstr>Learning Principles</vt:lpstr>
      <vt:lpstr>Learning Principles</vt:lpstr>
      <vt:lpstr>Learning Principles</vt:lpstr>
      <vt:lpstr>Learning Principles</vt:lpstr>
      <vt:lpstr>Learning Principles</vt:lpstr>
      <vt:lpstr>Learning Principles</vt:lpstr>
      <vt:lpstr>Pattern Analysis Tasks</vt:lpstr>
      <vt:lpstr>Pattern Analysis Tasks</vt:lpstr>
      <vt:lpstr>Pattern Analysis Tasks</vt:lpstr>
      <vt:lpstr>Pattern Analysis Tasks</vt:lpstr>
      <vt:lpstr>Pattern Analysis Tasks</vt:lpstr>
      <vt:lpstr>Pattern Analysis Tasks</vt:lpstr>
      <vt:lpstr>Pattern Analysis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274</cp:revision>
  <dcterms:created xsi:type="dcterms:W3CDTF">2018-12-09T05:19:45Z</dcterms:created>
  <dcterms:modified xsi:type="dcterms:W3CDTF">2025-06-28T12:15:00Z</dcterms:modified>
</cp:coreProperties>
</file>