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312" r:id="rId3"/>
    <p:sldId id="325" r:id="rId4"/>
    <p:sldId id="326" r:id="rId5"/>
    <p:sldId id="324" r:id="rId6"/>
    <p:sldId id="313" r:id="rId7"/>
    <p:sldId id="314" r:id="rId8"/>
    <p:sldId id="315" r:id="rId9"/>
    <p:sldId id="316" r:id="rId10"/>
    <p:sldId id="318" r:id="rId11"/>
    <p:sldId id="317" r:id="rId12"/>
    <p:sldId id="319" r:id="rId13"/>
    <p:sldId id="320" r:id="rId14"/>
    <p:sldId id="321" r:id="rId15"/>
    <p:sldId id="322" r:id="rId16"/>
    <p:sldId id="323" r:id="rId17"/>
    <p:sldId id="327" r:id="rId18"/>
    <p:sldId id="328" r:id="rId19"/>
    <p:sldId id="329" r:id="rId20"/>
    <p:sldId id="330" r:id="rId21"/>
    <p:sldId id="331" r:id="rId22"/>
    <p:sldId id="332" r:id="rId23"/>
    <p:sldId id="333" r:id="rId24"/>
    <p:sldId id="33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434" autoAdjust="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jan Basnet" userId="495fd8277ebfbaef" providerId="LiveId" clId="{44C3842F-CEA5-4ED0-A594-FEFAC5D0A10D}"/>
    <pc:docChg chg="undo redo custSel modSld">
      <pc:chgData name="Yujan Basnet" userId="495fd8277ebfbaef" providerId="LiveId" clId="{44C3842F-CEA5-4ED0-A594-FEFAC5D0A10D}" dt="2025-06-27T07:26:13.602" v="57" actId="207"/>
      <pc:docMkLst>
        <pc:docMk/>
      </pc:docMkLst>
      <pc:sldChg chg="modSp mod">
        <pc:chgData name="Yujan Basnet" userId="495fd8277ebfbaef" providerId="LiveId" clId="{44C3842F-CEA5-4ED0-A594-FEFAC5D0A10D}" dt="2025-06-27T03:19:56.199" v="3" actId="113"/>
        <pc:sldMkLst>
          <pc:docMk/>
          <pc:sldMk cId="1061150393" sldId="312"/>
        </pc:sldMkLst>
        <pc:spChg chg="mod">
          <ac:chgData name="Yujan Basnet" userId="495fd8277ebfbaef" providerId="LiveId" clId="{44C3842F-CEA5-4ED0-A594-FEFAC5D0A10D}" dt="2025-06-27T03:19:56.199" v="3" actId="113"/>
          <ac:spMkLst>
            <pc:docMk/>
            <pc:sldMk cId="1061150393" sldId="312"/>
            <ac:spMk id="3" creationId="{00000000-0000-0000-0000-000000000000}"/>
          </ac:spMkLst>
        </pc:spChg>
      </pc:sldChg>
      <pc:sldChg chg="modSp mod">
        <pc:chgData name="Yujan Basnet" userId="495fd8277ebfbaef" providerId="LiveId" clId="{44C3842F-CEA5-4ED0-A594-FEFAC5D0A10D}" dt="2025-06-27T04:04:14.815" v="21" actId="207"/>
        <pc:sldMkLst>
          <pc:docMk/>
          <pc:sldMk cId="742932119" sldId="313"/>
        </pc:sldMkLst>
        <pc:spChg chg="mod">
          <ac:chgData name="Yujan Basnet" userId="495fd8277ebfbaef" providerId="LiveId" clId="{44C3842F-CEA5-4ED0-A594-FEFAC5D0A10D}" dt="2025-06-27T04:04:14.815" v="21" actId="207"/>
          <ac:spMkLst>
            <pc:docMk/>
            <pc:sldMk cId="742932119" sldId="313"/>
            <ac:spMk id="3" creationId="{00000000-0000-0000-0000-000000000000}"/>
          </ac:spMkLst>
        </pc:spChg>
      </pc:sldChg>
      <pc:sldChg chg="modSp mod">
        <pc:chgData name="Yujan Basnet" userId="495fd8277ebfbaef" providerId="LiveId" clId="{44C3842F-CEA5-4ED0-A594-FEFAC5D0A10D}" dt="2025-06-27T04:06:03.604" v="28" actId="207"/>
        <pc:sldMkLst>
          <pc:docMk/>
          <pc:sldMk cId="1573102276" sldId="314"/>
        </pc:sldMkLst>
        <pc:spChg chg="mod">
          <ac:chgData name="Yujan Basnet" userId="495fd8277ebfbaef" providerId="LiveId" clId="{44C3842F-CEA5-4ED0-A594-FEFAC5D0A10D}" dt="2025-06-27T04:06:03.604" v="28" actId="207"/>
          <ac:spMkLst>
            <pc:docMk/>
            <pc:sldMk cId="1573102276" sldId="314"/>
            <ac:spMk id="3" creationId="{00000000-0000-0000-0000-000000000000}"/>
          </ac:spMkLst>
        </pc:spChg>
      </pc:sldChg>
      <pc:sldChg chg="modSp mod">
        <pc:chgData name="Yujan Basnet" userId="495fd8277ebfbaef" providerId="LiveId" clId="{44C3842F-CEA5-4ED0-A594-FEFAC5D0A10D}" dt="2025-06-27T04:29:33.819" v="31" actId="207"/>
        <pc:sldMkLst>
          <pc:docMk/>
          <pc:sldMk cId="3480417766" sldId="316"/>
        </pc:sldMkLst>
        <pc:spChg chg="mod">
          <ac:chgData name="Yujan Basnet" userId="495fd8277ebfbaef" providerId="LiveId" clId="{44C3842F-CEA5-4ED0-A594-FEFAC5D0A10D}" dt="2025-06-27T04:29:33.819" v="31" actId="207"/>
          <ac:spMkLst>
            <pc:docMk/>
            <pc:sldMk cId="3480417766" sldId="316"/>
            <ac:spMk id="3" creationId="{00000000-0000-0000-0000-000000000000}"/>
          </ac:spMkLst>
        </pc:spChg>
      </pc:sldChg>
      <pc:sldChg chg="modSp mod">
        <pc:chgData name="Yujan Basnet" userId="495fd8277ebfbaef" providerId="LiveId" clId="{44C3842F-CEA5-4ED0-A594-FEFAC5D0A10D}" dt="2025-06-27T04:43:04.054" v="40" actId="207"/>
        <pc:sldMkLst>
          <pc:docMk/>
          <pc:sldMk cId="2727328728" sldId="318"/>
        </pc:sldMkLst>
        <pc:spChg chg="mod">
          <ac:chgData name="Yujan Basnet" userId="495fd8277ebfbaef" providerId="LiveId" clId="{44C3842F-CEA5-4ED0-A594-FEFAC5D0A10D}" dt="2025-06-27T04:43:04.054" v="40" actId="207"/>
          <ac:spMkLst>
            <pc:docMk/>
            <pc:sldMk cId="2727328728" sldId="318"/>
            <ac:spMk id="3" creationId="{00000000-0000-0000-0000-000000000000}"/>
          </ac:spMkLst>
        </pc:spChg>
      </pc:sldChg>
      <pc:sldChg chg="addSp delSp modSp mod">
        <pc:chgData name="Yujan Basnet" userId="495fd8277ebfbaef" providerId="LiveId" clId="{44C3842F-CEA5-4ED0-A594-FEFAC5D0A10D}" dt="2025-06-27T06:04:03.363" v="43" actId="33423"/>
        <pc:sldMkLst>
          <pc:docMk/>
          <pc:sldMk cId="919345134" sldId="321"/>
        </pc:sldMkLst>
        <pc:spChg chg="add del">
          <ac:chgData name="Yujan Basnet" userId="495fd8277ebfbaef" providerId="LiveId" clId="{44C3842F-CEA5-4ED0-A594-FEFAC5D0A10D}" dt="2025-06-27T06:04:03.363" v="43" actId="33423"/>
          <ac:spMkLst>
            <pc:docMk/>
            <pc:sldMk cId="919345134" sldId="321"/>
            <ac:spMk id="6" creationId="{00000000-0000-0000-0000-000000000000}"/>
          </ac:spMkLst>
        </pc:spChg>
        <pc:graphicFrameChg chg="add del mod replId">
          <ac:chgData name="Yujan Basnet" userId="495fd8277ebfbaef" providerId="LiveId" clId="{44C3842F-CEA5-4ED0-A594-FEFAC5D0A10D}" dt="2025-06-27T06:04:03.363" v="43" actId="33423"/>
          <ac:graphicFrameMkLst>
            <pc:docMk/>
            <pc:sldMk cId="919345134" sldId="321"/>
            <ac:graphicFrameMk id="6" creationId="{00000000-0000-0000-0000-000000000000}"/>
          </ac:graphicFrameMkLst>
        </pc:graphicFrameChg>
      </pc:sldChg>
      <pc:sldChg chg="addSp delSp modSp mod">
        <pc:chgData name="Yujan Basnet" userId="495fd8277ebfbaef" providerId="LiveId" clId="{44C3842F-CEA5-4ED0-A594-FEFAC5D0A10D}" dt="2025-06-27T06:21:49.715" v="52" actId="33423"/>
        <pc:sldMkLst>
          <pc:docMk/>
          <pc:sldMk cId="1814670129" sldId="322"/>
        </pc:sldMkLst>
        <pc:spChg chg="add del">
          <ac:chgData name="Yujan Basnet" userId="495fd8277ebfbaef" providerId="LiveId" clId="{44C3842F-CEA5-4ED0-A594-FEFAC5D0A10D}" dt="2025-06-27T06:04:34.288" v="46" actId="33423"/>
          <ac:spMkLst>
            <pc:docMk/>
            <pc:sldMk cId="1814670129" sldId="322"/>
            <ac:spMk id="6" creationId="{00000000-0000-0000-0000-000000000000}"/>
          </ac:spMkLst>
        </pc:spChg>
        <pc:spChg chg="add del">
          <ac:chgData name="Yujan Basnet" userId="495fd8277ebfbaef" providerId="LiveId" clId="{44C3842F-CEA5-4ED0-A594-FEFAC5D0A10D}" dt="2025-06-27T06:21:49.715" v="52" actId="33423"/>
          <ac:spMkLst>
            <pc:docMk/>
            <pc:sldMk cId="1814670129" sldId="322"/>
            <ac:spMk id="9" creationId="{00000000-0000-0000-0000-000000000000}"/>
          </ac:spMkLst>
        </pc:spChg>
        <pc:spChg chg="add del">
          <ac:chgData name="Yujan Basnet" userId="495fd8277ebfbaef" providerId="LiveId" clId="{44C3842F-CEA5-4ED0-A594-FEFAC5D0A10D}" dt="2025-06-27T06:21:49.329" v="51" actId="33423"/>
          <ac:spMkLst>
            <pc:docMk/>
            <pc:sldMk cId="1814670129" sldId="322"/>
            <ac:spMk id="10" creationId="{00000000-0000-0000-0000-000000000000}"/>
          </ac:spMkLst>
        </pc:spChg>
        <pc:graphicFrameChg chg="add del mod replId">
          <ac:chgData name="Yujan Basnet" userId="495fd8277ebfbaef" providerId="LiveId" clId="{44C3842F-CEA5-4ED0-A594-FEFAC5D0A10D}" dt="2025-06-27T06:04:34.288" v="46" actId="33423"/>
          <ac:graphicFrameMkLst>
            <pc:docMk/>
            <pc:sldMk cId="1814670129" sldId="322"/>
            <ac:graphicFrameMk id="6" creationId="{00000000-0000-0000-0000-000000000000}"/>
          </ac:graphicFrameMkLst>
        </pc:graphicFrameChg>
        <pc:graphicFrameChg chg="add del mod replId">
          <ac:chgData name="Yujan Basnet" userId="495fd8277ebfbaef" providerId="LiveId" clId="{44C3842F-CEA5-4ED0-A594-FEFAC5D0A10D}" dt="2025-06-27T06:21:49.715" v="52" actId="33423"/>
          <ac:graphicFrameMkLst>
            <pc:docMk/>
            <pc:sldMk cId="1814670129" sldId="322"/>
            <ac:graphicFrameMk id="9" creationId="{00000000-0000-0000-0000-000000000000}"/>
          </ac:graphicFrameMkLst>
        </pc:graphicFrameChg>
        <pc:graphicFrameChg chg="add del mod replId">
          <ac:chgData name="Yujan Basnet" userId="495fd8277ebfbaef" providerId="LiveId" clId="{44C3842F-CEA5-4ED0-A594-FEFAC5D0A10D}" dt="2025-06-27T06:21:49.329" v="51" actId="33423"/>
          <ac:graphicFrameMkLst>
            <pc:docMk/>
            <pc:sldMk cId="1814670129" sldId="322"/>
            <ac:graphicFrameMk id="10" creationId="{00000000-0000-0000-0000-000000000000}"/>
          </ac:graphicFrameMkLst>
        </pc:graphicFrameChg>
      </pc:sldChg>
      <pc:sldChg chg="modSp mod">
        <pc:chgData name="Yujan Basnet" userId="495fd8277ebfbaef" providerId="LiveId" clId="{44C3842F-CEA5-4ED0-A594-FEFAC5D0A10D}" dt="2025-06-27T04:03:40.797" v="19" actId="207"/>
        <pc:sldMkLst>
          <pc:docMk/>
          <pc:sldMk cId="2528919980" sldId="324"/>
        </pc:sldMkLst>
        <pc:spChg chg="mod">
          <ac:chgData name="Yujan Basnet" userId="495fd8277ebfbaef" providerId="LiveId" clId="{44C3842F-CEA5-4ED0-A594-FEFAC5D0A10D}" dt="2025-06-27T04:03:40.797" v="19" actId="207"/>
          <ac:spMkLst>
            <pc:docMk/>
            <pc:sldMk cId="2528919980" sldId="324"/>
            <ac:spMk id="3" creationId="{00000000-0000-0000-0000-000000000000}"/>
          </ac:spMkLst>
        </pc:spChg>
      </pc:sldChg>
      <pc:sldChg chg="modSp mod">
        <pc:chgData name="Yujan Basnet" userId="495fd8277ebfbaef" providerId="LiveId" clId="{44C3842F-CEA5-4ED0-A594-FEFAC5D0A10D}" dt="2025-06-27T03:45:57.721" v="6" actId="207"/>
        <pc:sldMkLst>
          <pc:docMk/>
          <pc:sldMk cId="611691331" sldId="325"/>
        </pc:sldMkLst>
        <pc:spChg chg="mod">
          <ac:chgData name="Yujan Basnet" userId="495fd8277ebfbaef" providerId="LiveId" clId="{44C3842F-CEA5-4ED0-A594-FEFAC5D0A10D}" dt="2025-06-27T03:45:57.721" v="6" actId="207"/>
          <ac:spMkLst>
            <pc:docMk/>
            <pc:sldMk cId="611691331" sldId="325"/>
            <ac:spMk id="3" creationId="{00000000-0000-0000-0000-000000000000}"/>
          </ac:spMkLst>
        </pc:spChg>
      </pc:sldChg>
      <pc:sldChg chg="modSp mod">
        <pc:chgData name="Yujan Basnet" userId="495fd8277ebfbaef" providerId="LiveId" clId="{44C3842F-CEA5-4ED0-A594-FEFAC5D0A10D}" dt="2025-06-27T04:00:07.389" v="12" actId="207"/>
        <pc:sldMkLst>
          <pc:docMk/>
          <pc:sldMk cId="3321827299" sldId="326"/>
        </pc:sldMkLst>
        <pc:spChg chg="mod">
          <ac:chgData name="Yujan Basnet" userId="495fd8277ebfbaef" providerId="LiveId" clId="{44C3842F-CEA5-4ED0-A594-FEFAC5D0A10D}" dt="2025-06-27T04:00:07.389" v="12" actId="207"/>
          <ac:spMkLst>
            <pc:docMk/>
            <pc:sldMk cId="3321827299" sldId="326"/>
            <ac:spMk id="3" creationId="{00000000-0000-0000-0000-000000000000}"/>
          </ac:spMkLst>
        </pc:spChg>
      </pc:sldChg>
      <pc:sldChg chg="modSp mod">
        <pc:chgData name="Yujan Basnet" userId="495fd8277ebfbaef" providerId="LiveId" clId="{44C3842F-CEA5-4ED0-A594-FEFAC5D0A10D}" dt="2025-06-27T06:26:16.482" v="53" actId="207"/>
        <pc:sldMkLst>
          <pc:docMk/>
          <pc:sldMk cId="256836890" sldId="327"/>
        </pc:sldMkLst>
        <pc:spChg chg="mod">
          <ac:chgData name="Yujan Basnet" userId="495fd8277ebfbaef" providerId="LiveId" clId="{44C3842F-CEA5-4ED0-A594-FEFAC5D0A10D}" dt="2025-06-27T06:26:16.482" v="53" actId="207"/>
          <ac:spMkLst>
            <pc:docMk/>
            <pc:sldMk cId="256836890" sldId="327"/>
            <ac:spMk id="3" creationId="{00000000-0000-0000-0000-000000000000}"/>
          </ac:spMkLst>
        </pc:spChg>
      </pc:sldChg>
      <pc:sldChg chg="modSp mod">
        <pc:chgData name="Yujan Basnet" userId="495fd8277ebfbaef" providerId="LiveId" clId="{44C3842F-CEA5-4ED0-A594-FEFAC5D0A10D}" dt="2025-06-27T07:20:00.052" v="55" actId="207"/>
        <pc:sldMkLst>
          <pc:docMk/>
          <pc:sldMk cId="1230448349" sldId="329"/>
        </pc:sldMkLst>
        <pc:spChg chg="mod">
          <ac:chgData name="Yujan Basnet" userId="495fd8277ebfbaef" providerId="LiveId" clId="{44C3842F-CEA5-4ED0-A594-FEFAC5D0A10D}" dt="2025-06-27T07:20:00.052" v="55" actId="207"/>
          <ac:spMkLst>
            <pc:docMk/>
            <pc:sldMk cId="1230448349" sldId="329"/>
            <ac:spMk id="3" creationId="{00000000-0000-0000-0000-000000000000}"/>
          </ac:spMkLst>
        </pc:spChg>
      </pc:sldChg>
      <pc:sldChg chg="modSp mod">
        <pc:chgData name="Yujan Basnet" userId="495fd8277ebfbaef" providerId="LiveId" clId="{44C3842F-CEA5-4ED0-A594-FEFAC5D0A10D}" dt="2025-06-27T07:24:13.724" v="56" actId="207"/>
        <pc:sldMkLst>
          <pc:docMk/>
          <pc:sldMk cId="3268626700" sldId="330"/>
        </pc:sldMkLst>
        <pc:spChg chg="mod">
          <ac:chgData name="Yujan Basnet" userId="495fd8277ebfbaef" providerId="LiveId" clId="{44C3842F-CEA5-4ED0-A594-FEFAC5D0A10D}" dt="2025-06-27T07:24:13.724" v="56" actId="207"/>
          <ac:spMkLst>
            <pc:docMk/>
            <pc:sldMk cId="3268626700" sldId="330"/>
            <ac:spMk id="3" creationId="{00000000-0000-0000-0000-000000000000}"/>
          </ac:spMkLst>
        </pc:spChg>
      </pc:sldChg>
      <pc:sldChg chg="modSp mod">
        <pc:chgData name="Yujan Basnet" userId="495fd8277ebfbaef" providerId="LiveId" clId="{44C3842F-CEA5-4ED0-A594-FEFAC5D0A10D}" dt="2025-06-27T07:26:13.602" v="57" actId="207"/>
        <pc:sldMkLst>
          <pc:docMk/>
          <pc:sldMk cId="3223119747" sldId="331"/>
        </pc:sldMkLst>
        <pc:spChg chg="mod">
          <ac:chgData name="Yujan Basnet" userId="495fd8277ebfbaef" providerId="LiveId" clId="{44C3842F-CEA5-4ED0-A594-FEFAC5D0A10D}" dt="2025-06-27T07:26:13.602" v="57" actId="207"/>
          <ac:spMkLst>
            <pc:docMk/>
            <pc:sldMk cId="3223119747" sldId="331"/>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74C88F-1564-4C1A-B108-886A85B094D8}" type="datetimeFigureOut">
              <a:rPr lang="en-US" smtClean="0"/>
              <a:t>6/27/2025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C92C28-528E-470F-A771-D5979FBCF0BF}" type="slidenum">
              <a:rPr lang="en-US" smtClean="0"/>
              <a:t>‹#›</a:t>
            </a:fld>
            <a:endParaRPr lang="en-US"/>
          </a:p>
        </p:txBody>
      </p:sp>
    </p:spTree>
    <p:extLst>
      <p:ext uri="{BB962C8B-B14F-4D97-AF65-F5344CB8AC3E}">
        <p14:creationId xmlns:p14="http://schemas.microsoft.com/office/powerpoint/2010/main" val="4001119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C0F697F-3F99-4325-A2F0-EED86B48354C}" type="datetime1">
              <a:rPr lang="en-US" smtClean="0"/>
              <a:t>6/27/2025</a:t>
            </a:fld>
            <a:endParaRPr lang="en-US"/>
          </a:p>
        </p:txBody>
      </p:sp>
      <p:sp>
        <p:nvSpPr>
          <p:cNvPr id="5" name="Footer Placeholder 4"/>
          <p:cNvSpPr>
            <a:spLocks noGrp="1"/>
          </p:cNvSpPr>
          <p:nvPr>
            <p:ph type="ftr" sz="quarter" idx="11"/>
          </p:nvPr>
        </p:nvSpPr>
        <p:spPr/>
        <p:txBody>
          <a:bodyPr/>
          <a:lstStyle/>
          <a:p>
            <a:r>
              <a:rPr lang="en-US"/>
              <a:t>Data Mining-CSIT 7th                              Prepared BY: Arjun Saud</a:t>
            </a:r>
          </a:p>
        </p:txBody>
      </p:sp>
      <p:sp>
        <p:nvSpPr>
          <p:cNvPr id="6" name="Slide Number Placeholder 5"/>
          <p:cNvSpPr>
            <a:spLocks noGrp="1"/>
          </p:cNvSpPr>
          <p:nvPr>
            <p:ph type="sldNum" sz="quarter" idx="12"/>
          </p:nvPr>
        </p:nvSpPr>
        <p:spPr/>
        <p:txBody>
          <a:bodyPr/>
          <a:lstStyle/>
          <a:p>
            <a:fld id="{00B14D77-5B36-4651-9B6A-2D4DEB1BE99D}" type="slidenum">
              <a:rPr lang="en-US" smtClean="0"/>
              <a:t>‹#›</a:t>
            </a:fld>
            <a:endParaRPr lang="en-US"/>
          </a:p>
        </p:txBody>
      </p:sp>
    </p:spTree>
    <p:extLst>
      <p:ext uri="{BB962C8B-B14F-4D97-AF65-F5344CB8AC3E}">
        <p14:creationId xmlns:p14="http://schemas.microsoft.com/office/powerpoint/2010/main" val="3605043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D892BB7-A5A2-4CDA-959E-D14CABA6FB8C}" type="datetime1">
              <a:rPr lang="en-US" smtClean="0"/>
              <a:t>6/27/2025</a:t>
            </a:fld>
            <a:endParaRPr lang="en-US"/>
          </a:p>
        </p:txBody>
      </p:sp>
      <p:sp>
        <p:nvSpPr>
          <p:cNvPr id="5" name="Footer Placeholder 4"/>
          <p:cNvSpPr>
            <a:spLocks noGrp="1"/>
          </p:cNvSpPr>
          <p:nvPr>
            <p:ph type="ftr" sz="quarter" idx="11"/>
          </p:nvPr>
        </p:nvSpPr>
        <p:spPr/>
        <p:txBody>
          <a:bodyPr/>
          <a:lstStyle/>
          <a:p>
            <a:r>
              <a:rPr lang="en-US"/>
              <a:t>Data Mining-CSIT 7th                              Prepared BY: Arjun Saud</a:t>
            </a:r>
          </a:p>
        </p:txBody>
      </p:sp>
      <p:sp>
        <p:nvSpPr>
          <p:cNvPr id="6" name="Slide Number Placeholder 5"/>
          <p:cNvSpPr>
            <a:spLocks noGrp="1"/>
          </p:cNvSpPr>
          <p:nvPr>
            <p:ph type="sldNum" sz="quarter" idx="12"/>
          </p:nvPr>
        </p:nvSpPr>
        <p:spPr/>
        <p:txBody>
          <a:bodyPr/>
          <a:lstStyle/>
          <a:p>
            <a:fld id="{00B14D77-5B36-4651-9B6A-2D4DEB1BE99D}" type="slidenum">
              <a:rPr lang="en-US" smtClean="0"/>
              <a:t>‹#›</a:t>
            </a:fld>
            <a:endParaRPr lang="en-US"/>
          </a:p>
        </p:txBody>
      </p:sp>
    </p:spTree>
    <p:extLst>
      <p:ext uri="{BB962C8B-B14F-4D97-AF65-F5344CB8AC3E}">
        <p14:creationId xmlns:p14="http://schemas.microsoft.com/office/powerpoint/2010/main" val="3736427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C4D5AE-9FF9-45A5-9065-CCDD914D6137}" type="datetime1">
              <a:rPr lang="en-US" smtClean="0"/>
              <a:t>6/27/2025</a:t>
            </a:fld>
            <a:endParaRPr lang="en-US"/>
          </a:p>
        </p:txBody>
      </p:sp>
      <p:sp>
        <p:nvSpPr>
          <p:cNvPr id="5" name="Footer Placeholder 4"/>
          <p:cNvSpPr>
            <a:spLocks noGrp="1"/>
          </p:cNvSpPr>
          <p:nvPr>
            <p:ph type="ftr" sz="quarter" idx="11"/>
          </p:nvPr>
        </p:nvSpPr>
        <p:spPr/>
        <p:txBody>
          <a:bodyPr/>
          <a:lstStyle/>
          <a:p>
            <a:r>
              <a:rPr lang="en-US"/>
              <a:t>Data Mining-CSIT 7th                              Prepared BY: Arjun Saud</a:t>
            </a:r>
          </a:p>
        </p:txBody>
      </p:sp>
      <p:sp>
        <p:nvSpPr>
          <p:cNvPr id="6" name="Slide Number Placeholder 5"/>
          <p:cNvSpPr>
            <a:spLocks noGrp="1"/>
          </p:cNvSpPr>
          <p:nvPr>
            <p:ph type="sldNum" sz="quarter" idx="12"/>
          </p:nvPr>
        </p:nvSpPr>
        <p:spPr/>
        <p:txBody>
          <a:bodyPr/>
          <a:lstStyle/>
          <a:p>
            <a:fld id="{00B14D77-5B36-4651-9B6A-2D4DEB1BE99D}" type="slidenum">
              <a:rPr lang="en-US" smtClean="0"/>
              <a:t>‹#›</a:t>
            </a:fld>
            <a:endParaRPr lang="en-US"/>
          </a:p>
        </p:txBody>
      </p:sp>
    </p:spTree>
    <p:extLst>
      <p:ext uri="{BB962C8B-B14F-4D97-AF65-F5344CB8AC3E}">
        <p14:creationId xmlns:p14="http://schemas.microsoft.com/office/powerpoint/2010/main" val="2073455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A458569-85A5-4FFD-B4CB-E2AE693B9587}" type="datetime1">
              <a:rPr lang="en-US" smtClean="0"/>
              <a:t>6/27/2025</a:t>
            </a:fld>
            <a:endParaRPr lang="en-US"/>
          </a:p>
        </p:txBody>
      </p:sp>
      <p:sp>
        <p:nvSpPr>
          <p:cNvPr id="6" name="Footer Placeholder 5"/>
          <p:cNvSpPr>
            <a:spLocks noGrp="1"/>
          </p:cNvSpPr>
          <p:nvPr>
            <p:ph type="ftr" sz="quarter" idx="11"/>
          </p:nvPr>
        </p:nvSpPr>
        <p:spPr/>
        <p:txBody>
          <a:bodyPr/>
          <a:lstStyle/>
          <a:p>
            <a:r>
              <a:rPr lang="en-US"/>
              <a:t>Data Mining-CSIT 7th                              Prepared BY: Arjun Saud</a:t>
            </a:r>
          </a:p>
        </p:txBody>
      </p:sp>
      <p:sp>
        <p:nvSpPr>
          <p:cNvPr id="7" name="Slide Number Placeholder 6"/>
          <p:cNvSpPr>
            <a:spLocks noGrp="1"/>
          </p:cNvSpPr>
          <p:nvPr>
            <p:ph type="sldNum" sz="quarter" idx="12"/>
          </p:nvPr>
        </p:nvSpPr>
        <p:spPr/>
        <p:txBody>
          <a:bodyPr/>
          <a:lstStyle/>
          <a:p>
            <a:fld id="{00B14D77-5B36-4651-9B6A-2D4DEB1BE99D}" type="slidenum">
              <a:rPr lang="en-US" smtClean="0"/>
              <a:t>‹#›</a:t>
            </a:fld>
            <a:endParaRPr lang="en-US"/>
          </a:p>
        </p:txBody>
      </p:sp>
    </p:spTree>
    <p:extLst>
      <p:ext uri="{BB962C8B-B14F-4D97-AF65-F5344CB8AC3E}">
        <p14:creationId xmlns:p14="http://schemas.microsoft.com/office/powerpoint/2010/main" val="2713046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EEC1F4-EEFC-4206-A064-C94ABE1C8481}" type="datetime1">
              <a:rPr lang="en-US" smtClean="0"/>
              <a:t>6/27/2025</a:t>
            </a:fld>
            <a:endParaRPr lang="en-US"/>
          </a:p>
        </p:txBody>
      </p:sp>
      <p:sp>
        <p:nvSpPr>
          <p:cNvPr id="8" name="Footer Placeholder 7"/>
          <p:cNvSpPr>
            <a:spLocks noGrp="1"/>
          </p:cNvSpPr>
          <p:nvPr>
            <p:ph type="ftr" sz="quarter" idx="11"/>
          </p:nvPr>
        </p:nvSpPr>
        <p:spPr/>
        <p:txBody>
          <a:bodyPr/>
          <a:lstStyle/>
          <a:p>
            <a:r>
              <a:rPr lang="en-US"/>
              <a:t>Data Mining-CSIT 7th                              Prepared BY: Arjun Saud</a:t>
            </a:r>
          </a:p>
        </p:txBody>
      </p:sp>
      <p:sp>
        <p:nvSpPr>
          <p:cNvPr id="9" name="Slide Number Placeholder 8"/>
          <p:cNvSpPr>
            <a:spLocks noGrp="1"/>
          </p:cNvSpPr>
          <p:nvPr>
            <p:ph type="sldNum" sz="quarter" idx="12"/>
          </p:nvPr>
        </p:nvSpPr>
        <p:spPr/>
        <p:txBody>
          <a:bodyPr/>
          <a:lstStyle/>
          <a:p>
            <a:fld id="{00B14D77-5B36-4651-9B6A-2D4DEB1BE99D}" type="slidenum">
              <a:rPr lang="en-US" smtClean="0"/>
              <a:t>‹#›</a:t>
            </a:fld>
            <a:endParaRPr lang="en-US"/>
          </a:p>
        </p:txBody>
      </p:sp>
    </p:spTree>
    <p:extLst>
      <p:ext uri="{BB962C8B-B14F-4D97-AF65-F5344CB8AC3E}">
        <p14:creationId xmlns:p14="http://schemas.microsoft.com/office/powerpoint/2010/main" val="2487537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31B22CB-C464-4601-8000-9F2FD10A76B5}" type="datetime1">
              <a:rPr lang="en-US" smtClean="0"/>
              <a:t>6/27/2025</a:t>
            </a:fld>
            <a:endParaRPr lang="en-US"/>
          </a:p>
        </p:txBody>
      </p:sp>
      <p:sp>
        <p:nvSpPr>
          <p:cNvPr id="4" name="Footer Placeholder 3"/>
          <p:cNvSpPr>
            <a:spLocks noGrp="1"/>
          </p:cNvSpPr>
          <p:nvPr>
            <p:ph type="ftr" sz="quarter" idx="11"/>
          </p:nvPr>
        </p:nvSpPr>
        <p:spPr/>
        <p:txBody>
          <a:bodyPr/>
          <a:lstStyle/>
          <a:p>
            <a:r>
              <a:rPr lang="en-US"/>
              <a:t>Data Mining-CSIT 7th                              Prepared BY: Arjun Saud</a:t>
            </a:r>
          </a:p>
        </p:txBody>
      </p:sp>
      <p:sp>
        <p:nvSpPr>
          <p:cNvPr id="5" name="Slide Number Placeholder 4"/>
          <p:cNvSpPr>
            <a:spLocks noGrp="1"/>
          </p:cNvSpPr>
          <p:nvPr>
            <p:ph type="sldNum" sz="quarter" idx="12"/>
          </p:nvPr>
        </p:nvSpPr>
        <p:spPr/>
        <p:txBody>
          <a:bodyPr/>
          <a:lstStyle/>
          <a:p>
            <a:fld id="{00B14D77-5B36-4651-9B6A-2D4DEB1BE99D}" type="slidenum">
              <a:rPr lang="en-US" smtClean="0"/>
              <a:t>‹#›</a:t>
            </a:fld>
            <a:endParaRPr lang="en-US"/>
          </a:p>
        </p:txBody>
      </p:sp>
    </p:spTree>
    <p:extLst>
      <p:ext uri="{BB962C8B-B14F-4D97-AF65-F5344CB8AC3E}">
        <p14:creationId xmlns:p14="http://schemas.microsoft.com/office/powerpoint/2010/main" val="21253666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147FCD-C39F-4D3A-9DB7-918DF7D9617E}" type="datetime1">
              <a:rPr lang="en-US" smtClean="0"/>
              <a:t>6/27/2025</a:t>
            </a:fld>
            <a:endParaRPr lang="en-US"/>
          </a:p>
        </p:txBody>
      </p:sp>
      <p:sp>
        <p:nvSpPr>
          <p:cNvPr id="3" name="Footer Placeholder 2"/>
          <p:cNvSpPr>
            <a:spLocks noGrp="1"/>
          </p:cNvSpPr>
          <p:nvPr>
            <p:ph type="ftr" sz="quarter" idx="11"/>
          </p:nvPr>
        </p:nvSpPr>
        <p:spPr/>
        <p:txBody>
          <a:bodyPr/>
          <a:lstStyle/>
          <a:p>
            <a:r>
              <a:rPr lang="en-US"/>
              <a:t>Data Mining-CSIT 7th                              Prepared BY: Arjun Saud</a:t>
            </a:r>
          </a:p>
        </p:txBody>
      </p:sp>
      <p:sp>
        <p:nvSpPr>
          <p:cNvPr id="4" name="Slide Number Placeholder 3"/>
          <p:cNvSpPr>
            <a:spLocks noGrp="1"/>
          </p:cNvSpPr>
          <p:nvPr>
            <p:ph type="sldNum" sz="quarter" idx="12"/>
          </p:nvPr>
        </p:nvSpPr>
        <p:spPr/>
        <p:txBody>
          <a:bodyPr/>
          <a:lstStyle/>
          <a:p>
            <a:fld id="{00B14D77-5B36-4651-9B6A-2D4DEB1BE99D}" type="slidenum">
              <a:rPr lang="en-US" smtClean="0"/>
              <a:t>‹#›</a:t>
            </a:fld>
            <a:endParaRPr lang="en-US"/>
          </a:p>
        </p:txBody>
      </p:sp>
    </p:spTree>
    <p:extLst>
      <p:ext uri="{BB962C8B-B14F-4D97-AF65-F5344CB8AC3E}">
        <p14:creationId xmlns:p14="http://schemas.microsoft.com/office/powerpoint/2010/main" val="25002975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EF1709-F2E8-4E3F-96F8-A75539084510}" type="datetime1">
              <a:rPr lang="en-US" smtClean="0"/>
              <a:t>6/27/2025</a:t>
            </a:fld>
            <a:endParaRPr lang="en-US"/>
          </a:p>
        </p:txBody>
      </p:sp>
      <p:sp>
        <p:nvSpPr>
          <p:cNvPr id="6" name="Footer Placeholder 5"/>
          <p:cNvSpPr>
            <a:spLocks noGrp="1"/>
          </p:cNvSpPr>
          <p:nvPr>
            <p:ph type="ftr" sz="quarter" idx="11"/>
          </p:nvPr>
        </p:nvSpPr>
        <p:spPr/>
        <p:txBody>
          <a:bodyPr/>
          <a:lstStyle/>
          <a:p>
            <a:r>
              <a:rPr lang="en-US"/>
              <a:t>Data Mining-CSIT 7th                              Prepared BY: Arjun Saud</a:t>
            </a:r>
          </a:p>
        </p:txBody>
      </p:sp>
      <p:sp>
        <p:nvSpPr>
          <p:cNvPr id="7" name="Slide Number Placeholder 6"/>
          <p:cNvSpPr>
            <a:spLocks noGrp="1"/>
          </p:cNvSpPr>
          <p:nvPr>
            <p:ph type="sldNum" sz="quarter" idx="12"/>
          </p:nvPr>
        </p:nvSpPr>
        <p:spPr/>
        <p:txBody>
          <a:bodyPr/>
          <a:lstStyle/>
          <a:p>
            <a:fld id="{00B14D77-5B36-4651-9B6A-2D4DEB1BE99D}" type="slidenum">
              <a:rPr lang="en-US" smtClean="0"/>
              <a:t>‹#›</a:t>
            </a:fld>
            <a:endParaRPr lang="en-US"/>
          </a:p>
        </p:txBody>
      </p:sp>
    </p:spTree>
    <p:extLst>
      <p:ext uri="{BB962C8B-B14F-4D97-AF65-F5344CB8AC3E}">
        <p14:creationId xmlns:p14="http://schemas.microsoft.com/office/powerpoint/2010/main" val="2276277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8BC10F-0386-426E-9DF2-7ABE08AB636D}" type="datetime1">
              <a:rPr lang="en-US" smtClean="0"/>
              <a:t>6/27/2025</a:t>
            </a:fld>
            <a:endParaRPr lang="en-US"/>
          </a:p>
        </p:txBody>
      </p:sp>
      <p:sp>
        <p:nvSpPr>
          <p:cNvPr id="6" name="Footer Placeholder 5"/>
          <p:cNvSpPr>
            <a:spLocks noGrp="1"/>
          </p:cNvSpPr>
          <p:nvPr>
            <p:ph type="ftr" sz="quarter" idx="11"/>
          </p:nvPr>
        </p:nvSpPr>
        <p:spPr/>
        <p:txBody>
          <a:bodyPr/>
          <a:lstStyle/>
          <a:p>
            <a:r>
              <a:rPr lang="en-US"/>
              <a:t>Data Mining-CSIT 7th                              Prepared BY: Arjun Saud</a:t>
            </a:r>
          </a:p>
        </p:txBody>
      </p:sp>
      <p:sp>
        <p:nvSpPr>
          <p:cNvPr id="7" name="Slide Number Placeholder 6"/>
          <p:cNvSpPr>
            <a:spLocks noGrp="1"/>
          </p:cNvSpPr>
          <p:nvPr>
            <p:ph type="sldNum" sz="quarter" idx="12"/>
          </p:nvPr>
        </p:nvSpPr>
        <p:spPr/>
        <p:txBody>
          <a:bodyPr/>
          <a:lstStyle/>
          <a:p>
            <a:fld id="{00B14D77-5B36-4651-9B6A-2D4DEB1BE99D}" type="slidenum">
              <a:rPr lang="en-US" smtClean="0"/>
              <a:t>‹#›</a:t>
            </a:fld>
            <a:endParaRPr lang="en-US"/>
          </a:p>
        </p:txBody>
      </p:sp>
    </p:spTree>
    <p:extLst>
      <p:ext uri="{BB962C8B-B14F-4D97-AF65-F5344CB8AC3E}">
        <p14:creationId xmlns:p14="http://schemas.microsoft.com/office/powerpoint/2010/main" val="2463185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5E480E-491B-4654-A7A8-7EA14EBDE236}" type="datetime1">
              <a:rPr lang="en-US" smtClean="0"/>
              <a:t>6/27/2025</a:t>
            </a:fld>
            <a:endParaRPr lang="en-US"/>
          </a:p>
        </p:txBody>
      </p:sp>
      <p:sp>
        <p:nvSpPr>
          <p:cNvPr id="5" name="Footer Placeholder 4"/>
          <p:cNvSpPr>
            <a:spLocks noGrp="1"/>
          </p:cNvSpPr>
          <p:nvPr>
            <p:ph type="ftr" sz="quarter" idx="11"/>
          </p:nvPr>
        </p:nvSpPr>
        <p:spPr/>
        <p:txBody>
          <a:bodyPr/>
          <a:lstStyle/>
          <a:p>
            <a:r>
              <a:rPr lang="en-US"/>
              <a:t>Data Mining-CSIT 7th                              Prepared BY: Arjun Saud</a:t>
            </a:r>
          </a:p>
        </p:txBody>
      </p:sp>
      <p:sp>
        <p:nvSpPr>
          <p:cNvPr id="6" name="Slide Number Placeholder 5"/>
          <p:cNvSpPr>
            <a:spLocks noGrp="1"/>
          </p:cNvSpPr>
          <p:nvPr>
            <p:ph type="sldNum" sz="quarter" idx="12"/>
          </p:nvPr>
        </p:nvSpPr>
        <p:spPr/>
        <p:txBody>
          <a:bodyPr/>
          <a:lstStyle/>
          <a:p>
            <a:fld id="{00B14D77-5B36-4651-9B6A-2D4DEB1BE99D}" type="slidenum">
              <a:rPr lang="en-US" smtClean="0"/>
              <a:t>‹#›</a:t>
            </a:fld>
            <a:endParaRPr lang="en-US"/>
          </a:p>
        </p:txBody>
      </p:sp>
    </p:spTree>
    <p:extLst>
      <p:ext uri="{BB962C8B-B14F-4D97-AF65-F5344CB8AC3E}">
        <p14:creationId xmlns:p14="http://schemas.microsoft.com/office/powerpoint/2010/main" val="4186098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89ADD73-A139-46C0-A57E-0793485393EF}" type="datetime1">
              <a:rPr lang="en-US" smtClean="0"/>
              <a:t>6/27/2025</a:t>
            </a:fld>
            <a:endParaRPr lang="en-US"/>
          </a:p>
        </p:txBody>
      </p:sp>
      <p:sp>
        <p:nvSpPr>
          <p:cNvPr id="5" name="Footer Placeholder 4"/>
          <p:cNvSpPr>
            <a:spLocks noGrp="1"/>
          </p:cNvSpPr>
          <p:nvPr>
            <p:ph type="ftr" sz="quarter" idx="11"/>
          </p:nvPr>
        </p:nvSpPr>
        <p:spPr/>
        <p:txBody>
          <a:bodyPr/>
          <a:lstStyle/>
          <a:p>
            <a:r>
              <a:rPr lang="en-US"/>
              <a:t>Data Mining-CSIT 7th                              Prepared BY: Arjun Saud</a:t>
            </a:r>
          </a:p>
        </p:txBody>
      </p:sp>
      <p:sp>
        <p:nvSpPr>
          <p:cNvPr id="6" name="Slide Number Placeholder 5"/>
          <p:cNvSpPr>
            <a:spLocks noGrp="1"/>
          </p:cNvSpPr>
          <p:nvPr>
            <p:ph type="sldNum" sz="quarter" idx="12"/>
          </p:nvPr>
        </p:nvSpPr>
        <p:spPr/>
        <p:txBody>
          <a:bodyPr/>
          <a:lstStyle/>
          <a:p>
            <a:fld id="{00B14D77-5B36-4651-9B6A-2D4DEB1BE99D}" type="slidenum">
              <a:rPr lang="en-US" smtClean="0"/>
              <a:t>‹#›</a:t>
            </a:fld>
            <a:endParaRPr lang="en-US"/>
          </a:p>
        </p:txBody>
      </p:sp>
    </p:spTree>
    <p:extLst>
      <p:ext uri="{BB962C8B-B14F-4D97-AF65-F5344CB8AC3E}">
        <p14:creationId xmlns:p14="http://schemas.microsoft.com/office/powerpoint/2010/main" val="1637329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D513D2-AB46-40A6-B9F7-42924821A3AD}" type="datetime1">
              <a:rPr lang="en-US" smtClean="0"/>
              <a:t>6/27/2025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Data Mining-CSIT 7th                              Prepared BY: Arjun Saud</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B14D77-5B36-4651-9B6A-2D4DEB1BE99D}" type="slidenum">
              <a:rPr lang="en-US" smtClean="0"/>
              <a:t>‹#›</a:t>
            </a:fld>
            <a:endParaRPr lang="en-US"/>
          </a:p>
        </p:txBody>
      </p:sp>
    </p:spTree>
    <p:extLst>
      <p:ext uri="{BB962C8B-B14F-4D97-AF65-F5344CB8AC3E}">
        <p14:creationId xmlns:p14="http://schemas.microsoft.com/office/powerpoint/2010/main" val="28881109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9.wmf"/><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8.wmf"/><Relationship Id="rId4"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0.wmf"/><Relationship Id="rId4" Type="http://schemas.openxmlformats.org/officeDocument/2006/relationships/oleObject" Target="../embeddings/oleObject5.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marL="0" indent="0" algn="ctr">
              <a:buNone/>
            </a:pPr>
            <a:endParaRPr lang="en-US" dirty="0"/>
          </a:p>
          <a:p>
            <a:pPr marL="0" indent="0" algn="ctr">
              <a:buNone/>
            </a:pPr>
            <a:r>
              <a:rPr lang="en-US" sz="3200" b="1" dirty="0">
                <a:latin typeface="Book Antiqua" panose="02040602050305030304" pitchFamily="18" charset="0"/>
              </a:rPr>
              <a:t>Unit 5</a:t>
            </a:r>
          </a:p>
          <a:p>
            <a:pPr marL="0" indent="0" algn="ctr">
              <a:buNone/>
            </a:pPr>
            <a:r>
              <a:rPr lang="en-US" sz="3200" b="1" dirty="0">
                <a:latin typeface="Book Antiqua" panose="02040602050305030304" pitchFamily="18" charset="0"/>
              </a:rPr>
              <a:t>Kernel Methods for Pattern Analysis</a:t>
            </a:r>
          </a:p>
          <a:p>
            <a:pPr marL="0" indent="0">
              <a:buNone/>
            </a:pPr>
            <a:r>
              <a:rPr lang="en-US" b="1" u="sng" dirty="0">
                <a:latin typeface="Book Antiqua" panose="02040602050305030304" pitchFamily="18" charset="0"/>
              </a:rPr>
              <a:t>Prepared By </a:t>
            </a:r>
          </a:p>
          <a:p>
            <a:pPr marL="0" indent="0">
              <a:buNone/>
            </a:pPr>
            <a:r>
              <a:rPr lang="en-US" b="1" dirty="0">
                <a:latin typeface="Book Antiqua" panose="02040602050305030304" pitchFamily="18" charset="0"/>
              </a:rPr>
              <a:t>Arjun Singh Saud, Asst. Prof. CDCSIT</a:t>
            </a:r>
          </a:p>
          <a:p>
            <a:pPr marL="0" indent="0" algn="ctr">
              <a:buNone/>
            </a:pPr>
            <a:endParaRPr lang="en-US" sz="3200" b="1" dirty="0">
              <a:latin typeface="Book Antiqua" panose="02040602050305030304" pitchFamily="18" charset="0"/>
            </a:endParaRPr>
          </a:p>
        </p:txBody>
      </p:sp>
      <p:sp>
        <p:nvSpPr>
          <p:cNvPr id="2" name="Footer Placeholder 1"/>
          <p:cNvSpPr>
            <a:spLocks noGrp="1"/>
          </p:cNvSpPr>
          <p:nvPr>
            <p:ph type="ftr" sz="quarter" idx="11"/>
          </p:nvPr>
        </p:nvSpPr>
        <p:spPr/>
        <p:txBody>
          <a:bodyPr/>
          <a:lstStyle/>
          <a:p>
            <a:r>
              <a:rPr lang="en-US"/>
              <a:t>Data Mining-CSIT 7th                              Prepared BY: Arjun Saud</a:t>
            </a:r>
          </a:p>
        </p:txBody>
      </p:sp>
    </p:spTree>
    <p:extLst>
      <p:ext uri="{BB962C8B-B14F-4D97-AF65-F5344CB8AC3E}">
        <p14:creationId xmlns:p14="http://schemas.microsoft.com/office/powerpoint/2010/main" val="37186407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200" b="1" dirty="0">
                <a:latin typeface="Book Antiqua" panose="02040602050305030304" pitchFamily="18" charset="0"/>
              </a:rPr>
              <a:t>Statistical Learning Theory</a:t>
            </a:r>
          </a:p>
        </p:txBody>
      </p:sp>
      <p:sp>
        <p:nvSpPr>
          <p:cNvPr id="3" name="Content Placeholder 2"/>
          <p:cNvSpPr>
            <a:spLocks noGrp="1"/>
          </p:cNvSpPr>
          <p:nvPr>
            <p:ph idx="1"/>
          </p:nvPr>
        </p:nvSpPr>
        <p:spPr>
          <a:xfrm>
            <a:off x="838200" y="1690688"/>
            <a:ext cx="10927976" cy="4486275"/>
          </a:xfrm>
        </p:spPr>
        <p:txBody>
          <a:bodyPr>
            <a:noAutofit/>
          </a:bodyPr>
          <a:lstStyle/>
          <a:p>
            <a:pPr algn="just"/>
            <a:r>
              <a:rPr lang="en-US" dirty="0">
                <a:latin typeface="Book Antiqua" panose="02040602050305030304" pitchFamily="18" charset="0"/>
              </a:rPr>
              <a:t>Statistical learning theory is a framework for machine learning that draws from </a:t>
            </a:r>
            <a:r>
              <a:rPr lang="en-US" dirty="0">
                <a:solidFill>
                  <a:srgbClr val="00B050"/>
                </a:solidFill>
                <a:latin typeface="Book Antiqua" panose="02040602050305030304" pitchFamily="18" charset="0"/>
              </a:rPr>
              <a:t>statistics and functional analysis. </a:t>
            </a:r>
          </a:p>
          <a:p>
            <a:pPr algn="just"/>
            <a:r>
              <a:rPr lang="en-US" dirty="0">
                <a:latin typeface="Book Antiqua" panose="02040602050305030304" pitchFamily="18" charset="0"/>
              </a:rPr>
              <a:t>It deals with finding a predictive function based on the data presented. </a:t>
            </a:r>
          </a:p>
          <a:p>
            <a:pPr algn="just"/>
            <a:r>
              <a:rPr lang="en-US" dirty="0">
                <a:latin typeface="Book Antiqua" panose="02040602050305030304" pitchFamily="18" charset="0"/>
              </a:rPr>
              <a:t>The main idea in statistical learning theory is to build a </a:t>
            </a:r>
            <a:r>
              <a:rPr lang="en-US" b="1" dirty="0">
                <a:solidFill>
                  <a:srgbClr val="00B050"/>
                </a:solidFill>
                <a:latin typeface="Book Antiqua" panose="02040602050305030304" pitchFamily="18" charset="0"/>
              </a:rPr>
              <a:t>model</a:t>
            </a:r>
            <a:r>
              <a:rPr lang="en-US" dirty="0">
                <a:latin typeface="Book Antiqua" panose="02040602050305030304" pitchFamily="18" charset="0"/>
              </a:rPr>
              <a:t> that can </a:t>
            </a:r>
            <a:r>
              <a:rPr lang="en-US" dirty="0">
                <a:solidFill>
                  <a:srgbClr val="00B050"/>
                </a:solidFill>
                <a:latin typeface="Book Antiqua" panose="02040602050305030304" pitchFamily="18" charset="0"/>
              </a:rPr>
              <a:t>draw conclusions from data and make predictions.</a:t>
            </a:r>
          </a:p>
          <a:p>
            <a:pPr algn="just"/>
            <a:endParaRPr lang="en-US" dirty="0">
              <a:latin typeface="Book Antiqua" panose="02040602050305030304" pitchFamily="18" charset="0"/>
            </a:endParaRPr>
          </a:p>
        </p:txBody>
      </p:sp>
      <p:sp>
        <p:nvSpPr>
          <p:cNvPr id="4" name="Footer Placeholder 3"/>
          <p:cNvSpPr>
            <a:spLocks noGrp="1"/>
          </p:cNvSpPr>
          <p:nvPr>
            <p:ph type="ftr" sz="quarter" idx="11"/>
          </p:nvPr>
        </p:nvSpPr>
        <p:spPr/>
        <p:txBody>
          <a:bodyPr/>
          <a:lstStyle/>
          <a:p>
            <a:r>
              <a:rPr lang="en-US" dirty="0"/>
              <a:t>Data Mining-CSIT 7th                              Prepared BY: Arjun Saud</a:t>
            </a:r>
          </a:p>
        </p:txBody>
      </p:sp>
      <p:sp>
        <p:nvSpPr>
          <p:cNvPr id="5" name="Rectangle 2"/>
          <p:cNvSpPr>
            <a:spLocks noChangeArrowheads="1"/>
          </p:cNvSpPr>
          <p:nvPr/>
        </p:nvSpPr>
        <p:spPr bwMode="auto">
          <a:xfrm>
            <a:off x="1206500" y="3759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838200" y="513794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061150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200" b="1" dirty="0">
                <a:latin typeface="Book Antiqua" panose="02040602050305030304" pitchFamily="18" charset="0"/>
              </a:rPr>
              <a:t>Statistical Learning Theory</a:t>
            </a:r>
          </a:p>
        </p:txBody>
      </p:sp>
      <p:sp>
        <p:nvSpPr>
          <p:cNvPr id="3" name="Content Placeholder 2"/>
          <p:cNvSpPr>
            <a:spLocks noGrp="1"/>
          </p:cNvSpPr>
          <p:nvPr>
            <p:ph idx="1"/>
          </p:nvPr>
        </p:nvSpPr>
        <p:spPr>
          <a:xfrm>
            <a:off x="838200" y="1690688"/>
            <a:ext cx="10927976" cy="4486275"/>
          </a:xfrm>
        </p:spPr>
        <p:txBody>
          <a:bodyPr>
            <a:noAutofit/>
          </a:bodyPr>
          <a:lstStyle/>
          <a:p>
            <a:r>
              <a:rPr lang="en-US" dirty="0">
                <a:latin typeface="Book Antiqua" panose="02040602050305030304" pitchFamily="18" charset="0"/>
              </a:rPr>
              <a:t>With statistical learning theory, there are two main types of data:</a:t>
            </a:r>
          </a:p>
          <a:p>
            <a:pPr lvl="1" algn="just"/>
            <a:r>
              <a:rPr lang="en-US" sz="2800" b="1" dirty="0">
                <a:latin typeface="Book Antiqua" panose="02040602050305030304" pitchFamily="18" charset="0"/>
              </a:rPr>
              <a:t>Dependent Variable: </a:t>
            </a:r>
            <a:r>
              <a:rPr lang="en-US" sz="2800" dirty="0">
                <a:latin typeface="Book Antiqua" panose="02040602050305030304" pitchFamily="18" charset="0"/>
              </a:rPr>
              <a:t>A variable (y) whose values depend on the values of other variables (a dependent variable is sometimes also referred to as a </a:t>
            </a:r>
            <a:r>
              <a:rPr lang="en-US" sz="2800" dirty="0">
                <a:solidFill>
                  <a:srgbClr val="00B050"/>
                </a:solidFill>
                <a:latin typeface="Book Antiqua" panose="02040602050305030304" pitchFamily="18" charset="0"/>
              </a:rPr>
              <a:t>target variable</a:t>
            </a:r>
            <a:r>
              <a:rPr lang="en-US" sz="2800" dirty="0">
                <a:latin typeface="Book Antiqua" panose="02040602050305030304" pitchFamily="18" charset="0"/>
              </a:rPr>
              <a:t>)</a:t>
            </a:r>
          </a:p>
          <a:p>
            <a:pPr lvl="1" algn="just"/>
            <a:r>
              <a:rPr lang="en-US" sz="2800" b="1" dirty="0">
                <a:latin typeface="Book Antiqua" panose="02040602050305030304" pitchFamily="18" charset="0"/>
              </a:rPr>
              <a:t>Independent Variables: </a:t>
            </a:r>
            <a:r>
              <a:rPr lang="en-US" sz="2800" dirty="0">
                <a:latin typeface="Book Antiqua" panose="02040602050305030304" pitchFamily="18" charset="0"/>
              </a:rPr>
              <a:t>A variable (x) whose value does not depend on the values of other variables (independent variables are sometimes also referred to as </a:t>
            </a:r>
            <a:r>
              <a:rPr lang="en-US" sz="2800" dirty="0">
                <a:solidFill>
                  <a:srgbClr val="00B050"/>
                </a:solidFill>
                <a:latin typeface="Book Antiqua" panose="02040602050305030304" pitchFamily="18" charset="0"/>
              </a:rPr>
              <a:t>predictor variables</a:t>
            </a:r>
            <a:r>
              <a:rPr lang="en-US" sz="2800" dirty="0">
                <a:latin typeface="Book Antiqua" panose="02040602050305030304" pitchFamily="18" charset="0"/>
              </a:rPr>
              <a:t>, </a:t>
            </a:r>
            <a:r>
              <a:rPr lang="en-US" sz="2800" dirty="0">
                <a:solidFill>
                  <a:srgbClr val="00B050"/>
                </a:solidFill>
                <a:latin typeface="Book Antiqua" panose="02040602050305030304" pitchFamily="18" charset="0"/>
              </a:rPr>
              <a:t>input variables, explanatory variables, or features</a:t>
            </a:r>
            <a:r>
              <a:rPr lang="en-US" sz="2800" dirty="0">
                <a:latin typeface="Book Antiqua" panose="02040602050305030304" pitchFamily="18" charset="0"/>
              </a:rPr>
              <a:t>)</a:t>
            </a:r>
          </a:p>
          <a:p>
            <a:pPr algn="just"/>
            <a:endParaRPr lang="en-US" dirty="0">
              <a:latin typeface="Book Antiqua" panose="02040602050305030304" pitchFamily="18" charset="0"/>
            </a:endParaRPr>
          </a:p>
        </p:txBody>
      </p:sp>
      <p:sp>
        <p:nvSpPr>
          <p:cNvPr id="4" name="Footer Placeholder 3"/>
          <p:cNvSpPr>
            <a:spLocks noGrp="1"/>
          </p:cNvSpPr>
          <p:nvPr>
            <p:ph type="ftr" sz="quarter" idx="11"/>
          </p:nvPr>
        </p:nvSpPr>
        <p:spPr/>
        <p:txBody>
          <a:bodyPr/>
          <a:lstStyle/>
          <a:p>
            <a:r>
              <a:rPr lang="en-US" dirty="0"/>
              <a:t>Data Mining-CSIT 7th                              Prepared BY: Arjun Saud</a:t>
            </a:r>
          </a:p>
        </p:txBody>
      </p:sp>
      <p:sp>
        <p:nvSpPr>
          <p:cNvPr id="5" name="Rectangle 2"/>
          <p:cNvSpPr>
            <a:spLocks noChangeArrowheads="1"/>
          </p:cNvSpPr>
          <p:nvPr/>
        </p:nvSpPr>
        <p:spPr bwMode="auto">
          <a:xfrm>
            <a:off x="1206500" y="3759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838200" y="513794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611691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200" b="1" dirty="0">
                <a:latin typeface="Book Antiqua" panose="02040602050305030304" pitchFamily="18" charset="0"/>
              </a:rPr>
              <a:t>Statistical Learning Theory</a:t>
            </a:r>
          </a:p>
        </p:txBody>
      </p:sp>
      <p:sp>
        <p:nvSpPr>
          <p:cNvPr id="3" name="Content Placeholder 2"/>
          <p:cNvSpPr>
            <a:spLocks noGrp="1"/>
          </p:cNvSpPr>
          <p:nvPr>
            <p:ph idx="1"/>
          </p:nvPr>
        </p:nvSpPr>
        <p:spPr>
          <a:xfrm>
            <a:off x="838200" y="1690688"/>
            <a:ext cx="10927976" cy="4486275"/>
          </a:xfrm>
        </p:spPr>
        <p:txBody>
          <a:bodyPr>
            <a:noAutofit/>
          </a:bodyPr>
          <a:lstStyle/>
          <a:p>
            <a:pPr algn="just"/>
            <a:r>
              <a:rPr lang="en-US" dirty="0">
                <a:latin typeface="Book Antiqua" panose="02040602050305030304" pitchFamily="18" charset="0"/>
              </a:rPr>
              <a:t>A statistical model defines the </a:t>
            </a:r>
            <a:r>
              <a:rPr lang="en-US" b="1" dirty="0">
                <a:solidFill>
                  <a:srgbClr val="00B050"/>
                </a:solidFill>
                <a:latin typeface="Book Antiqua" panose="02040602050305030304" pitchFamily="18" charset="0"/>
              </a:rPr>
              <a:t>relationships</a:t>
            </a:r>
            <a:r>
              <a:rPr lang="en-US" dirty="0">
                <a:latin typeface="Book Antiqua" panose="02040602050305030304" pitchFamily="18" charset="0"/>
              </a:rPr>
              <a:t> between a </a:t>
            </a:r>
            <a:r>
              <a:rPr lang="en-US" dirty="0">
                <a:solidFill>
                  <a:schemeClr val="accent2">
                    <a:lumMod val="75000"/>
                  </a:schemeClr>
                </a:solidFill>
                <a:latin typeface="Book Antiqua" panose="02040602050305030304" pitchFamily="18" charset="0"/>
              </a:rPr>
              <a:t>dependent and independent variable. </a:t>
            </a:r>
          </a:p>
          <a:p>
            <a:pPr algn="just"/>
            <a:r>
              <a:rPr lang="en-US" dirty="0">
                <a:latin typeface="Book Antiqua" panose="02040602050305030304" pitchFamily="18" charset="0"/>
              </a:rPr>
              <a:t>For example, if the relationships between the size of the home (x) and the price of the home (y) is linear. We can define this relationship by using </a:t>
            </a:r>
            <a:r>
              <a:rPr lang="en-US" dirty="0">
                <a:solidFill>
                  <a:srgbClr val="00B050"/>
                </a:solidFill>
                <a:latin typeface="Book Antiqua" panose="02040602050305030304" pitchFamily="18" charset="0"/>
              </a:rPr>
              <a:t>y = ax + b </a:t>
            </a:r>
            <a:r>
              <a:rPr lang="en-US" dirty="0">
                <a:latin typeface="Book Antiqua" panose="02040602050305030304" pitchFamily="18" charset="0"/>
              </a:rPr>
              <a:t>where a represents the gradient and b is the intercept. </a:t>
            </a:r>
          </a:p>
          <a:p>
            <a:pPr algn="just"/>
            <a:r>
              <a:rPr lang="en-US" dirty="0">
                <a:latin typeface="Book Antiqua" panose="02040602050305030304" pitchFamily="18" charset="0"/>
              </a:rPr>
              <a:t>If we suppose that the price (y) of the depends upon size (x1) of the home and the number of bathrooms (x2). We can define this relationship by using </a:t>
            </a:r>
            <a:r>
              <a:rPr lang="en-US" dirty="0">
                <a:solidFill>
                  <a:srgbClr val="00B050"/>
                </a:solidFill>
                <a:latin typeface="Book Antiqua" panose="02040602050305030304" pitchFamily="18" charset="0"/>
              </a:rPr>
              <a:t>y = ax1 + bx2+c. </a:t>
            </a:r>
          </a:p>
        </p:txBody>
      </p:sp>
      <p:sp>
        <p:nvSpPr>
          <p:cNvPr id="4" name="Footer Placeholder 3"/>
          <p:cNvSpPr>
            <a:spLocks noGrp="1"/>
          </p:cNvSpPr>
          <p:nvPr>
            <p:ph type="ftr" sz="quarter" idx="11"/>
          </p:nvPr>
        </p:nvSpPr>
        <p:spPr/>
        <p:txBody>
          <a:bodyPr/>
          <a:lstStyle/>
          <a:p>
            <a:r>
              <a:rPr lang="en-US" dirty="0"/>
              <a:t>Data Mining-CSIT 7th                              Prepared BY: Arjun Saud</a:t>
            </a:r>
          </a:p>
        </p:txBody>
      </p:sp>
      <p:sp>
        <p:nvSpPr>
          <p:cNvPr id="5" name="Rectangle 2"/>
          <p:cNvSpPr>
            <a:spLocks noChangeArrowheads="1"/>
          </p:cNvSpPr>
          <p:nvPr/>
        </p:nvSpPr>
        <p:spPr bwMode="auto">
          <a:xfrm>
            <a:off x="1206500" y="3759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838200" y="513794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321827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200" b="1" dirty="0">
                <a:latin typeface="Book Antiqua" panose="02040602050305030304" pitchFamily="18" charset="0"/>
              </a:rPr>
              <a:t>Support Vector Machine</a:t>
            </a:r>
          </a:p>
        </p:txBody>
      </p:sp>
      <p:sp>
        <p:nvSpPr>
          <p:cNvPr id="3" name="Content Placeholder 2"/>
          <p:cNvSpPr>
            <a:spLocks noGrp="1"/>
          </p:cNvSpPr>
          <p:nvPr>
            <p:ph idx="1"/>
          </p:nvPr>
        </p:nvSpPr>
        <p:spPr>
          <a:xfrm>
            <a:off x="838200" y="1690688"/>
            <a:ext cx="10927976" cy="4486275"/>
          </a:xfrm>
        </p:spPr>
        <p:txBody>
          <a:bodyPr>
            <a:noAutofit/>
          </a:bodyPr>
          <a:lstStyle/>
          <a:p>
            <a:pPr algn="just"/>
            <a:r>
              <a:rPr lang="en-US" dirty="0">
                <a:latin typeface="Book Antiqua" panose="02040602050305030304" pitchFamily="18" charset="0"/>
              </a:rPr>
              <a:t>Support Vector Machine or SVM is one of the most popular Supervised Learning algorithms, which is used for Classification as well as Regression problems. However, primarily, it is used for </a:t>
            </a:r>
            <a:r>
              <a:rPr lang="en-US" b="1" dirty="0">
                <a:solidFill>
                  <a:srgbClr val="00B050"/>
                </a:solidFill>
                <a:latin typeface="Book Antiqua" panose="02040602050305030304" pitchFamily="18" charset="0"/>
              </a:rPr>
              <a:t>Classification</a:t>
            </a:r>
            <a:r>
              <a:rPr lang="en-US" dirty="0">
                <a:latin typeface="Book Antiqua" panose="02040602050305030304" pitchFamily="18" charset="0"/>
              </a:rPr>
              <a:t> </a:t>
            </a:r>
            <a:r>
              <a:rPr lang="en-US" b="1" dirty="0">
                <a:solidFill>
                  <a:srgbClr val="00B050"/>
                </a:solidFill>
                <a:latin typeface="Book Antiqua" panose="02040602050305030304" pitchFamily="18" charset="0"/>
              </a:rPr>
              <a:t>problems</a:t>
            </a:r>
            <a:r>
              <a:rPr lang="en-US" dirty="0">
                <a:latin typeface="Book Antiqua" panose="02040602050305030304" pitchFamily="18" charset="0"/>
              </a:rPr>
              <a:t> in Machine Learning.</a:t>
            </a:r>
          </a:p>
          <a:p>
            <a:pPr algn="just"/>
            <a:r>
              <a:rPr lang="en-US" dirty="0">
                <a:latin typeface="Book Antiqua" panose="02040602050305030304" pitchFamily="18" charset="0"/>
              </a:rPr>
              <a:t>A support vector machine takes input data points and outputs the </a:t>
            </a:r>
            <a:r>
              <a:rPr lang="en-US" b="1" dirty="0">
                <a:solidFill>
                  <a:srgbClr val="00B050"/>
                </a:solidFill>
                <a:latin typeface="Book Antiqua" panose="02040602050305030304" pitchFamily="18" charset="0"/>
              </a:rPr>
              <a:t>hyperplane</a:t>
            </a:r>
            <a:r>
              <a:rPr lang="en-US" dirty="0">
                <a:latin typeface="Book Antiqua" panose="02040602050305030304" pitchFamily="18" charset="0"/>
              </a:rPr>
              <a:t> (which in two dimensions it’s simply a line) that best separates the data points into two classes. </a:t>
            </a:r>
          </a:p>
          <a:p>
            <a:pPr algn="just"/>
            <a:r>
              <a:rPr lang="en-US" dirty="0">
                <a:latin typeface="Book Antiqua" panose="02040602050305030304" pitchFamily="18" charset="0"/>
              </a:rPr>
              <a:t>This line or hyperplane is the </a:t>
            </a:r>
            <a:r>
              <a:rPr lang="en-US" b="1" dirty="0">
                <a:solidFill>
                  <a:srgbClr val="00B050"/>
                </a:solidFill>
                <a:latin typeface="Book Antiqua" panose="02040602050305030304" pitchFamily="18" charset="0"/>
              </a:rPr>
              <a:t>decision boundary</a:t>
            </a:r>
            <a:r>
              <a:rPr lang="en-US" dirty="0">
                <a:latin typeface="Book Antiqua" panose="02040602050305030304" pitchFamily="18" charset="0"/>
              </a:rPr>
              <a:t>: any data points  that falls to one side of it is classified in one class and, and the data points  that falls to the other of it is classified in another class.</a:t>
            </a:r>
          </a:p>
          <a:p>
            <a:pPr algn="just"/>
            <a:endParaRPr lang="en-US" dirty="0">
              <a:latin typeface="Book Antiqua" panose="02040602050305030304" pitchFamily="18" charset="0"/>
            </a:endParaRPr>
          </a:p>
        </p:txBody>
      </p:sp>
      <p:sp>
        <p:nvSpPr>
          <p:cNvPr id="4" name="Footer Placeholder 3"/>
          <p:cNvSpPr>
            <a:spLocks noGrp="1"/>
          </p:cNvSpPr>
          <p:nvPr>
            <p:ph type="ftr" sz="quarter" idx="11"/>
          </p:nvPr>
        </p:nvSpPr>
        <p:spPr/>
        <p:txBody>
          <a:bodyPr/>
          <a:lstStyle/>
          <a:p>
            <a:r>
              <a:rPr lang="en-US" dirty="0"/>
              <a:t>Data Mining-CSIT 7th                              Prepared BY: Arjun Saud</a:t>
            </a:r>
          </a:p>
        </p:txBody>
      </p:sp>
      <p:sp>
        <p:nvSpPr>
          <p:cNvPr id="5" name="Rectangle 2"/>
          <p:cNvSpPr>
            <a:spLocks noChangeArrowheads="1"/>
          </p:cNvSpPr>
          <p:nvPr/>
        </p:nvSpPr>
        <p:spPr bwMode="auto">
          <a:xfrm>
            <a:off x="1206500" y="3759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838200" y="513794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528919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200" b="1" dirty="0">
                <a:latin typeface="Book Antiqua" panose="02040602050305030304" pitchFamily="18" charset="0"/>
              </a:rPr>
              <a:t>Support Vector Machine</a:t>
            </a:r>
          </a:p>
        </p:txBody>
      </p:sp>
      <p:sp>
        <p:nvSpPr>
          <p:cNvPr id="3" name="Content Placeholder 2"/>
          <p:cNvSpPr>
            <a:spLocks noGrp="1"/>
          </p:cNvSpPr>
          <p:nvPr>
            <p:ph idx="1"/>
          </p:nvPr>
        </p:nvSpPr>
        <p:spPr>
          <a:xfrm>
            <a:off x="838200" y="1690688"/>
            <a:ext cx="10927976" cy="4486275"/>
          </a:xfrm>
        </p:spPr>
        <p:txBody>
          <a:bodyPr>
            <a:noAutofit/>
          </a:bodyPr>
          <a:lstStyle/>
          <a:p>
            <a:pPr algn="just"/>
            <a:endParaRPr lang="en-US" dirty="0">
              <a:latin typeface="Book Antiqua" panose="02040602050305030304" pitchFamily="18" charset="0"/>
            </a:endParaRPr>
          </a:p>
          <a:p>
            <a:pPr algn="just"/>
            <a:endParaRPr lang="en-US" dirty="0">
              <a:latin typeface="Book Antiqua" panose="02040602050305030304" pitchFamily="18" charset="0"/>
            </a:endParaRPr>
          </a:p>
          <a:p>
            <a:pPr algn="just"/>
            <a:endParaRPr lang="en-US" dirty="0">
              <a:latin typeface="Book Antiqua" panose="02040602050305030304" pitchFamily="18" charset="0"/>
            </a:endParaRPr>
          </a:p>
          <a:p>
            <a:pPr algn="just"/>
            <a:endParaRPr lang="en-US" dirty="0">
              <a:latin typeface="Book Antiqua" panose="02040602050305030304" pitchFamily="18" charset="0"/>
            </a:endParaRPr>
          </a:p>
          <a:p>
            <a:pPr algn="just"/>
            <a:endParaRPr lang="en-US" dirty="0">
              <a:latin typeface="Book Antiqua" panose="02040602050305030304" pitchFamily="18" charset="0"/>
            </a:endParaRPr>
          </a:p>
          <a:p>
            <a:pPr algn="just"/>
            <a:r>
              <a:rPr lang="en-US" dirty="0">
                <a:latin typeface="Book Antiqua" panose="02040602050305030304" pitchFamily="18" charset="0"/>
              </a:rPr>
              <a:t>Compared to newer algorithms like neural networks, they have two main advantages: </a:t>
            </a:r>
            <a:r>
              <a:rPr lang="en-US" dirty="0">
                <a:solidFill>
                  <a:srgbClr val="00B050"/>
                </a:solidFill>
                <a:latin typeface="Book Antiqua" panose="02040602050305030304" pitchFamily="18" charset="0"/>
              </a:rPr>
              <a:t>higher speed and better performance </a:t>
            </a:r>
            <a:r>
              <a:rPr lang="en-US" dirty="0">
                <a:latin typeface="Book Antiqua" panose="02040602050305030304" pitchFamily="18" charset="0"/>
              </a:rPr>
              <a:t>with a </a:t>
            </a:r>
            <a:r>
              <a:rPr lang="en-US" dirty="0">
                <a:solidFill>
                  <a:srgbClr val="00B050"/>
                </a:solidFill>
                <a:latin typeface="Book Antiqua" panose="02040602050305030304" pitchFamily="18" charset="0"/>
              </a:rPr>
              <a:t>limited number of samples </a:t>
            </a:r>
            <a:r>
              <a:rPr lang="en-US" dirty="0">
                <a:latin typeface="Book Antiqua" panose="02040602050305030304" pitchFamily="18" charset="0"/>
              </a:rPr>
              <a:t>(in the thousands). </a:t>
            </a:r>
          </a:p>
          <a:p>
            <a:pPr algn="just"/>
            <a:endParaRPr lang="en-US" dirty="0">
              <a:latin typeface="Book Antiqua" panose="02040602050305030304" pitchFamily="18" charset="0"/>
            </a:endParaRPr>
          </a:p>
        </p:txBody>
      </p:sp>
      <p:sp>
        <p:nvSpPr>
          <p:cNvPr id="4" name="Footer Placeholder 3"/>
          <p:cNvSpPr>
            <a:spLocks noGrp="1"/>
          </p:cNvSpPr>
          <p:nvPr>
            <p:ph type="ftr" sz="quarter" idx="11"/>
          </p:nvPr>
        </p:nvSpPr>
        <p:spPr/>
        <p:txBody>
          <a:bodyPr/>
          <a:lstStyle/>
          <a:p>
            <a:r>
              <a:rPr lang="en-US" dirty="0"/>
              <a:t>Data Mining-CSIT 7th                              Prepared BY: Arjun Saud</a:t>
            </a:r>
          </a:p>
        </p:txBody>
      </p:sp>
      <p:sp>
        <p:nvSpPr>
          <p:cNvPr id="5" name="Rectangle 2"/>
          <p:cNvSpPr>
            <a:spLocks noChangeArrowheads="1"/>
          </p:cNvSpPr>
          <p:nvPr/>
        </p:nvSpPr>
        <p:spPr bwMode="auto">
          <a:xfrm>
            <a:off x="1206500" y="3759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838200" y="513794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1" name="Picture 10"/>
          <p:cNvPicPr>
            <a:picLocks noChangeAspect="1"/>
          </p:cNvPicPr>
          <p:nvPr/>
        </p:nvPicPr>
        <p:blipFill>
          <a:blip r:embed="rId2"/>
          <a:stretch>
            <a:fillRect/>
          </a:stretch>
        </p:blipFill>
        <p:spPr>
          <a:xfrm>
            <a:off x="2249375" y="1626721"/>
            <a:ext cx="8105625" cy="2307104"/>
          </a:xfrm>
          <a:prstGeom prst="rect">
            <a:avLst/>
          </a:prstGeom>
        </p:spPr>
      </p:pic>
    </p:spTree>
    <p:extLst>
      <p:ext uri="{BB962C8B-B14F-4D97-AF65-F5344CB8AC3E}">
        <p14:creationId xmlns:p14="http://schemas.microsoft.com/office/powerpoint/2010/main" val="742932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200" b="1" dirty="0">
                <a:latin typeface="Book Antiqua" panose="02040602050305030304" pitchFamily="18" charset="0"/>
              </a:rPr>
              <a:t>Support Vector Machine</a:t>
            </a:r>
          </a:p>
        </p:txBody>
      </p:sp>
      <p:sp>
        <p:nvSpPr>
          <p:cNvPr id="3" name="Content Placeholder 2"/>
          <p:cNvSpPr>
            <a:spLocks noGrp="1"/>
          </p:cNvSpPr>
          <p:nvPr>
            <p:ph idx="1"/>
          </p:nvPr>
        </p:nvSpPr>
        <p:spPr>
          <a:xfrm>
            <a:off x="838200" y="1559860"/>
            <a:ext cx="10927976" cy="4617104"/>
          </a:xfrm>
        </p:spPr>
        <p:txBody>
          <a:bodyPr>
            <a:noAutofit/>
          </a:bodyPr>
          <a:lstStyle/>
          <a:p>
            <a:pPr algn="just"/>
            <a:r>
              <a:rPr lang="en-US" dirty="0">
                <a:solidFill>
                  <a:srgbClr val="00B050"/>
                </a:solidFill>
                <a:latin typeface="Book Antiqua" panose="02040602050305030304" pitchFamily="18" charset="0"/>
              </a:rPr>
              <a:t>Support vectors </a:t>
            </a:r>
            <a:r>
              <a:rPr lang="en-US" dirty="0">
                <a:latin typeface="Book Antiqua" panose="02040602050305030304" pitchFamily="18" charset="0"/>
              </a:rPr>
              <a:t>are data points that are closest to the hyperplane and influence </a:t>
            </a:r>
            <a:r>
              <a:rPr lang="en-US" dirty="0">
                <a:solidFill>
                  <a:srgbClr val="7030A0"/>
                </a:solidFill>
                <a:latin typeface="Book Antiqua" panose="02040602050305030304" pitchFamily="18" charset="0"/>
              </a:rPr>
              <a:t>the position and orientation </a:t>
            </a:r>
            <a:r>
              <a:rPr lang="en-US" dirty="0">
                <a:latin typeface="Book Antiqua" panose="02040602050305030304" pitchFamily="18" charset="0"/>
              </a:rPr>
              <a:t>of the hyperplane.  </a:t>
            </a:r>
          </a:p>
          <a:p>
            <a:pPr algn="just"/>
            <a:r>
              <a:rPr lang="en-US" dirty="0">
                <a:latin typeface="Book Antiqua" panose="02040602050305030304" pitchFamily="18" charset="0"/>
              </a:rPr>
              <a:t>To separate the two classes of data points, there are many possible </a:t>
            </a:r>
            <a:r>
              <a:rPr lang="en-US" dirty="0" err="1">
                <a:latin typeface="Book Antiqua" panose="02040602050305030304" pitchFamily="18" charset="0"/>
              </a:rPr>
              <a:t>hyperplanes</a:t>
            </a:r>
            <a:r>
              <a:rPr lang="en-US" dirty="0">
                <a:latin typeface="Book Antiqua" panose="02040602050305030304" pitchFamily="18" charset="0"/>
              </a:rPr>
              <a:t> that could be chosen.  </a:t>
            </a:r>
          </a:p>
          <a:p>
            <a:pPr algn="just"/>
            <a:r>
              <a:rPr lang="en-US" dirty="0">
                <a:latin typeface="Book Antiqua" panose="02040602050305030304" pitchFamily="18" charset="0"/>
              </a:rPr>
              <a:t>SVM algorithm selects optimal hyperplane by choosing hyperplane with largest </a:t>
            </a:r>
            <a:r>
              <a:rPr lang="en-US" dirty="0">
                <a:solidFill>
                  <a:srgbClr val="00B050"/>
                </a:solidFill>
                <a:latin typeface="Book Antiqua" panose="02040602050305030304" pitchFamily="18" charset="0"/>
              </a:rPr>
              <a:t>margin</a:t>
            </a:r>
            <a:r>
              <a:rPr lang="en-US" dirty="0">
                <a:latin typeface="Book Antiqua" panose="02040602050305030304" pitchFamily="18" charset="0"/>
              </a:rPr>
              <a:t>. Such hyperplane is called </a:t>
            </a:r>
            <a:r>
              <a:rPr lang="en-US" b="1" dirty="0">
                <a:solidFill>
                  <a:srgbClr val="00B050"/>
                </a:solidFill>
                <a:latin typeface="Book Antiqua" panose="02040602050305030304" pitchFamily="18" charset="0"/>
              </a:rPr>
              <a:t>maximum marginal hyperplane (MMH).</a:t>
            </a:r>
          </a:p>
          <a:p>
            <a:pPr algn="just"/>
            <a:r>
              <a:rPr lang="en-US" dirty="0">
                <a:latin typeface="Book Antiqua" panose="02040602050305030304" pitchFamily="18" charset="0"/>
              </a:rPr>
              <a:t>Let </a:t>
            </a:r>
            <a:r>
              <a:rPr lang="en-US" dirty="0">
                <a:solidFill>
                  <a:srgbClr val="7030A0"/>
                </a:solidFill>
                <a:latin typeface="Book Antiqua" panose="02040602050305030304" pitchFamily="18" charset="0"/>
              </a:rPr>
              <a:t>H1 and H2 </a:t>
            </a:r>
            <a:r>
              <a:rPr lang="en-US" dirty="0">
                <a:latin typeface="Book Antiqua" panose="02040602050305030304" pitchFamily="18" charset="0"/>
              </a:rPr>
              <a:t>are planes that   passes through support vectors and parallel to the hyperplane of decision boundary. </a:t>
            </a:r>
          </a:p>
        </p:txBody>
      </p:sp>
      <p:sp>
        <p:nvSpPr>
          <p:cNvPr id="4" name="Footer Placeholder 3"/>
          <p:cNvSpPr>
            <a:spLocks noGrp="1"/>
          </p:cNvSpPr>
          <p:nvPr>
            <p:ph type="ftr" sz="quarter" idx="11"/>
          </p:nvPr>
        </p:nvSpPr>
        <p:spPr/>
        <p:txBody>
          <a:bodyPr/>
          <a:lstStyle/>
          <a:p>
            <a:r>
              <a:rPr lang="en-US" dirty="0"/>
              <a:t>Data Mining-CSIT 7th                              Prepared BY: Arjun Saud</a:t>
            </a:r>
          </a:p>
        </p:txBody>
      </p:sp>
      <p:sp>
        <p:nvSpPr>
          <p:cNvPr id="5" name="Rectangle 2"/>
          <p:cNvSpPr>
            <a:spLocks noChangeArrowheads="1"/>
          </p:cNvSpPr>
          <p:nvPr/>
        </p:nvSpPr>
        <p:spPr bwMode="auto">
          <a:xfrm>
            <a:off x="1206500" y="3759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838200" y="513794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573102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200" b="1" dirty="0">
                <a:latin typeface="Book Antiqua" panose="02040602050305030304" pitchFamily="18" charset="0"/>
              </a:rPr>
              <a:t>Support Vector Machine</a:t>
            </a:r>
          </a:p>
        </p:txBody>
      </p:sp>
      <p:sp>
        <p:nvSpPr>
          <p:cNvPr id="3" name="Content Placeholder 2"/>
          <p:cNvSpPr>
            <a:spLocks noGrp="1"/>
          </p:cNvSpPr>
          <p:nvPr>
            <p:ph idx="1"/>
          </p:nvPr>
        </p:nvSpPr>
        <p:spPr>
          <a:xfrm>
            <a:off x="838200" y="1559860"/>
            <a:ext cx="10927976" cy="4617104"/>
          </a:xfrm>
        </p:spPr>
        <p:txBody>
          <a:bodyPr>
            <a:noAutofit/>
          </a:bodyPr>
          <a:lstStyle/>
          <a:p>
            <a:pPr algn="just"/>
            <a:r>
              <a:rPr lang="en-US" dirty="0">
                <a:latin typeface="Book Antiqua" panose="02040602050305030304" pitchFamily="18" charset="0"/>
              </a:rPr>
              <a:t>Distance between plane H1 and the hyperplane should be equal to distance between plane H2 and the hyperplane. Margin is the distance between planes H1 and H2.</a:t>
            </a:r>
          </a:p>
          <a:p>
            <a:pPr algn="just"/>
            <a:endParaRPr lang="en-US" dirty="0">
              <a:latin typeface="Book Antiqua" panose="02040602050305030304" pitchFamily="18" charset="0"/>
            </a:endParaRPr>
          </a:p>
        </p:txBody>
      </p:sp>
      <p:sp>
        <p:nvSpPr>
          <p:cNvPr id="4" name="Footer Placeholder 3"/>
          <p:cNvSpPr>
            <a:spLocks noGrp="1"/>
          </p:cNvSpPr>
          <p:nvPr>
            <p:ph type="ftr" sz="quarter" idx="11"/>
          </p:nvPr>
        </p:nvSpPr>
        <p:spPr/>
        <p:txBody>
          <a:bodyPr/>
          <a:lstStyle/>
          <a:p>
            <a:r>
              <a:rPr lang="en-US" dirty="0"/>
              <a:t>Data Mining-CSIT 7th                              Prepared BY: Arjun Saud</a:t>
            </a:r>
          </a:p>
        </p:txBody>
      </p:sp>
      <p:sp>
        <p:nvSpPr>
          <p:cNvPr id="5" name="Rectangle 2"/>
          <p:cNvSpPr>
            <a:spLocks noChangeArrowheads="1"/>
          </p:cNvSpPr>
          <p:nvPr/>
        </p:nvSpPr>
        <p:spPr bwMode="auto">
          <a:xfrm>
            <a:off x="1206500" y="3759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838200" y="513794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6" name="Picture 5"/>
          <p:cNvPicPr>
            <a:picLocks noChangeAspect="1"/>
          </p:cNvPicPr>
          <p:nvPr/>
        </p:nvPicPr>
        <p:blipFill>
          <a:blip r:embed="rId2"/>
          <a:stretch>
            <a:fillRect/>
          </a:stretch>
        </p:blipFill>
        <p:spPr>
          <a:xfrm>
            <a:off x="963706" y="2750954"/>
            <a:ext cx="6109447" cy="2694096"/>
          </a:xfrm>
          <a:prstGeom prst="rect">
            <a:avLst/>
          </a:prstGeom>
        </p:spPr>
      </p:pic>
      <p:pic>
        <p:nvPicPr>
          <p:cNvPr id="9" name="Picture 8"/>
          <p:cNvPicPr>
            <a:picLocks noChangeAspect="1"/>
          </p:cNvPicPr>
          <p:nvPr/>
        </p:nvPicPr>
        <p:blipFill>
          <a:blip r:embed="rId3"/>
          <a:stretch>
            <a:fillRect/>
          </a:stretch>
        </p:blipFill>
        <p:spPr>
          <a:xfrm>
            <a:off x="7747856" y="2750954"/>
            <a:ext cx="3605944" cy="2694096"/>
          </a:xfrm>
          <a:prstGeom prst="rect">
            <a:avLst/>
          </a:prstGeom>
        </p:spPr>
      </p:pic>
    </p:spTree>
    <p:extLst>
      <p:ext uri="{BB962C8B-B14F-4D97-AF65-F5344CB8AC3E}">
        <p14:creationId xmlns:p14="http://schemas.microsoft.com/office/powerpoint/2010/main" val="3251877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200" b="1" dirty="0">
                <a:latin typeface="Book Antiqua" panose="02040602050305030304" pitchFamily="18" charset="0"/>
              </a:rPr>
              <a:t>Support Vector Machine</a:t>
            </a:r>
          </a:p>
        </p:txBody>
      </p:sp>
      <p:sp>
        <p:nvSpPr>
          <p:cNvPr id="3" name="Content Placeholder 2"/>
          <p:cNvSpPr>
            <a:spLocks noGrp="1"/>
          </p:cNvSpPr>
          <p:nvPr>
            <p:ph idx="1"/>
          </p:nvPr>
        </p:nvSpPr>
        <p:spPr>
          <a:xfrm>
            <a:off x="838200" y="1559860"/>
            <a:ext cx="10927976" cy="4617104"/>
          </a:xfrm>
        </p:spPr>
        <p:txBody>
          <a:bodyPr>
            <a:noAutofit/>
          </a:bodyPr>
          <a:lstStyle/>
          <a:p>
            <a:pPr algn="just"/>
            <a:r>
              <a:rPr lang="en-US" dirty="0">
                <a:latin typeface="Book Antiqua" panose="02040602050305030304" pitchFamily="18" charset="0"/>
              </a:rPr>
              <a:t>Support Vector Machine(SVM) can be of two types: </a:t>
            </a:r>
            <a:r>
              <a:rPr lang="en-US" b="1" dirty="0">
                <a:solidFill>
                  <a:srgbClr val="0070C0"/>
                </a:solidFill>
                <a:latin typeface="Book Antiqua" panose="02040602050305030304" pitchFamily="18" charset="0"/>
              </a:rPr>
              <a:t>Linear SVM and Non-linear SVM.</a:t>
            </a:r>
          </a:p>
          <a:p>
            <a:pPr algn="just"/>
            <a:r>
              <a:rPr lang="en-US" dirty="0">
                <a:latin typeface="Book Antiqua" panose="02040602050305030304" pitchFamily="18" charset="0"/>
              </a:rPr>
              <a:t>SVM that is used to classify linearly separable data points is called linear SVM whereas the SVM that is used to classify non-linearly separable data points is called non-linear SVM.</a:t>
            </a:r>
          </a:p>
          <a:p>
            <a:pPr algn="just"/>
            <a:endParaRPr lang="en-US" dirty="0">
              <a:latin typeface="Book Antiqua" panose="02040602050305030304" pitchFamily="18" charset="0"/>
            </a:endParaRPr>
          </a:p>
        </p:txBody>
      </p:sp>
      <p:sp>
        <p:nvSpPr>
          <p:cNvPr id="4" name="Footer Placeholder 3"/>
          <p:cNvSpPr>
            <a:spLocks noGrp="1"/>
          </p:cNvSpPr>
          <p:nvPr>
            <p:ph type="ftr" sz="quarter" idx="11"/>
          </p:nvPr>
        </p:nvSpPr>
        <p:spPr/>
        <p:txBody>
          <a:bodyPr/>
          <a:lstStyle/>
          <a:p>
            <a:r>
              <a:rPr lang="en-US" dirty="0"/>
              <a:t>Data Mining-CSIT 7th                              Prepared BY: Arjun Saud</a:t>
            </a:r>
          </a:p>
        </p:txBody>
      </p:sp>
      <p:sp>
        <p:nvSpPr>
          <p:cNvPr id="5" name="Rectangle 2"/>
          <p:cNvSpPr>
            <a:spLocks noChangeArrowheads="1"/>
          </p:cNvSpPr>
          <p:nvPr/>
        </p:nvSpPr>
        <p:spPr bwMode="auto">
          <a:xfrm>
            <a:off x="1206500" y="3759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838200" y="513794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1" name="Picture 10"/>
          <p:cNvPicPr>
            <a:picLocks noChangeAspect="1"/>
          </p:cNvPicPr>
          <p:nvPr/>
        </p:nvPicPr>
        <p:blipFill>
          <a:blip r:embed="rId2"/>
          <a:stretch>
            <a:fillRect/>
          </a:stretch>
        </p:blipFill>
        <p:spPr>
          <a:xfrm>
            <a:off x="2979924" y="3622955"/>
            <a:ext cx="5804759" cy="2733395"/>
          </a:xfrm>
          <a:prstGeom prst="rect">
            <a:avLst/>
          </a:prstGeom>
        </p:spPr>
      </p:pic>
    </p:spTree>
    <p:extLst>
      <p:ext uri="{BB962C8B-B14F-4D97-AF65-F5344CB8AC3E}">
        <p14:creationId xmlns:p14="http://schemas.microsoft.com/office/powerpoint/2010/main" val="3480417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200" b="1" dirty="0">
                <a:latin typeface="Book Antiqua" panose="02040602050305030304" pitchFamily="18" charset="0"/>
              </a:rPr>
              <a:t>Support Vector Machine</a:t>
            </a:r>
          </a:p>
        </p:txBody>
      </p:sp>
      <p:sp>
        <p:nvSpPr>
          <p:cNvPr id="3" name="Content Placeholder 2"/>
          <p:cNvSpPr>
            <a:spLocks noGrp="1"/>
          </p:cNvSpPr>
          <p:nvPr>
            <p:ph idx="1"/>
          </p:nvPr>
        </p:nvSpPr>
        <p:spPr>
          <a:xfrm>
            <a:off x="838200" y="1559860"/>
            <a:ext cx="10927976" cy="4617104"/>
          </a:xfrm>
        </p:spPr>
        <p:txBody>
          <a:bodyPr>
            <a:noAutofit/>
          </a:bodyPr>
          <a:lstStyle/>
          <a:p>
            <a:pPr algn="just"/>
            <a:r>
              <a:rPr lang="en-US" dirty="0">
                <a:latin typeface="Book Antiqua" panose="02040602050305030304" pitchFamily="18" charset="0"/>
              </a:rPr>
              <a:t>Non-linear SVM works in following two steps:</a:t>
            </a:r>
          </a:p>
          <a:p>
            <a:pPr lvl="1" algn="just"/>
            <a:r>
              <a:rPr lang="en-US" dirty="0">
                <a:latin typeface="Book Antiqua" panose="02040602050305030304" pitchFamily="18" charset="0"/>
              </a:rPr>
              <a:t>It transforms low–dimensional data points into high-dimensional data points, that are linearly separable, by using </a:t>
            </a:r>
            <a:r>
              <a:rPr lang="en-US" dirty="0">
                <a:solidFill>
                  <a:srgbClr val="7030A0"/>
                </a:solidFill>
                <a:latin typeface="Book Antiqua" panose="02040602050305030304" pitchFamily="18" charset="0"/>
              </a:rPr>
              <a:t>kernel-trick.</a:t>
            </a:r>
          </a:p>
          <a:p>
            <a:pPr lvl="1" algn="just"/>
            <a:r>
              <a:rPr lang="en-US" dirty="0">
                <a:latin typeface="Book Antiqua" panose="02040602050305030304" pitchFamily="18" charset="0"/>
              </a:rPr>
              <a:t>Then, it classifies data points using linear-hyperplane.</a:t>
            </a:r>
          </a:p>
          <a:p>
            <a:pPr algn="just"/>
            <a:r>
              <a:rPr lang="en-US" dirty="0">
                <a:latin typeface="Book Antiqua" panose="02040602050305030304" pitchFamily="18" charset="0"/>
              </a:rPr>
              <a:t>SVM algorithms use a set of mathematical functions that are defined as the </a:t>
            </a:r>
            <a:r>
              <a:rPr lang="en-US" dirty="0">
                <a:solidFill>
                  <a:srgbClr val="7030A0"/>
                </a:solidFill>
                <a:latin typeface="Book Antiqua" panose="02040602050305030304" pitchFamily="18" charset="0"/>
              </a:rPr>
              <a:t>kernel</a:t>
            </a:r>
            <a:r>
              <a:rPr lang="en-US" dirty="0">
                <a:latin typeface="Book Antiqua" panose="02040602050305030304" pitchFamily="18" charset="0"/>
              </a:rPr>
              <a:t>. </a:t>
            </a:r>
          </a:p>
          <a:p>
            <a:pPr algn="just"/>
            <a:r>
              <a:rPr lang="en-US" dirty="0">
                <a:latin typeface="Book Antiqua" panose="02040602050305030304" pitchFamily="18" charset="0"/>
              </a:rPr>
              <a:t>These functions are used to transform non-linearly separable low-dimensional data points into linearly separable high-dimensional data points. </a:t>
            </a:r>
          </a:p>
          <a:p>
            <a:pPr algn="just"/>
            <a:r>
              <a:rPr lang="en-US" dirty="0">
                <a:latin typeface="Book Antiqua" panose="02040602050305030304" pitchFamily="18" charset="0"/>
              </a:rPr>
              <a:t>Popular kernels are: </a:t>
            </a:r>
            <a:r>
              <a:rPr lang="en-US" dirty="0">
                <a:solidFill>
                  <a:srgbClr val="7030A0"/>
                </a:solidFill>
                <a:latin typeface="Book Antiqua" panose="02040602050305030304" pitchFamily="18" charset="0"/>
              </a:rPr>
              <a:t>Linear Kernel, Polynomial Kernel, Gaussian Kernel, Radial Basis Function (RBF), Sigmoid Kernel, etc</a:t>
            </a:r>
            <a:r>
              <a:rPr lang="en-US" dirty="0">
                <a:latin typeface="Book Antiqua" panose="02040602050305030304" pitchFamily="18" charset="0"/>
              </a:rPr>
              <a:t>.</a:t>
            </a:r>
          </a:p>
          <a:p>
            <a:pPr algn="just"/>
            <a:endParaRPr lang="en-US" dirty="0">
              <a:latin typeface="Book Antiqua" panose="02040602050305030304" pitchFamily="18" charset="0"/>
            </a:endParaRPr>
          </a:p>
        </p:txBody>
      </p:sp>
      <p:sp>
        <p:nvSpPr>
          <p:cNvPr id="4" name="Footer Placeholder 3"/>
          <p:cNvSpPr>
            <a:spLocks noGrp="1"/>
          </p:cNvSpPr>
          <p:nvPr>
            <p:ph type="ftr" sz="quarter" idx="11"/>
          </p:nvPr>
        </p:nvSpPr>
        <p:spPr/>
        <p:txBody>
          <a:bodyPr/>
          <a:lstStyle/>
          <a:p>
            <a:r>
              <a:rPr lang="en-US" dirty="0"/>
              <a:t>Data Mining-CSIT 7th                              Prepared BY: Arjun Saud</a:t>
            </a:r>
          </a:p>
        </p:txBody>
      </p:sp>
      <p:sp>
        <p:nvSpPr>
          <p:cNvPr id="5" name="Rectangle 2"/>
          <p:cNvSpPr>
            <a:spLocks noChangeArrowheads="1"/>
          </p:cNvSpPr>
          <p:nvPr/>
        </p:nvSpPr>
        <p:spPr bwMode="auto">
          <a:xfrm>
            <a:off x="1206500" y="3759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838200" y="513794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727328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200" b="1" dirty="0">
                <a:latin typeface="Book Antiqua" panose="02040602050305030304" pitchFamily="18" charset="0"/>
              </a:rPr>
              <a:t>Support Vector Machine</a:t>
            </a:r>
          </a:p>
        </p:txBody>
      </p:sp>
      <p:sp>
        <p:nvSpPr>
          <p:cNvPr id="3" name="Content Placeholder 2"/>
          <p:cNvSpPr>
            <a:spLocks noGrp="1"/>
          </p:cNvSpPr>
          <p:nvPr>
            <p:ph idx="1"/>
          </p:nvPr>
        </p:nvSpPr>
        <p:spPr>
          <a:xfrm>
            <a:off x="838200" y="1559860"/>
            <a:ext cx="10927976" cy="4617104"/>
          </a:xfrm>
        </p:spPr>
        <p:txBody>
          <a:bodyPr>
            <a:noAutofit/>
          </a:bodyPr>
          <a:lstStyle/>
          <a:p>
            <a:pPr algn="just"/>
            <a:r>
              <a:rPr lang="en-US" dirty="0">
                <a:latin typeface="Book Antiqua" panose="02040602050305030304" pitchFamily="18" charset="0"/>
              </a:rPr>
              <a:t>Consider the following 2-D data points which are linearly inseparable. We can transform the data points into linearly separable data points by adding third dimension z=x</a:t>
            </a:r>
            <a:r>
              <a:rPr lang="en-US" baseline="30000" dirty="0">
                <a:latin typeface="Book Antiqua" panose="02040602050305030304" pitchFamily="18" charset="0"/>
              </a:rPr>
              <a:t>2</a:t>
            </a:r>
            <a:r>
              <a:rPr lang="en-US" dirty="0">
                <a:latin typeface="Book Antiqua" panose="02040602050305030304" pitchFamily="18" charset="0"/>
              </a:rPr>
              <a:t>+y</a:t>
            </a:r>
            <a:r>
              <a:rPr lang="en-US" baseline="30000" dirty="0">
                <a:latin typeface="Book Antiqua" panose="02040602050305030304" pitchFamily="18" charset="0"/>
              </a:rPr>
              <a:t>2</a:t>
            </a:r>
            <a:r>
              <a:rPr lang="en-US" dirty="0">
                <a:latin typeface="Book Antiqua" panose="02040602050305030304" pitchFamily="18" charset="0"/>
              </a:rPr>
              <a:t>.</a:t>
            </a:r>
            <a:endParaRPr lang="en-US" baseline="30000" dirty="0">
              <a:latin typeface="Book Antiqua" panose="02040602050305030304" pitchFamily="18" charset="0"/>
            </a:endParaRPr>
          </a:p>
        </p:txBody>
      </p:sp>
      <p:sp>
        <p:nvSpPr>
          <p:cNvPr id="4" name="Footer Placeholder 3"/>
          <p:cNvSpPr>
            <a:spLocks noGrp="1"/>
          </p:cNvSpPr>
          <p:nvPr>
            <p:ph type="ftr" sz="quarter" idx="11"/>
          </p:nvPr>
        </p:nvSpPr>
        <p:spPr/>
        <p:txBody>
          <a:bodyPr/>
          <a:lstStyle/>
          <a:p>
            <a:r>
              <a:rPr lang="en-US" dirty="0"/>
              <a:t>Data Mining-CSIT 7th                              Prepared BY: Arjun Saud</a:t>
            </a:r>
          </a:p>
        </p:txBody>
      </p:sp>
      <p:sp>
        <p:nvSpPr>
          <p:cNvPr id="5" name="Rectangle 2"/>
          <p:cNvSpPr>
            <a:spLocks noChangeArrowheads="1"/>
          </p:cNvSpPr>
          <p:nvPr/>
        </p:nvSpPr>
        <p:spPr bwMode="auto">
          <a:xfrm>
            <a:off x="1206500" y="3759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838200" y="513794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 name="Picture 9"/>
          <p:cNvPicPr>
            <a:picLocks noChangeAspect="1"/>
          </p:cNvPicPr>
          <p:nvPr/>
        </p:nvPicPr>
        <p:blipFill>
          <a:blip r:embed="rId2"/>
          <a:stretch>
            <a:fillRect/>
          </a:stretch>
        </p:blipFill>
        <p:spPr>
          <a:xfrm>
            <a:off x="1206500" y="2854888"/>
            <a:ext cx="9020175" cy="2971800"/>
          </a:xfrm>
          <a:prstGeom prst="rect">
            <a:avLst/>
          </a:prstGeom>
        </p:spPr>
      </p:pic>
    </p:spTree>
    <p:extLst>
      <p:ext uri="{BB962C8B-B14F-4D97-AF65-F5344CB8AC3E}">
        <p14:creationId xmlns:p14="http://schemas.microsoft.com/office/powerpoint/2010/main" val="684564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200" b="1" dirty="0">
                <a:latin typeface="Book Antiqua" panose="02040602050305030304" pitchFamily="18" charset="0"/>
              </a:rPr>
              <a:t>Support Vector Machine</a:t>
            </a:r>
          </a:p>
        </p:txBody>
      </p:sp>
      <p:sp>
        <p:nvSpPr>
          <p:cNvPr id="3" name="Content Placeholder 2"/>
          <p:cNvSpPr>
            <a:spLocks noGrp="1"/>
          </p:cNvSpPr>
          <p:nvPr>
            <p:ph idx="1"/>
          </p:nvPr>
        </p:nvSpPr>
        <p:spPr>
          <a:xfrm>
            <a:off x="838200" y="1559860"/>
            <a:ext cx="10927976" cy="4617104"/>
          </a:xfrm>
        </p:spPr>
        <p:txBody>
          <a:bodyPr>
            <a:noAutofit/>
          </a:bodyPr>
          <a:lstStyle/>
          <a:p>
            <a:pPr marL="0" indent="0" algn="just">
              <a:buNone/>
            </a:pPr>
            <a:r>
              <a:rPr lang="en-US" b="1" dirty="0">
                <a:latin typeface="Book Antiqua" panose="02040602050305030304" pitchFamily="18" charset="0"/>
              </a:rPr>
              <a:t>Example</a:t>
            </a:r>
          </a:p>
          <a:p>
            <a:pPr algn="just"/>
            <a:r>
              <a:rPr lang="en-US" dirty="0">
                <a:latin typeface="Book Antiqua" panose="02040602050305030304" pitchFamily="18" charset="0"/>
              </a:rPr>
              <a:t>Consider following data points:</a:t>
            </a:r>
          </a:p>
          <a:p>
            <a:pPr lvl="1" algn="just"/>
            <a:r>
              <a:rPr lang="en-US" dirty="0">
                <a:latin typeface="Book Antiqua" panose="02040602050305030304" pitchFamily="18" charset="0"/>
              </a:rPr>
              <a:t>Positively Labelled Data Points:(3,1),(3,-1),(6,1),(6,-1)</a:t>
            </a:r>
          </a:p>
          <a:p>
            <a:pPr lvl="1" algn="just"/>
            <a:r>
              <a:rPr lang="en-US" dirty="0">
                <a:latin typeface="Book Antiqua" panose="02040602050305030304" pitchFamily="18" charset="0"/>
              </a:rPr>
              <a:t>Negatively Labelled Data Points:(1,0),(0,1),(0,-1),(-1,0)</a:t>
            </a:r>
          </a:p>
          <a:p>
            <a:pPr algn="just"/>
            <a:r>
              <a:rPr lang="en-US" dirty="0">
                <a:latin typeface="Book Antiqua" panose="02040602050305030304" pitchFamily="18" charset="0"/>
              </a:rPr>
              <a:t>Determine the equation of hyperplane that divides the above data points into two classes:</a:t>
            </a:r>
          </a:p>
          <a:p>
            <a:pPr algn="just"/>
            <a:endParaRPr lang="en-US" dirty="0">
              <a:latin typeface="Book Antiqua" panose="02040602050305030304" pitchFamily="18" charset="0"/>
            </a:endParaRPr>
          </a:p>
        </p:txBody>
      </p:sp>
      <p:sp>
        <p:nvSpPr>
          <p:cNvPr id="4" name="Footer Placeholder 3"/>
          <p:cNvSpPr>
            <a:spLocks noGrp="1"/>
          </p:cNvSpPr>
          <p:nvPr>
            <p:ph type="ftr" sz="quarter" idx="11"/>
          </p:nvPr>
        </p:nvSpPr>
        <p:spPr/>
        <p:txBody>
          <a:bodyPr/>
          <a:lstStyle/>
          <a:p>
            <a:r>
              <a:rPr lang="en-US" dirty="0"/>
              <a:t>Data Mining-CSIT 7th                              Prepared BY: Arjun Saud</a:t>
            </a:r>
          </a:p>
        </p:txBody>
      </p:sp>
      <p:sp>
        <p:nvSpPr>
          <p:cNvPr id="5" name="Rectangle 2"/>
          <p:cNvSpPr>
            <a:spLocks noChangeArrowheads="1"/>
          </p:cNvSpPr>
          <p:nvPr/>
        </p:nvSpPr>
        <p:spPr bwMode="auto">
          <a:xfrm>
            <a:off x="1206500" y="377264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838200" y="513794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5209521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200" b="1" dirty="0">
                <a:latin typeface="Book Antiqua" panose="02040602050305030304" pitchFamily="18" charset="0"/>
              </a:rPr>
              <a:t>Support Vector Machine</a:t>
            </a:r>
          </a:p>
        </p:txBody>
      </p:sp>
      <p:sp>
        <p:nvSpPr>
          <p:cNvPr id="3" name="Content Placeholder 2"/>
          <p:cNvSpPr>
            <a:spLocks noGrp="1"/>
          </p:cNvSpPr>
          <p:nvPr>
            <p:ph idx="1"/>
          </p:nvPr>
        </p:nvSpPr>
        <p:spPr>
          <a:xfrm>
            <a:off x="838200" y="1559860"/>
            <a:ext cx="10927976" cy="4617104"/>
          </a:xfrm>
        </p:spPr>
        <p:txBody>
          <a:bodyPr>
            <a:noAutofit/>
          </a:bodyPr>
          <a:lstStyle/>
          <a:p>
            <a:pPr marL="0" indent="0" algn="just">
              <a:buNone/>
            </a:pPr>
            <a:r>
              <a:rPr lang="en-US" b="1" dirty="0">
                <a:latin typeface="Book Antiqua" panose="02040602050305030304" pitchFamily="18" charset="0"/>
              </a:rPr>
              <a:t>Solution</a:t>
            </a:r>
          </a:p>
          <a:p>
            <a:pPr marL="0" indent="0" algn="just">
              <a:buNone/>
            </a:pPr>
            <a:r>
              <a:rPr lang="en-US" dirty="0">
                <a:latin typeface="Book Antiqua" panose="02040602050305030304" pitchFamily="18" charset="0"/>
              </a:rPr>
              <a:t>	Support vectors are</a:t>
            </a:r>
          </a:p>
          <a:p>
            <a:pPr marL="0" indent="0" algn="just">
              <a:buNone/>
            </a:pPr>
            <a:r>
              <a:rPr lang="en-US" dirty="0">
                <a:latin typeface="Book Antiqua" panose="02040602050305030304" pitchFamily="18" charset="0"/>
              </a:rPr>
              <a:t>	s1=(1,0),	 s2=(3,1), 	s3=(3,-1)		why???</a:t>
            </a:r>
          </a:p>
          <a:p>
            <a:pPr marL="0" indent="0" algn="just">
              <a:buNone/>
            </a:pPr>
            <a:r>
              <a:rPr lang="en-US" dirty="0">
                <a:latin typeface="Book Antiqua" panose="02040602050305030304" pitchFamily="18" charset="0"/>
              </a:rPr>
              <a:t>	Augment support vectors with b=1</a:t>
            </a:r>
          </a:p>
          <a:p>
            <a:pPr marL="0" indent="0" algn="just">
              <a:buNone/>
            </a:pPr>
            <a:r>
              <a:rPr lang="en-US" dirty="0">
                <a:latin typeface="Book Antiqua" panose="02040602050305030304" pitchFamily="18" charset="0"/>
              </a:rPr>
              <a:t>	s1=(1,0,1),	 s2=(3,1,1), s3=(3,-1,1)</a:t>
            </a:r>
          </a:p>
          <a:p>
            <a:pPr marL="0" indent="0" algn="just">
              <a:buNone/>
            </a:pPr>
            <a:r>
              <a:rPr lang="en-US" dirty="0">
                <a:latin typeface="Book Antiqua" panose="02040602050305030304" pitchFamily="18" charset="0"/>
              </a:rPr>
              <a:t>	</a:t>
            </a:r>
          </a:p>
          <a:p>
            <a:pPr marL="0" indent="0" algn="just">
              <a:buNone/>
            </a:pPr>
            <a:r>
              <a:rPr lang="en-US" dirty="0">
                <a:latin typeface="Book Antiqua" panose="02040602050305030304" pitchFamily="18" charset="0"/>
              </a:rPr>
              <a:t>	</a:t>
            </a:r>
          </a:p>
          <a:p>
            <a:pPr marL="0" indent="0" algn="just">
              <a:buNone/>
            </a:pPr>
            <a:endParaRPr lang="en-US" dirty="0">
              <a:latin typeface="Book Antiqua" panose="02040602050305030304" pitchFamily="18" charset="0"/>
            </a:endParaRPr>
          </a:p>
          <a:p>
            <a:pPr algn="just"/>
            <a:endParaRPr lang="en-US" dirty="0">
              <a:latin typeface="Book Antiqua" panose="02040602050305030304" pitchFamily="18" charset="0"/>
            </a:endParaRPr>
          </a:p>
        </p:txBody>
      </p:sp>
      <p:sp>
        <p:nvSpPr>
          <p:cNvPr id="4" name="Footer Placeholder 3"/>
          <p:cNvSpPr>
            <a:spLocks noGrp="1"/>
          </p:cNvSpPr>
          <p:nvPr>
            <p:ph type="ftr" sz="quarter" idx="11"/>
          </p:nvPr>
        </p:nvSpPr>
        <p:spPr/>
        <p:txBody>
          <a:bodyPr/>
          <a:lstStyle/>
          <a:p>
            <a:r>
              <a:rPr lang="en-US" dirty="0"/>
              <a:t>Data Mining-CSIT 7th                              Prepared BY: Arjun Saud</a:t>
            </a:r>
          </a:p>
        </p:txBody>
      </p:sp>
      <p:sp>
        <p:nvSpPr>
          <p:cNvPr id="5" name="Rectangle 2"/>
          <p:cNvSpPr>
            <a:spLocks noChangeArrowheads="1"/>
          </p:cNvSpPr>
          <p:nvPr/>
        </p:nvSpPr>
        <p:spPr bwMode="auto">
          <a:xfrm>
            <a:off x="1206500" y="3759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838200" y="513794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5757915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200" b="1" dirty="0">
                <a:latin typeface="Book Antiqua" panose="02040602050305030304" pitchFamily="18" charset="0"/>
              </a:rPr>
              <a:t>Support Vector Machine</a:t>
            </a:r>
          </a:p>
        </p:txBody>
      </p:sp>
      <p:sp>
        <p:nvSpPr>
          <p:cNvPr id="3" name="Content Placeholder 2"/>
          <p:cNvSpPr>
            <a:spLocks noGrp="1"/>
          </p:cNvSpPr>
          <p:nvPr>
            <p:ph idx="1"/>
          </p:nvPr>
        </p:nvSpPr>
        <p:spPr>
          <a:xfrm>
            <a:off x="838200" y="1559860"/>
            <a:ext cx="10927976" cy="4617104"/>
          </a:xfrm>
        </p:spPr>
        <p:txBody>
          <a:bodyPr>
            <a:noAutofit/>
          </a:bodyPr>
          <a:lstStyle/>
          <a:p>
            <a:pPr marL="0" indent="0" algn="just">
              <a:buNone/>
            </a:pPr>
            <a:r>
              <a:rPr lang="en-US" b="1" dirty="0">
                <a:latin typeface="Book Antiqua" panose="02040602050305030304" pitchFamily="18" charset="0"/>
              </a:rPr>
              <a:t>Solution</a:t>
            </a:r>
          </a:p>
          <a:p>
            <a:pPr marL="0" indent="0" algn="just">
              <a:buNone/>
            </a:pPr>
            <a:r>
              <a:rPr lang="en-US" dirty="0">
                <a:latin typeface="Book Antiqua" panose="02040602050305030304" pitchFamily="18" charset="0"/>
              </a:rPr>
              <a:t>	Since there are three support vectors, we need to calculate 	three variables</a:t>
            </a:r>
          </a:p>
          <a:p>
            <a:pPr marL="0" indent="0" algn="just">
              <a:buNone/>
            </a:pPr>
            <a:r>
              <a:rPr lang="en-US" dirty="0">
                <a:latin typeface="Book Antiqua" panose="02040602050305030304" pitchFamily="18" charset="0"/>
              </a:rPr>
              <a:t>	Thus, three linear equations can be written as:</a:t>
            </a:r>
          </a:p>
          <a:p>
            <a:pPr marL="0" indent="0" algn="just">
              <a:buNone/>
            </a:pPr>
            <a:endParaRPr lang="en-US" dirty="0">
              <a:latin typeface="Book Antiqua" panose="02040602050305030304" pitchFamily="18" charset="0"/>
            </a:endParaRPr>
          </a:p>
          <a:p>
            <a:pPr marL="0" indent="0" algn="just">
              <a:buNone/>
            </a:pPr>
            <a:endParaRPr lang="en-US" dirty="0">
              <a:latin typeface="Book Antiqua" panose="02040602050305030304" pitchFamily="18" charset="0"/>
            </a:endParaRPr>
          </a:p>
          <a:p>
            <a:pPr marL="0" indent="0" algn="just">
              <a:buNone/>
            </a:pPr>
            <a:endParaRPr lang="en-US" dirty="0">
              <a:latin typeface="Book Antiqua" panose="02040602050305030304" pitchFamily="18" charset="0"/>
            </a:endParaRPr>
          </a:p>
          <a:p>
            <a:pPr marL="0" indent="0" algn="just">
              <a:buNone/>
            </a:pPr>
            <a:r>
              <a:rPr lang="en-US" dirty="0">
                <a:latin typeface="Book Antiqua" panose="02040602050305030304" pitchFamily="18" charset="0"/>
              </a:rPr>
              <a:t>	After simplifying above equations, we get</a:t>
            </a:r>
          </a:p>
          <a:p>
            <a:pPr marL="0" indent="0" algn="just">
              <a:buNone/>
            </a:pPr>
            <a:r>
              <a:rPr lang="en-US" dirty="0">
                <a:latin typeface="Book Antiqua" panose="02040602050305030304" pitchFamily="18" charset="0"/>
              </a:rPr>
              <a:t>	</a:t>
            </a:r>
          </a:p>
          <a:p>
            <a:pPr marL="0" indent="0" algn="just">
              <a:buNone/>
            </a:pPr>
            <a:endParaRPr lang="en-US" dirty="0">
              <a:latin typeface="Book Antiqua" panose="02040602050305030304" pitchFamily="18" charset="0"/>
            </a:endParaRPr>
          </a:p>
          <a:p>
            <a:pPr marL="0" indent="0" algn="just">
              <a:buNone/>
            </a:pPr>
            <a:endParaRPr lang="en-US" dirty="0">
              <a:latin typeface="Book Antiqua" panose="02040602050305030304" pitchFamily="18" charset="0"/>
            </a:endParaRPr>
          </a:p>
          <a:p>
            <a:pPr marL="0" indent="0" algn="just">
              <a:buNone/>
            </a:pPr>
            <a:endParaRPr lang="en-US" dirty="0">
              <a:latin typeface="Book Antiqua" panose="02040602050305030304" pitchFamily="18" charset="0"/>
            </a:endParaRPr>
          </a:p>
          <a:p>
            <a:pPr marL="0" indent="0" algn="just">
              <a:buNone/>
            </a:pPr>
            <a:endParaRPr lang="en-US" dirty="0">
              <a:latin typeface="Book Antiqua" panose="02040602050305030304" pitchFamily="18" charset="0"/>
            </a:endParaRPr>
          </a:p>
          <a:p>
            <a:pPr algn="just"/>
            <a:endParaRPr lang="en-US" dirty="0">
              <a:latin typeface="Book Antiqua" panose="02040602050305030304" pitchFamily="18" charset="0"/>
            </a:endParaRPr>
          </a:p>
        </p:txBody>
      </p:sp>
      <p:sp>
        <p:nvSpPr>
          <p:cNvPr id="4" name="Footer Placeholder 3"/>
          <p:cNvSpPr>
            <a:spLocks noGrp="1"/>
          </p:cNvSpPr>
          <p:nvPr>
            <p:ph type="ftr" sz="quarter" idx="11"/>
          </p:nvPr>
        </p:nvSpPr>
        <p:spPr/>
        <p:txBody>
          <a:bodyPr/>
          <a:lstStyle/>
          <a:p>
            <a:r>
              <a:rPr lang="en-US" dirty="0"/>
              <a:t>Data Mining-CSIT 7th                              Prepared BY: Arjun Saud</a:t>
            </a:r>
          </a:p>
        </p:txBody>
      </p:sp>
      <p:sp>
        <p:nvSpPr>
          <p:cNvPr id="5" name="Rectangle 2"/>
          <p:cNvSpPr>
            <a:spLocks noChangeArrowheads="1"/>
          </p:cNvSpPr>
          <p:nvPr/>
        </p:nvSpPr>
        <p:spPr bwMode="auto">
          <a:xfrm>
            <a:off x="1206500" y="3759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838200" y="513794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 name="Object 5"/>
          <p:cNvGraphicFramePr>
            <a:graphicFrameLocks noChangeAspect="1"/>
          </p:cNvGraphicFramePr>
          <p:nvPr>
            <p:extLst>
              <p:ext uri="{D42A27DB-BD31-4B8C-83A1-F6EECF244321}">
                <p14:modId xmlns:p14="http://schemas.microsoft.com/office/powerpoint/2010/main" val="2315638777"/>
              </p:ext>
            </p:extLst>
          </p:nvPr>
        </p:nvGraphicFramePr>
        <p:xfrm>
          <a:off x="2230438" y="3446463"/>
          <a:ext cx="3201987" cy="1350962"/>
        </p:xfrm>
        <a:graphic>
          <a:graphicData uri="http://schemas.openxmlformats.org/presentationml/2006/ole">
            <mc:AlternateContent xmlns:mc="http://schemas.openxmlformats.org/markup-compatibility/2006">
              <mc:Choice xmlns:v="urn:schemas-microsoft-com:vml" Requires="v">
                <p:oleObj name="Equation" r:id="rId2" imgW="1625400" imgH="685800" progId="Equation.3">
                  <p:embed/>
                </p:oleObj>
              </mc:Choice>
              <mc:Fallback>
                <p:oleObj name="Equation" r:id="rId2" imgW="1625400" imgH="685800" progId="Equation.3">
                  <p:embed/>
                  <p:pic>
                    <p:nvPicPr>
                      <p:cNvPr id="6" name="Object 5"/>
                      <p:cNvPicPr/>
                      <p:nvPr/>
                    </p:nvPicPr>
                    <p:blipFill>
                      <a:blip r:embed="rId3"/>
                      <a:stretch>
                        <a:fillRect/>
                      </a:stretch>
                    </p:blipFill>
                    <p:spPr>
                      <a:xfrm>
                        <a:off x="2230438" y="3446463"/>
                        <a:ext cx="3201987" cy="1350962"/>
                      </a:xfrm>
                      <a:prstGeom prst="rect">
                        <a:avLst/>
                      </a:prstGeom>
                    </p:spPr>
                  </p:pic>
                </p:oleObj>
              </mc:Fallback>
            </mc:AlternateContent>
          </a:graphicData>
        </a:graphic>
      </p:graphicFrame>
    </p:spTree>
    <p:extLst>
      <p:ext uri="{BB962C8B-B14F-4D97-AF65-F5344CB8AC3E}">
        <p14:creationId xmlns:p14="http://schemas.microsoft.com/office/powerpoint/2010/main" val="919345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200" b="1" dirty="0">
                <a:latin typeface="Book Antiqua" panose="02040602050305030304" pitchFamily="18" charset="0"/>
              </a:rPr>
              <a:t>Support Vector Machine</a:t>
            </a:r>
          </a:p>
        </p:txBody>
      </p:sp>
      <p:sp>
        <p:nvSpPr>
          <p:cNvPr id="3" name="Content Placeholder 2"/>
          <p:cNvSpPr>
            <a:spLocks noGrp="1"/>
          </p:cNvSpPr>
          <p:nvPr>
            <p:ph idx="1"/>
          </p:nvPr>
        </p:nvSpPr>
        <p:spPr>
          <a:xfrm>
            <a:off x="838200" y="1559860"/>
            <a:ext cx="10927976" cy="4617104"/>
          </a:xfrm>
        </p:spPr>
        <p:txBody>
          <a:bodyPr>
            <a:noAutofit/>
          </a:bodyPr>
          <a:lstStyle/>
          <a:p>
            <a:pPr marL="0" indent="0" algn="just">
              <a:buNone/>
            </a:pPr>
            <a:r>
              <a:rPr lang="en-US" b="1" dirty="0">
                <a:latin typeface="Book Antiqua" panose="02040602050305030304" pitchFamily="18" charset="0"/>
              </a:rPr>
              <a:t>Solution</a:t>
            </a:r>
          </a:p>
          <a:p>
            <a:pPr marL="0" indent="0" algn="just">
              <a:buNone/>
            </a:pPr>
            <a:r>
              <a:rPr lang="en-US" dirty="0">
                <a:latin typeface="Book Antiqua" panose="02040602050305030304" pitchFamily="18" charset="0"/>
              </a:rPr>
              <a:t>	After simplifying above equations, we get</a:t>
            </a:r>
          </a:p>
          <a:p>
            <a:pPr marL="0" indent="0" algn="just">
              <a:buNone/>
            </a:pPr>
            <a:endParaRPr lang="en-US" dirty="0">
              <a:latin typeface="Book Antiqua" panose="02040602050305030304" pitchFamily="18" charset="0"/>
            </a:endParaRPr>
          </a:p>
          <a:p>
            <a:pPr marL="0" indent="0" algn="just">
              <a:buNone/>
            </a:pPr>
            <a:endParaRPr lang="en-US" dirty="0">
              <a:latin typeface="Book Antiqua" panose="02040602050305030304" pitchFamily="18" charset="0"/>
            </a:endParaRPr>
          </a:p>
          <a:p>
            <a:pPr marL="0" indent="0" algn="just">
              <a:buNone/>
            </a:pPr>
            <a:endParaRPr lang="en-US" dirty="0">
              <a:latin typeface="Book Antiqua" panose="02040602050305030304" pitchFamily="18" charset="0"/>
            </a:endParaRPr>
          </a:p>
          <a:p>
            <a:pPr marL="0" indent="0" algn="just">
              <a:buNone/>
            </a:pPr>
            <a:r>
              <a:rPr lang="en-US" dirty="0">
                <a:latin typeface="Book Antiqua" panose="02040602050305030304" pitchFamily="18" charset="0"/>
              </a:rPr>
              <a:t>	Solving these equations, we get</a:t>
            </a:r>
          </a:p>
          <a:p>
            <a:pPr marL="0" indent="0" algn="just">
              <a:buNone/>
            </a:pPr>
            <a:endParaRPr lang="en-US" dirty="0">
              <a:latin typeface="Book Antiqua" panose="02040602050305030304" pitchFamily="18" charset="0"/>
            </a:endParaRPr>
          </a:p>
          <a:p>
            <a:pPr marL="0" indent="0" algn="just">
              <a:buNone/>
            </a:pPr>
            <a:r>
              <a:rPr lang="en-US" dirty="0">
                <a:latin typeface="Book Antiqua" panose="02040602050305030304" pitchFamily="18" charset="0"/>
              </a:rPr>
              <a:t>	Now, we can compute weight vector of hyperplane as below</a:t>
            </a:r>
          </a:p>
          <a:p>
            <a:pPr marL="0" indent="0" algn="just">
              <a:buNone/>
            </a:pPr>
            <a:r>
              <a:rPr lang="en-US" dirty="0">
                <a:latin typeface="Book Antiqua" panose="02040602050305030304" pitchFamily="18" charset="0"/>
              </a:rPr>
              <a:t>	</a:t>
            </a:r>
          </a:p>
          <a:p>
            <a:pPr marL="0" indent="0" algn="just">
              <a:buNone/>
            </a:pPr>
            <a:endParaRPr lang="en-US" dirty="0">
              <a:latin typeface="Book Antiqua" panose="02040602050305030304" pitchFamily="18" charset="0"/>
            </a:endParaRPr>
          </a:p>
          <a:p>
            <a:pPr marL="0" indent="0" algn="just">
              <a:buNone/>
            </a:pPr>
            <a:endParaRPr lang="en-US" dirty="0">
              <a:latin typeface="Book Antiqua" panose="02040602050305030304" pitchFamily="18" charset="0"/>
            </a:endParaRPr>
          </a:p>
          <a:p>
            <a:pPr marL="0" indent="0" algn="just">
              <a:buNone/>
            </a:pPr>
            <a:endParaRPr lang="en-US" dirty="0">
              <a:latin typeface="Book Antiqua" panose="02040602050305030304" pitchFamily="18" charset="0"/>
            </a:endParaRPr>
          </a:p>
          <a:p>
            <a:pPr marL="0" indent="0" algn="just">
              <a:buNone/>
            </a:pPr>
            <a:endParaRPr lang="en-US" dirty="0">
              <a:latin typeface="Book Antiqua" panose="02040602050305030304" pitchFamily="18" charset="0"/>
            </a:endParaRPr>
          </a:p>
          <a:p>
            <a:pPr algn="just"/>
            <a:endParaRPr lang="en-US" dirty="0">
              <a:latin typeface="Book Antiqua" panose="02040602050305030304" pitchFamily="18" charset="0"/>
            </a:endParaRPr>
          </a:p>
        </p:txBody>
      </p:sp>
      <p:sp>
        <p:nvSpPr>
          <p:cNvPr id="4" name="Footer Placeholder 3"/>
          <p:cNvSpPr>
            <a:spLocks noGrp="1"/>
          </p:cNvSpPr>
          <p:nvPr>
            <p:ph type="ftr" sz="quarter" idx="11"/>
          </p:nvPr>
        </p:nvSpPr>
        <p:spPr/>
        <p:txBody>
          <a:bodyPr/>
          <a:lstStyle/>
          <a:p>
            <a:r>
              <a:rPr lang="en-US" dirty="0"/>
              <a:t>Data Mining-CSIT 7th                              Prepared BY: Arjun Saud</a:t>
            </a:r>
          </a:p>
        </p:txBody>
      </p:sp>
      <p:sp>
        <p:nvSpPr>
          <p:cNvPr id="5" name="Rectangle 2"/>
          <p:cNvSpPr>
            <a:spLocks noChangeArrowheads="1"/>
          </p:cNvSpPr>
          <p:nvPr/>
        </p:nvSpPr>
        <p:spPr bwMode="auto">
          <a:xfrm>
            <a:off x="1206500" y="3759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838200" y="512449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 name="Object 5"/>
          <p:cNvGraphicFramePr>
            <a:graphicFrameLocks noChangeAspect="1"/>
          </p:cNvGraphicFramePr>
          <p:nvPr>
            <p:extLst>
              <p:ext uri="{D42A27DB-BD31-4B8C-83A1-F6EECF244321}">
                <p14:modId xmlns:p14="http://schemas.microsoft.com/office/powerpoint/2010/main" val="2321066872"/>
              </p:ext>
            </p:extLst>
          </p:nvPr>
        </p:nvGraphicFramePr>
        <p:xfrm>
          <a:off x="2370138" y="2600325"/>
          <a:ext cx="2276475" cy="1300163"/>
        </p:xfrm>
        <a:graphic>
          <a:graphicData uri="http://schemas.openxmlformats.org/presentationml/2006/ole">
            <mc:AlternateContent xmlns:mc="http://schemas.openxmlformats.org/markup-compatibility/2006">
              <mc:Choice xmlns:v="urn:schemas-microsoft-com:vml" Requires="v">
                <p:oleObj name="Equation" r:id="rId2" imgW="1155600" imgH="660240" progId="Equation.3">
                  <p:embed/>
                </p:oleObj>
              </mc:Choice>
              <mc:Fallback>
                <p:oleObj name="Equation" r:id="rId2" imgW="1155600" imgH="660240" progId="Equation.3">
                  <p:embed/>
                  <p:pic>
                    <p:nvPicPr>
                      <p:cNvPr id="6" name="Object 5"/>
                      <p:cNvPicPr/>
                      <p:nvPr/>
                    </p:nvPicPr>
                    <p:blipFill>
                      <a:blip r:embed="rId3"/>
                      <a:stretch>
                        <a:fillRect/>
                      </a:stretch>
                    </p:blipFill>
                    <p:spPr>
                      <a:xfrm>
                        <a:off x="2370138" y="2600325"/>
                        <a:ext cx="2276475" cy="1300163"/>
                      </a:xfrm>
                      <a:prstGeom prst="rect">
                        <a:avLst/>
                      </a:prstGeom>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2429931874"/>
              </p:ext>
            </p:extLst>
          </p:nvPr>
        </p:nvGraphicFramePr>
        <p:xfrm>
          <a:off x="1951038" y="4754563"/>
          <a:ext cx="3727450" cy="400050"/>
        </p:xfrm>
        <a:graphic>
          <a:graphicData uri="http://schemas.openxmlformats.org/presentationml/2006/ole">
            <mc:AlternateContent xmlns:mc="http://schemas.openxmlformats.org/markup-compatibility/2006">
              <mc:Choice xmlns:v="urn:schemas-microsoft-com:vml" Requires="v">
                <p:oleObj name="Equation" r:id="rId4" imgW="1892160" imgH="203040" progId="Equation.3">
                  <p:embed/>
                </p:oleObj>
              </mc:Choice>
              <mc:Fallback>
                <p:oleObj name="Equation" r:id="rId4" imgW="1892160" imgH="203040" progId="Equation.3">
                  <p:embed/>
                  <p:pic>
                    <p:nvPicPr>
                      <p:cNvPr id="9" name="Object 8"/>
                      <p:cNvPicPr/>
                      <p:nvPr/>
                    </p:nvPicPr>
                    <p:blipFill>
                      <a:blip r:embed="rId5"/>
                      <a:stretch>
                        <a:fillRect/>
                      </a:stretch>
                    </p:blipFill>
                    <p:spPr>
                      <a:xfrm>
                        <a:off x="1951038" y="4754563"/>
                        <a:ext cx="3727450" cy="400050"/>
                      </a:xfrm>
                      <a:prstGeom prst="rect">
                        <a:avLst/>
                      </a:prstGeom>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3766703551"/>
              </p:ext>
            </p:extLst>
          </p:nvPr>
        </p:nvGraphicFramePr>
        <p:xfrm>
          <a:off x="1720850" y="5722938"/>
          <a:ext cx="3576638" cy="449262"/>
        </p:xfrm>
        <a:graphic>
          <a:graphicData uri="http://schemas.openxmlformats.org/presentationml/2006/ole">
            <mc:AlternateContent xmlns:mc="http://schemas.openxmlformats.org/markup-compatibility/2006">
              <mc:Choice xmlns:v="urn:schemas-microsoft-com:vml" Requires="v">
                <p:oleObj name="Equation" r:id="rId6" imgW="1815840" imgH="228600" progId="Equation.3">
                  <p:embed/>
                </p:oleObj>
              </mc:Choice>
              <mc:Fallback>
                <p:oleObj name="Equation" r:id="rId6" imgW="1815840" imgH="228600" progId="Equation.3">
                  <p:embed/>
                  <p:pic>
                    <p:nvPicPr>
                      <p:cNvPr id="10" name="Object 9"/>
                      <p:cNvPicPr/>
                      <p:nvPr/>
                    </p:nvPicPr>
                    <p:blipFill>
                      <a:blip r:embed="rId7"/>
                      <a:stretch>
                        <a:fillRect/>
                      </a:stretch>
                    </p:blipFill>
                    <p:spPr>
                      <a:xfrm>
                        <a:off x="1720850" y="5722938"/>
                        <a:ext cx="3576638" cy="449262"/>
                      </a:xfrm>
                      <a:prstGeom prst="rect">
                        <a:avLst/>
                      </a:prstGeom>
                    </p:spPr>
                  </p:pic>
                </p:oleObj>
              </mc:Fallback>
            </mc:AlternateContent>
          </a:graphicData>
        </a:graphic>
      </p:graphicFrame>
    </p:spTree>
    <p:extLst>
      <p:ext uri="{BB962C8B-B14F-4D97-AF65-F5344CB8AC3E}">
        <p14:creationId xmlns:p14="http://schemas.microsoft.com/office/powerpoint/2010/main" val="1814670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200" b="1" dirty="0">
                <a:latin typeface="Book Antiqua" panose="02040602050305030304" pitchFamily="18" charset="0"/>
              </a:rPr>
              <a:t>Support Vector Machine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559860"/>
                <a:ext cx="10927976" cy="4617104"/>
              </a:xfrm>
            </p:spPr>
            <p:txBody>
              <a:bodyPr>
                <a:noAutofit/>
              </a:bodyPr>
              <a:lstStyle/>
              <a:p>
                <a:pPr marL="0" indent="0" algn="just">
                  <a:buNone/>
                </a:pPr>
                <a:r>
                  <a:rPr lang="en-US" b="1" dirty="0">
                    <a:latin typeface="Book Antiqua" panose="02040602050305030304" pitchFamily="18" charset="0"/>
                  </a:rPr>
                  <a:t>Solution</a:t>
                </a:r>
              </a:p>
              <a:p>
                <a:pPr marL="0" indent="0" algn="just">
                  <a:buNone/>
                </a:pPr>
                <a:r>
                  <a:rPr lang="en-US" dirty="0">
                    <a:latin typeface="Book Antiqua" panose="02040602050305030304" pitchFamily="18" charset="0"/>
                  </a:rPr>
                  <a:t>	Thus,</a:t>
                </a:r>
              </a:p>
              <a:p>
                <a:pPr marL="0" indent="0" algn="just">
                  <a:buNone/>
                </a:pPr>
                <a:endParaRPr lang="en-US" dirty="0">
                  <a:latin typeface="Book Antiqua" panose="02040602050305030304" pitchFamily="18" charset="0"/>
                </a:endParaRPr>
              </a:p>
              <a:p>
                <a:pPr marL="0" indent="0" algn="just">
                  <a:buNone/>
                </a:pPr>
                <a:r>
                  <a:rPr lang="en-US" dirty="0">
                    <a:latin typeface="Book Antiqua" panose="02040602050305030304" pitchFamily="18" charset="0"/>
                  </a:rPr>
                  <a:t>	=&gt; equation of the hyperplane is:</a:t>
                </a:r>
              </a:p>
              <a:p>
                <a:pPr marL="0" indent="0" algn="just">
                  <a:buNone/>
                </a:pPr>
                <a:r>
                  <a:rPr lang="en-US" dirty="0">
                    <a:latin typeface="Book Antiqua" panose="02040602050305030304" pitchFamily="18" charset="0"/>
                  </a:rPr>
                  <a:t>	w</a:t>
                </a:r>
                <a14:m>
                  <m:oMath xmlns:m="http://schemas.openxmlformats.org/officeDocument/2006/math">
                    <m:r>
                      <a:rPr lang="en-US" b="0" i="0"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=0</m:t>
                    </m:r>
                  </m:oMath>
                </a14:m>
                <a:endParaRPr lang="en-US" b="0" dirty="0">
                  <a:latin typeface="Book Antiqua" panose="02040602050305030304" pitchFamily="18" charset="0"/>
                </a:endParaRPr>
              </a:p>
              <a:p>
                <a:pPr marL="0" indent="0" algn="just">
                  <a:buNone/>
                </a:pPr>
                <a:r>
                  <a:rPr lang="en-US" dirty="0">
                    <a:latin typeface="Book Antiqua" panose="02040602050305030304" pitchFamily="18" charset="0"/>
                  </a:rPr>
                  <a:t>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1,0</m:t>
                        </m:r>
                      </m:e>
                    </m:d>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 −2=0</m:t>
                    </m:r>
                  </m:oMath>
                </a14:m>
                <a:endParaRPr lang="en-US" dirty="0">
                  <a:latin typeface="Book Antiqua" panose="02040602050305030304" pitchFamily="18" charset="0"/>
                </a:endParaRPr>
              </a:p>
              <a:p>
                <a:pPr marL="0" indent="0" algn="just">
                  <a:buNone/>
                </a:pPr>
                <a:r>
                  <a:rPr lang="en-US" dirty="0">
                    <a:latin typeface="Book Antiqua" panose="02040602050305030304" pitchFamily="18" charset="0"/>
                  </a:rPr>
                  <a:t>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−2=0</m:t>
                    </m:r>
                  </m:oMath>
                </a14:m>
                <a:endParaRPr lang="en-US" dirty="0">
                  <a:latin typeface="Book Antiqua" panose="02040602050305030304" pitchFamily="18" charset="0"/>
                </a:endParaRPr>
              </a:p>
              <a:p>
                <a:pPr marL="0" indent="0" algn="just">
                  <a:buNone/>
                </a:pPr>
                <a:r>
                  <a:rPr lang="en-US" dirty="0">
                    <a:latin typeface="Book Antiqua" panose="02040602050305030304" pitchFamily="18" charset="0"/>
                  </a:rPr>
                  <a:t>	</a:t>
                </a:r>
              </a:p>
              <a:p>
                <a:pPr marL="0" indent="0" algn="just">
                  <a:buNone/>
                </a:pPr>
                <a:r>
                  <a:rPr lang="en-US" dirty="0">
                    <a:latin typeface="Book Antiqua" panose="02040602050305030304" pitchFamily="18" charset="0"/>
                  </a:rPr>
                  <a:t>		</a:t>
                </a:r>
              </a:p>
              <a:p>
                <a:pPr marL="0" indent="0" algn="just">
                  <a:buNone/>
                </a:pPr>
                <a:endParaRPr lang="en-US" dirty="0">
                  <a:latin typeface="Book Antiqua" panose="02040602050305030304" pitchFamily="18" charset="0"/>
                </a:endParaRPr>
              </a:p>
              <a:p>
                <a:pPr marL="0" indent="0" algn="just">
                  <a:buNone/>
                </a:pPr>
                <a:endParaRPr lang="en-US" dirty="0">
                  <a:latin typeface="Book Antiqua" panose="02040602050305030304" pitchFamily="18" charset="0"/>
                </a:endParaRPr>
              </a:p>
              <a:p>
                <a:pPr marL="0" indent="0" algn="just">
                  <a:buNone/>
                </a:pPr>
                <a:endParaRPr lang="en-US" dirty="0">
                  <a:latin typeface="Book Antiqua" panose="02040602050305030304" pitchFamily="18" charset="0"/>
                </a:endParaRPr>
              </a:p>
              <a:p>
                <a:pPr marL="0" indent="0" algn="just">
                  <a:buNone/>
                </a:pPr>
                <a:endParaRPr lang="en-US" dirty="0">
                  <a:latin typeface="Book Antiqua" panose="02040602050305030304" pitchFamily="18" charset="0"/>
                </a:endParaRPr>
              </a:p>
              <a:p>
                <a:pPr algn="just"/>
                <a:endParaRPr lang="en-US" dirty="0">
                  <a:latin typeface="Book Antiqua" panose="0204060205030503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559860"/>
                <a:ext cx="10927976" cy="4617104"/>
              </a:xfrm>
              <a:blipFill rotWithShape="0">
                <a:blip r:embed="rId3"/>
                <a:stretch>
                  <a:fillRect l="-1172" t="-2510"/>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dirty="0"/>
              <a:t>Data Mining-CSIT 7th                              Prepared BY: Arjun Saud</a:t>
            </a:r>
          </a:p>
        </p:txBody>
      </p:sp>
      <p:sp>
        <p:nvSpPr>
          <p:cNvPr id="5" name="Rectangle 2"/>
          <p:cNvSpPr>
            <a:spLocks noChangeArrowheads="1"/>
          </p:cNvSpPr>
          <p:nvPr/>
        </p:nvSpPr>
        <p:spPr bwMode="auto">
          <a:xfrm>
            <a:off x="1206500" y="3759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838200" y="513794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 name="Object 9"/>
          <p:cNvGraphicFramePr>
            <a:graphicFrameLocks noChangeAspect="1"/>
          </p:cNvGraphicFramePr>
          <p:nvPr>
            <p:extLst>
              <p:ext uri="{D42A27DB-BD31-4B8C-83A1-F6EECF244321}">
                <p14:modId xmlns:p14="http://schemas.microsoft.com/office/powerpoint/2010/main" val="4166616230"/>
              </p:ext>
            </p:extLst>
          </p:nvPr>
        </p:nvGraphicFramePr>
        <p:xfrm>
          <a:off x="2968625" y="2163763"/>
          <a:ext cx="2501900" cy="400050"/>
        </p:xfrm>
        <a:graphic>
          <a:graphicData uri="http://schemas.openxmlformats.org/presentationml/2006/ole">
            <mc:AlternateContent xmlns:mc="http://schemas.openxmlformats.org/markup-compatibility/2006">
              <mc:Choice xmlns:v="urn:schemas-microsoft-com:vml" Requires="v">
                <p:oleObj name="Equation" r:id="rId4" imgW="1269720" imgH="203040" progId="Equation.3">
                  <p:embed/>
                </p:oleObj>
              </mc:Choice>
              <mc:Fallback>
                <p:oleObj name="Equation" r:id="rId4" imgW="1269720" imgH="203040" progId="Equation.3">
                  <p:embed/>
                  <p:pic>
                    <p:nvPicPr>
                      <p:cNvPr id="10" name="Object 9"/>
                      <p:cNvPicPr/>
                      <p:nvPr/>
                    </p:nvPicPr>
                    <p:blipFill>
                      <a:blip r:embed="rId5"/>
                      <a:stretch>
                        <a:fillRect/>
                      </a:stretch>
                    </p:blipFill>
                    <p:spPr>
                      <a:xfrm>
                        <a:off x="2968625" y="2163763"/>
                        <a:ext cx="2501900" cy="400050"/>
                      </a:xfrm>
                      <a:prstGeom prst="rect">
                        <a:avLst/>
                      </a:prstGeom>
                    </p:spPr>
                  </p:pic>
                </p:oleObj>
              </mc:Fallback>
            </mc:AlternateContent>
          </a:graphicData>
        </a:graphic>
      </p:graphicFrame>
    </p:spTree>
    <p:extLst>
      <p:ext uri="{BB962C8B-B14F-4D97-AF65-F5344CB8AC3E}">
        <p14:creationId xmlns:p14="http://schemas.microsoft.com/office/powerpoint/2010/main" val="3874376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200" b="1" dirty="0">
                <a:latin typeface="Book Antiqua" panose="02040602050305030304" pitchFamily="18" charset="0"/>
              </a:rPr>
              <a:t>Support Vector Regression</a:t>
            </a:r>
          </a:p>
        </p:txBody>
      </p:sp>
      <p:sp>
        <p:nvSpPr>
          <p:cNvPr id="3" name="Content Placeholder 2"/>
          <p:cNvSpPr>
            <a:spLocks noGrp="1"/>
          </p:cNvSpPr>
          <p:nvPr>
            <p:ph idx="1"/>
          </p:nvPr>
        </p:nvSpPr>
        <p:spPr>
          <a:xfrm>
            <a:off x="838200" y="1559860"/>
            <a:ext cx="10927976" cy="4617104"/>
          </a:xfrm>
        </p:spPr>
        <p:txBody>
          <a:bodyPr>
            <a:noAutofit/>
          </a:bodyPr>
          <a:lstStyle/>
          <a:p>
            <a:pPr algn="just"/>
            <a:r>
              <a:rPr lang="en-US" dirty="0">
                <a:latin typeface="Book Antiqua" panose="02040602050305030304" pitchFamily="18" charset="0"/>
              </a:rPr>
              <a:t>Support Vector Regression (SVR) uses the same principle as SVM, but for </a:t>
            </a:r>
            <a:r>
              <a:rPr lang="en-US" dirty="0">
                <a:solidFill>
                  <a:srgbClr val="00B050"/>
                </a:solidFill>
                <a:latin typeface="Book Antiqua" panose="02040602050305030304" pitchFamily="18" charset="0"/>
              </a:rPr>
              <a:t>regression problems. </a:t>
            </a:r>
          </a:p>
          <a:p>
            <a:pPr algn="just"/>
            <a:r>
              <a:rPr lang="en-US" dirty="0">
                <a:latin typeface="Book Antiqua" panose="02040602050305030304" pitchFamily="18" charset="0"/>
              </a:rPr>
              <a:t>The problem of regression is to find a function that approximates mapping from an input domain to real numbers on the basis of a training sample. </a:t>
            </a:r>
          </a:p>
          <a:p>
            <a:pPr algn="just"/>
            <a:r>
              <a:rPr lang="en-US" dirty="0">
                <a:latin typeface="Book Antiqua" panose="02040602050305030304" pitchFamily="18" charset="0"/>
              </a:rPr>
              <a:t>In Support Vector Regression, the straight line that is required to fit the data is referred to as hyperplane.</a:t>
            </a:r>
          </a:p>
        </p:txBody>
      </p:sp>
      <p:sp>
        <p:nvSpPr>
          <p:cNvPr id="4" name="Footer Placeholder 3"/>
          <p:cNvSpPr>
            <a:spLocks noGrp="1"/>
          </p:cNvSpPr>
          <p:nvPr>
            <p:ph type="ftr" sz="quarter" idx="11"/>
          </p:nvPr>
        </p:nvSpPr>
        <p:spPr/>
        <p:txBody>
          <a:bodyPr/>
          <a:lstStyle/>
          <a:p>
            <a:r>
              <a:rPr lang="en-US" dirty="0"/>
              <a:t>Data Mining-CSIT 7th                              Prepared BY: Arjun Saud</a:t>
            </a:r>
          </a:p>
        </p:txBody>
      </p:sp>
      <p:sp>
        <p:nvSpPr>
          <p:cNvPr id="5" name="Rectangle 2"/>
          <p:cNvSpPr>
            <a:spLocks noChangeArrowheads="1"/>
          </p:cNvSpPr>
          <p:nvPr/>
        </p:nvSpPr>
        <p:spPr bwMode="auto">
          <a:xfrm>
            <a:off x="1206500" y="3759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838200" y="513794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56836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200" b="1" dirty="0">
                <a:latin typeface="Book Antiqua" panose="02040602050305030304" pitchFamily="18" charset="0"/>
              </a:rPr>
              <a:t>Support Vector Regression</a:t>
            </a:r>
          </a:p>
        </p:txBody>
      </p:sp>
      <p:sp>
        <p:nvSpPr>
          <p:cNvPr id="3" name="Content Placeholder 2"/>
          <p:cNvSpPr>
            <a:spLocks noGrp="1"/>
          </p:cNvSpPr>
          <p:nvPr>
            <p:ph idx="1"/>
          </p:nvPr>
        </p:nvSpPr>
        <p:spPr>
          <a:xfrm>
            <a:off x="838200" y="1559860"/>
            <a:ext cx="10927976" cy="4617104"/>
          </a:xfrm>
        </p:spPr>
        <p:txBody>
          <a:bodyPr>
            <a:noAutofit/>
          </a:bodyPr>
          <a:lstStyle/>
          <a:p>
            <a:pPr algn="just"/>
            <a:r>
              <a:rPr lang="en-US" dirty="0">
                <a:latin typeface="Book Antiqua" panose="02040602050305030304" pitchFamily="18" charset="0"/>
              </a:rPr>
              <a:t>Key hyperparameters that are used in Support Vector Regression are discussed below:</a:t>
            </a:r>
          </a:p>
          <a:p>
            <a:pPr lvl="1" algn="just"/>
            <a:r>
              <a:rPr lang="en-US" sz="2700" b="1" dirty="0">
                <a:latin typeface="Book Antiqua" panose="02040602050305030304" pitchFamily="18" charset="0"/>
              </a:rPr>
              <a:t>Hyperplane:</a:t>
            </a:r>
            <a:r>
              <a:rPr lang="en-US" sz="2700" dirty="0">
                <a:latin typeface="Book Antiqua" panose="02040602050305030304" pitchFamily="18" charset="0"/>
              </a:rPr>
              <a:t> Hyperplanes are decision boundaries that is used to predict the continuous output. The data points on either side of the hyperplane that are closest to the hyperplane are called Support Vectors. These are used to plot the required line that shows the predicted output of the algorithm. </a:t>
            </a:r>
          </a:p>
          <a:p>
            <a:pPr lvl="1" algn="just"/>
            <a:r>
              <a:rPr lang="en-US" sz="2700" b="1" dirty="0">
                <a:latin typeface="Book Antiqua" panose="02040602050305030304" pitchFamily="18" charset="0"/>
              </a:rPr>
              <a:t>Kernel:</a:t>
            </a:r>
            <a:r>
              <a:rPr lang="en-US" sz="2700" dirty="0">
                <a:latin typeface="Book Antiqua" panose="02040602050305030304" pitchFamily="18" charset="0"/>
              </a:rPr>
              <a:t> A kernel is a set of mathematical functions that takes data as input and transform it into the required form. These are generally used for finding a hyperplane in the higher dimensional space.</a:t>
            </a:r>
          </a:p>
        </p:txBody>
      </p:sp>
      <p:sp>
        <p:nvSpPr>
          <p:cNvPr id="4" name="Footer Placeholder 3"/>
          <p:cNvSpPr>
            <a:spLocks noGrp="1"/>
          </p:cNvSpPr>
          <p:nvPr>
            <p:ph type="ftr" sz="quarter" idx="11"/>
          </p:nvPr>
        </p:nvSpPr>
        <p:spPr/>
        <p:txBody>
          <a:bodyPr/>
          <a:lstStyle/>
          <a:p>
            <a:r>
              <a:rPr lang="en-US" dirty="0"/>
              <a:t>Data Mining-CSIT 7th                              Prepared BY: Arjun Saud</a:t>
            </a:r>
          </a:p>
        </p:txBody>
      </p:sp>
      <p:sp>
        <p:nvSpPr>
          <p:cNvPr id="5" name="Rectangle 2"/>
          <p:cNvSpPr>
            <a:spLocks noChangeArrowheads="1"/>
          </p:cNvSpPr>
          <p:nvPr/>
        </p:nvSpPr>
        <p:spPr bwMode="auto">
          <a:xfrm>
            <a:off x="1206500" y="3759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838200" y="513794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5627158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200" b="1" dirty="0">
                <a:latin typeface="Book Antiqua" panose="02040602050305030304" pitchFamily="18" charset="0"/>
              </a:rPr>
              <a:t>Support Vector Regression</a:t>
            </a:r>
          </a:p>
        </p:txBody>
      </p:sp>
      <p:sp>
        <p:nvSpPr>
          <p:cNvPr id="3" name="Content Placeholder 2"/>
          <p:cNvSpPr>
            <a:spLocks noGrp="1"/>
          </p:cNvSpPr>
          <p:nvPr>
            <p:ph idx="1"/>
          </p:nvPr>
        </p:nvSpPr>
        <p:spPr>
          <a:xfrm>
            <a:off x="838200" y="1559860"/>
            <a:ext cx="10927976" cy="4617104"/>
          </a:xfrm>
        </p:spPr>
        <p:txBody>
          <a:bodyPr>
            <a:noAutofit/>
          </a:bodyPr>
          <a:lstStyle/>
          <a:p>
            <a:pPr algn="just"/>
            <a:r>
              <a:rPr lang="en-US" sz="2700" b="1" dirty="0">
                <a:latin typeface="Book Antiqua" panose="02040602050305030304" pitchFamily="18" charset="0"/>
              </a:rPr>
              <a:t>Boundary Lines:</a:t>
            </a:r>
            <a:r>
              <a:rPr lang="en-US" sz="2700" dirty="0">
                <a:latin typeface="Book Antiqua" panose="02040602050305030304" pitchFamily="18" charset="0"/>
              </a:rPr>
              <a:t> These are the two lines that are drawn around the hyperplane at a distance </a:t>
            </a:r>
            <a:r>
              <a:rPr lang="en-US" sz="2700" dirty="0">
                <a:solidFill>
                  <a:srgbClr val="00B050"/>
                </a:solidFill>
                <a:latin typeface="Book Antiqua" panose="02040602050305030304" pitchFamily="18" charset="0"/>
              </a:rPr>
              <a:t>of ε (epsilon). </a:t>
            </a:r>
            <a:r>
              <a:rPr lang="en-US" sz="2700" dirty="0">
                <a:latin typeface="Book Antiqua" panose="02040602050305030304" pitchFamily="18" charset="0"/>
              </a:rPr>
              <a:t>It is used to create a margin between the data points.</a:t>
            </a:r>
          </a:p>
          <a:p>
            <a:pPr algn="just"/>
            <a:endParaRPr lang="en-US" sz="2700" dirty="0">
              <a:latin typeface="Book Antiqua" panose="02040602050305030304" pitchFamily="18" charset="0"/>
            </a:endParaRPr>
          </a:p>
          <a:p>
            <a:pPr algn="just"/>
            <a:endParaRPr lang="en-US" sz="2700" dirty="0">
              <a:latin typeface="Book Antiqua" panose="02040602050305030304" pitchFamily="18" charset="0"/>
            </a:endParaRPr>
          </a:p>
          <a:p>
            <a:pPr algn="just"/>
            <a:endParaRPr lang="en-US" sz="2700" dirty="0">
              <a:latin typeface="Book Antiqua" panose="02040602050305030304" pitchFamily="18" charset="0"/>
            </a:endParaRPr>
          </a:p>
          <a:p>
            <a:pPr algn="just"/>
            <a:endParaRPr lang="en-US" sz="2700" dirty="0">
              <a:latin typeface="Book Antiqua" panose="02040602050305030304" pitchFamily="18" charset="0"/>
            </a:endParaRPr>
          </a:p>
          <a:p>
            <a:pPr algn="just"/>
            <a:endParaRPr lang="en-US" sz="2700" dirty="0">
              <a:latin typeface="Book Antiqua" panose="02040602050305030304" pitchFamily="18" charset="0"/>
            </a:endParaRPr>
          </a:p>
          <a:p>
            <a:pPr algn="just"/>
            <a:r>
              <a:rPr lang="en-US" sz="2700" dirty="0">
                <a:latin typeface="Book Antiqua" panose="02040602050305030304" pitchFamily="18" charset="0"/>
              </a:rPr>
              <a:t>The basic idea behind SVR is to find the </a:t>
            </a:r>
            <a:r>
              <a:rPr lang="en-US" sz="2700" dirty="0">
                <a:solidFill>
                  <a:srgbClr val="00B050"/>
                </a:solidFill>
                <a:latin typeface="Book Antiqua" panose="02040602050305030304" pitchFamily="18" charset="0"/>
              </a:rPr>
              <a:t>best fit line</a:t>
            </a:r>
            <a:r>
              <a:rPr lang="en-US" sz="2700" dirty="0">
                <a:latin typeface="Book Antiqua" panose="02040602050305030304" pitchFamily="18" charset="0"/>
              </a:rPr>
              <a:t>. In SVR, the best fit line is the hyperplane that has the maximum number of points.</a:t>
            </a:r>
          </a:p>
        </p:txBody>
      </p:sp>
      <p:sp>
        <p:nvSpPr>
          <p:cNvPr id="4" name="Footer Placeholder 3"/>
          <p:cNvSpPr>
            <a:spLocks noGrp="1"/>
          </p:cNvSpPr>
          <p:nvPr>
            <p:ph type="ftr" sz="quarter" idx="11"/>
          </p:nvPr>
        </p:nvSpPr>
        <p:spPr/>
        <p:txBody>
          <a:bodyPr/>
          <a:lstStyle/>
          <a:p>
            <a:r>
              <a:rPr lang="en-US" dirty="0"/>
              <a:t>Data Mining-CSIT 7th                              Prepared BY: Arjun Saud</a:t>
            </a:r>
          </a:p>
        </p:txBody>
      </p:sp>
      <p:sp>
        <p:nvSpPr>
          <p:cNvPr id="5" name="Rectangle 2"/>
          <p:cNvSpPr>
            <a:spLocks noChangeArrowheads="1"/>
          </p:cNvSpPr>
          <p:nvPr/>
        </p:nvSpPr>
        <p:spPr bwMode="auto">
          <a:xfrm>
            <a:off x="1206500" y="3759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838200" y="513794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6" name="Picture 5"/>
          <p:cNvPicPr>
            <a:picLocks noChangeAspect="1"/>
          </p:cNvPicPr>
          <p:nvPr/>
        </p:nvPicPr>
        <p:blipFill>
          <a:blip r:embed="rId2"/>
          <a:stretch>
            <a:fillRect/>
          </a:stretch>
        </p:blipFill>
        <p:spPr>
          <a:xfrm>
            <a:off x="5305425" y="2291557"/>
            <a:ext cx="2847975" cy="2667000"/>
          </a:xfrm>
          <a:prstGeom prst="rect">
            <a:avLst/>
          </a:prstGeom>
        </p:spPr>
      </p:pic>
    </p:spTree>
    <p:extLst>
      <p:ext uri="{BB962C8B-B14F-4D97-AF65-F5344CB8AC3E}">
        <p14:creationId xmlns:p14="http://schemas.microsoft.com/office/powerpoint/2010/main" val="12304483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200" b="1" dirty="0">
                <a:latin typeface="Book Antiqua" panose="02040602050305030304" pitchFamily="18" charset="0"/>
              </a:rPr>
              <a:t>Support Vector Regression</a:t>
            </a:r>
          </a:p>
        </p:txBody>
      </p:sp>
      <p:sp>
        <p:nvSpPr>
          <p:cNvPr id="3" name="Content Placeholder 2"/>
          <p:cNvSpPr>
            <a:spLocks noGrp="1"/>
          </p:cNvSpPr>
          <p:nvPr>
            <p:ph idx="1"/>
          </p:nvPr>
        </p:nvSpPr>
        <p:spPr>
          <a:xfrm>
            <a:off x="838200" y="1559860"/>
            <a:ext cx="10927976" cy="4617104"/>
          </a:xfrm>
        </p:spPr>
        <p:txBody>
          <a:bodyPr>
            <a:noAutofit/>
          </a:bodyPr>
          <a:lstStyle/>
          <a:p>
            <a:pPr algn="just"/>
            <a:r>
              <a:rPr lang="en-US" sz="2700" dirty="0">
                <a:latin typeface="Book Antiqua" panose="02040602050305030304" pitchFamily="18" charset="0"/>
              </a:rPr>
              <a:t>Unlike other Regression models that try to minimize the error between the real and predicted value, the SVR tries to fit the best line within a threshold value. </a:t>
            </a:r>
          </a:p>
          <a:p>
            <a:pPr algn="just"/>
            <a:r>
              <a:rPr lang="en-US" sz="2700" dirty="0">
                <a:latin typeface="Book Antiqua" panose="02040602050305030304" pitchFamily="18" charset="0"/>
              </a:rPr>
              <a:t>The threshold value is the distance between the hyperplane and boundary line. </a:t>
            </a:r>
          </a:p>
          <a:p>
            <a:pPr algn="just"/>
            <a:r>
              <a:rPr lang="en-US" sz="2700" dirty="0">
                <a:latin typeface="Book Antiqua" panose="02040602050305030304" pitchFamily="18" charset="0"/>
              </a:rPr>
              <a:t>The fit time complexity of SVR is more than </a:t>
            </a:r>
            <a:r>
              <a:rPr lang="en-US" sz="2700" dirty="0">
                <a:solidFill>
                  <a:srgbClr val="FF0000"/>
                </a:solidFill>
                <a:latin typeface="Book Antiqua" panose="02040602050305030304" pitchFamily="18" charset="0"/>
              </a:rPr>
              <a:t>quadratic with the number of samples which makes it hard to scale </a:t>
            </a:r>
            <a:r>
              <a:rPr lang="en-US" sz="2700" dirty="0">
                <a:latin typeface="Book Antiqua" panose="02040602050305030304" pitchFamily="18" charset="0"/>
              </a:rPr>
              <a:t>to datasets with more than a couple of 10000 samples.</a:t>
            </a:r>
          </a:p>
        </p:txBody>
      </p:sp>
      <p:sp>
        <p:nvSpPr>
          <p:cNvPr id="4" name="Footer Placeholder 3"/>
          <p:cNvSpPr>
            <a:spLocks noGrp="1"/>
          </p:cNvSpPr>
          <p:nvPr>
            <p:ph type="ftr" sz="quarter" idx="11"/>
          </p:nvPr>
        </p:nvSpPr>
        <p:spPr/>
        <p:txBody>
          <a:bodyPr/>
          <a:lstStyle/>
          <a:p>
            <a:r>
              <a:rPr lang="en-US" dirty="0"/>
              <a:t>Data Mining-CSIT 7th                              Prepared BY: Arjun Saud</a:t>
            </a:r>
          </a:p>
        </p:txBody>
      </p:sp>
      <p:sp>
        <p:nvSpPr>
          <p:cNvPr id="5" name="Rectangle 2"/>
          <p:cNvSpPr>
            <a:spLocks noChangeArrowheads="1"/>
          </p:cNvSpPr>
          <p:nvPr/>
        </p:nvSpPr>
        <p:spPr bwMode="auto">
          <a:xfrm>
            <a:off x="1206500" y="3759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838200" y="513794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2686267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200" b="1" dirty="0">
                <a:latin typeface="Book Antiqua" panose="02040602050305030304" pitchFamily="18" charset="0"/>
              </a:rPr>
              <a:t>Kernel Functions</a:t>
            </a:r>
          </a:p>
        </p:txBody>
      </p:sp>
      <p:sp>
        <p:nvSpPr>
          <p:cNvPr id="3" name="Content Placeholder 2"/>
          <p:cNvSpPr>
            <a:spLocks noGrp="1"/>
          </p:cNvSpPr>
          <p:nvPr>
            <p:ph idx="1"/>
          </p:nvPr>
        </p:nvSpPr>
        <p:spPr>
          <a:xfrm>
            <a:off x="838200" y="1559860"/>
            <a:ext cx="10927976" cy="4617104"/>
          </a:xfrm>
        </p:spPr>
        <p:txBody>
          <a:bodyPr>
            <a:noAutofit/>
          </a:bodyPr>
          <a:lstStyle/>
          <a:p>
            <a:pPr algn="just"/>
            <a:r>
              <a:rPr lang="en-US" sz="2700" dirty="0">
                <a:latin typeface="Book Antiqua" panose="02040602050305030304" pitchFamily="18" charset="0"/>
              </a:rPr>
              <a:t>Kernels are a way to solve non-linear problems with the help of linear classifiers. This is known as the </a:t>
            </a:r>
            <a:r>
              <a:rPr lang="en-US" sz="2700" dirty="0">
                <a:solidFill>
                  <a:srgbClr val="00B050"/>
                </a:solidFill>
                <a:latin typeface="Book Antiqua" panose="02040602050305030304" pitchFamily="18" charset="0"/>
              </a:rPr>
              <a:t>kernel trick method. </a:t>
            </a:r>
          </a:p>
          <a:p>
            <a:pPr algn="just"/>
            <a:r>
              <a:rPr lang="en-US" sz="2700" dirty="0">
                <a:latin typeface="Book Antiqua" panose="02040602050305030304" pitchFamily="18" charset="0"/>
              </a:rPr>
              <a:t>Kernel Function generally transforms the training set of data so that a non-linear decision surface is able to transform to a linear equation in a higher number of dimension spaces. </a:t>
            </a:r>
          </a:p>
          <a:p>
            <a:pPr algn="just"/>
            <a:r>
              <a:rPr lang="en-US" sz="2700" dirty="0">
                <a:latin typeface="Book Antiqua" panose="02040602050305030304" pitchFamily="18" charset="0"/>
              </a:rPr>
              <a:t>Let us see some of the kernel function or the types that are being used in SVM:</a:t>
            </a:r>
          </a:p>
          <a:p>
            <a:pPr algn="just"/>
            <a:endParaRPr lang="en-US" sz="2700" dirty="0">
              <a:latin typeface="Book Antiqua" panose="02040602050305030304" pitchFamily="18" charset="0"/>
            </a:endParaRPr>
          </a:p>
        </p:txBody>
      </p:sp>
      <p:sp>
        <p:nvSpPr>
          <p:cNvPr id="4" name="Footer Placeholder 3"/>
          <p:cNvSpPr>
            <a:spLocks noGrp="1"/>
          </p:cNvSpPr>
          <p:nvPr>
            <p:ph type="ftr" sz="quarter" idx="11"/>
          </p:nvPr>
        </p:nvSpPr>
        <p:spPr/>
        <p:txBody>
          <a:bodyPr/>
          <a:lstStyle/>
          <a:p>
            <a:r>
              <a:rPr lang="en-US" dirty="0"/>
              <a:t>Data Mining-CSIT 7th                              Prepared BY: Arjun Saud</a:t>
            </a:r>
          </a:p>
        </p:txBody>
      </p:sp>
      <p:sp>
        <p:nvSpPr>
          <p:cNvPr id="5" name="Rectangle 2"/>
          <p:cNvSpPr>
            <a:spLocks noChangeArrowheads="1"/>
          </p:cNvSpPr>
          <p:nvPr/>
        </p:nvSpPr>
        <p:spPr bwMode="auto">
          <a:xfrm>
            <a:off x="1206500" y="3759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838200" y="513794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2231197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200" b="1" dirty="0">
                <a:latin typeface="Book Antiqua" panose="02040602050305030304" pitchFamily="18" charset="0"/>
              </a:rPr>
              <a:t>Kernel Functions</a:t>
            </a:r>
          </a:p>
        </p:txBody>
      </p:sp>
      <p:sp>
        <p:nvSpPr>
          <p:cNvPr id="3" name="Content Placeholder 2"/>
          <p:cNvSpPr>
            <a:spLocks noGrp="1"/>
          </p:cNvSpPr>
          <p:nvPr>
            <p:ph idx="1"/>
          </p:nvPr>
        </p:nvSpPr>
        <p:spPr>
          <a:xfrm>
            <a:off x="838200" y="1559860"/>
            <a:ext cx="10927976" cy="4617104"/>
          </a:xfrm>
        </p:spPr>
        <p:txBody>
          <a:bodyPr>
            <a:noAutofit/>
          </a:bodyPr>
          <a:lstStyle/>
          <a:p>
            <a:pPr algn="just"/>
            <a:r>
              <a:rPr lang="en-US" sz="2700" b="1" dirty="0">
                <a:latin typeface="Book Antiqua" panose="02040602050305030304" pitchFamily="18" charset="0"/>
              </a:rPr>
              <a:t>Liner Kernel: </a:t>
            </a:r>
            <a:r>
              <a:rPr lang="en-US" sz="2700" dirty="0">
                <a:latin typeface="Book Antiqua" panose="02040602050305030304" pitchFamily="18" charset="0"/>
              </a:rPr>
              <a:t>Let us say that we have two vectors with name x1 and y1, then the linear kernel is defined by the dot product of these two vectors:</a:t>
            </a:r>
          </a:p>
          <a:p>
            <a:pPr marL="0" indent="0" algn="just">
              <a:buNone/>
            </a:pPr>
            <a:r>
              <a:rPr lang="en-US" sz="2700" dirty="0">
                <a:latin typeface="Book Antiqua" panose="02040602050305030304" pitchFamily="18" charset="0"/>
              </a:rPr>
              <a:t>	K(x1, x2) = x1 . x2</a:t>
            </a:r>
          </a:p>
          <a:p>
            <a:pPr algn="just"/>
            <a:r>
              <a:rPr lang="en-US" sz="2700" b="1" dirty="0">
                <a:latin typeface="Book Antiqua" panose="02040602050305030304" pitchFamily="18" charset="0"/>
              </a:rPr>
              <a:t>Polynomial Kernel: </a:t>
            </a:r>
            <a:r>
              <a:rPr lang="en-US" sz="2700" dirty="0">
                <a:latin typeface="Book Antiqua" panose="02040602050305030304" pitchFamily="18" charset="0"/>
              </a:rPr>
              <a:t>A polynomial kernel is defined by the following equation:</a:t>
            </a:r>
          </a:p>
          <a:p>
            <a:pPr marL="0" indent="0" algn="just">
              <a:buNone/>
            </a:pPr>
            <a:r>
              <a:rPr lang="en-US" sz="2700" dirty="0">
                <a:latin typeface="Book Antiqua" panose="02040602050305030304" pitchFamily="18" charset="0"/>
              </a:rPr>
              <a:t>	K(x1, x2) = (x1 . x2 + 1)</a:t>
            </a:r>
            <a:r>
              <a:rPr lang="en-US" sz="2700" baseline="30000" dirty="0">
                <a:latin typeface="Book Antiqua" panose="02040602050305030304" pitchFamily="18" charset="0"/>
              </a:rPr>
              <a:t>d</a:t>
            </a:r>
            <a:endParaRPr lang="en-US" sz="2700" dirty="0">
              <a:latin typeface="Book Antiqua" panose="02040602050305030304" pitchFamily="18" charset="0"/>
            </a:endParaRPr>
          </a:p>
          <a:p>
            <a:pPr marL="0" indent="0" algn="just">
              <a:buNone/>
            </a:pPr>
            <a:r>
              <a:rPr lang="en-US" sz="2700" dirty="0">
                <a:latin typeface="Book Antiqua" panose="02040602050305030304" pitchFamily="18" charset="0"/>
              </a:rPr>
              <a:t>	</a:t>
            </a:r>
            <a:r>
              <a:rPr lang="en-US" sz="2400" dirty="0">
                <a:latin typeface="Book Antiqua" panose="02040602050305030304" pitchFamily="18" charset="0"/>
              </a:rPr>
              <a:t>Where, d is the degree of the polynomial and x1 and x2 are vectors</a:t>
            </a:r>
          </a:p>
        </p:txBody>
      </p:sp>
      <p:sp>
        <p:nvSpPr>
          <p:cNvPr id="4" name="Footer Placeholder 3"/>
          <p:cNvSpPr>
            <a:spLocks noGrp="1"/>
          </p:cNvSpPr>
          <p:nvPr>
            <p:ph type="ftr" sz="quarter" idx="11"/>
          </p:nvPr>
        </p:nvSpPr>
        <p:spPr/>
        <p:txBody>
          <a:bodyPr/>
          <a:lstStyle/>
          <a:p>
            <a:r>
              <a:rPr lang="en-US" dirty="0"/>
              <a:t>Data Mining-CSIT 7th                              Prepared BY: Arjun Saud</a:t>
            </a:r>
          </a:p>
        </p:txBody>
      </p:sp>
      <p:sp>
        <p:nvSpPr>
          <p:cNvPr id="5" name="Rectangle 2"/>
          <p:cNvSpPr>
            <a:spLocks noChangeArrowheads="1"/>
          </p:cNvSpPr>
          <p:nvPr/>
        </p:nvSpPr>
        <p:spPr bwMode="auto">
          <a:xfrm>
            <a:off x="1206500" y="3759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838200" y="513794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1572505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200" b="1" dirty="0">
                <a:latin typeface="Book Antiqua" panose="02040602050305030304" pitchFamily="18" charset="0"/>
              </a:rPr>
              <a:t>Kernel Functions</a:t>
            </a:r>
          </a:p>
        </p:txBody>
      </p:sp>
      <p:sp>
        <p:nvSpPr>
          <p:cNvPr id="3" name="Content Placeholder 2"/>
          <p:cNvSpPr>
            <a:spLocks noGrp="1"/>
          </p:cNvSpPr>
          <p:nvPr>
            <p:ph idx="1"/>
          </p:nvPr>
        </p:nvSpPr>
        <p:spPr>
          <a:xfrm>
            <a:off x="838200" y="1559860"/>
            <a:ext cx="10927976" cy="4617104"/>
          </a:xfrm>
        </p:spPr>
        <p:txBody>
          <a:bodyPr>
            <a:noAutofit/>
          </a:bodyPr>
          <a:lstStyle/>
          <a:p>
            <a:pPr algn="just"/>
            <a:r>
              <a:rPr lang="en-US" sz="2700" b="1" dirty="0">
                <a:latin typeface="Book Antiqua" panose="02040602050305030304" pitchFamily="18" charset="0"/>
              </a:rPr>
              <a:t>Gaussian Kernel: </a:t>
            </a:r>
            <a:r>
              <a:rPr lang="en-US" sz="2700" dirty="0">
                <a:latin typeface="Book Antiqua" panose="02040602050305030304" pitchFamily="18" charset="0"/>
              </a:rPr>
              <a:t>This kernel is an example of a radial basis function kernel. Below is the equation for this.</a:t>
            </a:r>
          </a:p>
          <a:p>
            <a:pPr algn="just"/>
            <a:endParaRPr lang="en-US" sz="2700" dirty="0">
              <a:latin typeface="Book Antiqua" panose="02040602050305030304" pitchFamily="18" charset="0"/>
            </a:endParaRPr>
          </a:p>
          <a:p>
            <a:pPr marL="0" indent="0" algn="just">
              <a:buNone/>
            </a:pPr>
            <a:endParaRPr lang="en-US" sz="2700" dirty="0">
              <a:latin typeface="Book Antiqua" panose="02040602050305030304" pitchFamily="18" charset="0"/>
            </a:endParaRPr>
          </a:p>
          <a:p>
            <a:pPr algn="just"/>
            <a:r>
              <a:rPr lang="en-US" sz="2700" b="1" dirty="0">
                <a:latin typeface="Book Antiqua" panose="02040602050305030304" pitchFamily="18" charset="0"/>
              </a:rPr>
              <a:t>Exponential Kernel: </a:t>
            </a:r>
            <a:r>
              <a:rPr lang="en-US" sz="2700" dirty="0">
                <a:latin typeface="Book Antiqua" panose="02040602050305030304" pitchFamily="18" charset="0"/>
              </a:rPr>
              <a:t>This is in close relation with the previous kernel i.e. the Gaussian kernel with the only difference is – the square of the norm is removed. The function of the exponential function is:</a:t>
            </a:r>
          </a:p>
          <a:p>
            <a:pPr marL="0" indent="0" algn="just">
              <a:buNone/>
            </a:pPr>
            <a:endParaRPr lang="en-US" sz="2400" dirty="0">
              <a:latin typeface="Book Antiqua" panose="02040602050305030304" pitchFamily="18" charset="0"/>
            </a:endParaRPr>
          </a:p>
        </p:txBody>
      </p:sp>
      <p:sp>
        <p:nvSpPr>
          <p:cNvPr id="4" name="Footer Placeholder 3"/>
          <p:cNvSpPr>
            <a:spLocks noGrp="1"/>
          </p:cNvSpPr>
          <p:nvPr>
            <p:ph type="ftr" sz="quarter" idx="11"/>
          </p:nvPr>
        </p:nvSpPr>
        <p:spPr/>
        <p:txBody>
          <a:bodyPr/>
          <a:lstStyle/>
          <a:p>
            <a:r>
              <a:rPr lang="en-US" dirty="0"/>
              <a:t>Data Mining-CSIT 7th                              Prepared BY: Arjun Saud</a:t>
            </a:r>
          </a:p>
        </p:txBody>
      </p:sp>
      <p:sp>
        <p:nvSpPr>
          <p:cNvPr id="5" name="Rectangle 2"/>
          <p:cNvSpPr>
            <a:spLocks noChangeArrowheads="1"/>
          </p:cNvSpPr>
          <p:nvPr/>
        </p:nvSpPr>
        <p:spPr bwMode="auto">
          <a:xfrm>
            <a:off x="1206500" y="3759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838200" y="513794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AutoShape 2" descr=" Gaussian Kern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p:cNvPicPr>
            <a:picLocks noChangeAspect="1"/>
          </p:cNvPicPr>
          <p:nvPr/>
        </p:nvPicPr>
        <p:blipFill>
          <a:blip r:embed="rId2"/>
          <a:stretch>
            <a:fillRect/>
          </a:stretch>
        </p:blipFill>
        <p:spPr>
          <a:xfrm>
            <a:off x="1206500" y="2517287"/>
            <a:ext cx="4831229" cy="679088"/>
          </a:xfrm>
          <a:prstGeom prst="rect">
            <a:avLst/>
          </a:prstGeom>
        </p:spPr>
      </p:pic>
      <p:pic>
        <p:nvPicPr>
          <p:cNvPr id="10" name="Picture 9"/>
          <p:cNvPicPr>
            <a:picLocks noChangeAspect="1"/>
          </p:cNvPicPr>
          <p:nvPr/>
        </p:nvPicPr>
        <p:blipFill>
          <a:blip r:embed="rId3"/>
          <a:stretch>
            <a:fillRect/>
          </a:stretch>
        </p:blipFill>
        <p:spPr>
          <a:xfrm>
            <a:off x="1345265" y="4644373"/>
            <a:ext cx="4356287" cy="1189742"/>
          </a:xfrm>
          <a:prstGeom prst="rect">
            <a:avLst/>
          </a:prstGeom>
        </p:spPr>
      </p:pic>
    </p:spTree>
    <p:extLst>
      <p:ext uri="{BB962C8B-B14F-4D97-AF65-F5344CB8AC3E}">
        <p14:creationId xmlns:p14="http://schemas.microsoft.com/office/powerpoint/2010/main" val="40397360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200" b="1" dirty="0">
                <a:latin typeface="Book Antiqua" panose="02040602050305030304" pitchFamily="18" charset="0"/>
              </a:rPr>
              <a:t>Kernel Functions</a:t>
            </a:r>
          </a:p>
        </p:txBody>
      </p:sp>
      <p:sp>
        <p:nvSpPr>
          <p:cNvPr id="3" name="Content Placeholder 2"/>
          <p:cNvSpPr>
            <a:spLocks noGrp="1"/>
          </p:cNvSpPr>
          <p:nvPr>
            <p:ph idx="1"/>
          </p:nvPr>
        </p:nvSpPr>
        <p:spPr>
          <a:xfrm>
            <a:off x="838200" y="1559860"/>
            <a:ext cx="10927976" cy="4617104"/>
          </a:xfrm>
        </p:spPr>
        <p:txBody>
          <a:bodyPr>
            <a:noAutofit/>
          </a:bodyPr>
          <a:lstStyle/>
          <a:p>
            <a:pPr algn="just"/>
            <a:r>
              <a:rPr lang="en-US" sz="2700" b="1" dirty="0">
                <a:latin typeface="Book Antiqua" panose="02040602050305030304" pitchFamily="18" charset="0"/>
              </a:rPr>
              <a:t>Laplacian Kernel: </a:t>
            </a:r>
            <a:r>
              <a:rPr lang="en-US" sz="2700" dirty="0">
                <a:latin typeface="Book Antiqua" panose="02040602050305030304" pitchFamily="18" charset="0"/>
              </a:rPr>
              <a:t>This type of kernel is less prone for changes and is totally equal to previously discussed exponential function kernel, the equation of Laplacian kernel is given as:</a:t>
            </a:r>
          </a:p>
          <a:p>
            <a:pPr algn="just"/>
            <a:endParaRPr lang="en-US" sz="2700" dirty="0">
              <a:latin typeface="Book Antiqua" panose="02040602050305030304" pitchFamily="18" charset="0"/>
            </a:endParaRPr>
          </a:p>
          <a:p>
            <a:pPr algn="just"/>
            <a:endParaRPr lang="en-US" sz="2700">
              <a:latin typeface="Book Antiqua" panose="02040602050305030304" pitchFamily="18" charset="0"/>
            </a:endParaRPr>
          </a:p>
          <a:p>
            <a:pPr algn="just"/>
            <a:endParaRPr lang="en-US" sz="2700" dirty="0">
              <a:latin typeface="Book Antiqua" panose="02040602050305030304" pitchFamily="18" charset="0"/>
            </a:endParaRPr>
          </a:p>
          <a:p>
            <a:pPr algn="just"/>
            <a:endParaRPr lang="en-US" sz="2700" dirty="0">
              <a:latin typeface="Book Antiqua" panose="02040602050305030304" pitchFamily="18" charset="0"/>
            </a:endParaRPr>
          </a:p>
          <a:p>
            <a:pPr algn="just"/>
            <a:endParaRPr lang="en-US" sz="2700" dirty="0">
              <a:latin typeface="Book Antiqua" panose="02040602050305030304" pitchFamily="18" charset="0"/>
            </a:endParaRPr>
          </a:p>
        </p:txBody>
      </p:sp>
      <p:sp>
        <p:nvSpPr>
          <p:cNvPr id="4" name="Footer Placeholder 3"/>
          <p:cNvSpPr>
            <a:spLocks noGrp="1"/>
          </p:cNvSpPr>
          <p:nvPr>
            <p:ph type="ftr" sz="quarter" idx="11"/>
          </p:nvPr>
        </p:nvSpPr>
        <p:spPr/>
        <p:txBody>
          <a:bodyPr/>
          <a:lstStyle/>
          <a:p>
            <a:r>
              <a:rPr lang="en-US" dirty="0"/>
              <a:t>Data Mining-CSIT 7th                              Prepared BY: Arjun Saud</a:t>
            </a:r>
          </a:p>
        </p:txBody>
      </p:sp>
      <p:sp>
        <p:nvSpPr>
          <p:cNvPr id="5" name="Rectangle 2"/>
          <p:cNvSpPr>
            <a:spLocks noChangeArrowheads="1"/>
          </p:cNvSpPr>
          <p:nvPr/>
        </p:nvSpPr>
        <p:spPr bwMode="auto">
          <a:xfrm>
            <a:off x="1206500" y="3759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838200" y="513794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6" name="Picture 5"/>
          <p:cNvPicPr>
            <a:picLocks noChangeAspect="1"/>
          </p:cNvPicPr>
          <p:nvPr/>
        </p:nvPicPr>
        <p:blipFill>
          <a:blip r:embed="rId2"/>
          <a:stretch>
            <a:fillRect/>
          </a:stretch>
        </p:blipFill>
        <p:spPr>
          <a:xfrm>
            <a:off x="1206500" y="2941639"/>
            <a:ext cx="3432735" cy="1031360"/>
          </a:xfrm>
          <a:prstGeom prst="rect">
            <a:avLst/>
          </a:prstGeom>
        </p:spPr>
      </p:pic>
    </p:spTree>
    <p:extLst>
      <p:ext uri="{BB962C8B-B14F-4D97-AF65-F5344CB8AC3E}">
        <p14:creationId xmlns:p14="http://schemas.microsoft.com/office/powerpoint/2010/main" val="31858281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9886</TotalTime>
  <Words>1721</Words>
  <Application>Microsoft Office PowerPoint</Application>
  <PresentationFormat>Widescreen</PresentationFormat>
  <Paragraphs>163</Paragraphs>
  <Slides>24</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31" baseType="lpstr">
      <vt:lpstr>Arial</vt:lpstr>
      <vt:lpstr>Book Antiqua</vt:lpstr>
      <vt:lpstr>Calibri</vt:lpstr>
      <vt:lpstr>Calibri Light</vt:lpstr>
      <vt:lpstr>Cambria Math</vt:lpstr>
      <vt:lpstr>Office Theme</vt:lpstr>
      <vt:lpstr>Equation</vt:lpstr>
      <vt:lpstr>PowerPoint Presentation</vt:lpstr>
      <vt:lpstr>Statistical Learning Theory</vt:lpstr>
      <vt:lpstr>Statistical Learning Theory</vt:lpstr>
      <vt:lpstr>Statistical Learning Theory</vt:lpstr>
      <vt:lpstr>Support Vector Machine</vt:lpstr>
      <vt:lpstr>Support Vector Machine</vt:lpstr>
      <vt:lpstr>Support Vector Machine</vt:lpstr>
      <vt:lpstr>Support Vector Machine</vt:lpstr>
      <vt:lpstr>Support Vector Machine</vt:lpstr>
      <vt:lpstr>Support Vector Machine</vt:lpstr>
      <vt:lpstr>Support Vector Machine</vt:lpstr>
      <vt:lpstr>Support Vector Machine</vt:lpstr>
      <vt:lpstr>Support Vector Machine</vt:lpstr>
      <vt:lpstr>Support Vector Machine</vt:lpstr>
      <vt:lpstr>Support Vector Machine</vt:lpstr>
      <vt:lpstr>Support Vector Machine</vt:lpstr>
      <vt:lpstr>Support Vector Regression</vt:lpstr>
      <vt:lpstr>Support Vector Regression</vt:lpstr>
      <vt:lpstr>Support Vector Regression</vt:lpstr>
      <vt:lpstr>Support Vector Regression</vt:lpstr>
      <vt:lpstr>Kernel Functions</vt:lpstr>
      <vt:lpstr>Kernel Functions</vt:lpstr>
      <vt:lpstr>Kernel Functions</vt:lpstr>
      <vt:lpstr>Kernel Functions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Com</dc:creator>
  <cp:lastModifiedBy>Yujan Basnet</cp:lastModifiedBy>
  <cp:revision>652</cp:revision>
  <dcterms:created xsi:type="dcterms:W3CDTF">2021-05-28T08:39:10Z</dcterms:created>
  <dcterms:modified xsi:type="dcterms:W3CDTF">2025-06-27T07:31:57Z</dcterms:modified>
</cp:coreProperties>
</file>