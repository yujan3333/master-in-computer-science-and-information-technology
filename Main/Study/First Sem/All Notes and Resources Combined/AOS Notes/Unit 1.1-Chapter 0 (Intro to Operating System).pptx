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32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od Kumar Adhikari" userId="256f5a90-d823-4e8d-9a41-a3da19f4a0ad" providerId="ADAL" clId="{5644AA3B-FADC-4B23-9C67-9D147E6E24FC}"/>
    <pc:docChg chg="modSld">
      <pc:chgData name="Binod Kumar Adhikari" userId="256f5a90-d823-4e8d-9a41-a3da19f4a0ad" providerId="ADAL" clId="{5644AA3B-FADC-4B23-9C67-9D147E6E24FC}" dt="2024-03-14T14:13:28.665" v="5" actId="20577"/>
      <pc:docMkLst>
        <pc:docMk/>
      </pc:docMkLst>
      <pc:sldChg chg="modSp">
        <pc:chgData name="Binod Kumar Adhikari" userId="256f5a90-d823-4e8d-9a41-a3da19f4a0ad" providerId="ADAL" clId="{5644AA3B-FADC-4B23-9C67-9D147E6E24FC}" dt="2024-03-14T14:10:48.433" v="0" actId="123"/>
        <pc:sldMkLst>
          <pc:docMk/>
          <pc:sldMk cId="0" sldId="288"/>
        </pc:sldMkLst>
      </pc:sldChg>
      <pc:sldChg chg="modSp">
        <pc:chgData name="Binod Kumar Adhikari" userId="256f5a90-d823-4e8d-9a41-a3da19f4a0ad" providerId="ADAL" clId="{5644AA3B-FADC-4B23-9C67-9D147E6E24FC}" dt="2024-03-14T14:13:28.665" v="5" actId="20577"/>
        <pc:sldMkLst>
          <pc:docMk/>
          <pc:sldMk cId="0" sldId="290"/>
        </pc:sldMkLst>
      </pc:sldChg>
    </pc:docChg>
  </pc:docChgLst>
  <pc:docChgLst>
    <pc:chgData name="Yujan Basnet" userId="495fd8277ebfbaef" providerId="LiveId" clId="{901EFD67-FF0E-429B-88D1-E24FA86D0F29}"/>
    <pc:docChg chg="modSld">
      <pc:chgData name="Yujan Basnet" userId="495fd8277ebfbaef" providerId="LiveId" clId="{901EFD67-FF0E-429B-88D1-E24FA86D0F29}" dt="2025-06-05T23:55:08.190" v="0" actId="207"/>
      <pc:docMkLst>
        <pc:docMk/>
      </pc:docMkLst>
      <pc:sldChg chg="modSp mod">
        <pc:chgData name="Yujan Basnet" userId="495fd8277ebfbaef" providerId="LiveId" clId="{901EFD67-FF0E-429B-88D1-E24FA86D0F29}" dt="2025-06-05T23:55:08.190" v="0" actId="207"/>
        <pc:sldMkLst>
          <pc:docMk/>
          <pc:sldMk cId="0" sldId="266"/>
        </pc:sldMkLst>
        <pc:spChg chg="mod">
          <ac:chgData name="Yujan Basnet" userId="495fd8277ebfbaef" providerId="LiveId" clId="{901EFD67-FF0E-429B-88D1-E24FA86D0F29}" dt="2025-06-05T23:55:08.190" v="0" actId="207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3F6DE-FD14-4658-B660-5274E06951B4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159020-9444-4685-A5F8-87B0DEB4BF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347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42642" y="1862150"/>
            <a:ext cx="5458714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982975" y="4067936"/>
            <a:ext cx="3178048" cy="75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AC8A869B-5E0E-48D5-8125-A8242806C98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dirty="0"/>
              <a:t>Prepared by: Dr. Binod Kumar Adhikari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01935" y="6465214"/>
            <a:ext cx="2540127" cy="392786"/>
          </a:xfrm>
        </p:spPr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5" dirty="0"/>
              <a:t>Prepared by: Dr. Binod Kumar Adhikari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Holder 4">
            <a:extLst>
              <a:ext uri="{FF2B5EF4-FFF2-40B4-BE49-F238E27FC236}">
                <a16:creationId xmlns:a16="http://schemas.microsoft.com/office/drawing/2014/main" id="{A189FF5E-932D-4B32-83A6-74649A1E981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dirty="0"/>
              <a:t>Prepared by: Dr. Binod Kumar Adhikari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6" name="Holder 4">
            <a:extLst>
              <a:ext uri="{FF2B5EF4-FFF2-40B4-BE49-F238E27FC236}">
                <a16:creationId xmlns:a16="http://schemas.microsoft.com/office/drawing/2014/main" id="{687C3015-70A5-4104-A364-47F262AAA99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dirty="0"/>
              <a:t>Prepared by: Dr. Binod Kumar Adhikari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4">
            <a:extLst>
              <a:ext uri="{FF2B5EF4-FFF2-40B4-BE49-F238E27FC236}">
                <a16:creationId xmlns:a16="http://schemas.microsoft.com/office/drawing/2014/main" id="{00444188-FEAC-4CD9-9B42-C6265C7232A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dirty="0"/>
              <a:t>Prepared by: Dr. Binod Kumar Adhikari</a:t>
            </a:r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75002" y="228600"/>
            <a:ext cx="479399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7108" y="1610690"/>
            <a:ext cx="7669783" cy="3809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dirty="0"/>
              <a:t>Prepared by: Dr. Binod Kumar Adhikari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3AABA4-E50B-443F-A413-C9A6AC944C37}"/>
              </a:ext>
            </a:extLst>
          </p:cNvPr>
          <p:cNvSpPr/>
          <p:nvPr userDrawn="1"/>
        </p:nvSpPr>
        <p:spPr>
          <a:xfrm>
            <a:off x="0" y="990600"/>
            <a:ext cx="914400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08907F-6A2F-4FE4-A88D-C3DE27E73F59}"/>
              </a:ext>
            </a:extLst>
          </p:cNvPr>
          <p:cNvSpPr/>
          <p:nvPr userDrawn="1"/>
        </p:nvSpPr>
        <p:spPr>
          <a:xfrm>
            <a:off x="8686800" y="6495143"/>
            <a:ext cx="457200" cy="369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1D60167-4931-47E6-BA6A-407CBD079E47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842643" y="1690432"/>
            <a:ext cx="5458714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0540" marR="5080" indent="-49847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Advanced</a:t>
            </a:r>
            <a:r>
              <a:rPr spc="-70" dirty="0"/>
              <a:t> </a:t>
            </a:r>
            <a:r>
              <a:rPr spc="-5" dirty="0"/>
              <a:t>Operating </a:t>
            </a:r>
            <a:r>
              <a:rPr spc="-1185" dirty="0"/>
              <a:t> </a:t>
            </a:r>
            <a:r>
              <a:rPr spc="-5" dirty="0"/>
              <a:t>System(CSc-538)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2982974" y="4067936"/>
            <a:ext cx="3798826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347345" algn="ctr">
              <a:lnSpc>
                <a:spcPct val="100000"/>
              </a:lnSpc>
              <a:spcBef>
                <a:spcPts val="100"/>
              </a:spcBef>
            </a:pPr>
            <a:r>
              <a:rPr lang="en-US" spc="-75" dirty="0"/>
              <a:t>Dr. Binod Kumar Adhikari</a:t>
            </a:r>
          </a:p>
          <a:p>
            <a:pPr marL="13970" marR="5080" indent="347345"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Asst.</a:t>
            </a:r>
            <a:r>
              <a:rPr spc="-25" dirty="0"/>
              <a:t> </a:t>
            </a:r>
            <a:r>
              <a:rPr spc="-10" dirty="0"/>
              <a:t>Prof.,</a:t>
            </a:r>
            <a:r>
              <a:rPr spc="-25" dirty="0"/>
              <a:t> </a:t>
            </a:r>
            <a:r>
              <a:rPr spc="-10" dirty="0"/>
              <a:t>CDCSIT</a:t>
            </a:r>
            <a:r>
              <a:rPr spc="-70" dirty="0"/>
              <a:t> </a:t>
            </a:r>
            <a:r>
              <a:rPr spc="-10" dirty="0"/>
              <a:t>TU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5569B7-FF27-4BEF-AABA-D4C6EE22E52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Prepared by: Dr. Binod Kumar Adhikari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9755" y="152400"/>
            <a:ext cx="5444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Objectives</a:t>
            </a:r>
            <a:r>
              <a:rPr spc="-7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course</a:t>
            </a:r>
          </a:p>
        </p:txBody>
      </p:sp>
      <p:sp useBgFill="1">
        <p:nvSpPr>
          <p:cNvPr id="3" name="object 3"/>
          <p:cNvSpPr txBox="1"/>
          <p:nvPr/>
        </p:nvSpPr>
        <p:spPr>
          <a:xfrm>
            <a:off x="535940" y="1619833"/>
            <a:ext cx="8072120" cy="2562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Introduce</a:t>
            </a:r>
            <a:r>
              <a:rPr sz="3200" dirty="0">
                <a:latin typeface="Times New Roman"/>
                <a:cs typeface="Times New Roman"/>
              </a:rPr>
              <a:t> 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underlying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principles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an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operating </a:t>
            </a:r>
            <a:r>
              <a:rPr sz="3200" spc="-5" dirty="0">
                <a:latin typeface="Times New Roman"/>
                <a:cs typeface="Times New Roman"/>
              </a:rPr>
              <a:t>system, </a:t>
            </a:r>
            <a:r>
              <a:rPr sz="3200" dirty="0">
                <a:latin typeface="Times New Roman"/>
                <a:cs typeface="Times New Roman"/>
              </a:rPr>
              <a:t>virtual </a:t>
            </a:r>
            <a:r>
              <a:rPr sz="3200" spc="-5" dirty="0">
                <a:latin typeface="Times New Roman"/>
                <a:cs typeface="Times New Roman"/>
              </a:rPr>
              <a:t>memory and </a:t>
            </a:r>
            <a:r>
              <a:rPr sz="3200" dirty="0">
                <a:latin typeface="Times New Roman"/>
                <a:cs typeface="Times New Roman"/>
              </a:rPr>
              <a:t>resource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management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concepts.</a:t>
            </a:r>
          </a:p>
          <a:p>
            <a:pPr marL="355600" marR="5715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Explore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current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state</a:t>
            </a:r>
            <a:r>
              <a:rPr sz="3200" spc="-5" dirty="0">
                <a:latin typeface="Cambria Math"/>
                <a:cs typeface="Cambria Math"/>
              </a:rPr>
              <a:t>‐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5" dirty="0">
                <a:latin typeface="Cambria Math"/>
                <a:cs typeface="Cambria Math"/>
              </a:rPr>
              <a:t>‐</a:t>
            </a:r>
            <a:r>
              <a:rPr sz="3200" spc="-5" dirty="0">
                <a:latin typeface="Times New Roman"/>
                <a:cs typeface="Times New Roman"/>
              </a:rPr>
              <a:t>art</a:t>
            </a:r>
            <a:r>
              <a:rPr sz="3200" dirty="0">
                <a:latin typeface="Times New Roman"/>
                <a:cs typeface="Times New Roman"/>
              </a:rPr>
              <a:t> research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 operating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253941"/>
            <a:ext cx="190563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E</a:t>
            </a:r>
            <a:r>
              <a:rPr sz="3200" spc="-10" dirty="0">
                <a:latin typeface="Times New Roman"/>
                <a:cs typeface="Times New Roman"/>
              </a:rPr>
              <a:t>x</a:t>
            </a:r>
            <a:r>
              <a:rPr sz="3200" dirty="0">
                <a:latin typeface="Times New Roman"/>
                <a:cs typeface="Times New Roman"/>
              </a:rPr>
              <a:t>posure  </a:t>
            </a:r>
            <a:r>
              <a:rPr sz="3200" spc="-5" dirty="0">
                <a:latin typeface="Times New Roman"/>
                <a:cs typeface="Times New Roman"/>
              </a:rPr>
              <a:t>real</a:t>
            </a:r>
            <a:r>
              <a:rPr sz="3200" spc="-5" dirty="0">
                <a:latin typeface="Cambria Math"/>
                <a:cs typeface="Cambria Math"/>
              </a:rPr>
              <a:t>‐</a:t>
            </a:r>
            <a:r>
              <a:rPr sz="3200" spc="-5" dirty="0">
                <a:latin typeface="Times New Roman"/>
                <a:cs typeface="Times New Roman"/>
              </a:rPr>
              <a:t>time </a:t>
            </a:r>
            <a:r>
              <a:rPr sz="3200" spc="-79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systems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5994" y="4253941"/>
            <a:ext cx="42995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81990" algn="l"/>
                <a:tab pos="2750185" algn="l"/>
              </a:tabLst>
            </a:pPr>
            <a:r>
              <a:rPr sz="3200" spc="-10" dirty="0">
                <a:latin typeface="Times New Roman"/>
                <a:cs typeface="Times New Roman"/>
              </a:rPr>
              <a:t>o</a:t>
            </a:r>
            <a:r>
              <a:rPr sz="3200" dirty="0">
                <a:latin typeface="Times New Roman"/>
                <a:cs typeface="Times New Roman"/>
              </a:rPr>
              <a:t>f	di</a:t>
            </a:r>
            <a:r>
              <a:rPr sz="3200" spc="-10" dirty="0">
                <a:latin typeface="Times New Roman"/>
                <a:cs typeface="Times New Roman"/>
              </a:rPr>
              <a:t>s</a:t>
            </a:r>
            <a:r>
              <a:rPr sz="3200" dirty="0">
                <a:latin typeface="Times New Roman"/>
                <a:cs typeface="Times New Roman"/>
              </a:rPr>
              <a:t>tri</a:t>
            </a:r>
            <a:r>
              <a:rPr sz="3200" spc="-15" dirty="0">
                <a:latin typeface="Times New Roman"/>
                <a:cs typeface="Times New Roman"/>
              </a:rPr>
              <a:t>b</a:t>
            </a:r>
            <a:r>
              <a:rPr sz="3200" dirty="0">
                <a:latin typeface="Times New Roman"/>
                <a:cs typeface="Times New Roman"/>
              </a:rPr>
              <a:t>uted	operat</a:t>
            </a:r>
            <a:r>
              <a:rPr sz="3200" spc="-15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2538" y="4253941"/>
            <a:ext cx="12573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5" dirty="0">
                <a:latin typeface="Times New Roman"/>
                <a:cs typeface="Times New Roman"/>
              </a:rPr>
              <a:t>s</a:t>
            </a:r>
            <a:r>
              <a:rPr sz="3200" dirty="0">
                <a:latin typeface="Times New Roman"/>
                <a:cs typeface="Times New Roman"/>
              </a:rPr>
              <a:t>ystem,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8645" y="4741926"/>
            <a:ext cx="59785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0705" algn="l"/>
                <a:tab pos="3245485" algn="l"/>
                <a:tab pos="4114165" algn="l"/>
              </a:tabLst>
            </a:pPr>
            <a:r>
              <a:rPr sz="3200" spc="-5" dirty="0">
                <a:latin typeface="Times New Roman"/>
                <a:cs typeface="Times New Roman"/>
              </a:rPr>
              <a:t>operating	system	and	multimedia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301A6D-6E51-47E0-B62E-F18825FF7CB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2750" y="265021"/>
            <a:ext cx="5778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Text</a:t>
            </a:r>
            <a:r>
              <a:rPr spc="-35" dirty="0"/>
              <a:t> </a:t>
            </a:r>
            <a:r>
              <a:rPr spc="5" dirty="0"/>
              <a:t>Books</a:t>
            </a:r>
            <a:r>
              <a:rPr spc="-4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5" dirty="0"/>
              <a:t>Materials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81073"/>
            <a:ext cx="8074025" cy="41167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5" dirty="0">
                <a:latin typeface="Times New Roman"/>
                <a:cs typeface="Times New Roman"/>
              </a:rPr>
              <a:t>Text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Books:</a:t>
            </a:r>
            <a:endParaRPr sz="2200" dirty="0">
              <a:latin typeface="Times New Roman"/>
              <a:cs typeface="Times New Roman"/>
            </a:endParaRPr>
          </a:p>
          <a:p>
            <a:pPr marL="355600" marR="6985">
              <a:lnSpc>
                <a:spcPct val="80000"/>
              </a:lnSpc>
              <a:spcBef>
                <a:spcPts val="530"/>
              </a:spcBef>
              <a:buAutoNum type="arabicPeriod"/>
              <a:tabLst>
                <a:tab pos="685165" algn="l"/>
                <a:tab pos="1052195" algn="l"/>
              </a:tabLst>
            </a:pPr>
            <a:r>
              <a:rPr sz="2200" spc="-5" dirty="0">
                <a:latin typeface="Times New Roman"/>
                <a:cs typeface="Times New Roman"/>
              </a:rPr>
              <a:t>Silberschatz,</a:t>
            </a:r>
            <a:r>
              <a:rPr sz="2200" spc="3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A.</a:t>
            </a:r>
            <a:r>
              <a:rPr sz="2200" spc="39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39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P.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B.</a:t>
            </a:r>
            <a:r>
              <a:rPr sz="2200" spc="39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Galvin,</a:t>
            </a:r>
            <a:r>
              <a:rPr sz="2200" spc="39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Operating</a:t>
            </a:r>
            <a:r>
              <a:rPr sz="2200" i="1" spc="395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System</a:t>
            </a:r>
            <a:r>
              <a:rPr sz="2200" i="1" spc="38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Concepts, </a:t>
            </a:r>
            <a:r>
              <a:rPr sz="2200" i="1" spc="-53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Sixth	</a:t>
            </a:r>
            <a:r>
              <a:rPr sz="2200" spc="-5" dirty="0">
                <a:latin typeface="Times New Roman"/>
                <a:cs typeface="Times New Roman"/>
              </a:rPr>
              <a:t>Edition,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John-Wiley.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(not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Java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edition)</a:t>
            </a:r>
            <a:endParaRPr sz="2200" dirty="0">
              <a:latin typeface="Times New Roman"/>
              <a:cs typeface="Times New Roman"/>
            </a:endParaRPr>
          </a:p>
          <a:p>
            <a:pPr marL="355600" marR="5715">
              <a:lnSpc>
                <a:spcPct val="80000"/>
              </a:lnSpc>
              <a:spcBef>
                <a:spcPts val="530"/>
              </a:spcBef>
              <a:buAutoNum type="arabicPeriod"/>
              <a:tabLst>
                <a:tab pos="676275" algn="l"/>
              </a:tabLst>
            </a:pPr>
            <a:r>
              <a:rPr sz="2200" spc="-20" dirty="0">
                <a:latin typeface="Times New Roman"/>
                <a:cs typeface="Times New Roman"/>
              </a:rPr>
              <a:t>Tanenbaum,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A.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S.,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Modern</a:t>
            </a:r>
            <a:r>
              <a:rPr sz="2200" i="1" spc="325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Operating</a:t>
            </a:r>
            <a:r>
              <a:rPr sz="2200" i="1" spc="33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Systems,</a:t>
            </a:r>
            <a:r>
              <a:rPr sz="2200" i="1" spc="29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Second</a:t>
            </a:r>
            <a:r>
              <a:rPr sz="2200" i="1" spc="33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Edition, </a:t>
            </a:r>
            <a:r>
              <a:rPr sz="2200" i="1" spc="-53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PHI.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b="1" spc="-10" dirty="0">
                <a:latin typeface="Times New Roman"/>
                <a:cs typeface="Times New Roman"/>
              </a:rPr>
              <a:t>References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:</a:t>
            </a:r>
            <a:endParaRPr sz="2200" dirty="0">
              <a:latin typeface="Times New Roman"/>
              <a:cs typeface="Times New Roman"/>
            </a:endParaRPr>
          </a:p>
          <a:p>
            <a:pPr marL="633095" indent="-278130">
              <a:lnSpc>
                <a:spcPct val="100000"/>
              </a:lnSpc>
              <a:buAutoNum type="arabicPeriod"/>
              <a:tabLst>
                <a:tab pos="633730" algn="l"/>
              </a:tabLst>
            </a:pPr>
            <a:r>
              <a:rPr sz="2200" spc="-5" dirty="0">
                <a:latin typeface="Times New Roman"/>
                <a:cs typeface="Times New Roman"/>
              </a:rPr>
              <a:t>Research 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Technical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Papers</a:t>
            </a:r>
            <a:endParaRPr sz="2200" dirty="0">
              <a:latin typeface="Times New Roman"/>
              <a:cs typeface="Times New Roman"/>
            </a:endParaRPr>
          </a:p>
          <a:p>
            <a:pPr marL="633095" indent="-278130">
              <a:lnSpc>
                <a:spcPct val="100000"/>
              </a:lnSpc>
              <a:buAutoNum type="arabicPeriod"/>
              <a:tabLst>
                <a:tab pos="633730" algn="l"/>
              </a:tabLst>
            </a:pPr>
            <a:r>
              <a:rPr sz="2200" spc="-5" dirty="0">
                <a:latin typeface="Times New Roman"/>
                <a:cs typeface="Times New Roman"/>
              </a:rPr>
              <a:t>Stallings,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W.,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Operating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Systems,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Fourth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Edition,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Pearson.</a:t>
            </a:r>
            <a:endParaRPr sz="2200" dirty="0">
              <a:latin typeface="Times New Roman"/>
              <a:cs typeface="Times New Roman"/>
            </a:endParaRPr>
          </a:p>
          <a:p>
            <a:pPr marL="355600" marR="6985">
              <a:lnSpc>
                <a:spcPts val="2110"/>
              </a:lnSpc>
              <a:spcBef>
                <a:spcPts val="515"/>
              </a:spcBef>
              <a:buAutoNum type="arabicPeriod"/>
              <a:tabLst>
                <a:tab pos="739775" algn="l"/>
                <a:tab pos="740410" algn="l"/>
                <a:tab pos="1594485" algn="l"/>
                <a:tab pos="2039620" algn="l"/>
                <a:tab pos="2602230" algn="l"/>
                <a:tab pos="3921760" algn="l"/>
                <a:tab pos="5046980" algn="l"/>
                <a:tab pos="6028690" algn="l"/>
                <a:tab pos="7095490" algn="l"/>
              </a:tabLst>
            </a:pPr>
            <a:r>
              <a:rPr sz="2200" spc="-10" dirty="0">
                <a:latin typeface="Times New Roman"/>
                <a:cs typeface="Times New Roman"/>
              </a:rPr>
              <a:t>Deite</a:t>
            </a:r>
            <a:r>
              <a:rPr sz="2200" spc="-5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H</a:t>
            </a:r>
            <a:r>
              <a:rPr sz="2200" spc="-5" dirty="0">
                <a:latin typeface="Times New Roman"/>
                <a:cs typeface="Times New Roman"/>
              </a:rPr>
              <a:t>.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M.,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i="1" spc="-10" dirty="0">
                <a:latin typeface="Times New Roman"/>
                <a:cs typeface="Times New Roman"/>
              </a:rPr>
              <a:t>Ope</a:t>
            </a:r>
            <a:r>
              <a:rPr sz="2200" i="1" spc="-20" dirty="0">
                <a:latin typeface="Times New Roman"/>
                <a:cs typeface="Times New Roman"/>
              </a:rPr>
              <a:t>r</a:t>
            </a:r>
            <a:r>
              <a:rPr sz="2200" i="1" spc="-5" dirty="0">
                <a:latin typeface="Times New Roman"/>
                <a:cs typeface="Times New Roman"/>
              </a:rPr>
              <a:t>ating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5" dirty="0">
                <a:latin typeface="Times New Roman"/>
                <a:cs typeface="Times New Roman"/>
              </a:rPr>
              <a:t>Systems,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5" dirty="0">
                <a:latin typeface="Times New Roman"/>
                <a:cs typeface="Times New Roman"/>
              </a:rPr>
              <a:t>Seco</a:t>
            </a:r>
            <a:r>
              <a:rPr sz="2200" i="1" dirty="0">
                <a:latin typeface="Times New Roman"/>
                <a:cs typeface="Times New Roman"/>
              </a:rPr>
              <a:t>n</a:t>
            </a:r>
            <a:r>
              <a:rPr sz="2200" i="1" spc="-5" dirty="0">
                <a:latin typeface="Times New Roman"/>
                <a:cs typeface="Times New Roman"/>
              </a:rPr>
              <a:t>d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5" dirty="0">
                <a:latin typeface="Times New Roman"/>
                <a:cs typeface="Times New Roman"/>
              </a:rPr>
              <a:t>E</a:t>
            </a:r>
            <a:r>
              <a:rPr sz="2200" i="1" dirty="0">
                <a:latin typeface="Times New Roman"/>
                <a:cs typeface="Times New Roman"/>
              </a:rPr>
              <a:t>d</a:t>
            </a:r>
            <a:r>
              <a:rPr sz="2200" i="1" spc="-20" dirty="0">
                <a:latin typeface="Times New Roman"/>
                <a:cs typeface="Times New Roman"/>
              </a:rPr>
              <a:t>i</a:t>
            </a:r>
            <a:r>
              <a:rPr sz="2200" i="1" spc="-5" dirty="0">
                <a:latin typeface="Times New Roman"/>
                <a:cs typeface="Times New Roman"/>
              </a:rPr>
              <a:t>ti</a:t>
            </a:r>
            <a:r>
              <a:rPr sz="2200" i="1" dirty="0">
                <a:latin typeface="Times New Roman"/>
                <a:cs typeface="Times New Roman"/>
              </a:rPr>
              <a:t>o</a:t>
            </a:r>
            <a:r>
              <a:rPr sz="2200" i="1" spc="-5" dirty="0">
                <a:latin typeface="Times New Roman"/>
                <a:cs typeface="Times New Roman"/>
              </a:rPr>
              <a:t>n,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5" dirty="0">
                <a:latin typeface="Times New Roman"/>
                <a:cs typeface="Times New Roman"/>
              </a:rPr>
              <a:t>A</a:t>
            </a:r>
            <a:r>
              <a:rPr sz="2200" i="1" dirty="0">
                <a:latin typeface="Times New Roman"/>
                <a:cs typeface="Times New Roman"/>
              </a:rPr>
              <a:t>d</a:t>
            </a:r>
            <a:r>
              <a:rPr sz="2200" i="1" spc="-5" dirty="0">
                <a:latin typeface="Times New Roman"/>
                <a:cs typeface="Times New Roman"/>
              </a:rPr>
              <a:t>dition  </a:t>
            </a:r>
            <a:r>
              <a:rPr sz="2200" i="1" spc="-55" dirty="0">
                <a:latin typeface="Times New Roman"/>
                <a:cs typeface="Times New Roman"/>
              </a:rPr>
              <a:t>Wesley.</a:t>
            </a:r>
            <a:endParaRPr sz="2200" dirty="0">
              <a:latin typeface="Times New Roman"/>
              <a:cs typeface="Times New Roman"/>
            </a:endParaRPr>
          </a:p>
          <a:p>
            <a:pPr marL="633095" indent="-278130">
              <a:lnSpc>
                <a:spcPts val="2375"/>
              </a:lnSpc>
              <a:spcBef>
                <a:spcPts val="20"/>
              </a:spcBef>
              <a:buAutoNum type="arabicPeriod"/>
              <a:tabLst>
                <a:tab pos="633730" algn="l"/>
              </a:tabLst>
            </a:pPr>
            <a:r>
              <a:rPr sz="2200" spc="-20" dirty="0">
                <a:latin typeface="Times New Roman"/>
                <a:cs typeface="Times New Roman"/>
              </a:rPr>
              <a:t>Tanenbaum, </a:t>
            </a:r>
            <a:r>
              <a:rPr sz="2200" spc="-5" dirty="0">
                <a:latin typeface="Times New Roman"/>
                <a:cs typeface="Times New Roman"/>
              </a:rPr>
              <a:t>A.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S.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Woodhull,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A.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S.,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Operating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15" dirty="0">
                <a:latin typeface="Times New Roman"/>
                <a:cs typeface="Times New Roman"/>
              </a:rPr>
              <a:t>Systems</a:t>
            </a:r>
            <a:r>
              <a:rPr sz="2200" i="1" spc="-20" dirty="0">
                <a:latin typeface="Times New Roman"/>
                <a:cs typeface="Times New Roman"/>
              </a:rPr>
              <a:t> </a:t>
            </a:r>
            <a:r>
              <a:rPr sz="2200" i="1" spc="-15" dirty="0">
                <a:latin typeface="Times New Roman"/>
                <a:cs typeface="Times New Roman"/>
              </a:rPr>
              <a:t>Design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ts val="2375"/>
              </a:lnSpc>
            </a:pPr>
            <a:r>
              <a:rPr sz="2200" i="1" spc="-5" dirty="0">
                <a:latin typeface="Times New Roman"/>
                <a:cs typeface="Times New Roman"/>
              </a:rPr>
              <a:t>and</a:t>
            </a:r>
            <a:r>
              <a:rPr sz="2200" i="1" spc="-2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Implementation,</a:t>
            </a:r>
            <a:r>
              <a:rPr sz="2200" i="1" spc="1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Second</a:t>
            </a:r>
            <a:r>
              <a:rPr sz="2200" i="1" dirty="0">
                <a:latin typeface="Times New Roman"/>
                <a:cs typeface="Times New Roman"/>
              </a:rPr>
              <a:t> Edition, </a:t>
            </a:r>
            <a:r>
              <a:rPr sz="2200" i="1" spc="-5" dirty="0">
                <a:latin typeface="Times New Roman"/>
                <a:cs typeface="Times New Roman"/>
              </a:rPr>
              <a:t>PHI.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8360" y="232371"/>
            <a:ext cx="49072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>
                <a:latin typeface="Calibri"/>
                <a:cs typeface="Calibri"/>
              </a:rPr>
              <a:t>Tentative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Course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016" y="1295400"/>
            <a:ext cx="7550784" cy="47205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  <a:tab pos="6414135" algn="l"/>
              </a:tabLst>
            </a:pPr>
            <a:r>
              <a:rPr sz="2000" b="1" spc="-5" dirty="0">
                <a:latin typeface="Calibri"/>
                <a:cs typeface="Calibri"/>
              </a:rPr>
              <a:t>Process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Management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5" dirty="0">
                <a:latin typeface="Calibri"/>
                <a:cs typeface="Calibri"/>
              </a:rPr>
              <a:t> Synchronization	12hrs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Process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communication,</a:t>
            </a:r>
            <a:r>
              <a:rPr sz="2000" spc="-10" dirty="0">
                <a:latin typeface="Calibri"/>
                <a:cs typeface="Calibri"/>
              </a:rPr>
              <a:t> Process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Scheduling,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Deadlock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Research Paper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Presentation(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By </a:t>
            </a:r>
            <a:r>
              <a:rPr sz="2000" spc="-10" dirty="0">
                <a:latin typeface="Calibri"/>
                <a:cs typeface="Calibri"/>
              </a:rPr>
              <a:t>Group</a:t>
            </a:r>
            <a:r>
              <a:rPr sz="2000" spc="-5" dirty="0">
                <a:latin typeface="Calibri"/>
                <a:cs typeface="Calibri"/>
              </a:rPr>
              <a:t> 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students).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  <a:tab pos="355600" algn="l"/>
                <a:tab pos="6414135" algn="l"/>
              </a:tabLst>
            </a:pPr>
            <a:r>
              <a:rPr sz="2000" b="1" dirty="0">
                <a:latin typeface="Calibri"/>
                <a:cs typeface="Calibri"/>
              </a:rPr>
              <a:t>Memory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Management	</a:t>
            </a:r>
            <a:r>
              <a:rPr sz="2000" b="1" spc="-5" dirty="0">
                <a:latin typeface="Calibri"/>
                <a:cs typeface="Calibri"/>
              </a:rPr>
              <a:t>13hrs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(Virtual Memory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Management: </a:t>
            </a:r>
            <a:r>
              <a:rPr sz="2000" spc="-10" dirty="0">
                <a:latin typeface="Calibri"/>
                <a:cs typeface="Calibri"/>
              </a:rPr>
              <a:t>Paging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Segmentation,</a:t>
            </a:r>
            <a:endParaRPr sz="2000" dirty="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Storage/free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space Management)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Research Paper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Presentation(By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Group</a:t>
            </a:r>
            <a:r>
              <a:rPr sz="2000" spc="-5" dirty="0">
                <a:latin typeface="Calibri"/>
                <a:cs typeface="Calibri"/>
              </a:rPr>
              <a:t> 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Students)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4965" algn="l"/>
                <a:tab pos="355600" algn="l"/>
                <a:tab pos="6414135" algn="l"/>
              </a:tabLst>
            </a:pPr>
            <a:r>
              <a:rPr sz="2000" b="1" spc="-10" dirty="0">
                <a:latin typeface="Calibri"/>
                <a:cs typeface="Calibri"/>
              </a:rPr>
              <a:t>Protection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Security	8hrs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5" dirty="0">
                <a:latin typeface="Calibri"/>
                <a:cs typeface="Calibri"/>
              </a:rPr>
              <a:t>System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Protection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Security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Principles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Algorithms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Research Paper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Presentation(By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Group</a:t>
            </a:r>
            <a:r>
              <a:rPr sz="2000" spc="-5" dirty="0">
                <a:latin typeface="Calibri"/>
                <a:cs typeface="Calibri"/>
              </a:rPr>
              <a:t> 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Students)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  <a:tab pos="355600" algn="l"/>
                <a:tab pos="6414135" algn="l"/>
              </a:tabLst>
            </a:pPr>
            <a:r>
              <a:rPr sz="2000" b="1" dirty="0">
                <a:latin typeface="Calibri"/>
                <a:cs typeface="Calibri"/>
              </a:rPr>
              <a:t>Special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Purpose</a:t>
            </a:r>
            <a:r>
              <a:rPr sz="2000" b="1" spc="-15" dirty="0">
                <a:latin typeface="Calibri"/>
                <a:cs typeface="Calibri"/>
              </a:rPr>
              <a:t> Systems	</a:t>
            </a:r>
            <a:r>
              <a:rPr sz="2000" b="1" spc="-5" dirty="0">
                <a:latin typeface="Calibri"/>
                <a:cs typeface="Calibri"/>
              </a:rPr>
              <a:t>12hrs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Distributed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System,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time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System,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Multimedia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System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Research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Paper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Presentations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7075" y="212234"/>
            <a:ext cx="2609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latin typeface="Calibri"/>
                <a:cs typeface="Calibri"/>
              </a:rPr>
              <a:t>Evaluations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6913880" cy="376301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Internal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Assessment: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30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marks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5" dirty="0">
                <a:latin typeface="Calibri"/>
                <a:cs typeface="Calibri"/>
              </a:rPr>
              <a:t>First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65" dirty="0">
                <a:latin typeface="Calibri"/>
                <a:cs typeface="Calibri"/>
              </a:rPr>
              <a:t>Term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Exam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Pre-Board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Exam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  <a:tab pos="2223770" algn="l"/>
              </a:tabLst>
            </a:pPr>
            <a:r>
              <a:rPr sz="2800" spc="-15" dirty="0">
                <a:latin typeface="Calibri"/>
                <a:cs typeface="Calibri"/>
              </a:rPr>
              <a:t>Research	</a:t>
            </a:r>
            <a:r>
              <a:rPr sz="2800" spc="-20" dirty="0">
                <a:latin typeface="Calibri"/>
                <a:cs typeface="Calibri"/>
              </a:rPr>
              <a:t>Paper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Presentations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Attendance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(80%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compulsory)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Semester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Exam: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45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marks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End</a:t>
            </a:r>
            <a:r>
              <a:rPr sz="2800" spc="-15" dirty="0">
                <a:latin typeface="Calibri"/>
                <a:cs typeface="Calibri"/>
              </a:rPr>
              <a:t> Semester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Exam </a:t>
            </a:r>
            <a:r>
              <a:rPr sz="2800" spc="-10" dirty="0">
                <a:latin typeface="Calibri"/>
                <a:cs typeface="Calibri"/>
              </a:rPr>
              <a:t>conducted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65" dirty="0">
                <a:latin typeface="Calibri"/>
                <a:cs typeface="Calibri"/>
              </a:rPr>
              <a:t>IOST,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TU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818794" y="1987423"/>
            <a:ext cx="7047230" cy="1249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  <a:latin typeface="Times New Roman"/>
                <a:cs typeface="Times New Roman"/>
              </a:rPr>
              <a:t>Unit</a:t>
            </a:r>
            <a:r>
              <a:rPr sz="4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FF0000"/>
                </a:solidFill>
                <a:latin typeface="Times New Roman"/>
                <a:cs typeface="Times New Roman"/>
              </a:rPr>
              <a:t>1.1</a:t>
            </a:r>
            <a:endParaRPr sz="4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3600" spc="-5" dirty="0">
                <a:latin typeface="Times New Roman"/>
                <a:cs typeface="Times New Roman"/>
              </a:rPr>
              <a:t>Introduction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Operating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System(OS)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45004" y="3906469"/>
            <a:ext cx="52527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Reading:</a:t>
            </a:r>
            <a:r>
              <a:rPr sz="3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Chapter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1 of</a:t>
            </a:r>
            <a:r>
              <a:rPr sz="32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Textbook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2637" y="214947"/>
            <a:ext cx="46659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Where</a:t>
            </a:r>
            <a:r>
              <a:rPr spc="-50" dirty="0"/>
              <a:t> </a:t>
            </a:r>
            <a:r>
              <a:rPr dirty="0"/>
              <a:t>does</a:t>
            </a:r>
            <a:r>
              <a:rPr spc="-45" dirty="0"/>
              <a:t> </a:t>
            </a:r>
            <a:r>
              <a:rPr dirty="0"/>
              <a:t>OS</a:t>
            </a:r>
            <a:r>
              <a:rPr spc="-15" dirty="0"/>
              <a:t> </a:t>
            </a:r>
            <a:r>
              <a:rPr spc="-5" dirty="0"/>
              <a:t>sits?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770" y="1840669"/>
            <a:ext cx="7075538" cy="4024459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766E61-CF1D-44DF-BE25-A7BAE514257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Prepared by: Dr. Binod Kumar Adhikari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324536"/>
            <a:ext cx="73914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</a:rPr>
              <a:t>Unit1.1</a:t>
            </a:r>
            <a:r>
              <a:rPr lang="en-US" sz="3200" b="1" spc="-5" dirty="0">
                <a:solidFill>
                  <a:srgbClr val="FF0000"/>
                </a:solidFill>
              </a:rPr>
              <a:t> </a:t>
            </a:r>
            <a:r>
              <a:rPr sz="3200" b="1" spc="-5" dirty="0">
                <a:solidFill>
                  <a:srgbClr val="FF0000"/>
                </a:solidFill>
              </a:rPr>
              <a:t>What is</a:t>
            </a:r>
            <a:r>
              <a:rPr sz="3200" b="1" spc="5" dirty="0">
                <a:solidFill>
                  <a:srgbClr val="FF0000"/>
                </a:solidFill>
              </a:rPr>
              <a:t> </a:t>
            </a:r>
            <a:r>
              <a:rPr sz="3200" b="1" spc="-5" dirty="0">
                <a:solidFill>
                  <a:srgbClr val="FF0000"/>
                </a:solidFill>
              </a:rPr>
              <a:t>Operating</a:t>
            </a:r>
            <a:r>
              <a:rPr sz="3200" b="1" spc="10" dirty="0">
                <a:solidFill>
                  <a:srgbClr val="FF0000"/>
                </a:solidFill>
              </a:rPr>
              <a:t> </a:t>
            </a:r>
            <a:r>
              <a:rPr sz="3200" b="1" spc="-5" dirty="0">
                <a:solidFill>
                  <a:srgbClr val="FF0000"/>
                </a:solidFill>
              </a:rPr>
              <a:t>System(OS)?</a:t>
            </a:r>
            <a:endParaRPr sz="32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534032" y="1431337"/>
            <a:ext cx="8075932" cy="39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 algn="just">
              <a:lnSpc>
                <a:spcPts val="238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400" spc="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sz="2400" spc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sz="24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</a:t>
            </a:r>
            <a:r>
              <a:rPr sz="2400" spc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400" spc="4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intermediary</a:t>
            </a:r>
            <a:r>
              <a:rPr sz="2400" spc="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2400" spc="4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2400" spc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lnSpc>
                <a:spcPts val="2375"/>
              </a:lnSpc>
              <a:spcBef>
                <a:spcPts val="1200"/>
              </a:spcBef>
              <a:spcAft>
                <a:spcPts val="600"/>
              </a:spcAft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algn="just">
              <a:lnSpc>
                <a:spcPct val="100000"/>
              </a:lnSpc>
              <a:spcBef>
                <a:spcPts val="10"/>
              </a:spcBef>
              <a:tabLst>
                <a:tab pos="756285" algn="l"/>
              </a:tabLst>
            </a:pP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	Extend</a:t>
            </a:r>
            <a:r>
              <a:rPr sz="2400" spc="-5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lnSpc>
                <a:spcPts val="2375"/>
              </a:lnSpc>
              <a:spcBef>
                <a:spcPts val="1200"/>
              </a:spcBef>
              <a:spcAft>
                <a:spcPts val="600"/>
              </a:spcAft>
              <a:buFont typeface="Arial MT"/>
              <a:buChar char="•"/>
              <a:tabLst>
                <a:tab pos="354965" algn="l"/>
                <a:tab pos="355600" algn="l"/>
                <a:tab pos="884555" algn="l"/>
                <a:tab pos="2158365" algn="l"/>
                <a:tab pos="2734945" algn="l"/>
                <a:tab pos="3882390" algn="l"/>
                <a:tab pos="4396105" algn="l"/>
                <a:tab pos="5825490" algn="l"/>
                <a:tab pos="6231255" algn="l"/>
                <a:tab pos="7273925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	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	and	manages	the	complexity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	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	application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indent="-342265" algn="just">
              <a:lnSpc>
                <a:spcPts val="2375"/>
              </a:lnSpc>
              <a:buFont typeface="Arial MT"/>
              <a:buChar char="•"/>
              <a:tabLst>
                <a:tab pos="342265" algn="l"/>
                <a:tab pos="35560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CPU,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memory,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device,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etc.-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</a:t>
            </a:r>
            <a:r>
              <a:rPr sz="2400" spc="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4955" y="240974"/>
            <a:ext cx="3474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Function</a:t>
            </a:r>
            <a:r>
              <a:rPr spc="-6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5" dirty="0"/>
              <a:t>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7" y="1328079"/>
            <a:ext cx="8074659" cy="47472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OS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perform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following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important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functions</a:t>
            </a:r>
          </a:p>
          <a:p>
            <a:pPr marL="756285" marR="5080" lvl="1" indent="-287020" algn="just">
              <a:lnSpc>
                <a:spcPct val="9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CPU </a:t>
            </a:r>
            <a:r>
              <a:rPr sz="2800" b="1" spc="-5" dirty="0">
                <a:latin typeface="Times New Roman"/>
                <a:cs typeface="Times New Roman"/>
              </a:rPr>
              <a:t>Management</a:t>
            </a:r>
            <a:r>
              <a:rPr sz="2800" spc="-5" dirty="0">
                <a:latin typeface="Times New Roman"/>
                <a:cs typeface="Times New Roman"/>
              </a:rPr>
              <a:t>: It means assigning </a:t>
            </a:r>
            <a:r>
              <a:rPr sz="2800" b="1" spc="-10" dirty="0">
                <a:latin typeface="Times New Roman"/>
                <a:cs typeface="Times New Roman"/>
              </a:rPr>
              <a:t>processor 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6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different</a:t>
            </a:r>
            <a:r>
              <a:rPr sz="2800" spc="6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task</a:t>
            </a:r>
            <a:r>
              <a:rPr sz="2800" b="1" spc="6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6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has</a:t>
            </a:r>
            <a:r>
              <a:rPr sz="2800" spc="6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to</a:t>
            </a:r>
            <a:r>
              <a:rPr sz="2800" spc="6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6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performed</a:t>
            </a:r>
            <a:r>
              <a:rPr sz="2800" spc="6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computer.</a:t>
            </a:r>
            <a:endParaRPr sz="2800" dirty="0">
              <a:latin typeface="Times New Roman"/>
              <a:cs typeface="Times New Roman"/>
            </a:endParaRPr>
          </a:p>
          <a:p>
            <a:pPr marL="756285" marR="6985" lvl="1" indent="-287020" algn="just">
              <a:lnSpc>
                <a:spcPts val="3020"/>
              </a:lnSpc>
              <a:spcBef>
                <a:spcPts val="72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Memory</a:t>
            </a:r>
            <a:r>
              <a:rPr sz="2800" b="1" dirty="0">
                <a:latin typeface="Times New Roman"/>
                <a:cs typeface="Times New Roman"/>
              </a:rPr>
              <a:t> management: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means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allocation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of </a:t>
            </a:r>
            <a:r>
              <a:rPr sz="2800" spc="-10" dirty="0">
                <a:latin typeface="Times New Roman"/>
                <a:cs typeface="Times New Roman"/>
              </a:rPr>
              <a:t> main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memory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different</a:t>
            </a:r>
            <a:r>
              <a:rPr sz="2800" spc="-5" dirty="0">
                <a:latin typeface="Times New Roman"/>
                <a:cs typeface="Times New Roman"/>
              </a:rPr>
              <a:t> task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execute.</a:t>
            </a:r>
            <a:endParaRPr sz="2800" dirty="0">
              <a:latin typeface="Times New Roman"/>
              <a:cs typeface="Times New Roman"/>
            </a:endParaRPr>
          </a:p>
          <a:p>
            <a:pPr marL="756285" marR="6350" lvl="1" indent="-287020" algn="just">
              <a:lnSpc>
                <a:spcPts val="3020"/>
              </a:lnSpc>
              <a:spcBef>
                <a:spcPts val="68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Input/output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management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means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co-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ordination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between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different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input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and</a:t>
            </a:r>
            <a:r>
              <a:rPr sz="2800" spc="-5" dirty="0">
                <a:latin typeface="Times New Roman"/>
                <a:cs typeface="Times New Roman"/>
              </a:rPr>
              <a:t> output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while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more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 are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running.</a:t>
            </a:r>
          </a:p>
          <a:p>
            <a:pPr marL="756285" marR="5715" lvl="1" indent="-287020" algn="just">
              <a:lnSpc>
                <a:spcPts val="302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File system management: </a:t>
            </a:r>
            <a:r>
              <a:rPr sz="2800" dirty="0">
                <a:latin typeface="Times New Roman"/>
                <a:cs typeface="Times New Roman"/>
              </a:rPr>
              <a:t>OS </a:t>
            </a:r>
            <a:r>
              <a:rPr sz="2800" spc="-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responsible </a:t>
            </a:r>
            <a:r>
              <a:rPr sz="2800" spc="-5" dirty="0">
                <a:latin typeface="Times New Roman"/>
                <a:cs typeface="Times New Roman"/>
              </a:rPr>
              <a:t>for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maintenance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file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212973" y="6553200"/>
            <a:ext cx="2718054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 dirty="0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8305" y="148732"/>
            <a:ext cx="57873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Operating</a:t>
            </a:r>
            <a:r>
              <a:rPr spc="-60" dirty="0"/>
              <a:t> </a:t>
            </a:r>
            <a:r>
              <a:rPr spc="-5" dirty="0"/>
              <a:t>Systems</a:t>
            </a:r>
            <a:r>
              <a:rPr spc="-95" dirty="0"/>
              <a:t> </a:t>
            </a:r>
            <a:r>
              <a:rPr spc="-55" dirty="0"/>
              <a:t>Views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0984"/>
            <a:ext cx="8073390" cy="358902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Times New Roman"/>
                <a:cs typeface="Times New Roman"/>
              </a:rPr>
              <a:t>As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Resource </a:t>
            </a:r>
            <a:r>
              <a:rPr sz="3200" b="1" dirty="0">
                <a:latin typeface="Times New Roman"/>
                <a:cs typeface="Times New Roman"/>
              </a:rPr>
              <a:t>allocator</a:t>
            </a:r>
            <a:endParaRPr sz="3200" dirty="0">
              <a:latin typeface="Times New Roman"/>
              <a:cs typeface="Times New Roman"/>
            </a:endParaRPr>
          </a:p>
          <a:p>
            <a:pPr marL="756285" marR="8890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  <a:tab pos="1198245" algn="l"/>
                <a:tab pos="2463165" algn="l"/>
                <a:tab pos="3969385" algn="l"/>
                <a:tab pos="5476875" algn="l"/>
                <a:tab pos="6155055" algn="l"/>
                <a:tab pos="7758430" algn="l"/>
              </a:tabLst>
            </a:pP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al</a:t>
            </a:r>
            <a:r>
              <a:rPr sz="2800" spc="-2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ocate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res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c</a:t>
            </a:r>
            <a:r>
              <a:rPr sz="2800" spc="-2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(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-5" dirty="0">
                <a:latin typeface="Times New Roman"/>
                <a:cs typeface="Times New Roman"/>
              </a:rPr>
              <a:t>tware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hardw</a:t>
            </a:r>
            <a:r>
              <a:rPr sz="2800" spc="-15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re)</a:t>
            </a:r>
            <a:r>
              <a:rPr sz="2800" dirty="0">
                <a:latin typeface="Times New Roman"/>
                <a:cs typeface="Times New Roman"/>
              </a:rPr>
              <a:t>	of  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computer system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manage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them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efficiently.</a:t>
            </a:r>
            <a:endParaRPr sz="28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 MT"/>
              <a:buChar char="–"/>
            </a:pPr>
            <a:endParaRPr sz="41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Times New Roman"/>
                <a:cs typeface="Times New Roman"/>
              </a:rPr>
              <a:t>As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extended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machine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or</a:t>
            </a:r>
            <a:r>
              <a:rPr sz="3200" b="1" spc="-7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controller</a:t>
            </a:r>
            <a:endParaRPr sz="3200" dirty="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8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Controls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execution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of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user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programs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operation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I/O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devices.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0330" y="228600"/>
            <a:ext cx="636333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OS</a:t>
            </a:r>
            <a:r>
              <a:rPr sz="4000" spc="-35" dirty="0"/>
              <a:t> </a:t>
            </a:r>
            <a:r>
              <a:rPr sz="4000" dirty="0"/>
              <a:t>as</a:t>
            </a:r>
            <a:r>
              <a:rPr sz="4000" spc="-10" dirty="0"/>
              <a:t> </a:t>
            </a:r>
            <a:r>
              <a:rPr sz="4000" dirty="0"/>
              <a:t>an</a:t>
            </a:r>
            <a:r>
              <a:rPr sz="4000" spc="-10" dirty="0"/>
              <a:t> </a:t>
            </a:r>
            <a:r>
              <a:rPr sz="4000" dirty="0"/>
              <a:t>Extended</a:t>
            </a:r>
            <a:r>
              <a:rPr sz="4000" spc="-40" dirty="0"/>
              <a:t> </a:t>
            </a:r>
            <a:r>
              <a:rPr sz="4000" dirty="0"/>
              <a:t>Machine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8394"/>
            <a:ext cx="8072755" cy="4216538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819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OS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function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is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 present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with</a:t>
            </a:r>
            <a:r>
              <a:rPr sz="3000" dirty="0">
                <a:latin typeface="Times New Roman"/>
                <a:cs typeface="Times New Roman"/>
              </a:rPr>
              <a:t> the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equivalent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extended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machine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virtual </a:t>
            </a:r>
            <a:r>
              <a:rPr sz="3000" dirty="0">
                <a:latin typeface="Times New Roman"/>
                <a:cs typeface="Times New Roman"/>
              </a:rPr>
              <a:t> machine</a:t>
            </a:r>
            <a:r>
              <a:rPr sz="3000" spc="7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7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is</a:t>
            </a:r>
            <a:r>
              <a:rPr sz="3000" spc="7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easier</a:t>
            </a:r>
            <a:r>
              <a:rPr sz="3000" spc="72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to</a:t>
            </a:r>
            <a:r>
              <a:rPr sz="3000" spc="7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program</a:t>
            </a:r>
            <a:r>
              <a:rPr sz="3000" spc="7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than</a:t>
            </a:r>
            <a:r>
              <a:rPr sz="3000" spc="7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 </a:t>
            </a:r>
            <a:r>
              <a:rPr sz="3000" spc="-74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underlying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hardware.</a:t>
            </a: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3700" dirty="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ts val="2880"/>
              </a:lnSpc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OS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creates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higher-level</a:t>
            </a:r>
            <a:r>
              <a:rPr sz="3000" dirty="0">
                <a:latin typeface="Times New Roman"/>
                <a:cs typeface="Times New Roman"/>
              </a:rPr>
              <a:t> abstraction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programmer.</a:t>
            </a:r>
            <a:endParaRPr sz="3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3750" dirty="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ts val="2880"/>
              </a:lnSpc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What are the </a:t>
            </a:r>
            <a:r>
              <a:rPr sz="3000" spc="-5" dirty="0">
                <a:latin typeface="Times New Roman"/>
                <a:cs typeface="Times New Roman"/>
              </a:rPr>
              <a:t>right </a:t>
            </a:r>
            <a:r>
              <a:rPr sz="3000" spc="-5" dirty="0">
                <a:solidFill>
                  <a:srgbClr val="00B050"/>
                </a:solidFill>
                <a:latin typeface="Times New Roman"/>
                <a:cs typeface="Times New Roman"/>
              </a:rPr>
              <a:t>abstractions</a:t>
            </a:r>
            <a:r>
              <a:rPr sz="3000" spc="-5" dirty="0">
                <a:latin typeface="Times New Roman"/>
                <a:cs typeface="Times New Roman"/>
              </a:rPr>
              <a:t>? How to </a:t>
            </a:r>
            <a:r>
              <a:rPr sz="3000" dirty="0">
                <a:latin typeface="Times New Roman"/>
                <a:cs typeface="Times New Roman"/>
              </a:rPr>
              <a:t>achieve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this?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0330" y="280680"/>
            <a:ext cx="6363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</a:t>
            </a:r>
            <a:r>
              <a:rPr spc="-35" dirty="0"/>
              <a:t> </a:t>
            </a:r>
            <a:r>
              <a:rPr dirty="0"/>
              <a:t>as</a:t>
            </a:r>
            <a:r>
              <a:rPr spc="-10" dirty="0"/>
              <a:t> </a:t>
            </a:r>
            <a:r>
              <a:rPr dirty="0"/>
              <a:t>an</a:t>
            </a:r>
            <a:r>
              <a:rPr spc="-10" dirty="0"/>
              <a:t> </a:t>
            </a:r>
            <a:r>
              <a:rPr dirty="0"/>
              <a:t>Extended</a:t>
            </a:r>
            <a:r>
              <a:rPr spc="-40" dirty="0"/>
              <a:t> </a:t>
            </a:r>
            <a:r>
              <a:rPr dirty="0"/>
              <a:t>Machine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8073390" cy="439356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Times New Roman"/>
                <a:cs typeface="Times New Roman"/>
              </a:rPr>
              <a:t>Example: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(Floppy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disk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I/O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operation)</a:t>
            </a:r>
            <a:endParaRPr sz="32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disks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contains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 collection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named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files</a:t>
            </a:r>
            <a:endParaRPr sz="28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Times New Roman"/>
                <a:cs typeface="Times New Roman"/>
              </a:rPr>
              <a:t>each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file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must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READ/WRITE</a:t>
            </a:r>
            <a:endParaRPr sz="28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after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READ/WRITE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complete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close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file</a:t>
            </a:r>
            <a:endParaRPr sz="28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detail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deal</a:t>
            </a:r>
            <a:endParaRPr sz="28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Arial MT"/>
              <a:buChar char="–"/>
            </a:pPr>
            <a:endParaRPr sz="43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C0504D"/>
                </a:solidFill>
                <a:latin typeface="Times New Roman"/>
                <a:cs typeface="Times New Roman"/>
              </a:rPr>
              <a:t>OS</a:t>
            </a:r>
            <a:r>
              <a:rPr sz="3200" spc="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C0504D"/>
                </a:solidFill>
                <a:latin typeface="Times New Roman"/>
                <a:cs typeface="Times New Roman"/>
              </a:rPr>
              <a:t>shields</a:t>
            </a:r>
            <a:r>
              <a:rPr sz="320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C0504D"/>
                </a:solidFill>
                <a:latin typeface="Times New Roman"/>
                <a:cs typeface="Times New Roman"/>
              </a:rPr>
              <a:t>the</a:t>
            </a:r>
            <a:r>
              <a:rPr sz="3200" dirty="0">
                <a:solidFill>
                  <a:srgbClr val="C0504D"/>
                </a:solidFill>
                <a:latin typeface="Times New Roman"/>
                <a:cs typeface="Times New Roman"/>
              </a:rPr>
              <a:t> programmer</a:t>
            </a:r>
            <a:r>
              <a:rPr sz="3200" spc="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C0504D"/>
                </a:solidFill>
                <a:latin typeface="Times New Roman"/>
                <a:cs typeface="Times New Roman"/>
              </a:rPr>
              <a:t>from</a:t>
            </a:r>
            <a:r>
              <a:rPr sz="3200" dirty="0">
                <a:solidFill>
                  <a:srgbClr val="C0504D"/>
                </a:solidFill>
                <a:latin typeface="Times New Roman"/>
                <a:cs typeface="Times New Roman"/>
              </a:rPr>
              <a:t> the</a:t>
            </a:r>
            <a:r>
              <a:rPr sz="3200" spc="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0504D"/>
                </a:solidFill>
                <a:latin typeface="Times New Roman"/>
                <a:cs typeface="Times New Roman"/>
              </a:rPr>
              <a:t>disk </a:t>
            </a:r>
            <a:r>
              <a:rPr sz="3200" spc="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0504D"/>
                </a:solidFill>
                <a:latin typeface="Times New Roman"/>
                <a:cs typeface="Times New Roman"/>
              </a:rPr>
              <a:t>hardware and </a:t>
            </a:r>
            <a:r>
              <a:rPr sz="3200" spc="-5" dirty="0">
                <a:solidFill>
                  <a:srgbClr val="C0504D"/>
                </a:solidFill>
                <a:latin typeface="Times New Roman"/>
                <a:cs typeface="Times New Roman"/>
              </a:rPr>
              <a:t>presents </a:t>
            </a:r>
            <a:r>
              <a:rPr sz="3200" dirty="0">
                <a:solidFill>
                  <a:srgbClr val="C0504D"/>
                </a:solidFill>
                <a:latin typeface="Times New Roman"/>
                <a:cs typeface="Times New Roman"/>
              </a:rPr>
              <a:t>a </a:t>
            </a:r>
            <a:r>
              <a:rPr sz="3200" spc="-5" dirty="0">
                <a:solidFill>
                  <a:srgbClr val="C0504D"/>
                </a:solidFill>
                <a:latin typeface="Times New Roman"/>
                <a:cs typeface="Times New Roman"/>
              </a:rPr>
              <a:t>simple file oriented </a:t>
            </a:r>
            <a:r>
              <a:rPr sz="3200" dirty="0">
                <a:solidFill>
                  <a:srgbClr val="C0504D"/>
                </a:solidFill>
                <a:latin typeface="Times New Roman"/>
                <a:cs typeface="Times New Roman"/>
              </a:rPr>
              <a:t> interface.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618" y="294057"/>
            <a:ext cx="60807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</a:t>
            </a:r>
            <a:r>
              <a:rPr spc="-40" dirty="0"/>
              <a:t> </a:t>
            </a:r>
            <a:r>
              <a:rPr dirty="0"/>
              <a:t>as</a:t>
            </a:r>
            <a:r>
              <a:rPr spc="-1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Resource</a:t>
            </a:r>
            <a:r>
              <a:rPr spc="-40" dirty="0"/>
              <a:t> </a:t>
            </a:r>
            <a:r>
              <a:rPr dirty="0"/>
              <a:t>Manager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72755" cy="4221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OS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primary</a:t>
            </a:r>
            <a:r>
              <a:rPr sz="3200" dirty="0">
                <a:latin typeface="Times New Roman"/>
                <a:cs typeface="Times New Roman"/>
              </a:rPr>
              <a:t> function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all </a:t>
            </a:r>
            <a:r>
              <a:rPr sz="3200" dirty="0">
                <a:latin typeface="Times New Roman"/>
                <a:cs typeface="Times New Roman"/>
              </a:rPr>
              <a:t> component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complex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What happens </a:t>
            </a:r>
            <a:r>
              <a:rPr sz="3200" i="1" spc="-5" dirty="0">
                <a:solidFill>
                  <a:srgbClr val="548ED4"/>
                </a:solidFill>
                <a:latin typeface="Times New Roman"/>
                <a:cs typeface="Times New Roman"/>
              </a:rPr>
              <a:t>if </a:t>
            </a:r>
            <a:r>
              <a:rPr sz="3200" i="1" spc="-25" dirty="0">
                <a:solidFill>
                  <a:srgbClr val="548ED4"/>
                </a:solidFill>
                <a:latin typeface="Times New Roman"/>
                <a:cs typeface="Times New Roman"/>
              </a:rPr>
              <a:t>three </a:t>
            </a:r>
            <a:r>
              <a:rPr sz="3200" i="1" spc="-15" dirty="0">
                <a:solidFill>
                  <a:srgbClr val="548ED4"/>
                </a:solidFill>
                <a:latin typeface="Times New Roman"/>
                <a:cs typeface="Times New Roman"/>
              </a:rPr>
              <a:t>programs </a:t>
            </a:r>
            <a:r>
              <a:rPr sz="3200" i="1" spc="-5" dirty="0">
                <a:solidFill>
                  <a:srgbClr val="548ED4"/>
                </a:solidFill>
                <a:latin typeface="Times New Roman"/>
                <a:cs typeface="Times New Roman"/>
              </a:rPr>
              <a:t>try </a:t>
            </a:r>
            <a:r>
              <a:rPr sz="3200" i="1" spc="-10" dirty="0">
                <a:solidFill>
                  <a:srgbClr val="548ED4"/>
                </a:solidFill>
                <a:latin typeface="Times New Roman"/>
                <a:cs typeface="Times New Roman"/>
              </a:rPr>
              <a:t>to </a:t>
            </a: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print </a:t>
            </a:r>
            <a:r>
              <a:rPr sz="3200" i="1" spc="5" dirty="0">
                <a:solidFill>
                  <a:srgbClr val="548ED4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their output </a:t>
            </a:r>
            <a:r>
              <a:rPr sz="3200" i="1" spc="-5" dirty="0">
                <a:solidFill>
                  <a:srgbClr val="548ED4"/>
                </a:solidFill>
                <a:latin typeface="Times New Roman"/>
                <a:cs typeface="Times New Roman"/>
              </a:rPr>
              <a:t>on the same printer </a:t>
            </a: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at </a:t>
            </a:r>
            <a:r>
              <a:rPr sz="3200" i="1" spc="-5" dirty="0">
                <a:solidFill>
                  <a:srgbClr val="548ED4"/>
                </a:solidFill>
                <a:latin typeface="Times New Roman"/>
                <a:cs typeface="Times New Roman"/>
              </a:rPr>
              <a:t>the same </a:t>
            </a: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 time?</a:t>
            </a:r>
            <a:endParaRPr sz="3200" dirty="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What</a:t>
            </a:r>
            <a:r>
              <a:rPr sz="3200" i="1" spc="5" dirty="0">
                <a:solidFill>
                  <a:srgbClr val="548ED4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happens</a:t>
            </a:r>
            <a:r>
              <a:rPr sz="3200" i="1" spc="5" dirty="0">
                <a:solidFill>
                  <a:srgbClr val="548ED4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548ED4"/>
                </a:solidFill>
                <a:latin typeface="Times New Roman"/>
                <a:cs typeface="Times New Roman"/>
              </a:rPr>
              <a:t>if</a:t>
            </a: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548ED4"/>
                </a:solidFill>
                <a:latin typeface="Times New Roman"/>
                <a:cs typeface="Times New Roman"/>
              </a:rPr>
              <a:t>two</a:t>
            </a: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 network</a:t>
            </a:r>
            <a:r>
              <a:rPr sz="3200" i="1" spc="5" dirty="0">
                <a:solidFill>
                  <a:srgbClr val="548ED4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users</a:t>
            </a:r>
            <a:r>
              <a:rPr sz="3200" i="1" spc="5" dirty="0">
                <a:solidFill>
                  <a:srgbClr val="548ED4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try</a:t>
            </a:r>
            <a:r>
              <a:rPr sz="3200" i="1" spc="5" dirty="0">
                <a:solidFill>
                  <a:srgbClr val="548ED4"/>
                </a:solidFill>
                <a:latin typeface="Times New Roman"/>
                <a:cs typeface="Times New Roman"/>
              </a:rPr>
              <a:t> </a:t>
            </a:r>
            <a:r>
              <a:rPr sz="3200" i="1" spc="-15" dirty="0">
                <a:solidFill>
                  <a:srgbClr val="548ED4"/>
                </a:solidFill>
                <a:latin typeface="Times New Roman"/>
                <a:cs typeface="Times New Roman"/>
              </a:rPr>
              <a:t>to </a:t>
            </a:r>
            <a:r>
              <a:rPr sz="3200" i="1" spc="-10" dirty="0">
                <a:solidFill>
                  <a:srgbClr val="548ED4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update</a:t>
            </a:r>
            <a:r>
              <a:rPr sz="3200" i="1" spc="-40" dirty="0">
                <a:solidFill>
                  <a:srgbClr val="548ED4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a</a:t>
            </a:r>
            <a:r>
              <a:rPr sz="3200" i="1" spc="-5" dirty="0">
                <a:solidFill>
                  <a:srgbClr val="548ED4"/>
                </a:solidFill>
                <a:latin typeface="Times New Roman"/>
                <a:cs typeface="Times New Roman"/>
              </a:rPr>
              <a:t> </a:t>
            </a:r>
            <a:r>
              <a:rPr sz="3200" i="1" spc="-20" dirty="0">
                <a:solidFill>
                  <a:srgbClr val="548ED4"/>
                </a:solidFill>
                <a:latin typeface="Times New Roman"/>
                <a:cs typeface="Times New Roman"/>
              </a:rPr>
              <a:t>shared</a:t>
            </a:r>
            <a:r>
              <a:rPr sz="3200" i="1" spc="-5" dirty="0">
                <a:solidFill>
                  <a:srgbClr val="548ED4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document</a:t>
            </a:r>
            <a:r>
              <a:rPr sz="3200" i="1" spc="-40" dirty="0">
                <a:solidFill>
                  <a:srgbClr val="548ED4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at</a:t>
            </a:r>
            <a:r>
              <a:rPr sz="3200" i="1" spc="-15" dirty="0">
                <a:solidFill>
                  <a:srgbClr val="548ED4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same</a:t>
            </a:r>
            <a:r>
              <a:rPr sz="3200" i="1" spc="-10" dirty="0">
                <a:solidFill>
                  <a:srgbClr val="548ED4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548ED4"/>
                </a:solidFill>
                <a:latin typeface="Times New Roman"/>
                <a:cs typeface="Times New Roman"/>
              </a:rPr>
              <a:t>time?</a:t>
            </a:r>
            <a:endParaRPr sz="320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OS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should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take care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327273" y="6405042"/>
            <a:ext cx="2489454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 dirty="0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954" y="126829"/>
            <a:ext cx="7400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</a:t>
            </a:r>
            <a:r>
              <a:rPr spc="-40" dirty="0"/>
              <a:t> </a:t>
            </a:r>
            <a:r>
              <a:rPr dirty="0"/>
              <a:t>as</a:t>
            </a:r>
            <a:r>
              <a:rPr spc="-15" dirty="0"/>
              <a:t> </a:t>
            </a:r>
            <a:r>
              <a:rPr spc="-5" dirty="0"/>
              <a:t>resource</a:t>
            </a:r>
            <a:r>
              <a:rPr spc="-40" dirty="0"/>
              <a:t> </a:t>
            </a:r>
            <a:r>
              <a:rPr dirty="0"/>
              <a:t>Manager(cont…)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8148955" cy="4301490"/>
          </a:xfrm>
          <a:prstGeom prst="rect">
            <a:avLst/>
          </a:prstGeom>
        </p:spPr>
        <p:txBody>
          <a:bodyPr vert="horz" wrap="square" lIns="0" tIns="2514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OS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as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resource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manager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does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following:</a:t>
            </a:r>
            <a:endParaRPr sz="3000" dirty="0">
              <a:latin typeface="Times New Roman"/>
              <a:cs typeface="Times New Roman"/>
            </a:endParaRPr>
          </a:p>
          <a:p>
            <a:pPr marL="756285" marR="6985" lvl="1" indent="-287020">
              <a:lnSpc>
                <a:spcPct val="130100"/>
              </a:lnSpc>
              <a:spcBef>
                <a:spcPts val="700"/>
              </a:spcBef>
              <a:buFont typeface="Arial MT"/>
              <a:buChar char="–"/>
              <a:tabLst>
                <a:tab pos="756920" algn="l"/>
                <a:tab pos="5995035" algn="l"/>
              </a:tabLst>
            </a:pPr>
            <a:r>
              <a:rPr sz="2600" spc="-15" dirty="0">
                <a:latin typeface="Times New Roman"/>
                <a:cs typeface="Times New Roman"/>
              </a:rPr>
              <a:t>Virtualizes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resource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so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multiple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users/	</a:t>
            </a:r>
            <a:r>
              <a:rPr sz="2600" dirty="0">
                <a:latin typeface="Times New Roman"/>
                <a:cs typeface="Times New Roman"/>
              </a:rPr>
              <a:t>applications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can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share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resources</a:t>
            </a:r>
            <a:endParaRPr sz="26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560"/>
              </a:spcBef>
              <a:buFont typeface="Arial MT"/>
              <a:buChar char="–"/>
              <a:tabLst>
                <a:tab pos="756920" algn="l"/>
              </a:tabLst>
            </a:pPr>
            <a:r>
              <a:rPr sz="2600" spc="-5" dirty="0">
                <a:latin typeface="Times New Roman"/>
                <a:cs typeface="Times New Roman"/>
              </a:rPr>
              <a:t>Protect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applications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from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one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another</a:t>
            </a:r>
          </a:p>
          <a:p>
            <a:pPr marL="756285" lvl="1" indent="-287020">
              <a:lnSpc>
                <a:spcPct val="100000"/>
              </a:lnSpc>
              <a:spcBef>
                <a:spcPts val="1560"/>
              </a:spcBef>
              <a:buFont typeface="Arial MT"/>
              <a:buChar char="–"/>
              <a:tabLst>
                <a:tab pos="756920" algn="l"/>
              </a:tabLst>
            </a:pPr>
            <a:r>
              <a:rPr sz="2600" dirty="0">
                <a:latin typeface="Times New Roman"/>
                <a:cs typeface="Times New Roman"/>
              </a:rPr>
              <a:t>Provide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efficient</a:t>
            </a:r>
            <a:r>
              <a:rPr sz="2600" dirty="0">
                <a:latin typeface="Times New Roman"/>
                <a:cs typeface="Times New Roman"/>
              </a:rPr>
              <a:t> 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fair access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resources.</a:t>
            </a:r>
            <a:endParaRPr sz="26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30100"/>
              </a:lnSpc>
              <a:spcBef>
                <a:spcPts val="640"/>
              </a:spcBef>
              <a:buFont typeface="Arial MT"/>
              <a:buChar char="•"/>
              <a:tabLst>
                <a:tab pos="354965" algn="l"/>
                <a:tab pos="355600" algn="l"/>
                <a:tab pos="867410" algn="l"/>
                <a:tab pos="1393190" algn="l"/>
                <a:tab pos="2319655" algn="l"/>
                <a:tab pos="3173730" algn="l"/>
                <a:tab pos="3784600" algn="l"/>
                <a:tab pos="5240655" algn="l"/>
                <a:tab pos="6402070" algn="l"/>
                <a:tab pos="7670165" algn="l"/>
              </a:tabLst>
            </a:pPr>
            <a:r>
              <a:rPr sz="3000" i="1" spc="-28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000" i="1" dirty="0">
                <a:solidFill>
                  <a:srgbClr val="FF0000"/>
                </a:solidFill>
                <a:latin typeface="Times New Roman"/>
                <a:cs typeface="Times New Roman"/>
              </a:rPr>
              <a:t>o	do	the</a:t>
            </a:r>
            <a:r>
              <a:rPr sz="30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3000" i="1" dirty="0">
                <a:solidFill>
                  <a:srgbClr val="FF0000"/>
                </a:solidFill>
                <a:latin typeface="Times New Roman"/>
                <a:cs typeface="Times New Roman"/>
              </a:rPr>
              <a:t>e	ta</a:t>
            </a:r>
            <a:r>
              <a:rPr sz="30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3000" i="1" dirty="0">
                <a:solidFill>
                  <a:srgbClr val="FF0000"/>
                </a:solidFill>
                <a:latin typeface="Times New Roman"/>
                <a:cs typeface="Times New Roman"/>
              </a:rPr>
              <a:t>k,	</a:t>
            </a:r>
            <a:r>
              <a:rPr sz="300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3000" i="1" dirty="0">
                <a:solidFill>
                  <a:srgbClr val="FF0000"/>
                </a:solidFill>
                <a:latin typeface="Times New Roman"/>
                <a:cs typeface="Times New Roman"/>
              </a:rPr>
              <a:t>S	desi</a:t>
            </a:r>
            <a:r>
              <a:rPr sz="30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sz="3000" i="1" dirty="0">
                <a:solidFill>
                  <a:srgbClr val="FF0000"/>
                </a:solidFill>
                <a:latin typeface="Times New Roman"/>
                <a:cs typeface="Times New Roman"/>
              </a:rPr>
              <a:t>ner	</a:t>
            </a:r>
            <a:r>
              <a:rPr sz="3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shoul</a:t>
            </a:r>
            <a:r>
              <a:rPr sz="3000" i="1" dirty="0">
                <a:solidFill>
                  <a:srgbClr val="FF0000"/>
                </a:solidFill>
                <a:latin typeface="Times New Roman"/>
                <a:cs typeface="Times New Roman"/>
              </a:rPr>
              <a:t>d	include	the  </a:t>
            </a:r>
            <a:r>
              <a:rPr sz="30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appropriate</a:t>
            </a:r>
            <a:r>
              <a:rPr sz="30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policy</a:t>
            </a:r>
            <a:r>
              <a:rPr sz="3000" i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i="1" dirty="0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sz="3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mechanism</a:t>
            </a:r>
            <a:r>
              <a:rPr sz="30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300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i="1" dirty="0">
                <a:solidFill>
                  <a:srgbClr val="FF0000"/>
                </a:solidFill>
                <a:latin typeface="Times New Roman"/>
                <a:cs typeface="Times New Roman"/>
              </a:rPr>
              <a:t>OS</a:t>
            </a:r>
            <a:r>
              <a:rPr sz="30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07086"/>
            <a:ext cx="790320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ts val="4750"/>
              </a:lnSpc>
              <a:spcBef>
                <a:spcPts val="95"/>
              </a:spcBef>
            </a:pPr>
            <a:r>
              <a:rPr sz="4000" spc="-5" dirty="0">
                <a:solidFill>
                  <a:srgbClr val="FF0000"/>
                </a:solidFill>
              </a:rPr>
              <a:t>Unit</a:t>
            </a:r>
            <a:r>
              <a:rPr sz="4000" spc="-45" dirty="0">
                <a:solidFill>
                  <a:srgbClr val="FF0000"/>
                </a:solidFill>
              </a:rPr>
              <a:t> </a:t>
            </a:r>
            <a:r>
              <a:rPr sz="4000" spc="-5" dirty="0">
                <a:solidFill>
                  <a:srgbClr val="FF0000"/>
                </a:solidFill>
              </a:rPr>
              <a:t>1.2</a:t>
            </a:r>
            <a:r>
              <a:rPr lang="en-US" sz="4000" spc="-5" dirty="0">
                <a:solidFill>
                  <a:srgbClr val="FF0000"/>
                </a:solidFill>
              </a:rPr>
              <a:t> </a:t>
            </a:r>
            <a:r>
              <a:rPr sz="4000" spc="-10" dirty="0"/>
              <a:t>OS</a:t>
            </a:r>
            <a:r>
              <a:rPr sz="4000" spc="-20" dirty="0"/>
              <a:t> </a:t>
            </a:r>
            <a:r>
              <a:rPr sz="4000" spc="-5" dirty="0"/>
              <a:t>Evolution(</a:t>
            </a:r>
            <a:r>
              <a:rPr sz="4000" spc="-15" dirty="0"/>
              <a:t> </a:t>
            </a:r>
            <a:r>
              <a:rPr sz="4000" spc="-5" dirty="0"/>
              <a:t>History)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620393" y="1610995"/>
            <a:ext cx="7903209" cy="363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Present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haven’t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been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developed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overnight.</a:t>
            </a:r>
          </a:p>
          <a:p>
            <a:pPr marL="355600" marR="199390" indent="-342900">
              <a:lnSpc>
                <a:spcPct val="1501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Like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any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other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system,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also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evolved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period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time.</a:t>
            </a:r>
          </a:p>
          <a:p>
            <a:pPr marL="355600" marR="36195" indent="-342900">
              <a:lnSpc>
                <a:spcPct val="15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Evolution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starts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from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very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primitive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OS to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present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most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complex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versatile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OS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835" y="1533805"/>
            <a:ext cx="7991475" cy="3790389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1831" y="227273"/>
            <a:ext cx="52774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</a:t>
            </a:r>
            <a:r>
              <a:rPr spc="-45" dirty="0"/>
              <a:t> </a:t>
            </a:r>
            <a:r>
              <a:rPr dirty="0"/>
              <a:t>Evolution(</a:t>
            </a:r>
            <a:r>
              <a:rPr spc="-50" dirty="0"/>
              <a:t> </a:t>
            </a:r>
            <a:r>
              <a:rPr dirty="0"/>
              <a:t>History)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4343" y="228600"/>
            <a:ext cx="3115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Batch</a:t>
            </a:r>
            <a:r>
              <a:rPr spc="-85" dirty="0"/>
              <a:t> </a:t>
            </a:r>
            <a:r>
              <a:rPr spc="-5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413" y="1295400"/>
            <a:ext cx="8071169" cy="44526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 algn="just">
              <a:lnSpc>
                <a:spcPct val="90000"/>
              </a:lnSpc>
              <a:spcBef>
                <a:spcPts val="4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In batch </a:t>
            </a:r>
            <a:r>
              <a:rPr sz="2700" spc="-5" dirty="0">
                <a:latin typeface="Times New Roman"/>
                <a:cs typeface="Times New Roman"/>
              </a:rPr>
              <a:t>system, </a:t>
            </a:r>
            <a:r>
              <a:rPr sz="2700" dirty="0">
                <a:latin typeface="Times New Roman"/>
                <a:cs typeface="Times New Roman"/>
              </a:rPr>
              <a:t>operator hired to run </a:t>
            </a:r>
            <a:r>
              <a:rPr sz="2700" spc="-15" dirty="0">
                <a:latin typeface="Times New Roman"/>
                <a:cs typeface="Times New Roman"/>
              </a:rPr>
              <a:t>computer, </a:t>
            </a:r>
            <a:r>
              <a:rPr sz="2700" dirty="0">
                <a:latin typeface="Times New Roman"/>
                <a:cs typeface="Times New Roman"/>
              </a:rPr>
              <a:t>the user 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prepared a job </a:t>
            </a:r>
            <a:r>
              <a:rPr sz="2700" spc="-5" dirty="0">
                <a:latin typeface="Times New Roman"/>
                <a:cs typeface="Times New Roman"/>
              </a:rPr>
              <a:t>–which </a:t>
            </a:r>
            <a:r>
              <a:rPr sz="2700" dirty="0">
                <a:latin typeface="Times New Roman"/>
                <a:cs typeface="Times New Roman"/>
              </a:rPr>
              <a:t>consisted of the </a:t>
            </a:r>
            <a:r>
              <a:rPr sz="2700" spc="-5" dirty="0">
                <a:latin typeface="Times New Roman"/>
                <a:cs typeface="Times New Roman"/>
              </a:rPr>
              <a:t>program, </a:t>
            </a:r>
            <a:r>
              <a:rPr sz="2700" dirty="0">
                <a:latin typeface="Times New Roman"/>
                <a:cs typeface="Times New Roman"/>
              </a:rPr>
              <a:t>the data, 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some </a:t>
            </a:r>
            <a:r>
              <a:rPr sz="2700" dirty="0">
                <a:latin typeface="Times New Roman"/>
                <a:cs typeface="Times New Roman"/>
              </a:rPr>
              <a:t>control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information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about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nature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jobs</a:t>
            </a:r>
            <a:r>
              <a:rPr sz="2700" spc="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– </a:t>
            </a:r>
            <a:r>
              <a:rPr sz="2700" spc="-6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submitted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computer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spc="-15" dirty="0">
                <a:latin typeface="Times New Roman"/>
                <a:cs typeface="Times New Roman"/>
              </a:rPr>
              <a:t>operator.</a:t>
            </a:r>
            <a:endParaRPr sz="2700" dirty="0">
              <a:latin typeface="Times New Roman"/>
              <a:cs typeface="Times New Roman"/>
            </a:endParaRPr>
          </a:p>
          <a:p>
            <a:pPr marL="355600" marR="504825" indent="-342900" algn="just">
              <a:lnSpc>
                <a:spcPts val="2920"/>
              </a:lnSpc>
              <a:spcBef>
                <a:spcPts val="69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Times New Roman"/>
                <a:cs typeface="Times New Roman"/>
              </a:rPr>
              <a:t>Output </a:t>
            </a:r>
            <a:r>
              <a:rPr sz="2700" dirty="0">
                <a:latin typeface="Times New Roman"/>
                <a:cs typeface="Times New Roman"/>
              </a:rPr>
              <a:t>appears </a:t>
            </a:r>
            <a:r>
              <a:rPr sz="2700" spc="-5" dirty="0">
                <a:latin typeface="Times New Roman"/>
                <a:cs typeface="Times New Roman"/>
              </a:rPr>
              <a:t>after some minutes </a:t>
            </a:r>
            <a:r>
              <a:rPr sz="2700" dirty="0">
                <a:latin typeface="Times New Roman"/>
                <a:cs typeface="Times New Roman"/>
              </a:rPr>
              <a:t>and user collects the </a:t>
            </a:r>
            <a:r>
              <a:rPr sz="2700" spc="-6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outputs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from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15" dirty="0">
                <a:latin typeface="Times New Roman"/>
                <a:cs typeface="Times New Roman"/>
              </a:rPr>
              <a:t> operator.</a:t>
            </a:r>
            <a:endParaRPr sz="270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Why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name </a:t>
            </a:r>
            <a:r>
              <a:rPr sz="2700" dirty="0">
                <a:latin typeface="Times New Roman"/>
                <a:cs typeface="Times New Roman"/>
              </a:rPr>
              <a:t>batch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system?</a:t>
            </a:r>
            <a:endParaRPr sz="2700" dirty="0">
              <a:latin typeface="Times New Roman"/>
              <a:cs typeface="Times New Roman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Batch: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Group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jobs</a:t>
            </a:r>
            <a:r>
              <a:rPr sz="2400" spc="-5" dirty="0">
                <a:latin typeface="Times New Roman"/>
                <a:cs typeface="Times New Roman"/>
              </a:rPr>
              <a:t> submitted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machine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together</a:t>
            </a:r>
          </a:p>
          <a:p>
            <a:pPr marL="756285" lvl="1" indent="-287020" algn="just">
              <a:lnSpc>
                <a:spcPct val="100000"/>
              </a:lnSpc>
              <a:spcBef>
                <a:spcPts val="29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Times New Roman"/>
                <a:cs typeface="Times New Roman"/>
              </a:rPr>
              <a:t>Operator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collects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jobs;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orders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efficiently;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time</a:t>
            </a:r>
            <a:endParaRPr sz="2400" dirty="0">
              <a:latin typeface="Times New Roman"/>
              <a:cs typeface="Times New Roman"/>
            </a:endParaRPr>
          </a:p>
          <a:p>
            <a:pPr marL="355600" marR="332105" indent="-342900" algn="just">
              <a:lnSpc>
                <a:spcPts val="2920"/>
              </a:lnSpc>
              <a:spcBef>
                <a:spcPts val="6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Times New Roman"/>
                <a:cs typeface="Times New Roman"/>
              </a:rPr>
              <a:t>Here </a:t>
            </a:r>
            <a:r>
              <a:rPr sz="2700" dirty="0">
                <a:latin typeface="Times New Roman"/>
                <a:cs typeface="Times New Roman"/>
              </a:rPr>
              <a:t>the </a:t>
            </a:r>
            <a:r>
              <a:rPr sz="2700" spc="-5" dirty="0">
                <a:latin typeface="Times New Roman"/>
                <a:cs typeface="Times New Roman"/>
              </a:rPr>
              <a:t>OS </a:t>
            </a:r>
            <a:r>
              <a:rPr sz="2700" dirty="0">
                <a:latin typeface="Times New Roman"/>
                <a:cs typeface="Times New Roman"/>
              </a:rPr>
              <a:t>is very </a:t>
            </a:r>
            <a:r>
              <a:rPr sz="2700" spc="-5" dirty="0">
                <a:latin typeface="Times New Roman"/>
                <a:cs typeface="Times New Roman"/>
              </a:rPr>
              <a:t>simple </a:t>
            </a:r>
            <a:r>
              <a:rPr sz="2700" dirty="0">
                <a:latin typeface="Times New Roman"/>
                <a:cs typeface="Times New Roman"/>
              </a:rPr>
              <a:t>and its only task is to </a:t>
            </a:r>
            <a:r>
              <a:rPr sz="2700" spc="-5" dirty="0">
                <a:latin typeface="Times New Roman"/>
                <a:cs typeface="Times New Roman"/>
              </a:rPr>
              <a:t>transfer </a:t>
            </a:r>
            <a:r>
              <a:rPr sz="2700" spc="-6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control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from</a:t>
            </a:r>
            <a:r>
              <a:rPr sz="2700" spc="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one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job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imes New Roman"/>
                <a:cs typeface="Times New Roman"/>
              </a:rPr>
              <a:t>another.</a:t>
            </a:r>
            <a:endParaRPr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4343" y="110287"/>
            <a:ext cx="3115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Batch</a:t>
            </a:r>
            <a:r>
              <a:rPr spc="-85" dirty="0"/>
              <a:t> </a:t>
            </a:r>
            <a:r>
              <a:rPr spc="-5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9166"/>
            <a:ext cx="59474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resident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memory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486150" y="2495550"/>
          <a:ext cx="1905000" cy="281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09700">
                <a:tc>
                  <a:txBody>
                    <a:bodyPr/>
                    <a:lstStyle/>
                    <a:p>
                      <a:pPr marL="479425" marR="4711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Op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ti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g  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(OS)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9700">
                <a:tc>
                  <a:txBody>
                    <a:bodyPr/>
                    <a:lstStyle/>
                    <a:p>
                      <a:pPr marL="581660" marR="523240" indent="-514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User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og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am 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Area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4343" y="152400"/>
            <a:ext cx="3115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Batch</a:t>
            </a:r>
            <a:r>
              <a:rPr spc="-85" dirty="0"/>
              <a:t> </a:t>
            </a:r>
            <a:r>
              <a:rPr spc="-5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981950" cy="461327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Advantages:</a:t>
            </a: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756920" algn="l"/>
              </a:tabLst>
            </a:pPr>
            <a:r>
              <a:rPr sz="2800" spc="-35" dirty="0">
                <a:latin typeface="Times New Roman"/>
                <a:cs typeface="Times New Roman"/>
              </a:rPr>
              <a:t>Average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setup </a:t>
            </a:r>
            <a:r>
              <a:rPr sz="2800" spc="-5" dirty="0">
                <a:latin typeface="Times New Roman"/>
                <a:cs typeface="Times New Roman"/>
              </a:rPr>
              <a:t>costs over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many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jobs</a:t>
            </a:r>
            <a:endParaRPr sz="2800" dirty="0">
              <a:latin typeface="Times New Roman"/>
              <a:cs typeface="Times New Roman"/>
            </a:endParaRPr>
          </a:p>
          <a:p>
            <a:pPr marL="843280" lvl="1" indent="-374015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843915" algn="l"/>
              </a:tabLst>
            </a:pPr>
            <a:r>
              <a:rPr sz="2800" spc="-10" dirty="0">
                <a:latin typeface="Times New Roman"/>
                <a:cs typeface="Times New Roman"/>
              </a:rPr>
              <a:t>Operator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more skilled at loading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tapes</a:t>
            </a:r>
            <a:endParaRPr sz="2800" dirty="0">
              <a:latin typeface="Times New Roman"/>
              <a:cs typeface="Times New Roman"/>
            </a:endParaRPr>
          </a:p>
          <a:p>
            <a:pPr marL="843280" lvl="1" indent="-374015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843915" algn="l"/>
              </a:tabLst>
            </a:pPr>
            <a:r>
              <a:rPr sz="2800" spc="-10" dirty="0">
                <a:latin typeface="Times New Roman"/>
                <a:cs typeface="Times New Roman"/>
              </a:rPr>
              <a:t>Keep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machine</a:t>
            </a:r>
            <a:r>
              <a:rPr sz="2800" spc="-5" dirty="0">
                <a:latin typeface="Times New Roman"/>
                <a:cs typeface="Times New Roman"/>
              </a:rPr>
              <a:t> busy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while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programmer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thinks</a:t>
            </a: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Problem:</a:t>
            </a:r>
            <a:endParaRPr sz="3200" dirty="0">
              <a:latin typeface="Times New Roman"/>
              <a:cs typeface="Times New Roman"/>
            </a:endParaRPr>
          </a:p>
          <a:p>
            <a:pPr marL="756285" marR="492759" indent="-287020">
              <a:lnSpc>
                <a:spcPct val="100000"/>
              </a:lnSpc>
              <a:spcBef>
                <a:spcPts val="680"/>
              </a:spcBef>
              <a:buFont typeface="Arial MT"/>
              <a:buChar char="–"/>
              <a:tabLst>
                <a:tab pos="843280" algn="l"/>
                <a:tab pos="843915" algn="l"/>
              </a:tabLst>
            </a:pPr>
            <a:r>
              <a:rPr dirty="0"/>
              <a:t>	</a:t>
            </a:r>
            <a:r>
              <a:rPr sz="2800" spc="-5" dirty="0">
                <a:latin typeface="Times New Roman"/>
                <a:cs typeface="Times New Roman"/>
              </a:rPr>
              <a:t>User must </a:t>
            </a:r>
            <a:r>
              <a:rPr sz="2800" spc="-10" dirty="0">
                <a:latin typeface="Times New Roman"/>
                <a:cs typeface="Times New Roman"/>
              </a:rPr>
              <a:t>wait </a:t>
            </a:r>
            <a:r>
              <a:rPr sz="2800" dirty="0">
                <a:latin typeface="Times New Roman"/>
                <a:cs typeface="Times New Roman"/>
              </a:rPr>
              <a:t>for results until </a:t>
            </a:r>
            <a:r>
              <a:rPr sz="2800" spc="-5" dirty="0">
                <a:latin typeface="Times New Roman"/>
                <a:cs typeface="Times New Roman"/>
              </a:rPr>
              <a:t>batch collected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submitted</a:t>
            </a:r>
            <a:endParaRPr sz="2800" dirty="0">
              <a:latin typeface="Times New Roman"/>
              <a:cs typeface="Times New Roman"/>
            </a:endParaRPr>
          </a:p>
          <a:p>
            <a:pPr marL="756285" marR="5080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If bug</a:t>
            </a:r>
            <a:r>
              <a:rPr sz="28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receive,</a:t>
            </a: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memory</a:t>
            </a:r>
            <a:r>
              <a:rPr sz="2800" i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8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28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dump; submit </a:t>
            </a:r>
            <a:r>
              <a:rPr sz="2800" i="1" spc="-6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job</a:t>
            </a:r>
            <a:r>
              <a:rPr sz="2800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again!)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144" y="207086"/>
            <a:ext cx="875065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3705" marR="5080" indent="-2961640" algn="ctr">
              <a:lnSpc>
                <a:spcPct val="100000"/>
              </a:lnSpc>
              <a:spcBef>
                <a:spcPts val="95"/>
              </a:spcBef>
            </a:pPr>
            <a:r>
              <a:rPr sz="3600" dirty="0"/>
              <a:t>Multiprogramming</a:t>
            </a:r>
            <a:r>
              <a:rPr sz="3600" spc="-35" dirty="0"/>
              <a:t> </a:t>
            </a:r>
            <a:r>
              <a:rPr sz="3600" dirty="0"/>
              <a:t>operating</a:t>
            </a:r>
            <a:r>
              <a:rPr sz="3600" spc="-35" dirty="0"/>
              <a:t> </a:t>
            </a:r>
            <a:r>
              <a:rPr sz="3600" spc="-5" dirty="0"/>
              <a:t>system</a:t>
            </a:r>
            <a:r>
              <a:rPr lang="en-US" sz="3600" spc="-5" dirty="0"/>
              <a:t> </a:t>
            </a:r>
            <a:r>
              <a:rPr sz="3600" spc="-5" dirty="0"/>
              <a:t>(MOS)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534985" y="1143000"/>
            <a:ext cx="8074025" cy="508793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7620" indent="-3429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latin typeface="Times New Roman"/>
                <a:cs typeface="Times New Roman"/>
              </a:rPr>
              <a:t>A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job</a:t>
            </a:r>
            <a:r>
              <a:rPr sz="2500" spc="1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pool</a:t>
            </a:r>
            <a:r>
              <a:rPr sz="2500" spc="2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on</a:t>
            </a:r>
            <a:r>
              <a:rPr sz="2500" spc="1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2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disk</a:t>
            </a:r>
            <a:r>
              <a:rPr sz="2500" spc="204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consist</a:t>
            </a:r>
            <a:r>
              <a:rPr sz="2500" spc="2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2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</a:t>
            </a:r>
            <a:r>
              <a:rPr sz="2500" spc="2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number</a:t>
            </a:r>
            <a:r>
              <a:rPr sz="2500" spc="2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204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jobs</a:t>
            </a:r>
            <a:r>
              <a:rPr sz="2500" spc="2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that</a:t>
            </a:r>
            <a:r>
              <a:rPr sz="2500" spc="20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ready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 be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executed.</a:t>
            </a:r>
            <a:endParaRPr sz="2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10" dirty="0">
                <a:latin typeface="Times New Roman"/>
                <a:cs typeface="Times New Roman"/>
              </a:rPr>
              <a:t>Subset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of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these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jobs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reside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memory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during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execution.</a:t>
            </a:r>
            <a:endParaRPr sz="25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4965" algn="l"/>
                <a:tab pos="355600" algn="l"/>
                <a:tab pos="3924935" algn="l"/>
              </a:tabLst>
            </a:pPr>
            <a:r>
              <a:rPr sz="2500" spc="-10" dirty="0">
                <a:latin typeface="Times New Roman"/>
                <a:cs typeface="Times New Roman"/>
              </a:rPr>
              <a:t>OS</a:t>
            </a:r>
            <a:r>
              <a:rPr sz="2500" spc="30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picks</a:t>
            </a:r>
            <a:r>
              <a:rPr sz="2500" spc="305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one</a:t>
            </a:r>
            <a:r>
              <a:rPr sz="2500" spc="3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job</a:t>
            </a:r>
            <a:r>
              <a:rPr sz="2500" spc="3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‘x’</a:t>
            </a:r>
            <a:r>
              <a:rPr sz="2500" spc="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and	assign</a:t>
            </a:r>
            <a:r>
              <a:rPr sz="2500" spc="3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it</a:t>
            </a:r>
            <a:r>
              <a:rPr sz="2500" spc="29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28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CPU</a:t>
            </a:r>
            <a:r>
              <a:rPr sz="2500" spc="29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3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executes</a:t>
            </a:r>
            <a:r>
              <a:rPr sz="2500" spc="295" dirty="0">
                <a:latin typeface="Times New Roman"/>
                <a:cs typeface="Times New Roman"/>
              </a:rPr>
              <a:t> </a:t>
            </a:r>
            <a:r>
              <a:rPr sz="2500" spc="5" dirty="0">
                <a:latin typeface="Times New Roman"/>
                <a:cs typeface="Times New Roman"/>
              </a:rPr>
              <a:t>in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35" dirty="0">
                <a:latin typeface="Times New Roman"/>
                <a:cs typeface="Times New Roman"/>
              </a:rPr>
              <a:t>memory.</a:t>
            </a:r>
            <a:endParaRPr sz="2500" dirty="0">
              <a:latin typeface="Times New Roman"/>
              <a:cs typeface="Times New Roman"/>
            </a:endParaRPr>
          </a:p>
          <a:p>
            <a:pPr marL="355600" marR="7620" indent="-3429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4965" algn="l"/>
                <a:tab pos="355600" algn="l"/>
                <a:tab pos="1251585" algn="l"/>
                <a:tab pos="1852295" algn="l"/>
                <a:tab pos="2395855" algn="l"/>
                <a:tab pos="2693670" algn="l"/>
                <a:tab pos="3556000" algn="l"/>
                <a:tab pos="3995420" algn="l"/>
                <a:tab pos="4556125" algn="l"/>
                <a:tab pos="5897245" algn="l"/>
                <a:tab pos="6284595" algn="l"/>
                <a:tab pos="7670165" algn="l"/>
              </a:tabLst>
            </a:pPr>
            <a:r>
              <a:rPr sz="2500" spc="-5" dirty="0">
                <a:latin typeface="Times New Roman"/>
                <a:cs typeface="Times New Roman"/>
              </a:rPr>
              <a:t>W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500" spc="-5" dirty="0">
                <a:latin typeface="Times New Roman"/>
                <a:cs typeface="Times New Roman"/>
              </a:rPr>
              <a:t>en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t</a:t>
            </a:r>
            <a:r>
              <a:rPr sz="2500" spc="5" dirty="0">
                <a:latin typeface="Times New Roman"/>
                <a:cs typeface="Times New Roman"/>
              </a:rPr>
              <a:t>h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job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x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5" dirty="0">
                <a:latin typeface="Times New Roman"/>
                <a:cs typeface="Times New Roman"/>
              </a:rPr>
              <a:t>n</a:t>
            </a:r>
            <a:r>
              <a:rPr sz="2500" spc="-5" dirty="0">
                <a:latin typeface="Times New Roman"/>
                <a:cs typeface="Times New Roman"/>
              </a:rPr>
              <a:t>e</a:t>
            </a:r>
            <a:r>
              <a:rPr sz="2500" spc="-15" dirty="0">
                <a:latin typeface="Times New Roman"/>
                <a:cs typeface="Times New Roman"/>
              </a:rPr>
              <a:t>e</a:t>
            </a:r>
            <a:r>
              <a:rPr sz="2500" spc="5" dirty="0">
                <a:latin typeface="Times New Roman"/>
                <a:cs typeface="Times New Roman"/>
              </a:rPr>
              <a:t>d</a:t>
            </a:r>
            <a:r>
              <a:rPr sz="2500" spc="-5" dirty="0">
                <a:latin typeface="Times New Roman"/>
                <a:cs typeface="Times New Roman"/>
              </a:rPr>
              <a:t>s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10" dirty="0">
                <a:latin typeface="Times New Roman"/>
                <a:cs typeface="Times New Roman"/>
              </a:rPr>
              <a:t>a</a:t>
            </a:r>
            <a:r>
              <a:rPr sz="2500" spc="-5" dirty="0">
                <a:latin typeface="Times New Roman"/>
                <a:cs typeface="Times New Roman"/>
              </a:rPr>
              <a:t>n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I/O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5" dirty="0">
                <a:latin typeface="Times New Roman"/>
                <a:cs typeface="Times New Roman"/>
              </a:rPr>
              <a:t>o</a:t>
            </a:r>
            <a:r>
              <a:rPr sz="2500" spc="-5" dirty="0">
                <a:latin typeface="Times New Roman"/>
                <a:cs typeface="Times New Roman"/>
              </a:rPr>
              <a:t>p</a:t>
            </a:r>
            <a:r>
              <a:rPr sz="2500" dirty="0">
                <a:latin typeface="Times New Roman"/>
                <a:cs typeface="Times New Roman"/>
              </a:rPr>
              <a:t>e</a:t>
            </a:r>
            <a:r>
              <a:rPr sz="2500" spc="-5" dirty="0">
                <a:latin typeface="Times New Roman"/>
                <a:cs typeface="Times New Roman"/>
              </a:rPr>
              <a:t>rat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500" spc="-5" dirty="0">
                <a:latin typeface="Times New Roman"/>
                <a:cs typeface="Times New Roman"/>
              </a:rPr>
              <a:t>on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15" dirty="0">
                <a:latin typeface="Times New Roman"/>
                <a:cs typeface="Times New Roman"/>
              </a:rPr>
              <a:t>m</a:t>
            </a:r>
            <a:r>
              <a:rPr sz="2500" spc="5" dirty="0">
                <a:latin typeface="Times New Roman"/>
                <a:cs typeface="Times New Roman"/>
              </a:rPr>
              <a:t>pl</a:t>
            </a:r>
            <a:r>
              <a:rPr sz="2500" spc="-5" dirty="0">
                <a:latin typeface="Times New Roman"/>
                <a:cs typeface="Times New Roman"/>
              </a:rPr>
              <a:t>e</a:t>
            </a:r>
            <a:r>
              <a:rPr sz="2500" dirty="0">
                <a:latin typeface="Times New Roman"/>
                <a:cs typeface="Times New Roman"/>
              </a:rPr>
              <a:t>t</a:t>
            </a:r>
            <a:r>
              <a:rPr sz="2500" spc="-5" dirty="0">
                <a:latin typeface="Times New Roman"/>
                <a:cs typeface="Times New Roman"/>
              </a:rPr>
              <a:t>e,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" dirty="0">
                <a:latin typeface="Times New Roman"/>
                <a:cs typeface="Times New Roman"/>
              </a:rPr>
              <a:t>the  CPU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idle</a:t>
            </a:r>
            <a:r>
              <a:rPr sz="2500" spc="-5" dirty="0">
                <a:latin typeface="Times New Roman"/>
                <a:cs typeface="Times New Roman"/>
              </a:rPr>
              <a:t>.</a:t>
            </a:r>
            <a:endParaRPr sz="2500" dirty="0">
              <a:latin typeface="Times New Roman"/>
              <a:cs typeface="Times New Roman"/>
            </a:endParaRPr>
          </a:p>
          <a:p>
            <a:pPr marL="355600" marR="6350" indent="-3429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4965" algn="l"/>
                <a:tab pos="355600" algn="l"/>
                <a:tab pos="2847340" algn="l"/>
              </a:tabLst>
            </a:pPr>
            <a:r>
              <a:rPr sz="2500" spc="-5" dirty="0">
                <a:latin typeface="Times New Roman"/>
                <a:cs typeface="Times New Roman"/>
              </a:rPr>
              <a:t>Now</a:t>
            </a:r>
            <a:r>
              <a:rPr sz="2500" spc="3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OS</a:t>
            </a:r>
            <a:r>
              <a:rPr sz="2500" spc="36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switches	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36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CPU</a:t>
            </a:r>
            <a:r>
              <a:rPr sz="2500" spc="3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3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another</a:t>
            </a:r>
            <a:r>
              <a:rPr sz="2500" spc="3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job</a:t>
            </a:r>
            <a:r>
              <a:rPr sz="2500" spc="3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(y)</a:t>
            </a:r>
            <a:r>
              <a:rPr sz="2500" spc="37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3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utilize</a:t>
            </a:r>
            <a:r>
              <a:rPr sz="2500" spc="360" dirty="0">
                <a:latin typeface="Times New Roman"/>
                <a:cs typeface="Times New Roman"/>
              </a:rPr>
              <a:t> </a:t>
            </a:r>
            <a:r>
              <a:rPr sz="2500" spc="5" dirty="0">
                <a:latin typeface="Times New Roman"/>
                <a:cs typeface="Times New Roman"/>
              </a:rPr>
              <a:t>it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until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previous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job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(x)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resume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(ready)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 execute.</a:t>
            </a:r>
            <a:endParaRPr sz="2500" dirty="0">
              <a:latin typeface="Times New Roman"/>
              <a:cs typeface="Times New Roman"/>
            </a:endParaRPr>
          </a:p>
          <a:p>
            <a:pPr marL="355600" marR="8255" indent="-34290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latin typeface="Times New Roman"/>
                <a:cs typeface="Times New Roman"/>
              </a:rPr>
              <a:t>As</a:t>
            </a:r>
            <a:r>
              <a:rPr sz="2500" spc="2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long</a:t>
            </a:r>
            <a:r>
              <a:rPr sz="2500" spc="2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as</a:t>
            </a:r>
            <a:r>
              <a:rPr sz="2500" spc="2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there</a:t>
            </a:r>
            <a:r>
              <a:rPr sz="2500" spc="2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are</a:t>
            </a:r>
            <a:r>
              <a:rPr sz="2500" spc="2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jobs</a:t>
            </a:r>
            <a:r>
              <a:rPr sz="2500" spc="2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28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memory</a:t>
            </a:r>
            <a:r>
              <a:rPr sz="2500" spc="26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waiting</a:t>
            </a:r>
            <a:r>
              <a:rPr sz="2500" spc="2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254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CPU,</a:t>
            </a:r>
            <a:r>
              <a:rPr sz="2500" spc="265" dirty="0">
                <a:latin typeface="Times New Roman"/>
                <a:cs typeface="Times New Roman"/>
              </a:rPr>
              <a:t> </a:t>
            </a:r>
            <a:r>
              <a:rPr sz="2500" spc="5" dirty="0">
                <a:latin typeface="Times New Roman"/>
                <a:cs typeface="Times New Roman"/>
              </a:rPr>
              <a:t>the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CPU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never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idle.</a:t>
            </a:r>
            <a:endParaRPr sz="2500" dirty="0">
              <a:latin typeface="Times New Roman"/>
              <a:cs typeface="Times New Roman"/>
            </a:endParaRPr>
          </a:p>
          <a:p>
            <a:pPr marL="355600" marR="7620" indent="-3429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latin typeface="Times New Roman"/>
                <a:cs typeface="Times New Roman"/>
              </a:rPr>
              <a:t>Choosing </a:t>
            </a:r>
            <a:r>
              <a:rPr sz="2500" dirty="0">
                <a:latin typeface="Times New Roman"/>
                <a:cs typeface="Times New Roman"/>
              </a:rPr>
              <a:t>one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out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several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jobs in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memory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execution </a:t>
            </a:r>
            <a:r>
              <a:rPr sz="2500" spc="-5" dirty="0">
                <a:latin typeface="Times New Roman"/>
                <a:cs typeface="Times New Roman"/>
              </a:rPr>
              <a:t>is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called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b="1" spc="-5" dirty="0">
                <a:latin typeface="Times New Roman"/>
                <a:cs typeface="Times New Roman"/>
              </a:rPr>
              <a:t>CPU</a:t>
            </a:r>
            <a:r>
              <a:rPr sz="2500" b="1" spc="-10" dirty="0">
                <a:latin typeface="Times New Roman"/>
                <a:cs typeface="Times New Roman"/>
              </a:rPr>
              <a:t> scheduling</a:t>
            </a:r>
            <a:r>
              <a:rPr sz="2500" b="1" spc="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(CPU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execute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jobs)</a:t>
            </a:r>
            <a:endParaRPr sz="2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6385" y="152400"/>
            <a:ext cx="60350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Multiprogramming</a:t>
            </a:r>
            <a:r>
              <a:rPr spc="-114" dirty="0"/>
              <a:t> </a:t>
            </a:r>
            <a:r>
              <a:rPr dirty="0"/>
              <a:t>(MOS)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4488" y="2009351"/>
            <a:ext cx="2987340" cy="22808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0739" y="4648200"/>
            <a:ext cx="67735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New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OS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functionality</a:t>
            </a:r>
            <a:endParaRPr sz="2400" dirty="0">
              <a:latin typeface="Times New Roman"/>
              <a:cs typeface="Times New Roman"/>
            </a:endParaRPr>
          </a:p>
          <a:p>
            <a:pPr marL="193675" indent="-181610">
              <a:lnSpc>
                <a:spcPct val="100000"/>
              </a:lnSpc>
              <a:buChar char="•"/>
              <a:tabLst>
                <a:tab pos="194310" algn="l"/>
              </a:tabLst>
            </a:pPr>
            <a:r>
              <a:rPr sz="2400" spc="-5" dirty="0">
                <a:latin typeface="Times New Roman"/>
                <a:cs typeface="Times New Roman"/>
              </a:rPr>
              <a:t>Job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policies</a:t>
            </a:r>
          </a:p>
          <a:p>
            <a:pPr marL="120014" indent="-107950">
              <a:lnSpc>
                <a:spcPct val="100000"/>
              </a:lnSpc>
              <a:buChar char="•"/>
              <a:tabLst>
                <a:tab pos="120650" algn="l"/>
              </a:tabLst>
            </a:pPr>
            <a:r>
              <a:rPr sz="2400" spc="-5" dirty="0">
                <a:latin typeface="Times New Roman"/>
                <a:cs typeface="Times New Roman"/>
              </a:rPr>
              <a:t>Memory management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protection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(virtual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memory</a:t>
            </a:r>
            <a:r>
              <a:rPr sz="1800" b="1" spc="-10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93444" y="1388109"/>
            <a:ext cx="55505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What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main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function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 </a:t>
            </a:r>
            <a:r>
              <a:rPr sz="2000" b="1" spc="-5" dirty="0">
                <a:latin typeface="Calibri"/>
                <a:cs typeface="Calibri"/>
              </a:rPr>
              <a:t>Multiprogramming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OS?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910" y="152400"/>
            <a:ext cx="36861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Timesharing</a:t>
            </a:r>
            <a:r>
              <a:rPr spc="-80" dirty="0"/>
              <a:t> </a:t>
            </a:r>
            <a:r>
              <a:rPr spc="-5" dirty="0"/>
              <a:t>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9200"/>
            <a:ext cx="8073390" cy="495490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Problem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MOS:</a:t>
            </a:r>
            <a:endParaRPr sz="3200">
              <a:latin typeface="Times New Roman"/>
              <a:cs typeface="Times New Roman"/>
            </a:endParaRPr>
          </a:p>
          <a:p>
            <a:pPr marL="756285" marR="6350" lvl="1" indent="-287020" algn="just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increasing number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users </a:t>
            </a:r>
            <a:r>
              <a:rPr sz="2800" spc="-10" dirty="0">
                <a:latin typeface="Times New Roman"/>
                <a:cs typeface="Times New Roman"/>
              </a:rPr>
              <a:t>who want </a:t>
            </a:r>
            <a:r>
              <a:rPr sz="2800" spc="-5" dirty="0">
                <a:latin typeface="Times New Roman"/>
                <a:cs typeface="Times New Roman"/>
              </a:rPr>
              <a:t>to </a:t>
            </a:r>
            <a:r>
              <a:rPr sz="2800" spc="-10" dirty="0">
                <a:latin typeface="Times New Roman"/>
                <a:cs typeface="Times New Roman"/>
              </a:rPr>
              <a:t>interact 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programs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while they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dirty="0">
                <a:latin typeface="Times New Roman"/>
                <a:cs typeface="Times New Roman"/>
              </a:rPr>
              <a:t> running.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humans’</a:t>
            </a:r>
            <a:r>
              <a:rPr sz="2800" spc="-2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 expensive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don’t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want</a:t>
            </a:r>
            <a:r>
              <a:rPr sz="2800" spc="-5" dirty="0">
                <a:latin typeface="Times New Roman"/>
                <a:cs typeface="Times New Roman"/>
              </a:rPr>
              <a:t> 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wait.</a:t>
            </a:r>
            <a:endParaRPr sz="280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Solution</a:t>
            </a:r>
            <a:endParaRPr sz="3200">
              <a:latin typeface="Times New Roman"/>
              <a:cs typeface="Times New Roman"/>
            </a:endParaRPr>
          </a:p>
          <a:p>
            <a:pPr marL="756285" algn="just">
              <a:lnSpc>
                <a:spcPct val="100000"/>
              </a:lnSpc>
              <a:spcBef>
                <a:spcPts val="680"/>
              </a:spcBef>
            </a:pPr>
            <a:r>
              <a:rPr sz="2800" spc="-15" dirty="0">
                <a:latin typeface="Times New Roman"/>
                <a:cs typeface="Times New Roman"/>
              </a:rPr>
              <a:t>-Timesharing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variant 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Multiprogramming)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i="1" dirty="0">
                <a:latin typeface="Times New Roman"/>
                <a:cs typeface="Times New Roman"/>
              </a:rPr>
              <a:t>The </a:t>
            </a:r>
            <a:r>
              <a:rPr sz="2800" i="1" spc="-5" dirty="0">
                <a:latin typeface="Times New Roman"/>
                <a:cs typeface="Times New Roman"/>
              </a:rPr>
              <a:t>CPU executes multiple jobs </a:t>
            </a:r>
            <a:r>
              <a:rPr sz="2800" i="1" dirty="0">
                <a:latin typeface="Times New Roman"/>
                <a:cs typeface="Times New Roman"/>
              </a:rPr>
              <a:t>by </a:t>
            </a:r>
            <a:r>
              <a:rPr sz="2800" i="1" spc="-5" dirty="0">
                <a:latin typeface="Times New Roman"/>
                <a:cs typeface="Times New Roman"/>
              </a:rPr>
              <a:t>switching among </a:t>
            </a:r>
            <a:r>
              <a:rPr sz="2800" i="1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them, </a:t>
            </a:r>
            <a:r>
              <a:rPr sz="2800" i="1" dirty="0">
                <a:latin typeface="Times New Roman"/>
                <a:cs typeface="Times New Roman"/>
              </a:rPr>
              <a:t>but the </a:t>
            </a:r>
            <a:r>
              <a:rPr sz="2800" i="1" spc="-10" dirty="0">
                <a:latin typeface="Times New Roman"/>
                <a:cs typeface="Times New Roman"/>
              </a:rPr>
              <a:t>switches </a:t>
            </a:r>
            <a:r>
              <a:rPr sz="2800" i="1" spc="-5" dirty="0">
                <a:latin typeface="Times New Roman"/>
                <a:cs typeface="Times New Roman"/>
              </a:rPr>
              <a:t>occurs so </a:t>
            </a:r>
            <a:r>
              <a:rPr sz="2800" i="1" spc="-15" dirty="0">
                <a:latin typeface="Times New Roman"/>
                <a:cs typeface="Times New Roman"/>
              </a:rPr>
              <a:t>frequently </a:t>
            </a:r>
            <a:r>
              <a:rPr sz="2800" i="1" spc="-5" dirty="0">
                <a:latin typeface="Times New Roman"/>
                <a:cs typeface="Times New Roman"/>
              </a:rPr>
              <a:t>that the </a:t>
            </a:r>
            <a:r>
              <a:rPr sz="2800" i="1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user</a:t>
            </a:r>
            <a:r>
              <a:rPr sz="2800" i="1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can</a:t>
            </a:r>
            <a:r>
              <a:rPr sz="2800" i="1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interact</a:t>
            </a:r>
            <a:r>
              <a:rPr sz="2800" i="1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with</a:t>
            </a:r>
            <a:r>
              <a:rPr sz="2800" i="1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each</a:t>
            </a:r>
            <a:r>
              <a:rPr sz="2800" i="1" dirty="0">
                <a:latin typeface="Times New Roman"/>
                <a:cs typeface="Times New Roman"/>
              </a:rPr>
              <a:t> </a:t>
            </a:r>
            <a:r>
              <a:rPr sz="2800" i="1" spc="-20" dirty="0">
                <a:latin typeface="Times New Roman"/>
                <a:cs typeface="Times New Roman"/>
              </a:rPr>
              <a:t>program</a:t>
            </a:r>
            <a:r>
              <a:rPr sz="2800" i="1" spc="-1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while</a:t>
            </a:r>
            <a:r>
              <a:rPr sz="2800" i="1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it</a:t>
            </a:r>
            <a:r>
              <a:rPr sz="2800" i="1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is </a:t>
            </a:r>
            <a:r>
              <a:rPr sz="2800" i="1" dirty="0">
                <a:latin typeface="Times New Roman"/>
                <a:cs typeface="Times New Roman"/>
              </a:rPr>
              <a:t> running.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8701" y="152400"/>
            <a:ext cx="55518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Time</a:t>
            </a:r>
            <a:r>
              <a:rPr spc="-15" dirty="0"/>
              <a:t> </a:t>
            </a:r>
            <a:r>
              <a:rPr spc="-5" dirty="0"/>
              <a:t>sharing</a:t>
            </a:r>
            <a:r>
              <a:rPr spc="-35" dirty="0"/>
              <a:t> </a:t>
            </a:r>
            <a:r>
              <a:rPr dirty="0"/>
              <a:t>OS</a:t>
            </a:r>
            <a:r>
              <a:rPr spc="-10" dirty="0"/>
              <a:t> </a:t>
            </a:r>
            <a:r>
              <a:rPr dirty="0"/>
              <a:t>(MOS)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8072755" cy="450723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spc="-5" dirty="0">
                <a:latin typeface="Times New Roman"/>
                <a:cs typeface="Times New Roman"/>
              </a:rPr>
              <a:t>It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logical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extension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of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Multiprogramming</a:t>
            </a:r>
            <a:endParaRPr sz="30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OS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provides</a:t>
            </a:r>
            <a:r>
              <a:rPr sz="3000" dirty="0">
                <a:latin typeface="Times New Roman"/>
                <a:cs typeface="Times New Roman"/>
              </a:rPr>
              <a:t> each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time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slice(slot</a:t>
            </a:r>
            <a:r>
              <a:rPr sz="3000" spc="7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share) </a:t>
            </a:r>
            <a:r>
              <a:rPr sz="3000" dirty="0">
                <a:latin typeface="Times New Roman"/>
                <a:cs typeface="Times New Roman"/>
              </a:rPr>
              <a:t>and each process execute for one time </a:t>
            </a:r>
            <a:r>
              <a:rPr sz="3000" spc="-5" dirty="0">
                <a:latin typeface="Times New Roman"/>
                <a:cs typeface="Times New Roman"/>
              </a:rPr>
              <a:t>slot 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in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round.</a:t>
            </a:r>
            <a:endParaRPr sz="3000" dirty="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The CPU </a:t>
            </a:r>
            <a:r>
              <a:rPr sz="3000" spc="-5" dirty="0">
                <a:latin typeface="Times New Roman"/>
                <a:cs typeface="Times New Roman"/>
              </a:rPr>
              <a:t>switches </a:t>
            </a:r>
            <a:r>
              <a:rPr sz="3000" dirty="0">
                <a:latin typeface="Times New Roman"/>
                <a:cs typeface="Times New Roman"/>
              </a:rPr>
              <a:t>from one job </a:t>
            </a:r>
            <a:r>
              <a:rPr sz="3000" spc="-5" dirty="0">
                <a:latin typeface="Times New Roman"/>
                <a:cs typeface="Times New Roman"/>
              </a:rPr>
              <a:t>to </a:t>
            </a:r>
            <a:r>
              <a:rPr sz="3000" dirty="0">
                <a:latin typeface="Times New Roman"/>
                <a:cs typeface="Times New Roman"/>
              </a:rPr>
              <a:t>another at the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end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of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time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slice.</a:t>
            </a:r>
            <a:endParaRPr sz="3000" dirty="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switching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is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so</a:t>
            </a:r>
            <a:r>
              <a:rPr sz="3000" dirty="0">
                <a:latin typeface="Times New Roman"/>
                <a:cs typeface="Times New Roman"/>
              </a:rPr>
              <a:t> fast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user</a:t>
            </a:r>
            <a:r>
              <a:rPr sz="3000" dirty="0">
                <a:latin typeface="Times New Roman"/>
                <a:cs typeface="Times New Roman"/>
              </a:rPr>
              <a:t> gets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illusion that the CPU </a:t>
            </a:r>
            <a:r>
              <a:rPr sz="3000" spc="-5" dirty="0">
                <a:latin typeface="Times New Roman"/>
                <a:cs typeface="Times New Roman"/>
              </a:rPr>
              <a:t>is </a:t>
            </a:r>
            <a:r>
              <a:rPr sz="3000" dirty="0">
                <a:latin typeface="Times New Roman"/>
                <a:cs typeface="Times New Roman"/>
              </a:rPr>
              <a:t>executing only one </a:t>
            </a:r>
            <a:r>
              <a:rPr sz="3000" spc="-15" dirty="0">
                <a:latin typeface="Times New Roman"/>
                <a:cs typeface="Times New Roman"/>
              </a:rPr>
              <a:t>user’s 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1729" y="152400"/>
            <a:ext cx="5862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Timesharing</a:t>
            </a:r>
            <a:r>
              <a:rPr spc="-75" dirty="0"/>
              <a:t> </a:t>
            </a:r>
            <a:r>
              <a:rPr dirty="0"/>
              <a:t>OS(cont…..)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9200"/>
            <a:ext cx="7393305" cy="428434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Goal:</a:t>
            </a:r>
          </a:p>
          <a:p>
            <a:pPr marL="756285" lvl="1" indent="-28702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Improve</a:t>
            </a:r>
            <a:r>
              <a:rPr sz="2800" spc="-10" dirty="0">
                <a:latin typeface="Times New Roman"/>
                <a:cs typeface="Times New Roman"/>
              </a:rPr>
              <a:t> user’s </a:t>
            </a:r>
            <a:r>
              <a:rPr sz="2800" spc="-5" dirty="0">
                <a:latin typeface="Times New Roman"/>
                <a:cs typeface="Times New Roman"/>
              </a:rPr>
              <a:t>response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(interaction)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Advantage:</a:t>
            </a:r>
          </a:p>
          <a:p>
            <a:pPr marL="756285" marR="5080" lvl="1" indent="-287020">
              <a:lnSpc>
                <a:spcPts val="3020"/>
              </a:lnSpc>
              <a:spcBef>
                <a:spcPts val="725"/>
              </a:spcBef>
              <a:buFont typeface="Arial MT"/>
              <a:buChar char="–"/>
              <a:tabLst>
                <a:tab pos="843280" algn="l"/>
                <a:tab pos="843915" algn="l"/>
              </a:tabLst>
            </a:pPr>
            <a:r>
              <a:rPr dirty="0"/>
              <a:t>	</a:t>
            </a:r>
            <a:r>
              <a:rPr sz="2800" b="1" spc="-10" dirty="0">
                <a:latin typeface="Times New Roman"/>
                <a:cs typeface="Times New Roman"/>
              </a:rPr>
              <a:t>Users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easily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submit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jobs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 </a:t>
            </a:r>
            <a:r>
              <a:rPr sz="2800" b="1" spc="-5" dirty="0">
                <a:latin typeface="Times New Roman"/>
                <a:cs typeface="Times New Roman"/>
              </a:rPr>
              <a:t>get immediate </a:t>
            </a:r>
            <a:r>
              <a:rPr sz="2800" b="1" spc="-68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feedback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New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functionality</a:t>
            </a:r>
          </a:p>
          <a:p>
            <a:pPr marL="756285" marR="1022985" lvl="1" indent="-287020">
              <a:lnSpc>
                <a:spcPts val="3020"/>
              </a:lnSpc>
              <a:spcBef>
                <a:spcPts val="72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More complex job scheduling, </a:t>
            </a:r>
            <a:r>
              <a:rPr sz="2800" spc="-10" dirty="0">
                <a:latin typeface="Times New Roman"/>
                <a:cs typeface="Times New Roman"/>
              </a:rPr>
              <a:t>memory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</a:t>
            </a:r>
            <a:endParaRPr sz="28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Concurrency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synchronization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3134" y="152400"/>
            <a:ext cx="6638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Personal</a:t>
            </a:r>
            <a:r>
              <a:rPr spc="-60" dirty="0"/>
              <a:t> </a:t>
            </a:r>
            <a:r>
              <a:rPr dirty="0"/>
              <a:t>Computers</a:t>
            </a:r>
            <a:r>
              <a:rPr spc="-45" dirty="0"/>
              <a:t> </a:t>
            </a:r>
            <a:r>
              <a:rPr spc="-5" dirty="0"/>
              <a:t>(PC-OS)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770"/>
            <a:ext cx="8074025" cy="4329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55600" marR="8890" indent="-342900" algn="just">
              <a:lnSpc>
                <a:spcPts val="2920"/>
              </a:lnSpc>
              <a:spcBef>
                <a:spcPts val="46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The </a:t>
            </a:r>
            <a:r>
              <a:rPr sz="2700" spc="-5" dirty="0">
                <a:latin typeface="Times New Roman"/>
                <a:cs typeface="Times New Roman"/>
              </a:rPr>
              <a:t>main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mode</a:t>
            </a:r>
            <a:r>
              <a:rPr sz="2700" dirty="0">
                <a:latin typeface="Times New Roman"/>
                <a:cs typeface="Times New Roman"/>
              </a:rPr>
              <a:t> of use of </a:t>
            </a:r>
            <a:r>
              <a:rPr sz="2700" spc="-5" dirty="0">
                <a:latin typeface="Times New Roman"/>
                <a:cs typeface="Times New Roman"/>
              </a:rPr>
              <a:t>PC </a:t>
            </a:r>
            <a:r>
              <a:rPr sz="2700" dirty="0">
                <a:latin typeface="Times New Roman"/>
                <a:cs typeface="Times New Roman"/>
              </a:rPr>
              <a:t>is by a </a:t>
            </a:r>
            <a:r>
              <a:rPr sz="2700" spc="-5" dirty="0">
                <a:latin typeface="Times New Roman"/>
                <a:cs typeface="Times New Roman"/>
              </a:rPr>
              <a:t>single</a:t>
            </a:r>
            <a:r>
              <a:rPr sz="2700" spc="6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user( </a:t>
            </a:r>
            <a:r>
              <a:rPr sz="2700" spc="-15" dirty="0">
                <a:latin typeface="Times New Roman"/>
                <a:cs typeface="Times New Roman"/>
              </a:rPr>
              <a:t>as 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name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personal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computer).</a:t>
            </a:r>
          </a:p>
          <a:p>
            <a:pPr marL="355600" indent="-342900" algn="just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System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PC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consist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two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parts:</a:t>
            </a:r>
          </a:p>
          <a:p>
            <a:pPr marL="756285" lvl="1" indent="-287020" algn="just">
              <a:lnSpc>
                <a:spcPct val="100000"/>
              </a:lnSpc>
              <a:spcBef>
                <a:spcPts val="30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Times New Roman"/>
                <a:cs typeface="Times New Roman"/>
              </a:rPr>
              <a:t>BIOS(basic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system)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which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stored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ROM.</a:t>
            </a:r>
            <a:endParaRPr sz="2400" dirty="0">
              <a:latin typeface="Times New Roman"/>
              <a:cs typeface="Times New Roman"/>
            </a:endParaRPr>
          </a:p>
          <a:p>
            <a:pPr marL="756285" marR="5080" lvl="1" indent="-287020" algn="just">
              <a:lnSpc>
                <a:spcPts val="2590"/>
              </a:lnSpc>
              <a:spcBef>
                <a:spcPts val="61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The other </a:t>
            </a:r>
            <a:r>
              <a:rPr sz="2400" spc="-5" dirty="0">
                <a:latin typeface="Times New Roman"/>
                <a:cs typeface="Times New Roman"/>
              </a:rPr>
              <a:t>part called DOS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stored in </a:t>
            </a:r>
            <a:r>
              <a:rPr sz="2400" dirty="0">
                <a:latin typeface="Times New Roman"/>
                <a:cs typeface="Times New Roman"/>
              </a:rPr>
              <a:t>a floppy disk or hard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disk.</a:t>
            </a:r>
          </a:p>
          <a:p>
            <a:pPr marL="355600" marR="6350" indent="-342900" algn="just">
              <a:lnSpc>
                <a:spcPct val="9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BIOS does </a:t>
            </a:r>
            <a:r>
              <a:rPr sz="2700" spc="-5" dirty="0">
                <a:latin typeface="Times New Roman"/>
                <a:cs typeface="Times New Roman"/>
              </a:rPr>
              <a:t>what </a:t>
            </a:r>
            <a:r>
              <a:rPr sz="2700" dirty="0">
                <a:latin typeface="Times New Roman"/>
                <a:cs typeface="Times New Roman"/>
              </a:rPr>
              <a:t>is known is power on self test. </a:t>
            </a:r>
            <a:r>
              <a:rPr sz="2700" spc="-10" dirty="0">
                <a:latin typeface="Times New Roman"/>
                <a:cs typeface="Times New Roman"/>
              </a:rPr>
              <a:t>Having 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done this </a:t>
            </a:r>
            <a:r>
              <a:rPr sz="2700" spc="-5" dirty="0">
                <a:latin typeface="Times New Roman"/>
                <a:cs typeface="Times New Roman"/>
              </a:rPr>
              <a:t>it </a:t>
            </a:r>
            <a:r>
              <a:rPr sz="2700" dirty="0">
                <a:latin typeface="Times New Roman"/>
                <a:cs typeface="Times New Roman"/>
              </a:rPr>
              <a:t>reads </a:t>
            </a:r>
            <a:r>
              <a:rPr sz="2700" spc="-5" dirty="0">
                <a:latin typeface="Times New Roman"/>
                <a:cs typeface="Times New Roman"/>
              </a:rPr>
              <a:t>small </a:t>
            </a:r>
            <a:r>
              <a:rPr sz="2700" dirty="0">
                <a:latin typeface="Times New Roman"/>
                <a:cs typeface="Times New Roman"/>
              </a:rPr>
              <a:t>portion of </a:t>
            </a:r>
            <a:r>
              <a:rPr sz="2700" spc="-5" dirty="0">
                <a:latin typeface="Times New Roman"/>
                <a:cs typeface="Times New Roman"/>
              </a:rPr>
              <a:t>OS from </a:t>
            </a:r>
            <a:r>
              <a:rPr sz="2700" dirty="0">
                <a:latin typeface="Times New Roman"/>
                <a:cs typeface="Times New Roman"/>
              </a:rPr>
              <a:t>the disk 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known</a:t>
            </a:r>
            <a:r>
              <a:rPr sz="2700" spc="5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as</a:t>
            </a:r>
            <a:r>
              <a:rPr sz="2700" spc="59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boot</a:t>
            </a:r>
            <a:r>
              <a:rPr sz="2700" spc="6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portion.</a:t>
            </a:r>
            <a:r>
              <a:rPr sz="2700" spc="5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Then</a:t>
            </a:r>
            <a:r>
              <a:rPr sz="2700" spc="59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DOS</a:t>
            </a:r>
            <a:r>
              <a:rPr sz="2700" spc="5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do</a:t>
            </a:r>
            <a:r>
              <a:rPr sz="2700" spc="59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all</a:t>
            </a:r>
            <a:r>
              <a:rPr sz="2700" spc="6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other</a:t>
            </a:r>
            <a:r>
              <a:rPr sz="2700" spc="6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task </a:t>
            </a:r>
            <a:r>
              <a:rPr sz="2700" spc="-66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such</a:t>
            </a:r>
            <a:r>
              <a:rPr sz="2700" dirty="0">
                <a:latin typeface="Times New Roman"/>
                <a:cs typeface="Times New Roman"/>
              </a:rPr>
              <a:t> as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file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management,</a:t>
            </a:r>
            <a:r>
              <a:rPr sz="2700" dirty="0">
                <a:latin typeface="Times New Roman"/>
                <a:cs typeface="Times New Roman"/>
              </a:rPr>
              <a:t> disk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management,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CPU </a:t>
            </a:r>
            <a:r>
              <a:rPr sz="2700" dirty="0">
                <a:latin typeface="Times New Roman"/>
                <a:cs typeface="Times New Roman"/>
              </a:rPr>
              <a:t> management.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3134" y="152400"/>
            <a:ext cx="6638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Personal</a:t>
            </a:r>
            <a:r>
              <a:rPr spc="-60" dirty="0"/>
              <a:t> </a:t>
            </a:r>
            <a:r>
              <a:rPr dirty="0"/>
              <a:t>Computers</a:t>
            </a:r>
            <a:r>
              <a:rPr spc="-45" dirty="0"/>
              <a:t> </a:t>
            </a:r>
            <a:r>
              <a:rPr spc="-5" dirty="0"/>
              <a:t>(PC-OS)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9200"/>
            <a:ext cx="8074025" cy="417195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Dedicated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machine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per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CPU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utilization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not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prime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concern</a:t>
            </a:r>
          </a:p>
          <a:p>
            <a:pPr marL="756285" marR="5080" indent="-287020" algn="just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Arial MT"/>
                <a:cs typeface="Arial MT"/>
              </a:rPr>
              <a:t>– </a:t>
            </a:r>
            <a:r>
              <a:rPr sz="2400" i="1" spc="-5" dirty="0">
                <a:latin typeface="Times New Roman"/>
                <a:cs typeface="Times New Roman"/>
              </a:rPr>
              <a:t>Hence,</a:t>
            </a:r>
            <a:r>
              <a:rPr sz="2400" i="1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some</a:t>
            </a:r>
            <a:r>
              <a:rPr sz="2400" i="1" dirty="0">
                <a:latin typeface="Times New Roman"/>
                <a:cs typeface="Times New Roman"/>
              </a:rPr>
              <a:t> of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design</a:t>
            </a:r>
            <a:r>
              <a:rPr sz="2400" i="1" spc="-5" dirty="0">
                <a:latin typeface="Times New Roman"/>
                <a:cs typeface="Times New Roman"/>
              </a:rPr>
              <a:t> decision</a:t>
            </a:r>
            <a:r>
              <a:rPr sz="2400" i="1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made</a:t>
            </a:r>
            <a:r>
              <a:rPr sz="2400" i="1" dirty="0">
                <a:latin typeface="Times New Roman"/>
                <a:cs typeface="Times New Roman"/>
              </a:rPr>
              <a:t> for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advanced </a:t>
            </a:r>
            <a:r>
              <a:rPr sz="2400" i="1" spc="-58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system</a:t>
            </a:r>
            <a:r>
              <a:rPr sz="2400" i="1" spc="45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may</a:t>
            </a:r>
            <a:r>
              <a:rPr sz="2400" i="1" spc="4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not</a:t>
            </a:r>
            <a:r>
              <a:rPr sz="2400" i="1" spc="4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be</a:t>
            </a:r>
            <a:r>
              <a:rPr sz="2400" i="1" spc="45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appropriate</a:t>
            </a:r>
            <a:r>
              <a:rPr sz="2400" i="1" spc="4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for</a:t>
            </a:r>
            <a:r>
              <a:rPr sz="2400" i="1" spc="4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these</a:t>
            </a:r>
            <a:r>
              <a:rPr sz="2400" i="1" spc="45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smaller</a:t>
            </a:r>
            <a:r>
              <a:rPr sz="2400" i="1" spc="45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system. </a:t>
            </a:r>
            <a:r>
              <a:rPr sz="2400" i="1" spc="-59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But </a:t>
            </a:r>
            <a:r>
              <a:rPr sz="2400" i="1" spc="-5" dirty="0">
                <a:latin typeface="Times New Roman"/>
                <a:cs typeface="Times New Roman"/>
              </a:rPr>
              <a:t>other design decisions, such </a:t>
            </a:r>
            <a:r>
              <a:rPr sz="2400" i="1" dirty="0">
                <a:latin typeface="Times New Roman"/>
                <a:cs typeface="Times New Roman"/>
              </a:rPr>
              <a:t>as those for </a:t>
            </a:r>
            <a:r>
              <a:rPr sz="2400" i="1" spc="-20" dirty="0">
                <a:latin typeface="Times New Roman"/>
                <a:cs typeface="Times New Roman"/>
              </a:rPr>
              <a:t>security, </a:t>
            </a:r>
            <a:r>
              <a:rPr sz="2400" i="1" spc="-40" dirty="0">
                <a:latin typeface="Times New Roman"/>
                <a:cs typeface="Times New Roman"/>
              </a:rPr>
              <a:t>are 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appropriate </a:t>
            </a:r>
            <a:r>
              <a:rPr sz="2400" i="1" dirty="0">
                <a:latin typeface="Times New Roman"/>
                <a:cs typeface="Times New Roman"/>
              </a:rPr>
              <a:t>because </a:t>
            </a:r>
            <a:r>
              <a:rPr sz="2400" i="1" spc="-5" dirty="0">
                <a:latin typeface="Times New Roman"/>
                <a:cs typeface="Times New Roman"/>
              </a:rPr>
              <a:t>PCs </a:t>
            </a:r>
            <a:r>
              <a:rPr sz="2400" i="1" dirty="0">
                <a:latin typeface="Times New Roman"/>
                <a:cs typeface="Times New Roman"/>
              </a:rPr>
              <a:t>can now be </a:t>
            </a:r>
            <a:r>
              <a:rPr sz="2400" i="1" spc="-5" dirty="0">
                <a:latin typeface="Times New Roman"/>
                <a:cs typeface="Times New Roman"/>
              </a:rPr>
              <a:t>connected </a:t>
            </a:r>
            <a:r>
              <a:rPr sz="2400" i="1" dirty="0">
                <a:latin typeface="Times New Roman"/>
                <a:cs typeface="Times New Roman"/>
              </a:rPr>
              <a:t>to </a:t>
            </a:r>
            <a:r>
              <a:rPr sz="2400" i="1" spc="-5" dirty="0">
                <a:latin typeface="Times New Roman"/>
                <a:cs typeface="Times New Roman"/>
              </a:rPr>
              <a:t>other </a:t>
            </a:r>
            <a:r>
              <a:rPr sz="2400" i="1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computer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and</a:t>
            </a:r>
            <a:r>
              <a:rPr sz="2400" i="1" dirty="0">
                <a:latin typeface="Times New Roman"/>
                <a:cs typeface="Times New Roman"/>
              </a:rPr>
              <a:t> users </a:t>
            </a:r>
            <a:r>
              <a:rPr sz="2400" i="1" spc="-15" dirty="0">
                <a:latin typeface="Times New Roman"/>
                <a:cs typeface="Times New Roman"/>
              </a:rPr>
              <a:t>through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network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and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web.</a:t>
            </a:r>
            <a:endParaRPr sz="2400" dirty="0">
              <a:latin typeface="Times New Roman"/>
              <a:cs typeface="Times New Roman"/>
            </a:endParaRPr>
          </a:p>
          <a:p>
            <a:pPr marL="355600" marR="7620" indent="-3429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different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types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PC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such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Windows,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MacOS,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UNIX,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Linux.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1829" y="140970"/>
            <a:ext cx="42633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Multiprocessor</a:t>
            </a:r>
            <a:r>
              <a:rPr spc="-125" dirty="0"/>
              <a:t> </a:t>
            </a:r>
            <a:r>
              <a:rPr spc="-5" dirty="0"/>
              <a:t>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8073390" cy="4026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Most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</a:t>
            </a:r>
            <a:r>
              <a:rPr sz="3200" dirty="0">
                <a:latin typeface="Times New Roman"/>
                <a:cs typeface="Times New Roman"/>
              </a:rPr>
              <a:t> 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single-processor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system, which will </a:t>
            </a:r>
            <a:r>
              <a:rPr sz="3200" dirty="0">
                <a:latin typeface="Times New Roman"/>
                <a:cs typeface="Times New Roman"/>
              </a:rPr>
              <a:t>be having </a:t>
            </a:r>
            <a:r>
              <a:rPr sz="3200" spc="-5" dirty="0">
                <a:latin typeface="Times New Roman"/>
                <a:cs typeface="Times New Roman"/>
              </a:rPr>
              <a:t>only </a:t>
            </a:r>
            <a:r>
              <a:rPr sz="3200" dirty="0">
                <a:latin typeface="Times New Roman"/>
                <a:cs typeface="Times New Roman"/>
              </a:rPr>
              <a:t>one </a:t>
            </a:r>
            <a:r>
              <a:rPr sz="3200" spc="-5" dirty="0">
                <a:latin typeface="Times New Roman"/>
                <a:cs typeface="Times New Roman"/>
              </a:rPr>
              <a:t>CPU. </a:t>
            </a:r>
            <a:r>
              <a:rPr sz="3200" dirty="0">
                <a:latin typeface="Times New Roman"/>
                <a:cs typeface="Times New Roman"/>
              </a:rPr>
              <a:t> However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 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multiprocessor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5" dirty="0">
                <a:latin typeface="Times New Roman"/>
                <a:cs typeface="Times New Roman"/>
              </a:rPr>
              <a:t>System </a:t>
            </a:r>
            <a:r>
              <a:rPr sz="3200" dirty="0">
                <a:latin typeface="Times New Roman"/>
                <a:cs typeface="Times New Roman"/>
              </a:rPr>
              <a:t>having </a:t>
            </a:r>
            <a:r>
              <a:rPr sz="3200" spc="-5" dirty="0">
                <a:latin typeface="Times New Roman"/>
                <a:cs typeface="Times New Roman"/>
              </a:rPr>
              <a:t>more than </a:t>
            </a:r>
            <a:r>
              <a:rPr sz="3200" dirty="0">
                <a:latin typeface="Times New Roman"/>
                <a:cs typeface="Times New Roman"/>
              </a:rPr>
              <a:t>one processor and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 these processor </a:t>
            </a:r>
            <a:r>
              <a:rPr sz="3200" spc="-5" dirty="0">
                <a:latin typeface="Times New Roman"/>
                <a:cs typeface="Times New Roman"/>
              </a:rPr>
              <a:t>will share the computer </a:t>
            </a:r>
            <a:r>
              <a:rPr sz="3200" dirty="0">
                <a:latin typeface="Times New Roman"/>
                <a:cs typeface="Times New Roman"/>
              </a:rPr>
              <a:t>bus,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clock</a:t>
            </a:r>
            <a:r>
              <a:rPr sz="3200" dirty="0">
                <a:latin typeface="Times New Roman"/>
                <a:cs typeface="Times New Roman"/>
              </a:rPr>
              <a:t> and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sometime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memory,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Multiprocessor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OS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5026" y="152400"/>
            <a:ext cx="3394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Distributed</a:t>
            </a:r>
            <a:r>
              <a:rPr spc="-85" dirty="0"/>
              <a:t> </a:t>
            </a:r>
            <a:r>
              <a:rPr spc="-5" dirty="0"/>
              <a:t>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9833"/>
            <a:ext cx="8074025" cy="363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logical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extension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multiprocessor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such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system,</a:t>
            </a:r>
            <a:r>
              <a:rPr sz="3200" dirty="0">
                <a:latin typeface="Times New Roman"/>
                <a:cs typeface="Times New Roman"/>
              </a:rPr>
              <a:t> all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computation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jobs</a:t>
            </a:r>
            <a:r>
              <a:rPr sz="3200" dirty="0">
                <a:latin typeface="Times New Roman"/>
                <a:cs typeface="Times New Roman"/>
              </a:rPr>
              <a:t> are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distributed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among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several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Here processor </a:t>
            </a:r>
            <a:r>
              <a:rPr sz="3200" spc="-15" dirty="0">
                <a:latin typeface="Times New Roman"/>
                <a:cs typeface="Times New Roman"/>
              </a:rPr>
              <a:t>don’t </a:t>
            </a:r>
            <a:r>
              <a:rPr sz="3200" spc="-5" dirty="0">
                <a:latin typeface="Times New Roman"/>
                <a:cs typeface="Times New Roman"/>
              </a:rPr>
              <a:t>share </a:t>
            </a:r>
            <a:r>
              <a:rPr sz="3200" dirty="0">
                <a:latin typeface="Times New Roman"/>
                <a:cs typeface="Times New Roman"/>
              </a:rPr>
              <a:t>memory and clock.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communicate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dirty="0">
                <a:latin typeface="Times New Roman"/>
                <a:cs typeface="Times New Roman"/>
              </a:rPr>
              <a:t> one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another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via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communication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lines.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5026" y="152400"/>
            <a:ext cx="3394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Distributed</a:t>
            </a:r>
            <a:r>
              <a:rPr spc="-85" dirty="0"/>
              <a:t> </a:t>
            </a:r>
            <a:r>
              <a:rPr spc="-5" dirty="0"/>
              <a:t>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0984"/>
            <a:ext cx="3876040" cy="266192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dirty="0">
                <a:latin typeface="Times New Roman"/>
                <a:cs typeface="Times New Roman"/>
              </a:rPr>
              <a:t>Benefits:</a:t>
            </a:r>
            <a:endParaRPr sz="3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i="1" spc="-20" dirty="0">
                <a:latin typeface="Times New Roman"/>
                <a:cs typeface="Times New Roman"/>
              </a:rPr>
              <a:t>Resource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sharing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i="1" spc="-5" dirty="0">
                <a:latin typeface="Times New Roman"/>
                <a:cs typeface="Times New Roman"/>
              </a:rPr>
              <a:t>Computation</a:t>
            </a:r>
            <a:r>
              <a:rPr sz="2800" i="1" spc="-70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speedup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i="1" spc="-5" dirty="0">
                <a:latin typeface="Times New Roman"/>
                <a:cs typeface="Times New Roman"/>
              </a:rPr>
              <a:t>Reliability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i="1" spc="-5" dirty="0">
                <a:latin typeface="Times New Roman"/>
                <a:cs typeface="Times New Roman"/>
              </a:rPr>
              <a:t>Communication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5002" y="152400"/>
            <a:ext cx="4793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Process</a:t>
            </a:r>
            <a:r>
              <a:rPr spc="-85" dirty="0"/>
              <a:t> </a:t>
            </a:r>
            <a:r>
              <a:rPr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895"/>
            <a:ext cx="7830820" cy="436753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 a program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 execution.</a:t>
            </a:r>
            <a:endParaRPr sz="3200">
              <a:latin typeface="Times New Roman"/>
              <a:cs typeface="Times New Roman"/>
            </a:endParaRPr>
          </a:p>
          <a:p>
            <a:pPr marL="455930" indent="-4438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455930" algn="l"/>
                <a:tab pos="456565" algn="l"/>
              </a:tabLst>
            </a:pPr>
            <a:r>
              <a:rPr sz="3200" spc="-5" dirty="0">
                <a:latin typeface="Times New Roman"/>
                <a:cs typeface="Times New Roman"/>
              </a:rPr>
              <a:t>For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example</a:t>
            </a:r>
            <a:endParaRPr sz="3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batch job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 pr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c</a:t>
            </a:r>
            <a:r>
              <a:rPr sz="2800" spc="-20" dirty="0">
                <a:latin typeface="Times New Roman"/>
                <a:cs typeface="Times New Roman"/>
              </a:rPr>
              <a:t>e</a:t>
            </a:r>
            <a:r>
              <a:rPr sz="2800" spc="-10" dirty="0">
                <a:latin typeface="Times New Roman"/>
                <a:cs typeface="Times New Roman"/>
              </a:rPr>
              <a:t>ss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time-shared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 a process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task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(e.g.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spooling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output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printer)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process.</a:t>
            </a:r>
            <a:endParaRPr sz="3200">
              <a:latin typeface="Times New Roman"/>
              <a:cs typeface="Times New Roman"/>
            </a:endParaRPr>
          </a:p>
          <a:p>
            <a:pPr marL="355600" marR="41211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Remember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program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itself </a:t>
            </a:r>
            <a:r>
              <a:rPr sz="3200" spc="-10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process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rather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 a passive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entity.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5002" y="152400"/>
            <a:ext cx="4793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Process</a:t>
            </a:r>
            <a:r>
              <a:rPr spc="-85" dirty="0"/>
              <a:t> </a:t>
            </a:r>
            <a:r>
              <a:rPr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14957"/>
            <a:ext cx="8073390" cy="46634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A process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needs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certain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resources,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including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CPU </a:t>
            </a:r>
            <a:r>
              <a:rPr sz="3200" spc="-5" dirty="0">
                <a:latin typeface="Times New Roman"/>
                <a:cs typeface="Times New Roman"/>
              </a:rPr>
              <a:t>time, </a:t>
            </a:r>
            <a:r>
              <a:rPr sz="3200" spc="-35" dirty="0">
                <a:latin typeface="Times New Roman"/>
                <a:cs typeface="Times New Roman"/>
              </a:rPr>
              <a:t>memory, </a:t>
            </a:r>
            <a:r>
              <a:rPr sz="3200" dirty="0">
                <a:latin typeface="Times New Roman"/>
                <a:cs typeface="Times New Roman"/>
              </a:rPr>
              <a:t>files, and I/O devices,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accomplish its </a:t>
            </a:r>
            <a:r>
              <a:rPr sz="3200" dirty="0">
                <a:latin typeface="Times New Roman"/>
                <a:cs typeface="Times New Roman"/>
              </a:rPr>
              <a:t>task. </a:t>
            </a:r>
            <a:endParaRPr lang="en-US" sz="32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These </a:t>
            </a:r>
            <a:r>
              <a:rPr sz="3200" dirty="0">
                <a:latin typeface="Times New Roman"/>
                <a:cs typeface="Times New Roman"/>
              </a:rPr>
              <a:t>resources are </a:t>
            </a:r>
            <a:r>
              <a:rPr sz="3200" spc="-5" dirty="0">
                <a:latin typeface="Times New Roman"/>
                <a:cs typeface="Times New Roman"/>
              </a:rPr>
              <a:t>either </a:t>
            </a:r>
            <a:r>
              <a:rPr sz="3200" dirty="0">
                <a:latin typeface="Times New Roman"/>
                <a:cs typeface="Times New Roman"/>
              </a:rPr>
              <a:t> given </a:t>
            </a:r>
            <a:r>
              <a:rPr sz="3200" spc="-5" dirty="0">
                <a:latin typeface="Times New Roman"/>
                <a:cs typeface="Times New Roman"/>
              </a:rPr>
              <a:t>to the </a:t>
            </a:r>
            <a:r>
              <a:rPr sz="3200" dirty="0">
                <a:latin typeface="Times New Roman"/>
                <a:cs typeface="Times New Roman"/>
              </a:rPr>
              <a:t>process </a:t>
            </a:r>
            <a:r>
              <a:rPr sz="3200" spc="-5" dirty="0">
                <a:latin typeface="Times New Roman"/>
                <a:cs typeface="Times New Roman"/>
              </a:rPr>
              <a:t>when it is </a:t>
            </a:r>
            <a:r>
              <a:rPr sz="3200" dirty="0">
                <a:latin typeface="Times New Roman"/>
                <a:cs typeface="Times New Roman"/>
              </a:rPr>
              <a:t>created or </a:t>
            </a:r>
            <a:r>
              <a:rPr sz="3200" spc="-5" dirty="0">
                <a:latin typeface="Times New Roman"/>
                <a:cs typeface="Times New Roman"/>
              </a:rPr>
              <a:t>when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running.</a:t>
            </a:r>
          </a:p>
          <a:p>
            <a:pPr marL="355600" marR="635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450215" algn="l"/>
              </a:tabLst>
            </a:pPr>
            <a:r>
              <a:rPr sz="3200" dirty="0">
                <a:latin typeface="Times New Roman"/>
                <a:cs typeface="Times New Roman"/>
              </a:rPr>
              <a:t>When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process </a:t>
            </a:r>
            <a:r>
              <a:rPr sz="3200" spc="-5" dirty="0">
                <a:latin typeface="Times New Roman"/>
                <a:cs typeface="Times New Roman"/>
              </a:rPr>
              <a:t>completes,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spc="-5" dirty="0">
                <a:latin typeface="Times New Roman"/>
                <a:cs typeface="Times New Roman"/>
              </a:rPr>
              <a:t>OS reclaims </a:t>
            </a:r>
            <a:r>
              <a:rPr sz="3200" dirty="0">
                <a:latin typeface="Times New Roman"/>
                <a:cs typeface="Times New Roman"/>
              </a:rPr>
              <a:t> all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resources.</a:t>
            </a:r>
          </a:p>
          <a:p>
            <a:pPr marL="355600" marR="635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Process</a:t>
            </a:r>
            <a:r>
              <a:rPr sz="3200" dirty="0">
                <a:latin typeface="Times New Roman"/>
                <a:cs typeface="Times New Roman"/>
              </a:rPr>
              <a:t> manager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(OS)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handle</a:t>
            </a:r>
            <a:r>
              <a:rPr sz="3200" dirty="0">
                <a:latin typeface="Times New Roman"/>
                <a:cs typeface="Times New Roman"/>
              </a:rPr>
              <a:t> all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these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responsibility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5002" y="152400"/>
            <a:ext cx="4793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Process</a:t>
            </a:r>
            <a:r>
              <a:rPr spc="-85" dirty="0"/>
              <a:t> </a:t>
            </a:r>
            <a:r>
              <a:rPr dirty="0"/>
              <a:t>Management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37108" y="1610690"/>
            <a:ext cx="7669783" cy="36234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2425" marR="5080" indent="-31623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15" dirty="0"/>
              <a:t> operating</a:t>
            </a:r>
            <a:r>
              <a:rPr spc="10" dirty="0"/>
              <a:t> </a:t>
            </a:r>
            <a:r>
              <a:rPr spc="-30" dirty="0"/>
              <a:t>system</a:t>
            </a:r>
            <a:r>
              <a:rPr spc="10" dirty="0"/>
              <a:t> </a:t>
            </a:r>
            <a:r>
              <a:rPr spc="-5" dirty="0"/>
              <a:t>is</a:t>
            </a:r>
            <a:r>
              <a:rPr spc="5" dirty="0"/>
              <a:t> </a:t>
            </a:r>
            <a:r>
              <a:rPr spc="-15" dirty="0"/>
              <a:t>responsible</a:t>
            </a:r>
            <a:r>
              <a:rPr spc="50" dirty="0"/>
              <a:t> </a:t>
            </a:r>
            <a:r>
              <a:rPr spc="-25" dirty="0"/>
              <a:t>for</a:t>
            </a:r>
            <a:r>
              <a:rPr spc="-5" dirty="0"/>
              <a:t> the</a:t>
            </a:r>
            <a:r>
              <a:rPr dirty="0"/>
              <a:t> </a:t>
            </a:r>
            <a:r>
              <a:rPr spc="-15" dirty="0"/>
              <a:t>following </a:t>
            </a:r>
            <a:r>
              <a:rPr spc="-620" dirty="0"/>
              <a:t> </a:t>
            </a:r>
            <a:r>
              <a:rPr spc="-5" dirty="0"/>
              <a:t>activities in</a:t>
            </a:r>
            <a:r>
              <a:rPr spc="5" dirty="0"/>
              <a:t> </a:t>
            </a:r>
            <a:r>
              <a:rPr spc="-10" dirty="0"/>
              <a:t>connection</a:t>
            </a:r>
            <a:r>
              <a:rPr spc="10" dirty="0"/>
              <a:t> </a:t>
            </a:r>
            <a:r>
              <a:rPr spc="-5" dirty="0"/>
              <a:t>with</a:t>
            </a:r>
            <a:r>
              <a:rPr spc="5" dirty="0"/>
              <a:t> </a:t>
            </a:r>
            <a:r>
              <a:rPr spc="-15" dirty="0"/>
              <a:t>process</a:t>
            </a:r>
            <a:r>
              <a:rPr spc="35" dirty="0"/>
              <a:t> </a:t>
            </a:r>
            <a:r>
              <a:rPr spc="-10" dirty="0"/>
              <a:t>management.</a:t>
            </a:r>
          </a:p>
          <a:p>
            <a:pPr marL="554990" indent="-287655">
              <a:lnSpc>
                <a:spcPct val="100000"/>
              </a:lnSpc>
              <a:spcBef>
                <a:spcPts val="3000"/>
              </a:spcBef>
              <a:buFont typeface="Arial MT"/>
              <a:buChar char="–"/>
              <a:tabLst>
                <a:tab pos="555625" algn="l"/>
              </a:tabLst>
            </a:pPr>
            <a:r>
              <a:rPr spc="-15" dirty="0">
                <a:solidFill>
                  <a:srgbClr val="000000"/>
                </a:solidFill>
              </a:rPr>
              <a:t>Process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15" dirty="0">
                <a:solidFill>
                  <a:srgbClr val="000000"/>
                </a:solidFill>
              </a:rPr>
              <a:t>creation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and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deletion.</a:t>
            </a:r>
          </a:p>
          <a:p>
            <a:pPr marL="554990" indent="-287655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555625" algn="l"/>
              </a:tabLst>
            </a:pPr>
            <a:r>
              <a:rPr spc="-15" dirty="0">
                <a:solidFill>
                  <a:srgbClr val="000000"/>
                </a:solidFill>
              </a:rPr>
              <a:t>Process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suspension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and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resumption.</a:t>
            </a:r>
          </a:p>
          <a:p>
            <a:pPr marL="554990" indent="-287655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555625" algn="l"/>
              </a:tabLst>
            </a:pPr>
            <a:r>
              <a:rPr spc="-15" dirty="0">
                <a:solidFill>
                  <a:srgbClr val="000000"/>
                </a:solidFill>
              </a:rPr>
              <a:t>Provision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of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mechanisms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for:</a:t>
            </a:r>
          </a:p>
          <a:p>
            <a:pPr marL="954405" lvl="1" indent="-22923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955040" algn="l"/>
              </a:tabLst>
            </a:pPr>
            <a:r>
              <a:rPr sz="2400" spc="-10" dirty="0">
                <a:latin typeface="Calibri"/>
                <a:cs typeface="Calibri"/>
              </a:rPr>
              <a:t>Process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synchronization</a:t>
            </a:r>
            <a:endParaRPr sz="2400" dirty="0">
              <a:latin typeface="Calibri"/>
              <a:cs typeface="Calibri"/>
            </a:endParaRPr>
          </a:p>
          <a:p>
            <a:pPr marL="954405" lvl="1" indent="-22923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955040" algn="l"/>
              </a:tabLst>
            </a:pPr>
            <a:r>
              <a:rPr sz="2400" spc="-10" dirty="0">
                <a:latin typeface="Calibri"/>
                <a:cs typeface="Calibri"/>
              </a:rPr>
              <a:t>Process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communication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6925" y="152400"/>
            <a:ext cx="5011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Memory</a:t>
            </a:r>
            <a:r>
              <a:rPr spc="-75" dirty="0"/>
              <a:t> </a:t>
            </a:r>
            <a:r>
              <a:rPr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9833"/>
            <a:ext cx="7976870" cy="3563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2710" algn="just">
              <a:lnSpc>
                <a:spcPct val="100000"/>
              </a:lnSpc>
              <a:spcBef>
                <a:spcPts val="105"/>
              </a:spcBef>
            </a:pPr>
            <a:r>
              <a:rPr sz="3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Memory</a:t>
            </a:r>
            <a:r>
              <a:rPr sz="32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is a </a:t>
            </a:r>
            <a:r>
              <a:rPr sz="32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large</a:t>
            </a:r>
            <a:r>
              <a:rPr sz="3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array of</a:t>
            </a:r>
            <a:r>
              <a:rPr sz="3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words</a:t>
            </a:r>
            <a:r>
              <a:rPr sz="320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or bytes,</a:t>
            </a:r>
            <a:r>
              <a:rPr sz="3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each</a:t>
            </a:r>
            <a:endParaRPr sz="3200" dirty="0">
              <a:latin typeface="Times New Roman"/>
              <a:cs typeface="Times New Roman"/>
            </a:endParaRPr>
          </a:p>
          <a:p>
            <a:pPr marL="434340" algn="just">
              <a:lnSpc>
                <a:spcPct val="100000"/>
              </a:lnSpc>
            </a:pP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with</a:t>
            </a:r>
            <a:r>
              <a:rPr sz="320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its</a:t>
            </a:r>
            <a:r>
              <a:rPr sz="3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own</a:t>
            </a:r>
            <a:r>
              <a:rPr sz="3200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address.</a:t>
            </a:r>
            <a:endParaRPr sz="32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3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355600" marR="670560" indent="-342900" algn="just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It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repository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quickly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accessible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shared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CPU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I/O </a:t>
            </a:r>
            <a:r>
              <a:rPr sz="3200" dirty="0">
                <a:latin typeface="Times New Roman"/>
                <a:cs typeface="Times New Roman"/>
              </a:rPr>
              <a:t>devices.</a:t>
            </a:r>
          </a:p>
          <a:p>
            <a:pPr marL="355600" marR="100965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  <a:tab pos="7388225" algn="l"/>
              </a:tabLst>
            </a:pPr>
            <a:r>
              <a:rPr sz="3200" spc="-5" dirty="0">
                <a:latin typeface="Times New Roman"/>
                <a:cs typeface="Times New Roman"/>
              </a:rPr>
              <a:t>Main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memory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volatile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storage</a:t>
            </a:r>
            <a:r>
              <a:rPr sz="3200" dirty="0">
                <a:latin typeface="Times New Roman"/>
                <a:cs typeface="Times New Roman"/>
              </a:rPr>
              <a:t> device.	</a:t>
            </a:r>
            <a:r>
              <a:rPr sz="3200" spc="-5" dirty="0">
                <a:latin typeface="Times New Roman"/>
                <a:cs typeface="Times New Roman"/>
              </a:rPr>
              <a:t>It </a:t>
            </a:r>
            <a:r>
              <a:rPr sz="3200" dirty="0">
                <a:latin typeface="Times New Roman"/>
                <a:cs typeface="Times New Roman"/>
              </a:rPr>
              <a:t> loses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its contents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 the case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</a:t>
            </a:r>
            <a:r>
              <a:rPr sz="3200" dirty="0">
                <a:latin typeface="Times New Roman"/>
                <a:cs typeface="Times New Roman"/>
              </a:rPr>
              <a:t> failure.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6925" y="152400"/>
            <a:ext cx="5011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Memory</a:t>
            </a:r>
            <a:r>
              <a:rPr spc="-75" dirty="0"/>
              <a:t> </a:t>
            </a:r>
            <a:r>
              <a:rPr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07642"/>
            <a:ext cx="7564120" cy="424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3405" marR="469265" indent="-509270">
              <a:lnSpc>
                <a:spcPct val="100000"/>
              </a:lnSpc>
              <a:spcBef>
                <a:spcPts val="105"/>
              </a:spcBef>
            </a:pP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32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operating</a:t>
            </a:r>
            <a:r>
              <a:rPr sz="3200" i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25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r>
              <a:rPr sz="3200" i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is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responsible</a:t>
            </a:r>
            <a:r>
              <a:rPr sz="32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15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sz="3200" i="1" spc="-7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10" dirty="0">
                <a:solidFill>
                  <a:srgbClr val="FF0000"/>
                </a:solidFill>
                <a:latin typeface="Calibri"/>
                <a:cs typeface="Calibri"/>
              </a:rPr>
              <a:t>following</a:t>
            </a:r>
            <a:r>
              <a:rPr sz="32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activities</a:t>
            </a:r>
            <a:r>
              <a:rPr sz="3200" i="1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3200" i="1" spc="-10" dirty="0">
                <a:solidFill>
                  <a:srgbClr val="FF0000"/>
                </a:solidFill>
                <a:latin typeface="Calibri"/>
                <a:cs typeface="Calibri"/>
              </a:rPr>
              <a:t>connections</a:t>
            </a:r>
            <a:r>
              <a:rPr sz="3200" i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endParaRPr sz="3200" dirty="0">
              <a:latin typeface="Calibri"/>
              <a:cs typeface="Calibri"/>
            </a:endParaRPr>
          </a:p>
          <a:p>
            <a:pPr marL="1859914">
              <a:lnSpc>
                <a:spcPct val="100000"/>
              </a:lnSpc>
            </a:pP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memory</a:t>
            </a:r>
            <a:r>
              <a:rPr sz="32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management: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 dirty="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–"/>
              <a:tabLst>
                <a:tab pos="299720" algn="l"/>
              </a:tabLst>
            </a:pPr>
            <a:r>
              <a:rPr sz="2800" spc="-15" dirty="0">
                <a:latin typeface="Calibri"/>
                <a:cs typeface="Calibri"/>
              </a:rPr>
              <a:t>Keep track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memory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currently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being used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whom.</a:t>
            </a:r>
            <a:endParaRPr sz="2800" dirty="0">
              <a:latin typeface="Calibri"/>
              <a:cs typeface="Calibri"/>
            </a:endParaRPr>
          </a:p>
          <a:p>
            <a:pPr marL="299085" marR="560070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-10" dirty="0">
                <a:latin typeface="Calibri"/>
                <a:cs typeface="Calibri"/>
              </a:rPr>
              <a:t>Decide</a:t>
            </a:r>
            <a:r>
              <a:rPr sz="2800" spc="-5" dirty="0">
                <a:latin typeface="Calibri"/>
                <a:cs typeface="Calibri"/>
              </a:rPr>
              <a:t> which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processes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load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memory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space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becomes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available.</a:t>
            </a:r>
            <a:endParaRPr sz="28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-15" dirty="0">
                <a:latin typeface="Calibri"/>
                <a:cs typeface="Calibri"/>
              </a:rPr>
              <a:t>Allocate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deallocate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memory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space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 needed.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4229" y="152400"/>
            <a:ext cx="39566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File</a:t>
            </a:r>
            <a:r>
              <a:rPr spc="-70" dirty="0"/>
              <a:t> </a:t>
            </a:r>
            <a:r>
              <a:rPr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9200"/>
            <a:ext cx="8124825" cy="4812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8309" marR="5080" indent="-55244" algn="just">
              <a:lnSpc>
                <a:spcPct val="100000"/>
              </a:lnSpc>
              <a:spcBef>
                <a:spcPts val="105"/>
              </a:spcBef>
            </a:pP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2600" i="1" spc="-5" dirty="0">
                <a:solidFill>
                  <a:srgbClr val="FF0000"/>
                </a:solidFill>
                <a:latin typeface="Calibri"/>
                <a:cs typeface="Calibri"/>
              </a:rPr>
              <a:t>file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is a </a:t>
            </a:r>
            <a:r>
              <a:rPr sz="2600" i="1" spc="-5" dirty="0">
                <a:solidFill>
                  <a:srgbClr val="FF0000"/>
                </a:solidFill>
                <a:latin typeface="Calibri"/>
                <a:cs typeface="Calibri"/>
              </a:rPr>
              <a:t>collection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2600" i="1" spc="-5" dirty="0">
                <a:solidFill>
                  <a:srgbClr val="FF0000"/>
                </a:solidFill>
                <a:latin typeface="Calibri"/>
                <a:cs typeface="Calibri"/>
              </a:rPr>
              <a:t>related information defined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by its </a:t>
            </a:r>
            <a:r>
              <a:rPr sz="2600" i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-35" dirty="0">
                <a:solidFill>
                  <a:srgbClr val="FF0000"/>
                </a:solidFill>
                <a:latin typeface="Calibri"/>
                <a:cs typeface="Calibri"/>
              </a:rPr>
              <a:t>creator.</a:t>
            </a:r>
            <a:r>
              <a:rPr sz="2600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-20" dirty="0">
                <a:solidFill>
                  <a:srgbClr val="FF0000"/>
                </a:solidFill>
                <a:latin typeface="Calibri"/>
                <a:cs typeface="Calibri"/>
              </a:rPr>
              <a:t>Commonly,</a:t>
            </a:r>
            <a:r>
              <a:rPr sz="2600" i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-5" dirty="0">
                <a:solidFill>
                  <a:srgbClr val="FF0000"/>
                </a:solidFill>
                <a:latin typeface="Calibri"/>
                <a:cs typeface="Calibri"/>
              </a:rPr>
              <a:t>files represent</a:t>
            </a:r>
            <a:r>
              <a:rPr sz="26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-5" dirty="0">
                <a:solidFill>
                  <a:srgbClr val="FF0000"/>
                </a:solidFill>
                <a:latin typeface="Calibri"/>
                <a:cs typeface="Calibri"/>
              </a:rPr>
              <a:t>programs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-5" dirty="0">
                <a:solidFill>
                  <a:srgbClr val="FF0000"/>
                </a:solidFill>
                <a:latin typeface="Calibri"/>
                <a:cs typeface="Calibri"/>
              </a:rPr>
              <a:t>(both</a:t>
            </a:r>
            <a:r>
              <a:rPr sz="2600" i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source</a:t>
            </a:r>
            <a:endParaRPr sz="2600" dirty="0">
              <a:latin typeface="Calibri"/>
              <a:cs typeface="Calibri"/>
            </a:endParaRPr>
          </a:p>
          <a:p>
            <a:pPr marL="2425065" algn="just">
              <a:lnSpc>
                <a:spcPct val="100000"/>
              </a:lnSpc>
            </a:pP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6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-5" dirty="0">
                <a:solidFill>
                  <a:srgbClr val="FF0000"/>
                </a:solidFill>
                <a:latin typeface="Calibri"/>
                <a:cs typeface="Calibri"/>
              </a:rPr>
              <a:t>object</a:t>
            </a:r>
            <a:r>
              <a:rPr sz="26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forms)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6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data.</a:t>
            </a:r>
            <a:endParaRPr sz="26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40"/>
              </a:spcBef>
            </a:pPr>
            <a:endParaRPr dirty="0">
              <a:latin typeface="Calibri"/>
              <a:cs typeface="Calibri"/>
            </a:endParaRPr>
          </a:p>
          <a:p>
            <a:pPr marL="355600" marR="218440" indent="-34290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libri"/>
                <a:cs typeface="Calibri"/>
              </a:rPr>
              <a:t>Most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visible</a:t>
            </a:r>
            <a:r>
              <a:rPr sz="3000" spc="-15" dirty="0">
                <a:latin typeface="Calibri"/>
                <a:cs typeface="Calibri"/>
              </a:rPr>
              <a:t> component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dirty="0">
                <a:latin typeface="Calibri"/>
                <a:cs typeface="Calibri"/>
              </a:rPr>
              <a:t>OS.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Computers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can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store </a:t>
            </a:r>
            <a:r>
              <a:rPr sz="3000" spc="-15" dirty="0">
                <a:latin typeface="Calibri"/>
                <a:cs typeface="Calibri"/>
              </a:rPr>
              <a:t>information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on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several</a:t>
            </a:r>
            <a:r>
              <a:rPr sz="3000" spc="-25" dirty="0">
                <a:latin typeface="Calibri"/>
                <a:cs typeface="Calibri"/>
              </a:rPr>
              <a:t> different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types of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physical </a:t>
            </a:r>
            <a:r>
              <a:rPr sz="3000" spc="-5" dirty="0">
                <a:latin typeface="Calibri"/>
                <a:cs typeface="Calibri"/>
              </a:rPr>
              <a:t>media </a:t>
            </a:r>
            <a:r>
              <a:rPr sz="3000" dirty="0">
                <a:latin typeface="Calibri"/>
                <a:cs typeface="Calibri"/>
              </a:rPr>
              <a:t>(e.g. </a:t>
            </a:r>
            <a:r>
              <a:rPr sz="3000" spc="-5" dirty="0">
                <a:latin typeface="Calibri"/>
                <a:cs typeface="Calibri"/>
              </a:rPr>
              <a:t>magnetic </a:t>
            </a:r>
            <a:r>
              <a:rPr sz="3000" spc="-10" dirty="0">
                <a:latin typeface="Calibri"/>
                <a:cs typeface="Calibri"/>
              </a:rPr>
              <a:t>tap</a:t>
            </a:r>
            <a:r>
              <a:rPr lang="en-US" sz="3000" spc="-10" dirty="0">
                <a:latin typeface="Calibri"/>
                <a:cs typeface="Calibri"/>
              </a:rPr>
              <a:t>e</a:t>
            </a:r>
            <a:r>
              <a:rPr sz="3000" spc="-10" dirty="0">
                <a:latin typeface="Calibri"/>
                <a:cs typeface="Calibri"/>
              </a:rPr>
              <a:t>, </a:t>
            </a:r>
            <a:r>
              <a:rPr sz="3000" spc="-5" dirty="0">
                <a:latin typeface="Calibri"/>
                <a:cs typeface="Calibri"/>
              </a:rPr>
              <a:t>magnetic </a:t>
            </a:r>
            <a:r>
              <a:rPr sz="3000" spc="-10" dirty="0">
                <a:latin typeface="Calibri"/>
                <a:cs typeface="Calibri"/>
              </a:rPr>
              <a:t>disk,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CD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etc).</a:t>
            </a:r>
            <a:endParaRPr sz="3000" dirty="0">
              <a:latin typeface="Calibri"/>
              <a:cs typeface="Calibri"/>
            </a:endParaRPr>
          </a:p>
          <a:p>
            <a:pPr marL="355600" marR="393700" indent="-342900" algn="just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file </a:t>
            </a:r>
            <a:r>
              <a:rPr lang="en-US" sz="3000" spc="-5" dirty="0">
                <a:latin typeface="Calibri"/>
                <a:cs typeface="Calibri"/>
              </a:rPr>
              <a:t>is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logical </a:t>
            </a:r>
            <a:r>
              <a:rPr sz="3000" spc="-25" dirty="0">
                <a:latin typeface="Calibri"/>
                <a:cs typeface="Calibri"/>
              </a:rPr>
              <a:t>storage </a:t>
            </a:r>
            <a:r>
              <a:rPr sz="3000" spc="-10" dirty="0">
                <a:latin typeface="Calibri"/>
                <a:cs typeface="Calibri"/>
              </a:rPr>
              <a:t>unit, </a:t>
            </a:r>
            <a:r>
              <a:rPr sz="3000" dirty="0">
                <a:latin typeface="Calibri"/>
                <a:cs typeface="Calibri"/>
              </a:rPr>
              <a:t>which </a:t>
            </a:r>
            <a:r>
              <a:rPr sz="3000" spc="-15" dirty="0">
                <a:latin typeface="Calibri"/>
                <a:cs typeface="Calibri"/>
              </a:rPr>
              <a:t>abstract</a:t>
            </a:r>
            <a:r>
              <a:rPr lang="en-US" sz="3000" spc="-1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away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physical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properties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dirty="0">
                <a:latin typeface="Calibri"/>
                <a:cs typeface="Calibri"/>
              </a:rPr>
              <a:t>its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storage</a:t>
            </a:r>
            <a:r>
              <a:rPr sz="3000" spc="-10" dirty="0">
                <a:latin typeface="Calibri"/>
                <a:cs typeface="Calibri"/>
              </a:rPr>
              <a:t> device.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4229" y="152400"/>
            <a:ext cx="39566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File</a:t>
            </a:r>
            <a:r>
              <a:rPr spc="-70" dirty="0"/>
              <a:t> </a:t>
            </a:r>
            <a:r>
              <a:rPr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8520" y="1397587"/>
            <a:ext cx="7447280" cy="4469813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49250" marR="139700" indent="-209550">
              <a:lnSpc>
                <a:spcPts val="3460"/>
              </a:lnSpc>
              <a:spcBef>
                <a:spcPts val="535"/>
              </a:spcBef>
            </a:pP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32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operating</a:t>
            </a:r>
            <a:r>
              <a:rPr sz="3200" i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25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r>
              <a:rPr sz="3200" i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is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responsible</a:t>
            </a:r>
            <a:r>
              <a:rPr sz="32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15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10" dirty="0">
                <a:solidFill>
                  <a:srgbClr val="FF0000"/>
                </a:solidFill>
                <a:latin typeface="Calibri"/>
                <a:cs typeface="Calibri"/>
              </a:rPr>
              <a:t>following</a:t>
            </a:r>
            <a:r>
              <a:rPr sz="32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activities</a:t>
            </a:r>
            <a:r>
              <a:rPr sz="3200" i="1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3200" i="1" spc="-10" dirty="0">
                <a:solidFill>
                  <a:srgbClr val="FF0000"/>
                </a:solidFill>
                <a:latin typeface="Calibri"/>
                <a:cs typeface="Calibri"/>
              </a:rPr>
              <a:t>connections</a:t>
            </a:r>
            <a:r>
              <a:rPr sz="3200" i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with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file</a:t>
            </a:r>
            <a:endParaRPr sz="3200" dirty="0">
              <a:latin typeface="Calibri"/>
              <a:cs typeface="Calibri"/>
            </a:endParaRPr>
          </a:p>
          <a:p>
            <a:pPr marL="2667635">
              <a:lnSpc>
                <a:spcPts val="3400"/>
              </a:lnSpc>
            </a:pPr>
            <a:r>
              <a:rPr sz="3200" i="1" spc="-10" dirty="0">
                <a:solidFill>
                  <a:srgbClr val="FF0000"/>
                </a:solidFill>
                <a:latin typeface="Calibri"/>
                <a:cs typeface="Calibri"/>
              </a:rPr>
              <a:t>management: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–"/>
              <a:tabLst>
                <a:tab pos="299720" algn="l"/>
              </a:tabLst>
            </a:pP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creation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deletion.</a:t>
            </a:r>
            <a:endParaRPr sz="28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-15" dirty="0">
                <a:latin typeface="Calibri"/>
                <a:cs typeface="Calibri"/>
              </a:rPr>
              <a:t>Directory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creation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deletion.</a:t>
            </a:r>
            <a:endParaRPr sz="2800" dirty="0">
              <a:latin typeface="Calibri"/>
              <a:cs typeface="Calibri"/>
            </a:endParaRPr>
          </a:p>
          <a:p>
            <a:pPr marL="299085" marR="339090" indent="-287020">
              <a:lnSpc>
                <a:spcPts val="3020"/>
              </a:lnSpc>
              <a:spcBef>
                <a:spcPts val="720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-10" dirty="0">
                <a:latin typeface="Calibri"/>
                <a:cs typeface="Calibri"/>
              </a:rPr>
              <a:t>Support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primitives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manipulating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directories.</a:t>
            </a:r>
            <a:endParaRPr sz="28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-10" dirty="0">
                <a:latin typeface="Calibri"/>
                <a:cs typeface="Calibri"/>
              </a:rPr>
              <a:t>Mapping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onto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secondary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storage.</a:t>
            </a:r>
            <a:endParaRPr sz="28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-10" dirty="0">
                <a:latin typeface="Calibri"/>
                <a:cs typeface="Calibri"/>
              </a:rPr>
              <a:t>File </a:t>
            </a:r>
            <a:r>
              <a:rPr sz="2800" spc="-15" dirty="0">
                <a:latin typeface="Calibri"/>
                <a:cs typeface="Calibri"/>
              </a:rPr>
              <a:t>backup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stable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(nonvolatile)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storage</a:t>
            </a:r>
            <a:r>
              <a:rPr sz="2800" spc="-5" dirty="0">
                <a:latin typeface="Calibri"/>
                <a:cs typeface="Calibri"/>
              </a:rPr>
              <a:t> media.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6713" y="152400"/>
            <a:ext cx="38309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I/O</a:t>
            </a:r>
            <a:r>
              <a:rPr spc="-85" dirty="0"/>
              <a:t> </a:t>
            </a:r>
            <a:r>
              <a:rPr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9200"/>
            <a:ext cx="7855584" cy="44351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90295" marR="526415" indent="-291465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latin typeface="Times New Roman"/>
                <a:cs typeface="Times New Roman"/>
              </a:rPr>
              <a:t>All computers have physical devices for </a:t>
            </a:r>
            <a:r>
              <a:rPr sz="3200" i="1" spc="-78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acquiring</a:t>
            </a:r>
            <a:r>
              <a:rPr sz="3200" i="1" spc="-6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input</a:t>
            </a:r>
            <a:r>
              <a:rPr sz="3200" i="1" spc="-3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and</a:t>
            </a:r>
            <a:r>
              <a:rPr sz="3200" i="1" spc="-35" dirty="0">
                <a:latin typeface="Times New Roman"/>
                <a:cs typeface="Times New Roman"/>
              </a:rPr>
              <a:t> </a:t>
            </a:r>
            <a:r>
              <a:rPr sz="3200" i="1" spc="-10" dirty="0">
                <a:latin typeface="Times New Roman"/>
                <a:cs typeface="Times New Roman"/>
              </a:rPr>
              <a:t>producing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output.</a:t>
            </a: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I/O system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consists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of:</a:t>
            </a:r>
          </a:p>
          <a:p>
            <a:pPr marL="756285" marR="5080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  <a:tab pos="592328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memory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system for	buffering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caching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</a:t>
            </a:r>
            <a:endParaRPr sz="28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general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device-driver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interface</a:t>
            </a:r>
            <a:endParaRPr sz="28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Drivers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specific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hardware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devices</a:t>
            </a:r>
            <a:endParaRPr sz="28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Times New Roman"/>
                <a:cs typeface="Times New Roman"/>
              </a:rPr>
              <a:t>Disk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998" y="140970"/>
            <a:ext cx="72936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Secondary</a:t>
            </a:r>
            <a:r>
              <a:rPr spc="-70" dirty="0"/>
              <a:t> </a:t>
            </a:r>
            <a:r>
              <a:rPr dirty="0"/>
              <a:t>Storage</a:t>
            </a:r>
            <a:r>
              <a:rPr spc="-55" dirty="0"/>
              <a:t> </a:t>
            </a:r>
            <a:r>
              <a:rPr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9833"/>
            <a:ext cx="7880350" cy="363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computer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</a:t>
            </a:r>
            <a:r>
              <a:rPr sz="3200" dirty="0">
                <a:latin typeface="Times New Roman"/>
                <a:cs typeface="Times New Roman"/>
              </a:rPr>
              <a:t> must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secondary </a:t>
            </a:r>
            <a:r>
              <a:rPr sz="3200" i="1" spc="-78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storage </a:t>
            </a:r>
            <a:r>
              <a:rPr sz="3200" dirty="0">
                <a:latin typeface="Times New Roman"/>
                <a:cs typeface="Times New Roman"/>
              </a:rPr>
              <a:t>to back up main memory </a:t>
            </a:r>
            <a:r>
              <a:rPr sz="3200" spc="-5" dirty="0">
                <a:latin typeface="Times New Roman"/>
                <a:cs typeface="Times New Roman"/>
              </a:rPr>
              <a:t>since </a:t>
            </a:r>
            <a:r>
              <a:rPr sz="3200" dirty="0">
                <a:latin typeface="Times New Roman"/>
                <a:cs typeface="Times New Roman"/>
              </a:rPr>
              <a:t>main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memory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 volatile.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marL="355600" marR="10795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Most </a:t>
            </a:r>
            <a:r>
              <a:rPr sz="3200" dirty="0">
                <a:latin typeface="Times New Roman"/>
                <a:cs typeface="Times New Roman"/>
              </a:rPr>
              <a:t>modern computer </a:t>
            </a:r>
            <a:r>
              <a:rPr sz="3200" spc="-5" dirty="0">
                <a:latin typeface="Times New Roman"/>
                <a:cs typeface="Times New Roman"/>
              </a:rPr>
              <a:t>systems </a:t>
            </a:r>
            <a:r>
              <a:rPr sz="3200" dirty="0">
                <a:latin typeface="Times New Roman"/>
                <a:cs typeface="Times New Roman"/>
              </a:rPr>
              <a:t>use disks as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principle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on-line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storage </a:t>
            </a:r>
            <a:r>
              <a:rPr sz="3200" dirty="0">
                <a:latin typeface="Times New Roman"/>
                <a:cs typeface="Times New Roman"/>
              </a:rPr>
              <a:t>medium,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 </a:t>
            </a:r>
            <a:r>
              <a:rPr sz="3200" dirty="0">
                <a:latin typeface="Times New Roman"/>
                <a:cs typeface="Times New Roman"/>
              </a:rPr>
              <a:t>both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programs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768" y="152400"/>
            <a:ext cx="72936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Secondary</a:t>
            </a:r>
            <a:r>
              <a:rPr spc="-70" dirty="0"/>
              <a:t> </a:t>
            </a:r>
            <a:r>
              <a:rPr dirty="0"/>
              <a:t>Storage</a:t>
            </a:r>
            <a:r>
              <a:rPr spc="-55" dirty="0"/>
              <a:t> </a:t>
            </a:r>
            <a:r>
              <a:rPr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07642"/>
            <a:ext cx="7227570" cy="3613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2575" marR="5080" indent="-218440">
              <a:lnSpc>
                <a:spcPct val="100000"/>
              </a:lnSpc>
              <a:spcBef>
                <a:spcPts val="105"/>
              </a:spcBef>
            </a:pPr>
            <a:r>
              <a:rPr sz="3200" i="1" spc="-5" dirty="0">
                <a:latin typeface="Calibri"/>
                <a:cs typeface="Calibri"/>
              </a:rPr>
              <a:t>The</a:t>
            </a:r>
            <a:r>
              <a:rPr sz="3200" i="1" spc="-2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operating</a:t>
            </a:r>
            <a:r>
              <a:rPr sz="3200" i="1" spc="5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Calibri"/>
                <a:cs typeface="Calibri"/>
              </a:rPr>
              <a:t>system</a:t>
            </a:r>
            <a:r>
              <a:rPr sz="3200" i="1" spc="2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is </a:t>
            </a:r>
            <a:r>
              <a:rPr sz="3200" i="1" spc="-5" dirty="0">
                <a:latin typeface="Calibri"/>
                <a:cs typeface="Calibri"/>
              </a:rPr>
              <a:t>responsible</a:t>
            </a:r>
            <a:r>
              <a:rPr sz="3200" i="1" spc="-10" dirty="0">
                <a:latin typeface="Calibri"/>
                <a:cs typeface="Calibri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for</a:t>
            </a:r>
            <a:r>
              <a:rPr sz="3200" i="1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the </a:t>
            </a:r>
            <a:r>
              <a:rPr sz="3200" i="1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following</a:t>
            </a:r>
            <a:r>
              <a:rPr sz="3200" i="1" spc="-2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activities</a:t>
            </a:r>
            <a:r>
              <a:rPr sz="3200" i="1" spc="3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in </a:t>
            </a:r>
            <a:r>
              <a:rPr sz="3200" i="1" spc="-10" dirty="0">
                <a:latin typeface="Calibri"/>
                <a:cs typeface="Calibri"/>
              </a:rPr>
              <a:t>connection</a:t>
            </a:r>
            <a:r>
              <a:rPr sz="3200" i="1" spc="1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with</a:t>
            </a:r>
            <a:r>
              <a:rPr sz="3200" i="1" spc="-5" dirty="0">
                <a:latin typeface="Calibri"/>
                <a:cs typeface="Calibri"/>
              </a:rPr>
              <a:t> disk</a:t>
            </a:r>
            <a:endParaRPr sz="3200" dirty="0">
              <a:latin typeface="Calibri"/>
              <a:cs typeface="Calibri"/>
            </a:endParaRPr>
          </a:p>
          <a:p>
            <a:pPr marL="2591435">
              <a:lnSpc>
                <a:spcPct val="100000"/>
              </a:lnSpc>
            </a:pPr>
            <a:r>
              <a:rPr sz="3200" i="1" spc="-10" dirty="0">
                <a:latin typeface="Calibri"/>
                <a:cs typeface="Calibri"/>
              </a:rPr>
              <a:t>management: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3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–"/>
              <a:tabLst>
                <a:tab pos="299720" algn="l"/>
              </a:tabLst>
            </a:pPr>
            <a:r>
              <a:rPr sz="2800" spc="-15" dirty="0">
                <a:latin typeface="Calibri"/>
                <a:cs typeface="Calibri"/>
              </a:rPr>
              <a:t>Free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space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management</a:t>
            </a:r>
            <a:endParaRPr sz="28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-20" dirty="0">
                <a:latin typeface="Calibri"/>
                <a:cs typeface="Calibri"/>
              </a:rPr>
              <a:t>Storage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allocation</a:t>
            </a:r>
            <a:endParaRPr sz="28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-10" dirty="0">
                <a:latin typeface="Calibri"/>
                <a:cs typeface="Calibri"/>
              </a:rPr>
              <a:t>Disk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scheduling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3725" y="260133"/>
            <a:ext cx="28365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System</a:t>
            </a:r>
            <a:r>
              <a:rPr spc="-80" dirty="0"/>
              <a:t> </a:t>
            </a:r>
            <a:r>
              <a:rPr dirty="0"/>
              <a:t>calls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7433"/>
            <a:ext cx="7616825" cy="39776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System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calls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interface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between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operating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system.</a:t>
            </a:r>
            <a:endParaRPr sz="3200" dirty="0">
              <a:latin typeface="Times New Roman"/>
              <a:cs typeface="Times New Roman"/>
            </a:endParaRPr>
          </a:p>
          <a:p>
            <a:pPr marL="756285" marR="88900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836930" algn="l"/>
                <a:tab pos="837565" algn="l"/>
              </a:tabLst>
            </a:pPr>
            <a:r>
              <a:rPr dirty="0"/>
              <a:t>	</a:t>
            </a:r>
            <a:r>
              <a:rPr sz="2800" spc="-5" dirty="0">
                <a:latin typeface="Times New Roman"/>
                <a:cs typeface="Times New Roman"/>
              </a:rPr>
              <a:t>These calls are generally available as assembly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language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instructions.</a:t>
            </a:r>
          </a:p>
          <a:p>
            <a:pPr marL="756285" marR="16954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843280" algn="l"/>
                <a:tab pos="843915" algn="l"/>
              </a:tabLst>
            </a:pPr>
            <a:r>
              <a:rPr dirty="0"/>
              <a:t>	</a:t>
            </a:r>
            <a:r>
              <a:rPr sz="2800" spc="-10" dirty="0">
                <a:latin typeface="Times New Roman"/>
                <a:cs typeface="Times New Roman"/>
              </a:rPr>
              <a:t>Some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also allow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make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system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from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 high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level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language, </a:t>
            </a:r>
            <a:r>
              <a:rPr sz="2800" spc="-10" dirty="0">
                <a:latin typeface="Times New Roman"/>
                <a:cs typeface="Times New Roman"/>
              </a:rPr>
              <a:t>such </a:t>
            </a:r>
            <a:r>
              <a:rPr sz="2800" spc="-5" dirty="0">
                <a:latin typeface="Times New Roman"/>
                <a:cs typeface="Times New Roman"/>
              </a:rPr>
              <a:t>as </a:t>
            </a:r>
            <a:r>
              <a:rPr sz="2800" spc="-10" dirty="0">
                <a:latin typeface="Times New Roman"/>
                <a:cs typeface="Times New Roman"/>
              </a:rPr>
              <a:t>C.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Example:</a:t>
            </a: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count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read(fd,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buffer,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nbytes)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5"/>
              <a:t>Prepared by: Dr. Binod Kumar Adhikari</a:t>
            </a:r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2085" y="3073371"/>
            <a:ext cx="6266180" cy="1635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4780" marR="5080" indent="-132715">
              <a:lnSpc>
                <a:spcPct val="120100"/>
              </a:lnSpc>
              <a:spcBef>
                <a:spcPts val="90"/>
              </a:spcBef>
            </a:pPr>
            <a:r>
              <a:rPr spc="-10" dirty="0">
                <a:solidFill>
                  <a:srgbClr val="FF0000"/>
                </a:solidFill>
                <a:latin typeface="Calibri"/>
                <a:cs typeface="Calibri"/>
              </a:rPr>
              <a:t>Next: Process </a:t>
            </a:r>
            <a:r>
              <a:rPr spc="-5" dirty="0">
                <a:solidFill>
                  <a:srgbClr val="FF0000"/>
                </a:solidFill>
                <a:latin typeface="Calibri"/>
                <a:cs typeface="Calibri"/>
              </a:rPr>
              <a:t>Management </a:t>
            </a:r>
            <a:r>
              <a:rPr spc="-9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Actual</a:t>
            </a:r>
            <a:r>
              <a:rPr spc="-10" dirty="0">
                <a:solidFill>
                  <a:srgbClr val="FF0000"/>
                </a:solidFill>
                <a:latin typeface="Calibri"/>
                <a:cs typeface="Calibri"/>
              </a:rPr>
              <a:t> Course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Begins</a:t>
            </a:r>
            <a:r>
              <a:rPr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20" dirty="0">
                <a:solidFill>
                  <a:srgbClr val="FF0000"/>
                </a:solidFill>
                <a:latin typeface="Calibri"/>
                <a:cs typeface="Calibri"/>
              </a:rPr>
              <a:t>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7854</TotalTime>
  <Words>2561</Words>
  <Application>Microsoft Office PowerPoint</Application>
  <PresentationFormat>On-screen Show (4:3)</PresentationFormat>
  <Paragraphs>286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 MT</vt:lpstr>
      <vt:lpstr>Calibri</vt:lpstr>
      <vt:lpstr>Cambria Math</vt:lpstr>
      <vt:lpstr>Times New Roman</vt:lpstr>
      <vt:lpstr>Wingdings</vt:lpstr>
      <vt:lpstr>Office Theme</vt:lpstr>
      <vt:lpstr>Advanced Operating  System(CSc-538)</vt:lpstr>
      <vt:lpstr>Objectives of the course</vt:lpstr>
      <vt:lpstr>Text Books and Materials</vt:lpstr>
      <vt:lpstr>Tentative Course Plan</vt:lpstr>
      <vt:lpstr>Evaluations</vt:lpstr>
      <vt:lpstr>PowerPoint Presentation</vt:lpstr>
      <vt:lpstr>Where does OS sits?</vt:lpstr>
      <vt:lpstr>Unit1.1 What is Operating System(OS)?</vt:lpstr>
      <vt:lpstr>Function of OS</vt:lpstr>
      <vt:lpstr>Operating Systems Views</vt:lpstr>
      <vt:lpstr>OS as an Extended Machine</vt:lpstr>
      <vt:lpstr>OS as an Extended Machine</vt:lpstr>
      <vt:lpstr>OS as a Resource Manager</vt:lpstr>
      <vt:lpstr>OS as resource Manager(cont…)</vt:lpstr>
      <vt:lpstr>Unit 1.2 OS Evolution( History)</vt:lpstr>
      <vt:lpstr>OS Evolution( History)</vt:lpstr>
      <vt:lpstr>Batch System</vt:lpstr>
      <vt:lpstr>Batch System</vt:lpstr>
      <vt:lpstr>Batch System</vt:lpstr>
      <vt:lpstr>Multiprogramming operating system (MOS)</vt:lpstr>
      <vt:lpstr>Multiprogramming (MOS)</vt:lpstr>
      <vt:lpstr>Timesharing OS</vt:lpstr>
      <vt:lpstr>Time sharing OS (MOS)</vt:lpstr>
      <vt:lpstr>Timesharing OS(cont…..)</vt:lpstr>
      <vt:lpstr>Personal Computers (PC-OS)</vt:lpstr>
      <vt:lpstr>Personal Computers (PC-OS)</vt:lpstr>
      <vt:lpstr>Multiprocessor OS</vt:lpstr>
      <vt:lpstr>Distributed OS</vt:lpstr>
      <vt:lpstr>Distributed OS</vt:lpstr>
      <vt:lpstr>Process Management</vt:lpstr>
      <vt:lpstr>Process Management</vt:lpstr>
      <vt:lpstr>Process Management</vt:lpstr>
      <vt:lpstr>Memory Management</vt:lpstr>
      <vt:lpstr>Memory Management</vt:lpstr>
      <vt:lpstr>File Management</vt:lpstr>
      <vt:lpstr>File Management</vt:lpstr>
      <vt:lpstr>I/O Management</vt:lpstr>
      <vt:lpstr>Secondary Storage Management</vt:lpstr>
      <vt:lpstr>Secondary Storage Management</vt:lpstr>
      <vt:lpstr>System calls</vt:lpstr>
      <vt:lpstr>Next: Process Management  Actual Course Begins Here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bishal</dc:creator>
  <cp:lastModifiedBy>Yujan Basnet</cp:lastModifiedBy>
  <cp:revision>11</cp:revision>
  <dcterms:created xsi:type="dcterms:W3CDTF">2024-03-03T14:11:46Z</dcterms:created>
  <dcterms:modified xsi:type="dcterms:W3CDTF">2025-06-05T23:59:30Z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2024-03-03T00:00:00Z</vt:filetime>
  </property>
</Properties>
</file>