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66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7" d="100"/>
          <a:sy n="77" d="100"/>
        </p:scale>
        <p:origin x="1037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nod Kumar Adhikari" userId="256f5a90-d823-4e8d-9a41-a3da19f4a0ad" providerId="ADAL" clId="{05DBDACC-C2FC-4CC1-918A-F0F6491E2BF8}"/>
  </pc:docChgLst>
  <pc:docChgLst>
    <pc:chgData name="Binod Kumar Adhikari" userId="256f5a90-d823-4e8d-9a41-a3da19f4a0ad" providerId="ADAL" clId="{4C8E662D-8F01-4C45-AED8-0B60BDAF4C36}"/>
    <pc:docChg chg="modSld">
      <pc:chgData name="Binod Kumar Adhikari" userId="256f5a90-d823-4e8d-9a41-a3da19f4a0ad" providerId="ADAL" clId="{4C8E662D-8F01-4C45-AED8-0B60BDAF4C36}" dt="2025-04-23T05:19:17.723" v="0" actId="114"/>
      <pc:docMkLst>
        <pc:docMk/>
      </pc:docMkLst>
      <pc:sldChg chg="modSp">
        <pc:chgData name="Binod Kumar Adhikari" userId="256f5a90-d823-4e8d-9a41-a3da19f4a0ad" providerId="ADAL" clId="{4C8E662D-8F01-4C45-AED8-0B60BDAF4C36}" dt="2025-04-23T05:19:17.723" v="0" actId="114"/>
        <pc:sldMkLst>
          <pc:docMk/>
          <pc:sldMk cId="0" sldId="280"/>
        </pc:sldMkLst>
        <pc:spChg chg="mod">
          <ac:chgData name="Binod Kumar Adhikari" userId="256f5a90-d823-4e8d-9a41-a3da19f4a0ad" providerId="ADAL" clId="{4C8E662D-8F01-4C45-AED8-0B60BDAF4C36}" dt="2025-04-23T05:19:17.723" v="0" actId="114"/>
          <ac:spMkLst>
            <pc:docMk/>
            <pc:sldMk cId="0" sldId="280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F13CE-EA4D-4DA4-96EE-E1B882F6E919}" type="datetimeFigureOut">
              <a:rPr lang="en-IN" smtClean="0"/>
              <a:t>23-04-2025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279D0-016F-48DD-9BAF-9F06B587C6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027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243841"/>
            <a:ext cx="879348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882376"/>
            <a:ext cx="747522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3869635"/>
            <a:ext cx="6575895" cy="1388165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F137374-621D-48A3-937C-4046760C8660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97148" y="6223829"/>
            <a:ext cx="1279663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373380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641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ACDBA-4257-4AFA-AD34-5A17B4F55300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A54A6A-B736-424B-A461-DD07D9471141}"/>
              </a:ext>
            </a:extLst>
          </p:cNvPr>
          <p:cNvSpPr/>
          <p:nvPr/>
        </p:nvSpPr>
        <p:spPr>
          <a:xfrm>
            <a:off x="846814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373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1173575"/>
            <a:ext cx="747522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4154520"/>
            <a:ext cx="6576822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847AA-DE00-4A33-933F-1CBD3F2D722A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4020408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59C1D18-596C-4A46-A2BD-73A286C6F7F2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953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2057399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2057400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8DF-5E41-4F4F-92FD-888517B6CE41}" type="datetime1">
              <a:rPr lang="en-US" smtClean="0"/>
              <a:t>2025-04-23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4FB00-F04E-4239-9D65-0039C0394CB0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2381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2001511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721483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999032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719322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F8C9A-68B6-4162-9A9F-93E5C75AF707}" type="datetime1">
              <a:rPr lang="en-US" smtClean="0"/>
              <a:t>2025-04-23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9D5B90-141B-44D9-BEC0-A558419CFA32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79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0053C-B1DD-4B34-9B96-B9D485CF3C59}" type="datetime1">
              <a:rPr lang="en-US" smtClean="0"/>
              <a:t>2025-04-23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100" b="1"/>
            </a:lvl1pPr>
          </a:lstStyle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5F449E-F837-4EA1-A58D-7E2CA932D463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855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DD84B-8F8D-40FE-8614-52D9C11D79CA}" type="datetime1">
              <a:rPr lang="en-US" smtClean="0"/>
              <a:t>2025-04-23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F4AFE6-6A8F-441E-952B-130FFFB4070D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32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9489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1097280"/>
            <a:ext cx="3909060" cy="466344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94894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099A5-A3CA-4C23-B0F6-7BBDDFC73BED}" type="datetime1">
              <a:rPr lang="en-US" smtClean="0"/>
              <a:t>2025-04-23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2A32BE-F2A3-4F12-A8C0-09BD997E5102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kern="1200" smtClean="0">
                <a:solidFill>
                  <a:schemeClr val="lt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‹#›</a:t>
            </a:fld>
            <a:endParaRPr lang="en-IN" sz="1400" kern="1200" dirty="0">
              <a:solidFill>
                <a:schemeClr val="lt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804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9489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1069847"/>
            <a:ext cx="4574286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94894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D4115-33C9-4221-8CDE-3BBC3DAC4487}" type="datetime1">
              <a:rPr lang="en-US" smtClean="0"/>
              <a:t>2025-04-23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31849C-2872-4E43-9633-84F714AA45D0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kern="1200" smtClean="0">
                <a:solidFill>
                  <a:schemeClr val="lt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‹#›</a:t>
            </a:fld>
            <a:endParaRPr lang="en-IN" sz="1400" kern="1200" dirty="0">
              <a:solidFill>
                <a:schemeClr val="lt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496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28BC-BFC1-4B33-A6DC-BCFEE45A52BF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C1332-0CCA-4F8E-BE2B-75DDDED7AE4E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smtClean="0"/>
              <a:t>‹#›</a:t>
            </a:fld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25483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762000"/>
            <a:ext cx="1743075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762000"/>
            <a:ext cx="5572125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21D94-CC0C-43AB-99D4-6C5DBB60F19D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FFDDA1-89B3-4669-9E5C-82E52ECCD924}"/>
              </a:ext>
            </a:extLst>
          </p:cNvPr>
          <p:cNvSpPr/>
          <p:nvPr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/>
              <a:pPr lvl="0" algn="ctr"/>
              <a:t>‹#›</a:t>
            </a:fld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5700016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46374" y="461594"/>
            <a:ext cx="2651251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3BD8E8-5D0B-4CDF-BCED-4CCA8620A36A}" type="datetime1">
              <a:rPr lang="en-US" smtClean="0"/>
              <a:t>2025-04-23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173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243841"/>
            <a:ext cx="879348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609600"/>
            <a:ext cx="740664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2057400"/>
            <a:ext cx="7404653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6223829"/>
            <a:ext cx="17468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fld id="{3EF926CC-9014-45B9-9319-B3ABD70E7652}" type="datetime1">
              <a:rPr lang="en-US" smtClean="0"/>
              <a:t>2025-04-23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6223829"/>
            <a:ext cx="35383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lang="en-IN" spc="-1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3CFB57-0013-4E9E-AA54-EAB84A192B1B}"/>
              </a:ext>
            </a:extLst>
          </p:cNvPr>
          <p:cNvSpPr/>
          <p:nvPr/>
        </p:nvSpPr>
        <p:spPr>
          <a:xfrm>
            <a:off x="8471452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/>
              <a:pPr lvl="0" algn="ctr"/>
              <a:t>‹#›</a:t>
            </a:fld>
            <a:endParaRPr lang="en-IN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D3EEF7-35B4-40EB-928F-09FC3F136274}"/>
              </a:ext>
            </a:extLst>
          </p:cNvPr>
          <p:cNvCxnSpPr>
            <a:cxnSpLocks/>
          </p:cNvCxnSpPr>
          <p:nvPr userDrawn="1"/>
        </p:nvCxnSpPr>
        <p:spPr>
          <a:xfrm>
            <a:off x="76200" y="1066800"/>
            <a:ext cx="899160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77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45817" y="381000"/>
            <a:ext cx="414718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</a:t>
            </a:r>
            <a:r>
              <a:rPr b="1" spc="-75" dirty="0"/>
              <a:t> </a:t>
            </a:r>
            <a:r>
              <a:rPr b="1" spc="-10" dirty="0"/>
              <a:t>Management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869673" y="1077052"/>
            <a:ext cx="7404653" cy="1754633"/>
          </a:xfrm>
          <a:prstGeom prst="rect">
            <a:avLst/>
          </a:prstGeom>
        </p:spPr>
        <p:txBody>
          <a:bodyPr vert="horz" wrap="square" lIns="0" tIns="762304" rIns="0" bIns="0" rtlCol="0">
            <a:spAutoFit/>
          </a:bodyPr>
          <a:lstStyle/>
          <a:p>
            <a:pPr marL="0" marR="508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sz="3200" b="1" dirty="0">
                <a:latin typeface="Calibri"/>
                <a:cs typeface="Calibri"/>
              </a:rPr>
              <a:t>Disk</a:t>
            </a:r>
            <a:r>
              <a:rPr sz="3200" b="1" spc="-4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is</a:t>
            </a:r>
            <a:r>
              <a:rPr sz="3200" b="1" spc="-2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an</a:t>
            </a:r>
            <a:r>
              <a:rPr sz="3200" b="1" spc="-2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I/O</a:t>
            </a:r>
            <a:r>
              <a:rPr sz="3200" b="1" spc="-4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devices</a:t>
            </a:r>
            <a:r>
              <a:rPr sz="3200" b="1" spc="-2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that</a:t>
            </a:r>
            <a:r>
              <a:rPr sz="3200" b="1" spc="-4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is</a:t>
            </a:r>
            <a:r>
              <a:rPr sz="3200" b="1" spc="-2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common</a:t>
            </a:r>
            <a:r>
              <a:rPr sz="3200" b="1" spc="-3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to</a:t>
            </a:r>
            <a:r>
              <a:rPr sz="3200" b="1" spc="-15" dirty="0">
                <a:latin typeface="Calibri"/>
                <a:cs typeface="Calibri"/>
              </a:rPr>
              <a:t> </a:t>
            </a:r>
            <a:r>
              <a:rPr sz="3200" b="1" spc="-10" dirty="0">
                <a:latin typeface="Calibri"/>
                <a:cs typeface="Calibri"/>
              </a:rPr>
              <a:t>every computer.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0AFD7A-5D24-418D-BC92-C3B8169F9AA4}"/>
              </a:ext>
            </a:extLst>
          </p:cNvPr>
          <p:cNvSpPr txBox="1"/>
          <p:nvPr/>
        </p:nvSpPr>
        <p:spPr>
          <a:xfrm>
            <a:off x="869673" y="3631532"/>
            <a:ext cx="525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Disk Structure </a:t>
            </a:r>
          </a:p>
          <a:p>
            <a:r>
              <a:rPr lang="en-IN" dirty="0"/>
              <a:t>Disk Scheduling RAID</a:t>
            </a:r>
          </a:p>
          <a:p>
            <a:r>
              <a:rPr lang="en-IN" dirty="0"/>
              <a:t>Disk Formatting &amp;   Error Handling </a:t>
            </a:r>
          </a:p>
          <a:p>
            <a:r>
              <a:rPr lang="en-IN" dirty="0"/>
              <a:t>RAM Disks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3439" y="369869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 Structure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5" name="object 5"/>
          <p:cNvSpPr txBox="1"/>
          <p:nvPr/>
        </p:nvSpPr>
        <p:spPr>
          <a:xfrm>
            <a:off x="519111" y="1373970"/>
            <a:ext cx="8075295" cy="402738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42900" marR="8255" indent="-342900" algn="just">
              <a:lnSpc>
                <a:spcPts val="3240"/>
              </a:lnSpc>
              <a:buFont typeface="Arial" panose="020B0604020202020204" pitchFamily="34" charset="0"/>
              <a:buChar char="•"/>
              <a:tabLst>
                <a:tab pos="2556510" algn="l"/>
                <a:tab pos="4112260" algn="l"/>
                <a:tab pos="4612640" algn="l"/>
                <a:tab pos="5513070" algn="l"/>
                <a:tab pos="6505575" algn="l"/>
                <a:tab pos="6833234" algn="l"/>
              </a:tabLst>
            </a:pPr>
            <a:r>
              <a:rPr lang="en-US"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Disks comes in many sizes and information may be stored optically or magnetically; however, all disks share a number of important features.</a:t>
            </a:r>
          </a:p>
          <a:p>
            <a:pPr marL="355600" marR="6350" indent="-342900" algn="just">
              <a:lnSpc>
                <a:spcPts val="3240"/>
              </a:lnSpc>
              <a:spcBef>
                <a:spcPts val="725"/>
              </a:spcBef>
              <a:buFont typeface="Arial MT"/>
              <a:buChar char="•"/>
              <a:tabLst>
                <a:tab pos="355600" algn="l"/>
                <a:tab pos="1014094" algn="l"/>
                <a:tab pos="2576195" algn="l"/>
                <a:tab pos="3703954" algn="l"/>
                <a:tab pos="4708525" algn="l"/>
                <a:tab pos="5572760" algn="l"/>
                <a:tab pos="6577330" algn="l"/>
              </a:tabLst>
            </a:pP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floppy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disks,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disks,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CD-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ROMs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DVDs.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5080" indent="-342900" algn="just">
              <a:lnSpc>
                <a:spcPts val="3240"/>
              </a:lnSpc>
              <a:spcBef>
                <a:spcPts val="720"/>
              </a:spcBef>
              <a:buFont typeface="Arial MT"/>
              <a:buChar char="•"/>
              <a:tabLst>
                <a:tab pos="355600" algn="l"/>
                <a:tab pos="1205865" algn="l"/>
                <a:tab pos="2533650" algn="l"/>
                <a:tab pos="2974340" algn="l"/>
                <a:tab pos="4312285" algn="l"/>
                <a:tab pos="5124450" algn="l"/>
                <a:tab pos="6556375" algn="l"/>
                <a:tab pos="7077075" algn="l"/>
              </a:tabLst>
            </a:pP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surface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divided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into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called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sectors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tracks.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10795" indent="-342900" algn="just">
              <a:lnSpc>
                <a:spcPts val="3240"/>
              </a:lnSpc>
              <a:spcBef>
                <a:spcPts val="720"/>
              </a:spcBef>
              <a:buFont typeface="Arial MT"/>
              <a:buChar char="•"/>
              <a:tabLst>
                <a:tab pos="355600" algn="l"/>
                <a:tab pos="1161415" algn="l"/>
                <a:tab pos="2139950" algn="l"/>
                <a:tab pos="3603625" algn="l"/>
                <a:tab pos="4718050" algn="l"/>
                <a:tab pos="5274310" algn="l"/>
                <a:tab pos="5861050" algn="l"/>
                <a:tab pos="6609715" algn="l"/>
                <a:tab pos="7753984" algn="l"/>
              </a:tabLst>
            </a:pP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cylinder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particular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395288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b="1" dirty="0"/>
              <a:t>Hard Disk Structure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523936"/>
            <a:ext cx="8063008" cy="4938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7706" y="417855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b="1" dirty="0"/>
              <a:t>Disk Operations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6870"/>
            <a:ext cx="8072755" cy="4415790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355600" marR="5715" indent="-342900" algn="just">
              <a:lnSpc>
                <a:spcPts val="2880"/>
              </a:lnSpc>
              <a:spcBef>
                <a:spcPts val="795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b="1" dirty="0">
                <a:latin typeface="Calibri"/>
                <a:cs typeface="Calibri"/>
              </a:rPr>
              <a:t>Latency</a:t>
            </a:r>
            <a:r>
              <a:rPr sz="3000" b="1" spc="315" dirty="0">
                <a:latin typeface="Calibri"/>
                <a:cs typeface="Calibri"/>
              </a:rPr>
              <a:t> </a:t>
            </a:r>
            <a:r>
              <a:rPr sz="3000" b="1" dirty="0">
                <a:latin typeface="Calibri"/>
                <a:cs typeface="Calibri"/>
              </a:rPr>
              <a:t>Time</a:t>
            </a:r>
            <a:r>
              <a:rPr sz="3000" dirty="0">
                <a:latin typeface="Calibri"/>
                <a:cs typeface="Calibri"/>
              </a:rPr>
              <a:t>:</a:t>
            </a:r>
            <a:r>
              <a:rPr sz="3000" spc="3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29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time</a:t>
            </a:r>
            <a:r>
              <a:rPr sz="3000" spc="3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taken</a:t>
            </a:r>
            <a:r>
              <a:rPr sz="3000" spc="32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3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rotate</a:t>
            </a:r>
            <a:r>
              <a:rPr sz="3000" spc="32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from</a:t>
            </a:r>
            <a:r>
              <a:rPr sz="3000" spc="32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its </a:t>
            </a:r>
            <a:r>
              <a:rPr sz="3000" dirty="0">
                <a:latin typeface="Calibri"/>
                <a:cs typeface="Calibri"/>
              </a:rPr>
              <a:t>current</a:t>
            </a:r>
            <a:r>
              <a:rPr sz="3000" spc="6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position</a:t>
            </a:r>
            <a:r>
              <a:rPr sz="3000" spc="7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6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6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position</a:t>
            </a:r>
            <a:r>
              <a:rPr sz="3000" spc="6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adjacent</a:t>
            </a:r>
            <a:r>
              <a:rPr sz="3000" spc="6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60" dirty="0">
                <a:latin typeface="Calibri"/>
                <a:cs typeface="Calibri"/>
              </a:rPr>
              <a:t>  </a:t>
            </a:r>
            <a:r>
              <a:rPr sz="3000" spc="-25" dirty="0">
                <a:latin typeface="Calibri"/>
                <a:cs typeface="Calibri"/>
              </a:rPr>
              <a:t>the </a:t>
            </a:r>
            <a:r>
              <a:rPr sz="3000" dirty="0">
                <a:latin typeface="Calibri"/>
                <a:cs typeface="Calibri"/>
              </a:rPr>
              <a:t>read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write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head.</a:t>
            </a:r>
            <a:endParaRPr sz="3000">
              <a:latin typeface="Calibri"/>
              <a:cs typeface="Calibri"/>
            </a:endParaRPr>
          </a:p>
          <a:p>
            <a:pPr marL="355600" marR="6985" indent="-342900" algn="just">
              <a:lnSpc>
                <a:spcPts val="2880"/>
              </a:lnSpc>
              <a:spcBef>
                <a:spcPts val="720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b="1" dirty="0">
                <a:latin typeface="Calibri"/>
                <a:cs typeface="Calibri"/>
              </a:rPr>
              <a:t>Seek:</a:t>
            </a:r>
            <a:r>
              <a:rPr sz="3000" b="1" spc="1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8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processes</a:t>
            </a:r>
            <a:r>
              <a:rPr sz="3000" spc="1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of</a:t>
            </a:r>
            <a:r>
              <a:rPr sz="3000" spc="1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moving</a:t>
            </a:r>
            <a:r>
              <a:rPr sz="3000" spc="1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9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arm</a:t>
            </a:r>
            <a:r>
              <a:rPr sz="3000" spc="114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assembly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new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cylinder.</a:t>
            </a:r>
            <a:endParaRPr sz="300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750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i="1" dirty="0">
                <a:latin typeface="Calibri"/>
                <a:cs typeface="Calibri"/>
              </a:rPr>
              <a:t>To</a:t>
            </a:r>
            <a:r>
              <a:rPr sz="3000" i="1" spc="32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access</a:t>
            </a:r>
            <a:r>
              <a:rPr sz="3000" i="1" spc="32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a</a:t>
            </a:r>
            <a:r>
              <a:rPr sz="3000" i="1" spc="31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particular</a:t>
            </a:r>
            <a:r>
              <a:rPr sz="3000" i="1" spc="32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record,</a:t>
            </a:r>
            <a:r>
              <a:rPr sz="3000" i="1" spc="32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first</a:t>
            </a:r>
            <a:r>
              <a:rPr sz="3000" i="1" spc="32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the</a:t>
            </a:r>
            <a:r>
              <a:rPr sz="3000" i="1" spc="330" dirty="0">
                <a:latin typeface="Calibri"/>
                <a:cs typeface="Calibri"/>
              </a:rPr>
              <a:t>  </a:t>
            </a:r>
            <a:r>
              <a:rPr sz="3000" i="1" spc="-25" dirty="0">
                <a:latin typeface="Calibri"/>
                <a:cs typeface="Calibri"/>
              </a:rPr>
              <a:t>arm </a:t>
            </a:r>
            <a:r>
              <a:rPr sz="3000" i="1" dirty="0">
                <a:latin typeface="Calibri"/>
                <a:cs typeface="Calibri"/>
              </a:rPr>
              <a:t>assembly</a:t>
            </a:r>
            <a:r>
              <a:rPr sz="3000" i="1" spc="24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must</a:t>
            </a:r>
            <a:r>
              <a:rPr sz="3000" i="1" spc="24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be</a:t>
            </a:r>
            <a:r>
              <a:rPr sz="3000" i="1" spc="24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moved</a:t>
            </a:r>
            <a:r>
              <a:rPr sz="3000" i="1" spc="26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to</a:t>
            </a:r>
            <a:r>
              <a:rPr sz="3000" i="1" spc="24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the</a:t>
            </a:r>
            <a:r>
              <a:rPr sz="3000" i="1" spc="245" dirty="0">
                <a:latin typeface="Calibri"/>
                <a:cs typeface="Calibri"/>
              </a:rPr>
              <a:t>  </a:t>
            </a:r>
            <a:r>
              <a:rPr sz="3000" i="1" spc="-10" dirty="0">
                <a:latin typeface="Calibri"/>
                <a:cs typeface="Calibri"/>
              </a:rPr>
              <a:t>appropriate </a:t>
            </a:r>
            <a:r>
              <a:rPr sz="3000" i="1" dirty="0">
                <a:latin typeface="Calibri"/>
                <a:cs typeface="Calibri"/>
              </a:rPr>
              <a:t>cylinder,</a:t>
            </a:r>
            <a:r>
              <a:rPr sz="3000" i="1" spc="24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and</a:t>
            </a:r>
            <a:r>
              <a:rPr sz="3000" i="1" spc="25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then</a:t>
            </a:r>
            <a:r>
              <a:rPr sz="3000" i="1" spc="25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rotate</a:t>
            </a:r>
            <a:r>
              <a:rPr sz="3000" i="1" spc="245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the</a:t>
            </a:r>
            <a:r>
              <a:rPr sz="3000" i="1" spc="25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disk</a:t>
            </a:r>
            <a:r>
              <a:rPr sz="3000" i="1" spc="24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until</a:t>
            </a:r>
            <a:r>
              <a:rPr sz="3000" i="1" spc="250" dirty="0">
                <a:latin typeface="Calibri"/>
                <a:cs typeface="Calibri"/>
              </a:rPr>
              <a:t>  </a:t>
            </a:r>
            <a:r>
              <a:rPr sz="3000" i="1" dirty="0">
                <a:latin typeface="Calibri"/>
                <a:cs typeface="Calibri"/>
              </a:rPr>
              <a:t>it</a:t>
            </a:r>
            <a:r>
              <a:rPr sz="3000" i="1" spc="250" dirty="0">
                <a:latin typeface="Calibri"/>
                <a:cs typeface="Calibri"/>
              </a:rPr>
              <a:t>  </a:t>
            </a:r>
            <a:r>
              <a:rPr sz="3000" i="1" spc="-25" dirty="0">
                <a:latin typeface="Calibri"/>
                <a:cs typeface="Calibri"/>
              </a:rPr>
              <a:t>is </a:t>
            </a:r>
            <a:r>
              <a:rPr sz="3000" i="1" dirty="0">
                <a:latin typeface="Calibri"/>
                <a:cs typeface="Calibri"/>
              </a:rPr>
              <a:t>immediately</a:t>
            </a:r>
            <a:r>
              <a:rPr sz="3000" i="1" spc="-60" dirty="0">
                <a:latin typeface="Calibri"/>
                <a:cs typeface="Calibri"/>
              </a:rPr>
              <a:t> </a:t>
            </a:r>
            <a:r>
              <a:rPr sz="3000" i="1" dirty="0">
                <a:latin typeface="Calibri"/>
                <a:cs typeface="Calibri"/>
              </a:rPr>
              <a:t>under</a:t>
            </a:r>
            <a:r>
              <a:rPr sz="3000" i="1" spc="-60" dirty="0">
                <a:latin typeface="Calibri"/>
                <a:cs typeface="Calibri"/>
              </a:rPr>
              <a:t> </a:t>
            </a:r>
            <a:r>
              <a:rPr sz="3000" i="1" dirty="0">
                <a:latin typeface="Calibri"/>
                <a:cs typeface="Calibri"/>
              </a:rPr>
              <a:t>the</a:t>
            </a:r>
            <a:r>
              <a:rPr sz="3000" i="1" spc="-55" dirty="0">
                <a:latin typeface="Calibri"/>
                <a:cs typeface="Calibri"/>
              </a:rPr>
              <a:t> </a:t>
            </a:r>
            <a:r>
              <a:rPr sz="3000" i="1" dirty="0">
                <a:latin typeface="Calibri"/>
                <a:cs typeface="Calibri"/>
              </a:rPr>
              <a:t>read-write</a:t>
            </a:r>
            <a:r>
              <a:rPr sz="3000" i="1" spc="-65" dirty="0">
                <a:latin typeface="Calibri"/>
                <a:cs typeface="Calibri"/>
              </a:rPr>
              <a:t> </a:t>
            </a:r>
            <a:r>
              <a:rPr sz="3000" i="1" spc="-10" dirty="0">
                <a:latin typeface="Calibri"/>
                <a:cs typeface="Calibri"/>
              </a:rPr>
              <a:t>head.</a:t>
            </a:r>
            <a:endParaRPr sz="3000">
              <a:latin typeface="Calibri"/>
              <a:cs typeface="Calibri"/>
            </a:endParaRPr>
          </a:p>
          <a:p>
            <a:pPr marL="355600" marR="5715" indent="-342900" algn="just">
              <a:lnSpc>
                <a:spcPts val="288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The</a:t>
            </a:r>
            <a:r>
              <a:rPr sz="3000" spc="5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time</a:t>
            </a:r>
            <a:r>
              <a:rPr sz="3000" spc="4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taken</a:t>
            </a:r>
            <a:r>
              <a:rPr sz="3000" spc="4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5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access</a:t>
            </a:r>
            <a:r>
              <a:rPr sz="3000" spc="5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5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whole</a:t>
            </a:r>
            <a:r>
              <a:rPr sz="3000" spc="5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record</a:t>
            </a:r>
            <a:r>
              <a:rPr sz="3000" spc="55" dirty="0">
                <a:latin typeface="Calibri"/>
                <a:cs typeface="Calibri"/>
              </a:rPr>
              <a:t>  </a:t>
            </a:r>
            <a:r>
              <a:rPr sz="3000" spc="-25" dirty="0">
                <a:latin typeface="Calibri"/>
                <a:cs typeface="Calibri"/>
              </a:rPr>
              <a:t>is </a:t>
            </a:r>
            <a:r>
              <a:rPr sz="3000" dirty="0">
                <a:latin typeface="Calibri"/>
                <a:cs typeface="Calibri"/>
              </a:rPr>
              <a:t>called</a:t>
            </a:r>
            <a:r>
              <a:rPr sz="3000" spc="-90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transmission</a:t>
            </a:r>
            <a:r>
              <a:rPr sz="3000" b="1" spc="-60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time.</a:t>
            </a:r>
            <a:endParaRPr sz="3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b="1" dirty="0"/>
              <a:t>Disk Scheduling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5930" cy="414536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25780" indent="-457200" algn="just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3200" dirty="0">
                <a:latin typeface="Calibri"/>
                <a:cs typeface="Calibri"/>
              </a:rPr>
              <a:t>OS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responsible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hardware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efficiently</a:t>
            </a:r>
            <a:r>
              <a:rPr lang="en-US"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disk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this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means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fast</a:t>
            </a:r>
            <a:r>
              <a:rPr sz="3200" b="1" spc="-55" dirty="0">
                <a:latin typeface="Calibri"/>
                <a:cs typeface="Calibri"/>
              </a:rPr>
              <a:t> </a:t>
            </a:r>
            <a:r>
              <a:rPr sz="3200" b="1" spc="-10" dirty="0">
                <a:latin typeface="Calibri"/>
                <a:cs typeface="Calibri"/>
              </a:rPr>
              <a:t>seek, </a:t>
            </a:r>
            <a:r>
              <a:rPr sz="3200" b="1" dirty="0">
                <a:latin typeface="Calibri"/>
                <a:cs typeface="Calibri"/>
              </a:rPr>
              <a:t>latency</a:t>
            </a:r>
            <a:r>
              <a:rPr sz="3200" b="1" spc="-14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and</a:t>
            </a:r>
            <a:r>
              <a:rPr sz="3200" b="1" spc="-11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transmission</a:t>
            </a:r>
            <a:r>
              <a:rPr sz="3200" b="1" spc="-90" dirty="0">
                <a:latin typeface="Calibri"/>
                <a:cs typeface="Calibri"/>
              </a:rPr>
              <a:t> </a:t>
            </a:r>
            <a:r>
              <a:rPr sz="3200" b="1" spc="-10" dirty="0">
                <a:latin typeface="Calibri"/>
                <a:cs typeface="Calibri"/>
              </a:rPr>
              <a:t>time.</a:t>
            </a:r>
            <a:endParaRPr sz="3200" b="1" dirty="0">
              <a:latin typeface="Calibri"/>
              <a:cs typeface="Calibri"/>
            </a:endParaRPr>
          </a:p>
          <a:p>
            <a:pPr algn="just">
              <a:lnSpc>
                <a:spcPct val="100000"/>
              </a:lnSpc>
              <a:spcBef>
                <a:spcPts val="1470"/>
              </a:spcBef>
            </a:pPr>
            <a:endParaRPr sz="32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100000"/>
              </a:lnSpc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For</a:t>
            </a:r>
            <a:r>
              <a:rPr sz="3200" spc="4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most</a:t>
            </a:r>
            <a:r>
              <a:rPr sz="3200" spc="43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disks,</a:t>
            </a:r>
            <a:r>
              <a:rPr sz="3200" spc="4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4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seek</a:t>
            </a:r>
            <a:r>
              <a:rPr sz="3200" spc="4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time</a:t>
            </a:r>
            <a:r>
              <a:rPr sz="3200" spc="4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dominates</a:t>
            </a:r>
            <a:r>
              <a:rPr sz="3200" spc="44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the </a:t>
            </a:r>
            <a:r>
              <a:rPr sz="3200" dirty="0">
                <a:latin typeface="Calibri"/>
                <a:cs typeface="Calibri"/>
              </a:rPr>
              <a:t>other</a:t>
            </a:r>
            <a:r>
              <a:rPr sz="3200" spc="459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two</a:t>
            </a:r>
            <a:r>
              <a:rPr sz="3200" spc="4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times,</a:t>
            </a:r>
            <a:r>
              <a:rPr sz="3200" spc="4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</a:t>
            </a:r>
            <a:r>
              <a:rPr sz="3200" spc="4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reducing</a:t>
            </a:r>
            <a:r>
              <a:rPr sz="3200" spc="4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48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mean</a:t>
            </a:r>
            <a:r>
              <a:rPr sz="3200" spc="47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seek </a:t>
            </a:r>
            <a:r>
              <a:rPr sz="3200" dirty="0">
                <a:latin typeface="Calibri"/>
                <a:cs typeface="Calibri"/>
              </a:rPr>
              <a:t>time</a:t>
            </a:r>
            <a:r>
              <a:rPr sz="3200" spc="350" dirty="0">
                <a:latin typeface="Calibri"/>
                <a:cs typeface="Calibri"/>
              </a:rPr>
              <a:t>   </a:t>
            </a:r>
            <a:r>
              <a:rPr sz="3200" dirty="0">
                <a:latin typeface="Calibri"/>
                <a:cs typeface="Calibri"/>
              </a:rPr>
              <a:t>can</a:t>
            </a:r>
            <a:r>
              <a:rPr sz="3200" spc="365" dirty="0">
                <a:latin typeface="Calibri"/>
                <a:cs typeface="Calibri"/>
              </a:rPr>
              <a:t>   </a:t>
            </a:r>
            <a:r>
              <a:rPr sz="3200" dirty="0">
                <a:latin typeface="Calibri"/>
                <a:cs typeface="Calibri"/>
              </a:rPr>
              <a:t>improve</a:t>
            </a:r>
            <a:r>
              <a:rPr sz="3200" spc="365" dirty="0">
                <a:latin typeface="Calibri"/>
                <a:cs typeface="Calibri"/>
              </a:rPr>
              <a:t>   </a:t>
            </a:r>
            <a:r>
              <a:rPr sz="3200" dirty="0">
                <a:latin typeface="Calibri"/>
                <a:cs typeface="Calibri"/>
              </a:rPr>
              <a:t>system</a:t>
            </a:r>
            <a:r>
              <a:rPr sz="3200" spc="365" dirty="0">
                <a:latin typeface="Calibri"/>
                <a:cs typeface="Calibri"/>
              </a:rPr>
              <a:t>   </a:t>
            </a:r>
            <a:r>
              <a:rPr sz="3200" spc="-10" dirty="0">
                <a:latin typeface="Calibri"/>
                <a:cs typeface="Calibri"/>
              </a:rPr>
              <a:t>performance substantially.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7343" y="-9525"/>
            <a:ext cx="7406640" cy="1356360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b="1" dirty="0"/>
              <a:t>First-Come First-Served (FCFS)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9820" y="1346835"/>
            <a:ext cx="7593213" cy="47784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0908" y="0"/>
            <a:ext cx="7406640" cy="1356360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b="1" dirty="0"/>
              <a:t>Shortest-Seek-Time-First (SSTF)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9747" y="1365885"/>
            <a:ext cx="7762557" cy="44779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95400" y="376477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105"/>
              </a:spcBef>
            </a:pPr>
            <a:r>
              <a:rPr b="1" spc="-25" dirty="0"/>
              <a:t>Shortest-</a:t>
            </a:r>
            <a:r>
              <a:rPr b="1" spc="-10" dirty="0"/>
              <a:t>Seek-Time-</a:t>
            </a:r>
            <a:r>
              <a:rPr b="1" dirty="0"/>
              <a:t>First</a:t>
            </a:r>
            <a:r>
              <a:rPr b="1" spc="-80" dirty="0"/>
              <a:t> </a:t>
            </a:r>
            <a:r>
              <a:rPr b="1" spc="-10" dirty="0"/>
              <a:t>(SSTF)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869673" y="1219200"/>
            <a:ext cx="7404653" cy="4238339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09"/>
              </a:spcBef>
              <a:buFont typeface="Arial MT"/>
              <a:buChar char="•"/>
              <a:tabLst>
                <a:tab pos="354965" algn="l"/>
              </a:tabLst>
            </a:pPr>
            <a:r>
              <a:rPr sz="2800" spc="-10" dirty="0"/>
              <a:t>Advantages:</a:t>
            </a:r>
            <a:endParaRPr sz="2800" dirty="0"/>
          </a:p>
          <a:p>
            <a:pPr marL="756285" lvl="1" indent="-286385">
              <a:lnSpc>
                <a:spcPct val="100000"/>
              </a:lnSpc>
              <a:spcBef>
                <a:spcPts val="355"/>
              </a:spcBef>
              <a:buFont typeface="Arial MT"/>
              <a:buChar char="–"/>
              <a:tabLst>
                <a:tab pos="756285" algn="l"/>
              </a:tabLst>
            </a:pPr>
            <a:r>
              <a:rPr sz="2400" dirty="0">
                <a:latin typeface="Calibri"/>
                <a:cs typeface="Calibri"/>
              </a:rPr>
              <a:t>Gives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substantial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improvement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performance.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354965" algn="l"/>
              </a:tabLst>
            </a:pPr>
            <a:r>
              <a:rPr sz="2800" spc="-10" dirty="0"/>
              <a:t>Problems:</a:t>
            </a:r>
            <a:endParaRPr sz="2800" dirty="0"/>
          </a:p>
          <a:p>
            <a:pPr marL="756285" lvl="1" indent="-286385">
              <a:lnSpc>
                <a:spcPct val="100000"/>
              </a:lnSpc>
              <a:spcBef>
                <a:spcPts val="355"/>
              </a:spcBef>
              <a:buFont typeface="Arial MT"/>
              <a:buChar char="–"/>
              <a:tabLst>
                <a:tab pos="756285" algn="l"/>
              </a:tabLst>
            </a:pPr>
            <a:r>
              <a:rPr sz="2400" dirty="0">
                <a:latin typeface="Calibri"/>
                <a:cs typeface="Calibri"/>
              </a:rPr>
              <a:t>SSTF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scheduling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form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SJF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scheduling;</a:t>
            </a:r>
            <a:endParaRPr sz="24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35"/>
              </a:spcBef>
              <a:buFont typeface="Arial MT"/>
              <a:buChar char="–"/>
              <a:tabLst>
                <a:tab pos="756285" algn="l"/>
              </a:tabLst>
            </a:pPr>
            <a:r>
              <a:rPr sz="2400" dirty="0">
                <a:latin typeface="Calibri"/>
                <a:cs typeface="Calibri"/>
              </a:rPr>
              <a:t>may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cause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starvation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requests.</a:t>
            </a:r>
            <a:endParaRPr sz="24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spcBef>
                <a:spcPts val="340"/>
              </a:spcBef>
              <a:buFont typeface="Arial MT"/>
              <a:buChar char="–"/>
              <a:tabLst>
                <a:tab pos="75565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optimal.</a:t>
            </a:r>
            <a:endParaRPr sz="24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ts val="3460"/>
              </a:lnSpc>
              <a:spcBef>
                <a:spcPts val="800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dirty="0"/>
              <a:t>Used</a:t>
            </a:r>
            <a:r>
              <a:rPr sz="2800" spc="30" dirty="0"/>
              <a:t> </a:t>
            </a:r>
            <a:r>
              <a:rPr sz="2800" dirty="0"/>
              <a:t>in</a:t>
            </a:r>
            <a:r>
              <a:rPr sz="2800" spc="50" dirty="0"/>
              <a:t> </a:t>
            </a:r>
            <a:r>
              <a:rPr sz="2800" dirty="0"/>
              <a:t>batch</a:t>
            </a:r>
            <a:r>
              <a:rPr sz="2800" spc="45" dirty="0"/>
              <a:t> </a:t>
            </a:r>
            <a:r>
              <a:rPr sz="2800" dirty="0"/>
              <a:t>system</a:t>
            </a:r>
            <a:r>
              <a:rPr sz="2800" spc="25" dirty="0"/>
              <a:t> </a:t>
            </a:r>
            <a:r>
              <a:rPr sz="2800" dirty="0"/>
              <a:t>where</a:t>
            </a:r>
            <a:r>
              <a:rPr sz="2800" spc="35" dirty="0"/>
              <a:t> </a:t>
            </a:r>
            <a:r>
              <a:rPr sz="2800" dirty="0"/>
              <a:t>throughput</a:t>
            </a:r>
            <a:r>
              <a:rPr sz="2800" spc="45" dirty="0"/>
              <a:t> </a:t>
            </a:r>
            <a:r>
              <a:rPr sz="2800" dirty="0"/>
              <a:t>is</a:t>
            </a:r>
            <a:r>
              <a:rPr sz="2800" spc="50" dirty="0"/>
              <a:t> </a:t>
            </a:r>
            <a:r>
              <a:rPr sz="2800" spc="-25" dirty="0"/>
              <a:t>the </a:t>
            </a:r>
            <a:r>
              <a:rPr sz="2800" dirty="0"/>
              <a:t>major</a:t>
            </a:r>
            <a:r>
              <a:rPr sz="2800" spc="585" dirty="0"/>
              <a:t>  </a:t>
            </a:r>
            <a:r>
              <a:rPr sz="2800" dirty="0"/>
              <a:t>consideration</a:t>
            </a:r>
            <a:r>
              <a:rPr sz="2800" spc="595" dirty="0"/>
              <a:t>  </a:t>
            </a:r>
            <a:r>
              <a:rPr sz="2800" dirty="0"/>
              <a:t>but</a:t>
            </a:r>
            <a:r>
              <a:rPr sz="2800" spc="590" dirty="0"/>
              <a:t>  </a:t>
            </a:r>
            <a:r>
              <a:rPr sz="2800" dirty="0"/>
              <a:t>unacceptable</a:t>
            </a:r>
            <a:r>
              <a:rPr sz="2800" spc="590" dirty="0"/>
              <a:t>  </a:t>
            </a:r>
            <a:r>
              <a:rPr sz="2800" spc="-25" dirty="0"/>
              <a:t>in </a:t>
            </a:r>
            <a:r>
              <a:rPr sz="2800" spc="-10" dirty="0"/>
              <a:t>interactive</a:t>
            </a:r>
            <a:r>
              <a:rPr sz="2800" spc="-160" dirty="0"/>
              <a:t> </a:t>
            </a:r>
            <a:r>
              <a:rPr sz="2800" spc="-10" dirty="0"/>
              <a:t>system.</a:t>
            </a:r>
            <a:endParaRPr sz="2800" dirty="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17531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40050">
              <a:lnSpc>
                <a:spcPct val="100000"/>
              </a:lnSpc>
              <a:spcBef>
                <a:spcPts val="105"/>
              </a:spcBef>
            </a:pPr>
            <a:r>
              <a:rPr b="1" spc="-20" dirty="0"/>
              <a:t>SCAN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4670" y="1327785"/>
            <a:ext cx="8074659" cy="4384534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5080" indent="-32384" algn="just">
              <a:lnSpc>
                <a:spcPts val="2590"/>
              </a:lnSpc>
              <a:spcBef>
                <a:spcPts val="730"/>
              </a:spcBef>
            </a:pPr>
            <a:r>
              <a:rPr sz="2700" dirty="0">
                <a:latin typeface="Calibri"/>
                <a:cs typeface="Calibri"/>
              </a:rPr>
              <a:t>The</a:t>
            </a:r>
            <a:r>
              <a:rPr sz="2700" spc="1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disk</a:t>
            </a:r>
            <a:r>
              <a:rPr sz="2700" spc="13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arm</a:t>
            </a:r>
            <a:r>
              <a:rPr sz="2700" spc="15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starts</a:t>
            </a:r>
            <a:r>
              <a:rPr sz="2700" spc="1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at</a:t>
            </a:r>
            <a:r>
              <a:rPr sz="2700" spc="14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one</a:t>
            </a:r>
            <a:r>
              <a:rPr sz="2700" spc="15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end</a:t>
            </a:r>
            <a:r>
              <a:rPr sz="2700" spc="15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15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1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disk,</a:t>
            </a:r>
            <a:r>
              <a:rPr sz="2700" spc="1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and</a:t>
            </a:r>
            <a:r>
              <a:rPr sz="2700" spc="150" dirty="0">
                <a:latin typeface="Calibri"/>
                <a:cs typeface="Calibri"/>
              </a:rPr>
              <a:t>  </a:t>
            </a:r>
            <a:r>
              <a:rPr sz="2700" spc="-10" dirty="0">
                <a:latin typeface="Calibri"/>
                <a:cs typeface="Calibri"/>
              </a:rPr>
              <a:t>moves </a:t>
            </a:r>
            <a:r>
              <a:rPr sz="2700" dirty="0">
                <a:latin typeface="Calibri"/>
                <a:cs typeface="Calibri"/>
              </a:rPr>
              <a:t>toward</a:t>
            </a:r>
            <a:r>
              <a:rPr sz="2700" spc="2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27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other</a:t>
            </a:r>
            <a:r>
              <a:rPr sz="2700" spc="2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end,</a:t>
            </a:r>
            <a:r>
              <a:rPr sz="2700" spc="2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servicing</a:t>
            </a:r>
            <a:r>
              <a:rPr sz="2700" spc="26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requests</a:t>
            </a:r>
            <a:r>
              <a:rPr sz="2700" spc="265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until</a:t>
            </a:r>
            <a:r>
              <a:rPr sz="2700" spc="2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it</a:t>
            </a:r>
            <a:r>
              <a:rPr sz="2700" spc="26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gets </a:t>
            </a:r>
            <a:r>
              <a:rPr sz="2700" dirty="0">
                <a:latin typeface="Calibri"/>
                <a:cs typeface="Calibri"/>
              </a:rPr>
              <a:t>to</a:t>
            </a:r>
            <a:r>
              <a:rPr sz="2700" spc="350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355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other</a:t>
            </a:r>
            <a:r>
              <a:rPr sz="2700" spc="355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end</a:t>
            </a:r>
            <a:r>
              <a:rPr sz="2700" spc="360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360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355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disk,</a:t>
            </a:r>
            <a:r>
              <a:rPr sz="2700" spc="355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where</a:t>
            </a:r>
            <a:r>
              <a:rPr sz="2700" spc="350" dirty="0">
                <a:latin typeface="Calibri"/>
                <a:cs typeface="Calibri"/>
              </a:rPr>
              <a:t> 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360" dirty="0">
                <a:latin typeface="Calibri"/>
                <a:cs typeface="Calibri"/>
              </a:rPr>
              <a:t>  </a:t>
            </a:r>
            <a:r>
              <a:rPr sz="2700" spc="-20" dirty="0">
                <a:latin typeface="Calibri"/>
                <a:cs typeface="Calibri"/>
              </a:rPr>
              <a:t>head </a:t>
            </a:r>
            <a:r>
              <a:rPr sz="2700" dirty="0">
                <a:latin typeface="Calibri"/>
                <a:cs typeface="Calibri"/>
              </a:rPr>
              <a:t>movement</a:t>
            </a:r>
            <a:r>
              <a:rPr sz="2700" spc="-8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reversed</a:t>
            </a:r>
            <a:r>
              <a:rPr sz="2700" spc="-7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and</a:t>
            </a:r>
            <a:r>
              <a:rPr sz="2700" spc="-6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servicing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continues.</a:t>
            </a:r>
            <a:endParaRPr sz="2700" dirty="0">
              <a:latin typeface="Calibri"/>
              <a:cs typeface="Calibri"/>
            </a:endParaRPr>
          </a:p>
          <a:p>
            <a:pPr marL="117729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</a:pP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Sometimes</a:t>
            </a:r>
            <a:r>
              <a:rPr sz="27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called</a:t>
            </a:r>
            <a:r>
              <a:rPr sz="2700" spc="-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7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elevator</a:t>
            </a:r>
            <a:r>
              <a:rPr sz="2700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algorithm</a:t>
            </a:r>
            <a:r>
              <a:rPr sz="2700" spc="-10" dirty="0">
                <a:latin typeface="Calibri"/>
                <a:cs typeface="Calibri"/>
              </a:rPr>
              <a:t>.</a:t>
            </a:r>
            <a:endParaRPr sz="27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 MT"/>
              <a:buChar char="•"/>
              <a:tabLst>
                <a:tab pos="354965" algn="l"/>
              </a:tabLst>
            </a:pPr>
            <a:r>
              <a:rPr sz="2700" spc="-10" dirty="0">
                <a:latin typeface="Calibri"/>
                <a:cs typeface="Calibri"/>
              </a:rPr>
              <a:t>Advantages:</a:t>
            </a:r>
            <a:endParaRPr sz="27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spcBef>
                <a:spcPts val="15"/>
              </a:spcBef>
              <a:buFont typeface="Arial MT"/>
              <a:buChar char="–"/>
              <a:tabLst>
                <a:tab pos="755650" algn="l"/>
              </a:tabLst>
            </a:pPr>
            <a:r>
              <a:rPr sz="2400" dirty="0">
                <a:latin typeface="Calibri"/>
                <a:cs typeface="Calibri"/>
              </a:rPr>
              <a:t>Decreases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variances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seek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 dirty="0">
              <a:latin typeface="Calibri"/>
              <a:cs typeface="Calibri"/>
            </a:endParaRPr>
          </a:p>
          <a:p>
            <a:pPr marL="755650" lvl="1" indent="-285750">
              <a:lnSpc>
                <a:spcPts val="2875"/>
              </a:lnSpc>
              <a:buFont typeface="Arial MT"/>
              <a:buChar char="–"/>
              <a:tabLst>
                <a:tab pos="755650" algn="l"/>
              </a:tabLst>
            </a:pPr>
            <a:r>
              <a:rPr sz="2400" dirty="0">
                <a:latin typeface="Calibri"/>
                <a:cs typeface="Calibri"/>
              </a:rPr>
              <a:t>improve</a:t>
            </a:r>
            <a:r>
              <a:rPr sz="2400" spc="-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response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time.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ts val="3235"/>
              </a:lnSpc>
              <a:buFont typeface="Arial MT"/>
              <a:buChar char="•"/>
              <a:tabLst>
                <a:tab pos="354965" algn="l"/>
              </a:tabLst>
            </a:pPr>
            <a:r>
              <a:rPr sz="2700" spc="-10" dirty="0">
                <a:latin typeface="Calibri"/>
                <a:cs typeface="Calibri"/>
              </a:rPr>
              <a:t>Problem:</a:t>
            </a:r>
            <a:endParaRPr sz="2700" dirty="0">
              <a:latin typeface="Calibri"/>
              <a:cs typeface="Calibri"/>
            </a:endParaRPr>
          </a:p>
          <a:p>
            <a:pPr marL="755650" lvl="1" indent="-285750">
              <a:lnSpc>
                <a:spcPts val="2590"/>
              </a:lnSpc>
              <a:spcBef>
                <a:spcPts val="15"/>
              </a:spcBef>
              <a:buFont typeface="Arial MT"/>
              <a:buChar char="–"/>
              <a:tabLst>
                <a:tab pos="755650" algn="l"/>
              </a:tabLst>
            </a:pPr>
            <a:r>
              <a:rPr sz="2400" spc="-10" dirty="0">
                <a:latin typeface="Calibri"/>
                <a:cs typeface="Calibri"/>
              </a:rPr>
              <a:t>Starvation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possible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if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repeated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request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in</a:t>
            </a:r>
            <a:endParaRPr sz="2400" dirty="0">
              <a:latin typeface="Calibri"/>
              <a:cs typeface="Calibri"/>
            </a:endParaRPr>
          </a:p>
          <a:p>
            <a:pPr marL="756285">
              <a:lnSpc>
                <a:spcPts val="2590"/>
              </a:lnSpc>
            </a:pPr>
            <a:r>
              <a:rPr sz="2400" dirty="0">
                <a:latin typeface="Calibri"/>
                <a:cs typeface="Calibri"/>
              </a:rPr>
              <a:t>current</a:t>
            </a:r>
            <a:r>
              <a:rPr sz="2400" spc="-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track.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0600" y="762001"/>
            <a:ext cx="7010400" cy="52578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7706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05100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C-</a:t>
            </a:r>
            <a:r>
              <a:rPr b="1" spc="-20" dirty="0"/>
              <a:t>SCAN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869673" y="1295400"/>
            <a:ext cx="7404653" cy="4700646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  <a:tab pos="356870" algn="l"/>
              </a:tabLst>
            </a:pPr>
            <a:r>
              <a:rPr sz="2500" dirty="0"/>
              <a:t>	When</a:t>
            </a:r>
            <a:r>
              <a:rPr sz="2500" spc="195" dirty="0"/>
              <a:t> </a:t>
            </a:r>
            <a:r>
              <a:rPr sz="2500" dirty="0"/>
              <a:t>a</a:t>
            </a:r>
            <a:r>
              <a:rPr sz="2500" spc="195" dirty="0"/>
              <a:t> </a:t>
            </a:r>
            <a:r>
              <a:rPr sz="2500" dirty="0"/>
              <a:t>uniform</a:t>
            </a:r>
            <a:r>
              <a:rPr sz="2500" spc="200" dirty="0"/>
              <a:t> </a:t>
            </a:r>
            <a:r>
              <a:rPr sz="2500" dirty="0"/>
              <a:t>distribution</a:t>
            </a:r>
            <a:r>
              <a:rPr sz="2500" spc="195" dirty="0"/>
              <a:t> </a:t>
            </a:r>
            <a:r>
              <a:rPr sz="2500" dirty="0"/>
              <a:t>of</a:t>
            </a:r>
            <a:r>
              <a:rPr sz="2500" spc="190" dirty="0"/>
              <a:t> </a:t>
            </a:r>
            <a:r>
              <a:rPr sz="2500" dirty="0"/>
              <a:t>request</a:t>
            </a:r>
            <a:r>
              <a:rPr sz="2500" spc="200" dirty="0"/>
              <a:t> </a:t>
            </a:r>
            <a:r>
              <a:rPr sz="2500" dirty="0"/>
              <a:t>for</a:t>
            </a:r>
            <a:r>
              <a:rPr sz="2500" spc="204" dirty="0"/>
              <a:t> </a:t>
            </a:r>
            <a:r>
              <a:rPr sz="2500" dirty="0"/>
              <a:t>cylinders,</a:t>
            </a:r>
            <a:r>
              <a:rPr sz="2500" spc="200" dirty="0"/>
              <a:t> </a:t>
            </a:r>
            <a:r>
              <a:rPr sz="2500" spc="-20" dirty="0"/>
              <a:t>only </a:t>
            </a:r>
            <a:r>
              <a:rPr sz="2500" dirty="0"/>
              <a:t>the</a:t>
            </a:r>
            <a:r>
              <a:rPr sz="2500" spc="120" dirty="0"/>
              <a:t>  </a:t>
            </a:r>
            <a:r>
              <a:rPr sz="2500" dirty="0"/>
              <a:t>few</a:t>
            </a:r>
            <a:r>
              <a:rPr sz="2500" spc="120" dirty="0"/>
              <a:t>  </a:t>
            </a:r>
            <a:r>
              <a:rPr sz="2500" dirty="0"/>
              <a:t>request</a:t>
            </a:r>
            <a:r>
              <a:rPr sz="2500" spc="120" dirty="0"/>
              <a:t>  </a:t>
            </a:r>
            <a:r>
              <a:rPr sz="2500" dirty="0"/>
              <a:t>are</a:t>
            </a:r>
            <a:r>
              <a:rPr sz="2500" spc="135" dirty="0"/>
              <a:t>  </a:t>
            </a:r>
            <a:r>
              <a:rPr sz="2500" dirty="0"/>
              <a:t>in</a:t>
            </a:r>
            <a:r>
              <a:rPr sz="2500" spc="114" dirty="0"/>
              <a:t>  </a:t>
            </a:r>
            <a:r>
              <a:rPr sz="2500" dirty="0"/>
              <a:t>extreme</a:t>
            </a:r>
            <a:r>
              <a:rPr sz="2500" spc="130" dirty="0"/>
              <a:t>  </a:t>
            </a:r>
            <a:r>
              <a:rPr sz="2500" dirty="0"/>
              <a:t>cylinders,</a:t>
            </a:r>
            <a:r>
              <a:rPr sz="2500" spc="120" dirty="0"/>
              <a:t>  </a:t>
            </a:r>
            <a:r>
              <a:rPr sz="2500" dirty="0"/>
              <a:t>since</a:t>
            </a:r>
            <a:r>
              <a:rPr sz="2500" spc="120" dirty="0"/>
              <a:t>  </a:t>
            </a:r>
            <a:r>
              <a:rPr sz="2500" spc="-10" dirty="0"/>
              <a:t>these </a:t>
            </a:r>
            <a:r>
              <a:rPr sz="2500" dirty="0"/>
              <a:t>cylinders</a:t>
            </a:r>
            <a:r>
              <a:rPr sz="2500" spc="-90" dirty="0"/>
              <a:t> </a:t>
            </a:r>
            <a:r>
              <a:rPr sz="2500" dirty="0"/>
              <a:t>have</a:t>
            </a:r>
            <a:r>
              <a:rPr sz="2500" spc="-110" dirty="0"/>
              <a:t> </a:t>
            </a:r>
            <a:r>
              <a:rPr sz="2500" dirty="0"/>
              <a:t>recently</a:t>
            </a:r>
            <a:r>
              <a:rPr sz="2500" spc="-75" dirty="0"/>
              <a:t> </a:t>
            </a:r>
            <a:r>
              <a:rPr sz="2500" dirty="0"/>
              <a:t>been</a:t>
            </a:r>
            <a:r>
              <a:rPr sz="2500" spc="-95" dirty="0"/>
              <a:t> </a:t>
            </a:r>
            <a:r>
              <a:rPr sz="2500" spc="-10" dirty="0"/>
              <a:t>serviced.</a:t>
            </a:r>
            <a:endParaRPr sz="2500" dirty="0"/>
          </a:p>
          <a:p>
            <a:pPr marL="1841500" algn="just">
              <a:lnSpc>
                <a:spcPct val="100000"/>
              </a:lnSpc>
            </a:pPr>
            <a:r>
              <a:rPr sz="2500" b="1" dirty="0">
                <a:latin typeface="Calibri"/>
                <a:cs typeface="Calibri"/>
              </a:rPr>
              <a:t>Why</a:t>
            </a:r>
            <a:r>
              <a:rPr sz="2500" b="1" spc="-75" dirty="0">
                <a:latin typeface="Calibri"/>
                <a:cs typeface="Calibri"/>
              </a:rPr>
              <a:t> </a:t>
            </a:r>
            <a:r>
              <a:rPr sz="2500" b="1" dirty="0">
                <a:latin typeface="Calibri"/>
                <a:cs typeface="Calibri"/>
              </a:rPr>
              <a:t>not</a:t>
            </a:r>
            <a:r>
              <a:rPr sz="2500" b="1" spc="-50" dirty="0">
                <a:latin typeface="Calibri"/>
                <a:cs typeface="Calibri"/>
              </a:rPr>
              <a:t> </a:t>
            </a:r>
            <a:r>
              <a:rPr sz="2500" b="1" dirty="0">
                <a:latin typeface="Calibri"/>
                <a:cs typeface="Calibri"/>
              </a:rPr>
              <a:t>go</a:t>
            </a:r>
            <a:r>
              <a:rPr sz="2500" b="1" spc="-55" dirty="0">
                <a:latin typeface="Calibri"/>
                <a:cs typeface="Calibri"/>
              </a:rPr>
              <a:t> </a:t>
            </a:r>
            <a:r>
              <a:rPr sz="2500" b="1" dirty="0">
                <a:latin typeface="Calibri"/>
                <a:cs typeface="Calibri"/>
              </a:rPr>
              <a:t>to</a:t>
            </a:r>
            <a:r>
              <a:rPr sz="2500" b="1" spc="-55" dirty="0">
                <a:latin typeface="Calibri"/>
                <a:cs typeface="Calibri"/>
              </a:rPr>
              <a:t> </a:t>
            </a:r>
            <a:r>
              <a:rPr sz="2500" b="1" dirty="0">
                <a:latin typeface="Calibri"/>
                <a:cs typeface="Calibri"/>
              </a:rPr>
              <a:t>the</a:t>
            </a:r>
            <a:r>
              <a:rPr sz="2500" b="1" spc="-45" dirty="0">
                <a:latin typeface="Calibri"/>
                <a:cs typeface="Calibri"/>
              </a:rPr>
              <a:t> </a:t>
            </a:r>
            <a:r>
              <a:rPr sz="2500" b="1" dirty="0">
                <a:latin typeface="Calibri"/>
                <a:cs typeface="Calibri"/>
              </a:rPr>
              <a:t>next</a:t>
            </a:r>
            <a:r>
              <a:rPr sz="2500" b="1" spc="-65" dirty="0">
                <a:latin typeface="Calibri"/>
                <a:cs typeface="Calibri"/>
              </a:rPr>
              <a:t> </a:t>
            </a:r>
            <a:r>
              <a:rPr sz="2500" b="1" spc="-10" dirty="0">
                <a:latin typeface="Calibri"/>
                <a:cs typeface="Calibri"/>
              </a:rPr>
              <a:t>extreme?</a:t>
            </a:r>
            <a:endParaRPr sz="25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  <a:buFont typeface="Arial MT"/>
              <a:buChar char="•"/>
              <a:tabLst>
                <a:tab pos="355600" algn="l"/>
                <a:tab pos="356870" algn="l"/>
              </a:tabLst>
            </a:pPr>
            <a:r>
              <a:rPr sz="2500" dirty="0"/>
              <a:t>	</a:t>
            </a:r>
            <a:r>
              <a:rPr sz="2500" b="1" dirty="0"/>
              <a:t>Circular</a:t>
            </a:r>
            <a:r>
              <a:rPr sz="2500" spc="345" dirty="0"/>
              <a:t> </a:t>
            </a:r>
            <a:r>
              <a:rPr sz="2500" dirty="0"/>
              <a:t>SCAN</a:t>
            </a:r>
            <a:r>
              <a:rPr sz="2500" spc="330" dirty="0"/>
              <a:t> </a:t>
            </a:r>
            <a:r>
              <a:rPr sz="2500" dirty="0"/>
              <a:t>is</a:t>
            </a:r>
            <a:r>
              <a:rPr sz="2500" spc="340" dirty="0"/>
              <a:t> </a:t>
            </a:r>
            <a:r>
              <a:rPr sz="2500" dirty="0"/>
              <a:t>a</a:t>
            </a:r>
            <a:r>
              <a:rPr sz="2500" spc="350" dirty="0"/>
              <a:t> </a:t>
            </a:r>
            <a:r>
              <a:rPr sz="2500" dirty="0"/>
              <a:t>variant</a:t>
            </a:r>
            <a:r>
              <a:rPr sz="2500" spc="345" dirty="0"/>
              <a:t> </a:t>
            </a:r>
            <a:r>
              <a:rPr sz="2500" dirty="0"/>
              <a:t>of</a:t>
            </a:r>
            <a:r>
              <a:rPr sz="2500" spc="335" dirty="0"/>
              <a:t> </a:t>
            </a:r>
            <a:r>
              <a:rPr sz="2500" dirty="0"/>
              <a:t>SCAN</a:t>
            </a:r>
            <a:r>
              <a:rPr sz="2500" spc="345" dirty="0"/>
              <a:t> </a:t>
            </a:r>
            <a:r>
              <a:rPr sz="2500" dirty="0"/>
              <a:t>designed</a:t>
            </a:r>
            <a:r>
              <a:rPr sz="2500" spc="355" dirty="0"/>
              <a:t> </a:t>
            </a:r>
            <a:r>
              <a:rPr sz="2500" dirty="0"/>
              <a:t>to</a:t>
            </a:r>
            <a:r>
              <a:rPr sz="2500" spc="345" dirty="0"/>
              <a:t> </a:t>
            </a:r>
            <a:r>
              <a:rPr sz="2500" dirty="0"/>
              <a:t>provide</a:t>
            </a:r>
            <a:r>
              <a:rPr sz="2500" spc="330" dirty="0"/>
              <a:t> </a:t>
            </a:r>
            <a:r>
              <a:rPr sz="2500" spc="-50" dirty="0"/>
              <a:t>a </a:t>
            </a:r>
            <a:r>
              <a:rPr sz="2500" dirty="0"/>
              <a:t>more</a:t>
            </a:r>
            <a:r>
              <a:rPr sz="2500" spc="-90" dirty="0"/>
              <a:t> </a:t>
            </a:r>
            <a:r>
              <a:rPr sz="2500" spc="-10" dirty="0"/>
              <a:t>uniform</a:t>
            </a:r>
            <a:r>
              <a:rPr sz="2500" spc="-70" dirty="0"/>
              <a:t> </a:t>
            </a:r>
            <a:r>
              <a:rPr sz="2500" dirty="0"/>
              <a:t>wait</a:t>
            </a:r>
            <a:r>
              <a:rPr sz="2500" spc="-75" dirty="0"/>
              <a:t> </a:t>
            </a:r>
            <a:r>
              <a:rPr sz="2500" spc="-20" dirty="0"/>
              <a:t>time.</a:t>
            </a:r>
            <a:endParaRPr sz="2500" dirty="0"/>
          </a:p>
          <a:p>
            <a:pPr marL="355600" marR="5080" indent="-342900" algn="just">
              <a:lnSpc>
                <a:spcPct val="80000"/>
              </a:lnSpc>
              <a:spcBef>
                <a:spcPts val="620"/>
              </a:spcBef>
              <a:buFont typeface="Arial MT"/>
              <a:buChar char="•"/>
              <a:tabLst>
                <a:tab pos="355600" algn="l"/>
                <a:tab pos="356870" algn="l"/>
              </a:tabLst>
            </a:pPr>
            <a:r>
              <a:rPr sz="2500" dirty="0"/>
              <a:t>	The</a:t>
            </a:r>
            <a:r>
              <a:rPr sz="2500" spc="445" dirty="0"/>
              <a:t> </a:t>
            </a:r>
            <a:r>
              <a:rPr sz="2500" dirty="0"/>
              <a:t>head</a:t>
            </a:r>
            <a:r>
              <a:rPr sz="2500" spc="440" dirty="0"/>
              <a:t> </a:t>
            </a:r>
            <a:r>
              <a:rPr sz="2500" dirty="0"/>
              <a:t>moves</a:t>
            </a:r>
            <a:r>
              <a:rPr sz="2500" spc="440" dirty="0"/>
              <a:t> </a:t>
            </a:r>
            <a:r>
              <a:rPr sz="2500" dirty="0"/>
              <a:t>from</a:t>
            </a:r>
            <a:r>
              <a:rPr sz="2500" spc="430" dirty="0"/>
              <a:t> </a:t>
            </a:r>
            <a:r>
              <a:rPr sz="2500" dirty="0"/>
              <a:t>one</a:t>
            </a:r>
            <a:r>
              <a:rPr sz="2500" spc="440" dirty="0"/>
              <a:t> </a:t>
            </a:r>
            <a:r>
              <a:rPr sz="2500" dirty="0"/>
              <a:t>end</a:t>
            </a:r>
            <a:r>
              <a:rPr sz="2500" spc="440" dirty="0"/>
              <a:t> </a:t>
            </a:r>
            <a:r>
              <a:rPr sz="2500" dirty="0"/>
              <a:t>of</a:t>
            </a:r>
            <a:r>
              <a:rPr sz="2500" spc="430" dirty="0"/>
              <a:t> </a:t>
            </a:r>
            <a:r>
              <a:rPr sz="2500" dirty="0"/>
              <a:t>the</a:t>
            </a:r>
            <a:r>
              <a:rPr sz="2500" spc="440" dirty="0"/>
              <a:t> </a:t>
            </a:r>
            <a:r>
              <a:rPr sz="2500" dirty="0"/>
              <a:t>disk</a:t>
            </a:r>
            <a:r>
              <a:rPr sz="2500" spc="445" dirty="0"/>
              <a:t> </a:t>
            </a:r>
            <a:r>
              <a:rPr sz="2500" dirty="0"/>
              <a:t>to</a:t>
            </a:r>
            <a:r>
              <a:rPr sz="2500" spc="450" dirty="0"/>
              <a:t> </a:t>
            </a:r>
            <a:r>
              <a:rPr sz="2500" dirty="0"/>
              <a:t>the</a:t>
            </a:r>
            <a:r>
              <a:rPr sz="2500" spc="425" dirty="0"/>
              <a:t> </a:t>
            </a:r>
            <a:r>
              <a:rPr sz="2500" spc="-10" dirty="0"/>
              <a:t>other. </a:t>
            </a:r>
            <a:r>
              <a:rPr sz="2500" dirty="0"/>
              <a:t>Servicing</a:t>
            </a:r>
            <a:r>
              <a:rPr sz="2500" spc="425" dirty="0"/>
              <a:t> </a:t>
            </a:r>
            <a:r>
              <a:rPr sz="2500" dirty="0"/>
              <a:t>requests</a:t>
            </a:r>
            <a:r>
              <a:rPr sz="2500" spc="425" dirty="0"/>
              <a:t> </a:t>
            </a:r>
            <a:r>
              <a:rPr sz="2500" dirty="0"/>
              <a:t>as</a:t>
            </a:r>
            <a:r>
              <a:rPr sz="2500" spc="420" dirty="0"/>
              <a:t> </a:t>
            </a:r>
            <a:r>
              <a:rPr sz="2500" dirty="0"/>
              <a:t>it</a:t>
            </a:r>
            <a:r>
              <a:rPr sz="2500" spc="430" dirty="0"/>
              <a:t> </a:t>
            </a:r>
            <a:r>
              <a:rPr sz="2500" dirty="0"/>
              <a:t>goes.</a:t>
            </a:r>
            <a:r>
              <a:rPr sz="2500" spc="430" dirty="0"/>
              <a:t> </a:t>
            </a:r>
            <a:r>
              <a:rPr sz="2500" dirty="0"/>
              <a:t>When</a:t>
            </a:r>
            <a:r>
              <a:rPr sz="2500" spc="425" dirty="0"/>
              <a:t> </a:t>
            </a:r>
            <a:r>
              <a:rPr sz="2500" dirty="0"/>
              <a:t>it</a:t>
            </a:r>
            <a:r>
              <a:rPr sz="2500" spc="430" dirty="0"/>
              <a:t> </a:t>
            </a:r>
            <a:r>
              <a:rPr sz="2500" dirty="0"/>
              <a:t>reaches</a:t>
            </a:r>
            <a:r>
              <a:rPr sz="2500" spc="434" dirty="0"/>
              <a:t> </a:t>
            </a:r>
            <a:r>
              <a:rPr sz="2500" dirty="0"/>
              <a:t>the</a:t>
            </a:r>
            <a:r>
              <a:rPr sz="2500" spc="430" dirty="0"/>
              <a:t> </a:t>
            </a:r>
            <a:r>
              <a:rPr sz="2500" spc="-10" dirty="0"/>
              <a:t>other </a:t>
            </a:r>
            <a:r>
              <a:rPr sz="2500" dirty="0"/>
              <a:t>end,</a:t>
            </a:r>
            <a:r>
              <a:rPr sz="2500" spc="305" dirty="0"/>
              <a:t> </a:t>
            </a:r>
            <a:r>
              <a:rPr sz="2500" dirty="0"/>
              <a:t>however,</a:t>
            </a:r>
            <a:r>
              <a:rPr sz="2500" spc="310" dirty="0"/>
              <a:t> </a:t>
            </a:r>
            <a:r>
              <a:rPr sz="2500" dirty="0"/>
              <a:t>it</a:t>
            </a:r>
            <a:r>
              <a:rPr sz="2500" spc="320" dirty="0"/>
              <a:t> </a:t>
            </a:r>
            <a:r>
              <a:rPr sz="2500" dirty="0"/>
              <a:t>immediately</a:t>
            </a:r>
            <a:r>
              <a:rPr sz="2500" spc="315" dirty="0"/>
              <a:t> </a:t>
            </a:r>
            <a:r>
              <a:rPr sz="2500" dirty="0"/>
              <a:t>returns</a:t>
            </a:r>
            <a:r>
              <a:rPr sz="2500" spc="305" dirty="0"/>
              <a:t> </a:t>
            </a:r>
            <a:r>
              <a:rPr sz="2500" dirty="0"/>
              <a:t>to</a:t>
            </a:r>
            <a:r>
              <a:rPr sz="2500" spc="315" dirty="0"/>
              <a:t> </a:t>
            </a:r>
            <a:r>
              <a:rPr sz="2500" dirty="0"/>
              <a:t>the</a:t>
            </a:r>
            <a:r>
              <a:rPr sz="2500" spc="305" dirty="0"/>
              <a:t> </a:t>
            </a:r>
            <a:r>
              <a:rPr sz="2500" dirty="0"/>
              <a:t>beginning</a:t>
            </a:r>
            <a:r>
              <a:rPr sz="2500" spc="315" dirty="0"/>
              <a:t> </a:t>
            </a:r>
            <a:r>
              <a:rPr sz="2500" spc="-25" dirty="0"/>
              <a:t>of </a:t>
            </a:r>
            <a:r>
              <a:rPr sz="2500" dirty="0"/>
              <a:t>the</a:t>
            </a:r>
            <a:r>
              <a:rPr sz="2500" spc="-65" dirty="0"/>
              <a:t> </a:t>
            </a:r>
            <a:r>
              <a:rPr sz="2500" dirty="0"/>
              <a:t>disk,</a:t>
            </a:r>
            <a:r>
              <a:rPr sz="2500" spc="-60" dirty="0"/>
              <a:t> </a:t>
            </a:r>
            <a:r>
              <a:rPr sz="2500" dirty="0"/>
              <a:t>without</a:t>
            </a:r>
            <a:r>
              <a:rPr sz="2500" spc="-55" dirty="0"/>
              <a:t> </a:t>
            </a:r>
            <a:r>
              <a:rPr sz="2500" dirty="0"/>
              <a:t>servicing</a:t>
            </a:r>
            <a:r>
              <a:rPr sz="2500" spc="-45" dirty="0"/>
              <a:t> </a:t>
            </a:r>
            <a:r>
              <a:rPr sz="2500" dirty="0"/>
              <a:t>any</a:t>
            </a:r>
            <a:r>
              <a:rPr sz="2500" spc="-50" dirty="0"/>
              <a:t> </a:t>
            </a:r>
            <a:r>
              <a:rPr sz="2500" spc="-10" dirty="0"/>
              <a:t>requests</a:t>
            </a:r>
            <a:r>
              <a:rPr sz="2500" spc="-45" dirty="0"/>
              <a:t> </a:t>
            </a:r>
            <a:r>
              <a:rPr sz="2500" dirty="0"/>
              <a:t>on</a:t>
            </a:r>
            <a:r>
              <a:rPr sz="2500" spc="-75" dirty="0"/>
              <a:t> </a:t>
            </a:r>
            <a:r>
              <a:rPr sz="2500" dirty="0"/>
              <a:t>the</a:t>
            </a:r>
            <a:r>
              <a:rPr sz="2500" spc="-40" dirty="0"/>
              <a:t> </a:t>
            </a:r>
            <a:r>
              <a:rPr sz="2500" dirty="0"/>
              <a:t>return</a:t>
            </a:r>
            <a:r>
              <a:rPr sz="2500" spc="-60" dirty="0"/>
              <a:t> </a:t>
            </a:r>
            <a:r>
              <a:rPr sz="2500" spc="-10" dirty="0"/>
              <a:t>trip.</a:t>
            </a:r>
            <a:endParaRPr sz="2500" dirty="0"/>
          </a:p>
          <a:p>
            <a:pPr marL="355600" marR="6985" indent="-342900" algn="just">
              <a:lnSpc>
                <a:spcPts val="2400"/>
              </a:lnSpc>
              <a:spcBef>
                <a:spcPts val="585"/>
              </a:spcBef>
              <a:buFont typeface="Arial MT"/>
              <a:buChar char="•"/>
              <a:tabLst>
                <a:tab pos="355600" algn="l"/>
                <a:tab pos="356870" algn="l"/>
              </a:tabLst>
            </a:pPr>
            <a:r>
              <a:rPr sz="2500" dirty="0"/>
              <a:t>	</a:t>
            </a:r>
            <a:r>
              <a:rPr sz="2500" spc="-25" dirty="0"/>
              <a:t>Treats</a:t>
            </a:r>
            <a:r>
              <a:rPr sz="2500" spc="-55" dirty="0"/>
              <a:t> </a:t>
            </a:r>
            <a:r>
              <a:rPr sz="2500" dirty="0"/>
              <a:t>the</a:t>
            </a:r>
            <a:r>
              <a:rPr sz="2500" spc="-55" dirty="0"/>
              <a:t> </a:t>
            </a:r>
            <a:r>
              <a:rPr sz="2500" dirty="0"/>
              <a:t>cylinders</a:t>
            </a:r>
            <a:r>
              <a:rPr sz="2500" spc="-60" dirty="0"/>
              <a:t> </a:t>
            </a:r>
            <a:r>
              <a:rPr sz="2500" dirty="0"/>
              <a:t>as</a:t>
            </a:r>
            <a:r>
              <a:rPr sz="2500" spc="-60" dirty="0"/>
              <a:t> </a:t>
            </a:r>
            <a:r>
              <a:rPr sz="2500" dirty="0"/>
              <a:t>a</a:t>
            </a:r>
            <a:r>
              <a:rPr sz="2500" spc="-50" dirty="0"/>
              <a:t> </a:t>
            </a:r>
            <a:r>
              <a:rPr sz="2500" dirty="0"/>
              <a:t>circular</a:t>
            </a:r>
            <a:r>
              <a:rPr sz="2500" spc="-50" dirty="0"/>
              <a:t> </a:t>
            </a:r>
            <a:r>
              <a:rPr sz="2500" dirty="0"/>
              <a:t>list</a:t>
            </a:r>
            <a:r>
              <a:rPr sz="2500" spc="-50" dirty="0"/>
              <a:t> </a:t>
            </a:r>
            <a:r>
              <a:rPr sz="2500" dirty="0"/>
              <a:t>that</a:t>
            </a:r>
            <a:r>
              <a:rPr sz="2500" spc="-50" dirty="0"/>
              <a:t> </a:t>
            </a:r>
            <a:r>
              <a:rPr sz="2500" dirty="0"/>
              <a:t>wraps</a:t>
            </a:r>
            <a:r>
              <a:rPr sz="2500" spc="-55" dirty="0"/>
              <a:t> </a:t>
            </a:r>
            <a:r>
              <a:rPr sz="2500" dirty="0"/>
              <a:t>around</a:t>
            </a:r>
            <a:r>
              <a:rPr sz="2500" spc="-65" dirty="0"/>
              <a:t> </a:t>
            </a:r>
            <a:r>
              <a:rPr sz="2500" spc="-20" dirty="0"/>
              <a:t>from </a:t>
            </a:r>
            <a:r>
              <a:rPr sz="2500" dirty="0"/>
              <a:t>the</a:t>
            </a:r>
            <a:r>
              <a:rPr sz="2500" spc="-70" dirty="0"/>
              <a:t> </a:t>
            </a:r>
            <a:r>
              <a:rPr sz="2500" dirty="0"/>
              <a:t>last</a:t>
            </a:r>
            <a:r>
              <a:rPr sz="2500" spc="-55" dirty="0"/>
              <a:t> </a:t>
            </a:r>
            <a:r>
              <a:rPr sz="2500" dirty="0"/>
              <a:t>cylinder</a:t>
            </a:r>
            <a:r>
              <a:rPr sz="2500" spc="-35" dirty="0"/>
              <a:t> </a:t>
            </a:r>
            <a:r>
              <a:rPr sz="2500" dirty="0"/>
              <a:t>to</a:t>
            </a:r>
            <a:r>
              <a:rPr sz="2500" spc="-70" dirty="0"/>
              <a:t> </a:t>
            </a:r>
            <a:r>
              <a:rPr sz="2500" dirty="0"/>
              <a:t>the</a:t>
            </a:r>
            <a:r>
              <a:rPr sz="2500" spc="-60" dirty="0"/>
              <a:t> </a:t>
            </a:r>
            <a:r>
              <a:rPr sz="2500" dirty="0"/>
              <a:t>first</a:t>
            </a:r>
            <a:r>
              <a:rPr sz="2500" spc="-60" dirty="0"/>
              <a:t> </a:t>
            </a:r>
            <a:r>
              <a:rPr sz="2500" spc="-20" dirty="0"/>
              <a:t>one.</a:t>
            </a:r>
            <a:endParaRPr sz="2500" dirty="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800" y="765510"/>
            <a:ext cx="6681659" cy="532697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17531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9385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C-</a:t>
            </a:r>
            <a:r>
              <a:rPr b="1" spc="-20" dirty="0"/>
              <a:t>LOOK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57200" y="1607642"/>
            <a:ext cx="7927340" cy="31483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</a:tabLst>
            </a:pPr>
            <a:r>
              <a:rPr sz="3200" spc="-20" dirty="0">
                <a:latin typeface="Calibri"/>
                <a:cs typeface="Calibri"/>
              </a:rPr>
              <a:t>Version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C-SCAN</a:t>
            </a:r>
            <a:endParaRPr sz="3200" dirty="0">
              <a:latin typeface="Calibri"/>
              <a:cs typeface="Calibri"/>
            </a:endParaRPr>
          </a:p>
          <a:p>
            <a:pPr algn="just">
              <a:lnSpc>
                <a:spcPct val="100000"/>
              </a:lnSpc>
              <a:spcBef>
                <a:spcPts val="1470"/>
              </a:spcBef>
              <a:buFont typeface="Arial MT"/>
              <a:buChar char="•"/>
            </a:pPr>
            <a:endParaRPr sz="32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100000"/>
              </a:lnSpc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Arm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only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goes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far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last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request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in </a:t>
            </a:r>
            <a:r>
              <a:rPr sz="3200" dirty="0">
                <a:latin typeface="Calibri"/>
                <a:cs typeface="Calibri"/>
              </a:rPr>
              <a:t>each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direction,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then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reverses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direction </a:t>
            </a:r>
            <a:r>
              <a:rPr sz="3200" spc="-30" dirty="0">
                <a:latin typeface="Calibri"/>
                <a:cs typeface="Calibri"/>
              </a:rPr>
              <a:t>immediately,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without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first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going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all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way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to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end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disk.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" y="854074"/>
            <a:ext cx="7162800" cy="486092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7706" y="417531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6819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SLED</a:t>
            </a:r>
            <a:r>
              <a:rPr b="1" spc="-114" dirty="0"/>
              <a:t> </a:t>
            </a:r>
            <a:r>
              <a:rPr b="1" dirty="0"/>
              <a:t>Vs</a:t>
            </a:r>
            <a:r>
              <a:rPr b="1" spc="-100" dirty="0"/>
              <a:t> </a:t>
            </a:r>
            <a:r>
              <a:rPr b="1" spc="-20" dirty="0"/>
              <a:t>RAID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07044"/>
            <a:ext cx="7517130" cy="2809875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94"/>
              </a:spcBef>
              <a:buFont typeface="Arial MT"/>
              <a:buChar char="•"/>
              <a:tabLst>
                <a:tab pos="354965" algn="l"/>
              </a:tabLst>
            </a:pPr>
            <a:r>
              <a:rPr sz="3200" spc="-20" dirty="0">
                <a:latin typeface="Calibri"/>
                <a:cs typeface="Calibri"/>
              </a:rPr>
              <a:t>SLED</a:t>
            </a:r>
            <a:endParaRPr sz="32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Single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Large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Expensive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Disk</a:t>
            </a:r>
            <a:endParaRPr sz="2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354965" algn="l"/>
              </a:tabLst>
            </a:pPr>
            <a:r>
              <a:rPr sz="3200" spc="-20" dirty="0">
                <a:latin typeface="Calibri"/>
                <a:cs typeface="Calibri"/>
              </a:rPr>
              <a:t>RAID</a:t>
            </a:r>
            <a:endParaRPr sz="3200" dirty="0">
              <a:latin typeface="Calibri"/>
              <a:cs typeface="Calibri"/>
            </a:endParaRPr>
          </a:p>
          <a:p>
            <a:pPr marL="743585" lvl="1" indent="-286385" algn="ctr">
              <a:lnSpc>
                <a:spcPct val="100000"/>
              </a:lnSpc>
              <a:spcBef>
                <a:spcPts val="685"/>
              </a:spcBef>
              <a:buFont typeface="Arial MT"/>
              <a:buChar char="–"/>
              <a:tabLst>
                <a:tab pos="743585" algn="l"/>
              </a:tabLst>
            </a:pPr>
            <a:r>
              <a:rPr sz="2800" spc="-10" dirty="0">
                <a:latin typeface="Calibri"/>
                <a:cs typeface="Calibri"/>
              </a:rPr>
              <a:t>Redundant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Array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Inexpensive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(Independent)</a:t>
            </a:r>
            <a:endParaRPr sz="2800" dirty="0">
              <a:latin typeface="Calibri"/>
              <a:cs typeface="Calibri"/>
            </a:endParaRPr>
          </a:p>
          <a:p>
            <a:pPr marL="555625" algn="ctr">
              <a:lnSpc>
                <a:spcPct val="100000"/>
              </a:lnSpc>
              <a:spcBef>
                <a:spcPts val="755"/>
              </a:spcBef>
            </a:pPr>
            <a:r>
              <a:rPr sz="3200" spc="-10" dirty="0">
                <a:latin typeface="Calibri"/>
                <a:cs typeface="Calibri"/>
              </a:rPr>
              <a:t>Disks.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49" y="383047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005455">
              <a:lnSpc>
                <a:spcPct val="100000"/>
              </a:lnSpc>
              <a:spcBef>
                <a:spcPts val="105"/>
              </a:spcBef>
            </a:pPr>
            <a:r>
              <a:rPr b="1" spc="-20" dirty="0"/>
              <a:t>RAID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47992" y="1295400"/>
            <a:ext cx="8225155" cy="4775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2054" marR="1093470" indent="-2644775">
              <a:lnSpc>
                <a:spcPct val="100000"/>
              </a:lnSpc>
              <a:spcBef>
                <a:spcPts val="95"/>
              </a:spcBef>
            </a:pPr>
            <a:r>
              <a:rPr sz="2500" spc="-10" dirty="0">
                <a:latin typeface="Calibri"/>
                <a:cs typeface="Calibri"/>
              </a:rPr>
              <a:t>Redundant</a:t>
            </a:r>
            <a:r>
              <a:rPr sz="2500" spc="-7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Array</a:t>
            </a:r>
            <a:r>
              <a:rPr sz="2500" spc="-8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of</a:t>
            </a:r>
            <a:r>
              <a:rPr sz="2500" spc="-9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Inexpensive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(Independent) Disks.</a:t>
            </a:r>
            <a:endParaRPr sz="2500" dirty="0">
              <a:latin typeface="Calibri"/>
              <a:cs typeface="Calibri"/>
            </a:endParaRPr>
          </a:p>
          <a:p>
            <a:pPr marL="586740" marR="45085" indent="-536575">
              <a:lnSpc>
                <a:spcPts val="2300"/>
              </a:lnSpc>
              <a:spcBef>
                <a:spcPts val="565"/>
              </a:spcBef>
            </a:pP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CPU</a:t>
            </a:r>
            <a:r>
              <a:rPr sz="2400" spc="-8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performance</a:t>
            </a:r>
            <a:r>
              <a:rPr sz="24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has</a:t>
            </a:r>
            <a:r>
              <a:rPr sz="24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been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increasing</a:t>
            </a:r>
            <a:r>
              <a:rPr sz="2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exponentially</a:t>
            </a:r>
            <a:r>
              <a:rPr sz="24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over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4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past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decade,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roughly</a:t>
            </a:r>
            <a:r>
              <a:rPr sz="24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doubling</a:t>
            </a:r>
            <a:r>
              <a:rPr sz="24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every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18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months.</a:t>
            </a:r>
            <a:r>
              <a:rPr sz="24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so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with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disk</a:t>
            </a:r>
            <a:endParaRPr sz="2400" dirty="0">
              <a:latin typeface="Calibri"/>
              <a:cs typeface="Calibri"/>
            </a:endParaRPr>
          </a:p>
          <a:p>
            <a:pPr marL="1754505" marR="857250" indent="-548640">
              <a:lnSpc>
                <a:spcPts val="2310"/>
              </a:lnSpc>
            </a:pP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performance.</a:t>
            </a:r>
            <a:r>
              <a:rPr sz="2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1970s,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average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seek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times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FF0000"/>
                </a:solidFill>
                <a:latin typeface="Calibri"/>
                <a:cs typeface="Calibri"/>
              </a:rPr>
              <a:t>on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minicomputer</a:t>
            </a:r>
            <a:r>
              <a:rPr sz="2400" spc="-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disks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were</a:t>
            </a:r>
            <a:r>
              <a:rPr sz="24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50</a:t>
            </a:r>
            <a:r>
              <a:rPr sz="24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100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msec</a:t>
            </a:r>
            <a:endParaRPr sz="2400" dirty="0">
              <a:latin typeface="Calibri"/>
              <a:cs typeface="Calibri"/>
            </a:endParaRPr>
          </a:p>
          <a:p>
            <a:pPr marL="355600" marR="5080" indent="-342900">
              <a:lnSpc>
                <a:spcPts val="2400"/>
              </a:lnSpc>
              <a:spcBef>
                <a:spcPts val="590"/>
              </a:spcBef>
              <a:buFont typeface="Arial MT"/>
              <a:buChar char="•"/>
              <a:tabLst>
                <a:tab pos="355600" algn="l"/>
                <a:tab pos="1374775" algn="l"/>
                <a:tab pos="2073275" algn="l"/>
                <a:tab pos="3995420" algn="l"/>
                <a:tab pos="5203825" algn="l"/>
                <a:tab pos="5614035" algn="l"/>
                <a:tab pos="6724015" algn="l"/>
                <a:tab pos="7988934" algn="l"/>
              </a:tabLst>
            </a:pPr>
            <a:r>
              <a:rPr sz="2500" b="1" spc="-10" dirty="0">
                <a:latin typeface="Calibri"/>
                <a:cs typeface="Calibri"/>
              </a:rPr>
              <a:t>Issues: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20" dirty="0">
                <a:latin typeface="Calibri"/>
                <a:cs typeface="Calibri"/>
              </a:rPr>
              <a:t>Disk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10" dirty="0">
                <a:latin typeface="Calibri"/>
                <a:cs typeface="Calibri"/>
              </a:rPr>
              <a:t>performance,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10" dirty="0">
                <a:latin typeface="Calibri"/>
                <a:cs typeface="Calibri"/>
              </a:rPr>
              <a:t>Amount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25" dirty="0">
                <a:latin typeface="Calibri"/>
                <a:cs typeface="Calibri"/>
              </a:rPr>
              <a:t>of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10" dirty="0">
                <a:latin typeface="Calibri"/>
                <a:cs typeface="Calibri"/>
              </a:rPr>
              <a:t>storage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10" dirty="0">
                <a:latin typeface="Calibri"/>
                <a:cs typeface="Calibri"/>
              </a:rPr>
              <a:t>required</a:t>
            </a:r>
            <a:r>
              <a:rPr sz="2500" b="1" dirty="0">
                <a:latin typeface="Calibri"/>
                <a:cs typeface="Calibri"/>
              </a:rPr>
              <a:t>	</a:t>
            </a:r>
            <a:r>
              <a:rPr sz="2500" b="1" spc="-50" dirty="0">
                <a:latin typeface="Calibri"/>
                <a:cs typeface="Calibri"/>
              </a:rPr>
              <a:t>&amp; </a:t>
            </a:r>
            <a:r>
              <a:rPr sz="2500" b="1" spc="-10" dirty="0">
                <a:latin typeface="Calibri"/>
                <a:cs typeface="Calibri"/>
              </a:rPr>
              <a:t>Reliability</a:t>
            </a:r>
            <a:endParaRPr sz="2500" dirty="0">
              <a:latin typeface="Calibri"/>
              <a:cs typeface="Calibri"/>
            </a:endParaRPr>
          </a:p>
          <a:p>
            <a:pPr marL="355600" marR="6350" indent="-342900">
              <a:lnSpc>
                <a:spcPts val="2400"/>
              </a:lnSpc>
              <a:spcBef>
                <a:spcPts val="600"/>
              </a:spcBef>
              <a:buFont typeface="Arial MT"/>
              <a:buChar char="•"/>
              <a:tabLst>
                <a:tab pos="355600" algn="l"/>
                <a:tab pos="668020" algn="l"/>
                <a:tab pos="2092960" algn="l"/>
                <a:tab pos="2486025" algn="l"/>
                <a:tab pos="3938904" algn="l"/>
                <a:tab pos="5139690" algn="l"/>
                <a:tab pos="5897245" algn="l"/>
                <a:tab pos="6297930" algn="l"/>
                <a:tab pos="7426325" algn="l"/>
              </a:tabLst>
            </a:pPr>
            <a:r>
              <a:rPr sz="2500" spc="-50" dirty="0">
                <a:latin typeface="Calibri"/>
                <a:cs typeface="Calibri"/>
              </a:rPr>
              <a:t>A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technique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of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organizing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multiple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disks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to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address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above </a:t>
            </a:r>
            <a:r>
              <a:rPr sz="2500" dirty="0">
                <a:latin typeface="Calibri"/>
                <a:cs typeface="Calibri"/>
              </a:rPr>
              <a:t>issues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is</a:t>
            </a:r>
            <a:r>
              <a:rPr sz="2500" spc="-60" dirty="0">
                <a:latin typeface="Calibri"/>
                <a:cs typeface="Calibri"/>
              </a:rPr>
              <a:t> </a:t>
            </a:r>
            <a:r>
              <a:rPr sz="2500" spc="-20" dirty="0">
                <a:latin typeface="Calibri"/>
                <a:cs typeface="Calibri"/>
              </a:rPr>
              <a:t>RAID.</a:t>
            </a:r>
            <a:endParaRPr sz="2500" dirty="0">
              <a:latin typeface="Calibri"/>
              <a:cs typeface="Calibri"/>
            </a:endParaRPr>
          </a:p>
          <a:p>
            <a:pPr marL="355600" marR="7620" indent="-342900" algn="just">
              <a:lnSpc>
                <a:spcPts val="2400"/>
              </a:lnSpc>
              <a:spcBef>
                <a:spcPts val="605"/>
              </a:spcBef>
              <a:buFont typeface="Arial MT"/>
              <a:buChar char="•"/>
              <a:tabLst>
                <a:tab pos="355600" algn="l"/>
                <a:tab pos="356870" algn="l"/>
              </a:tabLst>
            </a:pPr>
            <a:r>
              <a:rPr sz="2500" dirty="0">
                <a:latin typeface="Calibri"/>
                <a:cs typeface="Calibri"/>
              </a:rPr>
              <a:t>	RAID</a:t>
            </a:r>
            <a:r>
              <a:rPr sz="2500" spc="6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allows</a:t>
            </a:r>
            <a:r>
              <a:rPr sz="2500" spc="60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more</a:t>
            </a:r>
            <a:r>
              <a:rPr sz="2500" spc="61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than</a:t>
            </a:r>
            <a:r>
              <a:rPr sz="2500" spc="60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one</a:t>
            </a:r>
            <a:r>
              <a:rPr sz="2500" spc="6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</a:t>
            </a:r>
            <a:r>
              <a:rPr sz="2500" spc="62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to</a:t>
            </a:r>
            <a:r>
              <a:rPr sz="2500" spc="60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be</a:t>
            </a:r>
            <a:r>
              <a:rPr sz="2500" spc="6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used</a:t>
            </a:r>
            <a:r>
              <a:rPr sz="2500" spc="60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for</a:t>
            </a:r>
            <a:r>
              <a:rPr sz="2500" spc="61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</a:t>
            </a:r>
            <a:r>
              <a:rPr sz="2500" spc="61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given </a:t>
            </a:r>
            <a:r>
              <a:rPr sz="2500" dirty="0">
                <a:latin typeface="Calibri"/>
                <a:cs typeface="Calibri"/>
              </a:rPr>
              <a:t>operation,</a:t>
            </a:r>
            <a:r>
              <a:rPr sz="2500" spc="390" dirty="0">
                <a:latin typeface="Calibri"/>
                <a:cs typeface="Calibri"/>
              </a:rPr>
              <a:t>  </a:t>
            </a:r>
            <a:r>
              <a:rPr sz="2500" dirty="0">
                <a:latin typeface="Calibri"/>
                <a:cs typeface="Calibri"/>
              </a:rPr>
              <a:t>and</a:t>
            </a:r>
            <a:r>
              <a:rPr sz="2500" spc="405" dirty="0">
                <a:latin typeface="Calibri"/>
                <a:cs typeface="Calibri"/>
              </a:rPr>
              <a:t>  </a:t>
            </a:r>
            <a:r>
              <a:rPr sz="2500" dirty="0">
                <a:latin typeface="Calibri"/>
                <a:cs typeface="Calibri"/>
              </a:rPr>
              <a:t>allows</a:t>
            </a:r>
            <a:r>
              <a:rPr sz="2500" spc="400" dirty="0">
                <a:latin typeface="Calibri"/>
                <a:cs typeface="Calibri"/>
              </a:rPr>
              <a:t>  </a:t>
            </a:r>
            <a:r>
              <a:rPr sz="2500" dirty="0">
                <a:latin typeface="Calibri"/>
                <a:cs typeface="Calibri"/>
              </a:rPr>
              <a:t>continued</a:t>
            </a:r>
            <a:r>
              <a:rPr sz="2500" spc="405" dirty="0">
                <a:latin typeface="Calibri"/>
                <a:cs typeface="Calibri"/>
              </a:rPr>
              <a:t>  </a:t>
            </a:r>
            <a:r>
              <a:rPr sz="2500" dirty="0">
                <a:latin typeface="Calibri"/>
                <a:cs typeface="Calibri"/>
              </a:rPr>
              <a:t>operation</a:t>
            </a:r>
            <a:r>
              <a:rPr sz="2500" spc="400" dirty="0">
                <a:latin typeface="Calibri"/>
                <a:cs typeface="Calibri"/>
              </a:rPr>
              <a:t>  </a:t>
            </a:r>
            <a:r>
              <a:rPr sz="2500" dirty="0">
                <a:latin typeface="Calibri"/>
                <a:cs typeface="Calibri"/>
              </a:rPr>
              <a:t>and</a:t>
            </a:r>
            <a:r>
              <a:rPr sz="2500" spc="395" dirty="0">
                <a:latin typeface="Calibri"/>
                <a:cs typeface="Calibri"/>
              </a:rPr>
              <a:t>  </a:t>
            </a:r>
            <a:r>
              <a:rPr sz="2500" spc="-20" dirty="0">
                <a:latin typeface="Calibri"/>
                <a:cs typeface="Calibri"/>
              </a:rPr>
              <a:t>even </a:t>
            </a:r>
            <a:r>
              <a:rPr sz="2500" spc="-10" dirty="0">
                <a:latin typeface="Calibri"/>
                <a:cs typeface="Calibri"/>
              </a:rPr>
              <a:t>automatic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recovery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in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the</a:t>
            </a:r>
            <a:r>
              <a:rPr sz="2500" spc="-5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face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of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failure.</a:t>
            </a:r>
            <a:endParaRPr sz="2500" dirty="0">
              <a:latin typeface="Calibri"/>
              <a:cs typeface="Calibri"/>
            </a:endParaRPr>
          </a:p>
          <a:p>
            <a:pPr marL="356870" indent="-344170" algn="just">
              <a:lnSpc>
                <a:spcPct val="100000"/>
              </a:lnSpc>
              <a:spcBef>
                <a:spcPts val="20"/>
              </a:spcBef>
              <a:buFont typeface="Arial MT"/>
              <a:buChar char="•"/>
              <a:tabLst>
                <a:tab pos="356870" algn="l"/>
              </a:tabLst>
            </a:pPr>
            <a:r>
              <a:rPr sz="2500" b="1" spc="-10" dirty="0">
                <a:solidFill>
                  <a:srgbClr val="FF0000"/>
                </a:solidFill>
                <a:latin typeface="Calibri"/>
                <a:cs typeface="Calibri"/>
              </a:rPr>
              <a:t>Implemented</a:t>
            </a:r>
            <a:r>
              <a:rPr sz="25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500" b="1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sz="2500" b="1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500" b="1" spc="-10" dirty="0">
                <a:solidFill>
                  <a:srgbClr val="FF0000"/>
                </a:solidFill>
                <a:latin typeface="Calibri"/>
                <a:cs typeface="Calibri"/>
              </a:rPr>
              <a:t>hardware</a:t>
            </a:r>
            <a:r>
              <a:rPr sz="2500" b="1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500" b="1" dirty="0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sz="2500" b="1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500" b="1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sz="2500" b="1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500" b="1" spc="-25" dirty="0">
                <a:solidFill>
                  <a:srgbClr val="FF0000"/>
                </a:solidFill>
                <a:latin typeface="Calibri"/>
                <a:cs typeface="Calibri"/>
              </a:rPr>
              <a:t>OS.</a:t>
            </a:r>
            <a:endParaRPr sz="25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3004103" y="269046"/>
            <a:ext cx="4145026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4604">
              <a:lnSpc>
                <a:spcPct val="100000"/>
              </a:lnSpc>
              <a:spcBef>
                <a:spcPts val="105"/>
              </a:spcBef>
            </a:pPr>
            <a:r>
              <a:rPr b="1" dirty="0">
                <a:solidFill>
                  <a:srgbClr val="4A66AC"/>
                </a:solidFill>
              </a:rPr>
              <a:t>RAID</a:t>
            </a:r>
            <a:r>
              <a:rPr b="1" spc="-35" dirty="0">
                <a:solidFill>
                  <a:srgbClr val="4A66AC"/>
                </a:solidFill>
              </a:rPr>
              <a:t> </a:t>
            </a:r>
            <a:r>
              <a:rPr b="1" spc="-10" dirty="0">
                <a:solidFill>
                  <a:srgbClr val="4A66AC"/>
                </a:solidFill>
              </a:rPr>
              <a:t>Levels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1676400"/>
            <a:ext cx="7425197" cy="441652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64540" y="1219200"/>
            <a:ext cx="748093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There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six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organization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RAID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called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RAID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levels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9BFE7-884E-4445-B357-33E35C01F2F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17</a:t>
            </a:fld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356404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15519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50" dirty="0"/>
              <a:t> </a:t>
            </a:r>
            <a:r>
              <a:rPr b="1" dirty="0"/>
              <a:t>Level</a:t>
            </a:r>
            <a:r>
              <a:rPr b="1" spc="-65" dirty="0"/>
              <a:t> </a:t>
            </a:r>
            <a:r>
              <a:rPr b="1" spc="-50" dirty="0"/>
              <a:t>0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7929245" cy="316611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60"/>
              </a:spcBef>
              <a:buFont typeface="Arial MT"/>
              <a:buChar char="•"/>
              <a:tabLst>
                <a:tab pos="354965" algn="l"/>
              </a:tabLst>
            </a:pPr>
            <a:r>
              <a:rPr sz="2000" dirty="0">
                <a:latin typeface="Calibri"/>
                <a:cs typeface="Calibri"/>
              </a:rPr>
              <a:t>RAID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level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0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creates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large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virtual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disk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smaller</a:t>
            </a:r>
            <a:r>
              <a:rPr sz="2000" spc="-10" dirty="0">
                <a:latin typeface="Calibri"/>
                <a:cs typeface="Calibri"/>
              </a:rPr>
              <a:t> disks.</a:t>
            </a:r>
            <a:endParaRPr sz="2000" dirty="0">
              <a:latin typeface="Calibri"/>
              <a:cs typeface="Calibri"/>
            </a:endParaRPr>
          </a:p>
          <a:p>
            <a:pPr marL="355600" marR="728980" indent="-342900">
              <a:lnSpc>
                <a:spcPct val="100000"/>
              </a:lnSpc>
              <a:spcBef>
                <a:spcPts val="55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spc="-10" dirty="0">
                <a:latin typeface="Calibri"/>
                <a:cs typeface="Calibri"/>
              </a:rPr>
              <a:t>Storage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grouped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logical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called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strips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(It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</a:t>
            </a:r>
            <a:r>
              <a:rPr sz="2400" dirty="0">
                <a:latin typeface="Calibri"/>
                <a:cs typeface="Calibri"/>
              </a:rPr>
              <a:t>collection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sectors)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size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strip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being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some </a:t>
            </a:r>
            <a:r>
              <a:rPr sz="2400" dirty="0">
                <a:latin typeface="Calibri"/>
                <a:cs typeface="Calibri"/>
              </a:rPr>
              <a:t>multiple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sector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size.</a:t>
            </a:r>
            <a:endParaRPr sz="2400" dirty="0">
              <a:latin typeface="Calibri"/>
              <a:cs typeface="Calibri"/>
            </a:endParaRPr>
          </a:p>
          <a:p>
            <a:pPr marL="355600" marR="302895" indent="-342900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virtual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storage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sequence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strips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interleaved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among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array.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 MT"/>
              <a:buChar char="•"/>
              <a:tabLst>
                <a:tab pos="354965" algn="l"/>
              </a:tabLst>
            </a:pPr>
            <a:r>
              <a:rPr sz="2400" dirty="0">
                <a:latin typeface="Calibri"/>
                <a:cs typeface="Calibri"/>
              </a:rPr>
              <a:t>Distributing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multiple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drives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like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called</a:t>
            </a:r>
            <a:endParaRPr sz="24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400" b="1" spc="-10" dirty="0">
                <a:latin typeface="Calibri"/>
                <a:cs typeface="Calibri"/>
              </a:rPr>
              <a:t>striping</a:t>
            </a:r>
            <a:r>
              <a:rPr sz="2400" spc="-10" dirty="0">
                <a:latin typeface="Calibri"/>
                <a:cs typeface="Calibri"/>
              </a:rPr>
              <a:t>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00200" y="4933950"/>
            <a:ext cx="5647853" cy="10477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1661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Discussion</a:t>
            </a:r>
            <a:r>
              <a:rPr b="1" spc="-80" dirty="0"/>
              <a:t> </a:t>
            </a:r>
            <a:r>
              <a:rPr b="1" dirty="0"/>
              <a:t>:</a:t>
            </a:r>
            <a:r>
              <a:rPr b="1" spc="-85" dirty="0"/>
              <a:t> </a:t>
            </a:r>
            <a:r>
              <a:rPr b="1" dirty="0"/>
              <a:t>RAID</a:t>
            </a:r>
            <a:r>
              <a:rPr b="1" spc="-65" dirty="0"/>
              <a:t> </a:t>
            </a:r>
            <a:r>
              <a:rPr b="1" dirty="0"/>
              <a:t>level</a:t>
            </a:r>
            <a:r>
              <a:rPr b="1" spc="-90" dirty="0"/>
              <a:t> </a:t>
            </a:r>
            <a:r>
              <a:rPr lang="en-US" b="1" spc="-50" dirty="0"/>
              <a:t>0</a:t>
            </a:r>
            <a:endParaRPr b="1" spc="-5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304800" y="1276580"/>
            <a:ext cx="8382000" cy="4682307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55600" marR="5080" indent="-342900" algn="just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 MT"/>
              <a:buChar char="•"/>
              <a:tabLst>
                <a:tab pos="355600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consisting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consecutive</a:t>
            </a:r>
            <a:r>
              <a:rPr sz="2400" spc="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strips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starting</a:t>
            </a:r>
            <a:r>
              <a:rPr sz="2400" spc="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</a:t>
            </a:r>
            <a:r>
              <a:rPr sz="2400" spc="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boundary,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will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break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into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commands,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spc="1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disks,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sz="2400" spc="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</a:t>
            </a:r>
            <a:r>
              <a:rPr sz="2400" spc="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parallel.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Thus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</a:t>
            </a:r>
            <a:r>
              <a:rPr sz="2400" spc="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r>
              <a:rPr sz="2400" b="1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</a:t>
            </a:r>
            <a:r>
              <a:rPr sz="2400" b="1" spc="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without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knowing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6985" indent="-342900" algn="just">
              <a:lnSpc>
                <a:spcPts val="2380"/>
              </a:lnSpc>
              <a:spcBef>
                <a:spcPts val="600"/>
              </a:spcBef>
              <a:spcAft>
                <a:spcPts val="600"/>
              </a:spcAft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level 0</a:t>
            </a:r>
            <a:r>
              <a:rPr sz="24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</a:t>
            </a:r>
            <a:r>
              <a:rPr sz="24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worst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operating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habitually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ask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time.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will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correct,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parallelism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hence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gain.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6985" indent="-342900" algn="just">
              <a:lnSpc>
                <a:spcPts val="2380"/>
              </a:lnSpc>
              <a:spcBef>
                <a:spcPts val="600"/>
              </a:spcBef>
              <a:spcAft>
                <a:spcPts val="600"/>
              </a:spcAft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Another</a:t>
            </a:r>
            <a:r>
              <a:rPr sz="2400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</a:t>
            </a:r>
            <a:r>
              <a:rPr sz="2400" spc="3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spc="3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2400" spc="3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</a:t>
            </a:r>
            <a:r>
              <a:rPr sz="2400" spc="3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3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  <a:r>
              <a:rPr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potentially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worse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having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SLED.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 algn="just">
              <a:lnSpc>
                <a:spcPts val="2510"/>
              </a:lnSpc>
              <a:spcBef>
                <a:spcPts val="600"/>
              </a:spcBef>
              <a:spcAft>
                <a:spcPts val="600"/>
              </a:spcAft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</a:t>
            </a:r>
            <a:r>
              <a:rPr sz="2400" spc="2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sz="2400" spc="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redundancy</a:t>
            </a:r>
            <a:r>
              <a:rPr sz="2400" spc="2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</a:t>
            </a:r>
            <a:r>
              <a:rPr sz="2400" spc="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2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2400" spc="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design,</a:t>
            </a:r>
            <a:r>
              <a:rPr sz="2400" spc="2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2400" spc="2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2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sz="2400" b="1" spc="2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really</a:t>
            </a:r>
            <a:r>
              <a:rPr sz="2400" b="1" spc="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400" b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sz="24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RAID.</a:t>
            </a:r>
            <a:endParaRPr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28942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1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50530" cy="76644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5080" indent="-342900">
              <a:lnSpc>
                <a:spcPts val="2590"/>
              </a:lnSpc>
              <a:spcBef>
                <a:spcPts val="73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dirty="0">
                <a:latin typeface="Calibri"/>
                <a:cs typeface="Calibri"/>
              </a:rPr>
              <a:t>Stores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duplicate</a:t>
            </a:r>
            <a:r>
              <a:rPr sz="2700" spc="-7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copy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-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each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strip,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with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each</a:t>
            </a:r>
            <a:r>
              <a:rPr sz="2700" spc="-7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copy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on</a:t>
            </a:r>
            <a:r>
              <a:rPr sz="2700" spc="-45" dirty="0">
                <a:latin typeface="Calibri"/>
                <a:cs typeface="Calibri"/>
              </a:rPr>
              <a:t> </a:t>
            </a:r>
            <a:r>
              <a:rPr sz="2700" spc="-50" dirty="0">
                <a:latin typeface="Calibri"/>
                <a:cs typeface="Calibri"/>
              </a:rPr>
              <a:t>a </a:t>
            </a:r>
            <a:r>
              <a:rPr sz="2700" spc="-20" dirty="0">
                <a:latin typeface="Calibri"/>
                <a:cs typeface="Calibri"/>
              </a:rPr>
              <a:t>different</a:t>
            </a:r>
            <a:r>
              <a:rPr sz="2700" spc="-8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disk.</a:t>
            </a:r>
            <a:endParaRPr sz="27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336542"/>
            <a:ext cx="7941945" cy="1507490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355600" marR="267970" indent="-342900">
              <a:lnSpc>
                <a:spcPct val="80000"/>
              </a:lnSpc>
              <a:spcBef>
                <a:spcPts val="745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b="1" spc="-10" dirty="0">
                <a:latin typeface="Calibri"/>
                <a:cs typeface="Calibri"/>
              </a:rPr>
              <a:t>Advantages</a:t>
            </a:r>
            <a:r>
              <a:rPr sz="2700" spc="-10" dirty="0">
                <a:latin typeface="Calibri"/>
                <a:cs typeface="Calibri"/>
              </a:rPr>
              <a:t>:</a:t>
            </a:r>
            <a:r>
              <a:rPr sz="2700" spc="-9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Excellent</a:t>
            </a:r>
            <a:r>
              <a:rPr sz="2700" spc="-9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reliability;</a:t>
            </a:r>
            <a:r>
              <a:rPr sz="2700" spc="-8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if</a:t>
            </a:r>
            <a:r>
              <a:rPr sz="2700" spc="-7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drive</a:t>
            </a:r>
            <a:r>
              <a:rPr sz="2700" spc="-8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crashes,</a:t>
            </a:r>
            <a:r>
              <a:rPr sz="2700" spc="-100" dirty="0">
                <a:latin typeface="Calibri"/>
                <a:cs typeface="Calibri"/>
              </a:rPr>
              <a:t> </a:t>
            </a:r>
            <a:r>
              <a:rPr sz="2700" spc="-25" dirty="0">
                <a:latin typeface="Calibri"/>
                <a:cs typeface="Calibri"/>
              </a:rPr>
              <a:t>the </a:t>
            </a:r>
            <a:r>
              <a:rPr sz="2700" dirty="0">
                <a:latin typeface="Calibri"/>
                <a:cs typeface="Calibri"/>
              </a:rPr>
              <a:t>copy</a:t>
            </a:r>
            <a:r>
              <a:rPr sz="2700" spc="-6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used.</a:t>
            </a:r>
            <a:r>
              <a:rPr sz="2700" spc="-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Read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performance</a:t>
            </a:r>
            <a:r>
              <a:rPr sz="2700" spc="-6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can</a:t>
            </a:r>
            <a:r>
              <a:rPr sz="2700" spc="-4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be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achieved.</a:t>
            </a:r>
            <a:endParaRPr sz="2700" dirty="0">
              <a:latin typeface="Calibri"/>
              <a:cs typeface="Calibri"/>
            </a:endParaRPr>
          </a:p>
          <a:p>
            <a:pPr marL="355600" marR="5080" indent="-342900">
              <a:lnSpc>
                <a:spcPts val="2590"/>
              </a:lnSpc>
              <a:spcBef>
                <a:spcPts val="63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b="1" spc="-10" dirty="0">
                <a:latin typeface="Calibri"/>
                <a:cs typeface="Calibri"/>
              </a:rPr>
              <a:t>Disadvantages</a:t>
            </a:r>
            <a:r>
              <a:rPr sz="2700" spc="-10" dirty="0">
                <a:latin typeface="Calibri"/>
                <a:cs typeface="Calibri"/>
              </a:rPr>
              <a:t>:</a:t>
            </a:r>
            <a:r>
              <a:rPr sz="2700" spc="-7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Write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Performance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no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better</a:t>
            </a:r>
            <a:r>
              <a:rPr sz="2700" spc="-8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than</a:t>
            </a:r>
            <a:r>
              <a:rPr sz="2700" spc="-80" dirty="0">
                <a:latin typeface="Calibri"/>
                <a:cs typeface="Calibri"/>
              </a:rPr>
              <a:t> </a:t>
            </a:r>
            <a:r>
              <a:rPr sz="2700" spc="-25" dirty="0">
                <a:latin typeface="Calibri"/>
                <a:cs typeface="Calibri"/>
              </a:rPr>
              <a:t>in </a:t>
            </a:r>
            <a:r>
              <a:rPr sz="2700" dirty="0">
                <a:latin typeface="Calibri"/>
                <a:cs typeface="Calibri"/>
              </a:rPr>
              <a:t>single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drive.</a:t>
            </a:r>
            <a:endParaRPr sz="2700" dirty="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4583" y="2438400"/>
            <a:ext cx="6680880" cy="12687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09715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1661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Discussion</a:t>
            </a:r>
            <a:r>
              <a:rPr b="1" spc="-80" dirty="0"/>
              <a:t> </a:t>
            </a:r>
            <a:r>
              <a:rPr b="1" dirty="0"/>
              <a:t>:</a:t>
            </a:r>
            <a:r>
              <a:rPr b="1" spc="-85" dirty="0"/>
              <a:t> </a:t>
            </a:r>
            <a:r>
              <a:rPr b="1" dirty="0"/>
              <a:t>RAID</a:t>
            </a:r>
            <a:r>
              <a:rPr b="1" spc="-65" dirty="0"/>
              <a:t> </a:t>
            </a:r>
            <a:r>
              <a:rPr b="1" dirty="0"/>
              <a:t>level</a:t>
            </a:r>
            <a:r>
              <a:rPr b="1" spc="-90" dirty="0"/>
              <a:t> </a:t>
            </a:r>
            <a:r>
              <a:rPr b="1" spc="-50" dirty="0"/>
              <a:t>1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74025" cy="4319270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54330" marR="7620" indent="-341630" algn="just">
              <a:lnSpc>
                <a:spcPts val="3460"/>
              </a:lnSpc>
              <a:spcBef>
                <a:spcPts val="53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write</a:t>
            </a:r>
            <a:r>
              <a:rPr sz="3200" spc="12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performance</a:t>
            </a:r>
            <a:r>
              <a:rPr sz="3200" spc="13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13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no</a:t>
            </a:r>
            <a:r>
              <a:rPr sz="3200" spc="12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better</a:t>
            </a:r>
            <a:r>
              <a:rPr sz="3200" spc="12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than</a:t>
            </a:r>
            <a:r>
              <a:rPr sz="3200" spc="13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130" dirty="0">
                <a:latin typeface="Calibri"/>
                <a:cs typeface="Calibri"/>
              </a:rPr>
              <a:t>  </a:t>
            </a:r>
            <a:r>
              <a:rPr sz="3200" spc="-50" dirty="0">
                <a:latin typeface="Calibri"/>
                <a:cs typeface="Calibri"/>
              </a:rPr>
              <a:t>a 	</a:t>
            </a:r>
            <a:r>
              <a:rPr sz="3200" dirty="0">
                <a:latin typeface="Calibri"/>
                <a:cs typeface="Calibri"/>
              </a:rPr>
              <a:t>single</a:t>
            </a:r>
            <a:r>
              <a:rPr sz="3200" spc="2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drive,</a:t>
            </a:r>
            <a:r>
              <a:rPr sz="3200" spc="2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but</a:t>
            </a:r>
            <a:r>
              <a:rPr sz="3200" spc="2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read</a:t>
            </a:r>
            <a:r>
              <a:rPr sz="3200" spc="2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performance</a:t>
            </a:r>
            <a:r>
              <a:rPr sz="3200" spc="25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can</a:t>
            </a:r>
            <a:r>
              <a:rPr sz="3200" spc="2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</a:t>
            </a:r>
            <a:r>
              <a:rPr sz="3200" spc="28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up 	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twice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good.</a:t>
            </a:r>
            <a:endParaRPr sz="3200" dirty="0">
              <a:latin typeface="Calibri"/>
              <a:cs typeface="Calibri"/>
            </a:endParaRPr>
          </a:p>
          <a:p>
            <a:pPr marL="355600" marR="6350" indent="-342900" algn="just">
              <a:lnSpc>
                <a:spcPts val="3460"/>
              </a:lnSpc>
              <a:spcBef>
                <a:spcPts val="760"/>
              </a:spcBef>
              <a:buFont typeface="Arial MT"/>
              <a:buChar char="•"/>
              <a:tabLst>
                <a:tab pos="355600" algn="l"/>
                <a:tab pos="446405" algn="l"/>
              </a:tabLst>
            </a:pPr>
            <a:r>
              <a:rPr sz="3200" dirty="0">
                <a:latin typeface="Calibri"/>
                <a:cs typeface="Calibri"/>
              </a:rPr>
              <a:t>	Fault</a:t>
            </a:r>
            <a:r>
              <a:rPr sz="3200" spc="1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tolerance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excellent:</a:t>
            </a:r>
            <a:r>
              <a:rPr sz="3200" spc="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if</a:t>
            </a:r>
            <a:r>
              <a:rPr sz="3200" spc="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1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</a:t>
            </a:r>
            <a:r>
              <a:rPr sz="3200" spc="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crashes,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copy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simply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used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instead.</a:t>
            </a:r>
            <a:endParaRPr sz="32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ts val="3460"/>
              </a:lnSpc>
              <a:spcBef>
                <a:spcPts val="765"/>
              </a:spcBef>
              <a:buFont typeface="Arial MT"/>
              <a:buChar char="•"/>
              <a:tabLst>
                <a:tab pos="355600" algn="l"/>
                <a:tab pos="446405" algn="l"/>
              </a:tabLst>
            </a:pPr>
            <a:r>
              <a:rPr sz="3200" dirty="0">
                <a:latin typeface="Calibri"/>
                <a:cs typeface="Calibri"/>
              </a:rPr>
              <a:t>	Recovery</a:t>
            </a:r>
            <a:r>
              <a:rPr sz="3200" spc="5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consists</a:t>
            </a:r>
            <a:r>
              <a:rPr sz="3200" spc="5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5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simply</a:t>
            </a:r>
            <a:r>
              <a:rPr sz="3200" spc="5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installing</a:t>
            </a:r>
            <a:r>
              <a:rPr sz="3200" spc="5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52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new </a:t>
            </a:r>
            <a:r>
              <a:rPr sz="3200" dirty="0">
                <a:latin typeface="Calibri"/>
                <a:cs typeface="Calibri"/>
              </a:rPr>
              <a:t>drive</a:t>
            </a:r>
            <a:r>
              <a:rPr sz="3200" spc="4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4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copying</a:t>
            </a:r>
            <a:r>
              <a:rPr sz="3200" spc="409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4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entire</a:t>
            </a:r>
            <a:r>
              <a:rPr sz="3200" spc="4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backup</a:t>
            </a:r>
            <a:r>
              <a:rPr sz="3200" spc="4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</a:t>
            </a:r>
            <a:r>
              <a:rPr sz="3200" spc="40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to it.</a:t>
            </a:r>
            <a:endParaRPr sz="3200" dirty="0">
              <a:latin typeface="Calibri"/>
              <a:cs typeface="Calibri"/>
            </a:endParaRPr>
          </a:p>
          <a:p>
            <a:pPr marL="354330" indent="-341630" algn="just">
              <a:lnSpc>
                <a:spcPct val="100000"/>
              </a:lnSpc>
              <a:spcBef>
                <a:spcPts val="325"/>
              </a:spcBef>
              <a:buFont typeface="Arial MT"/>
              <a:buChar char="•"/>
              <a:tabLst>
                <a:tab pos="354330" algn="l"/>
              </a:tabLst>
            </a:pPr>
            <a:r>
              <a:rPr sz="3200" dirty="0">
                <a:latin typeface="Calibri"/>
                <a:cs typeface="Calibri"/>
              </a:rPr>
              <a:t>Double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space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!!!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17531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15519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50" dirty="0"/>
              <a:t> </a:t>
            </a:r>
            <a:r>
              <a:rPr b="1" dirty="0"/>
              <a:t>Level</a:t>
            </a:r>
            <a:r>
              <a:rPr b="1" spc="-65" dirty="0"/>
              <a:t> </a:t>
            </a:r>
            <a:r>
              <a:rPr b="1" spc="-50" dirty="0"/>
              <a:t>2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143000"/>
            <a:ext cx="8072755" cy="3830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3060" marR="7620" indent="-3403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An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error-</a:t>
            </a:r>
            <a:r>
              <a:rPr sz="2400" b="1" dirty="0">
                <a:latin typeface="Calibri"/>
                <a:cs typeface="Calibri"/>
              </a:rPr>
              <a:t>correcting</a:t>
            </a:r>
            <a:r>
              <a:rPr sz="2400" b="1" spc="47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code</a:t>
            </a:r>
            <a:r>
              <a:rPr sz="2400" b="1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48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used</a:t>
            </a:r>
            <a:r>
              <a:rPr sz="2400" spc="4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corresponding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bits</a:t>
            </a:r>
            <a:r>
              <a:rPr sz="2400" spc="48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on 	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disks.</a:t>
            </a:r>
            <a:endParaRPr sz="2400" dirty="0">
              <a:latin typeface="Calibri"/>
              <a:cs typeface="Calibri"/>
            </a:endParaRPr>
          </a:p>
          <a:p>
            <a:pPr marL="353060" marR="5080" indent="-340360" algn="just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spc="-20" dirty="0">
                <a:latin typeface="Calibri"/>
                <a:cs typeface="Calibri"/>
              </a:rPr>
              <a:t>Error-</a:t>
            </a:r>
            <a:r>
              <a:rPr sz="2400" dirty="0">
                <a:latin typeface="Calibri"/>
                <a:cs typeface="Calibri"/>
              </a:rPr>
              <a:t>correcting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scheme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two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extra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bits,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can 	</a:t>
            </a:r>
            <a:r>
              <a:rPr sz="2400" spc="-10" dirty="0">
                <a:latin typeface="Calibri"/>
                <a:cs typeface="Calibri"/>
              </a:rPr>
              <a:t>reconstruct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if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single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get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damaged</a:t>
            </a:r>
            <a:endParaRPr sz="2400" dirty="0">
              <a:latin typeface="Calibri"/>
              <a:cs typeface="Calibri"/>
            </a:endParaRPr>
          </a:p>
          <a:p>
            <a:pPr marL="353060" marR="5080" indent="-340360" algn="just">
              <a:lnSpc>
                <a:spcPct val="100000"/>
              </a:lnSpc>
              <a:spcBef>
                <a:spcPts val="57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4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Example,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byte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stored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4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48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dirty="0">
                <a:latin typeface="Calibri"/>
                <a:cs typeface="Calibri"/>
              </a:rPr>
              <a:t>second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2,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until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eight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3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8,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 	</a:t>
            </a:r>
            <a:r>
              <a:rPr sz="2400" dirty="0">
                <a:latin typeface="Calibri"/>
                <a:cs typeface="Calibri"/>
              </a:rPr>
              <a:t>correcting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bits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stored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further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disks.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If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disk 	</a:t>
            </a:r>
            <a:r>
              <a:rPr sz="2400" dirty="0">
                <a:latin typeface="Calibri"/>
                <a:cs typeface="Calibri"/>
              </a:rPr>
              <a:t>fail,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remaining</a:t>
            </a:r>
            <a:r>
              <a:rPr sz="2400" spc="6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bits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6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byte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associated</a:t>
            </a:r>
            <a:r>
              <a:rPr sz="2400" spc="70" dirty="0">
                <a:latin typeface="Calibri"/>
                <a:cs typeface="Calibri"/>
              </a:rPr>
              <a:t>  </a:t>
            </a:r>
            <a:r>
              <a:rPr sz="2400" spc="-10" dirty="0">
                <a:latin typeface="Calibri"/>
                <a:cs typeface="Calibri"/>
              </a:rPr>
              <a:t>error- 	</a:t>
            </a:r>
            <a:r>
              <a:rPr sz="2400" dirty="0">
                <a:latin typeface="Calibri"/>
                <a:cs typeface="Calibri"/>
              </a:rPr>
              <a:t>correction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bits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from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used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spc="-10" dirty="0">
                <a:latin typeface="Calibri"/>
                <a:cs typeface="Calibri"/>
              </a:rPr>
              <a:t>reconstruct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damage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data.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5425" y="5105400"/>
            <a:ext cx="5953125" cy="105727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7706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2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10703"/>
            <a:ext cx="7663815" cy="3245485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70"/>
              </a:spcBef>
              <a:buFont typeface="Arial MT"/>
              <a:buChar char="•"/>
              <a:tabLst>
                <a:tab pos="354965" algn="l"/>
              </a:tabLst>
            </a:pPr>
            <a:r>
              <a:rPr sz="3200" spc="-10" dirty="0">
                <a:latin typeface="Calibri"/>
                <a:cs typeface="Calibri"/>
              </a:rPr>
              <a:t>Advantages: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spc="-40" dirty="0">
                <a:latin typeface="Calibri"/>
                <a:cs typeface="Calibri"/>
              </a:rPr>
              <a:t>Total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parallelism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at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bit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level.</a:t>
            </a:r>
            <a:endParaRPr sz="320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spc="-20" dirty="0">
                <a:latin typeface="Calibri"/>
                <a:cs typeface="Calibri"/>
              </a:rPr>
              <a:t>Disadvantages: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Requires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substantial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number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drives.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Out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7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drives,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3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are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error </a:t>
            </a:r>
            <a:r>
              <a:rPr sz="3200" dirty="0">
                <a:latin typeface="Calibri"/>
                <a:cs typeface="Calibri"/>
              </a:rPr>
              <a:t>correcting</a:t>
            </a:r>
            <a:r>
              <a:rPr sz="3200" spc="-14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code</a:t>
            </a:r>
            <a:endParaRPr sz="3200">
              <a:latin typeface="Calibri"/>
              <a:cs typeface="Calibri"/>
            </a:endParaRPr>
          </a:p>
          <a:p>
            <a:pPr marL="355600" marR="140335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Hamming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code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7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bit=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4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original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+3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bit </a:t>
            </a:r>
            <a:r>
              <a:rPr sz="3200" dirty="0">
                <a:latin typeface="Calibri"/>
                <a:cs typeface="Calibri"/>
              </a:rPr>
              <a:t>error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correcting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code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4572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30314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15" dirty="0"/>
              <a:t> </a:t>
            </a:r>
            <a:r>
              <a:rPr b="1" spc="-10" dirty="0"/>
              <a:t>levels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544" y="1524000"/>
            <a:ext cx="7243322" cy="4299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4572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3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19200"/>
            <a:ext cx="7814945" cy="3332964"/>
          </a:xfrm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257810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</a:pPr>
            <a:r>
              <a:rPr sz="3200" b="1" dirty="0">
                <a:latin typeface="Calibri"/>
                <a:cs typeface="Calibri"/>
              </a:rPr>
              <a:t>Simplified</a:t>
            </a:r>
            <a:r>
              <a:rPr sz="3200" b="1" spc="-7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version</a:t>
            </a:r>
            <a:r>
              <a:rPr sz="3200" b="1" spc="-8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of</a:t>
            </a:r>
            <a:r>
              <a:rPr sz="3200" b="1" spc="-8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Level</a:t>
            </a:r>
            <a:r>
              <a:rPr sz="3200" b="1" spc="-90" dirty="0">
                <a:latin typeface="Calibri"/>
                <a:cs typeface="Calibri"/>
              </a:rPr>
              <a:t> </a:t>
            </a:r>
            <a:r>
              <a:rPr sz="3200" b="1" spc="-25" dirty="0">
                <a:latin typeface="Calibri"/>
                <a:cs typeface="Calibri"/>
              </a:rPr>
              <a:t>2.</a:t>
            </a:r>
            <a:endParaRPr sz="3200" b="1" dirty="0">
              <a:latin typeface="Calibri"/>
              <a:cs typeface="Calibri"/>
            </a:endParaRPr>
          </a:p>
          <a:p>
            <a:pPr marL="355600" marR="307975" indent="-342900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i="1" dirty="0">
                <a:latin typeface="Calibri"/>
                <a:cs typeface="Calibri"/>
              </a:rPr>
              <a:t>A</a:t>
            </a:r>
            <a:r>
              <a:rPr sz="2400" i="1" spc="-5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single</a:t>
            </a:r>
            <a:r>
              <a:rPr sz="2400" i="1" spc="-25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parity</a:t>
            </a:r>
            <a:r>
              <a:rPr sz="2400" i="1" spc="-35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bit</a:t>
            </a:r>
            <a:r>
              <a:rPr sz="2400" i="1" spc="-4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is</a:t>
            </a:r>
            <a:r>
              <a:rPr sz="2400" i="1" spc="-3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used</a:t>
            </a:r>
            <a:r>
              <a:rPr sz="2400" i="1" spc="-3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instead</a:t>
            </a:r>
            <a:r>
              <a:rPr sz="2400" i="1" spc="-3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of</a:t>
            </a:r>
            <a:r>
              <a:rPr sz="2400" i="1" spc="-40" dirty="0">
                <a:latin typeface="Calibri"/>
                <a:cs typeface="Calibri"/>
              </a:rPr>
              <a:t> </a:t>
            </a:r>
            <a:r>
              <a:rPr sz="2400" i="1" spc="-20" dirty="0">
                <a:latin typeface="Calibri"/>
                <a:cs typeface="Calibri"/>
              </a:rPr>
              <a:t>error-</a:t>
            </a:r>
            <a:r>
              <a:rPr sz="2400" i="1" dirty="0">
                <a:latin typeface="Calibri"/>
                <a:cs typeface="Calibri"/>
              </a:rPr>
              <a:t>correcting</a:t>
            </a:r>
            <a:r>
              <a:rPr sz="2400" i="1" spc="-55" dirty="0">
                <a:latin typeface="Calibri"/>
                <a:cs typeface="Calibri"/>
              </a:rPr>
              <a:t> </a:t>
            </a:r>
            <a:r>
              <a:rPr sz="2400" i="1" spc="-10" dirty="0">
                <a:latin typeface="Calibri"/>
                <a:cs typeface="Calibri"/>
              </a:rPr>
              <a:t>code</a:t>
            </a:r>
            <a:r>
              <a:rPr sz="2400" spc="-10" dirty="0">
                <a:latin typeface="Calibri"/>
                <a:cs typeface="Calibri"/>
              </a:rPr>
              <a:t>, </a:t>
            </a:r>
            <a:r>
              <a:rPr sz="2400" dirty="0">
                <a:latin typeface="Calibri"/>
                <a:cs typeface="Calibri"/>
              </a:rPr>
              <a:t>hence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required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extra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disk.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4965" algn="l"/>
              </a:tabLst>
            </a:pPr>
            <a:r>
              <a:rPr sz="2400" dirty="0">
                <a:latin typeface="Calibri"/>
                <a:cs typeface="Calibri"/>
              </a:rPr>
              <a:t>If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array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fails,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determined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from</a:t>
            </a:r>
            <a:endParaRPr sz="24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remaining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disks.</a:t>
            </a:r>
            <a:endParaRPr sz="2400" dirty="0">
              <a:latin typeface="Calibri"/>
              <a:cs typeface="Calibri"/>
            </a:endParaRPr>
          </a:p>
          <a:p>
            <a:pPr marL="355600" marR="5080" indent="-342900">
              <a:lnSpc>
                <a:spcPts val="3640"/>
              </a:lnSpc>
              <a:spcBef>
                <a:spcPts val="6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It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Level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less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expensive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</a:t>
            </a:r>
            <a:r>
              <a:rPr sz="2400" dirty="0">
                <a:latin typeface="Calibri"/>
                <a:cs typeface="Calibri"/>
              </a:rPr>
              <a:t>extra</a:t>
            </a:r>
            <a:r>
              <a:rPr sz="2400" spc="-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disks</a:t>
            </a:r>
            <a:r>
              <a:rPr sz="3200" spc="-10" dirty="0">
                <a:latin typeface="Calibri"/>
                <a:cs typeface="Calibri"/>
              </a:rPr>
              <a:t>.</a:t>
            </a:r>
            <a:endParaRPr sz="3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4475" y="4895850"/>
            <a:ext cx="5476875" cy="100965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4572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15519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50" dirty="0"/>
              <a:t> </a:t>
            </a:r>
            <a:r>
              <a:rPr b="1" dirty="0"/>
              <a:t>Level</a:t>
            </a:r>
            <a:r>
              <a:rPr b="1" spc="-65" dirty="0"/>
              <a:t> </a:t>
            </a:r>
            <a:r>
              <a:rPr b="1" spc="-50" dirty="0"/>
              <a:t>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19200"/>
            <a:ext cx="8006080" cy="3464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3060" marR="29209" indent="-3403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It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block-</a:t>
            </a:r>
            <a:r>
              <a:rPr sz="2400" dirty="0">
                <a:latin typeface="Calibri"/>
                <a:cs typeface="Calibri"/>
              </a:rPr>
              <a:t>level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striping,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Level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0,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addition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keeps 	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parity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separate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corresponding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from 	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disks.</a:t>
            </a:r>
            <a:endParaRPr sz="2400" dirty="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57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If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fails,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parity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used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corresponding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from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restore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fail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disks.</a:t>
            </a:r>
            <a:endParaRPr sz="2400" dirty="0">
              <a:latin typeface="Calibri"/>
              <a:cs typeface="Calibri"/>
            </a:endParaRPr>
          </a:p>
          <a:p>
            <a:pPr marL="355600" marR="34290" indent="-342900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transfer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rate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well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write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high </a:t>
            </a:r>
            <a:r>
              <a:rPr sz="2400" dirty="0">
                <a:latin typeface="Calibri"/>
                <a:cs typeface="Calibri"/>
              </a:rPr>
              <a:t>since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reads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writes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parallel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small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write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can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parallel.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4950" y="4800600"/>
            <a:ext cx="5210175" cy="10096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4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2755" cy="35388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This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design</a:t>
            </a:r>
            <a:r>
              <a:rPr sz="3200" spc="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protects</a:t>
            </a:r>
            <a:r>
              <a:rPr sz="3200" spc="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against</a:t>
            </a:r>
            <a:r>
              <a:rPr sz="3200" spc="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loss</a:t>
            </a:r>
            <a:r>
              <a:rPr sz="3200" spc="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drive 	</a:t>
            </a:r>
            <a:r>
              <a:rPr sz="3200" dirty="0">
                <a:latin typeface="Calibri"/>
                <a:cs typeface="Calibri"/>
              </a:rPr>
              <a:t>but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performs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poorly</a:t>
            </a:r>
            <a:r>
              <a:rPr sz="3200" spc="2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small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updates.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If</a:t>
            </a:r>
            <a:r>
              <a:rPr sz="3200" spc="254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one 	</a:t>
            </a:r>
            <a:r>
              <a:rPr sz="3200" dirty="0">
                <a:latin typeface="Calibri"/>
                <a:cs typeface="Calibri"/>
              </a:rPr>
              <a:t>sector</a:t>
            </a:r>
            <a:r>
              <a:rPr sz="3200" spc="5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5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changed,</a:t>
            </a:r>
            <a:r>
              <a:rPr sz="3200" spc="5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5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necessary</a:t>
            </a:r>
            <a:r>
              <a:rPr sz="3200" spc="5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5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read</a:t>
            </a:r>
            <a:r>
              <a:rPr sz="3200" spc="53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all 	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drives</a:t>
            </a:r>
            <a:r>
              <a:rPr sz="3200" spc="5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5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order</a:t>
            </a:r>
            <a:r>
              <a:rPr sz="3200" spc="5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5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recalculate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6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parity, 	</a:t>
            </a:r>
            <a:r>
              <a:rPr sz="3200" dirty="0">
                <a:latin typeface="Calibri"/>
                <a:cs typeface="Calibri"/>
              </a:rPr>
              <a:t>which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must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then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rewritten.</a:t>
            </a:r>
            <a:endParaRPr sz="3200" dirty="0">
              <a:latin typeface="Calibri"/>
              <a:cs typeface="Calibri"/>
            </a:endParaRPr>
          </a:p>
          <a:p>
            <a:pPr marL="354330" marR="5080" indent="-341630" algn="just">
              <a:lnSpc>
                <a:spcPct val="100000"/>
              </a:lnSpc>
              <a:spcBef>
                <a:spcPts val="77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As</a:t>
            </a:r>
            <a:r>
              <a:rPr sz="3200" spc="5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6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consequence</a:t>
            </a:r>
            <a:r>
              <a:rPr sz="3200" spc="5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5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heavy</a:t>
            </a:r>
            <a:r>
              <a:rPr sz="3200" spc="6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load</a:t>
            </a:r>
            <a:r>
              <a:rPr sz="3200" spc="6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</a:t>
            </a:r>
            <a:r>
              <a:rPr sz="3200" spc="61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the 	</a:t>
            </a:r>
            <a:r>
              <a:rPr sz="3200" dirty="0">
                <a:latin typeface="Calibri"/>
                <a:cs typeface="Calibri"/>
              </a:rPr>
              <a:t>parity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drive,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may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become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bottleneck.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5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998459" cy="1489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The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bottleneck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parity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eliminated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RAID </a:t>
            </a:r>
            <a:r>
              <a:rPr sz="3200" dirty="0">
                <a:latin typeface="Calibri"/>
                <a:cs typeface="Calibri"/>
              </a:rPr>
              <a:t>level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5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by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distributing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parity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bits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uniformly </a:t>
            </a:r>
            <a:r>
              <a:rPr sz="3200" dirty="0">
                <a:latin typeface="Calibri"/>
                <a:cs typeface="Calibri"/>
              </a:rPr>
              <a:t>over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all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drives,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round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robin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fashion,</a:t>
            </a:r>
            <a:endParaRPr sz="3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1549" y="3667125"/>
            <a:ext cx="6435023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853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RAID</a:t>
            </a:r>
            <a:r>
              <a:rPr b="1" spc="-40" dirty="0"/>
              <a:t> </a:t>
            </a:r>
            <a:r>
              <a:rPr b="1" dirty="0"/>
              <a:t>level</a:t>
            </a:r>
            <a:r>
              <a:rPr b="1" spc="-35" dirty="0"/>
              <a:t> </a:t>
            </a:r>
            <a:r>
              <a:rPr b="1" spc="-50" dirty="0"/>
              <a:t>5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7761605" cy="273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</a:tabLst>
            </a:pPr>
            <a:r>
              <a:rPr sz="2400" dirty="0">
                <a:latin typeface="Calibri"/>
                <a:cs typeface="Calibri"/>
              </a:rPr>
              <a:t>Similar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level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4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parity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information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distributed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all</a:t>
            </a:r>
            <a:endParaRPr sz="24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disks.</a:t>
            </a:r>
            <a:endParaRPr sz="2400" dirty="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57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parity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stores data.</a:t>
            </a:r>
            <a:endParaRPr sz="2400" dirty="0">
              <a:latin typeface="Calibri"/>
              <a:cs typeface="Calibri"/>
            </a:endParaRPr>
          </a:p>
          <a:p>
            <a:pPr marL="355600" marR="248920" indent="-342900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example,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array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five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parity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nth </a:t>
            </a:r>
            <a:r>
              <a:rPr sz="2400" dirty="0">
                <a:latin typeface="Calibri"/>
                <a:cs typeface="Calibri"/>
              </a:rPr>
              <a:t>blocks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stored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mod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5)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+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1;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nth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block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5" dirty="0">
                <a:latin typeface="Calibri"/>
                <a:cs typeface="Calibri"/>
              </a:rPr>
              <a:t> the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actual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block.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7837" y="4343400"/>
            <a:ext cx="5660437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228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</a:t>
            </a:r>
            <a:r>
              <a:rPr b="1" spc="-75" dirty="0"/>
              <a:t> </a:t>
            </a:r>
            <a:r>
              <a:rPr b="1" spc="-10" dirty="0"/>
              <a:t>Formatting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8072120" cy="3936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3060" marR="5080" indent="-3403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Before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store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data,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must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divided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sectors 	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3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disk</a:t>
            </a:r>
            <a:r>
              <a:rPr sz="2400" spc="3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controller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3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</a:t>
            </a:r>
            <a:r>
              <a:rPr sz="2400" spc="3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write,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called</a:t>
            </a:r>
            <a:r>
              <a:rPr sz="2400" spc="33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low-level 	formatting.</a:t>
            </a:r>
            <a:endParaRPr sz="2400" b="1" dirty="0">
              <a:latin typeface="Calibri"/>
              <a:cs typeface="Calibri"/>
            </a:endParaRPr>
          </a:p>
          <a:p>
            <a:pPr marL="353060" indent="-340360" algn="just">
              <a:lnSpc>
                <a:spcPct val="100000"/>
              </a:lnSpc>
              <a:spcBef>
                <a:spcPts val="575"/>
              </a:spcBef>
              <a:buFont typeface="Arial MT"/>
              <a:buChar char="•"/>
              <a:tabLst>
                <a:tab pos="35306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sector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typically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consists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preamble,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lang="en-US" sz="2400" spc="-45" dirty="0">
                <a:latin typeface="Calibri"/>
                <a:cs typeface="Calibri"/>
              </a:rPr>
              <a:t>Error correcting code(</a:t>
            </a:r>
            <a:r>
              <a:rPr sz="2400" spc="-20" dirty="0">
                <a:latin typeface="Calibri"/>
                <a:cs typeface="Calibri"/>
              </a:rPr>
              <a:t>ECC</a:t>
            </a:r>
            <a:r>
              <a:rPr lang="en-US" sz="2400" spc="-20" dirty="0">
                <a:latin typeface="Calibri"/>
                <a:cs typeface="Calibri"/>
              </a:rPr>
              <a:t>)</a:t>
            </a:r>
            <a:r>
              <a:rPr sz="2400" spc="-20" dirty="0">
                <a:latin typeface="Calibri"/>
                <a:cs typeface="Calibri"/>
              </a:rPr>
              <a:t>.</a:t>
            </a:r>
            <a:endParaRPr sz="2400" dirty="0">
              <a:latin typeface="Calibri"/>
              <a:cs typeface="Calibri"/>
            </a:endParaRPr>
          </a:p>
          <a:p>
            <a:pPr marL="353060" marR="5080" indent="-340360" algn="just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3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preamble</a:t>
            </a:r>
            <a:r>
              <a:rPr sz="2400" spc="3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contains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cylinder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sector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3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ECC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contains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redundant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information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spc="-10" dirty="0">
                <a:latin typeface="Calibri"/>
                <a:cs typeface="Calibri"/>
              </a:rPr>
              <a:t>recover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from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read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error.</a:t>
            </a:r>
            <a:endParaRPr sz="2400" dirty="0">
              <a:latin typeface="Calibri"/>
              <a:cs typeface="Calibri"/>
            </a:endParaRPr>
          </a:p>
          <a:p>
            <a:pPr marL="353060" marR="5715" indent="-340360" algn="just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size</a:t>
            </a:r>
            <a:r>
              <a:rPr sz="2400" spc="13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2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upon</a:t>
            </a:r>
            <a:r>
              <a:rPr sz="2400" spc="12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manufacturer,</a:t>
            </a:r>
            <a:r>
              <a:rPr sz="2400" spc="130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25" dirty="0">
                <a:latin typeface="Calibri"/>
                <a:cs typeface="Calibri"/>
              </a:rPr>
              <a:t>  </a:t>
            </a:r>
            <a:r>
              <a:rPr sz="2400" spc="-25" dirty="0">
                <a:latin typeface="Calibri"/>
                <a:cs typeface="Calibri"/>
              </a:rPr>
              <a:t>on 	</a:t>
            </a:r>
            <a:r>
              <a:rPr sz="2400" spc="-10" dirty="0">
                <a:latin typeface="Calibri"/>
                <a:cs typeface="Calibri"/>
              </a:rPr>
              <a:t>reliability.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1125" y="5410200"/>
            <a:ext cx="6467475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228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</a:t>
            </a:r>
            <a:r>
              <a:rPr b="1" spc="-75" dirty="0"/>
              <a:t> </a:t>
            </a:r>
            <a:r>
              <a:rPr b="1" spc="-10" dirty="0"/>
              <a:t>Formatting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1228" y="1219200"/>
            <a:ext cx="6279328" cy="471188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228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</a:t>
            </a:r>
            <a:r>
              <a:rPr b="1" spc="-75" dirty="0"/>
              <a:t> </a:t>
            </a:r>
            <a:r>
              <a:rPr b="1" spc="-10" dirty="0"/>
              <a:t>Formatting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678281" y="1371600"/>
            <a:ext cx="7790180" cy="4141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1925" marR="69850" indent="-8445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61925" algn="l"/>
                <a:tab pos="421005" algn="l"/>
              </a:tabLst>
            </a:pPr>
            <a:r>
              <a:rPr sz="3000" dirty="0">
                <a:latin typeface="Calibri"/>
                <a:cs typeface="Calibri"/>
              </a:rPr>
              <a:t>	If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disk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I/O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operations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are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limited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transferring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single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sector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at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time,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read</a:t>
            </a:r>
            <a:r>
              <a:rPr lang="en-US" sz="3000" dirty="0">
                <a:latin typeface="Calibri"/>
                <a:cs typeface="Calibri"/>
              </a:rPr>
              <a:t>s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first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sector </a:t>
            </a:r>
            <a:r>
              <a:rPr sz="3000" dirty="0">
                <a:latin typeface="Calibri"/>
                <a:cs typeface="Calibri"/>
              </a:rPr>
              <a:t>from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disk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and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doing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ECC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calculation,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and </a:t>
            </a:r>
            <a:r>
              <a:rPr sz="3000" spc="-20" dirty="0">
                <a:latin typeface="Calibri"/>
                <a:cs typeface="Calibri"/>
              </a:rPr>
              <a:t>transfers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main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30" dirty="0">
                <a:latin typeface="Calibri"/>
                <a:cs typeface="Calibri"/>
              </a:rPr>
              <a:t>memory,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during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this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time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the</a:t>
            </a:r>
            <a:endParaRPr sz="3000" dirty="0">
              <a:latin typeface="Calibri"/>
              <a:cs typeface="Calibri"/>
            </a:endParaRPr>
          </a:p>
          <a:p>
            <a:pPr marL="1487805">
              <a:lnSpc>
                <a:spcPct val="100000"/>
              </a:lnSpc>
              <a:spcBef>
                <a:spcPts val="5"/>
              </a:spcBef>
            </a:pPr>
            <a:r>
              <a:rPr sz="3000" dirty="0">
                <a:latin typeface="Calibri"/>
                <a:cs typeface="Calibri"/>
              </a:rPr>
              <a:t>next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sector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will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fly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by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head.</a:t>
            </a:r>
            <a:endParaRPr sz="3000" dirty="0">
              <a:latin typeface="Calibri"/>
              <a:cs typeface="Calibri"/>
            </a:endParaRPr>
          </a:p>
          <a:p>
            <a:pPr marL="355600" marR="5080" indent="-343535">
              <a:lnSpc>
                <a:spcPct val="100000"/>
              </a:lnSpc>
              <a:spcBef>
                <a:spcPts val="3600"/>
              </a:spcBef>
              <a:buFont typeface="Arial MT"/>
              <a:buChar char="•"/>
              <a:tabLst>
                <a:tab pos="412115" algn="l"/>
              </a:tabLst>
            </a:pPr>
            <a:r>
              <a:rPr sz="3000" dirty="0">
                <a:latin typeface="Calibri"/>
                <a:cs typeface="Calibri"/>
              </a:rPr>
              <a:t>When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transferring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completes,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controller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will 	</a:t>
            </a:r>
            <a:r>
              <a:rPr sz="3000" dirty="0">
                <a:latin typeface="Calibri"/>
                <a:cs typeface="Calibri"/>
              </a:rPr>
              <a:t>have</a:t>
            </a:r>
            <a:r>
              <a:rPr sz="3000" spc="-1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wait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almost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an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entire</a:t>
            </a:r>
            <a:r>
              <a:rPr sz="3000" spc="-8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rotation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for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the</a:t>
            </a:r>
            <a:endParaRPr sz="3000" dirty="0">
              <a:latin typeface="Calibri"/>
              <a:cs typeface="Calibri"/>
            </a:endParaRPr>
          </a:p>
          <a:p>
            <a:pPr marL="1047750">
              <a:lnSpc>
                <a:spcPct val="100000"/>
              </a:lnSpc>
            </a:pPr>
            <a:r>
              <a:rPr sz="3000" dirty="0">
                <a:latin typeface="Calibri"/>
                <a:cs typeface="Calibri"/>
              </a:rPr>
              <a:t>second</a:t>
            </a:r>
            <a:r>
              <a:rPr sz="3000" spc="-1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sector</a:t>
            </a:r>
            <a:r>
              <a:rPr sz="3000" spc="-1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10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come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around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again.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Disk</a:t>
            </a:r>
            <a:r>
              <a:rPr b="1" spc="-75" dirty="0"/>
              <a:t> </a:t>
            </a:r>
            <a:r>
              <a:rPr b="1" spc="-10" dirty="0"/>
              <a:t>Formatting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977505" cy="2244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3695" marR="431800" indent="-340995" algn="just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dirty="0">
                <a:latin typeface="Calibri"/>
                <a:cs typeface="Calibri"/>
              </a:rPr>
              <a:t>This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problem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eliminated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by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numbering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 	</a:t>
            </a:r>
            <a:r>
              <a:rPr sz="2800" spc="-10" dirty="0">
                <a:latin typeface="Calibri"/>
                <a:cs typeface="Calibri"/>
              </a:rPr>
              <a:t>sectors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interleaved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fashion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when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formatting 	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disk.</a:t>
            </a:r>
            <a:endParaRPr sz="2800" dirty="0">
              <a:latin typeface="Calibri"/>
              <a:cs typeface="Calibri"/>
            </a:endParaRPr>
          </a:p>
          <a:p>
            <a:pPr marL="353695" marR="5080" indent="-340995" algn="just">
              <a:lnSpc>
                <a:spcPct val="100000"/>
              </a:lnSpc>
              <a:spcBef>
                <a:spcPts val="67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spc="-10" dirty="0">
                <a:latin typeface="Calibri"/>
                <a:cs typeface="Calibri"/>
              </a:rPr>
              <a:t>According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copying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rate,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interleaving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may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of 	</a:t>
            </a:r>
            <a:r>
              <a:rPr sz="2800" dirty="0">
                <a:latin typeface="Calibri"/>
                <a:cs typeface="Calibri"/>
              </a:rPr>
              <a:t>single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double.</a:t>
            </a:r>
            <a:endParaRPr sz="2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033" y="3733800"/>
            <a:ext cx="7063446" cy="231457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2055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RAM</a:t>
            </a:r>
            <a:r>
              <a:rPr b="1" spc="-20" dirty="0"/>
              <a:t> Disk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44777"/>
            <a:ext cx="5166995" cy="71183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5600" marR="5080" indent="-342900">
              <a:lnSpc>
                <a:spcPts val="2400"/>
              </a:lnSpc>
              <a:spcBef>
                <a:spcPts val="675"/>
              </a:spcBef>
              <a:buFont typeface="Arial MT"/>
              <a:buChar char="•"/>
              <a:tabLst>
                <a:tab pos="355600" algn="l"/>
                <a:tab pos="1201420" algn="l"/>
                <a:tab pos="1957070" algn="l"/>
                <a:tab pos="2371725" algn="l"/>
                <a:tab pos="3416300" algn="l"/>
                <a:tab pos="4319905" algn="l"/>
              </a:tabLst>
            </a:pPr>
            <a:r>
              <a:rPr sz="2500" spc="-25" dirty="0">
                <a:latin typeface="Calibri"/>
                <a:cs typeface="Calibri"/>
              </a:rPr>
              <a:t>RAM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Disk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is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virtual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block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device memory.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95213" y="1544777"/>
            <a:ext cx="271018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209040" algn="l"/>
                <a:tab pos="2051685" algn="l"/>
              </a:tabLst>
            </a:pPr>
            <a:r>
              <a:rPr sz="2500" spc="-10" dirty="0">
                <a:latin typeface="Calibri"/>
                <a:cs typeface="Calibri"/>
              </a:rPr>
              <a:t>created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from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main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2231262"/>
            <a:ext cx="8072120" cy="345503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5600" marR="7620" indent="-342900">
              <a:lnSpc>
                <a:spcPts val="2400"/>
              </a:lnSpc>
              <a:spcBef>
                <a:spcPts val="67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dirty="0">
                <a:latin typeface="Calibri"/>
                <a:cs typeface="Calibri"/>
              </a:rPr>
              <a:t>Commands</a:t>
            </a:r>
            <a:r>
              <a:rPr sz="2500" spc="22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to</a:t>
            </a:r>
            <a:r>
              <a:rPr sz="2500" spc="2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read</a:t>
            </a:r>
            <a:r>
              <a:rPr sz="2500" spc="22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or</a:t>
            </a:r>
            <a:r>
              <a:rPr sz="2500" spc="2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write</a:t>
            </a:r>
            <a:r>
              <a:rPr sz="2500" spc="21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disks</a:t>
            </a:r>
            <a:r>
              <a:rPr sz="2500" spc="21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blocks</a:t>
            </a:r>
            <a:r>
              <a:rPr sz="2500" spc="21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are</a:t>
            </a:r>
            <a:r>
              <a:rPr sz="2500" spc="2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implemented </a:t>
            </a:r>
            <a:r>
              <a:rPr sz="2500" dirty="0">
                <a:latin typeface="Calibri"/>
                <a:cs typeface="Calibri"/>
              </a:rPr>
              <a:t>by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RAM</a:t>
            </a:r>
            <a:r>
              <a:rPr sz="2500" spc="-4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</a:t>
            </a:r>
            <a:r>
              <a:rPr sz="2500" spc="-3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driver.</a:t>
            </a:r>
            <a:endParaRPr sz="2500" dirty="0">
              <a:latin typeface="Calibri"/>
              <a:cs typeface="Calibri"/>
            </a:endParaRPr>
          </a:p>
          <a:p>
            <a:pPr marL="355600" marR="5080" indent="-342900">
              <a:lnSpc>
                <a:spcPts val="2400"/>
              </a:lnSpc>
              <a:spcBef>
                <a:spcPts val="600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dirty="0">
                <a:latin typeface="Calibri"/>
                <a:cs typeface="Calibri"/>
              </a:rPr>
              <a:t>It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completely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eliminates</a:t>
            </a:r>
            <a:r>
              <a:rPr sz="2500" spc="-3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seek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and</a:t>
            </a:r>
            <a:r>
              <a:rPr sz="2500" spc="-5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rotational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delays</a:t>
            </a:r>
            <a:r>
              <a:rPr sz="2500" spc="-4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suffered </a:t>
            </a:r>
            <a:r>
              <a:rPr sz="2500" dirty="0">
                <a:latin typeface="Calibri"/>
                <a:cs typeface="Calibri"/>
              </a:rPr>
              <a:t>in</a:t>
            </a:r>
            <a:r>
              <a:rPr sz="2500" spc="-8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devices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because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main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memory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is</a:t>
            </a:r>
            <a:r>
              <a:rPr sz="2500" spc="-6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direct</a:t>
            </a:r>
            <a:r>
              <a:rPr sz="2500" spc="-4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access.</a:t>
            </a:r>
            <a:endParaRPr sz="2500" dirty="0">
              <a:latin typeface="Calibri"/>
              <a:cs typeface="Calibri"/>
            </a:endParaRPr>
          </a:p>
          <a:p>
            <a:pPr marL="355600" marR="5715" indent="-342900">
              <a:lnSpc>
                <a:spcPts val="2400"/>
              </a:lnSpc>
              <a:spcBef>
                <a:spcPts val="600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dirty="0">
                <a:latin typeface="Calibri"/>
                <a:cs typeface="Calibri"/>
              </a:rPr>
              <a:t>RAM</a:t>
            </a:r>
            <a:r>
              <a:rPr sz="2500" spc="27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disks</a:t>
            </a:r>
            <a:r>
              <a:rPr sz="2500" spc="27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are</a:t>
            </a:r>
            <a:r>
              <a:rPr sz="2500" spc="27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particularly</a:t>
            </a:r>
            <a:r>
              <a:rPr sz="2500" spc="28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useful</a:t>
            </a:r>
            <a:r>
              <a:rPr sz="2500" spc="27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for</a:t>
            </a:r>
            <a:r>
              <a:rPr sz="2500" spc="28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storing</a:t>
            </a:r>
            <a:r>
              <a:rPr sz="2500" spc="2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files</a:t>
            </a:r>
            <a:r>
              <a:rPr sz="2500" spc="28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that</a:t>
            </a:r>
            <a:r>
              <a:rPr sz="2500" spc="280" dirty="0">
                <a:latin typeface="Calibri"/>
                <a:cs typeface="Calibri"/>
              </a:rPr>
              <a:t> </a:t>
            </a:r>
            <a:r>
              <a:rPr sz="2500" spc="-25" dirty="0">
                <a:latin typeface="Calibri"/>
                <a:cs typeface="Calibri"/>
              </a:rPr>
              <a:t>are </a:t>
            </a:r>
            <a:r>
              <a:rPr sz="2500" spc="-10" dirty="0">
                <a:latin typeface="Calibri"/>
                <a:cs typeface="Calibri"/>
              </a:rPr>
              <a:t>frequently</a:t>
            </a:r>
            <a:r>
              <a:rPr sz="2500" spc="-55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accessed</a:t>
            </a:r>
            <a:r>
              <a:rPr sz="2500" spc="-50" dirty="0">
                <a:latin typeface="Calibri"/>
                <a:cs typeface="Calibri"/>
              </a:rPr>
              <a:t> </a:t>
            </a:r>
            <a:r>
              <a:rPr sz="2500" dirty="0">
                <a:latin typeface="Calibri"/>
                <a:cs typeface="Calibri"/>
              </a:rPr>
              <a:t>or</a:t>
            </a:r>
            <a:r>
              <a:rPr sz="2500" spc="-8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temporary.</a:t>
            </a:r>
            <a:endParaRPr sz="2500" dirty="0">
              <a:latin typeface="Calibri"/>
              <a:cs typeface="Calibri"/>
            </a:endParaRPr>
          </a:p>
          <a:p>
            <a:pPr marL="355600" marR="6985" indent="-342900">
              <a:lnSpc>
                <a:spcPts val="2400"/>
              </a:lnSpc>
              <a:spcBef>
                <a:spcPts val="605"/>
              </a:spcBef>
              <a:buFont typeface="Arial MT"/>
              <a:buChar char="•"/>
              <a:tabLst>
                <a:tab pos="355600" algn="l"/>
                <a:tab pos="1224280" algn="l"/>
                <a:tab pos="2094230" algn="l"/>
                <a:tab pos="2753360" algn="l"/>
                <a:tab pos="4251325" algn="l"/>
                <a:tab pos="5109210" algn="l"/>
                <a:tab pos="5589270" algn="l"/>
                <a:tab pos="6386830" algn="l"/>
              </a:tabLst>
            </a:pPr>
            <a:r>
              <a:rPr sz="2500" spc="-25" dirty="0">
                <a:latin typeface="Calibri"/>
                <a:cs typeface="Calibri"/>
              </a:rPr>
              <a:t>RAM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disks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are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especially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used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in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high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performance applications.</a:t>
            </a:r>
            <a:endParaRPr sz="2500" dirty="0">
              <a:latin typeface="Calibri"/>
              <a:cs typeface="Calibri"/>
            </a:endParaRPr>
          </a:p>
          <a:p>
            <a:pPr marL="355600" marR="6350" indent="-342900">
              <a:lnSpc>
                <a:spcPct val="80000"/>
              </a:lnSpc>
              <a:spcBef>
                <a:spcPts val="620"/>
              </a:spcBef>
              <a:buFont typeface="Arial MT"/>
              <a:buChar char="•"/>
              <a:tabLst>
                <a:tab pos="355600" algn="l"/>
                <a:tab pos="1289685" algn="l"/>
                <a:tab pos="1852295" algn="l"/>
                <a:tab pos="2877820" algn="l"/>
                <a:tab pos="3517900" algn="l"/>
                <a:tab pos="4353560" algn="l"/>
                <a:tab pos="5190490" algn="l"/>
                <a:tab pos="5653405" algn="l"/>
                <a:tab pos="6469380" algn="l"/>
                <a:tab pos="7346950" algn="l"/>
              </a:tabLst>
            </a:pPr>
            <a:r>
              <a:rPr sz="2500" spc="-20" dirty="0">
                <a:latin typeface="Calibri"/>
                <a:cs typeface="Calibri"/>
              </a:rPr>
              <a:t>Some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OS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define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the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RAM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disks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5" dirty="0">
                <a:latin typeface="Calibri"/>
                <a:cs typeface="Calibri"/>
              </a:rPr>
              <a:t>at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20" dirty="0">
                <a:latin typeface="Calibri"/>
                <a:cs typeface="Calibri"/>
              </a:rPr>
              <a:t>boot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time,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00" spc="-10" dirty="0">
                <a:latin typeface="Calibri"/>
                <a:cs typeface="Calibri"/>
              </a:rPr>
              <a:t>other dynamically.</a:t>
            </a:r>
            <a:endParaRPr sz="25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048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44270">
              <a:lnSpc>
                <a:spcPct val="100000"/>
              </a:lnSpc>
              <a:spcBef>
                <a:spcPts val="105"/>
              </a:spcBef>
            </a:pPr>
            <a:r>
              <a:rPr b="1" dirty="0"/>
              <a:t>RAM</a:t>
            </a:r>
            <a:r>
              <a:rPr b="1" spc="-20" dirty="0"/>
              <a:t> </a:t>
            </a:r>
            <a:r>
              <a:rPr b="1" dirty="0"/>
              <a:t>Disk: </a:t>
            </a:r>
            <a:r>
              <a:rPr b="1" spc="-10" dirty="0"/>
              <a:t>Discussion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869673" y="1409700"/>
            <a:ext cx="7404653" cy="3827522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365885" algn="just">
              <a:lnSpc>
                <a:spcPct val="100000"/>
              </a:lnSpc>
              <a:spcBef>
                <a:spcPts val="459"/>
              </a:spcBef>
            </a:pPr>
            <a:r>
              <a:rPr sz="2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Disadvantages:</a:t>
            </a:r>
            <a:r>
              <a:rPr sz="2400" b="1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  <a:r>
              <a:rPr sz="2400" b="1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b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volatility.</a:t>
            </a:r>
          </a:p>
          <a:p>
            <a:pPr marL="355600" marR="5080" indent="-342900" algn="just">
              <a:lnSpc>
                <a:spcPct val="90000"/>
              </a:lnSpc>
              <a:spcBef>
                <a:spcPts val="72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2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</a:t>
            </a:r>
            <a:r>
              <a:rPr sz="2400" spc="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</a:t>
            </a:r>
            <a:r>
              <a:rPr sz="2400" spc="2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disk,</a:t>
            </a:r>
            <a:r>
              <a:rPr sz="2400" spc="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sz="2400" spc="2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</a:t>
            </a:r>
            <a:r>
              <a:rPr sz="2400" spc="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reserve</a:t>
            </a:r>
            <a:r>
              <a:rPr sz="2400" spc="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</a:t>
            </a:r>
            <a:r>
              <a:rPr sz="2400" spc="6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spc="6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sz="2400" spc="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sz="2400" spc="6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spc="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</a:t>
            </a:r>
            <a:r>
              <a:rPr sz="2400" spc="6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</a:t>
            </a:r>
            <a:r>
              <a:rPr sz="2400" spc="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use.</a:t>
            </a:r>
            <a:r>
              <a:rPr sz="2400" spc="6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</a:t>
            </a:r>
            <a:r>
              <a:rPr sz="2400" spc="3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sz="2400" spc="3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</a:t>
            </a:r>
            <a:r>
              <a:rPr sz="2400" spc="3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24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purchased</a:t>
            </a:r>
            <a:r>
              <a:rPr sz="2400" spc="3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otherwise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will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insufficient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process.</a:t>
            </a:r>
          </a:p>
          <a:p>
            <a:pPr marL="355600" marR="5080" indent="-342900" algn="just">
              <a:lnSpc>
                <a:spcPct val="90000"/>
              </a:lnSpc>
              <a:spcBef>
                <a:spcPts val="72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loses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sz="2400" spc="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sz="24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off.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sz="24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1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</a:t>
            </a:r>
            <a:r>
              <a:rPr sz="2400" spc="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</a:t>
            </a:r>
            <a:r>
              <a:rPr sz="2400" spc="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system,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spc="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</a:t>
            </a:r>
            <a:r>
              <a:rPr sz="24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sz="2400" spc="1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remade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boot.</a:t>
            </a:r>
          </a:p>
          <a:p>
            <a:pPr marL="355600" marR="7620" indent="-342900" algn="just">
              <a:lnSpc>
                <a:spcPts val="3240"/>
              </a:lnSpc>
              <a:spcBef>
                <a:spcPts val="77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4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volatility</a:t>
            </a:r>
            <a:r>
              <a:rPr sz="2400" spc="4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4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sz="2400" spc="4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sz="2400" spc="4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providing</a:t>
            </a:r>
            <a:r>
              <a:rPr sz="2400" spc="48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battery backups.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6045">
              <a:lnSpc>
                <a:spcPct val="100000"/>
              </a:lnSpc>
              <a:spcBef>
                <a:spcPts val="105"/>
              </a:spcBef>
            </a:pPr>
            <a:r>
              <a:rPr b="1" spc="-20" dirty="0"/>
              <a:t>Exercise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33400" y="1752600"/>
            <a:ext cx="8153400" cy="3466589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819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Suppose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</a:t>
            </a:r>
            <a:r>
              <a:rPr sz="2400" spc="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drive</a:t>
            </a:r>
            <a:r>
              <a:rPr sz="2400" spc="7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5,000</a:t>
            </a:r>
            <a:r>
              <a:rPr sz="2400" spc="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cylinders,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numbered</a:t>
            </a:r>
            <a:r>
              <a:rPr sz="2400" spc="2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sz="2400" spc="2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2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4999.</a:t>
            </a:r>
            <a:r>
              <a:rPr sz="2400" spc="2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2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drive</a:t>
            </a:r>
            <a:r>
              <a:rPr sz="2400" spc="2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2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currently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serving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r>
              <a:rPr sz="2400" spc="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cylinder</a:t>
            </a:r>
            <a:r>
              <a:rPr sz="2400" spc="3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143,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spc="3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</a:t>
            </a:r>
            <a:r>
              <a:rPr sz="2400" spc="1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r>
              <a:rPr sz="2400" spc="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</a:t>
            </a:r>
            <a:r>
              <a:rPr sz="2400" spc="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sz="2400" spc="1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cylinder</a:t>
            </a:r>
            <a:r>
              <a:rPr sz="2400" spc="1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125.</a:t>
            </a:r>
            <a:r>
              <a:rPr sz="2400" spc="2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pending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requests,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FIFO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order,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</a:p>
          <a:p>
            <a:pPr marL="469900" algn="just">
              <a:lnSpc>
                <a:spcPts val="3110"/>
              </a:lnSpc>
              <a:spcBef>
                <a:spcPts val="15"/>
              </a:spcBef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sz="2400" spc="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86,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1470,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913,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1774,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948,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1502,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1022,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1750,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130.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71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Starting</a:t>
            </a:r>
            <a:r>
              <a:rPr sz="2400" spc="3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sz="2400" spc="3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3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  <a:r>
              <a:rPr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sz="2400" spc="3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position,</a:t>
            </a:r>
            <a:r>
              <a:rPr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</a:t>
            </a:r>
            <a:r>
              <a:rPr sz="2400" spc="1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</a:t>
            </a:r>
            <a:r>
              <a:rPr sz="2400" spc="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</a:t>
            </a:r>
            <a:r>
              <a:rPr sz="2400" spc="1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cylinders)</a:t>
            </a:r>
            <a:r>
              <a:rPr sz="2400" spc="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spc="1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1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</a:t>
            </a:r>
            <a:r>
              <a:rPr sz="2400" spc="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moves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satisfy</a:t>
            </a:r>
            <a:r>
              <a:rPr sz="24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pending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following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disk-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  <a:r>
              <a:rPr sz="24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algorithms?</a:t>
            </a:r>
          </a:p>
          <a:p>
            <a:pPr marL="354965" indent="-342265">
              <a:lnSpc>
                <a:spcPct val="100000"/>
              </a:lnSpc>
              <a:buFont typeface="Arial MT"/>
              <a:buChar char="•"/>
              <a:tabLst>
                <a:tab pos="354965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FCFS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SSTF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SCAN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d)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C-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SCAN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e)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C-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LOOK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6045">
              <a:lnSpc>
                <a:spcPct val="100000"/>
              </a:lnSpc>
              <a:spcBef>
                <a:spcPts val="105"/>
              </a:spcBef>
            </a:pPr>
            <a:r>
              <a:rPr b="1" spc="-20" dirty="0"/>
              <a:t>Exercise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2755" cy="38938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disk</a:t>
            </a:r>
            <a:r>
              <a:rPr sz="3200" spc="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has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8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sectors</a:t>
            </a:r>
            <a:r>
              <a:rPr sz="3200" spc="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per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track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spins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at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600 	</a:t>
            </a:r>
            <a:r>
              <a:rPr sz="3200" dirty="0">
                <a:latin typeface="Calibri"/>
                <a:cs typeface="Calibri"/>
              </a:rPr>
              <a:t>rpm.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takes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controller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10ms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from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25" dirty="0">
                <a:latin typeface="Calibri"/>
                <a:cs typeface="Calibri"/>
              </a:rPr>
              <a:t> end 	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6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one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I/O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operation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before</a:t>
            </a:r>
            <a:r>
              <a:rPr sz="3200" spc="6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7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can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issue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spc="-50" dirty="0">
                <a:latin typeface="Calibri"/>
                <a:cs typeface="Calibri"/>
              </a:rPr>
              <a:t>a 	</a:t>
            </a:r>
            <a:r>
              <a:rPr sz="3200" dirty="0">
                <a:latin typeface="Calibri"/>
                <a:cs typeface="Calibri"/>
              </a:rPr>
              <a:t>subsequent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one.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How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long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does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take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read 	</a:t>
            </a:r>
            <a:r>
              <a:rPr sz="3200" dirty="0">
                <a:latin typeface="Calibri"/>
                <a:cs typeface="Calibri"/>
              </a:rPr>
              <a:t>all</a:t>
            </a:r>
            <a:r>
              <a:rPr sz="3200" spc="5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8</a:t>
            </a:r>
            <a:r>
              <a:rPr sz="3200" spc="5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sectors</a:t>
            </a:r>
            <a:r>
              <a:rPr sz="3200" spc="5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using</a:t>
            </a:r>
            <a:r>
              <a:rPr sz="3200" spc="5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following</a:t>
            </a:r>
            <a:r>
              <a:rPr sz="3200" spc="5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interleaving 	system?</a:t>
            </a:r>
            <a:endParaRPr sz="3200" dirty="0">
              <a:latin typeface="Calibri"/>
              <a:cs typeface="Calibri"/>
            </a:endParaRPr>
          </a:p>
          <a:p>
            <a:pPr marL="756285" marR="5715" indent="-287020" algn="just">
              <a:lnSpc>
                <a:spcPct val="100000"/>
              </a:lnSpc>
              <a:spcBef>
                <a:spcPts val="695"/>
              </a:spcBef>
            </a:pPr>
            <a:r>
              <a:rPr sz="2800" dirty="0">
                <a:latin typeface="Arial MT"/>
                <a:cs typeface="Arial MT"/>
              </a:rPr>
              <a:t>–</a:t>
            </a:r>
            <a:r>
              <a:rPr sz="2800" spc="-130" dirty="0">
                <a:latin typeface="Arial MT"/>
                <a:cs typeface="Arial MT"/>
              </a:rPr>
              <a:t> </a:t>
            </a:r>
            <a:r>
              <a:rPr sz="2800" dirty="0">
                <a:latin typeface="Calibri"/>
                <a:cs typeface="Calibri"/>
              </a:rPr>
              <a:t>a)</a:t>
            </a:r>
            <a:r>
              <a:rPr sz="2800" spc="4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</a:t>
            </a:r>
            <a:r>
              <a:rPr sz="2800" spc="4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interleaving</a:t>
            </a:r>
            <a:r>
              <a:rPr sz="2800" spc="4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b)Single</a:t>
            </a:r>
            <a:r>
              <a:rPr sz="2800" spc="4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interleaving</a:t>
            </a:r>
            <a:r>
              <a:rPr sz="2800" spc="48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c)Double interleaving</a:t>
            </a:r>
            <a:endParaRPr sz="2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7250" y="3810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46045">
              <a:lnSpc>
                <a:spcPct val="100000"/>
              </a:lnSpc>
              <a:spcBef>
                <a:spcPts val="105"/>
              </a:spcBef>
            </a:pPr>
            <a:r>
              <a:rPr b="1" spc="-20" dirty="0"/>
              <a:t>Exercise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IN" spc="-40"/>
              <a:t>Dr. Binod Kr. Adhikari</a:t>
            </a:r>
            <a:endParaRPr spc="-1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35B9AB-26FB-4317-A444-C71D3C9E0BCA}"/>
              </a:ext>
            </a:extLst>
          </p:cNvPr>
          <p:cNvSpPr/>
          <p:nvPr/>
        </p:nvSpPr>
        <p:spPr>
          <a:xfrm>
            <a:off x="2760640" y="2967335"/>
            <a:ext cx="3622723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05525416"/>
      </p:ext>
    </p:extLst>
  </p:cSld>
  <p:clrMapOvr>
    <a:masterClrMapping/>
  </p:clrMapOvr>
</p:sld>
</file>

<file path=ppt/theme/theme1.xml><?xml version="1.0" encoding="utf-8"?>
<a:theme xmlns:a="http://schemas.openxmlformats.org/drawingml/2006/main" name="Theme - OS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 - OS" id="{0DE79343-8D98-4BCA-9288-1626FF613AD5}" vid="{7BFBB33C-979A-4E4E-B49B-1129035B4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 - OS</Template>
  <TotalTime>1217</TotalTime>
  <Words>2325</Words>
  <Application>Microsoft Office PowerPoint</Application>
  <PresentationFormat>On-screen Show (4:3)</PresentationFormat>
  <Paragraphs>191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Arial MT</vt:lpstr>
      <vt:lpstr>Calibri</vt:lpstr>
      <vt:lpstr>Corbel</vt:lpstr>
      <vt:lpstr>Times New Roman</vt:lpstr>
      <vt:lpstr>Theme - OS</vt:lpstr>
      <vt:lpstr>Disk Management</vt:lpstr>
      <vt:lpstr>Disk Structure</vt:lpstr>
      <vt:lpstr>Hard Disk Structure</vt:lpstr>
      <vt:lpstr>Disk Operations</vt:lpstr>
      <vt:lpstr>Disk Scheduling</vt:lpstr>
      <vt:lpstr>First-Come First-Served (FCFS)</vt:lpstr>
      <vt:lpstr>Shortest-Seek-Time-First (SSTF)</vt:lpstr>
      <vt:lpstr>Shortest-Seek-Time-First (SSTF)</vt:lpstr>
      <vt:lpstr>SCAN</vt:lpstr>
      <vt:lpstr>PowerPoint Presentation</vt:lpstr>
      <vt:lpstr>C-SCAN</vt:lpstr>
      <vt:lpstr>PowerPoint Presentation</vt:lpstr>
      <vt:lpstr>C-LOOK</vt:lpstr>
      <vt:lpstr>PowerPoint Presentation</vt:lpstr>
      <vt:lpstr>SLED Vs RAID</vt:lpstr>
      <vt:lpstr>RAID</vt:lpstr>
      <vt:lpstr>RAID Levels</vt:lpstr>
      <vt:lpstr>RAID Level 0</vt:lpstr>
      <vt:lpstr>Discussion : RAID level 0</vt:lpstr>
      <vt:lpstr>RAID level 1</vt:lpstr>
      <vt:lpstr>Discussion : RAID level 1</vt:lpstr>
      <vt:lpstr>RAID Level 2</vt:lpstr>
      <vt:lpstr>RAID level 2</vt:lpstr>
      <vt:lpstr>RAID levels</vt:lpstr>
      <vt:lpstr>RAID level 3</vt:lpstr>
      <vt:lpstr>RAID Level 4</vt:lpstr>
      <vt:lpstr>RAID level 4</vt:lpstr>
      <vt:lpstr>RAID level 5</vt:lpstr>
      <vt:lpstr>RAID level 5</vt:lpstr>
      <vt:lpstr>Disk Formatting</vt:lpstr>
      <vt:lpstr>Disk Formatting</vt:lpstr>
      <vt:lpstr>Disk Formatting</vt:lpstr>
      <vt:lpstr>Disk Formatting</vt:lpstr>
      <vt:lpstr>RAM Disk</vt:lpstr>
      <vt:lpstr>RAM Disk: Discussion</vt:lpstr>
      <vt:lpstr>Exercise</vt:lpstr>
      <vt:lpstr>Exercise</vt:lpstr>
      <vt:lpstr>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Disk Management</dc:title>
  <dc:creator>bishal</dc:creator>
  <cp:lastModifiedBy>Binod Kumar Adhikari</cp:lastModifiedBy>
  <cp:revision>8</cp:revision>
  <dcterms:created xsi:type="dcterms:W3CDTF">2024-03-08T16:20:36Z</dcterms:created>
  <dcterms:modified xsi:type="dcterms:W3CDTF">2025-04-23T05:52:04Z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2018-04-18T00:00:00Z</vt:filetime>
  </property>
  <property fmtid="{D5CDD505-2E9C-101B-9397-08002B2CF9AE}" pid="3" name="Creator">
    <vt:lpwstr>Microsoft® Office PowerPoint® 2007</vt:lpwstr>
  </property>
  <property fmtid="{D5CDD505-2E9C-101B-9397-08002B2CF9AE}" pid="4" name="LastSaved">
    <vt:filetime>2024-03-08T00:00:00Z</vt:filetime>
  </property>
  <property fmtid="{D5CDD505-2E9C-101B-9397-08002B2CF9AE}" pid="5" name="Producer">
    <vt:lpwstr>Microsoft® Office PowerPoint® 2007</vt:lpwstr>
  </property>
</Properties>
</file>