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66" r:id="rId1"/>
  </p:sldMasterIdLst>
  <p:notesMasterIdLst>
    <p:notesMasterId r:id="rId36"/>
  </p:notesMasterIdLst>
  <p:handoutMasterIdLst>
    <p:handoutMasterId r:id="rId37"/>
  </p:handout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206" autoAdjust="0"/>
  </p:normalViewPr>
  <p:slideViewPr>
    <p:cSldViewPr>
      <p:cViewPr varScale="1">
        <p:scale>
          <a:sx n="68" d="100"/>
          <a:sy n="68" d="100"/>
        </p:scale>
        <p:origin x="1446" y="5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notesViewPr>
    <p:cSldViewPr>
      <p:cViewPr varScale="1">
        <p:scale>
          <a:sx n="72" d="100"/>
          <a:sy n="72" d="100"/>
        </p:scale>
        <p:origin x="1104" y="6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handoutMaster" Target="handoutMasters/handout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Yujan Basnet" userId="495fd8277ebfbaef" providerId="LiveId" clId="{940AA508-DE8D-48B5-A462-5031E2A2027E}"/>
    <pc:docChg chg="modSld">
      <pc:chgData name="Yujan Basnet" userId="495fd8277ebfbaef" providerId="LiveId" clId="{940AA508-DE8D-48B5-A462-5031E2A2027E}" dt="2025-06-06T00:48:14.661" v="0" actId="207"/>
      <pc:docMkLst>
        <pc:docMk/>
      </pc:docMkLst>
      <pc:sldChg chg="modSp mod">
        <pc:chgData name="Yujan Basnet" userId="495fd8277ebfbaef" providerId="LiveId" clId="{940AA508-DE8D-48B5-A462-5031E2A2027E}" dt="2025-06-06T00:48:14.661" v="0" actId="207"/>
        <pc:sldMkLst>
          <pc:docMk/>
          <pc:sldMk cId="0" sldId="279"/>
        </pc:sldMkLst>
        <pc:spChg chg="mod">
          <ac:chgData name="Yujan Basnet" userId="495fd8277ebfbaef" providerId="LiveId" clId="{940AA508-DE8D-48B5-A462-5031E2A2027E}" dt="2025-06-06T00:48:14.661" v="0" actId="207"/>
          <ac:spMkLst>
            <pc:docMk/>
            <pc:sldMk cId="0" sldId="279"/>
            <ac:spMk id="3" creationId="{00000000-0000-0000-0000-000000000000}"/>
          </ac:spMkLst>
        </pc:spChg>
      </pc:sldChg>
    </pc:docChg>
  </pc:docChgLst>
  <pc:docChgLst>
    <pc:chgData name="Yujan Basnet" userId="495fd8277ebfbaef" providerId="LiveId" clId="{47632A14-9185-424F-A201-09B1F9476CD8}"/>
    <pc:docChg chg="modSld">
      <pc:chgData name="Yujan Basnet" userId="495fd8277ebfbaef" providerId="LiveId" clId="{47632A14-9185-424F-A201-09B1F9476CD8}" dt="2025-04-07T15:15:09.560" v="71" actId="113"/>
      <pc:docMkLst>
        <pc:docMk/>
      </pc:docMkLst>
      <pc:sldChg chg="modSp mod">
        <pc:chgData name="Yujan Basnet" userId="495fd8277ebfbaef" providerId="LiveId" clId="{47632A14-9185-424F-A201-09B1F9476CD8}" dt="2025-04-07T14:59:38.100" v="1" actId="113"/>
        <pc:sldMkLst>
          <pc:docMk/>
          <pc:sldMk cId="0" sldId="273"/>
        </pc:sldMkLst>
        <pc:spChg chg="mod">
          <ac:chgData name="Yujan Basnet" userId="495fd8277ebfbaef" providerId="LiveId" clId="{47632A14-9185-424F-A201-09B1F9476CD8}" dt="2025-04-07T14:59:38.100" v="1" actId="113"/>
          <ac:spMkLst>
            <pc:docMk/>
            <pc:sldMk cId="0" sldId="273"/>
            <ac:spMk id="3" creationId="{00000000-0000-0000-0000-000000000000}"/>
          </ac:spMkLst>
        </pc:spChg>
      </pc:sldChg>
      <pc:sldChg chg="modSp mod">
        <pc:chgData name="Yujan Basnet" userId="495fd8277ebfbaef" providerId="LiveId" clId="{47632A14-9185-424F-A201-09B1F9476CD8}" dt="2025-04-07T14:59:50.336" v="3" actId="113"/>
        <pc:sldMkLst>
          <pc:docMk/>
          <pc:sldMk cId="0" sldId="274"/>
        </pc:sldMkLst>
        <pc:spChg chg="mod">
          <ac:chgData name="Yujan Basnet" userId="495fd8277ebfbaef" providerId="LiveId" clId="{47632A14-9185-424F-A201-09B1F9476CD8}" dt="2025-04-07T14:59:50.336" v="3" actId="113"/>
          <ac:spMkLst>
            <pc:docMk/>
            <pc:sldMk cId="0" sldId="274"/>
            <ac:spMk id="3" creationId="{00000000-0000-0000-0000-000000000000}"/>
          </ac:spMkLst>
        </pc:spChg>
      </pc:sldChg>
      <pc:sldChg chg="modSp mod">
        <pc:chgData name="Yujan Basnet" userId="495fd8277ebfbaef" providerId="LiveId" clId="{47632A14-9185-424F-A201-09B1F9476CD8}" dt="2025-04-07T15:15:09.560" v="71" actId="113"/>
        <pc:sldMkLst>
          <pc:docMk/>
          <pc:sldMk cId="0" sldId="285"/>
        </pc:sldMkLst>
        <pc:spChg chg="mod">
          <ac:chgData name="Yujan Basnet" userId="495fd8277ebfbaef" providerId="LiveId" clId="{47632A14-9185-424F-A201-09B1F9476CD8}" dt="2025-04-07T15:15:09.560" v="71" actId="113"/>
          <ac:spMkLst>
            <pc:docMk/>
            <pc:sldMk cId="0" sldId="285"/>
            <ac:spMk id="3" creationId="{00000000-0000-0000-0000-000000000000}"/>
          </ac:spMkLst>
        </pc:spChg>
      </pc:sldChg>
    </pc:docChg>
  </pc:docChgLst>
  <pc:docChgLst>
    <pc:chgData name="Binod Kumar Adhikari" userId="256f5a90-d823-4e8d-9a41-a3da19f4a0ad" providerId="ADAL" clId="{3182F795-48AE-4177-B18D-E9231D3C35CF}"/>
    <pc:docChg chg="modSld">
      <pc:chgData name="Binod Kumar Adhikari" userId="256f5a90-d823-4e8d-9a41-a3da19f4a0ad" providerId="ADAL" clId="{3182F795-48AE-4177-B18D-E9231D3C35CF}" dt="2025-03-24T06:04:57.466" v="0" actId="20577"/>
      <pc:docMkLst>
        <pc:docMk/>
      </pc:docMkLst>
      <pc:sldChg chg="modSp">
        <pc:chgData name="Binod Kumar Adhikari" userId="256f5a90-d823-4e8d-9a41-a3da19f4a0ad" providerId="ADAL" clId="{3182F795-48AE-4177-B18D-E9231D3C35CF}" dt="2025-03-24T06:04:57.466" v="0" actId="20577"/>
        <pc:sldMkLst>
          <pc:docMk/>
          <pc:sldMk cId="0" sldId="263"/>
        </pc:sldMkLst>
        <pc:spChg chg="mod">
          <ac:chgData name="Binod Kumar Adhikari" userId="256f5a90-d823-4e8d-9a41-a3da19f4a0ad" providerId="ADAL" clId="{3182F795-48AE-4177-B18D-E9231D3C35CF}" dt="2025-03-24T06:04:57.466" v="0" actId="20577"/>
          <ac:spMkLst>
            <pc:docMk/>
            <pc:sldMk cId="0" sldId="263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31B8F13B-B5BC-44A8-B4D4-C467B8A2997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F982A9-0289-4D93-A61D-B0DFD010C5B2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A2E5F87-6D29-477F-B8FD-8E56E9BC7934}" type="datetimeFigureOut">
              <a:rPr lang="en-IN" smtClean="0"/>
              <a:t>06-06-2025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58990C-6146-404F-B793-19958DC4AAF7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C1E95C-D57A-49DA-A637-C395354101F6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73CECCF-25DD-4C21-8C9E-77EF6D33F07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574218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43D8DD1-5034-4875-A75F-5E811AE29DB8}" type="datetimeFigureOut">
              <a:rPr lang="en-IN" smtClean="0"/>
              <a:t>06-06-2025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97AAB0-F74E-45FB-AEE9-242FA299579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856008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97AAB0-F74E-45FB-AEE9-242FA2995796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091591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842642" y="1862150"/>
            <a:ext cx="5458714" cy="14890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8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982975" y="4067936"/>
            <a:ext cx="3178048" cy="75755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/>
              <a:t>Click to edit Master subtitle style</a:t>
            </a:r>
            <a:endParaRPr/>
          </a:p>
        </p:txBody>
      </p:sp>
      <p:sp>
        <p:nvSpPr>
          <p:cNvPr id="9" name="Holder 4">
            <a:extLst>
              <a:ext uri="{FF2B5EF4-FFF2-40B4-BE49-F238E27FC236}">
                <a16:creationId xmlns:a16="http://schemas.microsoft.com/office/drawing/2014/main" id="{AC8A869B-5E0E-48D5-8125-A8242806C98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429000" y="6465214"/>
            <a:ext cx="2413254" cy="1560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pl-PL" spc="-105"/>
              <a:t>By: Dr. Binod Kr. Adhikari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8000487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8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301935" y="6465214"/>
            <a:ext cx="2540127" cy="156068"/>
          </a:xfrm>
        </p:spPr>
        <p:txBody>
          <a:bodyPr lIns="0" tIns="0" rIns="0" bIns="0"/>
          <a:lstStyle>
            <a:lvl1pPr algn="ctr">
              <a:defRPr sz="1200" b="0" i="0">
                <a:solidFill>
                  <a:srgbClr val="888888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pl-PL" spc="-105"/>
              <a:t>By: Dr. Binod Kr. Adhikari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174145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Holder 4">
            <a:extLst>
              <a:ext uri="{FF2B5EF4-FFF2-40B4-BE49-F238E27FC236}">
                <a16:creationId xmlns:a16="http://schemas.microsoft.com/office/drawing/2014/main" id="{A189FF5E-932D-4B32-83A6-74649A1E981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429000" y="6465214"/>
            <a:ext cx="2413254" cy="1560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pl-PL" spc="-105"/>
              <a:t>By: Dr. Binod Kr. Adhikari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48870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r>
              <a:rPr lang="en-US"/>
              <a:t>Click to edit Master title style</a:t>
            </a:r>
            <a:endParaRPr/>
          </a:p>
        </p:txBody>
      </p:sp>
      <p:sp>
        <p:nvSpPr>
          <p:cNvPr id="6" name="Holder 4">
            <a:extLst>
              <a:ext uri="{FF2B5EF4-FFF2-40B4-BE49-F238E27FC236}">
                <a16:creationId xmlns:a16="http://schemas.microsoft.com/office/drawing/2014/main" id="{687C3015-70A5-4104-A364-47F262AAA99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429000" y="6465214"/>
            <a:ext cx="2413254" cy="1560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pl-PL" spc="-105"/>
              <a:t>By: Dr. Binod Kr. Adhikari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4800149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Holder 4">
            <a:extLst>
              <a:ext uri="{FF2B5EF4-FFF2-40B4-BE49-F238E27FC236}">
                <a16:creationId xmlns:a16="http://schemas.microsoft.com/office/drawing/2014/main" id="{00444188-FEAC-4CD9-9B42-C6265C7232A0}"/>
              </a:ext>
            </a:extLst>
          </p:cNvPr>
          <p:cNvSpPr>
            <a:spLocks noGrp="1"/>
          </p:cNvSpPr>
          <p:nvPr>
            <p:ph type="ftr" sz="quarter" idx="5"/>
          </p:nvPr>
        </p:nvSpPr>
        <p:spPr>
          <a:xfrm>
            <a:off x="3429000" y="6465214"/>
            <a:ext cx="2413254" cy="1560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200" b="0" i="0">
                <a:solidFill>
                  <a:srgbClr val="888888"/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pl-PL" spc="-105"/>
              <a:t>By: Dr. Binod Kr. Adhikari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887526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37108" y="228600"/>
            <a:ext cx="7669783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imes New Roman"/>
                <a:cs typeface="Times New Roman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7108" y="1610690"/>
            <a:ext cx="7669783" cy="380936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800" b="0" i="0">
                <a:solidFill>
                  <a:srgbClr val="FF00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429000" y="6465214"/>
            <a:ext cx="2413254" cy="156068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 sz="1200" b="0" i="0">
                <a:solidFill>
                  <a:srgbClr val="888888"/>
                </a:solidFill>
                <a:latin typeface="Calibri"/>
                <a:cs typeface="Calibri"/>
              </a:defRPr>
            </a:lvl1pPr>
          </a:lstStyle>
          <a:p>
            <a:pPr marL="12700">
              <a:lnSpc>
                <a:spcPts val="1240"/>
              </a:lnSpc>
            </a:pPr>
            <a:r>
              <a:rPr lang="pl-PL" spc="-105"/>
              <a:t>By: Dr. Binod Kr. Adhikari</a:t>
            </a:r>
            <a:endParaRPr lang="en-IN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43AABA4-E50B-443F-A413-C9A6AC944C37}"/>
              </a:ext>
            </a:extLst>
          </p:cNvPr>
          <p:cNvSpPr/>
          <p:nvPr/>
        </p:nvSpPr>
        <p:spPr>
          <a:xfrm>
            <a:off x="0" y="990600"/>
            <a:ext cx="9144000" cy="76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908907F-6A2F-4FE4-A88D-C3DE27E73F59}"/>
              </a:ext>
            </a:extLst>
          </p:cNvPr>
          <p:cNvSpPr/>
          <p:nvPr/>
        </p:nvSpPr>
        <p:spPr>
          <a:xfrm>
            <a:off x="8686800" y="6495143"/>
            <a:ext cx="457200" cy="369214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fld id="{81D60167-4931-47E6-BA6A-407CBD079E47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18954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68" r:id="rId2"/>
    <p:sldLayoutId id="2147483669" r:id="rId3"/>
    <p:sldLayoutId id="2147483670" r:id="rId4"/>
    <p:sldLayoutId id="2147483671" r:id="rId5"/>
  </p:sldLayoutIdLst>
  <p:hf sldNum="0" hdr="0" dt="0"/>
  <p:txStyles>
    <p:titleStyle>
      <a:lvl1pPr algn="ctr" eaLnBrk="1" hangingPunct="1">
        <a:defRPr>
          <a:latin typeface="+mj-lt"/>
          <a:ea typeface="+mj-ea"/>
          <a:cs typeface="+mj-cs"/>
        </a:defRPr>
      </a:lvl1pPr>
    </p:titleStyle>
    <p:body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bodyStyle>
    <p:otherStyle>
      <a:lvl1pPr marL="0" eaLnBrk="1" hangingPunct="1">
        <a:defRPr>
          <a:latin typeface="+mn-lt"/>
          <a:ea typeface="+mn-ea"/>
          <a:cs typeface="+mn-cs"/>
        </a:defRPr>
      </a:lvl1pPr>
      <a:lvl2pPr marL="457200" eaLnBrk="1" hangingPunct="1">
        <a:defRPr>
          <a:latin typeface="+mn-lt"/>
          <a:ea typeface="+mn-ea"/>
          <a:cs typeface="+mn-cs"/>
        </a:defRPr>
      </a:lvl2pPr>
      <a:lvl3pPr marL="914400" eaLnBrk="1" hangingPunct="1">
        <a:defRPr>
          <a:latin typeface="+mn-lt"/>
          <a:ea typeface="+mn-ea"/>
          <a:cs typeface="+mn-cs"/>
        </a:defRPr>
      </a:lvl3pPr>
      <a:lvl4pPr marL="1371600" eaLnBrk="1" hangingPunct="1">
        <a:defRPr>
          <a:latin typeface="+mn-lt"/>
          <a:ea typeface="+mn-ea"/>
          <a:cs typeface="+mn-cs"/>
        </a:defRPr>
      </a:lvl4pPr>
      <a:lvl5pPr marL="1828800" eaLnBrk="1" hangingPunct="1">
        <a:defRPr>
          <a:latin typeface="+mn-lt"/>
          <a:ea typeface="+mn-ea"/>
          <a:cs typeface="+mn-cs"/>
        </a:defRPr>
      </a:lvl5pPr>
      <a:lvl6pPr marL="2286000" eaLnBrk="1" hangingPunct="1">
        <a:defRPr>
          <a:latin typeface="+mn-lt"/>
          <a:ea typeface="+mn-ea"/>
          <a:cs typeface="+mn-cs"/>
        </a:defRPr>
      </a:lvl6pPr>
      <a:lvl7pPr marL="2743200" eaLnBrk="1" hangingPunct="1">
        <a:defRPr>
          <a:latin typeface="+mn-lt"/>
          <a:ea typeface="+mn-ea"/>
          <a:cs typeface="+mn-cs"/>
        </a:defRPr>
      </a:lvl7pPr>
      <a:lvl8pPr marL="3200400" eaLnBrk="1" hangingPunct="1">
        <a:defRPr>
          <a:latin typeface="+mn-lt"/>
          <a:ea typeface="+mn-ea"/>
          <a:cs typeface="+mn-cs"/>
        </a:defRPr>
      </a:lvl8pPr>
      <a:lvl9pPr marL="3657600" eaLnBrk="1" hangingPunct="1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23691" y="1242860"/>
            <a:ext cx="3272791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Deadlock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01980" y="2686888"/>
            <a:ext cx="7856220" cy="15875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5080" algn="ctr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Times New Roman"/>
                <a:cs typeface="Times New Roman"/>
              </a:rPr>
              <a:t>A</a:t>
            </a:r>
            <a:r>
              <a:rPr sz="3200" spc="-19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process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in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 multiprogramming</a:t>
            </a:r>
            <a:r>
              <a:rPr sz="3200" spc="-5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system</a:t>
            </a:r>
            <a:r>
              <a:rPr sz="3200" spc="-1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 said </a:t>
            </a:r>
            <a:r>
              <a:rPr sz="3200" spc="-78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to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be</a:t>
            </a:r>
            <a:r>
              <a:rPr sz="3200" spc="10" dirty="0">
                <a:latin typeface="Times New Roman"/>
                <a:cs typeface="Times New Roman"/>
              </a:rPr>
              <a:t> </a:t>
            </a:r>
            <a:r>
              <a:rPr sz="3200" spc="-10" dirty="0">
                <a:latin typeface="Times New Roman"/>
                <a:cs typeface="Times New Roman"/>
              </a:rPr>
              <a:t>in</a:t>
            </a:r>
            <a:r>
              <a:rPr sz="3200" dirty="0">
                <a:latin typeface="Times New Roman"/>
                <a:cs typeface="Times New Roman"/>
              </a:rPr>
              <a:t> dead</a:t>
            </a:r>
            <a:r>
              <a:rPr sz="3200" spc="-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lock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if </a:t>
            </a:r>
            <a:r>
              <a:rPr sz="3200" spc="-5" dirty="0">
                <a:latin typeface="Times New Roman"/>
                <a:cs typeface="Times New Roman"/>
              </a:rPr>
              <a:t>it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is</a:t>
            </a:r>
            <a:r>
              <a:rPr sz="3200" spc="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waiting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for</a:t>
            </a:r>
            <a:r>
              <a:rPr sz="3200" spc="-2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a particular</a:t>
            </a:r>
          </a:p>
          <a:p>
            <a:pPr algn="ctr">
              <a:lnSpc>
                <a:spcPct val="100000"/>
              </a:lnSpc>
              <a:spcBef>
                <a:spcPts val="770"/>
              </a:spcBef>
            </a:pPr>
            <a:r>
              <a:rPr sz="3200" spc="5" dirty="0">
                <a:latin typeface="Times New Roman"/>
                <a:cs typeface="Times New Roman"/>
              </a:rPr>
              <a:t>event</a:t>
            </a:r>
            <a:r>
              <a:rPr sz="3200" spc="-50" dirty="0">
                <a:latin typeface="Times New Roman"/>
                <a:cs typeface="Times New Roman"/>
              </a:rPr>
              <a:t> </a:t>
            </a:r>
            <a:r>
              <a:rPr sz="3200" dirty="0">
                <a:latin typeface="Times New Roman"/>
                <a:cs typeface="Times New Roman"/>
              </a:rPr>
              <a:t>that</a:t>
            </a:r>
            <a:r>
              <a:rPr sz="3200" spc="-35" dirty="0">
                <a:latin typeface="Times New Roman"/>
                <a:cs typeface="Times New Roman"/>
              </a:rPr>
              <a:t> </a:t>
            </a:r>
            <a:r>
              <a:rPr sz="3200" spc="-5" dirty="0">
                <a:latin typeface="Times New Roman"/>
                <a:cs typeface="Times New Roman"/>
              </a:rPr>
              <a:t>will</a:t>
            </a:r>
            <a:r>
              <a:rPr sz="3200" spc="-15" dirty="0">
                <a:latin typeface="Times New Roman"/>
                <a:cs typeface="Times New Roman"/>
              </a:rPr>
              <a:t> </a:t>
            </a:r>
            <a:r>
              <a:rPr sz="3200" spc="5" dirty="0">
                <a:latin typeface="Times New Roman"/>
                <a:cs typeface="Times New Roman"/>
              </a:rPr>
              <a:t>never</a:t>
            </a:r>
            <a:r>
              <a:rPr sz="3200" spc="-40" dirty="0">
                <a:latin typeface="Times New Roman"/>
                <a:cs typeface="Times New Roman"/>
              </a:rPr>
              <a:t> </a:t>
            </a:r>
            <a:r>
              <a:rPr sz="3200" spc="-25" dirty="0">
                <a:latin typeface="Times New Roman"/>
                <a:cs typeface="Times New Roman"/>
              </a:rPr>
              <a:t>occur.</a:t>
            </a:r>
            <a:endParaRPr sz="3200" dirty="0">
              <a:latin typeface="Times New Roman"/>
              <a:cs typeface="Times New Roman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6F604B5-7D97-404D-A455-5B5AB11905FB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l-PL" spc="-105"/>
              <a:t>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2268" y="233246"/>
            <a:ext cx="837946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600" dirty="0"/>
              <a:t>Deadlock</a:t>
            </a:r>
            <a:r>
              <a:rPr sz="3600" spc="-105" dirty="0"/>
              <a:t> </a:t>
            </a:r>
            <a:r>
              <a:rPr sz="3600" spc="-10" dirty="0"/>
              <a:t>Example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071044" y="1447736"/>
            <a:ext cx="4834195" cy="4526026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3540" y="1912747"/>
            <a:ext cx="3202940" cy="34404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marR="410845">
              <a:lnSpc>
                <a:spcPct val="100000"/>
              </a:lnSpc>
              <a:spcBef>
                <a:spcPts val="105"/>
              </a:spcBef>
              <a:buSzPct val="96875"/>
              <a:buChar char="•"/>
              <a:tabLst>
                <a:tab pos="216535" algn="l"/>
              </a:tabLst>
            </a:pPr>
            <a:r>
              <a:rPr sz="3200" spc="-5" dirty="0">
                <a:latin typeface="Calibri"/>
                <a:cs typeface="Calibri"/>
              </a:rPr>
              <a:t>All </a:t>
            </a:r>
            <a:r>
              <a:rPr sz="3200" spc="-10" dirty="0">
                <a:latin typeface="Calibri"/>
                <a:cs typeface="Calibri"/>
              </a:rPr>
              <a:t>automobiles </a:t>
            </a:r>
            <a:r>
              <a:rPr sz="3200" spc="-7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trying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to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cross.</a:t>
            </a:r>
            <a:endParaRPr sz="32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3200" spc="-45" dirty="0">
                <a:latin typeface="Calibri"/>
                <a:cs typeface="Calibri"/>
              </a:rPr>
              <a:t>•Traffic </a:t>
            </a:r>
            <a:r>
              <a:rPr sz="3200" spc="-10" dirty="0">
                <a:latin typeface="Calibri"/>
                <a:cs typeface="Calibri"/>
              </a:rPr>
              <a:t>Completely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stopped.</a:t>
            </a:r>
            <a:endParaRPr sz="3200">
              <a:latin typeface="Calibri"/>
              <a:cs typeface="Calibri"/>
            </a:endParaRPr>
          </a:p>
          <a:p>
            <a:pPr marL="12700" marR="529590">
              <a:lnSpc>
                <a:spcPct val="100000"/>
              </a:lnSpc>
            </a:pPr>
            <a:r>
              <a:rPr sz="3200" spc="-5" dirty="0">
                <a:latin typeface="Calibri"/>
                <a:cs typeface="Calibri"/>
              </a:rPr>
              <a:t>•Not possible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without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backing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some.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91530D5-2F10-46A0-A8D4-E24684E9352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l-PL" spc="-105"/>
              <a:t>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4743" y="236718"/>
            <a:ext cx="433451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3600" dirty="0"/>
              <a:t>Resource Deadlock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8049895" cy="45529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240665">
              <a:lnSpc>
                <a:spcPct val="100000"/>
              </a:lnSpc>
              <a:spcBef>
                <a:spcPts val="100"/>
              </a:spcBef>
            </a:pPr>
            <a:r>
              <a:rPr sz="2700" i="1" dirty="0">
                <a:latin typeface="Calibri"/>
                <a:cs typeface="Calibri"/>
              </a:rPr>
              <a:t>A</a:t>
            </a:r>
            <a:r>
              <a:rPr sz="2700" i="1" spc="-15" dirty="0">
                <a:latin typeface="Calibri"/>
                <a:cs typeface="Calibri"/>
              </a:rPr>
              <a:t> </a:t>
            </a:r>
            <a:r>
              <a:rPr sz="2700" i="1" spc="-5" dirty="0">
                <a:latin typeface="Calibri"/>
                <a:cs typeface="Calibri"/>
              </a:rPr>
              <a:t>process</a:t>
            </a:r>
            <a:r>
              <a:rPr sz="2700" i="1" spc="-10" dirty="0">
                <a:latin typeface="Calibri"/>
                <a:cs typeface="Calibri"/>
              </a:rPr>
              <a:t> request</a:t>
            </a:r>
            <a:r>
              <a:rPr sz="2700" i="1" spc="5" dirty="0">
                <a:latin typeface="Calibri"/>
                <a:cs typeface="Calibri"/>
              </a:rPr>
              <a:t> </a:t>
            </a:r>
            <a:r>
              <a:rPr sz="2700" i="1" dirty="0">
                <a:latin typeface="Calibri"/>
                <a:cs typeface="Calibri"/>
              </a:rPr>
              <a:t>a </a:t>
            </a:r>
            <a:r>
              <a:rPr sz="2700" i="1" spc="-10" dirty="0">
                <a:latin typeface="Calibri"/>
                <a:cs typeface="Calibri"/>
              </a:rPr>
              <a:t>resource</a:t>
            </a:r>
            <a:r>
              <a:rPr sz="2700" i="1" dirty="0">
                <a:latin typeface="Calibri"/>
                <a:cs typeface="Calibri"/>
              </a:rPr>
              <a:t> </a:t>
            </a:r>
            <a:r>
              <a:rPr sz="2700" i="1" spc="-10" dirty="0">
                <a:latin typeface="Calibri"/>
                <a:cs typeface="Calibri"/>
              </a:rPr>
              <a:t>before</a:t>
            </a:r>
            <a:r>
              <a:rPr sz="2700" i="1" spc="-5" dirty="0">
                <a:latin typeface="Calibri"/>
                <a:cs typeface="Calibri"/>
              </a:rPr>
              <a:t> using</a:t>
            </a:r>
            <a:r>
              <a:rPr sz="2700" i="1" dirty="0">
                <a:latin typeface="Calibri"/>
                <a:cs typeface="Calibri"/>
              </a:rPr>
              <a:t> it,</a:t>
            </a:r>
            <a:r>
              <a:rPr sz="2700" i="1" spc="-5" dirty="0">
                <a:latin typeface="Calibri"/>
                <a:cs typeface="Calibri"/>
              </a:rPr>
              <a:t> </a:t>
            </a:r>
            <a:r>
              <a:rPr sz="2700" i="1" dirty="0">
                <a:latin typeface="Calibri"/>
                <a:cs typeface="Calibri"/>
              </a:rPr>
              <a:t>and</a:t>
            </a:r>
            <a:r>
              <a:rPr sz="2700" i="1" spc="-5" dirty="0">
                <a:latin typeface="Calibri"/>
                <a:cs typeface="Calibri"/>
              </a:rPr>
              <a:t> release </a:t>
            </a:r>
            <a:r>
              <a:rPr sz="2700" i="1" spc="-595" dirty="0">
                <a:latin typeface="Calibri"/>
                <a:cs typeface="Calibri"/>
              </a:rPr>
              <a:t> </a:t>
            </a:r>
            <a:r>
              <a:rPr sz="2700" i="1" spc="-10" dirty="0">
                <a:latin typeface="Calibri"/>
                <a:cs typeface="Calibri"/>
              </a:rPr>
              <a:t>after</a:t>
            </a:r>
            <a:r>
              <a:rPr sz="2700" i="1" spc="-30" dirty="0">
                <a:latin typeface="Calibri"/>
                <a:cs typeface="Calibri"/>
              </a:rPr>
              <a:t> </a:t>
            </a:r>
            <a:r>
              <a:rPr sz="2700" i="1" dirty="0">
                <a:latin typeface="Calibri"/>
                <a:cs typeface="Calibri"/>
              </a:rPr>
              <a:t>using </a:t>
            </a:r>
            <a:r>
              <a:rPr sz="2700" i="1" spc="-5" dirty="0">
                <a:latin typeface="Calibri"/>
                <a:cs typeface="Calibri"/>
              </a:rPr>
              <a:t>it.</a:t>
            </a:r>
            <a:endParaRPr sz="2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65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15" dirty="0">
                <a:latin typeface="Calibri"/>
                <a:cs typeface="Calibri"/>
              </a:rPr>
              <a:t>Request</a:t>
            </a:r>
            <a:r>
              <a:rPr sz="2700" spc="-6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resource.</a:t>
            </a:r>
            <a:endParaRPr sz="27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dirty="0">
                <a:latin typeface="Calibri"/>
                <a:cs typeface="Calibri"/>
              </a:rPr>
              <a:t>Use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resource.</a:t>
            </a:r>
            <a:endParaRPr sz="27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10" dirty="0">
                <a:latin typeface="Calibri"/>
                <a:cs typeface="Calibri"/>
              </a:rPr>
              <a:t>Release</a:t>
            </a:r>
            <a:r>
              <a:rPr sz="2700" spc="-7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resource.</a:t>
            </a:r>
            <a:endParaRPr sz="2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2650" dirty="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dirty="0">
                <a:latin typeface="Calibri"/>
                <a:cs typeface="Calibri"/>
              </a:rPr>
              <a:t>If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resource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5" dirty="0">
                <a:latin typeface="Calibri"/>
                <a:cs typeface="Calibri"/>
              </a:rPr>
              <a:t> not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available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when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it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 </a:t>
            </a:r>
            <a:r>
              <a:rPr sz="2700" spc="-15" dirty="0">
                <a:latin typeface="Calibri"/>
                <a:cs typeface="Calibri"/>
              </a:rPr>
              <a:t>requested,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 </a:t>
            </a:r>
            <a:r>
              <a:rPr sz="2700" spc="-6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requesting</a:t>
            </a:r>
            <a:r>
              <a:rPr sz="2700" spc="-3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process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is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25" dirty="0">
                <a:latin typeface="Calibri"/>
                <a:cs typeface="Calibri"/>
              </a:rPr>
              <a:t>force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to</a:t>
            </a:r>
            <a:r>
              <a:rPr sz="2700" spc="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wait.</a:t>
            </a:r>
            <a:endParaRPr sz="2700" dirty="0">
              <a:latin typeface="Calibri"/>
              <a:cs typeface="Calibri"/>
            </a:endParaRPr>
          </a:p>
          <a:p>
            <a:pPr marL="12700" marR="52705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i="1" spc="-15" dirty="0">
                <a:latin typeface="Calibri"/>
                <a:cs typeface="Calibri"/>
              </a:rPr>
              <a:t>Most</a:t>
            </a:r>
            <a:r>
              <a:rPr sz="2700" i="1" spc="-10" dirty="0">
                <a:latin typeface="Calibri"/>
                <a:cs typeface="Calibri"/>
              </a:rPr>
              <a:t> deadlocks</a:t>
            </a:r>
            <a:r>
              <a:rPr sz="2700" i="1" spc="15" dirty="0">
                <a:latin typeface="Calibri"/>
                <a:cs typeface="Calibri"/>
              </a:rPr>
              <a:t> </a:t>
            </a:r>
            <a:r>
              <a:rPr sz="2700" i="1" dirty="0">
                <a:latin typeface="Calibri"/>
                <a:cs typeface="Calibri"/>
              </a:rPr>
              <a:t>in</a:t>
            </a:r>
            <a:r>
              <a:rPr sz="2700" i="1" spc="-15" dirty="0">
                <a:latin typeface="Calibri"/>
                <a:cs typeface="Calibri"/>
              </a:rPr>
              <a:t> </a:t>
            </a:r>
            <a:r>
              <a:rPr sz="2700" i="1" spc="-5" dirty="0">
                <a:latin typeface="Calibri"/>
                <a:cs typeface="Calibri"/>
              </a:rPr>
              <a:t>OS</a:t>
            </a:r>
            <a:r>
              <a:rPr sz="2700" i="1" dirty="0">
                <a:latin typeface="Calibri"/>
                <a:cs typeface="Calibri"/>
              </a:rPr>
              <a:t> </a:t>
            </a:r>
            <a:r>
              <a:rPr sz="2700" i="1" spc="-5" dirty="0">
                <a:latin typeface="Calibri"/>
                <a:cs typeface="Calibri"/>
              </a:rPr>
              <a:t>developed</a:t>
            </a:r>
            <a:r>
              <a:rPr sz="2700" i="1" dirty="0">
                <a:latin typeface="Calibri"/>
                <a:cs typeface="Calibri"/>
              </a:rPr>
              <a:t> </a:t>
            </a:r>
            <a:r>
              <a:rPr sz="2700" i="1" spc="-5" dirty="0">
                <a:latin typeface="Calibri"/>
                <a:cs typeface="Calibri"/>
              </a:rPr>
              <a:t>because</a:t>
            </a:r>
            <a:r>
              <a:rPr sz="2700" i="1" spc="-20" dirty="0">
                <a:latin typeface="Calibri"/>
                <a:cs typeface="Calibri"/>
              </a:rPr>
              <a:t> </a:t>
            </a:r>
            <a:r>
              <a:rPr sz="2700" i="1" spc="-5" dirty="0">
                <a:latin typeface="Calibri"/>
                <a:cs typeface="Calibri"/>
              </a:rPr>
              <a:t>of</a:t>
            </a:r>
            <a:r>
              <a:rPr sz="2700" i="1" spc="5" dirty="0">
                <a:latin typeface="Calibri"/>
                <a:cs typeface="Calibri"/>
              </a:rPr>
              <a:t> </a:t>
            </a:r>
            <a:r>
              <a:rPr sz="2700" i="1" dirty="0">
                <a:latin typeface="Calibri"/>
                <a:cs typeface="Calibri"/>
              </a:rPr>
              <a:t>the</a:t>
            </a:r>
            <a:r>
              <a:rPr sz="2700" i="1" spc="-15" dirty="0">
                <a:latin typeface="Calibri"/>
                <a:cs typeface="Calibri"/>
              </a:rPr>
              <a:t> </a:t>
            </a:r>
            <a:r>
              <a:rPr sz="2700" i="1" spc="-5" dirty="0">
                <a:latin typeface="Calibri"/>
                <a:cs typeface="Calibri"/>
              </a:rPr>
              <a:t>normal </a:t>
            </a:r>
            <a:r>
              <a:rPr sz="2700" i="1" spc="-595" dirty="0">
                <a:latin typeface="Calibri"/>
                <a:cs typeface="Calibri"/>
              </a:rPr>
              <a:t> </a:t>
            </a:r>
            <a:r>
              <a:rPr sz="2700" i="1" spc="-15" dirty="0">
                <a:latin typeface="Calibri"/>
                <a:cs typeface="Calibri"/>
              </a:rPr>
              <a:t>contention</a:t>
            </a:r>
            <a:r>
              <a:rPr sz="2700" i="1" spc="-20" dirty="0">
                <a:latin typeface="Calibri"/>
                <a:cs typeface="Calibri"/>
              </a:rPr>
              <a:t> </a:t>
            </a:r>
            <a:r>
              <a:rPr sz="2700" i="1" spc="-15" dirty="0">
                <a:latin typeface="Calibri"/>
                <a:cs typeface="Calibri"/>
              </a:rPr>
              <a:t>for</a:t>
            </a:r>
            <a:r>
              <a:rPr sz="2700" i="1" spc="-5" dirty="0">
                <a:latin typeface="Calibri"/>
                <a:cs typeface="Calibri"/>
              </a:rPr>
              <a:t> </a:t>
            </a:r>
            <a:r>
              <a:rPr sz="2700" i="1" spc="-10" dirty="0">
                <a:latin typeface="Calibri"/>
                <a:cs typeface="Calibri"/>
              </a:rPr>
              <a:t>dedicated</a:t>
            </a:r>
            <a:r>
              <a:rPr sz="2700" i="1" spc="-20" dirty="0">
                <a:latin typeface="Calibri"/>
                <a:cs typeface="Calibri"/>
              </a:rPr>
              <a:t> </a:t>
            </a:r>
            <a:r>
              <a:rPr sz="2700" i="1" spc="-5" dirty="0">
                <a:latin typeface="Calibri"/>
                <a:cs typeface="Calibri"/>
              </a:rPr>
              <a:t>resources.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A0050FC-FD25-4920-AC9D-896264F71B8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l-PL" spc="-105"/>
              <a:t>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5252" y="304800"/>
            <a:ext cx="4335145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3600" dirty="0"/>
              <a:t>Resource Deadlock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1675" y="1371600"/>
            <a:ext cx="5124450" cy="2847975"/>
          </a:xfrm>
          <a:prstGeom prst="rect">
            <a:avLst/>
          </a:prstGeom>
        </p:spPr>
      </p:pic>
      <p:sp>
        <p:nvSpPr>
          <p:cNvPr id="4" name="object 4"/>
          <p:cNvSpPr txBox="1"/>
          <p:nvPr/>
        </p:nvSpPr>
        <p:spPr>
          <a:xfrm>
            <a:off x="383540" y="4495800"/>
            <a:ext cx="822515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latin typeface="Calibri"/>
                <a:cs typeface="Calibri"/>
              </a:rPr>
              <a:t>Process</a:t>
            </a:r>
            <a:r>
              <a:rPr sz="2400" b="1" spc="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P1</a:t>
            </a:r>
            <a:r>
              <a:rPr sz="2400" b="1" spc="1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holds</a:t>
            </a:r>
            <a:r>
              <a:rPr sz="2400" b="1" spc="15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resource</a:t>
            </a:r>
            <a:r>
              <a:rPr sz="2400" b="1" spc="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R1</a:t>
            </a:r>
            <a:r>
              <a:rPr sz="2400" b="1" spc="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-1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needs</a:t>
            </a:r>
            <a:r>
              <a:rPr sz="2400" b="1" spc="2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resource</a:t>
            </a:r>
            <a:r>
              <a:rPr sz="2400" b="1" spc="1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R2</a:t>
            </a:r>
            <a:r>
              <a:rPr sz="2400" b="1" spc="20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to</a:t>
            </a:r>
            <a:r>
              <a:rPr sz="2400" b="1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continue; </a:t>
            </a:r>
            <a:r>
              <a:rPr sz="2400" b="1" spc="-53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Process</a:t>
            </a:r>
            <a:r>
              <a:rPr sz="2400" b="1" spc="90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P2</a:t>
            </a:r>
            <a:r>
              <a:rPr sz="2400" b="1" spc="75" dirty="0">
                <a:latin typeface="Calibri"/>
                <a:cs typeface="Calibri"/>
              </a:rPr>
              <a:t> </a:t>
            </a:r>
            <a:r>
              <a:rPr sz="2400" b="1" spc="-5" dirty="0">
                <a:latin typeface="Calibri"/>
                <a:cs typeface="Calibri"/>
              </a:rPr>
              <a:t>holds</a:t>
            </a:r>
            <a:r>
              <a:rPr sz="2400" b="1" spc="80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resource</a:t>
            </a:r>
            <a:r>
              <a:rPr sz="2400" b="1" spc="9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R2</a:t>
            </a:r>
            <a:r>
              <a:rPr sz="2400" b="1" spc="7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and</a:t>
            </a:r>
            <a:r>
              <a:rPr sz="2400" b="1" spc="5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needs</a:t>
            </a:r>
            <a:r>
              <a:rPr sz="2400" b="1" spc="75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resource</a:t>
            </a:r>
            <a:r>
              <a:rPr sz="2400" b="1" spc="8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R1</a:t>
            </a:r>
            <a:r>
              <a:rPr sz="2400" b="1" spc="75" dirty="0">
                <a:latin typeface="Calibri"/>
                <a:cs typeface="Calibri"/>
              </a:rPr>
              <a:t> </a:t>
            </a:r>
            <a:r>
              <a:rPr sz="2400" b="1" spc="-15" dirty="0">
                <a:latin typeface="Calibri"/>
                <a:cs typeface="Calibri"/>
              </a:rPr>
              <a:t>to</a:t>
            </a:r>
            <a:r>
              <a:rPr sz="2400" b="1" spc="70" dirty="0">
                <a:latin typeface="Calibri"/>
                <a:cs typeface="Calibri"/>
              </a:rPr>
              <a:t> </a:t>
            </a:r>
            <a:r>
              <a:rPr sz="2400" b="1" spc="-10" dirty="0">
                <a:latin typeface="Calibri"/>
                <a:cs typeface="Calibri"/>
              </a:rPr>
              <a:t>continue</a:t>
            </a:r>
            <a:endParaRPr sz="2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</a:pPr>
            <a:r>
              <a:rPr sz="2400" b="1" dirty="0">
                <a:solidFill>
                  <a:srgbClr val="FF0000"/>
                </a:solidFill>
                <a:latin typeface="Calibri"/>
                <a:cs typeface="Calibri"/>
              </a:rPr>
              <a:t>–deadlock</a:t>
            </a:r>
            <a:r>
              <a:rPr sz="2400" b="1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2356485">
              <a:lnSpc>
                <a:spcPct val="100000"/>
              </a:lnSpc>
            </a:pPr>
            <a:r>
              <a:rPr sz="2400" b="1" i="1" spc="-25" dirty="0">
                <a:latin typeface="Calibri"/>
                <a:cs typeface="Calibri"/>
              </a:rPr>
              <a:t>Key: </a:t>
            </a:r>
            <a:r>
              <a:rPr sz="2400" b="1" i="1" spc="-5" dirty="0">
                <a:latin typeface="Calibri"/>
                <a:cs typeface="Calibri"/>
              </a:rPr>
              <a:t>Circular</a:t>
            </a:r>
            <a:r>
              <a:rPr sz="2400" b="1" i="1" spc="-10" dirty="0">
                <a:latin typeface="Calibri"/>
                <a:cs typeface="Calibri"/>
              </a:rPr>
              <a:t> </a:t>
            </a:r>
            <a:r>
              <a:rPr sz="2400" b="1" i="1" spc="-5" dirty="0">
                <a:latin typeface="Calibri"/>
                <a:cs typeface="Calibri"/>
              </a:rPr>
              <a:t>wait -deadlock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786AC8-2499-451D-B99A-532D42490B4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l-PL" spc="-105"/>
              <a:t>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951101" y="304800"/>
            <a:ext cx="5238115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3600" dirty="0"/>
              <a:t>Condition for Deadlock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219200"/>
            <a:ext cx="8378825" cy="478218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6985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  <a:tab pos="1583690" algn="l"/>
                <a:tab pos="3170555" algn="l"/>
                <a:tab pos="4414520" algn="l"/>
                <a:tab pos="5482590" algn="l"/>
                <a:tab pos="6909434" algn="l"/>
                <a:tab pos="8089265" algn="l"/>
              </a:tabLst>
            </a:pPr>
            <a:r>
              <a:rPr sz="2600" b="1" spc="-5" dirty="0">
                <a:solidFill>
                  <a:srgbClr val="FF0000"/>
                </a:solidFill>
                <a:latin typeface="Calibri"/>
                <a:cs typeface="Calibri"/>
              </a:rPr>
              <a:t>Mut</a:t>
            </a:r>
            <a:r>
              <a:rPr sz="2600" b="1" spc="-15" dirty="0">
                <a:solidFill>
                  <a:srgbClr val="FF0000"/>
                </a:solidFill>
                <a:latin typeface="Calibri"/>
                <a:cs typeface="Calibri"/>
              </a:rPr>
              <a:t>u</a:t>
            </a: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al	E</a:t>
            </a:r>
            <a:r>
              <a:rPr sz="2600" b="1" spc="-55" dirty="0">
                <a:solidFill>
                  <a:srgbClr val="FF0000"/>
                </a:solidFill>
                <a:latin typeface="Calibri"/>
                <a:cs typeface="Calibri"/>
              </a:rPr>
              <a:t>x</a:t>
            </a:r>
            <a:r>
              <a:rPr sz="2600" b="1" spc="-5" dirty="0">
                <a:solidFill>
                  <a:srgbClr val="FF0000"/>
                </a:solidFill>
                <a:latin typeface="Calibri"/>
                <a:cs typeface="Calibri"/>
              </a:rPr>
              <a:t>clusio</a:t>
            </a: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n</a:t>
            </a:r>
            <a:r>
              <a:rPr sz="2600" dirty="0">
                <a:latin typeface="Calibri"/>
                <a:cs typeface="Calibri"/>
              </a:rPr>
              <a:t>:	P</a:t>
            </a:r>
            <a:r>
              <a:rPr sz="2600" spc="-35" dirty="0">
                <a:latin typeface="Calibri"/>
                <a:cs typeface="Calibri"/>
              </a:rPr>
              <a:t>r</a:t>
            </a:r>
            <a:r>
              <a:rPr sz="2600" spc="-5" dirty="0">
                <a:latin typeface="Calibri"/>
                <a:cs typeface="Calibri"/>
              </a:rPr>
              <a:t>oc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5" dirty="0">
                <a:latin typeface="Calibri"/>
                <a:cs typeface="Calibri"/>
              </a:rPr>
              <a:t>s</a:t>
            </a:r>
            <a:r>
              <a:rPr sz="2600" dirty="0">
                <a:latin typeface="Calibri"/>
                <a:cs typeface="Calibri"/>
              </a:rPr>
              <a:t>s	clai</a:t>
            </a:r>
            <a:r>
              <a:rPr sz="2600" spc="-10" dirty="0">
                <a:latin typeface="Calibri"/>
                <a:cs typeface="Calibri"/>
              </a:rPr>
              <a:t>m</a:t>
            </a:r>
            <a:r>
              <a:rPr sz="2600" dirty="0">
                <a:latin typeface="Calibri"/>
                <a:cs typeface="Calibri"/>
              </a:rPr>
              <a:t>s	</a:t>
            </a:r>
            <a:r>
              <a:rPr sz="2600" spc="-40" dirty="0">
                <a:latin typeface="Calibri"/>
                <a:cs typeface="Calibri"/>
              </a:rPr>
              <a:t>e</a:t>
            </a:r>
            <a:r>
              <a:rPr sz="2600" spc="-65" dirty="0">
                <a:latin typeface="Calibri"/>
                <a:cs typeface="Calibri"/>
              </a:rPr>
              <a:t>x</a:t>
            </a:r>
            <a:r>
              <a:rPr sz="2600" dirty="0">
                <a:latin typeface="Calibri"/>
                <a:cs typeface="Calibri"/>
              </a:rPr>
              <a:t>c</a:t>
            </a:r>
            <a:r>
              <a:rPr sz="2600" spc="-10" dirty="0">
                <a:latin typeface="Calibri"/>
                <a:cs typeface="Calibri"/>
              </a:rPr>
              <a:t>l</a:t>
            </a:r>
            <a:r>
              <a:rPr sz="2600" spc="-5" dirty="0">
                <a:latin typeface="Calibri"/>
                <a:cs typeface="Calibri"/>
              </a:rPr>
              <a:t>us</a:t>
            </a:r>
            <a:r>
              <a:rPr sz="2600" spc="-10" dirty="0">
                <a:latin typeface="Calibri"/>
                <a:cs typeface="Calibri"/>
              </a:rPr>
              <a:t>i</a:t>
            </a:r>
            <a:r>
              <a:rPr sz="2600" spc="-30" dirty="0">
                <a:latin typeface="Calibri"/>
                <a:cs typeface="Calibri"/>
              </a:rPr>
              <a:t>v</a:t>
            </a:r>
            <a:r>
              <a:rPr sz="2600" dirty="0">
                <a:latin typeface="Calibri"/>
                <a:cs typeface="Calibri"/>
              </a:rPr>
              <a:t>e	</a:t>
            </a:r>
            <a:r>
              <a:rPr sz="2600" spc="-25" dirty="0">
                <a:latin typeface="Calibri"/>
                <a:cs typeface="Calibri"/>
              </a:rPr>
              <a:t>c</a:t>
            </a:r>
            <a:r>
              <a:rPr sz="2600" spc="-5" dirty="0">
                <a:latin typeface="Calibri"/>
                <a:cs typeface="Calibri"/>
              </a:rPr>
              <a:t>o</a:t>
            </a:r>
            <a:r>
              <a:rPr sz="2600" spc="-30" dirty="0">
                <a:latin typeface="Calibri"/>
                <a:cs typeface="Calibri"/>
              </a:rPr>
              <a:t>n</a:t>
            </a:r>
            <a:r>
              <a:rPr sz="2600" spc="-10" dirty="0">
                <a:latin typeface="Calibri"/>
                <a:cs typeface="Calibri"/>
              </a:rPr>
              <a:t>t</a:t>
            </a:r>
            <a:r>
              <a:rPr sz="2600" spc="-35" dirty="0">
                <a:latin typeface="Calibri"/>
                <a:cs typeface="Calibri"/>
              </a:rPr>
              <a:t>r</a:t>
            </a:r>
            <a:r>
              <a:rPr sz="2600" spc="-5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l	</a:t>
            </a:r>
            <a:r>
              <a:rPr sz="2600" spc="-10" dirty="0">
                <a:latin typeface="Calibri"/>
                <a:cs typeface="Calibri"/>
              </a:rPr>
              <a:t>of  resources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they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require.</a:t>
            </a:r>
            <a:endParaRPr sz="2600" dirty="0">
              <a:latin typeface="Calibri"/>
              <a:cs typeface="Calibri"/>
            </a:endParaRPr>
          </a:p>
          <a:p>
            <a:pPr marL="355600" marR="5715" indent="-34290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Hold</a:t>
            </a:r>
            <a:r>
              <a:rPr sz="2600" b="1" spc="1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and</a:t>
            </a:r>
            <a:r>
              <a:rPr sz="2600" b="1" spc="2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spc="-20" dirty="0">
                <a:solidFill>
                  <a:srgbClr val="FF0000"/>
                </a:solidFill>
                <a:latin typeface="Calibri"/>
                <a:cs typeface="Calibri"/>
              </a:rPr>
              <a:t>Wait</a:t>
            </a:r>
            <a:r>
              <a:rPr sz="2600" spc="-20" dirty="0">
                <a:latin typeface="Calibri"/>
                <a:cs typeface="Calibri"/>
              </a:rPr>
              <a:t>:</a:t>
            </a:r>
            <a:r>
              <a:rPr sz="2600" spc="1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Processes</a:t>
            </a:r>
            <a:r>
              <a:rPr sz="2600" spc="18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hold</a:t>
            </a:r>
            <a:r>
              <a:rPr sz="2600" spc="19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resources</a:t>
            </a:r>
            <a:r>
              <a:rPr sz="2600" spc="18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already</a:t>
            </a:r>
            <a:r>
              <a:rPr sz="2600" spc="1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allocated </a:t>
            </a:r>
            <a:r>
              <a:rPr sz="2600" spc="-57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to </a:t>
            </a:r>
            <a:r>
              <a:rPr sz="2600" dirty="0">
                <a:latin typeface="Calibri"/>
                <a:cs typeface="Calibri"/>
              </a:rPr>
              <a:t>them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while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waiting </a:t>
            </a:r>
            <a:r>
              <a:rPr sz="2600" spc="-25" dirty="0">
                <a:latin typeface="Calibri"/>
                <a:cs typeface="Calibri"/>
              </a:rPr>
              <a:t>for</a:t>
            </a:r>
            <a:r>
              <a:rPr sz="2600" spc="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additional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resources.</a:t>
            </a:r>
            <a:endParaRPr sz="2600" dirty="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No</a:t>
            </a:r>
            <a:r>
              <a:rPr sz="2600" b="1" spc="39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b="1" spc="-5" dirty="0">
                <a:solidFill>
                  <a:srgbClr val="FF0000"/>
                </a:solidFill>
                <a:latin typeface="Calibri"/>
                <a:cs typeface="Calibri"/>
              </a:rPr>
              <a:t>preemption</a:t>
            </a:r>
            <a:r>
              <a:rPr sz="2600" spc="-5" dirty="0">
                <a:latin typeface="Calibri"/>
                <a:cs typeface="Calibri"/>
              </a:rPr>
              <a:t>:</a:t>
            </a:r>
            <a:r>
              <a:rPr sz="2600" spc="40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Resources</a:t>
            </a:r>
            <a:r>
              <a:rPr sz="2600" spc="39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previously</a:t>
            </a:r>
            <a:r>
              <a:rPr sz="2600" spc="385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granted</a:t>
            </a:r>
            <a:r>
              <a:rPr sz="2600" spc="38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can</a:t>
            </a:r>
            <a:r>
              <a:rPr sz="2600" spc="38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not</a:t>
            </a:r>
            <a:r>
              <a:rPr sz="2600" spc="39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be </a:t>
            </a:r>
            <a:r>
              <a:rPr sz="2600" spc="-570" dirty="0">
                <a:latin typeface="Calibri"/>
                <a:cs typeface="Calibri"/>
              </a:rPr>
              <a:t> </a:t>
            </a:r>
            <a:r>
              <a:rPr sz="2600" spc="-15" dirty="0">
                <a:latin typeface="Calibri"/>
                <a:cs typeface="Calibri"/>
              </a:rPr>
              <a:t>forcibly</a:t>
            </a:r>
            <a:r>
              <a:rPr sz="2600" spc="-5" dirty="0">
                <a:latin typeface="Calibri"/>
                <a:cs typeface="Calibri"/>
              </a:rPr>
              <a:t> (or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compulsorily)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taken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25" dirty="0">
                <a:latin typeface="Calibri"/>
                <a:cs typeface="Calibri"/>
              </a:rPr>
              <a:t>away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from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process.</a:t>
            </a:r>
            <a:endParaRPr sz="2600" dirty="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625"/>
              </a:spcBef>
              <a:buFont typeface="Arial MT"/>
              <a:buChar char="•"/>
              <a:tabLst>
                <a:tab pos="354965" algn="l"/>
                <a:tab pos="355600" algn="l"/>
                <a:tab pos="1536700" algn="l"/>
                <a:tab pos="2364105" algn="l"/>
                <a:tab pos="3128010" algn="l"/>
                <a:tab pos="4284980" algn="l"/>
                <a:tab pos="5146040" algn="l"/>
                <a:tab pos="5793740" algn="l"/>
                <a:tab pos="6219190" algn="l"/>
                <a:tab pos="7068184" algn="l"/>
              </a:tabLst>
            </a:pPr>
            <a:r>
              <a:rPr sz="2600" b="1" spc="-5" dirty="0">
                <a:solidFill>
                  <a:srgbClr val="FF0000"/>
                </a:solidFill>
                <a:latin typeface="Calibri"/>
                <a:cs typeface="Calibri"/>
              </a:rPr>
              <a:t>Ci</a:t>
            </a:r>
            <a:r>
              <a:rPr sz="2600" b="1" spc="-40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2600" b="1" spc="-5" dirty="0">
                <a:solidFill>
                  <a:srgbClr val="FF0000"/>
                </a:solidFill>
                <a:latin typeface="Calibri"/>
                <a:cs typeface="Calibri"/>
              </a:rPr>
              <a:t>cul</a:t>
            </a:r>
            <a:r>
              <a:rPr sz="2600" b="1" spc="-15" dirty="0">
                <a:solidFill>
                  <a:srgbClr val="FF0000"/>
                </a:solidFill>
                <a:latin typeface="Calibri"/>
                <a:cs typeface="Calibri"/>
              </a:rPr>
              <a:t>a</a:t>
            </a: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r	</a:t>
            </a:r>
            <a:r>
              <a:rPr sz="2600" b="1" spc="-25" dirty="0">
                <a:solidFill>
                  <a:srgbClr val="FF0000"/>
                </a:solidFill>
                <a:latin typeface="Calibri"/>
                <a:cs typeface="Calibri"/>
              </a:rPr>
              <a:t>w</a:t>
            </a: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ai</a:t>
            </a:r>
            <a:r>
              <a:rPr sz="2600" b="1" spc="-10" dirty="0">
                <a:solidFill>
                  <a:srgbClr val="FF0000"/>
                </a:solidFill>
                <a:latin typeface="Calibri"/>
                <a:cs typeface="Calibri"/>
              </a:rPr>
              <a:t>t</a:t>
            </a:r>
            <a:r>
              <a:rPr sz="2600" dirty="0">
                <a:latin typeface="Calibri"/>
                <a:cs typeface="Calibri"/>
              </a:rPr>
              <a:t>:	</a:t>
            </a:r>
            <a:r>
              <a:rPr sz="2600" spc="-50" dirty="0">
                <a:latin typeface="Calibri"/>
                <a:cs typeface="Calibri"/>
              </a:rPr>
              <a:t>E</a:t>
            </a:r>
            <a:r>
              <a:rPr sz="2600" dirty="0">
                <a:latin typeface="Calibri"/>
                <a:cs typeface="Calibri"/>
              </a:rPr>
              <a:t>ach	</a:t>
            </a:r>
            <a:r>
              <a:rPr sz="2600" spc="-5" dirty="0">
                <a:latin typeface="Calibri"/>
                <a:cs typeface="Calibri"/>
              </a:rPr>
              <a:t>p</a:t>
            </a:r>
            <a:r>
              <a:rPr sz="2600" spc="-35" dirty="0">
                <a:latin typeface="Calibri"/>
                <a:cs typeface="Calibri"/>
              </a:rPr>
              <a:t>r</a:t>
            </a:r>
            <a:r>
              <a:rPr sz="2600" spc="-5" dirty="0">
                <a:latin typeface="Calibri"/>
                <a:cs typeface="Calibri"/>
              </a:rPr>
              <a:t>oc</a:t>
            </a:r>
            <a:r>
              <a:rPr sz="2600" spc="-20" dirty="0">
                <a:latin typeface="Calibri"/>
                <a:cs typeface="Calibri"/>
              </a:rPr>
              <a:t>e</a:t>
            </a:r>
            <a:r>
              <a:rPr sz="2600" spc="-5" dirty="0">
                <a:latin typeface="Calibri"/>
                <a:cs typeface="Calibri"/>
              </a:rPr>
              <a:t>s</a:t>
            </a:r>
            <a:r>
              <a:rPr sz="2600" dirty="0">
                <a:latin typeface="Calibri"/>
                <a:cs typeface="Calibri"/>
              </a:rPr>
              <a:t>s	</a:t>
            </a:r>
            <a:r>
              <a:rPr sz="2600" spc="-5" dirty="0">
                <a:latin typeface="Calibri"/>
                <a:cs typeface="Calibri"/>
              </a:rPr>
              <a:t>ho</a:t>
            </a:r>
            <a:r>
              <a:rPr sz="2600" spc="-20" dirty="0">
                <a:latin typeface="Calibri"/>
                <a:cs typeface="Calibri"/>
              </a:rPr>
              <a:t>l</a:t>
            </a:r>
            <a:r>
              <a:rPr sz="2600" spc="-5" dirty="0">
                <a:latin typeface="Calibri"/>
                <a:cs typeface="Calibri"/>
              </a:rPr>
              <a:t>d</a:t>
            </a:r>
            <a:r>
              <a:rPr sz="2600" dirty="0">
                <a:latin typeface="Calibri"/>
                <a:cs typeface="Calibri"/>
              </a:rPr>
              <a:t>s	</a:t>
            </a:r>
            <a:r>
              <a:rPr sz="2600" spc="-5" dirty="0">
                <a:latin typeface="Calibri"/>
                <a:cs typeface="Calibri"/>
              </a:rPr>
              <a:t>on</a:t>
            </a:r>
            <a:r>
              <a:rPr sz="2600" dirty="0">
                <a:latin typeface="Calibri"/>
                <a:cs typeface="Calibri"/>
              </a:rPr>
              <a:t>e	</a:t>
            </a:r>
            <a:r>
              <a:rPr sz="2600" spc="-10" dirty="0">
                <a:latin typeface="Calibri"/>
                <a:cs typeface="Calibri"/>
              </a:rPr>
              <a:t>o</a:t>
            </a:r>
            <a:r>
              <a:rPr sz="2600" dirty="0">
                <a:latin typeface="Calibri"/>
                <a:cs typeface="Calibri"/>
              </a:rPr>
              <a:t>r	m</a:t>
            </a:r>
            <a:r>
              <a:rPr sz="2600" spc="-10" dirty="0">
                <a:latin typeface="Calibri"/>
                <a:cs typeface="Calibri"/>
              </a:rPr>
              <a:t>o</a:t>
            </a:r>
            <a:r>
              <a:rPr sz="2600" spc="-35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e	</a:t>
            </a:r>
            <a:r>
              <a:rPr sz="2600" spc="-35" dirty="0">
                <a:latin typeface="Calibri"/>
                <a:cs typeface="Calibri"/>
              </a:rPr>
              <a:t>r</a:t>
            </a:r>
            <a:r>
              <a:rPr sz="2600" dirty="0">
                <a:latin typeface="Calibri"/>
                <a:cs typeface="Calibri"/>
              </a:rPr>
              <a:t>esou</a:t>
            </a:r>
            <a:r>
              <a:rPr sz="2600" spc="-40" dirty="0">
                <a:latin typeface="Calibri"/>
                <a:cs typeface="Calibri"/>
              </a:rPr>
              <a:t>r</a:t>
            </a:r>
            <a:r>
              <a:rPr sz="2600" spc="-10" dirty="0">
                <a:latin typeface="Calibri"/>
                <a:cs typeface="Calibri"/>
              </a:rPr>
              <a:t>c</a:t>
            </a:r>
            <a:r>
              <a:rPr sz="2600" dirty="0">
                <a:latin typeface="Calibri"/>
                <a:cs typeface="Calibri"/>
              </a:rPr>
              <a:t>es  </a:t>
            </a:r>
            <a:r>
              <a:rPr sz="2600" spc="-5" dirty="0">
                <a:latin typeface="Calibri"/>
                <a:cs typeface="Calibri"/>
              </a:rPr>
              <a:t>that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are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requested</a:t>
            </a:r>
            <a:r>
              <a:rPr sz="2600" spc="-6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by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next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process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chain.</a:t>
            </a:r>
          </a:p>
          <a:p>
            <a:pPr>
              <a:lnSpc>
                <a:spcPct val="100000"/>
              </a:lnSpc>
              <a:spcBef>
                <a:spcPts val="40"/>
              </a:spcBef>
            </a:pPr>
            <a:endParaRPr sz="3550" dirty="0">
              <a:latin typeface="Calibri"/>
              <a:cs typeface="Calibri"/>
            </a:endParaRPr>
          </a:p>
          <a:p>
            <a:pPr marR="1905" algn="ctr">
              <a:lnSpc>
                <a:spcPct val="100000"/>
              </a:lnSpc>
            </a:pPr>
            <a:r>
              <a:rPr sz="2600" dirty="0">
                <a:latin typeface="Calibri"/>
                <a:cs typeface="Calibri"/>
              </a:rPr>
              <a:t>A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deadlock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situation</a:t>
            </a:r>
            <a:r>
              <a:rPr sz="2600" spc="-10" dirty="0">
                <a:latin typeface="Calibri"/>
                <a:cs typeface="Calibri"/>
              </a:rPr>
              <a:t> can </a:t>
            </a:r>
            <a:r>
              <a:rPr sz="2600" dirty="0">
                <a:latin typeface="Calibri"/>
                <a:cs typeface="Calibri"/>
              </a:rPr>
              <a:t>arise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if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all </a:t>
            </a:r>
            <a:r>
              <a:rPr sz="2600" spc="-20" dirty="0">
                <a:latin typeface="Calibri"/>
                <a:cs typeface="Calibri"/>
              </a:rPr>
              <a:t>four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conditions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hold</a:t>
            </a:r>
            <a:endParaRPr sz="2600" dirty="0">
              <a:latin typeface="Calibri"/>
              <a:cs typeface="Calibri"/>
            </a:endParaRPr>
          </a:p>
          <a:p>
            <a:pPr marL="341630" algn="ctr">
              <a:lnSpc>
                <a:spcPct val="100000"/>
              </a:lnSpc>
            </a:pPr>
            <a:r>
              <a:rPr sz="2600" b="1" u="heavy" spc="-5" dirty="0">
                <a:solidFill>
                  <a:srgbClr val="FF0000"/>
                </a:solidFill>
                <a:uFill>
                  <a:solidFill>
                    <a:srgbClr val="FF0000"/>
                  </a:solidFill>
                </a:uFill>
                <a:latin typeface="Calibri"/>
                <a:cs typeface="Calibri"/>
              </a:rPr>
              <a:t>simultaneously</a:t>
            </a:r>
            <a:r>
              <a:rPr sz="2600" b="1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20" dirty="0">
                <a:latin typeface="Calibri"/>
                <a:cs typeface="Calibri"/>
              </a:rPr>
              <a:t> system.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9283A11E-112C-456F-9194-CCE622CF6B77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l-PL" spc="-105"/>
              <a:t>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01090" y="304800"/>
            <a:ext cx="7343775" cy="567463"/>
          </a:xfrm>
          <a:prstGeom prst="rect">
            <a:avLst/>
          </a:prstGeom>
          <a:noFill/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3600" dirty="0"/>
              <a:t>Resource Allocation Graph</a:t>
            </a:r>
            <a:r>
              <a:rPr lang="en-US" sz="3600" dirty="0"/>
              <a:t> </a:t>
            </a:r>
            <a:r>
              <a:rPr sz="3600" dirty="0"/>
              <a:t>(RAG)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737108" y="1371600"/>
            <a:ext cx="7669783" cy="380936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55600" marR="5080" indent="-342900" algn="just">
              <a:lnSpc>
                <a:spcPts val="2880"/>
              </a:lnSpc>
              <a:spcBef>
                <a:spcPts val="795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spc="-10" dirty="0"/>
              <a:t>Deadlock</a:t>
            </a:r>
            <a:r>
              <a:rPr sz="3000" spc="-5" dirty="0"/>
              <a:t> </a:t>
            </a:r>
            <a:r>
              <a:rPr sz="3000" spc="-10" dirty="0"/>
              <a:t>can</a:t>
            </a:r>
            <a:r>
              <a:rPr sz="3000" spc="-5" dirty="0"/>
              <a:t> be</a:t>
            </a:r>
            <a:r>
              <a:rPr sz="3000" dirty="0"/>
              <a:t> </a:t>
            </a:r>
            <a:r>
              <a:rPr sz="3000" spc="-5" dirty="0"/>
              <a:t>described</a:t>
            </a:r>
            <a:r>
              <a:rPr sz="3000" dirty="0"/>
              <a:t> </a:t>
            </a:r>
            <a:r>
              <a:rPr sz="3000" spc="-10" dirty="0"/>
              <a:t>more</a:t>
            </a:r>
            <a:r>
              <a:rPr sz="3000" spc="-5" dirty="0"/>
              <a:t> </a:t>
            </a:r>
            <a:r>
              <a:rPr sz="3000" spc="-10" dirty="0"/>
              <a:t>precisely</a:t>
            </a:r>
            <a:r>
              <a:rPr sz="3000" spc="-5" dirty="0"/>
              <a:t> in </a:t>
            </a:r>
            <a:r>
              <a:rPr sz="3000" dirty="0"/>
              <a:t> </a:t>
            </a:r>
            <a:r>
              <a:rPr sz="3000" spc="-10" dirty="0"/>
              <a:t>terms</a:t>
            </a:r>
            <a:r>
              <a:rPr sz="3000" spc="-5" dirty="0"/>
              <a:t> </a:t>
            </a:r>
            <a:r>
              <a:rPr sz="3000" dirty="0"/>
              <a:t>of</a:t>
            </a:r>
            <a:r>
              <a:rPr sz="3000" spc="5" dirty="0"/>
              <a:t> </a:t>
            </a:r>
            <a:r>
              <a:rPr sz="3000" dirty="0"/>
              <a:t>a</a:t>
            </a:r>
            <a:r>
              <a:rPr sz="3000" spc="5" dirty="0"/>
              <a:t> </a:t>
            </a:r>
            <a:r>
              <a:rPr sz="3000" spc="-15" dirty="0"/>
              <a:t>directed</a:t>
            </a:r>
            <a:r>
              <a:rPr sz="3000" spc="650" dirty="0"/>
              <a:t> </a:t>
            </a:r>
            <a:r>
              <a:rPr sz="3000" spc="-15" dirty="0"/>
              <a:t>graph</a:t>
            </a:r>
            <a:r>
              <a:rPr sz="3000" spc="650" dirty="0"/>
              <a:t> </a:t>
            </a:r>
            <a:r>
              <a:rPr sz="3000" spc="-10" dirty="0"/>
              <a:t>called</a:t>
            </a:r>
            <a:r>
              <a:rPr sz="3000" spc="-5" dirty="0"/>
              <a:t> </a:t>
            </a:r>
            <a:r>
              <a:rPr sz="3000" dirty="0"/>
              <a:t>a</a:t>
            </a:r>
            <a:r>
              <a:rPr sz="3000" spc="5" dirty="0"/>
              <a:t> </a:t>
            </a:r>
            <a:r>
              <a:rPr sz="3000" spc="-30" dirty="0"/>
              <a:t>system </a:t>
            </a:r>
            <a:r>
              <a:rPr sz="3000" spc="-25" dirty="0"/>
              <a:t> </a:t>
            </a:r>
            <a:r>
              <a:rPr sz="3000" spc="-10" dirty="0"/>
              <a:t>resource-allocation</a:t>
            </a:r>
            <a:r>
              <a:rPr sz="3000" spc="-35" dirty="0"/>
              <a:t> </a:t>
            </a:r>
            <a:r>
              <a:rPr sz="3000" spc="-15" dirty="0"/>
              <a:t>graph.</a:t>
            </a:r>
            <a:endParaRPr sz="3000" dirty="0"/>
          </a:p>
          <a:p>
            <a:pPr>
              <a:lnSpc>
                <a:spcPct val="100000"/>
              </a:lnSpc>
              <a:spcBef>
                <a:spcPts val="25"/>
              </a:spcBef>
              <a:buFont typeface="Arial MT"/>
              <a:buChar char="•"/>
            </a:pPr>
            <a:endParaRPr sz="2950" dirty="0"/>
          </a:p>
          <a:p>
            <a:pPr marL="355600" indent="-342900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dirty="0"/>
              <a:t>It</a:t>
            </a:r>
            <a:r>
              <a:rPr sz="3000" spc="-40" dirty="0"/>
              <a:t> </a:t>
            </a:r>
            <a:r>
              <a:rPr sz="3000" spc="-10" dirty="0"/>
              <a:t>Consist</a:t>
            </a:r>
            <a:r>
              <a:rPr sz="3000" dirty="0"/>
              <a:t> </a:t>
            </a:r>
            <a:r>
              <a:rPr sz="3000" spc="-5" dirty="0"/>
              <a:t>of</a:t>
            </a:r>
            <a:r>
              <a:rPr sz="3000" spc="-10" dirty="0"/>
              <a:t> Set</a:t>
            </a:r>
            <a:r>
              <a:rPr sz="3000" spc="-20" dirty="0"/>
              <a:t> </a:t>
            </a:r>
            <a:r>
              <a:rPr sz="3000" spc="-5" dirty="0"/>
              <a:t>of</a:t>
            </a:r>
            <a:r>
              <a:rPr sz="3000" spc="-10" dirty="0"/>
              <a:t> </a:t>
            </a:r>
            <a:r>
              <a:rPr sz="3000" spc="-5" dirty="0"/>
              <a:t>vertices</a:t>
            </a:r>
            <a:r>
              <a:rPr sz="3000" spc="-40" dirty="0"/>
              <a:t> </a:t>
            </a:r>
            <a:r>
              <a:rPr sz="3000" dirty="0"/>
              <a:t>and</a:t>
            </a:r>
            <a:r>
              <a:rPr sz="3000" spc="-10" dirty="0"/>
              <a:t> set</a:t>
            </a:r>
            <a:r>
              <a:rPr sz="3000" spc="-20" dirty="0"/>
              <a:t> </a:t>
            </a:r>
            <a:r>
              <a:rPr sz="3000" spc="-5" dirty="0"/>
              <a:t>of</a:t>
            </a:r>
            <a:r>
              <a:rPr sz="3000" spc="-10" dirty="0"/>
              <a:t> </a:t>
            </a:r>
            <a:r>
              <a:rPr sz="3000" spc="-5" dirty="0"/>
              <a:t>edges.</a:t>
            </a:r>
            <a:endParaRPr sz="3000" dirty="0"/>
          </a:p>
          <a:p>
            <a:pPr>
              <a:lnSpc>
                <a:spcPct val="100000"/>
              </a:lnSpc>
              <a:spcBef>
                <a:spcPts val="25"/>
              </a:spcBef>
              <a:buFont typeface="Arial MT"/>
              <a:buChar char="•"/>
            </a:pPr>
            <a:endParaRPr sz="3500" dirty="0"/>
          </a:p>
          <a:p>
            <a:pPr marL="355600" marR="147955" indent="-342900">
              <a:lnSpc>
                <a:spcPts val="288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spc="-5" dirty="0"/>
              <a:t>The </a:t>
            </a:r>
            <a:r>
              <a:rPr sz="3000" spc="-10" dirty="0"/>
              <a:t>set </a:t>
            </a:r>
            <a:r>
              <a:rPr sz="3000" spc="-5" dirty="0"/>
              <a:t>of vertices </a:t>
            </a:r>
            <a:r>
              <a:rPr sz="3000" dirty="0"/>
              <a:t>V is </a:t>
            </a:r>
            <a:r>
              <a:rPr sz="3000" spc="-5" dirty="0"/>
              <a:t>partitioned </a:t>
            </a:r>
            <a:r>
              <a:rPr sz="3000" spc="-15" dirty="0"/>
              <a:t>into </a:t>
            </a:r>
            <a:r>
              <a:rPr sz="3000" spc="-10" dirty="0"/>
              <a:t>two </a:t>
            </a:r>
            <a:r>
              <a:rPr sz="3000" spc="-5" dirty="0"/>
              <a:t>types </a:t>
            </a:r>
            <a:r>
              <a:rPr sz="3000" spc="-665" dirty="0"/>
              <a:t> </a:t>
            </a:r>
            <a:r>
              <a:rPr sz="3000" spc="-5" dirty="0"/>
              <a:t>of</a:t>
            </a:r>
            <a:r>
              <a:rPr sz="3000" spc="-10" dirty="0"/>
              <a:t> nodes:</a:t>
            </a:r>
            <a:endParaRPr sz="3000" dirty="0"/>
          </a:p>
          <a:p>
            <a:pPr marL="756285" lvl="1" indent="-287020">
              <a:lnSpc>
                <a:spcPct val="100000"/>
              </a:lnSpc>
              <a:spcBef>
                <a:spcPts val="40"/>
              </a:spcBef>
              <a:buFont typeface="Arial MT"/>
              <a:buChar char="–"/>
              <a:tabLst>
                <a:tab pos="756920" algn="l"/>
              </a:tabLst>
            </a:pPr>
            <a:r>
              <a:rPr sz="2600" spc="-5" dirty="0">
                <a:latin typeface="Calibri"/>
                <a:cs typeface="Calibri"/>
              </a:rPr>
              <a:t>P={p1,p2,…….pn},</a:t>
            </a:r>
            <a:r>
              <a:rPr sz="2600" spc="-5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5" dirty="0">
                <a:latin typeface="Calibri"/>
                <a:cs typeface="Calibri"/>
              </a:rPr>
              <a:t> set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of</a:t>
            </a:r>
            <a:r>
              <a:rPr sz="2600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process</a:t>
            </a:r>
            <a:r>
              <a:rPr sz="2600" spc="-4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system.</a:t>
            </a:r>
            <a:endParaRPr sz="2600" dirty="0">
              <a:latin typeface="Calibri"/>
              <a:cs typeface="Calibri"/>
            </a:endParaRPr>
          </a:p>
          <a:p>
            <a:pPr marL="756285" marR="26670" lvl="1" indent="-287020">
              <a:lnSpc>
                <a:spcPct val="80000"/>
              </a:lnSpc>
              <a:spcBef>
                <a:spcPts val="625"/>
              </a:spcBef>
              <a:buFont typeface="Arial MT"/>
              <a:buChar char="–"/>
              <a:tabLst>
                <a:tab pos="756920" algn="l"/>
              </a:tabLst>
            </a:pPr>
            <a:r>
              <a:rPr sz="2600" dirty="0">
                <a:latin typeface="Calibri"/>
                <a:cs typeface="Calibri"/>
              </a:rPr>
              <a:t>R={R1,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R2,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R3,……..Rn},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set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of</a:t>
            </a:r>
            <a:r>
              <a:rPr sz="2600" spc="-10" dirty="0">
                <a:latin typeface="Calibri"/>
                <a:cs typeface="Calibri"/>
              </a:rPr>
              <a:t> resource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types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 </a:t>
            </a:r>
            <a:r>
              <a:rPr sz="2600" spc="-570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system.</a:t>
            </a:r>
            <a:endParaRPr sz="2600" dirty="0">
              <a:latin typeface="Calibri"/>
              <a:cs typeface="Calibri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F71B8977-78E9-4438-AD95-64F1EF4890E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l-PL" spc="-105"/>
              <a:t>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3600" dirty="0"/>
              <a:t>Example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23712" y="1305272"/>
            <a:ext cx="2172129" cy="436244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363211" y="1728814"/>
            <a:ext cx="3091586" cy="4129216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962D76D-AEFA-4BD3-B8E7-C4AC25D07EA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l-PL" spc="-105"/>
              <a:t>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74826" y="228600"/>
            <a:ext cx="6997065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3600" dirty="0"/>
              <a:t>Method for Handling Deadlock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07642"/>
            <a:ext cx="8072755" cy="4124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 algn="just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spc="-60" dirty="0">
                <a:latin typeface="Calibri"/>
                <a:cs typeface="Calibri"/>
              </a:rPr>
              <a:t>We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can</a:t>
            </a:r>
            <a:r>
              <a:rPr sz="3200" spc="-5" dirty="0">
                <a:latin typeface="Calibri"/>
                <a:cs typeface="Calibri"/>
              </a:rPr>
              <a:t> use</a:t>
            </a:r>
            <a:r>
              <a:rPr sz="3200" dirty="0">
                <a:latin typeface="Calibri"/>
                <a:cs typeface="Calibri"/>
              </a:rPr>
              <a:t> a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protocol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to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i="1" spc="-10" dirty="0">
                <a:latin typeface="Calibri"/>
                <a:cs typeface="Calibri"/>
              </a:rPr>
              <a:t>prevent</a:t>
            </a:r>
            <a:r>
              <a:rPr sz="3200" i="1" spc="-5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or</a:t>
            </a:r>
            <a:r>
              <a:rPr sz="3200" i="1" spc="5" dirty="0">
                <a:latin typeface="Calibri"/>
                <a:cs typeface="Calibri"/>
              </a:rPr>
              <a:t> </a:t>
            </a:r>
            <a:r>
              <a:rPr sz="3200" i="1" spc="-10" dirty="0">
                <a:latin typeface="Calibri"/>
                <a:cs typeface="Calibri"/>
              </a:rPr>
              <a:t>avoid </a:t>
            </a:r>
            <a:r>
              <a:rPr sz="3200" i="1" spc="-5" dirty="0">
                <a:latin typeface="Calibri"/>
                <a:cs typeface="Calibri"/>
              </a:rPr>
              <a:t> </a:t>
            </a:r>
            <a:r>
              <a:rPr sz="3200" i="1" spc="-10" dirty="0">
                <a:latin typeface="Calibri"/>
                <a:cs typeface="Calibri"/>
              </a:rPr>
              <a:t>deadlocks,</a:t>
            </a:r>
            <a:r>
              <a:rPr sz="3200" i="1" spc="-5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ensuring</a:t>
            </a:r>
            <a:r>
              <a:rPr sz="3200" i="1" spc="5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that</a:t>
            </a:r>
            <a:r>
              <a:rPr sz="3200" i="1" spc="5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the</a:t>
            </a:r>
            <a:r>
              <a:rPr sz="3200" i="1" spc="5" dirty="0">
                <a:latin typeface="Calibri"/>
                <a:cs typeface="Calibri"/>
              </a:rPr>
              <a:t> </a:t>
            </a:r>
            <a:r>
              <a:rPr sz="3200" i="1" spc="-25" dirty="0">
                <a:latin typeface="Calibri"/>
                <a:cs typeface="Calibri"/>
              </a:rPr>
              <a:t>system</a:t>
            </a:r>
            <a:r>
              <a:rPr sz="3200" i="1" spc="-20" dirty="0">
                <a:latin typeface="Calibri"/>
                <a:cs typeface="Calibri"/>
              </a:rPr>
              <a:t> </a:t>
            </a:r>
            <a:r>
              <a:rPr sz="3200" i="1" spc="-5" dirty="0">
                <a:latin typeface="Calibri"/>
                <a:cs typeface="Calibri"/>
              </a:rPr>
              <a:t>never </a:t>
            </a:r>
            <a:r>
              <a:rPr sz="3200" i="1" dirty="0">
                <a:latin typeface="Calibri"/>
                <a:cs typeface="Calibri"/>
              </a:rPr>
              <a:t> </a:t>
            </a:r>
            <a:r>
              <a:rPr sz="3200" i="1" spc="-15" dirty="0">
                <a:latin typeface="Calibri"/>
                <a:cs typeface="Calibri"/>
              </a:rPr>
              <a:t>enter</a:t>
            </a:r>
            <a:r>
              <a:rPr sz="3200" i="1" spc="-10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a</a:t>
            </a:r>
            <a:r>
              <a:rPr sz="3200" i="1" spc="5" dirty="0">
                <a:latin typeface="Calibri"/>
                <a:cs typeface="Calibri"/>
              </a:rPr>
              <a:t> </a:t>
            </a:r>
            <a:r>
              <a:rPr sz="3200" i="1" spc="-5" dirty="0">
                <a:latin typeface="Calibri"/>
                <a:cs typeface="Calibri"/>
              </a:rPr>
              <a:t>deadlock</a:t>
            </a:r>
            <a:r>
              <a:rPr sz="3200" i="1" dirty="0">
                <a:latin typeface="Calibri"/>
                <a:cs typeface="Calibri"/>
              </a:rPr>
              <a:t> </a:t>
            </a:r>
            <a:r>
              <a:rPr sz="3200" i="1" spc="-25" dirty="0">
                <a:latin typeface="Calibri"/>
                <a:cs typeface="Calibri"/>
              </a:rPr>
              <a:t>state.</a:t>
            </a:r>
            <a:endParaRPr sz="3200" dirty="0">
              <a:latin typeface="Calibri"/>
              <a:cs typeface="Calibri"/>
            </a:endParaRPr>
          </a:p>
          <a:p>
            <a:pPr marL="355600" marR="5715" indent="-342900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spc="-55" dirty="0">
                <a:latin typeface="Calibri"/>
                <a:cs typeface="Calibri"/>
              </a:rPr>
              <a:t>We </a:t>
            </a:r>
            <a:r>
              <a:rPr sz="3200" spc="-10" dirty="0">
                <a:latin typeface="Calibri"/>
                <a:cs typeface="Calibri"/>
              </a:rPr>
              <a:t>can </a:t>
            </a:r>
            <a:r>
              <a:rPr sz="3200" spc="-5" dirty="0">
                <a:latin typeface="Calibri"/>
                <a:cs typeface="Calibri"/>
              </a:rPr>
              <a:t>allow </a:t>
            </a:r>
            <a:r>
              <a:rPr sz="3200" spc="5" dirty="0">
                <a:latin typeface="Calibri"/>
                <a:cs typeface="Calibri"/>
              </a:rPr>
              <a:t>the </a:t>
            </a:r>
            <a:r>
              <a:rPr sz="3200" spc="-30" dirty="0">
                <a:latin typeface="Calibri"/>
                <a:cs typeface="Calibri"/>
              </a:rPr>
              <a:t>system </a:t>
            </a:r>
            <a:r>
              <a:rPr sz="3200" spc="-25" dirty="0">
                <a:latin typeface="Calibri"/>
                <a:cs typeface="Calibri"/>
              </a:rPr>
              <a:t>to </a:t>
            </a:r>
            <a:r>
              <a:rPr sz="3200" spc="-15" dirty="0">
                <a:latin typeface="Calibri"/>
                <a:cs typeface="Calibri"/>
              </a:rPr>
              <a:t>enter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-5" dirty="0">
                <a:latin typeface="Calibri"/>
                <a:cs typeface="Calibri"/>
              </a:rPr>
              <a:t>deadlock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state,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i="1" spc="-10" dirty="0">
                <a:latin typeface="Calibri"/>
                <a:cs typeface="Calibri"/>
              </a:rPr>
              <a:t>detect</a:t>
            </a:r>
            <a:r>
              <a:rPr sz="3200" i="1" spc="10" dirty="0">
                <a:latin typeface="Calibri"/>
                <a:cs typeface="Calibri"/>
              </a:rPr>
              <a:t> </a:t>
            </a:r>
            <a:r>
              <a:rPr sz="3200" i="1" spc="-5" dirty="0">
                <a:latin typeface="Calibri"/>
                <a:cs typeface="Calibri"/>
              </a:rPr>
              <a:t>it,</a:t>
            </a:r>
            <a:r>
              <a:rPr sz="3200" i="1" spc="10" dirty="0">
                <a:latin typeface="Calibri"/>
                <a:cs typeface="Calibri"/>
              </a:rPr>
              <a:t> </a:t>
            </a:r>
            <a:r>
              <a:rPr sz="3200" i="1" spc="-5" dirty="0">
                <a:latin typeface="Calibri"/>
                <a:cs typeface="Calibri"/>
              </a:rPr>
              <a:t>and</a:t>
            </a:r>
            <a:r>
              <a:rPr sz="3200" i="1" spc="10" dirty="0">
                <a:latin typeface="Calibri"/>
                <a:cs typeface="Calibri"/>
              </a:rPr>
              <a:t> </a:t>
            </a:r>
            <a:r>
              <a:rPr sz="3200" i="1" spc="-35" dirty="0">
                <a:latin typeface="Calibri"/>
                <a:cs typeface="Calibri"/>
              </a:rPr>
              <a:t>recover.</a:t>
            </a:r>
            <a:endParaRPr sz="3200" dirty="0">
              <a:latin typeface="Calibri"/>
              <a:cs typeface="Calibri"/>
            </a:endParaRPr>
          </a:p>
          <a:p>
            <a:pPr marL="355600" marR="6350" indent="-342900" algn="just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5600" algn="l"/>
              </a:tabLst>
            </a:pPr>
            <a:r>
              <a:rPr sz="3200" spc="-60" dirty="0">
                <a:latin typeface="Calibri"/>
                <a:cs typeface="Calibri"/>
              </a:rPr>
              <a:t>We </a:t>
            </a:r>
            <a:r>
              <a:rPr sz="3200" spc="-10" dirty="0">
                <a:latin typeface="Calibri"/>
                <a:cs typeface="Calibri"/>
              </a:rPr>
              <a:t>can </a:t>
            </a:r>
            <a:r>
              <a:rPr sz="3200" spc="-5" dirty="0">
                <a:latin typeface="Calibri"/>
                <a:cs typeface="Calibri"/>
              </a:rPr>
              <a:t>ignore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10" dirty="0">
                <a:latin typeface="Calibri"/>
                <a:cs typeface="Calibri"/>
              </a:rPr>
              <a:t>problem </a:t>
            </a:r>
            <a:r>
              <a:rPr sz="3200" dirty="0">
                <a:latin typeface="Calibri"/>
                <a:cs typeface="Calibri"/>
              </a:rPr>
              <a:t>altogether</a:t>
            </a:r>
            <a:r>
              <a:rPr sz="3200" spc="-55" dirty="0">
                <a:latin typeface="Calibri"/>
                <a:cs typeface="Calibri"/>
              </a:rPr>
              <a:t>, </a:t>
            </a:r>
            <a:r>
              <a:rPr sz="3200" dirty="0">
                <a:latin typeface="Calibri"/>
                <a:cs typeface="Calibri"/>
              </a:rPr>
              <a:t>and 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pretended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that</a:t>
            </a:r>
            <a:r>
              <a:rPr sz="3200" dirty="0">
                <a:latin typeface="Calibri"/>
                <a:cs typeface="Calibri"/>
              </a:rPr>
              <a:t> deadlock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never</a:t>
            </a:r>
            <a:r>
              <a:rPr sz="3200" spc="-5" dirty="0">
                <a:latin typeface="Calibri"/>
                <a:cs typeface="Calibri"/>
              </a:rPr>
              <a:t> occur</a:t>
            </a:r>
            <a:r>
              <a:rPr sz="3200" dirty="0">
                <a:latin typeface="Calibri"/>
                <a:cs typeface="Calibri"/>
              </a:rPr>
              <a:t> in</a:t>
            </a:r>
            <a:r>
              <a:rPr sz="3200" spc="5" dirty="0">
                <a:latin typeface="Calibri"/>
                <a:cs typeface="Calibri"/>
              </a:rPr>
              <a:t> the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system.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8858D50-5AD2-4EA1-A3A0-D26E43D9455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l-PL" spc="-105"/>
              <a:t>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10180" y="304800"/>
            <a:ext cx="4725035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3600" dirty="0"/>
              <a:t>Deadlock Prevention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5000" y="1607642"/>
            <a:ext cx="7870190" cy="10020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04595" marR="5080" indent="-1192530">
              <a:lnSpc>
                <a:spcPct val="100000"/>
              </a:lnSpc>
              <a:spcBef>
                <a:spcPts val="105"/>
              </a:spcBef>
            </a:pPr>
            <a:r>
              <a:rPr sz="3200" i="1" dirty="0">
                <a:solidFill>
                  <a:srgbClr val="548ED4"/>
                </a:solidFill>
                <a:latin typeface="Calibri"/>
                <a:cs typeface="Calibri"/>
              </a:rPr>
              <a:t>Idea:</a:t>
            </a:r>
            <a:r>
              <a:rPr sz="3200" i="1" spc="-15" dirty="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sz="3200" i="1" dirty="0">
                <a:solidFill>
                  <a:srgbClr val="548ED4"/>
                </a:solidFill>
                <a:latin typeface="Calibri"/>
                <a:cs typeface="Calibri"/>
              </a:rPr>
              <a:t>If</a:t>
            </a:r>
            <a:r>
              <a:rPr sz="3200" i="1" spc="10" dirty="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sz="3200" i="1" spc="-25" dirty="0">
                <a:solidFill>
                  <a:srgbClr val="548ED4"/>
                </a:solidFill>
                <a:latin typeface="Calibri"/>
                <a:cs typeface="Calibri"/>
              </a:rPr>
              <a:t>any</a:t>
            </a:r>
            <a:r>
              <a:rPr sz="3200" i="1" spc="25" dirty="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sz="3200" i="1" spc="-5" dirty="0">
                <a:solidFill>
                  <a:srgbClr val="548ED4"/>
                </a:solidFill>
                <a:latin typeface="Calibri"/>
                <a:cs typeface="Calibri"/>
              </a:rPr>
              <a:t>one</a:t>
            </a:r>
            <a:r>
              <a:rPr sz="3200" i="1" spc="-15" dirty="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sz="3200" i="1" dirty="0">
                <a:solidFill>
                  <a:srgbClr val="548ED4"/>
                </a:solidFill>
                <a:latin typeface="Calibri"/>
                <a:cs typeface="Calibri"/>
              </a:rPr>
              <a:t>of</a:t>
            </a:r>
            <a:r>
              <a:rPr sz="3200" i="1" spc="-10" dirty="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sz="3200" i="1" spc="-5" dirty="0">
                <a:solidFill>
                  <a:srgbClr val="548ED4"/>
                </a:solidFill>
                <a:latin typeface="Calibri"/>
                <a:cs typeface="Calibri"/>
              </a:rPr>
              <a:t>the</a:t>
            </a:r>
            <a:r>
              <a:rPr sz="3200" i="1" spc="15" dirty="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sz="3200" i="1" spc="-15" dirty="0">
                <a:solidFill>
                  <a:srgbClr val="548ED4"/>
                </a:solidFill>
                <a:latin typeface="Calibri"/>
                <a:cs typeface="Calibri"/>
              </a:rPr>
              <a:t>four</a:t>
            </a:r>
            <a:r>
              <a:rPr sz="3200" i="1" spc="5" dirty="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sz="3200" i="1" spc="-5" dirty="0">
                <a:solidFill>
                  <a:srgbClr val="548ED4"/>
                </a:solidFill>
                <a:latin typeface="Calibri"/>
                <a:cs typeface="Calibri"/>
              </a:rPr>
              <a:t>necessary</a:t>
            </a:r>
            <a:r>
              <a:rPr sz="3200" i="1" spc="10" dirty="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sz="3200" i="1" spc="-10" dirty="0">
                <a:solidFill>
                  <a:srgbClr val="548ED4"/>
                </a:solidFill>
                <a:latin typeface="Calibri"/>
                <a:cs typeface="Calibri"/>
              </a:rPr>
              <a:t>conditions </a:t>
            </a:r>
            <a:r>
              <a:rPr sz="3200" i="1" spc="-710" dirty="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sz="3200" i="1" dirty="0">
                <a:solidFill>
                  <a:srgbClr val="548ED4"/>
                </a:solidFill>
                <a:latin typeface="Calibri"/>
                <a:cs typeface="Calibri"/>
              </a:rPr>
              <a:t>is</a:t>
            </a:r>
            <a:r>
              <a:rPr sz="3200" i="1" spc="-5" dirty="0">
                <a:solidFill>
                  <a:srgbClr val="548ED4"/>
                </a:solidFill>
                <a:latin typeface="Calibri"/>
                <a:cs typeface="Calibri"/>
              </a:rPr>
              <a:t> denied,</a:t>
            </a:r>
            <a:r>
              <a:rPr sz="3200" i="1" dirty="0">
                <a:solidFill>
                  <a:srgbClr val="548ED4"/>
                </a:solidFill>
                <a:latin typeface="Calibri"/>
                <a:cs typeface="Calibri"/>
              </a:rPr>
              <a:t> a</a:t>
            </a:r>
            <a:r>
              <a:rPr sz="3200" i="1" spc="-5" dirty="0">
                <a:solidFill>
                  <a:srgbClr val="548ED4"/>
                </a:solidFill>
                <a:latin typeface="Calibri"/>
                <a:cs typeface="Calibri"/>
              </a:rPr>
              <a:t> deadlock</a:t>
            </a:r>
            <a:r>
              <a:rPr sz="3200" i="1" spc="-10" dirty="0">
                <a:solidFill>
                  <a:srgbClr val="548ED4"/>
                </a:solidFill>
                <a:latin typeface="Calibri"/>
                <a:cs typeface="Calibri"/>
              </a:rPr>
              <a:t> can</a:t>
            </a:r>
            <a:r>
              <a:rPr sz="3200" i="1" spc="20" dirty="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sz="3200" i="1" spc="-5" dirty="0">
                <a:solidFill>
                  <a:srgbClr val="548ED4"/>
                </a:solidFill>
                <a:latin typeface="Calibri"/>
                <a:cs typeface="Calibri"/>
              </a:rPr>
              <a:t>not</a:t>
            </a:r>
            <a:r>
              <a:rPr sz="3200" i="1" spc="-10" dirty="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sz="3200" i="1" spc="-50" dirty="0">
                <a:solidFill>
                  <a:srgbClr val="548ED4"/>
                </a:solidFill>
                <a:latin typeface="Calibri"/>
                <a:cs typeface="Calibri"/>
              </a:rPr>
              <a:t>occur.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73683" y="3851528"/>
            <a:ext cx="7593330" cy="148971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600710" marR="5080" indent="-588645">
              <a:lnSpc>
                <a:spcPct val="100000"/>
              </a:lnSpc>
              <a:spcBef>
                <a:spcPts val="100"/>
              </a:spcBef>
            </a:pPr>
            <a:r>
              <a:rPr sz="3200" spc="-20" dirty="0">
                <a:latin typeface="Calibri"/>
                <a:cs typeface="Calibri"/>
              </a:rPr>
              <a:t>By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implementing</a:t>
            </a:r>
            <a:r>
              <a:rPr sz="3200" spc="3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policy </a:t>
            </a:r>
            <a:r>
              <a:rPr sz="3200" spc="-10" dirty="0">
                <a:latin typeface="Calibri"/>
                <a:cs typeface="Calibri"/>
              </a:rPr>
              <a:t>that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makes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one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conditions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impossible,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system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will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be</a:t>
            </a:r>
            <a:endParaRPr sz="3200" dirty="0">
              <a:latin typeface="Calibri"/>
              <a:cs typeface="Calibri"/>
            </a:endParaRPr>
          </a:p>
          <a:p>
            <a:pPr marL="1590040">
              <a:lnSpc>
                <a:spcPct val="100000"/>
              </a:lnSpc>
              <a:spcBef>
                <a:spcPts val="5"/>
              </a:spcBef>
              <a:tabLst>
                <a:tab pos="3052445" algn="l"/>
              </a:tabLst>
            </a:pPr>
            <a:r>
              <a:rPr sz="3200" spc="-10" dirty="0">
                <a:latin typeface="Calibri"/>
                <a:cs typeface="Calibri"/>
              </a:rPr>
              <a:t>assured	</a:t>
            </a:r>
            <a:r>
              <a:rPr sz="3200" spc="-25" dirty="0">
                <a:latin typeface="Calibri"/>
                <a:cs typeface="Calibri"/>
              </a:rPr>
              <a:t>to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be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deadlock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free.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A83D5CC-7C53-4276-84E1-5C213F8AB6B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l-PL" spc="-105" dirty="0"/>
              <a:t>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9858" y="304800"/>
            <a:ext cx="7248525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3600" dirty="0"/>
              <a:t>First : Denying Mutual Exclusion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828800"/>
            <a:ext cx="8072755" cy="3729990"/>
          </a:xfrm>
          <a:prstGeom prst="rect">
            <a:avLst/>
          </a:prstGeom>
        </p:spPr>
        <p:txBody>
          <a:bodyPr vert="horz" wrap="square" lIns="0" tIns="64135" rIns="0" bIns="0" rtlCol="0">
            <a:spAutoFit/>
          </a:bodyPr>
          <a:lstStyle/>
          <a:p>
            <a:pPr marL="355600" marR="5080" indent="-342900">
              <a:lnSpc>
                <a:spcPts val="3240"/>
              </a:lnSpc>
              <a:spcBef>
                <a:spcPts val="505"/>
              </a:spcBef>
              <a:tabLst>
                <a:tab pos="1739264" algn="l"/>
                <a:tab pos="3577590" algn="l"/>
                <a:tab pos="4338320" algn="l"/>
                <a:tab pos="5226685" algn="l"/>
                <a:tab pos="6702425" algn="l"/>
              </a:tabLst>
            </a:pPr>
            <a:r>
              <a:rPr sz="3000" i="1" spc="-5" dirty="0">
                <a:solidFill>
                  <a:srgbClr val="8EB4E2"/>
                </a:solidFill>
                <a:latin typeface="Calibri"/>
                <a:cs typeface="Calibri"/>
              </a:rPr>
              <a:t>Shar</a:t>
            </a:r>
            <a:r>
              <a:rPr sz="3000" i="1" spc="-20" dirty="0">
                <a:solidFill>
                  <a:srgbClr val="8EB4E2"/>
                </a:solidFill>
                <a:latin typeface="Calibri"/>
                <a:cs typeface="Calibri"/>
              </a:rPr>
              <a:t>a</a:t>
            </a:r>
            <a:r>
              <a:rPr sz="3000" i="1" spc="-5" dirty="0">
                <a:solidFill>
                  <a:srgbClr val="8EB4E2"/>
                </a:solidFill>
                <a:latin typeface="Calibri"/>
                <a:cs typeface="Calibri"/>
              </a:rPr>
              <a:t>bl</a:t>
            </a:r>
            <a:r>
              <a:rPr sz="3000" i="1" dirty="0">
                <a:solidFill>
                  <a:srgbClr val="8EB4E2"/>
                </a:solidFill>
                <a:latin typeface="Calibri"/>
                <a:cs typeface="Calibri"/>
              </a:rPr>
              <a:t>e	res</a:t>
            </a:r>
            <a:r>
              <a:rPr sz="3000" i="1" spc="-10" dirty="0">
                <a:solidFill>
                  <a:srgbClr val="8EB4E2"/>
                </a:solidFill>
                <a:latin typeface="Calibri"/>
                <a:cs typeface="Calibri"/>
              </a:rPr>
              <a:t>o</a:t>
            </a:r>
            <a:r>
              <a:rPr sz="3000" i="1" spc="-5" dirty="0">
                <a:solidFill>
                  <a:srgbClr val="8EB4E2"/>
                </a:solidFill>
                <a:latin typeface="Calibri"/>
                <a:cs typeface="Calibri"/>
              </a:rPr>
              <a:t>ur</a:t>
            </a:r>
            <a:r>
              <a:rPr sz="3000" i="1" spc="-30" dirty="0">
                <a:solidFill>
                  <a:srgbClr val="8EB4E2"/>
                </a:solidFill>
                <a:latin typeface="Calibri"/>
                <a:cs typeface="Calibri"/>
              </a:rPr>
              <a:t>c</a:t>
            </a:r>
            <a:r>
              <a:rPr sz="3000" i="1" dirty="0">
                <a:solidFill>
                  <a:srgbClr val="8EB4E2"/>
                </a:solidFill>
                <a:latin typeface="Calibri"/>
                <a:cs typeface="Calibri"/>
              </a:rPr>
              <a:t>es	</a:t>
            </a:r>
            <a:r>
              <a:rPr sz="3000" i="1" spc="5" dirty="0">
                <a:solidFill>
                  <a:srgbClr val="8EB4E2"/>
                </a:solidFill>
                <a:latin typeface="Calibri"/>
                <a:cs typeface="Calibri"/>
              </a:rPr>
              <a:t>d</a:t>
            </a:r>
            <a:r>
              <a:rPr sz="3000" i="1" dirty="0">
                <a:solidFill>
                  <a:srgbClr val="8EB4E2"/>
                </a:solidFill>
                <a:latin typeface="Calibri"/>
                <a:cs typeface="Calibri"/>
              </a:rPr>
              <a:t>o	</a:t>
            </a:r>
            <a:r>
              <a:rPr sz="3000" i="1" spc="-5" dirty="0">
                <a:solidFill>
                  <a:srgbClr val="8EB4E2"/>
                </a:solidFill>
                <a:latin typeface="Calibri"/>
                <a:cs typeface="Calibri"/>
              </a:rPr>
              <a:t>no</a:t>
            </a:r>
            <a:r>
              <a:rPr sz="3000" i="1" dirty="0">
                <a:solidFill>
                  <a:srgbClr val="8EB4E2"/>
                </a:solidFill>
                <a:latin typeface="Calibri"/>
                <a:cs typeface="Calibri"/>
              </a:rPr>
              <a:t>t	re</a:t>
            </a:r>
            <a:r>
              <a:rPr sz="3000" i="1" spc="-10" dirty="0">
                <a:solidFill>
                  <a:srgbClr val="8EB4E2"/>
                </a:solidFill>
                <a:latin typeface="Calibri"/>
                <a:cs typeface="Calibri"/>
              </a:rPr>
              <a:t>q</a:t>
            </a:r>
            <a:r>
              <a:rPr sz="3000" i="1" spc="-5" dirty="0">
                <a:solidFill>
                  <a:srgbClr val="8EB4E2"/>
                </a:solidFill>
                <a:latin typeface="Calibri"/>
                <a:cs typeface="Calibri"/>
              </a:rPr>
              <a:t>uir</a:t>
            </a:r>
            <a:r>
              <a:rPr sz="3000" i="1" dirty="0">
                <a:solidFill>
                  <a:srgbClr val="8EB4E2"/>
                </a:solidFill>
                <a:latin typeface="Calibri"/>
                <a:cs typeface="Calibri"/>
              </a:rPr>
              <a:t>e	</a:t>
            </a:r>
            <a:r>
              <a:rPr sz="3000" i="1" spc="-10" dirty="0">
                <a:solidFill>
                  <a:srgbClr val="8EB4E2"/>
                </a:solidFill>
                <a:latin typeface="Calibri"/>
                <a:cs typeface="Calibri"/>
              </a:rPr>
              <a:t>m</a:t>
            </a:r>
            <a:r>
              <a:rPr sz="3000" i="1" spc="-5" dirty="0">
                <a:solidFill>
                  <a:srgbClr val="8EB4E2"/>
                </a:solidFill>
                <a:latin typeface="Calibri"/>
                <a:cs typeface="Calibri"/>
              </a:rPr>
              <a:t>u</a:t>
            </a:r>
            <a:r>
              <a:rPr sz="3000" i="1" spc="-20" dirty="0">
                <a:solidFill>
                  <a:srgbClr val="8EB4E2"/>
                </a:solidFill>
                <a:latin typeface="Calibri"/>
                <a:cs typeface="Calibri"/>
              </a:rPr>
              <a:t>t</a:t>
            </a:r>
            <a:r>
              <a:rPr sz="3000" i="1" spc="-5" dirty="0">
                <a:solidFill>
                  <a:srgbClr val="8EB4E2"/>
                </a:solidFill>
                <a:latin typeface="Calibri"/>
                <a:cs typeface="Calibri"/>
              </a:rPr>
              <a:t>u</a:t>
            </a:r>
            <a:r>
              <a:rPr sz="3000" i="1" spc="5" dirty="0">
                <a:solidFill>
                  <a:srgbClr val="8EB4E2"/>
                </a:solidFill>
                <a:latin typeface="Calibri"/>
                <a:cs typeface="Calibri"/>
              </a:rPr>
              <a:t>a</a:t>
            </a:r>
            <a:r>
              <a:rPr sz="3000" i="1" dirty="0">
                <a:solidFill>
                  <a:srgbClr val="8EB4E2"/>
                </a:solidFill>
                <a:latin typeface="Calibri"/>
                <a:cs typeface="Calibri"/>
              </a:rPr>
              <a:t>l</a:t>
            </a:r>
            <a:r>
              <a:rPr sz="3000" i="1" spc="-25" dirty="0">
                <a:solidFill>
                  <a:srgbClr val="8EB4E2"/>
                </a:solidFill>
                <a:latin typeface="Calibri"/>
                <a:cs typeface="Calibri"/>
              </a:rPr>
              <a:t>l</a:t>
            </a:r>
            <a:r>
              <a:rPr sz="3000" i="1" dirty="0">
                <a:solidFill>
                  <a:srgbClr val="8EB4E2"/>
                </a:solidFill>
                <a:latin typeface="Calibri"/>
                <a:cs typeface="Calibri"/>
              </a:rPr>
              <a:t>y  </a:t>
            </a:r>
            <a:r>
              <a:rPr sz="3000" i="1" spc="-20" dirty="0">
                <a:solidFill>
                  <a:srgbClr val="8EB4E2"/>
                </a:solidFill>
                <a:latin typeface="Calibri"/>
                <a:cs typeface="Calibri"/>
              </a:rPr>
              <a:t>exclusive</a:t>
            </a:r>
            <a:r>
              <a:rPr sz="3000" i="1" spc="-10" dirty="0">
                <a:solidFill>
                  <a:srgbClr val="8EB4E2"/>
                </a:solidFill>
                <a:latin typeface="Calibri"/>
                <a:cs typeface="Calibri"/>
              </a:rPr>
              <a:t> access</a:t>
            </a:r>
            <a:r>
              <a:rPr sz="3000" i="1" spc="-5" dirty="0">
                <a:solidFill>
                  <a:srgbClr val="8EB4E2"/>
                </a:solidFill>
                <a:latin typeface="Calibri"/>
                <a:cs typeface="Calibri"/>
              </a:rPr>
              <a:t> such</a:t>
            </a:r>
            <a:r>
              <a:rPr sz="3000" i="1" spc="-10" dirty="0">
                <a:solidFill>
                  <a:srgbClr val="8EB4E2"/>
                </a:solidFill>
                <a:latin typeface="Calibri"/>
                <a:cs typeface="Calibri"/>
              </a:rPr>
              <a:t> </a:t>
            </a:r>
            <a:r>
              <a:rPr sz="3000" i="1" dirty="0">
                <a:solidFill>
                  <a:srgbClr val="8EB4E2"/>
                </a:solidFill>
                <a:latin typeface="Calibri"/>
                <a:cs typeface="Calibri"/>
              </a:rPr>
              <a:t>as</a:t>
            </a:r>
            <a:r>
              <a:rPr sz="3000" i="1" spc="-25" dirty="0">
                <a:solidFill>
                  <a:srgbClr val="8EB4E2"/>
                </a:solidFill>
                <a:latin typeface="Calibri"/>
                <a:cs typeface="Calibri"/>
              </a:rPr>
              <a:t> </a:t>
            </a:r>
            <a:r>
              <a:rPr sz="3000" i="1" dirty="0">
                <a:solidFill>
                  <a:srgbClr val="8EB4E2"/>
                </a:solidFill>
                <a:latin typeface="Calibri"/>
                <a:cs typeface="Calibri"/>
              </a:rPr>
              <a:t>read</a:t>
            </a:r>
            <a:r>
              <a:rPr sz="3000" i="1" spc="-30" dirty="0">
                <a:solidFill>
                  <a:srgbClr val="8EB4E2"/>
                </a:solidFill>
                <a:latin typeface="Calibri"/>
                <a:cs typeface="Calibri"/>
              </a:rPr>
              <a:t> </a:t>
            </a:r>
            <a:r>
              <a:rPr sz="3000" i="1" spc="-5" dirty="0">
                <a:solidFill>
                  <a:srgbClr val="8EB4E2"/>
                </a:solidFill>
                <a:latin typeface="Calibri"/>
                <a:cs typeface="Calibri"/>
              </a:rPr>
              <a:t>only shared</a:t>
            </a:r>
            <a:r>
              <a:rPr sz="3000" i="1" spc="-45" dirty="0">
                <a:solidFill>
                  <a:srgbClr val="8EB4E2"/>
                </a:solidFill>
                <a:latin typeface="Calibri"/>
                <a:cs typeface="Calibri"/>
              </a:rPr>
              <a:t> </a:t>
            </a:r>
            <a:r>
              <a:rPr sz="3000" i="1" spc="-5" dirty="0">
                <a:solidFill>
                  <a:srgbClr val="8EB4E2"/>
                </a:solidFill>
                <a:latin typeface="Calibri"/>
                <a:cs typeface="Calibri"/>
              </a:rPr>
              <a:t>file.</a:t>
            </a:r>
            <a:endParaRPr sz="3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800" dirty="0">
              <a:latin typeface="Calibri"/>
              <a:cs typeface="Calibri"/>
            </a:endParaRPr>
          </a:p>
          <a:p>
            <a:pPr marL="355600" marR="6350" indent="-342900">
              <a:lnSpc>
                <a:spcPts val="3240"/>
              </a:lnSpc>
              <a:tabLst>
                <a:tab pos="1140460" algn="l"/>
                <a:tab pos="2233295" algn="l"/>
                <a:tab pos="3947795" algn="l"/>
                <a:tab pos="4669155" algn="l"/>
                <a:tab pos="5929630" algn="l"/>
              </a:tabLst>
            </a:pP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But!</a:t>
            </a:r>
            <a:r>
              <a:rPr sz="3000" spc="-15" dirty="0">
                <a:solidFill>
                  <a:srgbClr val="FF0000"/>
                </a:solidFill>
                <a:latin typeface="Calibri"/>
                <a:cs typeface="Calibri"/>
              </a:rPr>
              <a:t>!</a:t>
            </a: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!	Some	</a:t>
            </a:r>
            <a:r>
              <a:rPr sz="3000" spc="-40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es</a:t>
            </a:r>
            <a:r>
              <a:rPr sz="3000" spc="-15" dirty="0">
                <a:solidFill>
                  <a:srgbClr val="FF0000"/>
                </a:solidFill>
                <a:latin typeface="Calibri"/>
                <a:cs typeface="Calibri"/>
              </a:rPr>
              <a:t>o</a:t>
            </a:r>
            <a:r>
              <a:rPr sz="3000" spc="-5" dirty="0">
                <a:solidFill>
                  <a:srgbClr val="FF0000"/>
                </a:solidFill>
                <a:latin typeface="Calibri"/>
                <a:cs typeface="Calibri"/>
              </a:rPr>
              <a:t>u</a:t>
            </a:r>
            <a:r>
              <a:rPr sz="3000" spc="-60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ces	a</a:t>
            </a:r>
            <a:r>
              <a:rPr sz="3000" spc="-40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e	</a:t>
            </a:r>
            <a:r>
              <a:rPr sz="3000" spc="-35" dirty="0">
                <a:solidFill>
                  <a:srgbClr val="FF0000"/>
                </a:solidFill>
                <a:latin typeface="Calibri"/>
                <a:cs typeface="Calibri"/>
              </a:rPr>
              <a:t>s</a:t>
            </a: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tri</a:t>
            </a:r>
            <a:r>
              <a:rPr sz="3000" spc="-15" dirty="0">
                <a:solidFill>
                  <a:srgbClr val="FF0000"/>
                </a:solidFill>
                <a:latin typeface="Calibri"/>
                <a:cs typeface="Calibri"/>
              </a:rPr>
              <a:t>c</a:t>
            </a: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tly	</a:t>
            </a:r>
            <a:r>
              <a:rPr sz="3000" spc="-5" dirty="0">
                <a:solidFill>
                  <a:srgbClr val="FF0000"/>
                </a:solidFill>
                <a:latin typeface="Calibri"/>
                <a:cs typeface="Calibri"/>
              </a:rPr>
              <a:t>non</a:t>
            </a:r>
            <a:r>
              <a:rPr sz="3000" spc="5" dirty="0">
                <a:solidFill>
                  <a:srgbClr val="FF0000"/>
                </a:solidFill>
                <a:latin typeface="Calibri"/>
                <a:cs typeface="Calibri"/>
              </a:rPr>
              <a:t>-</a:t>
            </a:r>
            <a:r>
              <a:rPr sz="3000" spc="-5" dirty="0">
                <a:solidFill>
                  <a:srgbClr val="FF0000"/>
                </a:solidFill>
                <a:latin typeface="Calibri"/>
                <a:cs typeface="Calibri"/>
              </a:rPr>
              <a:t>sha</a:t>
            </a:r>
            <a:r>
              <a:rPr sz="3000" spc="-65" dirty="0">
                <a:solidFill>
                  <a:srgbClr val="FF0000"/>
                </a:solidFill>
                <a:latin typeface="Calibri"/>
                <a:cs typeface="Calibri"/>
              </a:rPr>
              <a:t>r</a:t>
            </a: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abl</a:t>
            </a:r>
            <a:r>
              <a:rPr sz="3000" spc="-10" dirty="0">
                <a:solidFill>
                  <a:srgbClr val="FF0000"/>
                </a:solidFill>
                <a:latin typeface="Calibri"/>
                <a:cs typeface="Calibri"/>
              </a:rPr>
              <a:t>e</a:t>
            </a:r>
            <a:r>
              <a:rPr sz="3000" dirty="0">
                <a:solidFill>
                  <a:srgbClr val="FF0000"/>
                </a:solidFill>
                <a:latin typeface="Calibri"/>
                <a:cs typeface="Calibri"/>
              </a:rPr>
              <a:t>,  </a:t>
            </a:r>
            <a:r>
              <a:rPr sz="3000" spc="-5" dirty="0">
                <a:solidFill>
                  <a:srgbClr val="FF0000"/>
                </a:solidFill>
                <a:latin typeface="Calibri"/>
                <a:cs typeface="Calibri"/>
              </a:rPr>
              <a:t>mutually</a:t>
            </a:r>
            <a:r>
              <a:rPr sz="3000" spc="-1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spc="-20" dirty="0">
                <a:solidFill>
                  <a:srgbClr val="FF0000"/>
                </a:solidFill>
                <a:latin typeface="Calibri"/>
                <a:cs typeface="Calibri"/>
              </a:rPr>
              <a:t>exclusive</a:t>
            </a:r>
            <a:r>
              <a:rPr sz="3000" spc="-1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spc="-20" dirty="0">
                <a:solidFill>
                  <a:srgbClr val="FF0000"/>
                </a:solidFill>
                <a:latin typeface="Calibri"/>
                <a:cs typeface="Calibri"/>
              </a:rPr>
              <a:t>control</a:t>
            </a:r>
            <a:r>
              <a:rPr sz="3000" spc="-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3000" spc="-15" dirty="0">
                <a:solidFill>
                  <a:srgbClr val="FF0000"/>
                </a:solidFill>
                <a:latin typeface="Calibri"/>
                <a:cs typeface="Calibri"/>
              </a:rPr>
              <a:t>required.</a:t>
            </a:r>
            <a:endParaRPr sz="3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800" dirty="0">
              <a:latin typeface="Calibri"/>
              <a:cs typeface="Calibri"/>
            </a:endParaRPr>
          </a:p>
          <a:p>
            <a:pPr marL="355600" marR="784225" indent="-342900">
              <a:lnSpc>
                <a:spcPts val="3240"/>
              </a:lnSpc>
            </a:pPr>
            <a:r>
              <a:rPr sz="3000" i="1" spc="-5" dirty="0">
                <a:latin typeface="Calibri"/>
                <a:cs typeface="Calibri"/>
              </a:rPr>
              <a:t>So </a:t>
            </a:r>
            <a:r>
              <a:rPr sz="3000" i="1" spc="-60" dirty="0">
                <a:latin typeface="Calibri"/>
                <a:cs typeface="Calibri"/>
              </a:rPr>
              <a:t>We </a:t>
            </a:r>
            <a:r>
              <a:rPr sz="3000" i="1" spc="-10" dirty="0">
                <a:latin typeface="Calibri"/>
                <a:cs typeface="Calibri"/>
              </a:rPr>
              <a:t>can </a:t>
            </a:r>
            <a:r>
              <a:rPr sz="3000" i="1" spc="-5" dirty="0">
                <a:latin typeface="Calibri"/>
                <a:cs typeface="Calibri"/>
              </a:rPr>
              <a:t>not </a:t>
            </a:r>
            <a:r>
              <a:rPr sz="3000" i="1" spc="-10" dirty="0">
                <a:latin typeface="Calibri"/>
                <a:cs typeface="Calibri"/>
              </a:rPr>
              <a:t>prevent </a:t>
            </a:r>
            <a:r>
              <a:rPr sz="3000" i="1" spc="-5" dirty="0">
                <a:latin typeface="Calibri"/>
                <a:cs typeface="Calibri"/>
              </a:rPr>
              <a:t>deadlock by </a:t>
            </a:r>
            <a:r>
              <a:rPr sz="3000" i="1" spc="-10" dirty="0">
                <a:latin typeface="Calibri"/>
                <a:cs typeface="Calibri"/>
              </a:rPr>
              <a:t>denying </a:t>
            </a:r>
            <a:r>
              <a:rPr sz="3000" i="1" dirty="0">
                <a:latin typeface="Calibri"/>
                <a:cs typeface="Calibri"/>
              </a:rPr>
              <a:t>the </a:t>
            </a:r>
            <a:r>
              <a:rPr sz="3000" i="1" spc="-665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mutual</a:t>
            </a:r>
            <a:r>
              <a:rPr sz="3000" i="1" spc="-55" dirty="0">
                <a:latin typeface="Calibri"/>
                <a:cs typeface="Calibri"/>
              </a:rPr>
              <a:t> </a:t>
            </a:r>
            <a:r>
              <a:rPr sz="3000" i="1" spc="-20" dirty="0">
                <a:latin typeface="Calibri"/>
                <a:cs typeface="Calibri"/>
              </a:rPr>
              <a:t>exclusion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5255504A-447A-45BC-9699-F9BF865693F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l-PL" spc="-105"/>
              <a:t>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7854" y="304800"/>
            <a:ext cx="7313295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3600" dirty="0"/>
              <a:t>Second: Denying Hold and Wait: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47800"/>
            <a:ext cx="7891780" cy="41211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10" dirty="0">
                <a:latin typeface="Calibri"/>
                <a:cs typeface="Calibri"/>
              </a:rPr>
              <a:t>Policy:</a:t>
            </a:r>
            <a:endParaRPr sz="27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10" dirty="0">
                <a:latin typeface="Calibri"/>
                <a:cs typeface="Calibri"/>
              </a:rPr>
              <a:t>Resources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grant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all</a:t>
            </a:r>
            <a:r>
              <a:rPr sz="2400" i="1" spc="-20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or</a:t>
            </a:r>
            <a:r>
              <a:rPr sz="2400" i="1" spc="5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none</a:t>
            </a:r>
            <a:r>
              <a:rPr sz="2400" i="1" dirty="0">
                <a:latin typeface="Calibri"/>
                <a:cs typeface="Calibri"/>
              </a:rPr>
              <a:t> </a:t>
            </a:r>
            <a:r>
              <a:rPr sz="2400" i="1" spc="-5" dirty="0">
                <a:latin typeface="Calibri"/>
                <a:cs typeface="Calibri"/>
              </a:rPr>
              <a:t>basis;</a:t>
            </a:r>
            <a:endParaRPr sz="2400" dirty="0">
              <a:latin typeface="Calibri"/>
              <a:cs typeface="Calibri"/>
            </a:endParaRPr>
          </a:p>
          <a:p>
            <a:pPr marL="756285" marR="264795" lvl="1" indent="-287020">
              <a:lnSpc>
                <a:spcPts val="2300"/>
              </a:lnSpc>
              <a:spcBef>
                <a:spcPts val="56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dirty="0">
                <a:latin typeface="Calibri"/>
                <a:cs typeface="Calibri"/>
              </a:rPr>
              <a:t>If all </a:t>
            </a:r>
            <a:r>
              <a:rPr sz="2400" spc="-10" dirty="0">
                <a:latin typeface="Calibri"/>
                <a:cs typeface="Calibri"/>
              </a:rPr>
              <a:t>resources </a:t>
            </a:r>
            <a:r>
              <a:rPr sz="2400" spc="-5" dirty="0">
                <a:latin typeface="Calibri"/>
                <a:cs typeface="Calibri"/>
              </a:rPr>
              <a:t>needed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sz="2400" spc="-10" dirty="0">
                <a:latin typeface="Calibri"/>
                <a:cs typeface="Calibri"/>
              </a:rPr>
              <a:t>processing </a:t>
            </a:r>
            <a:r>
              <a:rPr sz="2400" spc="-15" dirty="0">
                <a:latin typeface="Calibri"/>
                <a:cs typeface="Calibri"/>
              </a:rPr>
              <a:t>are </a:t>
            </a:r>
            <a:r>
              <a:rPr sz="2400" spc="-10" dirty="0">
                <a:latin typeface="Calibri"/>
                <a:cs typeface="Calibri"/>
              </a:rPr>
              <a:t>available </a:t>
            </a:r>
            <a:r>
              <a:rPr sz="2400" dirty="0">
                <a:latin typeface="Calibri"/>
                <a:cs typeface="Calibri"/>
              </a:rPr>
              <a:t>then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granted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allowed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process.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lnSpc>
                <a:spcPts val="2590"/>
              </a:lnSpc>
              <a:spcBef>
                <a:spcPts val="2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dirty="0">
                <a:latin typeface="Calibri"/>
                <a:cs typeface="Calibri"/>
              </a:rPr>
              <a:t>If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complete set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10" dirty="0">
                <a:latin typeface="Calibri"/>
                <a:cs typeface="Calibri"/>
              </a:rPr>
              <a:t>resources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not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available,</a:t>
            </a:r>
            <a:r>
              <a:rPr sz="2400" dirty="0">
                <a:latin typeface="Calibri"/>
                <a:cs typeface="Calibri"/>
              </a:rPr>
              <a:t> the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</a:t>
            </a:r>
            <a:endParaRPr sz="2400" dirty="0">
              <a:latin typeface="Calibri"/>
              <a:cs typeface="Calibri"/>
            </a:endParaRPr>
          </a:p>
          <a:p>
            <a:pPr marL="756285">
              <a:lnSpc>
                <a:spcPts val="2590"/>
              </a:lnSpc>
            </a:pPr>
            <a:r>
              <a:rPr sz="2400" spc="-10" dirty="0">
                <a:latin typeface="Calibri"/>
                <a:cs typeface="Calibri"/>
              </a:rPr>
              <a:t>must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wait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set</a:t>
            </a:r>
            <a:r>
              <a:rPr sz="2400" spc="-10" dirty="0">
                <a:latin typeface="Calibri"/>
                <a:cs typeface="Calibri"/>
              </a:rPr>
              <a:t> available.</a:t>
            </a:r>
            <a:endParaRPr sz="2400" dirty="0">
              <a:latin typeface="Calibri"/>
              <a:cs typeface="Calibri"/>
            </a:endParaRPr>
          </a:p>
          <a:p>
            <a:pPr marL="756285" lvl="1" indent="-287020">
              <a:lnSpc>
                <a:spcPts val="2875"/>
              </a:lnSpc>
              <a:buFont typeface="Arial MT"/>
              <a:buChar char="–"/>
              <a:tabLst>
                <a:tab pos="756920" algn="l"/>
              </a:tabLst>
            </a:pPr>
            <a:r>
              <a:rPr sz="2400" dirty="0">
                <a:latin typeface="Calibri"/>
                <a:cs typeface="Calibri"/>
              </a:rPr>
              <a:t>While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waiting,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process</a:t>
            </a:r>
            <a:r>
              <a:rPr sz="2400" spc="-5" dirty="0">
                <a:latin typeface="Calibri"/>
                <a:cs typeface="Calibri"/>
              </a:rPr>
              <a:t> should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not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hold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any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resources.</a:t>
            </a:r>
            <a:endParaRPr sz="2400" dirty="0">
              <a:latin typeface="Calibri"/>
              <a:cs typeface="Calibri"/>
            </a:endParaRPr>
          </a:p>
          <a:p>
            <a:pPr marL="355600" indent="-342900">
              <a:lnSpc>
                <a:spcPts val="3235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15" dirty="0">
                <a:latin typeface="Calibri"/>
                <a:cs typeface="Calibri"/>
              </a:rPr>
              <a:t>Problem:</a:t>
            </a:r>
            <a:endParaRPr sz="2700" dirty="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10" dirty="0">
                <a:latin typeface="Calibri"/>
                <a:cs typeface="Calibri"/>
              </a:rPr>
              <a:t>Low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resource utilization.</a:t>
            </a:r>
            <a:endParaRPr sz="2400" dirty="0">
              <a:latin typeface="Calibri"/>
              <a:cs typeface="Calibri"/>
            </a:endParaRPr>
          </a:p>
          <a:p>
            <a:pPr marL="756285" marR="55880" lvl="1" indent="-287020">
              <a:lnSpc>
                <a:spcPct val="80700"/>
              </a:lnSpc>
              <a:spcBef>
                <a:spcPts val="55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10" dirty="0">
                <a:latin typeface="Calibri"/>
                <a:cs typeface="Calibri"/>
              </a:rPr>
              <a:t>Starvation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possible.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process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that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needs </a:t>
            </a:r>
            <a:r>
              <a:rPr sz="2000" b="1" spc="-15" dirty="0">
                <a:latin typeface="Calibri"/>
                <a:cs typeface="Calibri"/>
              </a:rPr>
              <a:t>several</a:t>
            </a:r>
            <a:r>
              <a:rPr sz="2000" b="1" spc="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popular </a:t>
            </a:r>
            <a:r>
              <a:rPr sz="2000" b="1" spc="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resources </a:t>
            </a:r>
            <a:r>
              <a:rPr sz="2000" b="1" spc="-15" dirty="0">
                <a:latin typeface="Calibri"/>
                <a:cs typeface="Calibri"/>
              </a:rPr>
              <a:t>may have </a:t>
            </a:r>
            <a:r>
              <a:rPr sz="2000" b="1" spc="-10" dirty="0">
                <a:latin typeface="Calibri"/>
                <a:cs typeface="Calibri"/>
              </a:rPr>
              <a:t>to wait </a:t>
            </a:r>
            <a:r>
              <a:rPr sz="2000" b="1" spc="-15" dirty="0">
                <a:latin typeface="Calibri"/>
                <a:cs typeface="Calibri"/>
              </a:rPr>
              <a:t>indefinitely, </a:t>
            </a:r>
            <a:r>
              <a:rPr sz="2000" b="1" dirty="0">
                <a:latin typeface="Calibri"/>
                <a:cs typeface="Calibri"/>
              </a:rPr>
              <a:t>because </a:t>
            </a:r>
            <a:r>
              <a:rPr sz="2000" b="1" spc="-15" dirty="0">
                <a:latin typeface="Calibri"/>
                <a:cs typeface="Calibri"/>
              </a:rPr>
              <a:t>at </a:t>
            </a:r>
            <a:r>
              <a:rPr sz="2000" b="1" spc="-5" dirty="0">
                <a:latin typeface="Calibri"/>
                <a:cs typeface="Calibri"/>
              </a:rPr>
              <a:t>least </a:t>
            </a:r>
            <a:r>
              <a:rPr sz="2000" b="1" dirty="0">
                <a:latin typeface="Calibri"/>
                <a:cs typeface="Calibri"/>
              </a:rPr>
              <a:t>one of the </a:t>
            </a:r>
            <a:r>
              <a:rPr sz="2000" b="1" spc="-44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resources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that</a:t>
            </a:r>
            <a:r>
              <a:rPr sz="2000" b="1" spc="-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it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needs is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sz="2000" b="1" spc="-15" dirty="0">
                <a:latin typeface="Calibri"/>
                <a:cs typeface="Calibri"/>
              </a:rPr>
              <a:t>always</a:t>
            </a:r>
            <a:r>
              <a:rPr sz="2000" b="1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allocated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to</a:t>
            </a:r>
            <a:r>
              <a:rPr sz="2000" b="1" spc="-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some</a:t>
            </a:r>
            <a:r>
              <a:rPr sz="2000" b="1" spc="-2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other</a:t>
            </a:r>
            <a:r>
              <a:rPr sz="2000" b="1" spc="-5" dirty="0">
                <a:latin typeface="Calibri"/>
                <a:cs typeface="Calibri"/>
              </a:rPr>
              <a:t> process.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FD485D1-E19D-409F-AC6D-80D744A9647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l-PL" spc="-105"/>
              <a:t>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93114" y="304800"/>
            <a:ext cx="696087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3600" dirty="0"/>
              <a:t>Third: Denying No-preemption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07044"/>
            <a:ext cx="8074659" cy="436054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5" dirty="0">
                <a:latin typeface="Calibri"/>
                <a:cs typeface="Calibri"/>
              </a:rPr>
              <a:t>policy</a:t>
            </a:r>
            <a:endParaRPr sz="3200" dirty="0">
              <a:latin typeface="Calibri"/>
              <a:cs typeface="Calibri"/>
            </a:endParaRPr>
          </a:p>
          <a:p>
            <a:pPr marL="756285" marR="5715" lvl="1" indent="-287020" algn="just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When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process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holding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resources</a:t>
            </a:r>
            <a:r>
              <a:rPr sz="2800" spc="-10" dirty="0">
                <a:latin typeface="Calibri"/>
                <a:cs typeface="Calibri"/>
              </a:rPr>
              <a:t> is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denied</a:t>
            </a:r>
            <a:r>
              <a:rPr sz="2800" spc="-5" dirty="0">
                <a:latin typeface="Calibri"/>
                <a:cs typeface="Calibri"/>
              </a:rPr>
              <a:t> a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request</a:t>
            </a:r>
            <a:r>
              <a:rPr sz="2800" spc="60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for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additional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resources,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process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must release </a:t>
            </a:r>
            <a:r>
              <a:rPr sz="2800" spc="-5" dirty="0">
                <a:latin typeface="Calibri"/>
                <a:cs typeface="Calibri"/>
              </a:rPr>
              <a:t>its </a:t>
            </a:r>
            <a:r>
              <a:rPr sz="2800" spc="-10" dirty="0">
                <a:latin typeface="Calibri"/>
                <a:cs typeface="Calibri"/>
              </a:rPr>
              <a:t>held </a:t>
            </a:r>
            <a:r>
              <a:rPr sz="2800" spc="-15" dirty="0">
                <a:latin typeface="Calibri"/>
                <a:cs typeface="Calibri"/>
              </a:rPr>
              <a:t>resources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spc="-10" dirty="0">
                <a:latin typeface="Calibri"/>
                <a:cs typeface="Calibri"/>
              </a:rPr>
              <a:t>if </a:t>
            </a:r>
            <a:r>
              <a:rPr sz="2800" spc="-25" dirty="0">
                <a:latin typeface="Calibri"/>
                <a:cs typeface="Calibri"/>
              </a:rPr>
              <a:t>necessary, 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request</a:t>
            </a:r>
            <a:r>
              <a:rPr sz="2800" spc="60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them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again</a:t>
            </a:r>
            <a:r>
              <a:rPr sz="2800" spc="60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together</a:t>
            </a:r>
            <a:r>
              <a:rPr sz="2800" spc="60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with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additional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resources.</a:t>
            </a:r>
            <a:endParaRPr sz="28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Problem:</a:t>
            </a:r>
            <a:endParaRPr sz="3200" dirty="0">
              <a:latin typeface="Calibri"/>
              <a:cs typeface="Calibri"/>
            </a:endParaRPr>
          </a:p>
          <a:p>
            <a:pPr marL="756285" marR="5080" lvl="1" indent="-287020" algn="just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When </a:t>
            </a:r>
            <a:r>
              <a:rPr sz="2800" spc="-10" dirty="0">
                <a:latin typeface="Calibri"/>
                <a:cs typeface="Calibri"/>
              </a:rPr>
              <a:t>process releases resources </a:t>
            </a:r>
            <a:r>
              <a:rPr sz="2800" spc="-5" dirty="0">
                <a:latin typeface="Calibri"/>
                <a:cs typeface="Calibri"/>
              </a:rPr>
              <a:t>the </a:t>
            </a:r>
            <a:r>
              <a:rPr sz="2800" spc="-15" dirty="0">
                <a:latin typeface="Calibri"/>
                <a:cs typeface="Calibri"/>
              </a:rPr>
              <a:t>process </a:t>
            </a:r>
            <a:r>
              <a:rPr sz="2800" spc="-20" dirty="0">
                <a:latin typeface="Calibri"/>
                <a:cs typeface="Calibri"/>
              </a:rPr>
              <a:t>may 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loose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all</a:t>
            </a:r>
            <a:r>
              <a:rPr sz="2800" spc="-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its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works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point</a:t>
            </a:r>
            <a:r>
              <a:rPr sz="2800" spc="2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A190129-8792-4DAA-8148-0B19F8B30BB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l-PL" spc="-105"/>
              <a:t>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036445" y="304800"/>
            <a:ext cx="5073015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3600" dirty="0"/>
              <a:t>Denying Circular Wait: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7800340" cy="4445635"/>
          </a:xfrm>
          <a:prstGeom prst="rect">
            <a:avLst/>
          </a:prstGeom>
        </p:spPr>
        <p:txBody>
          <a:bodyPr vert="horz" wrap="square" lIns="0" tIns="11366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9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5" dirty="0">
                <a:latin typeface="Calibri"/>
                <a:cs typeface="Calibri"/>
              </a:rPr>
              <a:t>Policy</a:t>
            </a:r>
            <a:endParaRPr sz="3200" dirty="0">
              <a:latin typeface="Calibri"/>
              <a:cs typeface="Calibri"/>
            </a:endParaRPr>
          </a:p>
          <a:p>
            <a:pPr marL="756285" marR="909319" lvl="1" indent="-287020">
              <a:lnSpc>
                <a:spcPct val="100000"/>
              </a:lnSpc>
              <a:spcBef>
                <a:spcPts val="690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5" dirty="0">
                <a:latin typeface="Calibri"/>
                <a:cs typeface="Calibri"/>
              </a:rPr>
              <a:t>All</a:t>
            </a:r>
            <a:r>
              <a:rPr sz="2800" spc="-15" dirty="0">
                <a:latin typeface="Calibri"/>
                <a:cs typeface="Calibri"/>
              </a:rPr>
              <a:t> resources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are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uniquely</a:t>
            </a:r>
            <a:r>
              <a:rPr sz="2800" spc="4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numbered,</a:t>
            </a:r>
            <a:r>
              <a:rPr sz="2800" spc="4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and 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processes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must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request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resources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in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linear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ascending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60" dirty="0">
                <a:latin typeface="Calibri"/>
                <a:cs typeface="Calibri"/>
              </a:rPr>
              <a:t>order.</a:t>
            </a:r>
            <a:endParaRPr sz="2800" dirty="0">
              <a:latin typeface="Calibri"/>
              <a:cs typeface="Calibri"/>
            </a:endParaRPr>
          </a:p>
          <a:p>
            <a:pPr marL="756285" marR="356235" lvl="1" indent="-287020">
              <a:lnSpc>
                <a:spcPct val="100000"/>
              </a:lnSpc>
              <a:spcBef>
                <a:spcPts val="67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0" dirty="0">
                <a:latin typeface="Calibri"/>
                <a:cs typeface="Calibri"/>
              </a:rPr>
              <a:t>The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only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ascending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order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prevents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circular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wait</a:t>
            </a:r>
            <a:r>
              <a:rPr sz="2800" spc="-2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.</a:t>
            </a:r>
            <a:endParaRPr sz="28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5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Problem:</a:t>
            </a:r>
            <a:endParaRPr sz="3200" dirty="0">
              <a:latin typeface="Calibri"/>
              <a:cs typeface="Calibri"/>
            </a:endParaRPr>
          </a:p>
          <a:p>
            <a:pPr marL="756285" marR="5080" lvl="1" indent="-287020">
              <a:lnSpc>
                <a:spcPct val="100000"/>
              </a:lnSpc>
              <a:spcBef>
                <a:spcPts val="685"/>
              </a:spcBef>
              <a:buFont typeface="Arial MT"/>
              <a:buChar char="–"/>
              <a:tabLst>
                <a:tab pos="756920" algn="l"/>
              </a:tabLst>
            </a:pPr>
            <a:r>
              <a:rPr sz="2800" spc="-15" dirty="0">
                <a:latin typeface="Calibri"/>
                <a:cs typeface="Calibri"/>
              </a:rPr>
              <a:t>Difficult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to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maintain</a:t>
            </a:r>
            <a:r>
              <a:rPr sz="2800" spc="1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the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resource</a:t>
            </a:r>
            <a:r>
              <a:rPr sz="2800" spc="20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order;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dynamic </a:t>
            </a:r>
            <a:r>
              <a:rPr sz="2800" spc="-6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update</a:t>
            </a:r>
            <a:r>
              <a:rPr sz="2800" spc="-5" dirty="0">
                <a:latin typeface="Calibri"/>
                <a:cs typeface="Calibri"/>
              </a:rPr>
              <a:t> in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addition</a:t>
            </a:r>
            <a:r>
              <a:rPr sz="2800" spc="15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of </a:t>
            </a:r>
            <a:r>
              <a:rPr sz="2800" spc="-10" dirty="0">
                <a:latin typeface="Calibri"/>
                <a:cs typeface="Calibri"/>
              </a:rPr>
              <a:t>new</a:t>
            </a:r>
            <a:r>
              <a:rPr sz="2800" spc="5" dirty="0">
                <a:latin typeface="Calibri"/>
                <a:cs typeface="Calibri"/>
              </a:rPr>
              <a:t> </a:t>
            </a:r>
            <a:r>
              <a:rPr sz="2800" spc="-15" dirty="0">
                <a:latin typeface="Calibri"/>
                <a:cs typeface="Calibri"/>
              </a:rPr>
              <a:t>resources.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8309EE24-9922-4F6F-AAFB-0F19324BEBF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l-PL" spc="-105"/>
              <a:t>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9617" y="304800"/>
            <a:ext cx="460883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3600" dirty="0"/>
              <a:t>Deadlock Avoidance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6786"/>
            <a:ext cx="7858125" cy="370678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08279" algn="ctr">
              <a:lnSpc>
                <a:spcPct val="100000"/>
              </a:lnSpc>
              <a:spcBef>
                <a:spcPts val="105"/>
              </a:spcBef>
            </a:pPr>
            <a:r>
              <a:rPr sz="2000" spc="-10" dirty="0">
                <a:latin typeface="Calibri"/>
                <a:cs typeface="Calibri"/>
              </a:rPr>
              <a:t>Deadlock-prevention </a:t>
            </a:r>
            <a:r>
              <a:rPr sz="2000" spc="-5" dirty="0">
                <a:latin typeface="Calibri"/>
                <a:cs typeface="Calibri"/>
              </a:rPr>
              <a:t>algorithms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ensure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that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least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necessary</a:t>
            </a:r>
            <a:endParaRPr sz="2000" dirty="0">
              <a:latin typeface="Calibri"/>
              <a:cs typeface="Calibri"/>
            </a:endParaRPr>
          </a:p>
          <a:p>
            <a:pPr marL="561340" marR="5080" algn="ctr">
              <a:lnSpc>
                <a:spcPct val="100000"/>
              </a:lnSpc>
            </a:pPr>
            <a:r>
              <a:rPr sz="2000" spc="-5" dirty="0">
                <a:latin typeface="Calibri"/>
                <a:cs typeface="Calibri"/>
              </a:rPr>
              <a:t>conditions </a:t>
            </a:r>
            <a:r>
              <a:rPr sz="2000" spc="-15" dirty="0">
                <a:latin typeface="Calibri"/>
                <a:cs typeface="Calibri"/>
              </a:rPr>
              <a:t>for </a:t>
            </a:r>
            <a:r>
              <a:rPr sz="2000" spc="-5" dirty="0">
                <a:latin typeface="Calibri"/>
                <a:cs typeface="Calibri"/>
              </a:rPr>
              <a:t>deadlock cannot occur </a:t>
            </a:r>
            <a:r>
              <a:rPr sz="2000" dirty="0">
                <a:latin typeface="Calibri"/>
                <a:cs typeface="Calibri"/>
              </a:rPr>
              <a:t>and hence </a:t>
            </a:r>
            <a:r>
              <a:rPr sz="2000" spc="-5" dirty="0">
                <a:latin typeface="Calibri"/>
                <a:cs typeface="Calibri"/>
              </a:rPr>
              <a:t>that deadlocks cannot </a:t>
            </a:r>
            <a:r>
              <a:rPr sz="2000" spc="-4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hold.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Possible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side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effects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spc="-10" dirty="0">
                <a:latin typeface="Calibri"/>
                <a:cs typeface="Calibri"/>
              </a:rPr>
              <a:t> preventing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deadlocks</a:t>
            </a:r>
            <a:r>
              <a:rPr sz="2000" spc="3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are</a:t>
            </a:r>
            <a:r>
              <a:rPr sz="2000" b="1" dirty="0">
                <a:latin typeface="Calibri"/>
                <a:cs typeface="Calibri"/>
              </a:rPr>
              <a:t> low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device </a:t>
            </a:r>
            <a:r>
              <a:rPr sz="2000" b="1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utilization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and</a:t>
            </a:r>
            <a:r>
              <a:rPr sz="2000" b="1" spc="-10" dirty="0">
                <a:latin typeface="Calibri"/>
                <a:cs typeface="Calibri"/>
              </a:rPr>
              <a:t> </a:t>
            </a:r>
            <a:r>
              <a:rPr sz="2000" b="1" spc="-5" dirty="0">
                <a:latin typeface="Calibri"/>
                <a:cs typeface="Calibri"/>
              </a:rPr>
              <a:t>reduced </a:t>
            </a:r>
            <a:r>
              <a:rPr sz="2000" b="1" spc="-15" dirty="0">
                <a:latin typeface="Calibri"/>
                <a:cs typeface="Calibri"/>
              </a:rPr>
              <a:t>system</a:t>
            </a:r>
            <a:r>
              <a:rPr sz="2000" b="1" spc="-2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throughput.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</a:pPr>
            <a:endParaRPr sz="20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360"/>
              </a:spcBef>
            </a:pPr>
            <a:r>
              <a:rPr sz="2000" b="1" spc="-10" dirty="0">
                <a:latin typeface="Calibri"/>
                <a:cs typeface="Calibri"/>
              </a:rPr>
              <a:t>Alternative</a:t>
            </a:r>
            <a:endParaRPr sz="2000" dirty="0">
              <a:latin typeface="Calibri"/>
              <a:cs typeface="Calibri"/>
            </a:endParaRPr>
          </a:p>
          <a:p>
            <a:pPr marL="756285" marR="90805" indent="-287020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spc="-10" dirty="0">
                <a:latin typeface="Calibri"/>
                <a:cs typeface="Calibri"/>
              </a:rPr>
              <a:t>For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example,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 </a:t>
            </a:r>
            <a:r>
              <a:rPr sz="2000" spc="-20" dirty="0">
                <a:latin typeface="Calibri"/>
                <a:cs typeface="Calibri"/>
              </a:rPr>
              <a:t>system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with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one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tape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drive</a:t>
            </a:r>
            <a:r>
              <a:rPr sz="2000" dirty="0">
                <a:latin typeface="Calibri"/>
                <a:cs typeface="Calibri"/>
              </a:rPr>
              <a:t> and</a:t>
            </a:r>
            <a:r>
              <a:rPr sz="2000" spc="-5" dirty="0">
                <a:latin typeface="Calibri"/>
                <a:cs typeface="Calibri"/>
              </a:rPr>
              <a:t> one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printer,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system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might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need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to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know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that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process</a:t>
            </a:r>
            <a:r>
              <a:rPr sz="2000" dirty="0">
                <a:latin typeface="Calibri"/>
                <a:cs typeface="Calibri"/>
              </a:rPr>
              <a:t> P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will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request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first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tape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drive</a:t>
            </a:r>
            <a:r>
              <a:rPr sz="2000" dirty="0">
                <a:latin typeface="Calibri"/>
                <a:cs typeface="Calibri"/>
              </a:rPr>
              <a:t> and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then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printer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before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releasing</a:t>
            </a:r>
            <a:r>
              <a:rPr sz="2000" spc="2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both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resources,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whereas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process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Q</a:t>
            </a:r>
            <a:r>
              <a:rPr sz="2000" spc="-5" dirty="0">
                <a:latin typeface="Calibri"/>
                <a:cs typeface="Calibri"/>
              </a:rPr>
              <a:t> will </a:t>
            </a:r>
            <a:r>
              <a:rPr sz="2000" spc="-10" dirty="0">
                <a:latin typeface="Calibri"/>
                <a:cs typeface="Calibri"/>
              </a:rPr>
              <a:t>request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first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printer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then the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tape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drive.</a:t>
            </a:r>
            <a:endParaRPr sz="2000" dirty="0">
              <a:latin typeface="Calibri"/>
              <a:cs typeface="Calibri"/>
            </a:endParaRPr>
          </a:p>
          <a:p>
            <a:pPr marL="756285" indent="-287020">
              <a:lnSpc>
                <a:spcPct val="100000"/>
              </a:lnSpc>
              <a:spcBef>
                <a:spcPts val="480"/>
              </a:spcBef>
              <a:buFont typeface="Arial MT"/>
              <a:buChar char="–"/>
              <a:tabLst>
                <a:tab pos="756285" algn="l"/>
                <a:tab pos="756920" algn="l"/>
              </a:tabLst>
            </a:pPr>
            <a:r>
              <a:rPr sz="2000" dirty="0">
                <a:latin typeface="Calibri"/>
                <a:cs typeface="Calibri"/>
              </a:rPr>
              <a:t>Assign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resource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that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leads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to</a:t>
            </a:r>
            <a:r>
              <a:rPr sz="2000" dirty="0">
                <a:latin typeface="Calibri"/>
                <a:cs typeface="Calibri"/>
              </a:rPr>
              <a:t> the </a:t>
            </a:r>
            <a:r>
              <a:rPr sz="2000" spc="-20" dirty="0">
                <a:latin typeface="Calibri"/>
                <a:cs typeface="Calibri"/>
              </a:rPr>
              <a:t>system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into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safe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state.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7273ECB-DA6A-4A5D-8DFD-67BE0C943F7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l-PL" spc="-105"/>
              <a:t>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9617" y="304800"/>
            <a:ext cx="460883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3600" b="1" dirty="0"/>
              <a:t>Deadlock Avoidance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71066"/>
            <a:ext cx="8009890" cy="41827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21945">
              <a:lnSpc>
                <a:spcPts val="3080"/>
              </a:lnSpc>
              <a:spcBef>
                <a:spcPts val="100"/>
              </a:spcBef>
            </a:pPr>
            <a:r>
              <a:rPr sz="2700" spc="-15" dirty="0">
                <a:latin typeface="Calibri"/>
                <a:cs typeface="Calibri"/>
              </a:rPr>
              <a:t>Each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request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requires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that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in making </a:t>
            </a:r>
            <a:r>
              <a:rPr sz="2700" spc="-5" dirty="0">
                <a:latin typeface="Calibri"/>
                <a:cs typeface="Calibri"/>
              </a:rPr>
              <a:t>this decision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the</a:t>
            </a:r>
          </a:p>
          <a:p>
            <a:pPr marL="3047365">
              <a:lnSpc>
                <a:spcPts val="3080"/>
              </a:lnSpc>
            </a:pPr>
            <a:r>
              <a:rPr sz="2700" spc="-25" dirty="0">
                <a:latin typeface="Calibri"/>
                <a:cs typeface="Calibri"/>
              </a:rPr>
              <a:t>system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consider:</a:t>
            </a:r>
            <a:endParaRPr sz="27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dirty="0">
                <a:latin typeface="Calibri"/>
                <a:cs typeface="Calibri"/>
              </a:rPr>
              <a:t>the</a:t>
            </a:r>
            <a:r>
              <a:rPr sz="2700" spc="-5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resources</a:t>
            </a:r>
            <a:r>
              <a:rPr sz="2700" spc="-5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currently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available,</a:t>
            </a:r>
            <a:endParaRPr sz="27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dirty="0">
                <a:latin typeface="Calibri"/>
                <a:cs typeface="Calibri"/>
              </a:rPr>
              <a:t>the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resources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currently</a:t>
            </a:r>
            <a:r>
              <a:rPr sz="2700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allocated</a:t>
            </a:r>
            <a:r>
              <a:rPr sz="2700" spc="-4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to</a:t>
            </a:r>
            <a:r>
              <a:rPr sz="2700" spc="-5" dirty="0">
                <a:latin typeface="Calibri"/>
                <a:cs typeface="Calibri"/>
              </a:rPr>
              <a:t> each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process,</a:t>
            </a:r>
            <a:endParaRPr sz="27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32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dirty="0">
                <a:latin typeface="Calibri"/>
                <a:cs typeface="Calibri"/>
              </a:rPr>
              <a:t>the</a:t>
            </a:r>
            <a:r>
              <a:rPr sz="2700" spc="-3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future</a:t>
            </a:r>
            <a:r>
              <a:rPr sz="2700" spc="-1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requests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dirty="0">
                <a:latin typeface="Calibri"/>
                <a:cs typeface="Calibri"/>
              </a:rPr>
              <a:t>and</a:t>
            </a:r>
            <a:r>
              <a:rPr sz="2700" spc="-15" dirty="0">
                <a:latin typeface="Calibri"/>
                <a:cs typeface="Calibri"/>
              </a:rPr>
              <a:t> </a:t>
            </a:r>
            <a:r>
              <a:rPr sz="2700" spc="-10" dirty="0">
                <a:latin typeface="Calibri"/>
                <a:cs typeface="Calibri"/>
              </a:rPr>
              <a:t>releases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of </a:t>
            </a:r>
            <a:r>
              <a:rPr sz="2700" dirty="0">
                <a:latin typeface="Calibri"/>
                <a:cs typeface="Calibri"/>
              </a:rPr>
              <a:t>each</a:t>
            </a:r>
            <a:r>
              <a:rPr sz="2700" spc="-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process.</a:t>
            </a:r>
            <a:endParaRPr sz="27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5"/>
              </a:spcBef>
            </a:pPr>
            <a:endParaRPr sz="3450" dirty="0">
              <a:latin typeface="Calibri"/>
              <a:cs typeface="Calibri"/>
            </a:endParaRPr>
          </a:p>
          <a:p>
            <a:pPr marL="416559" marR="5080" indent="-184785">
              <a:lnSpc>
                <a:spcPts val="2920"/>
              </a:lnSpc>
            </a:pPr>
            <a:r>
              <a:rPr sz="2700" dirty="0">
                <a:solidFill>
                  <a:srgbClr val="548ED4"/>
                </a:solidFill>
                <a:latin typeface="Calibri"/>
                <a:cs typeface="Calibri"/>
              </a:rPr>
              <a:t>Initially the </a:t>
            </a:r>
            <a:r>
              <a:rPr sz="2700" spc="-25" dirty="0">
                <a:solidFill>
                  <a:srgbClr val="548ED4"/>
                </a:solidFill>
                <a:latin typeface="Calibri"/>
                <a:cs typeface="Calibri"/>
              </a:rPr>
              <a:t>system </a:t>
            </a:r>
            <a:r>
              <a:rPr sz="2700" dirty="0">
                <a:solidFill>
                  <a:srgbClr val="548ED4"/>
                </a:solidFill>
                <a:latin typeface="Calibri"/>
                <a:cs typeface="Calibri"/>
              </a:rPr>
              <a:t>is in </a:t>
            </a:r>
            <a:r>
              <a:rPr sz="2700" spc="-25" dirty="0">
                <a:solidFill>
                  <a:srgbClr val="548ED4"/>
                </a:solidFill>
                <a:latin typeface="Calibri"/>
                <a:cs typeface="Calibri"/>
              </a:rPr>
              <a:t>safe state. </a:t>
            </a:r>
            <a:r>
              <a:rPr sz="2700" spc="-10" dirty="0">
                <a:solidFill>
                  <a:srgbClr val="548ED4"/>
                </a:solidFill>
                <a:latin typeface="Calibri"/>
                <a:cs typeface="Calibri"/>
              </a:rPr>
              <a:t>Whenever </a:t>
            </a:r>
            <a:r>
              <a:rPr sz="2700" dirty="0">
                <a:solidFill>
                  <a:srgbClr val="548ED4"/>
                </a:solidFill>
                <a:latin typeface="Calibri"/>
                <a:cs typeface="Calibri"/>
              </a:rPr>
              <a:t>a </a:t>
            </a:r>
            <a:r>
              <a:rPr sz="2700" spc="-15" dirty="0">
                <a:solidFill>
                  <a:srgbClr val="548ED4"/>
                </a:solidFill>
                <a:latin typeface="Calibri"/>
                <a:cs typeface="Calibri"/>
              </a:rPr>
              <a:t>process </a:t>
            </a:r>
            <a:r>
              <a:rPr sz="2700" spc="-10" dirty="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sz="2700" spc="-15" dirty="0">
                <a:solidFill>
                  <a:srgbClr val="548ED4"/>
                </a:solidFill>
                <a:latin typeface="Calibri"/>
                <a:cs typeface="Calibri"/>
              </a:rPr>
              <a:t>request</a:t>
            </a:r>
            <a:r>
              <a:rPr sz="2700" spc="-40" dirty="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sz="2700" spc="-15" dirty="0">
                <a:solidFill>
                  <a:srgbClr val="548ED4"/>
                </a:solidFill>
                <a:latin typeface="Calibri"/>
                <a:cs typeface="Calibri"/>
              </a:rPr>
              <a:t>resource</a:t>
            </a:r>
            <a:r>
              <a:rPr sz="2700" spc="-25" dirty="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548ED4"/>
                </a:solidFill>
                <a:latin typeface="Calibri"/>
                <a:cs typeface="Calibri"/>
              </a:rPr>
              <a:t>that</a:t>
            </a:r>
            <a:r>
              <a:rPr sz="2700" spc="-15" dirty="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548ED4"/>
                </a:solidFill>
                <a:latin typeface="Calibri"/>
                <a:cs typeface="Calibri"/>
              </a:rPr>
              <a:t>is </a:t>
            </a:r>
            <a:r>
              <a:rPr sz="2700" spc="-10" dirty="0">
                <a:solidFill>
                  <a:srgbClr val="548ED4"/>
                </a:solidFill>
                <a:latin typeface="Calibri"/>
                <a:cs typeface="Calibri"/>
              </a:rPr>
              <a:t>currently</a:t>
            </a:r>
            <a:r>
              <a:rPr sz="2700" spc="-15" dirty="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548ED4"/>
                </a:solidFill>
                <a:latin typeface="Calibri"/>
                <a:cs typeface="Calibri"/>
              </a:rPr>
              <a:t>available,</a:t>
            </a:r>
            <a:r>
              <a:rPr sz="2700" spc="-25" dirty="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548ED4"/>
                </a:solidFill>
                <a:latin typeface="Calibri"/>
                <a:cs typeface="Calibri"/>
              </a:rPr>
              <a:t>the</a:t>
            </a:r>
            <a:r>
              <a:rPr sz="2700" spc="-20" dirty="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sz="2700" spc="-25" dirty="0">
                <a:solidFill>
                  <a:srgbClr val="548ED4"/>
                </a:solidFill>
                <a:latin typeface="Calibri"/>
                <a:cs typeface="Calibri"/>
              </a:rPr>
              <a:t>system</a:t>
            </a:r>
            <a:endParaRPr sz="2700" dirty="0">
              <a:latin typeface="Calibri"/>
              <a:cs typeface="Calibri"/>
            </a:endParaRPr>
          </a:p>
          <a:p>
            <a:pPr marL="403225" algn="ctr">
              <a:lnSpc>
                <a:spcPts val="2705"/>
              </a:lnSpc>
            </a:pPr>
            <a:r>
              <a:rPr sz="2700" spc="-10" dirty="0">
                <a:solidFill>
                  <a:srgbClr val="548ED4"/>
                </a:solidFill>
                <a:latin typeface="Calibri"/>
                <a:cs typeface="Calibri"/>
              </a:rPr>
              <a:t>must</a:t>
            </a:r>
            <a:r>
              <a:rPr sz="2700" spc="-20" dirty="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solidFill>
                  <a:srgbClr val="548ED4"/>
                </a:solidFill>
                <a:latin typeface="Calibri"/>
                <a:cs typeface="Calibri"/>
              </a:rPr>
              <a:t>decide</a:t>
            </a:r>
            <a:r>
              <a:rPr sz="2700" spc="-30" dirty="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solidFill>
                  <a:srgbClr val="548ED4"/>
                </a:solidFill>
                <a:latin typeface="Calibri"/>
                <a:cs typeface="Calibri"/>
              </a:rPr>
              <a:t>whether</a:t>
            </a:r>
            <a:r>
              <a:rPr sz="2700" spc="-45" dirty="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548ED4"/>
                </a:solidFill>
                <a:latin typeface="Calibri"/>
                <a:cs typeface="Calibri"/>
              </a:rPr>
              <a:t>the</a:t>
            </a:r>
            <a:r>
              <a:rPr sz="2700" spc="-20" dirty="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sz="2700" spc="-15" dirty="0">
                <a:solidFill>
                  <a:srgbClr val="548ED4"/>
                </a:solidFill>
                <a:latin typeface="Calibri"/>
                <a:cs typeface="Calibri"/>
              </a:rPr>
              <a:t>resource</a:t>
            </a:r>
            <a:r>
              <a:rPr sz="2700" spc="-30" dirty="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548ED4"/>
                </a:solidFill>
                <a:latin typeface="Calibri"/>
                <a:cs typeface="Calibri"/>
              </a:rPr>
              <a:t>can </a:t>
            </a:r>
            <a:r>
              <a:rPr sz="2700" spc="-5" dirty="0">
                <a:solidFill>
                  <a:srgbClr val="548ED4"/>
                </a:solidFill>
                <a:latin typeface="Calibri"/>
                <a:cs typeface="Calibri"/>
              </a:rPr>
              <a:t>be</a:t>
            </a:r>
            <a:r>
              <a:rPr sz="2700" spc="-25" dirty="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548ED4"/>
                </a:solidFill>
                <a:latin typeface="Calibri"/>
                <a:cs typeface="Calibri"/>
              </a:rPr>
              <a:t>allocated</a:t>
            </a:r>
            <a:endParaRPr sz="2700" dirty="0">
              <a:latin typeface="Calibri"/>
              <a:cs typeface="Calibri"/>
            </a:endParaRPr>
          </a:p>
          <a:p>
            <a:pPr marL="403860" algn="ctr">
              <a:lnSpc>
                <a:spcPts val="3080"/>
              </a:lnSpc>
            </a:pPr>
            <a:r>
              <a:rPr sz="2700" spc="-5" dirty="0">
                <a:solidFill>
                  <a:srgbClr val="548ED4"/>
                </a:solidFill>
                <a:latin typeface="Calibri"/>
                <a:cs typeface="Calibri"/>
              </a:rPr>
              <a:t>immediately</a:t>
            </a:r>
            <a:r>
              <a:rPr sz="2700" spc="-40" dirty="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solidFill>
                  <a:srgbClr val="548ED4"/>
                </a:solidFill>
                <a:latin typeface="Calibri"/>
                <a:cs typeface="Calibri"/>
              </a:rPr>
              <a:t>or</a:t>
            </a:r>
            <a:r>
              <a:rPr sz="2700" spc="-10" dirty="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sz="2700" spc="-5" dirty="0">
                <a:solidFill>
                  <a:srgbClr val="548ED4"/>
                </a:solidFill>
                <a:latin typeface="Calibri"/>
                <a:cs typeface="Calibri"/>
              </a:rPr>
              <a:t>whether</a:t>
            </a:r>
            <a:r>
              <a:rPr sz="2700" spc="-35" dirty="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sz="2700" dirty="0">
                <a:solidFill>
                  <a:srgbClr val="548ED4"/>
                </a:solidFill>
                <a:latin typeface="Calibri"/>
                <a:cs typeface="Calibri"/>
              </a:rPr>
              <a:t>the</a:t>
            </a:r>
            <a:r>
              <a:rPr sz="2700" spc="-25" dirty="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sz="2700" spc="-15" dirty="0">
                <a:solidFill>
                  <a:srgbClr val="548ED4"/>
                </a:solidFill>
                <a:latin typeface="Calibri"/>
                <a:cs typeface="Calibri"/>
              </a:rPr>
              <a:t>process</a:t>
            </a:r>
            <a:r>
              <a:rPr sz="2700" spc="-35" dirty="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548ED4"/>
                </a:solidFill>
                <a:latin typeface="Calibri"/>
                <a:cs typeface="Calibri"/>
              </a:rPr>
              <a:t>must</a:t>
            </a:r>
            <a:r>
              <a:rPr sz="2700" spc="-5" dirty="0">
                <a:solidFill>
                  <a:srgbClr val="548ED4"/>
                </a:solidFill>
                <a:latin typeface="Calibri"/>
                <a:cs typeface="Calibri"/>
              </a:rPr>
              <a:t> </a:t>
            </a:r>
            <a:r>
              <a:rPr sz="2700" spc="-10" dirty="0">
                <a:solidFill>
                  <a:srgbClr val="548ED4"/>
                </a:solidFill>
                <a:latin typeface="Calibri"/>
                <a:cs typeface="Calibri"/>
              </a:rPr>
              <a:t>wait.</a:t>
            </a:r>
            <a:endParaRPr sz="2700" dirty="0">
              <a:latin typeface="Calibri"/>
              <a:cs typeface="Calibri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2F850F-D198-47AF-9F8F-4A08258DCA5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l-PL" spc="-105"/>
              <a:t>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11986" y="304800"/>
            <a:ext cx="6725284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3600" b="1" dirty="0"/>
              <a:t>Safe state and Deadlock State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4267200" y="1638300"/>
            <a:ext cx="4379595" cy="2400300"/>
            <a:chOff x="4000500" y="1638300"/>
            <a:chExt cx="4646295" cy="2514600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4038600" y="1676400"/>
              <a:ext cx="4570095" cy="2438400"/>
            </a:xfrm>
            <a:prstGeom prst="rect">
              <a:avLst/>
            </a:prstGeom>
          </p:spPr>
        </p:pic>
        <p:sp>
          <p:nvSpPr>
            <p:cNvPr id="5" name="object 5"/>
            <p:cNvSpPr/>
            <p:nvPr/>
          </p:nvSpPr>
          <p:spPr>
            <a:xfrm>
              <a:off x="4000500" y="1638299"/>
              <a:ext cx="4646295" cy="2514600"/>
            </a:xfrm>
            <a:custGeom>
              <a:avLst/>
              <a:gdLst/>
              <a:ahLst/>
              <a:cxnLst/>
              <a:rect l="l" t="t" r="r" b="b"/>
              <a:pathLst>
                <a:path w="4646295" h="2514600">
                  <a:moveTo>
                    <a:pt x="4620895" y="25400"/>
                  </a:moveTo>
                  <a:lnTo>
                    <a:pt x="4608195" y="25400"/>
                  </a:lnTo>
                  <a:lnTo>
                    <a:pt x="4608195" y="38100"/>
                  </a:lnTo>
                  <a:lnTo>
                    <a:pt x="4608195" y="2476500"/>
                  </a:lnTo>
                  <a:lnTo>
                    <a:pt x="38100" y="2476500"/>
                  </a:lnTo>
                  <a:lnTo>
                    <a:pt x="38100" y="38100"/>
                  </a:lnTo>
                  <a:lnTo>
                    <a:pt x="4608195" y="38100"/>
                  </a:lnTo>
                  <a:lnTo>
                    <a:pt x="4608195" y="25400"/>
                  </a:lnTo>
                  <a:lnTo>
                    <a:pt x="25400" y="25400"/>
                  </a:lnTo>
                  <a:lnTo>
                    <a:pt x="25400" y="38100"/>
                  </a:lnTo>
                  <a:lnTo>
                    <a:pt x="25400" y="2476500"/>
                  </a:lnTo>
                  <a:lnTo>
                    <a:pt x="25400" y="2489200"/>
                  </a:lnTo>
                  <a:lnTo>
                    <a:pt x="4620895" y="2489200"/>
                  </a:lnTo>
                  <a:lnTo>
                    <a:pt x="4620895" y="2476500"/>
                  </a:lnTo>
                  <a:lnTo>
                    <a:pt x="4620895" y="38100"/>
                  </a:lnTo>
                  <a:lnTo>
                    <a:pt x="4620895" y="25400"/>
                  </a:lnTo>
                  <a:close/>
                </a:path>
                <a:path w="4646295" h="2514600">
                  <a:moveTo>
                    <a:pt x="4646295" y="0"/>
                  </a:moveTo>
                  <a:lnTo>
                    <a:pt x="4633595" y="0"/>
                  </a:lnTo>
                  <a:lnTo>
                    <a:pt x="4633595" y="12700"/>
                  </a:lnTo>
                  <a:lnTo>
                    <a:pt x="4633595" y="2501900"/>
                  </a:lnTo>
                  <a:lnTo>
                    <a:pt x="12700" y="2501900"/>
                  </a:lnTo>
                  <a:lnTo>
                    <a:pt x="12700" y="12700"/>
                  </a:lnTo>
                  <a:lnTo>
                    <a:pt x="4633595" y="12700"/>
                  </a:lnTo>
                  <a:lnTo>
                    <a:pt x="4633595" y="0"/>
                  </a:lnTo>
                  <a:lnTo>
                    <a:pt x="0" y="0"/>
                  </a:lnTo>
                  <a:lnTo>
                    <a:pt x="0" y="12700"/>
                  </a:lnTo>
                  <a:lnTo>
                    <a:pt x="0" y="2501900"/>
                  </a:lnTo>
                  <a:lnTo>
                    <a:pt x="0" y="2514600"/>
                  </a:lnTo>
                  <a:lnTo>
                    <a:pt x="4646295" y="2514600"/>
                  </a:lnTo>
                  <a:lnTo>
                    <a:pt x="4646295" y="2501912"/>
                  </a:lnTo>
                  <a:lnTo>
                    <a:pt x="4646295" y="12700"/>
                  </a:lnTo>
                  <a:lnTo>
                    <a:pt x="4646295" y="0"/>
                  </a:lnTo>
                  <a:close/>
                </a:path>
              </a:pathLst>
            </a:custGeom>
            <a:solidFill>
              <a:srgbClr val="CC66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382271" y="1600200"/>
            <a:ext cx="3427729" cy="4293235"/>
          </a:xfrm>
          <a:prstGeom prst="rect">
            <a:avLst/>
          </a:prstGeom>
        </p:spPr>
        <p:txBody>
          <a:bodyPr vert="horz" wrap="square" lIns="0" tIns="9525" rIns="0" bIns="0" rtlCol="0">
            <a:spAutoFit/>
          </a:bodyPr>
          <a:lstStyle/>
          <a:p>
            <a:pPr marL="12700" marR="187960">
              <a:lnSpc>
                <a:spcPct val="100699"/>
              </a:lnSpc>
              <a:spcBef>
                <a:spcPts val="75"/>
              </a:spcBef>
              <a:buSzPct val="96428"/>
              <a:buFont typeface="Arial MT"/>
              <a:buChar char="•"/>
              <a:tabLst>
                <a:tab pos="137795" algn="l"/>
              </a:tabLst>
            </a:pPr>
            <a:r>
              <a:rPr sz="2800" spc="-5" dirty="0">
                <a:latin typeface="Calibri"/>
                <a:cs typeface="Calibri"/>
              </a:rPr>
              <a:t>If a </a:t>
            </a:r>
            <a:r>
              <a:rPr sz="2800" spc="-25" dirty="0">
                <a:latin typeface="Calibri"/>
                <a:cs typeface="Calibri"/>
              </a:rPr>
              <a:t>system </a:t>
            </a:r>
            <a:r>
              <a:rPr sz="2800" spc="-5" dirty="0">
                <a:latin typeface="Calibri"/>
                <a:cs typeface="Calibri"/>
              </a:rPr>
              <a:t>is in a </a:t>
            </a:r>
            <a:r>
              <a:rPr sz="2800" spc="-25" dirty="0">
                <a:latin typeface="Calibri"/>
                <a:cs typeface="Calibri"/>
              </a:rPr>
              <a:t>safe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state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5" dirty="0">
                <a:latin typeface="Cambria Math"/>
                <a:cs typeface="Cambria Math"/>
              </a:rPr>
              <a:t>⇒</a:t>
            </a:r>
            <a:r>
              <a:rPr sz="2800" spc="-5" dirty="0">
                <a:latin typeface="Calibri"/>
                <a:cs typeface="Calibri"/>
              </a:rPr>
              <a:t>No</a:t>
            </a:r>
            <a:r>
              <a:rPr sz="2800" spc="-10" dirty="0">
                <a:latin typeface="Calibri"/>
                <a:cs typeface="Calibri"/>
              </a:rPr>
              <a:t> deadlocks.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 MT"/>
              <a:buChar char="•"/>
            </a:pPr>
            <a:endParaRPr sz="2700" dirty="0">
              <a:latin typeface="Calibri"/>
              <a:cs typeface="Calibri"/>
            </a:endParaRPr>
          </a:p>
          <a:p>
            <a:pPr marL="12700" marR="67310">
              <a:lnSpc>
                <a:spcPct val="100000"/>
              </a:lnSpc>
              <a:buSzPct val="96428"/>
              <a:buFont typeface="Arial MT"/>
              <a:buChar char="•"/>
              <a:tabLst>
                <a:tab pos="137795" algn="l"/>
              </a:tabLst>
            </a:pPr>
            <a:r>
              <a:rPr sz="2800" spc="-5" dirty="0">
                <a:latin typeface="Calibri"/>
                <a:cs typeface="Calibri"/>
              </a:rPr>
              <a:t>If a </a:t>
            </a:r>
            <a:r>
              <a:rPr sz="2800" spc="-25" dirty="0">
                <a:latin typeface="Calibri"/>
                <a:cs typeface="Calibri"/>
              </a:rPr>
              <a:t>system </a:t>
            </a:r>
            <a:r>
              <a:rPr sz="2800" spc="-5" dirty="0">
                <a:latin typeface="Calibri"/>
                <a:cs typeface="Calibri"/>
              </a:rPr>
              <a:t>is in </a:t>
            </a:r>
            <a:r>
              <a:rPr sz="2800" spc="-20" dirty="0">
                <a:latin typeface="Calibri"/>
                <a:cs typeface="Calibri"/>
              </a:rPr>
              <a:t>unsafe </a:t>
            </a:r>
            <a:r>
              <a:rPr sz="2800" spc="-625" dirty="0">
                <a:latin typeface="Calibri"/>
                <a:cs typeface="Calibri"/>
              </a:rPr>
              <a:t> </a:t>
            </a:r>
            <a:r>
              <a:rPr sz="2800" spc="-30" dirty="0">
                <a:latin typeface="Calibri"/>
                <a:cs typeface="Calibri"/>
              </a:rPr>
              <a:t>state</a:t>
            </a:r>
            <a:r>
              <a:rPr sz="2800" spc="-15" dirty="0">
                <a:latin typeface="Calibri"/>
                <a:cs typeface="Calibri"/>
              </a:rPr>
              <a:t> </a:t>
            </a:r>
            <a:r>
              <a:rPr sz="2800" spc="-15" dirty="0">
                <a:latin typeface="Cambria Math"/>
                <a:cs typeface="Cambria Math"/>
              </a:rPr>
              <a:t>⇒</a:t>
            </a:r>
            <a:r>
              <a:rPr sz="2800" spc="-15" dirty="0">
                <a:latin typeface="Calibri"/>
                <a:cs typeface="Calibri"/>
              </a:rPr>
              <a:t>Possibility</a:t>
            </a:r>
            <a:r>
              <a:rPr sz="2800" spc="3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of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deadlock.</a:t>
            </a:r>
            <a:endParaRPr sz="28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40"/>
              </a:spcBef>
              <a:buFont typeface="Arial MT"/>
              <a:buChar char="•"/>
            </a:pPr>
            <a:endParaRPr sz="2750" dirty="0">
              <a:latin typeface="Calibri"/>
              <a:cs typeface="Calibri"/>
            </a:endParaRPr>
          </a:p>
          <a:p>
            <a:pPr marL="12700" marR="5080">
              <a:lnSpc>
                <a:spcPct val="99700"/>
              </a:lnSpc>
              <a:buSzPct val="96428"/>
              <a:buFont typeface="Arial MT"/>
              <a:buChar char="•"/>
              <a:tabLst>
                <a:tab pos="137795" algn="l"/>
              </a:tabLst>
            </a:pPr>
            <a:r>
              <a:rPr sz="2800" spc="-15" dirty="0">
                <a:latin typeface="Calibri"/>
                <a:cs typeface="Calibri"/>
              </a:rPr>
              <a:t>Avoidance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mbria Math"/>
                <a:cs typeface="Cambria Math"/>
              </a:rPr>
              <a:t>⇒</a:t>
            </a:r>
            <a:r>
              <a:rPr sz="2800" spc="-10" dirty="0">
                <a:latin typeface="Calibri"/>
                <a:cs typeface="Calibri"/>
              </a:rPr>
              <a:t>ensure </a:t>
            </a:r>
            <a:r>
              <a:rPr sz="2800" spc="-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that </a:t>
            </a:r>
            <a:r>
              <a:rPr sz="2800" spc="-5" dirty="0">
                <a:latin typeface="Calibri"/>
                <a:cs typeface="Calibri"/>
              </a:rPr>
              <a:t>a </a:t>
            </a:r>
            <a:r>
              <a:rPr sz="2800" spc="-30" dirty="0">
                <a:latin typeface="Calibri"/>
                <a:cs typeface="Calibri"/>
              </a:rPr>
              <a:t>system </a:t>
            </a:r>
            <a:r>
              <a:rPr sz="2800" spc="-5" dirty="0">
                <a:latin typeface="Calibri"/>
                <a:cs typeface="Calibri"/>
              </a:rPr>
              <a:t>will </a:t>
            </a:r>
            <a:r>
              <a:rPr sz="2800" spc="-15" dirty="0">
                <a:latin typeface="Calibri"/>
                <a:cs typeface="Calibri"/>
              </a:rPr>
              <a:t>never </a:t>
            </a:r>
            <a:r>
              <a:rPr sz="2800" spc="-62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reach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spc="-5" dirty="0">
                <a:latin typeface="Calibri"/>
                <a:cs typeface="Calibri"/>
              </a:rPr>
              <a:t>an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unsafe</a:t>
            </a:r>
            <a:r>
              <a:rPr sz="2800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state.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6E9E21DA-CFC2-450E-B152-5F0A5252CD6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l-PL" spc="-105"/>
              <a:t>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3600" b="1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3738"/>
            <a:ext cx="7771765" cy="19284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state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said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be </a:t>
            </a:r>
            <a:r>
              <a:rPr sz="2400" spc="-25" dirty="0">
                <a:latin typeface="Calibri"/>
                <a:cs typeface="Calibri"/>
              </a:rPr>
              <a:t>safe</a:t>
            </a:r>
            <a:r>
              <a:rPr sz="2400" dirty="0">
                <a:latin typeface="Calibri"/>
                <a:cs typeface="Calibri"/>
              </a:rPr>
              <a:t> if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not</a:t>
            </a:r>
            <a:r>
              <a:rPr sz="2400" spc="-15" dirty="0">
                <a:latin typeface="Calibri"/>
                <a:cs typeface="Calibri"/>
              </a:rPr>
              <a:t> deadlocked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10" dirty="0">
                <a:latin typeface="Calibri"/>
                <a:cs typeface="Calibri"/>
              </a:rPr>
              <a:t>there</a:t>
            </a:r>
            <a:r>
              <a:rPr sz="2400" dirty="0">
                <a:latin typeface="Calibri"/>
                <a:cs typeface="Calibri"/>
              </a:rPr>
              <a:t> is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some scheduling </a:t>
            </a:r>
            <a:r>
              <a:rPr sz="2400" spc="-15" dirty="0">
                <a:latin typeface="Calibri"/>
                <a:cs typeface="Calibri"/>
              </a:rPr>
              <a:t>order </a:t>
            </a:r>
            <a:r>
              <a:rPr sz="2400" dirty="0">
                <a:latin typeface="Calibri"/>
                <a:cs typeface="Calibri"/>
              </a:rPr>
              <a:t>in which </a:t>
            </a:r>
            <a:r>
              <a:rPr sz="2400" spc="-5" dirty="0">
                <a:latin typeface="Calibri"/>
                <a:cs typeface="Calibri"/>
              </a:rPr>
              <a:t>every </a:t>
            </a:r>
            <a:r>
              <a:rPr sz="2400" spc="-10" dirty="0">
                <a:latin typeface="Calibri"/>
                <a:cs typeface="Calibri"/>
              </a:rPr>
              <a:t>process can </a:t>
            </a:r>
            <a:r>
              <a:rPr sz="2400" dirty="0">
                <a:latin typeface="Calibri"/>
                <a:cs typeface="Calibri"/>
              </a:rPr>
              <a:t>run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completion.</a:t>
            </a:r>
            <a:endParaRPr sz="2400">
              <a:latin typeface="Calibri"/>
              <a:cs typeface="Calibri"/>
            </a:endParaRPr>
          </a:p>
          <a:p>
            <a:pPr marL="355600" marR="371475" indent="-342900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114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illustrate,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we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consider</a:t>
            </a:r>
            <a:r>
              <a:rPr sz="2400" dirty="0">
                <a:latin typeface="Calibri"/>
                <a:cs typeface="Calibri"/>
              </a:rPr>
              <a:t> a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system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5" dirty="0">
                <a:latin typeface="Calibri"/>
                <a:cs typeface="Calibri"/>
              </a:rPr>
              <a:t> 12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magnetic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tape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drives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three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processes: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5345379"/>
            <a:ext cx="454088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Thus,</a:t>
            </a:r>
            <a:r>
              <a:rPr sz="2400" spc="-10" dirty="0">
                <a:latin typeface="Calibri"/>
                <a:cs typeface="Calibri"/>
              </a:rPr>
              <a:t> there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are</a:t>
            </a:r>
            <a:r>
              <a:rPr sz="2400" dirty="0">
                <a:latin typeface="Calibri"/>
                <a:cs typeface="Calibri"/>
              </a:rPr>
              <a:t> 3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free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tape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drives.</a:t>
            </a:r>
            <a:endParaRPr sz="2400">
              <a:latin typeface="Calibri"/>
              <a:cs typeface="Calibri"/>
            </a:endParaRP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77168065"/>
              </p:ext>
            </p:extLst>
          </p:nvPr>
        </p:nvGraphicFramePr>
        <p:xfrm>
          <a:off x="1373822" y="3709429"/>
          <a:ext cx="6096000" cy="1478278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91440" algn="l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Process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Max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Has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 algn="l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 algn="l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245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11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 algn="l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 algn="l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 algn="l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E24F011B-C8B6-481E-86D2-3C07B03D05BC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l-PL" spc="-105"/>
              <a:t>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79470" y="304800"/>
            <a:ext cx="238633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3600" b="1" dirty="0"/>
              <a:t>Continued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485140" y="1371600"/>
            <a:ext cx="8043545" cy="2733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06400" indent="-342900" algn="just">
              <a:lnSpc>
                <a:spcPct val="100000"/>
              </a:lnSpc>
              <a:spcBef>
                <a:spcPts val="100"/>
              </a:spcBef>
              <a:buFont typeface="Arial MT"/>
              <a:buChar char="•"/>
              <a:tabLst>
                <a:tab pos="405765" algn="l"/>
                <a:tab pos="406400" algn="l"/>
              </a:tabLst>
            </a:pPr>
            <a:r>
              <a:rPr sz="2400" spc="-30" dirty="0">
                <a:latin typeface="Calibri"/>
                <a:cs typeface="Calibri"/>
              </a:rPr>
              <a:t>At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</a:t>
            </a:r>
            <a:r>
              <a:rPr sz="2400" spc="-7" baseline="-20833" dirty="0">
                <a:latin typeface="Calibri"/>
                <a:cs typeface="Calibri"/>
              </a:rPr>
              <a:t>0</a:t>
            </a:r>
            <a:r>
              <a:rPr sz="2400" spc="-5" dirty="0">
                <a:latin typeface="Calibri"/>
                <a:cs typeface="Calibri"/>
              </a:rPr>
              <a:t>,</a:t>
            </a:r>
            <a:r>
              <a:rPr sz="2400" dirty="0">
                <a:latin typeface="Calibri"/>
                <a:cs typeface="Calibri"/>
              </a:rPr>
              <a:t> the </a:t>
            </a:r>
            <a:r>
              <a:rPr sz="2400" spc="-25" dirty="0">
                <a:latin typeface="Calibri"/>
                <a:cs typeface="Calibri"/>
              </a:rPr>
              <a:t>system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5" dirty="0">
                <a:latin typeface="Calibri"/>
                <a:cs typeface="Calibri"/>
              </a:rPr>
              <a:t>in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25" dirty="0">
                <a:latin typeface="Calibri"/>
                <a:cs typeface="Calibri"/>
              </a:rPr>
              <a:t>safe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state.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sequence</a:t>
            </a:r>
            <a:endParaRPr sz="2400" dirty="0">
              <a:latin typeface="Calibri"/>
              <a:cs typeface="Calibri"/>
            </a:endParaRPr>
          </a:p>
          <a:p>
            <a:pPr marL="406400" algn="just">
              <a:lnSpc>
                <a:spcPct val="100000"/>
              </a:lnSpc>
            </a:pPr>
            <a:r>
              <a:rPr sz="2400" b="1" spc="-5" dirty="0">
                <a:solidFill>
                  <a:srgbClr val="00B050"/>
                </a:solidFill>
                <a:latin typeface="Calibri"/>
                <a:cs typeface="Calibri"/>
              </a:rPr>
              <a:t>&lt;p2,p1,p3&gt;</a:t>
            </a:r>
            <a:r>
              <a:rPr sz="2400" b="1" spc="-1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satisfies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safety</a:t>
            </a:r>
            <a:r>
              <a:rPr sz="2400" spc="-10" dirty="0">
                <a:latin typeface="Calibri"/>
                <a:cs typeface="Calibri"/>
              </a:rPr>
              <a:t> condition.</a:t>
            </a:r>
            <a:endParaRPr sz="2400" dirty="0">
              <a:latin typeface="Calibri"/>
              <a:cs typeface="Calibri"/>
            </a:endParaRPr>
          </a:p>
          <a:p>
            <a:pPr marL="406400" marR="68580" indent="-342900" algn="just">
              <a:lnSpc>
                <a:spcPct val="100000"/>
              </a:lnSpc>
              <a:spcBef>
                <a:spcPts val="575"/>
              </a:spcBef>
              <a:buFont typeface="Arial MT"/>
              <a:buChar char="•"/>
              <a:tabLst>
                <a:tab pos="405765" algn="l"/>
                <a:tab pos="406400" algn="l"/>
              </a:tabLst>
            </a:pP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system</a:t>
            </a:r>
            <a:r>
              <a:rPr sz="2400" spc="-10" dirty="0">
                <a:latin typeface="Calibri"/>
                <a:cs typeface="Calibri"/>
              </a:rPr>
              <a:t> can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from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safe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state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unsafe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state.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Suppose </a:t>
            </a:r>
            <a:r>
              <a:rPr sz="2400" spc="-5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that, </a:t>
            </a:r>
            <a:r>
              <a:rPr sz="2400" spc="-15" dirty="0">
                <a:latin typeface="Calibri"/>
                <a:cs typeface="Calibri"/>
              </a:rPr>
              <a:t>at </a:t>
            </a:r>
            <a:r>
              <a:rPr sz="2400" dirty="0">
                <a:latin typeface="Calibri"/>
                <a:cs typeface="Calibri"/>
              </a:rPr>
              <a:t>time t1 , </a:t>
            </a:r>
            <a:r>
              <a:rPr sz="2400" spc="-10" dirty="0">
                <a:latin typeface="Calibri"/>
                <a:cs typeface="Calibri"/>
              </a:rPr>
              <a:t>process </a:t>
            </a:r>
            <a:r>
              <a:rPr sz="2400" spc="-5" dirty="0">
                <a:latin typeface="Calibri"/>
                <a:cs typeface="Calibri"/>
              </a:rPr>
              <a:t>p3 </a:t>
            </a:r>
            <a:r>
              <a:rPr sz="2400" spc="-10" dirty="0">
                <a:latin typeface="Calibri"/>
                <a:cs typeface="Calibri"/>
              </a:rPr>
              <a:t>requests </a:t>
            </a:r>
            <a:r>
              <a:rPr sz="2400" dirty="0">
                <a:latin typeface="Calibri"/>
                <a:cs typeface="Calibri"/>
              </a:rPr>
              <a:t>and is </a:t>
            </a:r>
            <a:r>
              <a:rPr sz="2400" spc="-10" dirty="0">
                <a:latin typeface="Calibri"/>
                <a:cs typeface="Calibri"/>
              </a:rPr>
              <a:t>allocated </a:t>
            </a:r>
            <a:r>
              <a:rPr sz="2400" spc="-5" dirty="0">
                <a:latin typeface="Calibri"/>
                <a:cs typeface="Calibri"/>
              </a:rPr>
              <a:t>one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more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tape drive.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The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system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 longer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 a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safe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state.</a:t>
            </a:r>
            <a:endParaRPr sz="2400" dirty="0">
              <a:latin typeface="Calibri"/>
              <a:cs typeface="Calibri"/>
            </a:endParaRPr>
          </a:p>
          <a:p>
            <a:pPr marL="406400" marR="229870" indent="-342900" algn="just">
              <a:lnSpc>
                <a:spcPct val="100000"/>
              </a:lnSpc>
              <a:spcBef>
                <a:spcPts val="580"/>
              </a:spcBef>
              <a:buFont typeface="Arial MT"/>
              <a:buChar char="•"/>
              <a:tabLst>
                <a:tab pos="405765" algn="l"/>
                <a:tab pos="406400" algn="l"/>
              </a:tabLst>
            </a:pPr>
            <a:r>
              <a:rPr sz="2400" spc="-5" dirty="0">
                <a:latin typeface="Calibri"/>
                <a:cs typeface="Calibri"/>
              </a:rPr>
              <a:t>Our </a:t>
            </a:r>
            <a:r>
              <a:rPr sz="2400" spc="-20" dirty="0">
                <a:latin typeface="Calibri"/>
                <a:cs typeface="Calibri"/>
              </a:rPr>
              <a:t>mistake </a:t>
            </a:r>
            <a:r>
              <a:rPr sz="2400" spc="-10" dirty="0">
                <a:latin typeface="Calibri"/>
                <a:cs typeface="Calibri"/>
              </a:rPr>
              <a:t>was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-10" dirty="0">
                <a:latin typeface="Calibri"/>
                <a:cs typeface="Calibri"/>
              </a:rPr>
              <a:t>granting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request </a:t>
            </a:r>
            <a:r>
              <a:rPr sz="2400" spc="-15" dirty="0">
                <a:latin typeface="Calibri"/>
                <a:cs typeface="Calibri"/>
              </a:rPr>
              <a:t>from </a:t>
            </a:r>
            <a:r>
              <a:rPr sz="2400" spc="-10" dirty="0">
                <a:latin typeface="Calibri"/>
                <a:cs typeface="Calibri"/>
              </a:rPr>
              <a:t>process </a:t>
            </a:r>
            <a:r>
              <a:rPr sz="2400" spc="-5" dirty="0">
                <a:latin typeface="Calibri"/>
                <a:cs typeface="Calibri"/>
              </a:rPr>
              <a:t>p3 </a:t>
            </a:r>
            <a:r>
              <a:rPr sz="2400" spc="-20" dirty="0">
                <a:latin typeface="Calibri"/>
                <a:cs typeface="Calibri"/>
              </a:rPr>
              <a:t>for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more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tape drive.</a:t>
            </a:r>
            <a:endParaRPr sz="24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3371094"/>
              </p:ext>
            </p:extLst>
          </p:nvPr>
        </p:nvGraphicFramePr>
        <p:xfrm>
          <a:off x="1371600" y="4419600"/>
          <a:ext cx="6096000" cy="1478279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3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3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6576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5" dirty="0">
                          <a:latin typeface="Calibri"/>
                          <a:cs typeface="Calibri"/>
                        </a:rPr>
                        <a:t>Processes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spc="-10" dirty="0">
                          <a:latin typeface="Calibri"/>
                          <a:cs typeface="Calibri"/>
                        </a:rPr>
                        <a:t>Max.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b="1" dirty="0">
                          <a:latin typeface="Calibri"/>
                          <a:cs typeface="Calibri"/>
                        </a:rPr>
                        <a:t>Has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39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P1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5" dirty="0">
                          <a:latin typeface="Calibri"/>
                          <a:cs typeface="Calibri"/>
                        </a:rPr>
                        <a:t>10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5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P2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4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</a:t>
                      </a: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spc="-10" dirty="0">
                          <a:latin typeface="Calibri"/>
                          <a:cs typeface="Calibri"/>
                        </a:rPr>
                        <a:t>P3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1440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9</a:t>
                      </a:r>
                      <a:endParaRPr sz="1800">
                        <a:latin typeface="Calibri"/>
                        <a:cs typeface="Calibri"/>
                      </a:endParaRP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2075">
                        <a:lnSpc>
                          <a:spcPct val="100000"/>
                        </a:lnSpc>
                        <a:spcBef>
                          <a:spcPts val="250"/>
                        </a:spcBef>
                      </a:pPr>
                      <a:r>
                        <a:rPr sz="1800" dirty="0">
                          <a:latin typeface="Calibri"/>
                          <a:cs typeface="Calibri"/>
                        </a:rPr>
                        <a:t>2+1</a:t>
                      </a:r>
                    </a:p>
                  </a:txBody>
                  <a:tcPr marL="0" marR="0" marT="317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D2AB3F49-D9F2-4966-B106-B916E3578AD8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l-PL" spc="-105"/>
              <a:t>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81452" y="252806"/>
            <a:ext cx="4180840" cy="63500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3600" b="1" dirty="0"/>
              <a:t>Deadlock Avoidance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065726"/>
            <a:ext cx="8074660" cy="4877874"/>
          </a:xfrm>
          <a:prstGeom prst="rect">
            <a:avLst/>
          </a:prstGeom>
        </p:spPr>
        <p:txBody>
          <a:bodyPr vert="horz" wrap="square" lIns="0" tIns="226695" rIns="0" bIns="0" rtlCol="0">
            <a:spAutoFit/>
          </a:bodyPr>
          <a:lstStyle/>
          <a:p>
            <a:pPr marL="219710" algn="ctr">
              <a:lnSpc>
                <a:spcPct val="100000"/>
              </a:lnSpc>
              <a:spcBef>
                <a:spcPts val="1785"/>
              </a:spcBef>
            </a:pPr>
            <a:r>
              <a:rPr sz="2800" b="1" spc="-25" dirty="0">
                <a:solidFill>
                  <a:srgbClr val="00B050"/>
                </a:solidFill>
                <a:latin typeface="Calibri"/>
                <a:cs typeface="Calibri"/>
              </a:rPr>
              <a:t>Banker’s</a:t>
            </a:r>
            <a:r>
              <a:rPr sz="2800" b="1" spc="-40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00B050"/>
                </a:solidFill>
                <a:latin typeface="Calibri"/>
                <a:cs typeface="Calibri"/>
              </a:rPr>
              <a:t>Algorithm</a:t>
            </a:r>
            <a:endParaRPr sz="2800" b="1" dirty="0">
              <a:solidFill>
                <a:srgbClr val="00B050"/>
              </a:solidFill>
              <a:latin typeface="Calibri"/>
              <a:cs typeface="Calibri"/>
            </a:endParaRPr>
          </a:p>
          <a:p>
            <a:pPr marL="355600" marR="75565" indent="-342900" algn="just">
              <a:lnSpc>
                <a:spcPct val="80000"/>
              </a:lnSpc>
              <a:spcBef>
                <a:spcPts val="207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Models </a:t>
            </a:r>
            <a:r>
              <a:rPr sz="2400" spc="-5" dirty="0">
                <a:latin typeface="Calibri"/>
                <a:cs typeface="Calibri"/>
              </a:rPr>
              <a:t>on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30" dirty="0">
                <a:latin typeface="Calibri"/>
                <a:cs typeface="Calibri"/>
              </a:rPr>
              <a:t>way </a:t>
            </a:r>
            <a:r>
              <a:rPr sz="2400" spc="-5" dirty="0">
                <a:latin typeface="Calibri"/>
                <a:cs typeface="Calibri"/>
              </a:rPr>
              <a:t>of banking </a:t>
            </a:r>
            <a:r>
              <a:rPr sz="2400" spc="-25" dirty="0">
                <a:latin typeface="Calibri"/>
                <a:cs typeface="Calibri"/>
              </a:rPr>
              <a:t>system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10" dirty="0">
                <a:latin typeface="Calibri"/>
                <a:cs typeface="Calibri"/>
              </a:rPr>
              <a:t>ensure that 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bank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never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allocates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available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cash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such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that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 </a:t>
            </a:r>
            <a:r>
              <a:rPr sz="2400" spc="-59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can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longer </a:t>
            </a:r>
            <a:r>
              <a:rPr sz="2400" spc="-10" dirty="0">
                <a:latin typeface="Calibri"/>
                <a:cs typeface="Calibri"/>
              </a:rPr>
              <a:t>satisfy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needs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of</a:t>
            </a:r>
            <a:r>
              <a:rPr sz="2400" dirty="0">
                <a:latin typeface="Calibri"/>
                <a:cs typeface="Calibri"/>
              </a:rPr>
              <a:t> all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customers.</a:t>
            </a:r>
            <a:endParaRPr sz="2400" dirty="0">
              <a:latin typeface="Calibri"/>
              <a:cs typeface="Calibri"/>
            </a:endParaRPr>
          </a:p>
          <a:p>
            <a:pPr algn="just">
              <a:lnSpc>
                <a:spcPct val="100000"/>
              </a:lnSpc>
              <a:spcBef>
                <a:spcPts val="45"/>
              </a:spcBef>
              <a:buFont typeface="Arial MT"/>
              <a:buChar char="•"/>
            </a:pPr>
            <a:endParaRPr sz="2800" dirty="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8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Calibri"/>
                <a:cs typeface="Calibri"/>
              </a:rPr>
              <a:t>When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5" dirty="0">
                <a:latin typeface="Calibri"/>
                <a:cs typeface="Calibri"/>
              </a:rPr>
              <a:t>process request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set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spc="-10" dirty="0">
                <a:latin typeface="Calibri"/>
                <a:cs typeface="Calibri"/>
              </a:rPr>
              <a:t>resources,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system </a:t>
            </a:r>
            <a:r>
              <a:rPr sz="2400" spc="-10" dirty="0">
                <a:latin typeface="Calibri"/>
                <a:cs typeface="Calibri"/>
              </a:rPr>
              <a:t>determine </a:t>
            </a:r>
            <a:r>
              <a:rPr sz="2400" spc="-5" dirty="0">
                <a:latin typeface="Calibri"/>
                <a:cs typeface="Calibri"/>
              </a:rPr>
              <a:t>whether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allocation of </a:t>
            </a:r>
            <a:r>
              <a:rPr sz="2400" dirty="0">
                <a:latin typeface="Calibri"/>
                <a:cs typeface="Calibri"/>
              </a:rPr>
              <a:t>these 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resources </a:t>
            </a:r>
            <a:r>
              <a:rPr sz="2400" dirty="0">
                <a:latin typeface="Calibri"/>
                <a:cs typeface="Calibri"/>
              </a:rPr>
              <a:t>will </a:t>
            </a:r>
            <a:r>
              <a:rPr sz="2400" spc="-10" dirty="0">
                <a:latin typeface="Calibri"/>
                <a:cs typeface="Calibri"/>
              </a:rPr>
              <a:t>left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25" dirty="0">
                <a:latin typeface="Calibri"/>
                <a:cs typeface="Calibri"/>
              </a:rPr>
              <a:t>system </a:t>
            </a:r>
            <a:r>
              <a:rPr sz="2400" dirty="0">
                <a:latin typeface="Calibri"/>
                <a:cs typeface="Calibri"/>
              </a:rPr>
              <a:t>in </a:t>
            </a:r>
            <a:r>
              <a:rPr sz="2400" spc="-25" dirty="0">
                <a:latin typeface="Calibri"/>
                <a:cs typeface="Calibri"/>
              </a:rPr>
              <a:t>safe state, </a:t>
            </a:r>
            <a:r>
              <a:rPr sz="2400" dirty="0">
                <a:latin typeface="Calibri"/>
                <a:cs typeface="Calibri"/>
              </a:rPr>
              <a:t>if </a:t>
            </a:r>
            <a:r>
              <a:rPr lang="en-IN" sz="2400" dirty="0">
                <a:latin typeface="Calibri"/>
                <a:cs typeface="Calibri"/>
              </a:rPr>
              <a:t>it will allocate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6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resources, </a:t>
            </a:r>
            <a:r>
              <a:rPr sz="2400" spc="-5" dirty="0">
                <a:latin typeface="Calibri"/>
                <a:cs typeface="Calibri"/>
              </a:rPr>
              <a:t>otherwise </a:t>
            </a:r>
            <a:r>
              <a:rPr sz="2400" spc="-15" dirty="0">
                <a:latin typeface="Calibri"/>
                <a:cs typeface="Calibri"/>
              </a:rPr>
              <a:t>process </a:t>
            </a:r>
            <a:r>
              <a:rPr sz="2400" spc="-10" dirty="0">
                <a:latin typeface="Calibri"/>
                <a:cs typeface="Calibri"/>
              </a:rPr>
              <a:t>must wait 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until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some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other </a:t>
            </a:r>
            <a:r>
              <a:rPr sz="2400" spc="-15" dirty="0">
                <a:latin typeface="Calibri"/>
                <a:cs typeface="Calibri"/>
              </a:rPr>
              <a:t>process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release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enough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resources.</a:t>
            </a:r>
            <a:endParaRPr sz="2400" dirty="0">
              <a:latin typeface="Calibri"/>
              <a:cs typeface="Calibri"/>
            </a:endParaRPr>
          </a:p>
          <a:p>
            <a:pPr algn="just">
              <a:lnSpc>
                <a:spcPct val="100000"/>
              </a:lnSpc>
              <a:spcBef>
                <a:spcPts val="5"/>
              </a:spcBef>
              <a:buFont typeface="Arial MT"/>
              <a:buChar char="•"/>
            </a:pPr>
            <a:endParaRPr sz="2400" dirty="0">
              <a:latin typeface="Calibri"/>
              <a:cs typeface="Calibri"/>
            </a:endParaRPr>
          </a:p>
          <a:p>
            <a:pPr marL="355600" indent="-342900" algn="just">
              <a:lnSpc>
                <a:spcPct val="10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400" spc="-20" dirty="0">
                <a:latin typeface="Calibri"/>
                <a:cs typeface="Calibri"/>
              </a:rPr>
              <a:t>Data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structures: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Available,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Max, </a:t>
            </a:r>
            <a:r>
              <a:rPr sz="2400" spc="-5" dirty="0">
                <a:latin typeface="Calibri"/>
                <a:cs typeface="Calibri"/>
              </a:rPr>
              <a:t>Allocation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&amp;</a:t>
            </a:r>
            <a:r>
              <a:rPr sz="2400" spc="-5" dirty="0">
                <a:latin typeface="Calibri"/>
                <a:cs typeface="Calibri"/>
              </a:rPr>
              <a:t> Need.</a:t>
            </a:r>
            <a:endParaRPr sz="2400" dirty="0">
              <a:latin typeface="Calibri"/>
              <a:cs typeface="Calibri"/>
            </a:endParaRPr>
          </a:p>
          <a:p>
            <a:pPr marL="605790" algn="just">
              <a:lnSpc>
                <a:spcPct val="100000"/>
              </a:lnSpc>
              <a:spcBef>
                <a:spcPts val="15"/>
              </a:spcBef>
            </a:pPr>
            <a:r>
              <a:rPr sz="2000" spc="-5" dirty="0">
                <a:latin typeface="Calibri"/>
                <a:cs typeface="Calibri"/>
              </a:rPr>
              <a:t>need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=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max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–allocation.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A5AA654-8112-4C6B-92C7-2F7E8FB3A53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l-PL" spc="-105"/>
              <a:t>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5252" y="228600"/>
            <a:ext cx="4333875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3600" b="1" dirty="0"/>
              <a:t>Banker’s 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307340" y="1371600"/>
            <a:ext cx="8345170" cy="46869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469900" indent="-457200" algn="just">
              <a:lnSpc>
                <a:spcPts val="2510"/>
              </a:lnSpc>
              <a:spcBef>
                <a:spcPts val="95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200" spc="-5" dirty="0">
                <a:latin typeface="Calibri"/>
                <a:cs typeface="Calibri"/>
              </a:rPr>
              <a:t>If a</a:t>
            </a:r>
            <a:r>
              <a:rPr sz="2200" spc="-10" dirty="0">
                <a:latin typeface="Calibri"/>
                <a:cs typeface="Calibri"/>
              </a:rPr>
              <a:t> process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requesting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more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resource</a:t>
            </a:r>
            <a:r>
              <a:rPr sz="2200" spc="-5" dirty="0">
                <a:latin typeface="Calibri"/>
                <a:cs typeface="Calibri"/>
              </a:rPr>
              <a:t> than its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need,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then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raise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</a:t>
            </a:r>
            <a:endParaRPr sz="2200" dirty="0">
              <a:latin typeface="Calibri"/>
              <a:cs typeface="Calibri"/>
            </a:endParaRPr>
          </a:p>
          <a:p>
            <a:pPr marL="469900" algn="just">
              <a:lnSpc>
                <a:spcPts val="2510"/>
              </a:lnSpc>
            </a:pPr>
            <a:r>
              <a:rPr sz="2200" spc="-10" dirty="0">
                <a:latin typeface="Calibri"/>
                <a:cs typeface="Calibri"/>
              </a:rPr>
              <a:t>error</a:t>
            </a:r>
            <a:endParaRPr sz="2200" dirty="0">
              <a:latin typeface="Calibri"/>
              <a:cs typeface="Calibri"/>
            </a:endParaRPr>
          </a:p>
          <a:p>
            <a:pPr marL="469900" marR="69850" indent="-457200" algn="just">
              <a:lnSpc>
                <a:spcPts val="2380"/>
              </a:lnSpc>
              <a:spcBef>
                <a:spcPts val="560"/>
              </a:spcBef>
              <a:buAutoNum type="arabicPeriod" startAt="2"/>
              <a:tabLst>
                <a:tab pos="469265" algn="l"/>
                <a:tab pos="469900" algn="l"/>
              </a:tabLst>
            </a:pPr>
            <a:r>
              <a:rPr sz="2200" spc="-5" dirty="0">
                <a:latin typeface="Calibri"/>
                <a:cs typeface="Calibri"/>
              </a:rPr>
              <a:t>If </a:t>
            </a:r>
            <a:r>
              <a:rPr sz="2200" spc="-10" dirty="0">
                <a:latin typeface="Calibri"/>
                <a:cs typeface="Calibri"/>
              </a:rPr>
              <a:t>request</a:t>
            </a:r>
            <a:r>
              <a:rPr sz="2200" spc="-5" dirty="0">
                <a:latin typeface="Calibri"/>
                <a:cs typeface="Calibri"/>
              </a:rPr>
              <a:t> is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valid,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number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of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resources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requested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compared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to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-10" dirty="0">
                <a:latin typeface="Calibri"/>
                <a:cs typeface="Calibri"/>
              </a:rPr>
              <a:t> number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available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resources.</a:t>
            </a:r>
            <a:endParaRPr sz="2200" dirty="0">
              <a:latin typeface="Calibri"/>
              <a:cs typeface="Calibri"/>
            </a:endParaRPr>
          </a:p>
          <a:p>
            <a:pPr marL="469900" indent="-457200" algn="just">
              <a:lnSpc>
                <a:spcPts val="2510"/>
              </a:lnSpc>
              <a:spcBef>
                <a:spcPts val="229"/>
              </a:spcBef>
              <a:buAutoNum type="arabicPeriod" startAt="2"/>
              <a:tabLst>
                <a:tab pos="469265" algn="l"/>
                <a:tab pos="469900" algn="l"/>
              </a:tabLst>
            </a:pPr>
            <a:r>
              <a:rPr sz="2200" spc="-5" dirty="0">
                <a:latin typeface="Calibri"/>
                <a:cs typeface="Calibri"/>
              </a:rPr>
              <a:t>If </a:t>
            </a:r>
            <a:r>
              <a:rPr sz="2200" spc="-10" dirty="0">
                <a:latin typeface="Calibri"/>
                <a:cs typeface="Calibri"/>
              </a:rPr>
              <a:t>not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enough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resources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are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available,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request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denied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 </a:t>
            </a:r>
            <a:r>
              <a:rPr sz="2200" spc="-10" dirty="0">
                <a:latin typeface="Calibri"/>
                <a:cs typeface="Calibri"/>
              </a:rPr>
              <a:t>the</a:t>
            </a:r>
            <a:endParaRPr sz="2200" dirty="0">
              <a:latin typeface="Calibri"/>
              <a:cs typeface="Calibri"/>
            </a:endParaRPr>
          </a:p>
          <a:p>
            <a:pPr marL="469900" algn="just">
              <a:lnSpc>
                <a:spcPts val="2510"/>
              </a:lnSpc>
            </a:pPr>
            <a:r>
              <a:rPr sz="2200" spc="-10" dirty="0">
                <a:latin typeface="Calibri"/>
                <a:cs typeface="Calibri"/>
              </a:rPr>
              <a:t>process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must wait.</a:t>
            </a:r>
            <a:endParaRPr sz="2200" dirty="0">
              <a:latin typeface="Calibri"/>
              <a:cs typeface="Calibri"/>
            </a:endParaRPr>
          </a:p>
          <a:p>
            <a:pPr marL="469900" marR="400050" indent="-457200" algn="just">
              <a:lnSpc>
                <a:spcPct val="90000"/>
              </a:lnSpc>
              <a:spcBef>
                <a:spcPts val="525"/>
              </a:spcBef>
              <a:buAutoNum type="arabicPeriod" startAt="4"/>
              <a:tabLst>
                <a:tab pos="469265" algn="l"/>
                <a:tab pos="469900" algn="l"/>
                <a:tab pos="2047239" algn="l"/>
              </a:tabLst>
            </a:pPr>
            <a:r>
              <a:rPr sz="2200" spc="-5" dirty="0">
                <a:latin typeface="Calibri"/>
                <a:cs typeface="Calibri"/>
              </a:rPr>
              <a:t>If </a:t>
            </a:r>
            <a:r>
              <a:rPr sz="2200" spc="-15" dirty="0">
                <a:latin typeface="Calibri"/>
                <a:cs typeface="Calibri"/>
              </a:rPr>
              <a:t>sufficient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resources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are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available,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modified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version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of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current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state	</a:t>
            </a:r>
            <a:r>
              <a:rPr sz="2200" b="1" spc="-5" dirty="0">
                <a:latin typeface="Calibri"/>
                <a:cs typeface="Calibri"/>
              </a:rPr>
              <a:t>is</a:t>
            </a:r>
            <a:r>
              <a:rPr sz="2200" b="1" spc="5" dirty="0">
                <a:latin typeface="Calibri"/>
                <a:cs typeface="Calibri"/>
              </a:rPr>
              <a:t> </a:t>
            </a:r>
            <a:r>
              <a:rPr sz="2200" b="1" spc="-20" dirty="0">
                <a:latin typeface="Calibri"/>
                <a:cs typeface="Calibri"/>
              </a:rPr>
              <a:t>created</a:t>
            </a:r>
            <a:r>
              <a:rPr sz="2200" b="1" spc="5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that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reflect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effect</a:t>
            </a:r>
            <a:r>
              <a:rPr sz="2200" spc="4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of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granting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request. </a:t>
            </a:r>
            <a:r>
              <a:rPr sz="2200" spc="-484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10" dirty="0">
                <a:latin typeface="Calibri"/>
                <a:cs typeface="Calibri"/>
              </a:rPr>
              <a:t>algorithm </a:t>
            </a:r>
            <a:r>
              <a:rPr sz="2200" spc="-5" dirty="0">
                <a:latin typeface="Calibri"/>
                <a:cs typeface="Calibri"/>
              </a:rPr>
              <a:t>then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checks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if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modified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version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of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system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is </a:t>
            </a:r>
            <a:r>
              <a:rPr sz="2200" spc="-48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safe.</a:t>
            </a:r>
            <a:endParaRPr sz="2200" dirty="0">
              <a:latin typeface="Calibri"/>
              <a:cs typeface="Calibri"/>
            </a:endParaRPr>
          </a:p>
          <a:p>
            <a:pPr marL="469900" marR="612140" indent="-457200" algn="just">
              <a:lnSpc>
                <a:spcPts val="2380"/>
              </a:lnSpc>
              <a:spcBef>
                <a:spcPts val="560"/>
              </a:spcBef>
              <a:buAutoNum type="arabicPeriod" startAt="4"/>
              <a:tabLst>
                <a:tab pos="469265" algn="l"/>
                <a:tab pos="469900" algn="l"/>
              </a:tabLst>
            </a:pPr>
            <a:r>
              <a:rPr sz="2200" spc="-10" dirty="0">
                <a:latin typeface="Calibri"/>
                <a:cs typeface="Calibri"/>
              </a:rPr>
              <a:t>The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resource </a:t>
            </a:r>
            <a:r>
              <a:rPr sz="2200" spc="-5" dirty="0">
                <a:latin typeface="Calibri"/>
                <a:cs typeface="Calibri"/>
              </a:rPr>
              <a:t>is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granted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if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only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if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modified</a:t>
            </a:r>
            <a:r>
              <a:rPr sz="2200" spc="2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version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of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 </a:t>
            </a:r>
            <a:r>
              <a:rPr sz="2200" spc="-48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system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state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is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safe.</a:t>
            </a:r>
            <a:endParaRPr sz="2200" dirty="0">
              <a:latin typeface="Calibri"/>
              <a:cs typeface="Calibri"/>
            </a:endParaRPr>
          </a:p>
          <a:p>
            <a:pPr algn="just">
              <a:lnSpc>
                <a:spcPct val="100000"/>
              </a:lnSpc>
              <a:spcBef>
                <a:spcPts val="15"/>
              </a:spcBef>
            </a:pPr>
            <a:endParaRPr sz="2550" dirty="0">
              <a:latin typeface="Calibri"/>
              <a:cs typeface="Calibri"/>
            </a:endParaRPr>
          </a:p>
          <a:p>
            <a:pPr marL="43180" algn="just">
              <a:lnSpc>
                <a:spcPct val="100000"/>
              </a:lnSpc>
              <a:spcBef>
                <a:spcPts val="5"/>
              </a:spcBef>
            </a:pPr>
            <a:r>
              <a:rPr sz="2200" spc="-5" dirty="0">
                <a:latin typeface="Calibri"/>
                <a:cs typeface="Calibri"/>
              </a:rPr>
              <a:t>It </a:t>
            </a:r>
            <a:r>
              <a:rPr sz="2200" spc="-10" dirty="0">
                <a:latin typeface="Calibri"/>
                <a:cs typeface="Calibri"/>
              </a:rPr>
              <a:t>ensure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that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system</a:t>
            </a:r>
            <a:r>
              <a:rPr sz="2200" spc="3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never</a:t>
            </a:r>
            <a:r>
              <a:rPr sz="2200" spc="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in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unsafe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state.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so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it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avoid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the</a:t>
            </a:r>
            <a:r>
              <a:rPr sz="2200" spc="1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deadlock</a:t>
            </a:r>
            <a:endParaRPr sz="2200" dirty="0">
              <a:latin typeface="Calibri"/>
              <a:cs typeface="Calibri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AC9D2DA-616A-4484-BE59-B812F4032B6A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l-PL" spc="-105"/>
              <a:t>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05252" y="304800"/>
            <a:ext cx="4333875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3600" b="1" dirty="0"/>
              <a:t>Banker’s 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823717" y="4953000"/>
            <a:ext cx="3494404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i="1" spc="-5" dirty="0">
                <a:latin typeface="Calibri"/>
                <a:cs typeface="Calibri"/>
              </a:rPr>
              <a:t>Which</a:t>
            </a:r>
            <a:r>
              <a:rPr sz="3200" i="1" spc="-35" dirty="0">
                <a:latin typeface="Calibri"/>
                <a:cs typeface="Calibri"/>
              </a:rPr>
              <a:t> </a:t>
            </a:r>
            <a:r>
              <a:rPr sz="3200" i="1" spc="-5" dirty="0">
                <a:latin typeface="Calibri"/>
                <a:cs typeface="Calibri"/>
              </a:rPr>
              <a:t>one</a:t>
            </a:r>
            <a:r>
              <a:rPr sz="3200" i="1" spc="-25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is</a:t>
            </a:r>
            <a:r>
              <a:rPr sz="3200" i="1" spc="-20" dirty="0">
                <a:latin typeface="Calibri"/>
                <a:cs typeface="Calibri"/>
              </a:rPr>
              <a:t> </a:t>
            </a:r>
            <a:r>
              <a:rPr sz="3200" i="1" spc="-10" dirty="0">
                <a:latin typeface="Calibri"/>
                <a:cs typeface="Calibri"/>
              </a:rPr>
              <a:t>unsafe?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600" y="1905000"/>
            <a:ext cx="7867650" cy="2447925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B6B9060-F28B-4E64-807B-425F5C7A3DD5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l-PL" spc="-105"/>
              <a:t>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0366" y="191846"/>
            <a:ext cx="8458834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3600" b="1" dirty="0"/>
              <a:t>Deadlock Avoidance  Problem with Banker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97330"/>
            <a:ext cx="8075295" cy="4141470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355600" marR="5715" indent="-342900" algn="just">
              <a:lnSpc>
                <a:spcPts val="2880"/>
              </a:lnSpc>
              <a:spcBef>
                <a:spcPts val="795"/>
              </a:spcBef>
              <a:buFont typeface="Arial MT"/>
              <a:buChar char="•"/>
              <a:tabLst>
                <a:tab pos="355600" algn="l"/>
              </a:tabLst>
            </a:pPr>
            <a:r>
              <a:rPr sz="3000" spc="-5" dirty="0">
                <a:latin typeface="Calibri"/>
                <a:cs typeface="Calibri"/>
              </a:rPr>
              <a:t>Algorithms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requires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fixed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number</a:t>
            </a:r>
            <a:r>
              <a:rPr sz="3000" dirty="0">
                <a:latin typeface="Calibri"/>
                <a:cs typeface="Calibri"/>
              </a:rPr>
              <a:t> of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resources,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some </a:t>
            </a:r>
            <a:r>
              <a:rPr sz="3000" spc="-10" dirty="0">
                <a:latin typeface="Calibri"/>
                <a:cs typeface="Calibri"/>
              </a:rPr>
              <a:t>processes dynamically </a:t>
            </a:r>
            <a:r>
              <a:rPr sz="3000" spc="-5" dirty="0">
                <a:latin typeface="Calibri"/>
                <a:cs typeface="Calibri"/>
              </a:rPr>
              <a:t>changes </a:t>
            </a:r>
            <a:r>
              <a:rPr sz="3000" dirty="0">
                <a:latin typeface="Calibri"/>
                <a:cs typeface="Calibri"/>
              </a:rPr>
              <a:t>the </a:t>
            </a:r>
            <a:r>
              <a:rPr sz="3000" spc="-10" dirty="0">
                <a:latin typeface="Calibri"/>
                <a:cs typeface="Calibri"/>
              </a:rPr>
              <a:t>number 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of</a:t>
            </a:r>
            <a:r>
              <a:rPr sz="3000" spc="-15" dirty="0">
                <a:latin typeface="Calibri"/>
                <a:cs typeface="Calibri"/>
              </a:rPr>
              <a:t> resources.</a:t>
            </a:r>
            <a:endParaRPr sz="3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 MT"/>
              <a:buChar char="•"/>
            </a:pPr>
            <a:endParaRPr sz="3500" dirty="0">
              <a:latin typeface="Calibri"/>
              <a:cs typeface="Calibri"/>
            </a:endParaRPr>
          </a:p>
          <a:p>
            <a:pPr marL="355600" marR="6350" indent="-342900" algn="just">
              <a:lnSpc>
                <a:spcPts val="2880"/>
              </a:lnSpc>
              <a:buFont typeface="Arial MT"/>
              <a:buChar char="•"/>
              <a:tabLst>
                <a:tab pos="355600" algn="l"/>
              </a:tabLst>
            </a:pPr>
            <a:r>
              <a:rPr sz="3000" spc="-5" dirty="0">
                <a:latin typeface="Calibri"/>
                <a:cs typeface="Calibri"/>
              </a:rPr>
              <a:t>Algorithms </a:t>
            </a:r>
            <a:r>
              <a:rPr sz="3000" spc="-15" dirty="0">
                <a:latin typeface="Calibri"/>
                <a:cs typeface="Calibri"/>
              </a:rPr>
              <a:t>requires </a:t>
            </a:r>
            <a:r>
              <a:rPr sz="3000" dirty="0">
                <a:latin typeface="Calibri"/>
                <a:cs typeface="Calibri"/>
              </a:rPr>
              <a:t>the </a:t>
            </a:r>
            <a:r>
              <a:rPr sz="3000" spc="-5" dirty="0">
                <a:latin typeface="Calibri"/>
                <a:cs typeface="Calibri"/>
              </a:rPr>
              <a:t>number </a:t>
            </a:r>
            <a:r>
              <a:rPr sz="3000" dirty="0">
                <a:latin typeface="Calibri"/>
                <a:cs typeface="Calibri"/>
              </a:rPr>
              <a:t>of </a:t>
            </a:r>
            <a:r>
              <a:rPr sz="3000" spc="-15" dirty="0">
                <a:latin typeface="Calibri"/>
                <a:cs typeface="Calibri"/>
              </a:rPr>
              <a:t>resources </a:t>
            </a:r>
            <a:r>
              <a:rPr sz="3000" spc="-5" dirty="0">
                <a:latin typeface="Calibri"/>
                <a:cs typeface="Calibri"/>
              </a:rPr>
              <a:t>in 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advanced,</a:t>
            </a:r>
            <a:r>
              <a:rPr sz="3000" spc="-5" dirty="0">
                <a:latin typeface="Calibri"/>
                <a:cs typeface="Calibri"/>
              </a:rPr>
              <a:t> it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is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very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difficult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to</a:t>
            </a:r>
            <a:r>
              <a:rPr sz="3000" spc="65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predict</a:t>
            </a:r>
            <a:r>
              <a:rPr sz="3000" spc="-5" dirty="0">
                <a:latin typeface="Calibri"/>
                <a:cs typeface="Calibri"/>
              </a:rPr>
              <a:t> the 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resources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in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advanced.</a:t>
            </a:r>
            <a:endParaRPr sz="3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 MT"/>
              <a:buChar char="•"/>
            </a:pPr>
            <a:endParaRPr sz="3500" dirty="0">
              <a:latin typeface="Calibri"/>
              <a:cs typeface="Calibri"/>
            </a:endParaRPr>
          </a:p>
          <a:p>
            <a:pPr marL="355600" marR="5080" indent="-342900" algn="just">
              <a:lnSpc>
                <a:spcPts val="2880"/>
              </a:lnSpc>
              <a:buFont typeface="Arial MT"/>
              <a:buChar char="•"/>
              <a:tabLst>
                <a:tab pos="355600" algn="l"/>
              </a:tabLst>
            </a:pPr>
            <a:r>
              <a:rPr sz="3000" spc="-5" dirty="0">
                <a:latin typeface="Calibri"/>
                <a:cs typeface="Calibri"/>
              </a:rPr>
              <a:t>Algorithms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predict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all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process</a:t>
            </a:r>
            <a:r>
              <a:rPr sz="3000" spc="65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returns</a:t>
            </a:r>
            <a:r>
              <a:rPr sz="3000" spc="660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within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finite</a:t>
            </a:r>
            <a:r>
              <a:rPr sz="3000" spc="-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time,</a:t>
            </a:r>
            <a:r>
              <a:rPr sz="3000" spc="-10" dirty="0">
                <a:latin typeface="Calibri"/>
                <a:cs typeface="Calibri"/>
              </a:rPr>
              <a:t> but</a:t>
            </a:r>
            <a:r>
              <a:rPr sz="3000" dirty="0">
                <a:latin typeface="Calibri"/>
                <a:cs typeface="Calibri"/>
              </a:rPr>
              <a:t> the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25" dirty="0">
                <a:latin typeface="Calibri"/>
                <a:cs typeface="Calibri"/>
              </a:rPr>
              <a:t>system</a:t>
            </a:r>
            <a:r>
              <a:rPr sz="3000" spc="-10" dirty="0">
                <a:latin typeface="Calibri"/>
                <a:cs typeface="Calibri"/>
              </a:rPr>
              <a:t> does</a:t>
            </a:r>
            <a:r>
              <a:rPr sz="3000" spc="-5" dirty="0">
                <a:latin typeface="Calibri"/>
                <a:cs typeface="Calibri"/>
              </a:rPr>
              <a:t> not </a:t>
            </a:r>
            <a:r>
              <a:rPr sz="3000" spc="-15" dirty="0">
                <a:latin typeface="Calibri"/>
                <a:cs typeface="Calibri"/>
              </a:rPr>
              <a:t>guarantee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it.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2ED4917A-482B-488E-9BCD-B8D13AEF79A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l-PL" spc="-105"/>
              <a:t>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45337" y="228600"/>
            <a:ext cx="7662545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3600" b="1" dirty="0"/>
              <a:t>Deadlock Detection and Recovery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94106" rIns="0" bIns="0" rtlCol="0">
            <a:spAutoFit/>
          </a:bodyPr>
          <a:lstStyle/>
          <a:p>
            <a:pPr marL="1193800" marR="5080" indent="-971550">
              <a:lnSpc>
                <a:spcPct val="100000"/>
              </a:lnSpc>
              <a:spcBef>
                <a:spcPts val="105"/>
              </a:spcBef>
            </a:pPr>
            <a:r>
              <a:rPr spc="-15" dirty="0"/>
              <a:t>Instead</a:t>
            </a:r>
            <a:r>
              <a:rPr spc="15" dirty="0"/>
              <a:t> </a:t>
            </a:r>
            <a:r>
              <a:rPr dirty="0"/>
              <a:t>of</a:t>
            </a:r>
            <a:r>
              <a:rPr spc="-5" dirty="0"/>
              <a:t> trying</a:t>
            </a:r>
            <a:r>
              <a:rPr spc="15" dirty="0"/>
              <a:t> </a:t>
            </a:r>
            <a:r>
              <a:rPr spc="-20" dirty="0"/>
              <a:t>to</a:t>
            </a:r>
            <a:r>
              <a:rPr spc="-5" dirty="0"/>
              <a:t> </a:t>
            </a:r>
            <a:r>
              <a:rPr spc="-15" dirty="0"/>
              <a:t>prevent</a:t>
            </a:r>
            <a:r>
              <a:rPr spc="-25" dirty="0"/>
              <a:t> </a:t>
            </a:r>
            <a:r>
              <a:rPr dirty="0"/>
              <a:t>or</a:t>
            </a:r>
            <a:r>
              <a:rPr spc="-5" dirty="0"/>
              <a:t> </a:t>
            </a:r>
            <a:r>
              <a:rPr spc="-20" dirty="0"/>
              <a:t>avoid</a:t>
            </a:r>
            <a:r>
              <a:rPr spc="-15" dirty="0"/>
              <a:t> </a:t>
            </a:r>
            <a:r>
              <a:rPr spc="-5" dirty="0"/>
              <a:t>deadlock, </a:t>
            </a:r>
            <a:r>
              <a:rPr spc="-710" dirty="0"/>
              <a:t> </a:t>
            </a:r>
            <a:r>
              <a:rPr spc="-30" dirty="0"/>
              <a:t>system</a:t>
            </a:r>
            <a:r>
              <a:rPr spc="-5" dirty="0"/>
              <a:t> allow </a:t>
            </a:r>
            <a:r>
              <a:rPr spc="-20" dirty="0"/>
              <a:t>to</a:t>
            </a:r>
            <a:r>
              <a:rPr spc="5" dirty="0"/>
              <a:t> </a:t>
            </a:r>
            <a:r>
              <a:rPr spc="-5" dirty="0"/>
              <a:t>deadlock</a:t>
            </a:r>
            <a:r>
              <a:rPr spc="-20" dirty="0"/>
              <a:t> </a:t>
            </a:r>
            <a:r>
              <a:rPr spc="-25" dirty="0"/>
              <a:t>to</a:t>
            </a:r>
            <a:r>
              <a:rPr spc="5" dirty="0"/>
              <a:t> </a:t>
            </a:r>
            <a:r>
              <a:rPr spc="-5" dirty="0"/>
              <a:t>happen,</a:t>
            </a:r>
          </a:p>
          <a:p>
            <a:pPr marL="2440305" marR="1600200" indent="-619125">
              <a:lnSpc>
                <a:spcPct val="120000"/>
              </a:lnSpc>
            </a:pPr>
            <a:r>
              <a:rPr dirty="0"/>
              <a:t>and</a:t>
            </a:r>
            <a:r>
              <a:rPr spc="-30" dirty="0"/>
              <a:t> </a:t>
            </a:r>
            <a:r>
              <a:rPr spc="-15" dirty="0"/>
              <a:t>recover</a:t>
            </a:r>
            <a:r>
              <a:rPr spc="-65" dirty="0"/>
              <a:t> </a:t>
            </a:r>
            <a:r>
              <a:rPr spc="-15" dirty="0"/>
              <a:t>from</a:t>
            </a:r>
            <a:r>
              <a:rPr spc="-30" dirty="0"/>
              <a:t> </a:t>
            </a:r>
            <a:r>
              <a:rPr spc="-5" dirty="0"/>
              <a:t>deadlock </a:t>
            </a:r>
            <a:r>
              <a:rPr spc="-705" dirty="0"/>
              <a:t> </a:t>
            </a:r>
            <a:r>
              <a:rPr dirty="0"/>
              <a:t>when</a:t>
            </a:r>
            <a:r>
              <a:rPr spc="-10" dirty="0"/>
              <a:t> it</a:t>
            </a:r>
            <a:r>
              <a:rPr spc="-5" dirty="0"/>
              <a:t> does</a:t>
            </a:r>
            <a:r>
              <a:rPr spc="-10" dirty="0"/>
              <a:t> </a:t>
            </a:r>
            <a:r>
              <a:rPr spc="-60" dirty="0"/>
              <a:t>occur.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935355" y="4724400"/>
            <a:ext cx="7522845" cy="100203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</a:pPr>
            <a:r>
              <a:rPr sz="3200" i="1" spc="-10" dirty="0">
                <a:latin typeface="Calibri"/>
                <a:cs typeface="Calibri"/>
              </a:rPr>
              <a:t>Hence,</a:t>
            </a:r>
            <a:r>
              <a:rPr sz="3200" i="1" dirty="0">
                <a:latin typeface="Calibri"/>
                <a:cs typeface="Calibri"/>
              </a:rPr>
              <a:t> </a:t>
            </a:r>
            <a:r>
              <a:rPr sz="3200" i="1" spc="-5" dirty="0">
                <a:latin typeface="Calibri"/>
                <a:cs typeface="Calibri"/>
              </a:rPr>
              <a:t>the</a:t>
            </a:r>
            <a:r>
              <a:rPr sz="3200" i="1" dirty="0">
                <a:latin typeface="Calibri"/>
                <a:cs typeface="Calibri"/>
              </a:rPr>
              <a:t> </a:t>
            </a:r>
            <a:r>
              <a:rPr sz="3200" i="1" spc="-5" dirty="0">
                <a:latin typeface="Calibri"/>
                <a:cs typeface="Calibri"/>
              </a:rPr>
              <a:t>mechanism</a:t>
            </a:r>
            <a:r>
              <a:rPr sz="3200" i="1" spc="30" dirty="0">
                <a:latin typeface="Calibri"/>
                <a:cs typeface="Calibri"/>
              </a:rPr>
              <a:t> </a:t>
            </a:r>
            <a:r>
              <a:rPr sz="3200" i="1" spc="-20" dirty="0">
                <a:latin typeface="Calibri"/>
                <a:cs typeface="Calibri"/>
              </a:rPr>
              <a:t>for</a:t>
            </a:r>
            <a:r>
              <a:rPr sz="3200" i="1" spc="-10" dirty="0">
                <a:latin typeface="Calibri"/>
                <a:cs typeface="Calibri"/>
              </a:rPr>
              <a:t> </a:t>
            </a:r>
            <a:r>
              <a:rPr sz="3200" i="1" spc="-5" dirty="0">
                <a:latin typeface="Calibri"/>
                <a:cs typeface="Calibri"/>
              </a:rPr>
              <a:t>deadlock</a:t>
            </a:r>
            <a:r>
              <a:rPr sz="3200" i="1" spc="5" dirty="0">
                <a:latin typeface="Calibri"/>
                <a:cs typeface="Calibri"/>
              </a:rPr>
              <a:t> </a:t>
            </a:r>
            <a:r>
              <a:rPr sz="3200" i="1" spc="-10" dirty="0">
                <a:latin typeface="Calibri"/>
                <a:cs typeface="Calibri"/>
              </a:rPr>
              <a:t>detection </a:t>
            </a:r>
            <a:r>
              <a:rPr sz="3200" i="1" spc="-710" dirty="0">
                <a:latin typeface="Calibri"/>
                <a:cs typeface="Calibri"/>
              </a:rPr>
              <a:t> </a:t>
            </a:r>
            <a:r>
              <a:rPr sz="3200" i="1" spc="-5" dirty="0">
                <a:latin typeface="Calibri"/>
                <a:cs typeface="Calibri"/>
              </a:rPr>
              <a:t>and recovery</a:t>
            </a:r>
            <a:r>
              <a:rPr sz="3200" i="1" spc="-35" dirty="0">
                <a:latin typeface="Calibri"/>
                <a:cs typeface="Calibri"/>
              </a:rPr>
              <a:t> </a:t>
            </a:r>
            <a:r>
              <a:rPr sz="3200" i="1" spc="-5" dirty="0">
                <a:latin typeface="Calibri"/>
                <a:cs typeface="Calibri"/>
              </a:rPr>
              <a:t>from deadlock</a:t>
            </a:r>
            <a:r>
              <a:rPr sz="3200" i="1" spc="-10" dirty="0">
                <a:latin typeface="Calibri"/>
                <a:cs typeface="Calibri"/>
              </a:rPr>
              <a:t> </a:t>
            </a:r>
            <a:r>
              <a:rPr sz="3200" i="1" dirty="0">
                <a:latin typeface="Calibri"/>
                <a:cs typeface="Calibri"/>
              </a:rPr>
              <a:t>required.</a:t>
            </a:r>
            <a:endParaRPr sz="3200" dirty="0">
              <a:latin typeface="Calibri"/>
              <a:cs typeface="Calibri"/>
            </a:endParaRP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55F422D-1E6D-4395-A8EB-B4EE7028EA9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l-PL" spc="-105"/>
              <a:t>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36673" y="228600"/>
            <a:ext cx="447548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3600" b="1" dirty="0"/>
              <a:t>Deadlock Detection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95400"/>
            <a:ext cx="8047355" cy="256286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dirty="0">
                <a:latin typeface="Calibri"/>
                <a:cs typeface="Calibri"/>
              </a:rPr>
              <a:t>If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all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resource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have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only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single </a:t>
            </a:r>
            <a:r>
              <a:rPr sz="3200" spc="-10" dirty="0">
                <a:latin typeface="Calibri"/>
                <a:cs typeface="Calibri"/>
              </a:rPr>
              <a:t>instance,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then </a:t>
            </a:r>
            <a:r>
              <a:rPr sz="3200" spc="-70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we</a:t>
            </a:r>
            <a:r>
              <a:rPr sz="3200" spc="-3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can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define</a:t>
            </a:r>
            <a:r>
              <a:rPr sz="3200" dirty="0">
                <a:latin typeface="Calibri"/>
                <a:cs typeface="Calibri"/>
              </a:rPr>
              <a:t> a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deadlock</a:t>
            </a:r>
            <a:r>
              <a:rPr sz="3200" spc="-10" dirty="0">
                <a:latin typeface="Calibri"/>
                <a:cs typeface="Calibri"/>
              </a:rPr>
              <a:t> detection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algorithm 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that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use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variant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of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00B050"/>
                </a:solidFill>
                <a:latin typeface="Calibri"/>
                <a:cs typeface="Calibri"/>
              </a:rPr>
              <a:t>resource</a:t>
            </a:r>
            <a:r>
              <a:rPr sz="3200" spc="-2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00B050"/>
                </a:solidFill>
                <a:latin typeface="Calibri"/>
                <a:cs typeface="Calibri"/>
              </a:rPr>
              <a:t>allocation</a:t>
            </a:r>
            <a:r>
              <a:rPr sz="3200" spc="-5" dirty="0">
                <a:solidFill>
                  <a:srgbClr val="00B050"/>
                </a:solidFill>
                <a:latin typeface="Calibri"/>
                <a:cs typeface="Calibri"/>
              </a:rPr>
              <a:t> </a:t>
            </a:r>
            <a:r>
              <a:rPr sz="3200" spc="-10" dirty="0">
                <a:solidFill>
                  <a:srgbClr val="00B050"/>
                </a:solidFill>
                <a:latin typeface="Calibri"/>
                <a:cs typeface="Calibri"/>
              </a:rPr>
              <a:t>graph</a:t>
            </a:r>
            <a:r>
              <a:rPr sz="3200" spc="-10" dirty="0">
                <a:latin typeface="Calibri"/>
                <a:cs typeface="Calibri"/>
              </a:rPr>
              <a:t>, </a:t>
            </a:r>
            <a:r>
              <a:rPr sz="3200" spc="-70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called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wait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for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graph.</a:t>
            </a:r>
            <a:endParaRPr sz="32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200" spc="-10" dirty="0">
                <a:latin typeface="Calibri"/>
                <a:cs typeface="Calibri"/>
              </a:rPr>
              <a:t>Example</a:t>
            </a:r>
            <a:endParaRPr sz="32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81200" y="4038600"/>
            <a:ext cx="5029200" cy="212344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3346872-8396-4B6A-BF98-04F19127A50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l-PL" spc="-105"/>
              <a:t>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3600" b="1" dirty="0"/>
              <a:t>Example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288669"/>
            <a:ext cx="8009255" cy="4529455"/>
          </a:xfrm>
          <a:prstGeom prst="rect">
            <a:avLst/>
          </a:prstGeom>
        </p:spPr>
        <p:txBody>
          <a:bodyPr vert="horz" wrap="square" lIns="0" tIns="58419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459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spc="-5" dirty="0">
                <a:latin typeface="Calibri"/>
                <a:cs typeface="Calibri"/>
              </a:rPr>
              <a:t>Consider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2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following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scenario:</a:t>
            </a:r>
            <a:endParaRPr sz="3000">
              <a:latin typeface="Calibri"/>
              <a:cs typeface="Calibri"/>
            </a:endParaRPr>
          </a:p>
          <a:p>
            <a:pPr marL="355600" marR="5080" indent="-342900">
              <a:lnSpc>
                <a:spcPts val="3240"/>
              </a:lnSpc>
              <a:spcBef>
                <a:spcPts val="77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i="1" dirty="0">
                <a:latin typeface="Calibri"/>
                <a:cs typeface="Calibri"/>
              </a:rPr>
              <a:t>A </a:t>
            </a:r>
            <a:r>
              <a:rPr sz="3000" i="1" spc="-25" dirty="0">
                <a:latin typeface="Calibri"/>
                <a:cs typeface="Calibri"/>
              </a:rPr>
              <a:t>system </a:t>
            </a:r>
            <a:r>
              <a:rPr sz="3000" i="1" dirty="0">
                <a:latin typeface="Calibri"/>
                <a:cs typeface="Calibri"/>
              </a:rPr>
              <a:t>with 7 </a:t>
            </a:r>
            <a:r>
              <a:rPr sz="3000" i="1" spc="-10" dirty="0">
                <a:latin typeface="Calibri"/>
                <a:cs typeface="Calibri"/>
              </a:rPr>
              <a:t>processes </a:t>
            </a:r>
            <a:r>
              <a:rPr sz="3000" i="1" dirty="0">
                <a:latin typeface="Calibri"/>
                <a:cs typeface="Calibri"/>
              </a:rPr>
              <a:t>(A –G), </a:t>
            </a:r>
            <a:r>
              <a:rPr sz="3000" i="1" spc="-5" dirty="0">
                <a:latin typeface="Calibri"/>
                <a:cs typeface="Calibri"/>
              </a:rPr>
              <a:t>and </a:t>
            </a:r>
            <a:r>
              <a:rPr sz="3000" i="1" dirty="0">
                <a:latin typeface="Calibri"/>
                <a:cs typeface="Calibri"/>
              </a:rPr>
              <a:t>6 </a:t>
            </a:r>
            <a:r>
              <a:rPr sz="3000" i="1" spc="-5" dirty="0">
                <a:latin typeface="Calibri"/>
                <a:cs typeface="Calibri"/>
              </a:rPr>
              <a:t>resources </a:t>
            </a:r>
            <a:r>
              <a:rPr sz="3000" i="1" spc="-665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(R</a:t>
            </a:r>
            <a:r>
              <a:rPr sz="3000" i="1" spc="-20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–W)</a:t>
            </a:r>
            <a:r>
              <a:rPr sz="3000" i="1" spc="5" dirty="0">
                <a:latin typeface="Calibri"/>
                <a:cs typeface="Calibri"/>
              </a:rPr>
              <a:t> </a:t>
            </a:r>
            <a:r>
              <a:rPr sz="3000" i="1" spc="-5" dirty="0">
                <a:latin typeface="Calibri"/>
                <a:cs typeface="Calibri"/>
              </a:rPr>
              <a:t>are </a:t>
            </a:r>
            <a:r>
              <a:rPr sz="3000" i="1" spc="-10" dirty="0">
                <a:latin typeface="Calibri"/>
                <a:cs typeface="Calibri"/>
              </a:rPr>
              <a:t>in</a:t>
            </a:r>
            <a:r>
              <a:rPr sz="3000" i="1" spc="-20" dirty="0">
                <a:latin typeface="Calibri"/>
                <a:cs typeface="Calibri"/>
              </a:rPr>
              <a:t> </a:t>
            </a:r>
            <a:r>
              <a:rPr sz="3000" i="1" spc="-10" dirty="0">
                <a:latin typeface="Calibri"/>
                <a:cs typeface="Calibri"/>
              </a:rPr>
              <a:t>following</a:t>
            </a:r>
            <a:r>
              <a:rPr sz="3000" i="1" dirty="0">
                <a:latin typeface="Calibri"/>
                <a:cs typeface="Calibri"/>
              </a:rPr>
              <a:t> </a:t>
            </a:r>
            <a:r>
              <a:rPr sz="3000" i="1" spc="-20" dirty="0">
                <a:latin typeface="Calibri"/>
                <a:cs typeface="Calibri"/>
              </a:rPr>
              <a:t>state.</a:t>
            </a:r>
            <a:endParaRPr sz="3000">
              <a:latin typeface="Calibri"/>
              <a:cs typeface="Calibri"/>
            </a:endParaRPr>
          </a:p>
          <a:p>
            <a:pPr marL="1139190" lvl="1" indent="-212725">
              <a:lnSpc>
                <a:spcPct val="100000"/>
              </a:lnSpc>
              <a:spcBef>
                <a:spcPts val="270"/>
              </a:spcBef>
              <a:buSzPct val="95454"/>
              <a:buAutoNum type="arabicPeriod"/>
              <a:tabLst>
                <a:tab pos="1139825" algn="l"/>
              </a:tabLst>
            </a:pPr>
            <a:r>
              <a:rPr sz="2200" spc="-10" dirty="0">
                <a:latin typeface="Calibri"/>
                <a:cs typeface="Calibri"/>
              </a:rPr>
              <a:t>Process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holds</a:t>
            </a:r>
            <a:r>
              <a:rPr sz="2200" spc="-5" dirty="0">
                <a:latin typeface="Calibri"/>
                <a:cs typeface="Calibri"/>
              </a:rPr>
              <a:t> R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</a:t>
            </a:r>
            <a:r>
              <a:rPr sz="2200" spc="-10" dirty="0">
                <a:latin typeface="Calibri"/>
                <a:cs typeface="Calibri"/>
              </a:rPr>
              <a:t> S.</a:t>
            </a:r>
            <a:endParaRPr sz="2200">
              <a:latin typeface="Calibri"/>
              <a:cs typeface="Calibri"/>
            </a:endParaRPr>
          </a:p>
          <a:p>
            <a:pPr marL="1200150" lvl="1" indent="-273685">
              <a:lnSpc>
                <a:spcPct val="100000"/>
              </a:lnSpc>
              <a:spcBef>
                <a:spcPts val="265"/>
              </a:spcBef>
              <a:buSzPct val="95454"/>
              <a:buAutoNum type="arabicPeriod"/>
              <a:tabLst>
                <a:tab pos="1200785" algn="l"/>
              </a:tabLst>
            </a:pPr>
            <a:r>
              <a:rPr sz="2200" spc="-10" dirty="0">
                <a:latin typeface="Calibri"/>
                <a:cs typeface="Calibri"/>
              </a:rPr>
              <a:t>Process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B holds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nothing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but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wants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14" dirty="0">
                <a:latin typeface="Calibri"/>
                <a:cs typeface="Calibri"/>
              </a:rPr>
              <a:t>T.</a:t>
            </a:r>
            <a:endParaRPr sz="2200">
              <a:latin typeface="Calibri"/>
              <a:cs typeface="Calibri"/>
            </a:endParaRPr>
          </a:p>
          <a:p>
            <a:pPr marL="1200150" lvl="1" indent="-273685">
              <a:lnSpc>
                <a:spcPct val="100000"/>
              </a:lnSpc>
              <a:spcBef>
                <a:spcPts val="265"/>
              </a:spcBef>
              <a:buSzPct val="95454"/>
              <a:buAutoNum type="arabicPeriod"/>
              <a:tabLst>
                <a:tab pos="1200785" algn="l"/>
              </a:tabLst>
            </a:pPr>
            <a:r>
              <a:rPr sz="2200" spc="-10" dirty="0">
                <a:latin typeface="Calibri"/>
                <a:cs typeface="Calibri"/>
              </a:rPr>
              <a:t>Process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C holds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nothing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but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wants</a:t>
            </a:r>
            <a:r>
              <a:rPr sz="2200" spc="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S.</a:t>
            </a:r>
            <a:endParaRPr sz="2200">
              <a:latin typeface="Calibri"/>
              <a:cs typeface="Calibri"/>
            </a:endParaRPr>
          </a:p>
          <a:p>
            <a:pPr marL="1200150" lvl="1" indent="-273685">
              <a:lnSpc>
                <a:spcPct val="100000"/>
              </a:lnSpc>
              <a:spcBef>
                <a:spcPts val="265"/>
              </a:spcBef>
              <a:buSzPct val="95454"/>
              <a:buAutoNum type="arabicPeriod"/>
              <a:tabLst>
                <a:tab pos="1200785" algn="l"/>
              </a:tabLst>
            </a:pPr>
            <a:r>
              <a:rPr sz="2200" spc="-10" dirty="0">
                <a:latin typeface="Calibri"/>
                <a:cs typeface="Calibri"/>
              </a:rPr>
              <a:t>Process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D holds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U and </a:t>
            </a:r>
            <a:r>
              <a:rPr sz="2200" spc="-15" dirty="0">
                <a:latin typeface="Calibri"/>
                <a:cs typeface="Calibri"/>
              </a:rPr>
              <a:t>wants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</a:t>
            </a:r>
            <a:r>
              <a:rPr sz="2200" spc="-15" dirty="0">
                <a:latin typeface="Calibri"/>
                <a:cs typeface="Calibri"/>
              </a:rPr>
              <a:t> </a:t>
            </a:r>
            <a:r>
              <a:rPr sz="2200" spc="-114" dirty="0">
                <a:latin typeface="Calibri"/>
                <a:cs typeface="Calibri"/>
              </a:rPr>
              <a:t>T.</a:t>
            </a:r>
            <a:endParaRPr sz="2200">
              <a:latin typeface="Calibri"/>
              <a:cs typeface="Calibri"/>
            </a:endParaRPr>
          </a:p>
          <a:p>
            <a:pPr marL="1200150" lvl="1" indent="-273685">
              <a:lnSpc>
                <a:spcPct val="100000"/>
              </a:lnSpc>
              <a:spcBef>
                <a:spcPts val="265"/>
              </a:spcBef>
              <a:buSzPct val="95454"/>
              <a:buAutoNum type="arabicPeriod"/>
              <a:tabLst>
                <a:tab pos="1200785" algn="l"/>
              </a:tabLst>
            </a:pPr>
            <a:r>
              <a:rPr sz="2200" spc="-10" dirty="0">
                <a:latin typeface="Calibri"/>
                <a:cs typeface="Calibri"/>
              </a:rPr>
              <a:t>Process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E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holds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T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wants</a:t>
            </a:r>
            <a:r>
              <a:rPr sz="2200" spc="-5" dirty="0">
                <a:latin typeface="Calibri"/>
                <a:cs typeface="Calibri"/>
              </a:rPr>
              <a:t> </a:t>
            </a:r>
            <a:r>
              <a:rPr sz="2200" spc="-114" dirty="0">
                <a:latin typeface="Calibri"/>
                <a:cs typeface="Calibri"/>
              </a:rPr>
              <a:t>V.</a:t>
            </a:r>
            <a:endParaRPr sz="2200">
              <a:latin typeface="Calibri"/>
              <a:cs typeface="Calibri"/>
            </a:endParaRPr>
          </a:p>
          <a:p>
            <a:pPr marL="1200150" lvl="1" indent="-273685">
              <a:lnSpc>
                <a:spcPct val="100000"/>
              </a:lnSpc>
              <a:spcBef>
                <a:spcPts val="265"/>
              </a:spcBef>
              <a:buSzPct val="95454"/>
              <a:buAutoNum type="arabicPeriod"/>
              <a:tabLst>
                <a:tab pos="1200785" algn="l"/>
              </a:tabLst>
            </a:pPr>
            <a:r>
              <a:rPr sz="2200" spc="-10" dirty="0">
                <a:latin typeface="Calibri"/>
                <a:cs typeface="Calibri"/>
              </a:rPr>
              <a:t>Process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F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holds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W</a:t>
            </a:r>
            <a:r>
              <a:rPr sz="2200" spc="2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</a:t>
            </a:r>
            <a:r>
              <a:rPr sz="2200" spc="-15" dirty="0">
                <a:latin typeface="Calibri"/>
                <a:cs typeface="Calibri"/>
              </a:rPr>
              <a:t> wants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S.</a:t>
            </a:r>
            <a:endParaRPr sz="2200">
              <a:latin typeface="Calibri"/>
              <a:cs typeface="Calibri"/>
            </a:endParaRPr>
          </a:p>
          <a:p>
            <a:pPr marL="1200150" lvl="1" indent="-273685">
              <a:lnSpc>
                <a:spcPct val="100000"/>
              </a:lnSpc>
              <a:spcBef>
                <a:spcPts val="265"/>
              </a:spcBef>
              <a:buSzPct val="95454"/>
              <a:buAutoNum type="arabicPeriod"/>
              <a:tabLst>
                <a:tab pos="1200785" algn="l"/>
              </a:tabLst>
            </a:pPr>
            <a:r>
              <a:rPr sz="2200" spc="-10" dirty="0">
                <a:latin typeface="Calibri"/>
                <a:cs typeface="Calibri"/>
              </a:rPr>
              <a:t>Process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G</a:t>
            </a:r>
            <a:r>
              <a:rPr sz="2200" spc="-1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holds V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5" dirty="0">
                <a:latin typeface="Calibri"/>
                <a:cs typeface="Calibri"/>
              </a:rPr>
              <a:t>and</a:t>
            </a:r>
            <a:r>
              <a:rPr sz="2200" spc="-20" dirty="0">
                <a:latin typeface="Calibri"/>
                <a:cs typeface="Calibri"/>
              </a:rPr>
              <a:t> </a:t>
            </a:r>
            <a:r>
              <a:rPr sz="2200" spc="-15" dirty="0">
                <a:latin typeface="Calibri"/>
                <a:cs typeface="Calibri"/>
              </a:rPr>
              <a:t>wants</a:t>
            </a:r>
            <a:r>
              <a:rPr sz="220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U.</a:t>
            </a:r>
            <a:endParaRPr sz="2200">
              <a:latin typeface="Calibri"/>
              <a:cs typeface="Calibri"/>
            </a:endParaRPr>
          </a:p>
          <a:p>
            <a:pPr marL="1768475" lvl="2" indent="-343535">
              <a:lnSpc>
                <a:spcPct val="100000"/>
              </a:lnSpc>
              <a:spcBef>
                <a:spcPts val="305"/>
              </a:spcBef>
              <a:buFont typeface="Arial MT"/>
              <a:buChar char="•"/>
              <a:tabLst>
                <a:tab pos="1768475" algn="l"/>
                <a:tab pos="1769110" algn="l"/>
              </a:tabLst>
            </a:pPr>
            <a:r>
              <a:rPr sz="3000" i="1" dirty="0">
                <a:latin typeface="Calibri"/>
                <a:cs typeface="Calibri"/>
              </a:rPr>
              <a:t>Is</a:t>
            </a:r>
            <a:r>
              <a:rPr sz="3000" i="1" spc="-40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there</a:t>
            </a:r>
            <a:r>
              <a:rPr sz="3000" i="1" spc="-40" dirty="0">
                <a:latin typeface="Calibri"/>
                <a:cs typeface="Calibri"/>
              </a:rPr>
              <a:t> </a:t>
            </a:r>
            <a:r>
              <a:rPr sz="3000" i="1" spc="-15" dirty="0">
                <a:latin typeface="Calibri"/>
                <a:cs typeface="Calibri"/>
              </a:rPr>
              <a:t>any</a:t>
            </a:r>
            <a:r>
              <a:rPr sz="3000" i="1" spc="-50" dirty="0">
                <a:latin typeface="Calibri"/>
                <a:cs typeface="Calibri"/>
              </a:rPr>
              <a:t> </a:t>
            </a:r>
            <a:r>
              <a:rPr sz="3000" i="1" spc="-5" dirty="0">
                <a:latin typeface="Calibri"/>
                <a:cs typeface="Calibri"/>
              </a:rPr>
              <a:t>deadlock</a:t>
            </a:r>
            <a:r>
              <a:rPr sz="3000" i="1" spc="-50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situation?</a:t>
            </a:r>
            <a:endParaRPr sz="3000">
              <a:latin typeface="Calibri"/>
              <a:cs typeface="Calibri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6F0EFC56-E7DF-41CB-A0DD-A9BC8C20A579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l-PL" spc="-105"/>
              <a:t>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36673" y="304800"/>
            <a:ext cx="447548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3600" b="1" dirty="0"/>
              <a:t>Deadlock Detection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635635" y="1607642"/>
            <a:ext cx="7746365" cy="412432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0" marR="274955" indent="-342900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80365" algn="l"/>
                <a:tab pos="381000" algn="l"/>
              </a:tabLst>
            </a:pPr>
            <a:r>
              <a:rPr sz="3200" dirty="0">
                <a:latin typeface="Calibri"/>
                <a:cs typeface="Calibri"/>
              </a:rPr>
              <a:t>A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deadlock</a:t>
            </a:r>
            <a:r>
              <a:rPr sz="3200" spc="-15" dirty="0">
                <a:latin typeface="Calibri"/>
                <a:cs typeface="Calibri"/>
              </a:rPr>
              <a:t> exits </a:t>
            </a:r>
            <a:r>
              <a:rPr sz="3200" dirty="0">
                <a:latin typeface="Calibri"/>
                <a:cs typeface="Calibri"/>
              </a:rPr>
              <a:t>in the </a:t>
            </a:r>
            <a:r>
              <a:rPr sz="3200" spc="-30" dirty="0">
                <a:latin typeface="Calibri"/>
                <a:cs typeface="Calibri"/>
              </a:rPr>
              <a:t>system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if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only </a:t>
            </a:r>
            <a:r>
              <a:rPr sz="3200" dirty="0">
                <a:latin typeface="Calibri"/>
                <a:cs typeface="Calibri"/>
              </a:rPr>
              <a:t>if </a:t>
            </a:r>
            <a:r>
              <a:rPr sz="3200" spc="-70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wait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for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graph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contains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cycle.</a:t>
            </a:r>
            <a:endParaRPr sz="3200" dirty="0">
              <a:latin typeface="Calibri"/>
              <a:cs typeface="Calibri"/>
            </a:endParaRPr>
          </a:p>
          <a:p>
            <a:pPr marL="381000" marR="30480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80365" algn="l"/>
                <a:tab pos="381000" algn="l"/>
              </a:tabLst>
            </a:pPr>
            <a:r>
              <a:rPr sz="3200" spc="-145" dirty="0">
                <a:latin typeface="Calibri"/>
                <a:cs typeface="Calibri"/>
              </a:rPr>
              <a:t>To</a:t>
            </a:r>
            <a:r>
              <a:rPr sz="3200" spc="-10" dirty="0">
                <a:latin typeface="Calibri"/>
                <a:cs typeface="Calibri"/>
              </a:rPr>
              <a:t> detect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deadlock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 </a:t>
            </a:r>
            <a:r>
              <a:rPr sz="3200" spc="-30" dirty="0">
                <a:latin typeface="Calibri"/>
                <a:cs typeface="Calibri"/>
              </a:rPr>
              <a:t>system</a:t>
            </a:r>
            <a:r>
              <a:rPr sz="3200" spc="-5" dirty="0">
                <a:latin typeface="Calibri"/>
                <a:cs typeface="Calibri"/>
              </a:rPr>
              <a:t> needs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 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maintain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wait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for</a:t>
            </a:r>
            <a:r>
              <a:rPr sz="3200" spc="-10" dirty="0">
                <a:latin typeface="Calibri"/>
                <a:cs typeface="Calibri"/>
              </a:rPr>
              <a:t> graph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and</a:t>
            </a:r>
            <a:r>
              <a:rPr sz="3200" spc="10" dirty="0">
                <a:latin typeface="Calibri"/>
                <a:cs typeface="Calibri"/>
              </a:rPr>
              <a:t> </a:t>
            </a:r>
            <a:r>
              <a:rPr sz="3200" spc="-5" dirty="0">
                <a:latin typeface="Calibri"/>
                <a:cs typeface="Calibri"/>
              </a:rPr>
              <a:t>periodically </a:t>
            </a:r>
            <a:r>
              <a:rPr sz="3200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invoke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</a:t>
            </a:r>
            <a:r>
              <a:rPr sz="3200" spc="-5" dirty="0">
                <a:latin typeface="Calibri"/>
                <a:cs typeface="Calibri"/>
              </a:rPr>
              <a:t> algorithm</a:t>
            </a:r>
            <a:r>
              <a:rPr sz="3200" spc="2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that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searches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spc="-30" dirty="0">
                <a:latin typeface="Calibri"/>
                <a:cs typeface="Calibri"/>
              </a:rPr>
              <a:t>for</a:t>
            </a:r>
            <a:r>
              <a:rPr sz="3200" spc="-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</a:t>
            </a:r>
            <a:r>
              <a:rPr sz="3200" spc="-5" dirty="0">
                <a:latin typeface="Calibri"/>
                <a:cs typeface="Calibri"/>
              </a:rPr>
              <a:t> cycle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-1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the</a:t>
            </a:r>
            <a:r>
              <a:rPr sz="3200" spc="-10" dirty="0">
                <a:latin typeface="Calibri"/>
                <a:cs typeface="Calibri"/>
              </a:rPr>
              <a:t> graph.</a:t>
            </a:r>
            <a:endParaRPr sz="3200" dirty="0">
              <a:latin typeface="Calibri"/>
              <a:cs typeface="Calibri"/>
            </a:endParaRPr>
          </a:p>
          <a:p>
            <a:pPr marL="381000" marR="989965" indent="-342900">
              <a:lnSpc>
                <a:spcPct val="100000"/>
              </a:lnSpc>
              <a:spcBef>
                <a:spcPts val="770"/>
              </a:spcBef>
              <a:buFont typeface="Arial MT"/>
              <a:buChar char="•"/>
              <a:tabLst>
                <a:tab pos="380365" algn="l"/>
                <a:tab pos="381000" algn="l"/>
              </a:tabLst>
            </a:pPr>
            <a:r>
              <a:rPr sz="3200" dirty="0">
                <a:latin typeface="Calibri"/>
                <a:cs typeface="Calibri"/>
              </a:rPr>
              <a:t>An</a:t>
            </a:r>
            <a:r>
              <a:rPr sz="3200" spc="-10" dirty="0">
                <a:latin typeface="Calibri"/>
                <a:cs typeface="Calibri"/>
              </a:rPr>
              <a:t> algorithm</a:t>
            </a:r>
            <a:r>
              <a:rPr sz="3200" spc="2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detect</a:t>
            </a:r>
            <a:r>
              <a:rPr sz="3200" spc="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 </a:t>
            </a:r>
            <a:r>
              <a:rPr sz="3200" spc="-10" dirty="0">
                <a:latin typeface="Calibri"/>
                <a:cs typeface="Calibri"/>
              </a:rPr>
              <a:t>cycle</a:t>
            </a:r>
            <a:r>
              <a:rPr sz="3200" spc="-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in</a:t>
            </a:r>
            <a:r>
              <a:rPr sz="3200" spc="15" dirty="0">
                <a:latin typeface="Calibri"/>
                <a:cs typeface="Calibri"/>
              </a:rPr>
              <a:t> </a:t>
            </a:r>
            <a:r>
              <a:rPr sz="3200" spc="-15" dirty="0">
                <a:latin typeface="Calibri"/>
                <a:cs typeface="Calibri"/>
              </a:rPr>
              <a:t>graph </a:t>
            </a:r>
            <a:r>
              <a:rPr sz="3200" spc="-710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requires</a:t>
            </a:r>
            <a:r>
              <a:rPr sz="3200" spc="-4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an </a:t>
            </a:r>
            <a:r>
              <a:rPr sz="3200" spc="-15" dirty="0">
                <a:latin typeface="Calibri"/>
                <a:cs typeface="Calibri"/>
              </a:rPr>
              <a:t>order</a:t>
            </a:r>
            <a:r>
              <a:rPr sz="3200" spc="-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of</a:t>
            </a:r>
            <a:r>
              <a:rPr sz="3200" spc="-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o(n</a:t>
            </a:r>
            <a:r>
              <a:rPr sz="3150" baseline="25132" dirty="0">
                <a:latin typeface="Calibri"/>
                <a:cs typeface="Calibri"/>
              </a:rPr>
              <a:t>2</a:t>
            </a:r>
            <a:r>
              <a:rPr sz="3200" dirty="0">
                <a:latin typeface="Calibri"/>
                <a:cs typeface="Calibri"/>
              </a:rPr>
              <a:t>)</a:t>
            </a: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8C65C83-AB68-41C6-813F-4365A78F82DF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l-PL" spc="-105"/>
              <a:t>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8701" y="304800"/>
            <a:ext cx="554736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3600" b="1" dirty="0"/>
              <a:t>Recovery from Deadlock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37538"/>
            <a:ext cx="8049259" cy="4133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1856105">
              <a:lnSpc>
                <a:spcPct val="100000"/>
              </a:lnSpc>
              <a:spcBef>
                <a:spcPts val="100"/>
              </a:spcBef>
            </a:pPr>
            <a:r>
              <a:rPr sz="2700" spc="-10" dirty="0">
                <a:latin typeface="Calibri"/>
                <a:cs typeface="Calibri"/>
              </a:rPr>
              <a:t>What </a:t>
            </a:r>
            <a:r>
              <a:rPr sz="2700" spc="-5" dirty="0">
                <a:latin typeface="Calibri"/>
                <a:cs typeface="Calibri"/>
              </a:rPr>
              <a:t>do </a:t>
            </a:r>
            <a:r>
              <a:rPr sz="2700" spc="-15" dirty="0">
                <a:latin typeface="Calibri"/>
                <a:cs typeface="Calibri"/>
              </a:rPr>
              <a:t>next </a:t>
            </a:r>
            <a:r>
              <a:rPr sz="2700" dirty="0">
                <a:latin typeface="Calibri"/>
                <a:cs typeface="Calibri"/>
              </a:rPr>
              <a:t>if the </a:t>
            </a:r>
            <a:r>
              <a:rPr sz="2700" spc="-5" dirty="0">
                <a:latin typeface="Calibri"/>
                <a:cs typeface="Calibri"/>
              </a:rPr>
              <a:t>deadlock </a:t>
            </a:r>
            <a:r>
              <a:rPr sz="2700" spc="-10" dirty="0">
                <a:latin typeface="Calibri"/>
                <a:cs typeface="Calibri"/>
              </a:rPr>
              <a:t>detection </a:t>
            </a:r>
            <a:r>
              <a:rPr sz="2700" spc="-5" dirty="0">
                <a:latin typeface="Calibri"/>
                <a:cs typeface="Calibri"/>
              </a:rPr>
              <a:t> algorithm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succeed?</a:t>
            </a:r>
            <a:r>
              <a:rPr sz="2700" spc="-25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–recover</a:t>
            </a:r>
            <a:r>
              <a:rPr sz="2700" spc="-40" dirty="0">
                <a:latin typeface="Calibri"/>
                <a:cs typeface="Calibri"/>
              </a:rPr>
              <a:t> </a:t>
            </a:r>
            <a:r>
              <a:rPr sz="2700" spc="-15" dirty="0">
                <a:latin typeface="Calibri"/>
                <a:cs typeface="Calibri"/>
              </a:rPr>
              <a:t>from</a:t>
            </a:r>
            <a:r>
              <a:rPr sz="2700" spc="-20" dirty="0">
                <a:latin typeface="Calibri"/>
                <a:cs typeface="Calibri"/>
              </a:rPr>
              <a:t> </a:t>
            </a:r>
            <a:r>
              <a:rPr sz="2700" spc="-5" dirty="0">
                <a:latin typeface="Calibri"/>
                <a:cs typeface="Calibri"/>
              </a:rPr>
              <a:t>deadlock.</a:t>
            </a:r>
            <a:endParaRPr sz="27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65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b="1" spc="-15" dirty="0">
                <a:latin typeface="Calibri"/>
                <a:cs typeface="Calibri"/>
              </a:rPr>
              <a:t>By</a:t>
            </a:r>
            <a:r>
              <a:rPr sz="2700" b="1" spc="-35" dirty="0">
                <a:latin typeface="Calibri"/>
                <a:cs typeface="Calibri"/>
              </a:rPr>
              <a:t> </a:t>
            </a:r>
            <a:r>
              <a:rPr sz="2700" b="1" spc="-15" dirty="0">
                <a:latin typeface="Calibri"/>
                <a:cs typeface="Calibri"/>
              </a:rPr>
              <a:t>Resource</a:t>
            </a:r>
            <a:r>
              <a:rPr sz="2700" b="1" spc="-20" dirty="0">
                <a:latin typeface="Calibri"/>
                <a:cs typeface="Calibri"/>
              </a:rPr>
              <a:t> </a:t>
            </a:r>
            <a:r>
              <a:rPr sz="2700" b="1" spc="-10" dirty="0">
                <a:latin typeface="Calibri"/>
                <a:cs typeface="Calibri"/>
              </a:rPr>
              <a:t>Preemption</a:t>
            </a:r>
            <a:endParaRPr sz="2700">
              <a:latin typeface="Calibri"/>
              <a:cs typeface="Calibri"/>
            </a:endParaRPr>
          </a:p>
          <a:p>
            <a:pPr marL="756285" marR="5080" lvl="1" indent="-287020">
              <a:lnSpc>
                <a:spcPts val="2300"/>
              </a:lnSpc>
              <a:spcBef>
                <a:spcPts val="57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10" dirty="0">
                <a:latin typeface="Calibri"/>
                <a:cs typeface="Calibri"/>
              </a:rPr>
              <a:t>Preempt </a:t>
            </a:r>
            <a:r>
              <a:rPr sz="2400" spc="-5" dirty="0">
                <a:latin typeface="Calibri"/>
                <a:cs typeface="Calibri"/>
              </a:rPr>
              <a:t>some </a:t>
            </a:r>
            <a:r>
              <a:rPr sz="2400" spc="-10" dirty="0">
                <a:latin typeface="Calibri"/>
                <a:cs typeface="Calibri"/>
              </a:rPr>
              <a:t>resources temporarily </a:t>
            </a:r>
            <a:r>
              <a:rPr sz="2400" spc="-15" dirty="0">
                <a:latin typeface="Calibri"/>
                <a:cs typeface="Calibri"/>
              </a:rPr>
              <a:t>from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10" dirty="0">
                <a:latin typeface="Calibri"/>
                <a:cs typeface="Calibri"/>
              </a:rPr>
              <a:t>processes </a:t>
            </a:r>
            <a:r>
              <a:rPr sz="2400" dirty="0">
                <a:latin typeface="Calibri"/>
                <a:cs typeface="Calibri"/>
              </a:rPr>
              <a:t>and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give </a:t>
            </a:r>
            <a:r>
              <a:rPr sz="2400" dirty="0">
                <a:latin typeface="Calibri"/>
                <a:cs typeface="Calibri"/>
              </a:rPr>
              <a:t>these </a:t>
            </a:r>
            <a:r>
              <a:rPr sz="2400" spc="-10" dirty="0">
                <a:latin typeface="Calibri"/>
                <a:cs typeface="Calibri"/>
              </a:rPr>
              <a:t>resources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5" dirty="0">
                <a:latin typeface="Calibri"/>
                <a:cs typeface="Calibri"/>
              </a:rPr>
              <a:t>other </a:t>
            </a:r>
            <a:r>
              <a:rPr sz="2400" spc="-10" dirty="0">
                <a:latin typeface="Calibri"/>
                <a:cs typeface="Calibri"/>
              </a:rPr>
              <a:t>processes until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5" dirty="0">
                <a:latin typeface="Calibri"/>
                <a:cs typeface="Calibri"/>
              </a:rPr>
              <a:t>deadlock </a:t>
            </a:r>
            <a:r>
              <a:rPr sz="240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cycle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 </a:t>
            </a:r>
            <a:r>
              <a:rPr sz="2400" spc="-20" dirty="0">
                <a:latin typeface="Calibri"/>
                <a:cs typeface="Calibri"/>
              </a:rPr>
              <a:t>broken.</a:t>
            </a:r>
            <a:endParaRPr sz="240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20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2700" spc="-15" dirty="0">
                <a:latin typeface="Calibri"/>
                <a:cs typeface="Calibri"/>
              </a:rPr>
              <a:t>Problem:</a:t>
            </a:r>
            <a:endParaRPr sz="27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10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5" dirty="0">
                <a:latin typeface="Calibri"/>
                <a:cs typeface="Calibri"/>
              </a:rPr>
              <a:t>Depends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on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resources.</a:t>
            </a:r>
            <a:endParaRPr sz="24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buFont typeface="Arial MT"/>
              <a:buChar char="–"/>
              <a:tabLst>
                <a:tab pos="756920" algn="l"/>
              </a:tabLst>
            </a:pPr>
            <a:r>
              <a:rPr sz="2400" dirty="0">
                <a:latin typeface="Calibri"/>
                <a:cs typeface="Calibri"/>
              </a:rPr>
              <a:t>Need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extra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manipulation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5" dirty="0">
                <a:latin typeface="Calibri"/>
                <a:cs typeface="Calibri"/>
              </a:rPr>
              <a:t>to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suspend</a:t>
            </a:r>
            <a:r>
              <a:rPr sz="2400" dirty="0">
                <a:latin typeface="Calibri"/>
                <a:cs typeface="Calibri"/>
              </a:rPr>
              <a:t> the</a:t>
            </a:r>
            <a:r>
              <a:rPr sz="2400" spc="-10" dirty="0">
                <a:latin typeface="Calibri"/>
                <a:cs typeface="Calibri"/>
              </a:rPr>
              <a:t> process.</a:t>
            </a:r>
            <a:endParaRPr sz="2400">
              <a:latin typeface="Calibri"/>
              <a:cs typeface="Calibri"/>
            </a:endParaRPr>
          </a:p>
          <a:p>
            <a:pPr marL="756285" lvl="1" indent="-287020">
              <a:lnSpc>
                <a:spcPct val="100000"/>
              </a:lnSpc>
              <a:spcBef>
                <a:spcPts val="5"/>
              </a:spcBef>
              <a:buFont typeface="Arial MT"/>
              <a:buChar char="–"/>
              <a:tabLst>
                <a:tab pos="756920" algn="l"/>
              </a:tabLst>
            </a:pPr>
            <a:r>
              <a:rPr sz="2400" spc="-10" dirty="0">
                <a:latin typeface="Calibri"/>
                <a:cs typeface="Calibri"/>
              </a:rPr>
              <a:t>Difficult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sometime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impossible.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1E9F0D46-777B-403D-B0E5-9D0FA6ACDEA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l-PL" spc="-105"/>
              <a:t>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8701" y="304800"/>
            <a:ext cx="554736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3600" b="1" dirty="0"/>
              <a:t>Recovery from Deadlock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71600"/>
            <a:ext cx="7971790" cy="4425315"/>
          </a:xfrm>
          <a:prstGeom prst="rect">
            <a:avLst/>
          </a:prstGeom>
        </p:spPr>
        <p:txBody>
          <a:bodyPr vert="horz" wrap="square" lIns="0" tIns="107314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844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b="1" spc="-15" dirty="0">
                <a:latin typeface="Calibri"/>
                <a:cs typeface="Calibri"/>
              </a:rPr>
              <a:t>By</a:t>
            </a:r>
            <a:r>
              <a:rPr sz="3000" b="1" spc="-20" dirty="0">
                <a:latin typeface="Calibri"/>
                <a:cs typeface="Calibri"/>
              </a:rPr>
              <a:t> </a:t>
            </a:r>
            <a:r>
              <a:rPr sz="3000" b="1" spc="-10" dirty="0">
                <a:latin typeface="Calibri"/>
                <a:cs typeface="Calibri"/>
              </a:rPr>
              <a:t>Process</a:t>
            </a:r>
            <a:r>
              <a:rPr sz="3000" b="1" spc="-5" dirty="0">
                <a:latin typeface="Calibri"/>
                <a:cs typeface="Calibri"/>
              </a:rPr>
              <a:t> </a:t>
            </a:r>
            <a:r>
              <a:rPr sz="3000" b="1" spc="-35" dirty="0">
                <a:latin typeface="Calibri"/>
                <a:cs typeface="Calibri"/>
              </a:rPr>
              <a:t>Termination</a:t>
            </a:r>
            <a:endParaRPr sz="3000" dirty="0">
              <a:latin typeface="Calibri"/>
              <a:cs typeface="Calibri"/>
            </a:endParaRPr>
          </a:p>
          <a:p>
            <a:pPr marL="756285" marR="20955" lvl="1" indent="-287020">
              <a:lnSpc>
                <a:spcPct val="100000"/>
              </a:lnSpc>
              <a:spcBef>
                <a:spcPts val="655"/>
              </a:spcBef>
              <a:buFont typeface="Arial MT"/>
              <a:buChar char="–"/>
              <a:tabLst>
                <a:tab pos="756920" algn="l"/>
              </a:tabLst>
            </a:pPr>
            <a:r>
              <a:rPr sz="2600" spc="-5" dirty="0">
                <a:latin typeface="Calibri"/>
                <a:cs typeface="Calibri"/>
              </a:rPr>
              <a:t>Eliminating deadlock </a:t>
            </a:r>
            <a:r>
              <a:rPr sz="2600" spc="-10" dirty="0">
                <a:latin typeface="Calibri"/>
                <a:cs typeface="Calibri"/>
              </a:rPr>
              <a:t>by </a:t>
            </a:r>
            <a:r>
              <a:rPr sz="2600" dirty="0">
                <a:latin typeface="Calibri"/>
                <a:cs typeface="Calibri"/>
              </a:rPr>
              <a:t>killing </a:t>
            </a:r>
            <a:r>
              <a:rPr sz="2600" spc="-5" dirty="0">
                <a:latin typeface="Calibri"/>
                <a:cs typeface="Calibri"/>
              </a:rPr>
              <a:t>one or </a:t>
            </a:r>
            <a:r>
              <a:rPr sz="2600" spc="-10" dirty="0">
                <a:latin typeface="Calibri"/>
                <a:cs typeface="Calibri"/>
              </a:rPr>
              <a:t>more process </a:t>
            </a:r>
            <a:r>
              <a:rPr sz="2600" dirty="0">
                <a:latin typeface="Calibri"/>
                <a:cs typeface="Calibri"/>
              </a:rPr>
              <a:t>in </a:t>
            </a:r>
            <a:r>
              <a:rPr sz="2600" spc="-57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cycle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or </a:t>
            </a:r>
            <a:r>
              <a:rPr sz="2600" spc="-10" dirty="0">
                <a:latin typeface="Calibri"/>
                <a:cs typeface="Calibri"/>
              </a:rPr>
              <a:t>process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not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10" dirty="0">
                <a:latin typeface="Calibri"/>
                <a:cs typeface="Calibri"/>
              </a:rPr>
              <a:t> cycle.</a:t>
            </a:r>
            <a:endParaRPr sz="2600" dirty="0">
              <a:latin typeface="Calibri"/>
              <a:cs typeface="Calibri"/>
            </a:endParaRPr>
          </a:p>
          <a:p>
            <a:pPr marL="355600" indent="-342900">
              <a:lnSpc>
                <a:spcPct val="100000"/>
              </a:lnSpc>
              <a:spcBef>
                <a:spcPts val="695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spc="-10" dirty="0">
                <a:latin typeface="Calibri"/>
                <a:cs typeface="Calibri"/>
              </a:rPr>
              <a:t>Problem:</a:t>
            </a:r>
            <a:endParaRPr sz="3000" dirty="0">
              <a:latin typeface="Calibri"/>
              <a:cs typeface="Calibri"/>
            </a:endParaRPr>
          </a:p>
          <a:p>
            <a:pPr marL="756285" marR="958850" lvl="1" indent="-287020">
              <a:lnSpc>
                <a:spcPct val="100000"/>
              </a:lnSpc>
              <a:spcBef>
                <a:spcPts val="650"/>
              </a:spcBef>
              <a:buFont typeface="Arial MT"/>
              <a:buChar char="–"/>
              <a:tabLst>
                <a:tab pos="756920" algn="l"/>
              </a:tabLst>
            </a:pPr>
            <a:r>
              <a:rPr sz="2600" dirty="0">
                <a:latin typeface="Calibri"/>
                <a:cs typeface="Calibri"/>
              </a:rPr>
              <a:t>If</a:t>
            </a:r>
            <a:r>
              <a:rPr sz="2600" spc="-3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the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process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was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 the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midst</a:t>
            </a:r>
            <a:r>
              <a:rPr sz="2600" spc="-1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of updating</a:t>
            </a:r>
            <a:r>
              <a:rPr sz="2600" spc="-25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file, </a:t>
            </a:r>
            <a:r>
              <a:rPr sz="2600" spc="-57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terminating</a:t>
            </a:r>
            <a:r>
              <a:rPr sz="2600" spc="-3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it</a:t>
            </a:r>
            <a:r>
              <a:rPr sz="2600" spc="5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will </a:t>
            </a:r>
            <a:r>
              <a:rPr sz="2600" spc="-15" dirty="0">
                <a:latin typeface="Calibri"/>
                <a:cs typeface="Calibri"/>
              </a:rPr>
              <a:t>leave</a:t>
            </a:r>
            <a:r>
              <a:rPr sz="2600" spc="-10" dirty="0">
                <a:latin typeface="Calibri"/>
                <a:cs typeface="Calibri"/>
              </a:rPr>
              <a:t> </a:t>
            </a:r>
            <a:r>
              <a:rPr sz="2600" spc="-5" dirty="0">
                <a:latin typeface="Calibri"/>
                <a:cs typeface="Calibri"/>
              </a:rPr>
              <a:t>file</a:t>
            </a:r>
            <a:r>
              <a:rPr sz="2600" spc="-20" dirty="0">
                <a:latin typeface="Calibri"/>
                <a:cs typeface="Calibri"/>
              </a:rPr>
              <a:t> </a:t>
            </a:r>
            <a:r>
              <a:rPr sz="2600" dirty="0">
                <a:latin typeface="Calibri"/>
                <a:cs typeface="Calibri"/>
              </a:rPr>
              <a:t>in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10" dirty="0">
                <a:latin typeface="Calibri"/>
                <a:cs typeface="Calibri"/>
              </a:rPr>
              <a:t>incorrect</a:t>
            </a:r>
            <a:r>
              <a:rPr sz="2600" spc="-5" dirty="0">
                <a:latin typeface="Calibri"/>
                <a:cs typeface="Calibri"/>
              </a:rPr>
              <a:t> </a:t>
            </a:r>
            <a:r>
              <a:rPr sz="2600" spc="-20" dirty="0">
                <a:latin typeface="Calibri"/>
                <a:cs typeface="Calibri"/>
              </a:rPr>
              <a:t>state.</a:t>
            </a:r>
            <a:endParaRPr sz="2600" dirty="0">
              <a:latin typeface="Calibri"/>
              <a:cs typeface="Calibri"/>
            </a:endParaRPr>
          </a:p>
          <a:p>
            <a:pPr lvl="1">
              <a:lnSpc>
                <a:spcPct val="100000"/>
              </a:lnSpc>
              <a:buFont typeface="Arial MT"/>
              <a:buChar char="–"/>
            </a:pPr>
            <a:endParaRPr sz="2600" dirty="0">
              <a:latin typeface="Calibri"/>
              <a:cs typeface="Calibri"/>
            </a:endParaRPr>
          </a:p>
          <a:p>
            <a:pPr marL="355600" marR="5080" indent="-342900">
              <a:lnSpc>
                <a:spcPct val="100000"/>
              </a:lnSpc>
              <a:spcBef>
                <a:spcPts val="1839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i="1" spc="-30" dirty="0">
                <a:latin typeface="Calibri"/>
                <a:cs typeface="Calibri"/>
              </a:rPr>
              <a:t>Key </a:t>
            </a:r>
            <a:r>
              <a:rPr sz="3000" i="1" spc="-5" dirty="0">
                <a:latin typeface="Calibri"/>
                <a:cs typeface="Calibri"/>
              </a:rPr>
              <a:t>idea: </a:t>
            </a:r>
            <a:r>
              <a:rPr sz="3000" i="1" dirty="0">
                <a:latin typeface="Calibri"/>
                <a:cs typeface="Calibri"/>
              </a:rPr>
              <a:t>we </a:t>
            </a:r>
            <a:r>
              <a:rPr sz="3000" i="1" spc="-5" dirty="0">
                <a:latin typeface="Calibri"/>
                <a:cs typeface="Calibri"/>
              </a:rPr>
              <a:t>should </a:t>
            </a:r>
            <a:r>
              <a:rPr sz="3000" i="1" spc="-10" dirty="0">
                <a:latin typeface="Calibri"/>
                <a:cs typeface="Calibri"/>
              </a:rPr>
              <a:t>terminate </a:t>
            </a:r>
            <a:r>
              <a:rPr sz="3000" i="1" spc="-5" dirty="0">
                <a:latin typeface="Calibri"/>
                <a:cs typeface="Calibri"/>
              </a:rPr>
              <a:t>those </a:t>
            </a:r>
            <a:r>
              <a:rPr sz="3000" i="1" spc="-10" dirty="0">
                <a:latin typeface="Calibri"/>
                <a:cs typeface="Calibri"/>
              </a:rPr>
              <a:t>processes </a:t>
            </a:r>
            <a:r>
              <a:rPr sz="3000" i="1" spc="-5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the</a:t>
            </a:r>
            <a:r>
              <a:rPr sz="3000" i="1" spc="-35" dirty="0">
                <a:latin typeface="Calibri"/>
                <a:cs typeface="Calibri"/>
              </a:rPr>
              <a:t> </a:t>
            </a:r>
            <a:r>
              <a:rPr sz="3000" i="1" spc="-5" dirty="0">
                <a:latin typeface="Calibri"/>
                <a:cs typeface="Calibri"/>
              </a:rPr>
              <a:t>termination</a:t>
            </a:r>
            <a:r>
              <a:rPr sz="3000" i="1" spc="-35" dirty="0">
                <a:latin typeface="Calibri"/>
                <a:cs typeface="Calibri"/>
              </a:rPr>
              <a:t> </a:t>
            </a:r>
            <a:r>
              <a:rPr sz="3000" i="1" spc="-5" dirty="0">
                <a:latin typeface="Calibri"/>
                <a:cs typeface="Calibri"/>
              </a:rPr>
              <a:t>of</a:t>
            </a:r>
            <a:r>
              <a:rPr sz="3000" i="1" spc="-25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which </a:t>
            </a:r>
            <a:r>
              <a:rPr sz="3000" i="1" spc="-5" dirty="0">
                <a:latin typeface="Calibri"/>
                <a:cs typeface="Calibri"/>
              </a:rPr>
              <a:t>incur</a:t>
            </a:r>
            <a:r>
              <a:rPr sz="3000" i="1" spc="-30" dirty="0">
                <a:latin typeface="Calibri"/>
                <a:cs typeface="Calibri"/>
              </a:rPr>
              <a:t> </a:t>
            </a:r>
            <a:r>
              <a:rPr sz="3000" i="1" dirty="0">
                <a:latin typeface="Calibri"/>
                <a:cs typeface="Calibri"/>
              </a:rPr>
              <a:t>the</a:t>
            </a:r>
            <a:r>
              <a:rPr sz="3000" i="1" spc="-20" dirty="0">
                <a:latin typeface="Calibri"/>
                <a:cs typeface="Calibri"/>
              </a:rPr>
              <a:t> </a:t>
            </a:r>
            <a:r>
              <a:rPr sz="3000" i="1" spc="-5" dirty="0">
                <a:latin typeface="Calibri"/>
                <a:cs typeface="Calibri"/>
              </a:rPr>
              <a:t>minimum</a:t>
            </a:r>
            <a:r>
              <a:rPr sz="3000" i="1" spc="-25" dirty="0">
                <a:latin typeface="Calibri"/>
                <a:cs typeface="Calibri"/>
              </a:rPr>
              <a:t> </a:t>
            </a:r>
            <a:r>
              <a:rPr sz="3000" i="1" spc="-20" dirty="0">
                <a:latin typeface="Calibri"/>
                <a:cs typeface="Calibri"/>
              </a:rPr>
              <a:t>cost.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356C97B-E223-46F9-A684-E8B027DE3284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l-PL" spc="-105" dirty="0"/>
              <a:t>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4604" y="304800"/>
            <a:ext cx="403606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3600" b="1" dirty="0"/>
              <a:t>Ostrich Algorithm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63446"/>
            <a:ext cx="7494905" cy="4141470"/>
          </a:xfrm>
          <a:prstGeom prst="rect">
            <a:avLst/>
          </a:prstGeom>
        </p:spPr>
        <p:txBody>
          <a:bodyPr vert="horz" wrap="square" lIns="0" tIns="64769" rIns="0" bIns="0" rtlCol="0">
            <a:spAutoFit/>
          </a:bodyPr>
          <a:lstStyle/>
          <a:p>
            <a:pPr marL="355600" marR="711200" indent="-342900" algn="just">
              <a:lnSpc>
                <a:spcPts val="3240"/>
              </a:lnSpc>
              <a:spcBef>
                <a:spcPts val="509"/>
              </a:spcBef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spc="-20" dirty="0">
                <a:latin typeface="Calibri"/>
                <a:cs typeface="Calibri"/>
              </a:rPr>
              <a:t>Fact:</a:t>
            </a:r>
            <a:r>
              <a:rPr sz="3000" spc="-4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there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is </a:t>
            </a:r>
            <a:r>
              <a:rPr sz="3000" spc="-5" dirty="0">
                <a:latin typeface="Calibri"/>
                <a:cs typeface="Calibri"/>
              </a:rPr>
              <a:t>no</a:t>
            </a:r>
            <a:r>
              <a:rPr sz="3000" spc="-10" dirty="0">
                <a:latin typeface="Calibri"/>
                <a:cs typeface="Calibri"/>
              </a:rPr>
              <a:t> good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30" dirty="0">
                <a:latin typeface="Calibri"/>
                <a:cs typeface="Calibri"/>
              </a:rPr>
              <a:t>way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of </a:t>
            </a:r>
            <a:r>
              <a:rPr sz="3000" spc="-10" dirty="0">
                <a:latin typeface="Calibri"/>
                <a:cs typeface="Calibri"/>
              </a:rPr>
              <a:t>dealing</a:t>
            </a:r>
            <a:r>
              <a:rPr sz="3000" dirty="0">
                <a:latin typeface="Calibri"/>
                <a:cs typeface="Calibri"/>
              </a:rPr>
              <a:t> with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deadlock.</a:t>
            </a:r>
            <a:endParaRPr sz="3000" dirty="0">
              <a:latin typeface="Calibri"/>
              <a:cs typeface="Calibri"/>
            </a:endParaRPr>
          </a:p>
          <a:p>
            <a:pPr algn="just">
              <a:lnSpc>
                <a:spcPct val="100000"/>
              </a:lnSpc>
              <a:buFont typeface="Arial MT"/>
              <a:buChar char="•"/>
            </a:pPr>
            <a:endParaRPr sz="3500" dirty="0">
              <a:latin typeface="Calibri"/>
              <a:cs typeface="Calibri"/>
            </a:endParaRPr>
          </a:p>
          <a:p>
            <a:pPr marL="574675" algn="ctr">
              <a:lnSpc>
                <a:spcPct val="100000"/>
              </a:lnSpc>
            </a:pPr>
            <a:r>
              <a:rPr sz="3000" spc="-10" dirty="0">
                <a:latin typeface="Calibri"/>
                <a:cs typeface="Calibri"/>
              </a:rPr>
              <a:t>Ignore</a:t>
            </a:r>
            <a:r>
              <a:rPr sz="3000" spc="-3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15" dirty="0">
                <a:latin typeface="Calibri"/>
                <a:cs typeface="Calibri"/>
              </a:rPr>
              <a:t> problem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altogether</a:t>
            </a:r>
            <a:endParaRPr sz="3000" dirty="0">
              <a:latin typeface="Calibri"/>
              <a:cs typeface="Calibri"/>
            </a:endParaRPr>
          </a:p>
          <a:p>
            <a:pPr algn="just">
              <a:lnSpc>
                <a:spcPct val="100000"/>
              </a:lnSpc>
              <a:spcBef>
                <a:spcPts val="45"/>
              </a:spcBef>
            </a:pPr>
            <a:endParaRPr sz="3800" dirty="0">
              <a:latin typeface="Calibri"/>
              <a:cs typeface="Calibri"/>
            </a:endParaRPr>
          </a:p>
          <a:p>
            <a:pPr marL="355600" marR="5080" indent="-342900" algn="just">
              <a:lnSpc>
                <a:spcPct val="90000"/>
              </a:lnSpc>
              <a:buFont typeface="Arial MT"/>
              <a:buChar char="•"/>
              <a:tabLst>
                <a:tab pos="354965" algn="l"/>
                <a:tab pos="355600" algn="l"/>
              </a:tabLst>
            </a:pPr>
            <a:r>
              <a:rPr sz="3000" spc="-15" dirty="0">
                <a:latin typeface="Calibri"/>
                <a:cs typeface="Calibri"/>
              </a:rPr>
              <a:t>For</a:t>
            </a:r>
            <a:r>
              <a:rPr sz="3000" spc="-3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most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operating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20" dirty="0">
                <a:latin typeface="Calibri"/>
                <a:cs typeface="Calibri"/>
              </a:rPr>
              <a:t>systems,</a:t>
            </a:r>
            <a:r>
              <a:rPr sz="3000" spc="-1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deadlock is</a:t>
            </a:r>
            <a:r>
              <a:rPr sz="3000" dirty="0">
                <a:latin typeface="Calibri"/>
                <a:cs typeface="Calibri"/>
              </a:rPr>
              <a:t> a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30" dirty="0">
                <a:latin typeface="Calibri"/>
                <a:cs typeface="Calibri"/>
              </a:rPr>
              <a:t>rare </a:t>
            </a:r>
            <a:r>
              <a:rPr sz="3000" spc="-665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occurrence; </a:t>
            </a:r>
            <a:r>
              <a:rPr sz="3000" spc="-5" dirty="0">
                <a:latin typeface="Calibri"/>
                <a:cs typeface="Calibri"/>
              </a:rPr>
              <a:t>So </a:t>
            </a:r>
            <a:r>
              <a:rPr sz="3000" dirty="0">
                <a:latin typeface="Calibri"/>
                <a:cs typeface="Calibri"/>
              </a:rPr>
              <a:t>the </a:t>
            </a:r>
            <a:r>
              <a:rPr sz="3000" spc="-15" dirty="0">
                <a:latin typeface="Calibri"/>
                <a:cs typeface="Calibri"/>
              </a:rPr>
              <a:t>problem </a:t>
            </a:r>
            <a:r>
              <a:rPr sz="3000" spc="-5" dirty="0">
                <a:latin typeface="Calibri"/>
                <a:cs typeface="Calibri"/>
              </a:rPr>
              <a:t>of deadlock is 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0" dirty="0">
                <a:latin typeface="Calibri"/>
                <a:cs typeface="Calibri"/>
              </a:rPr>
              <a:t>ignored, </a:t>
            </a:r>
            <a:r>
              <a:rPr sz="3000" spc="-30" dirty="0">
                <a:latin typeface="Calibri"/>
                <a:cs typeface="Calibri"/>
              </a:rPr>
              <a:t>like </a:t>
            </a:r>
            <a:r>
              <a:rPr sz="3000" dirty="0">
                <a:latin typeface="Calibri"/>
                <a:cs typeface="Calibri"/>
              </a:rPr>
              <a:t>an </a:t>
            </a:r>
            <a:r>
              <a:rPr sz="3000" spc="-10" dirty="0">
                <a:latin typeface="Calibri"/>
                <a:cs typeface="Calibri"/>
              </a:rPr>
              <a:t>ostrich </a:t>
            </a:r>
            <a:r>
              <a:rPr sz="3000" spc="-5" dirty="0">
                <a:latin typeface="Calibri"/>
                <a:cs typeface="Calibri"/>
              </a:rPr>
              <a:t>sticking </a:t>
            </a:r>
            <a:r>
              <a:rPr sz="3000" dirty="0">
                <a:latin typeface="Calibri"/>
                <a:cs typeface="Calibri"/>
              </a:rPr>
              <a:t>its </a:t>
            </a:r>
            <a:r>
              <a:rPr sz="3000" spc="-5" dirty="0">
                <a:latin typeface="Calibri"/>
                <a:cs typeface="Calibri"/>
              </a:rPr>
              <a:t>head </a:t>
            </a:r>
            <a:r>
              <a:rPr sz="3000" dirty="0">
                <a:latin typeface="Calibri"/>
                <a:cs typeface="Calibri"/>
              </a:rPr>
              <a:t>in the </a:t>
            </a:r>
            <a:r>
              <a:rPr sz="3000" spc="5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sand</a:t>
            </a:r>
            <a:r>
              <a:rPr sz="3000" spc="-2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and </a:t>
            </a:r>
            <a:r>
              <a:rPr sz="3000" spc="-10" dirty="0">
                <a:latin typeface="Calibri"/>
                <a:cs typeface="Calibri"/>
              </a:rPr>
              <a:t>hoping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dirty="0">
                <a:latin typeface="Calibri"/>
                <a:cs typeface="Calibri"/>
              </a:rPr>
              <a:t>the</a:t>
            </a:r>
            <a:r>
              <a:rPr sz="3000" spc="-15" dirty="0">
                <a:latin typeface="Calibri"/>
                <a:cs typeface="Calibri"/>
              </a:rPr>
              <a:t> problem</a:t>
            </a:r>
            <a:r>
              <a:rPr sz="3000" spc="10" dirty="0">
                <a:latin typeface="Calibri"/>
                <a:cs typeface="Calibri"/>
              </a:rPr>
              <a:t> </a:t>
            </a:r>
            <a:r>
              <a:rPr sz="3000" spc="-5" dirty="0">
                <a:latin typeface="Calibri"/>
                <a:cs typeface="Calibri"/>
              </a:rPr>
              <a:t>will</a:t>
            </a:r>
            <a:r>
              <a:rPr sz="3000" dirty="0">
                <a:latin typeface="Calibri"/>
                <a:cs typeface="Calibri"/>
              </a:rPr>
              <a:t> </a:t>
            </a:r>
            <a:r>
              <a:rPr sz="3000" spc="-15" dirty="0">
                <a:latin typeface="Calibri"/>
                <a:cs typeface="Calibri"/>
              </a:rPr>
              <a:t>go</a:t>
            </a:r>
            <a:r>
              <a:rPr sz="3000" spc="-5" dirty="0">
                <a:latin typeface="Calibri"/>
                <a:cs typeface="Calibri"/>
              </a:rPr>
              <a:t> </a:t>
            </a:r>
            <a:r>
              <a:rPr sz="3000" spc="-65" dirty="0">
                <a:latin typeface="Calibri"/>
                <a:cs typeface="Calibri"/>
              </a:rPr>
              <a:t>away.</a:t>
            </a:r>
            <a:endParaRPr sz="3000" dirty="0">
              <a:latin typeface="Calibri"/>
              <a:cs typeface="Calibri"/>
            </a:endParaRPr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4D7B2F9-F255-4C01-BEF2-715F5F57EE23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l-PL" spc="-105"/>
              <a:t>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44646" y="304800"/>
            <a:ext cx="185547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spcBef>
                <a:spcPts val="105"/>
              </a:spcBef>
            </a:pPr>
            <a:r>
              <a:rPr sz="3600" b="1" dirty="0"/>
              <a:t>Exercise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308861"/>
            <a:ext cx="7952105" cy="296799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469900" marR="121920" indent="-457200">
              <a:lnSpc>
                <a:spcPct val="100000"/>
              </a:lnSpc>
              <a:spcBef>
                <a:spcPts val="10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400" dirty="0">
                <a:latin typeface="Calibri"/>
                <a:cs typeface="Calibri"/>
              </a:rPr>
              <a:t>Is it </a:t>
            </a:r>
            <a:r>
              <a:rPr sz="2400" spc="-5" dirty="0">
                <a:latin typeface="Calibri"/>
                <a:cs typeface="Calibri"/>
              </a:rPr>
              <a:t>possible </a:t>
            </a:r>
            <a:r>
              <a:rPr sz="2400" spc="-15" dirty="0">
                <a:latin typeface="Calibri"/>
                <a:cs typeface="Calibri"/>
              </a:rPr>
              <a:t>to </a:t>
            </a:r>
            <a:r>
              <a:rPr sz="2400" spc="-20" dirty="0">
                <a:latin typeface="Calibri"/>
                <a:cs typeface="Calibri"/>
              </a:rPr>
              <a:t>have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5" dirty="0">
                <a:latin typeface="Calibri"/>
                <a:cs typeface="Calibri"/>
              </a:rPr>
              <a:t>deadlock </a:t>
            </a:r>
            <a:r>
              <a:rPr sz="2400" spc="-10" dirty="0">
                <a:latin typeface="Calibri"/>
                <a:cs typeface="Calibri"/>
              </a:rPr>
              <a:t>involving </a:t>
            </a:r>
            <a:r>
              <a:rPr sz="2400" spc="-5" dirty="0">
                <a:latin typeface="Calibri"/>
                <a:cs typeface="Calibri"/>
              </a:rPr>
              <a:t>only one </a:t>
            </a:r>
            <a:r>
              <a:rPr sz="2400" spc="-10" dirty="0">
                <a:latin typeface="Calibri"/>
                <a:cs typeface="Calibri"/>
              </a:rPr>
              <a:t>process?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Explain</a:t>
            </a:r>
            <a:r>
              <a:rPr lang="en-US" sz="2400" spc="-5" dirty="0">
                <a:latin typeface="Calibri"/>
                <a:cs typeface="Calibri"/>
              </a:rPr>
              <a:t>. </a:t>
            </a:r>
            <a:r>
              <a:rPr lang="en-US" sz="2400" b="1" spc="-5" dirty="0">
                <a:solidFill>
                  <a:srgbClr val="00B050"/>
                </a:solidFill>
                <a:latin typeface="Calibri"/>
                <a:cs typeface="Calibri"/>
              </a:rPr>
              <a:t>Always Requires at least 2 processes</a:t>
            </a:r>
            <a:endParaRPr sz="2400" b="1" dirty="0">
              <a:solidFill>
                <a:srgbClr val="00B050"/>
              </a:solidFill>
              <a:latin typeface="Calibri"/>
              <a:cs typeface="Calibri"/>
            </a:endParaRPr>
          </a:p>
          <a:p>
            <a:pPr marL="469900" marR="229870" indent="-457200">
              <a:lnSpc>
                <a:spcPct val="100000"/>
              </a:lnSpc>
              <a:spcBef>
                <a:spcPts val="580"/>
              </a:spcBef>
              <a:buAutoNum type="arabicPeriod"/>
              <a:tabLst>
                <a:tab pos="469265" algn="l"/>
                <a:tab pos="469900" algn="l"/>
              </a:tabLst>
            </a:pPr>
            <a:r>
              <a:rPr sz="2400" spc="-5" dirty="0">
                <a:latin typeface="Calibri"/>
                <a:cs typeface="Calibri"/>
              </a:rPr>
              <a:t>Consider </a:t>
            </a:r>
            <a:r>
              <a:rPr sz="2400" dirty="0">
                <a:latin typeface="Calibri"/>
                <a:cs typeface="Calibri"/>
              </a:rPr>
              <a:t>the </a:t>
            </a:r>
            <a:r>
              <a:rPr sz="2400" spc="-10" dirty="0">
                <a:latin typeface="Calibri"/>
                <a:cs typeface="Calibri"/>
              </a:rPr>
              <a:t>following snapshot </a:t>
            </a:r>
            <a:r>
              <a:rPr sz="2400" spc="-5" dirty="0">
                <a:latin typeface="Calibri"/>
                <a:cs typeface="Calibri"/>
              </a:rPr>
              <a:t>of </a:t>
            </a:r>
            <a:r>
              <a:rPr sz="2400" dirty="0">
                <a:latin typeface="Calibri"/>
                <a:cs typeface="Calibri"/>
              </a:rPr>
              <a:t>a </a:t>
            </a:r>
            <a:r>
              <a:rPr sz="2400" spc="-25" dirty="0">
                <a:latin typeface="Calibri"/>
                <a:cs typeface="Calibri"/>
              </a:rPr>
              <a:t>system </a:t>
            </a:r>
            <a:r>
              <a:rPr sz="2400" spc="-5" dirty="0">
                <a:latin typeface="Calibri"/>
                <a:cs typeface="Calibri"/>
              </a:rPr>
              <a:t>(given bellow) </a:t>
            </a:r>
            <a:r>
              <a:rPr sz="2400" spc="-5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Answer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following </a:t>
            </a:r>
            <a:r>
              <a:rPr sz="2400" spc="-5" dirty="0">
                <a:latin typeface="Calibri"/>
                <a:cs typeface="Calibri"/>
              </a:rPr>
              <a:t>questions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using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Banker's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5" dirty="0">
                <a:latin typeface="Calibri"/>
                <a:cs typeface="Calibri"/>
              </a:rPr>
              <a:t>algorithm:</a:t>
            </a:r>
            <a:endParaRPr sz="2400" dirty="0">
              <a:latin typeface="Calibri"/>
              <a:cs typeface="Calibri"/>
            </a:endParaRPr>
          </a:p>
          <a:p>
            <a:pPr marL="984885" lvl="1" indent="-515620">
              <a:lnSpc>
                <a:spcPct val="100000"/>
              </a:lnSpc>
              <a:spcBef>
                <a:spcPts val="505"/>
              </a:spcBef>
              <a:buAutoNum type="alphaLcParenR"/>
              <a:tabLst>
                <a:tab pos="984885" algn="l"/>
                <a:tab pos="985519" algn="l"/>
              </a:tabLst>
            </a:pPr>
            <a:r>
              <a:rPr sz="2000" spc="-5" dirty="0">
                <a:latin typeface="Calibri"/>
                <a:cs typeface="Calibri"/>
              </a:rPr>
              <a:t>What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content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matrix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Need?</a:t>
            </a:r>
            <a:endParaRPr sz="2000" dirty="0">
              <a:latin typeface="Calibri"/>
              <a:cs typeface="Calibri"/>
            </a:endParaRPr>
          </a:p>
          <a:p>
            <a:pPr marL="984885" lvl="1" indent="-515620">
              <a:lnSpc>
                <a:spcPct val="100000"/>
              </a:lnSpc>
              <a:spcBef>
                <a:spcPts val="484"/>
              </a:spcBef>
              <a:buAutoNum type="alphaLcParenR"/>
              <a:tabLst>
                <a:tab pos="984885" algn="l"/>
                <a:tab pos="985519" algn="l"/>
              </a:tabLst>
            </a:pPr>
            <a:r>
              <a:rPr sz="2000" dirty="0">
                <a:latin typeface="Calibri"/>
                <a:cs typeface="Calibri"/>
              </a:rPr>
              <a:t>Is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system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safe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state?</a:t>
            </a:r>
            <a:endParaRPr sz="2000" dirty="0">
              <a:latin typeface="Calibri"/>
              <a:cs typeface="Calibri"/>
            </a:endParaRPr>
          </a:p>
          <a:p>
            <a:pPr marL="984885" marR="5080" lvl="1" indent="-515620">
              <a:lnSpc>
                <a:spcPct val="100000"/>
              </a:lnSpc>
              <a:spcBef>
                <a:spcPts val="480"/>
              </a:spcBef>
              <a:buAutoNum type="alphaLcParenR"/>
              <a:tabLst>
                <a:tab pos="984885" algn="l"/>
                <a:tab pos="985519" algn="l"/>
              </a:tabLst>
            </a:pPr>
            <a:r>
              <a:rPr sz="2000" dirty="0">
                <a:latin typeface="Calibri"/>
                <a:cs typeface="Calibri"/>
              </a:rPr>
              <a:t>If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request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from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process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P1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arrives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for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(0,4,2,0),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can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request</a:t>
            </a:r>
            <a:r>
              <a:rPr sz="2000" spc="1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be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spc="-15" dirty="0">
                <a:latin typeface="Calibri"/>
                <a:cs typeface="Calibri"/>
              </a:rPr>
              <a:t>granted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immediately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?</a:t>
            </a:r>
            <a:r>
              <a:rPr lang="en-US" sz="2000" dirty="0">
                <a:latin typeface="Calibri"/>
                <a:cs typeface="Calibri"/>
              </a:rPr>
              <a:t> </a:t>
            </a:r>
            <a:r>
              <a:rPr lang="en-US" sz="2000" b="1" dirty="0">
                <a:solidFill>
                  <a:srgbClr val="00B050"/>
                </a:solidFill>
                <a:latin typeface="Calibri"/>
                <a:cs typeface="Calibri"/>
              </a:rPr>
              <a:t>Yes</a:t>
            </a:r>
            <a:r>
              <a:rPr lang="en-US" sz="2000" dirty="0">
                <a:latin typeface="Calibri"/>
                <a:cs typeface="Calibri"/>
              </a:rPr>
              <a:t> but </a:t>
            </a:r>
            <a:r>
              <a:rPr lang="en-US" sz="2000" b="1" dirty="0">
                <a:solidFill>
                  <a:srgbClr val="FF0000"/>
                </a:solidFill>
                <a:latin typeface="Calibri"/>
                <a:cs typeface="Calibri"/>
              </a:rPr>
              <a:t>not immediately</a:t>
            </a:r>
            <a:endParaRPr sz="2000" b="1" dirty="0">
              <a:solidFill>
                <a:srgbClr val="FF0000"/>
              </a:solidFill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752600" y="4591050"/>
            <a:ext cx="4305300" cy="1485900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DE61F5F-6AF7-48E5-9760-7B65947F6D7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l-PL" spc="-105"/>
              <a:t>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535940" y="1371600"/>
            <a:ext cx="800925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  <a:tabLst>
                <a:tab pos="365760" algn="l"/>
                <a:tab pos="6182995" algn="l"/>
              </a:tabLst>
            </a:pPr>
            <a:r>
              <a:rPr sz="2400" dirty="0"/>
              <a:t>3.	A</a:t>
            </a:r>
            <a:r>
              <a:rPr sz="2400" spc="-5" dirty="0"/>
              <a:t> </a:t>
            </a:r>
            <a:r>
              <a:rPr sz="2400" spc="-25" dirty="0"/>
              <a:t>system</a:t>
            </a:r>
            <a:r>
              <a:rPr sz="2400" dirty="0"/>
              <a:t> </a:t>
            </a:r>
            <a:r>
              <a:rPr sz="2400" spc="-5" dirty="0"/>
              <a:t>has</a:t>
            </a:r>
            <a:r>
              <a:rPr sz="2400" spc="10" dirty="0"/>
              <a:t> </a:t>
            </a:r>
            <a:r>
              <a:rPr sz="2400" spc="-20" dirty="0"/>
              <a:t>four</a:t>
            </a:r>
            <a:r>
              <a:rPr sz="2400" spc="10" dirty="0"/>
              <a:t> </a:t>
            </a:r>
            <a:r>
              <a:rPr sz="2400" spc="-10" dirty="0"/>
              <a:t>processes</a:t>
            </a:r>
            <a:r>
              <a:rPr sz="2400" spc="5" dirty="0"/>
              <a:t> </a:t>
            </a:r>
            <a:r>
              <a:rPr sz="2400" dirty="0"/>
              <a:t>and</a:t>
            </a:r>
            <a:r>
              <a:rPr sz="2400" spc="10" dirty="0"/>
              <a:t> </a:t>
            </a:r>
            <a:r>
              <a:rPr sz="2400" spc="-15" dirty="0"/>
              <a:t>five</a:t>
            </a:r>
            <a:r>
              <a:rPr sz="2400" spc="15" dirty="0"/>
              <a:t> </a:t>
            </a:r>
            <a:r>
              <a:rPr sz="2400" spc="-5" dirty="0"/>
              <a:t>allocable	</a:t>
            </a:r>
            <a:r>
              <a:rPr sz="2400" spc="-10" dirty="0"/>
              <a:t>resources.</a:t>
            </a:r>
            <a:r>
              <a:rPr sz="2400" spc="-55" dirty="0"/>
              <a:t> </a:t>
            </a:r>
            <a:r>
              <a:rPr sz="2400" spc="-10" dirty="0"/>
              <a:t>The</a:t>
            </a:r>
            <a:endParaRPr sz="2400" dirty="0"/>
          </a:p>
          <a:p>
            <a:pPr marR="53340" algn="ctr">
              <a:lnSpc>
                <a:spcPct val="100000"/>
              </a:lnSpc>
            </a:pPr>
            <a:r>
              <a:rPr sz="2400" spc="-10" dirty="0"/>
              <a:t>current</a:t>
            </a:r>
            <a:r>
              <a:rPr sz="2400" spc="-35" dirty="0"/>
              <a:t> </a:t>
            </a:r>
            <a:r>
              <a:rPr sz="2400" spc="-5" dirty="0"/>
              <a:t>allocation</a:t>
            </a:r>
            <a:r>
              <a:rPr sz="2400" spc="-25" dirty="0"/>
              <a:t> </a:t>
            </a:r>
            <a:r>
              <a:rPr sz="2400" dirty="0"/>
              <a:t>and</a:t>
            </a:r>
            <a:r>
              <a:rPr sz="2400" spc="-10" dirty="0"/>
              <a:t> </a:t>
            </a:r>
            <a:r>
              <a:rPr sz="2400" spc="-5" dirty="0"/>
              <a:t>maximum</a:t>
            </a:r>
            <a:r>
              <a:rPr sz="2400" spc="-30" dirty="0"/>
              <a:t> </a:t>
            </a:r>
            <a:r>
              <a:rPr sz="2400" spc="-5" dirty="0"/>
              <a:t>needs</a:t>
            </a:r>
            <a:r>
              <a:rPr sz="2400" spc="-10" dirty="0"/>
              <a:t> </a:t>
            </a:r>
            <a:r>
              <a:rPr sz="2400" spc="-15" dirty="0"/>
              <a:t>are</a:t>
            </a:r>
            <a:r>
              <a:rPr sz="2400" spc="-5" dirty="0"/>
              <a:t> </a:t>
            </a:r>
            <a:r>
              <a:rPr sz="2400" spc="-10" dirty="0"/>
              <a:t>given</a:t>
            </a:r>
            <a:r>
              <a:rPr sz="2400" dirty="0"/>
              <a:t> </a:t>
            </a:r>
            <a:r>
              <a:rPr sz="2400" spc="-5" dirty="0"/>
              <a:t>bellow:</a:t>
            </a:r>
            <a:endParaRPr sz="2400" dirty="0"/>
          </a:p>
        </p:txBody>
      </p:sp>
      <p:sp>
        <p:nvSpPr>
          <p:cNvPr id="3" name="object 3"/>
          <p:cNvSpPr txBox="1"/>
          <p:nvPr/>
        </p:nvSpPr>
        <p:spPr>
          <a:xfrm>
            <a:off x="993139" y="2286000"/>
            <a:ext cx="7400925" cy="6356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99085" marR="5080" indent="-287020">
              <a:lnSpc>
                <a:spcPct val="100000"/>
              </a:lnSpc>
              <a:spcBef>
                <a:spcPts val="105"/>
              </a:spcBef>
              <a:tabLst>
                <a:tab pos="299085" algn="l"/>
              </a:tabLst>
            </a:pPr>
            <a:r>
              <a:rPr sz="2000" dirty="0">
                <a:latin typeface="Arial MT"/>
                <a:cs typeface="Arial MT"/>
              </a:rPr>
              <a:t>–	</a:t>
            </a:r>
            <a:r>
              <a:rPr sz="2000" spc="-5" dirty="0">
                <a:latin typeface="Calibri"/>
                <a:cs typeface="Calibri"/>
              </a:rPr>
              <a:t>What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 </a:t>
            </a:r>
            <a:r>
              <a:rPr sz="2000" spc="-10" dirty="0">
                <a:latin typeface="Calibri"/>
                <a:cs typeface="Calibri"/>
              </a:rPr>
              <a:t>smallest</a:t>
            </a:r>
            <a:r>
              <a:rPr sz="2000" spc="40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value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of</a:t>
            </a:r>
            <a:r>
              <a:rPr sz="200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x </a:t>
            </a:r>
            <a:r>
              <a:rPr sz="2000" b="1" i="1" spc="-10" dirty="0">
                <a:latin typeface="Calibri"/>
                <a:cs typeface="Calibri"/>
              </a:rPr>
              <a:t>for</a:t>
            </a:r>
            <a:r>
              <a:rPr sz="2000" b="1" i="1" spc="-5" dirty="0">
                <a:latin typeface="Calibri"/>
                <a:cs typeface="Calibri"/>
              </a:rPr>
              <a:t> which</a:t>
            </a:r>
            <a:r>
              <a:rPr sz="2000" b="1" i="1" spc="-2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this</a:t>
            </a:r>
            <a:r>
              <a:rPr sz="2000" b="1" i="1" spc="-25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is</a:t>
            </a:r>
            <a:r>
              <a:rPr sz="2000" b="1" i="1" spc="-10" dirty="0">
                <a:latin typeface="Calibri"/>
                <a:cs typeface="Calibri"/>
              </a:rPr>
              <a:t> </a:t>
            </a:r>
            <a:r>
              <a:rPr sz="2000" b="1" i="1" dirty="0">
                <a:latin typeface="Calibri"/>
                <a:cs typeface="Calibri"/>
              </a:rPr>
              <a:t>a</a:t>
            </a:r>
            <a:r>
              <a:rPr sz="2000" b="1" i="1" spc="-5" dirty="0">
                <a:latin typeface="Calibri"/>
                <a:cs typeface="Calibri"/>
              </a:rPr>
              <a:t> </a:t>
            </a:r>
            <a:r>
              <a:rPr sz="2000" b="1" i="1" spc="-10" dirty="0">
                <a:latin typeface="Calibri"/>
                <a:cs typeface="Calibri"/>
              </a:rPr>
              <a:t>safe</a:t>
            </a:r>
            <a:r>
              <a:rPr sz="2000" b="1" i="1" spc="-1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state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spc="-5" dirty="0">
                <a:latin typeface="Calibri"/>
                <a:cs typeface="Calibri"/>
              </a:rPr>
              <a:t>based on </a:t>
            </a:r>
            <a:r>
              <a:rPr sz="2000" spc="-43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5" dirty="0">
                <a:latin typeface="Calibri"/>
                <a:cs typeface="Calibri"/>
              </a:rPr>
              <a:t> Banker’s </a:t>
            </a:r>
            <a:r>
              <a:rPr sz="2000" spc="-5" dirty="0">
                <a:latin typeface="Calibri"/>
                <a:cs typeface="Calibri"/>
              </a:rPr>
              <a:t>algorithm?</a:t>
            </a:r>
            <a:endParaRPr sz="2000" dirty="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3352800"/>
            <a:ext cx="6799048" cy="2016369"/>
          </a:xfrm>
          <a:prstGeom prst="rect">
            <a:avLst/>
          </a:prstGeom>
        </p:spPr>
      </p:pic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76233C5-5E48-44F7-98E9-AAEDE0FE9081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l-PL" spc="-105"/>
              <a:t>By: Dr. Binod Kr. Adhikari</a:t>
            </a:r>
            <a:endParaRPr lang="en-IN" dirty="0"/>
          </a:p>
        </p:txBody>
      </p:sp>
      <p:sp>
        <p:nvSpPr>
          <p:cNvPr id="9" name="object 2">
            <a:extLst>
              <a:ext uri="{FF2B5EF4-FFF2-40B4-BE49-F238E27FC236}">
                <a16:creationId xmlns:a16="http://schemas.microsoft.com/office/drawing/2014/main" id="{D24B4963-E189-4C19-9C93-C61867DB32EB}"/>
              </a:ext>
            </a:extLst>
          </p:cNvPr>
          <p:cNvSpPr txBox="1">
            <a:spLocks/>
          </p:cNvSpPr>
          <p:nvPr/>
        </p:nvSpPr>
        <p:spPr>
          <a:xfrm>
            <a:off x="3644646" y="304800"/>
            <a:ext cx="185547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>
            <a:lvl1pPr algn="ctr" eaLnBrk="1" hangingPunct="1">
              <a:defRPr sz="4400" b="0" i="0">
                <a:solidFill>
                  <a:schemeClr val="tx1"/>
                </a:solidFill>
                <a:latin typeface="Times New Roman"/>
                <a:ea typeface="+mj-ea"/>
                <a:cs typeface="Times New Roman"/>
              </a:defRPr>
            </a:lvl1pPr>
          </a:lstStyle>
          <a:p>
            <a:pPr marL="12700">
              <a:spcBef>
                <a:spcPts val="105"/>
              </a:spcBef>
            </a:pPr>
            <a:r>
              <a:rPr lang="en-IN" sz="3600" b="1" kern="0" dirty="0"/>
              <a:t>Exercise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509009" y="304800"/>
            <a:ext cx="212725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rtl="0">
              <a:spcBef>
                <a:spcPts val="105"/>
              </a:spcBef>
            </a:pPr>
            <a:r>
              <a:rPr sz="3600" b="1" dirty="0"/>
              <a:t>Solutions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66113"/>
            <a:ext cx="6277610" cy="11842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5" dirty="0">
                <a:latin typeface="Calibri"/>
                <a:cs typeface="Calibri"/>
              </a:rPr>
              <a:t>1.</a:t>
            </a:r>
            <a:r>
              <a:rPr sz="1900" spc="-6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No.</a:t>
            </a:r>
            <a:endParaRPr sz="19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5"/>
              </a:spcBef>
            </a:pPr>
            <a:r>
              <a:rPr sz="1900" spc="-10" dirty="0">
                <a:latin typeface="Calibri"/>
                <a:cs typeface="Calibri"/>
              </a:rPr>
              <a:t>This</a:t>
            </a:r>
            <a:r>
              <a:rPr sz="1900" spc="-15" dirty="0">
                <a:latin typeface="Calibri"/>
                <a:cs typeface="Calibri"/>
              </a:rPr>
              <a:t> follows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directly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from</a:t>
            </a:r>
            <a:r>
              <a:rPr sz="1900" spc="-5" dirty="0">
                <a:latin typeface="Calibri"/>
                <a:cs typeface="Calibri"/>
              </a:rPr>
              <a:t> the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hold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and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wait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condition.</a:t>
            </a:r>
            <a:endParaRPr sz="1900">
              <a:latin typeface="Calibri"/>
              <a:cs typeface="Calibri"/>
            </a:endParaRPr>
          </a:p>
          <a:p>
            <a:pPr marL="12700" marR="5080">
              <a:lnSpc>
                <a:spcPct val="100000"/>
              </a:lnSpc>
            </a:pPr>
            <a:r>
              <a:rPr sz="1900" spc="-10" dirty="0">
                <a:latin typeface="Calibri"/>
                <a:cs typeface="Calibri"/>
              </a:rPr>
              <a:t>Hold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and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wait: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a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process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holding</a:t>
            </a:r>
            <a:r>
              <a:rPr sz="1900" spc="3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at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least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one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resource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is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waiting </a:t>
            </a:r>
            <a:r>
              <a:rPr sz="1900" spc="-415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to </a:t>
            </a:r>
            <a:r>
              <a:rPr sz="1900" spc="-10" dirty="0">
                <a:latin typeface="Calibri"/>
                <a:cs typeface="Calibri"/>
              </a:rPr>
              <a:t>acquire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additional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resources held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by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other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processes</a:t>
            </a:r>
            <a:endParaRPr sz="19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35940" y="4463034"/>
            <a:ext cx="7635240" cy="17627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900" spc="-10" dirty="0">
                <a:latin typeface="Calibri"/>
                <a:cs typeface="Calibri"/>
              </a:rPr>
              <a:t>2.</a:t>
            </a:r>
            <a:endParaRPr sz="1900">
              <a:latin typeface="Calibri"/>
              <a:cs typeface="Calibri"/>
            </a:endParaRPr>
          </a:p>
          <a:p>
            <a:pPr marL="294005" indent="-230504">
              <a:lnSpc>
                <a:spcPct val="100000"/>
              </a:lnSpc>
              <a:buAutoNum type="alphaLcPeriod"/>
              <a:tabLst>
                <a:tab pos="294640" algn="l"/>
              </a:tabLst>
            </a:pPr>
            <a:r>
              <a:rPr sz="1900" spc="-5" dirty="0">
                <a:latin typeface="Calibri"/>
                <a:cs typeface="Calibri"/>
              </a:rPr>
              <a:t>Need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=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Max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–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Allocation.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The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matrix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is</a:t>
            </a:r>
            <a:r>
              <a:rPr sz="1900" spc="-10" dirty="0">
                <a:latin typeface="Calibri"/>
                <a:cs typeface="Calibri"/>
              </a:rPr>
              <a:t> shown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bellow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on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the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left-hand</a:t>
            </a:r>
            <a:r>
              <a:rPr sz="1900" spc="3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side;</a:t>
            </a:r>
            <a:endParaRPr sz="1900">
              <a:latin typeface="Calibri"/>
              <a:cs typeface="Calibri"/>
            </a:endParaRPr>
          </a:p>
          <a:p>
            <a:pPr marL="251460" indent="-239395">
              <a:lnSpc>
                <a:spcPct val="100000"/>
              </a:lnSpc>
              <a:buAutoNum type="alphaLcPeriod"/>
              <a:tabLst>
                <a:tab pos="252095" algn="l"/>
              </a:tabLst>
            </a:pPr>
            <a:r>
              <a:rPr sz="1900" spc="-40" dirty="0">
                <a:latin typeface="Calibri"/>
                <a:cs typeface="Calibri"/>
              </a:rPr>
              <a:t>Yes,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a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sequence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&lt;P3,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P4,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P2,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P1,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P0&gt;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is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safe;</a:t>
            </a:r>
            <a:endParaRPr sz="1900">
              <a:latin typeface="Calibri"/>
              <a:cs typeface="Calibri"/>
            </a:endParaRPr>
          </a:p>
          <a:p>
            <a:pPr marL="12700" marR="1731010">
              <a:lnSpc>
                <a:spcPct val="100000"/>
              </a:lnSpc>
              <a:buAutoNum type="alphaLcPeriod"/>
              <a:tabLst>
                <a:tab pos="227965" algn="l"/>
              </a:tabLst>
            </a:pPr>
            <a:r>
              <a:rPr sz="1900" spc="-35" dirty="0">
                <a:latin typeface="Calibri"/>
                <a:cs typeface="Calibri"/>
              </a:rPr>
              <a:t>Yes,</a:t>
            </a:r>
            <a:r>
              <a:rPr sz="1900" spc="-1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there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is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a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sequence</a:t>
            </a:r>
            <a:r>
              <a:rPr sz="1900" dirty="0">
                <a:latin typeface="Calibri"/>
                <a:cs typeface="Calibri"/>
              </a:rPr>
              <a:t> &lt;P0,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P2,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P1,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P4,</a:t>
            </a:r>
            <a:r>
              <a:rPr sz="1900" spc="-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P3&gt;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which</a:t>
            </a:r>
            <a:r>
              <a:rPr sz="1900" spc="10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is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15" dirty="0">
                <a:latin typeface="Calibri"/>
                <a:cs typeface="Calibri"/>
              </a:rPr>
              <a:t>safe. </a:t>
            </a:r>
            <a:r>
              <a:rPr sz="1900" spc="-41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The</a:t>
            </a:r>
            <a:r>
              <a:rPr sz="1900" spc="-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snapshot</a:t>
            </a:r>
            <a:r>
              <a:rPr sz="1900" spc="-5" dirty="0">
                <a:latin typeface="Calibri"/>
                <a:cs typeface="Calibri"/>
              </a:rPr>
              <a:t> of the</a:t>
            </a:r>
            <a:r>
              <a:rPr sz="1900" spc="5" dirty="0">
                <a:latin typeface="Calibri"/>
                <a:cs typeface="Calibri"/>
              </a:rPr>
              <a:t> </a:t>
            </a:r>
            <a:r>
              <a:rPr sz="1900" spc="-20" dirty="0">
                <a:latin typeface="Calibri"/>
                <a:cs typeface="Calibri"/>
              </a:rPr>
              <a:t>system </a:t>
            </a:r>
            <a:r>
              <a:rPr sz="1900" spc="-10" dirty="0">
                <a:latin typeface="Calibri"/>
                <a:cs typeface="Calibri"/>
              </a:rPr>
              <a:t>after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resources allocation</a:t>
            </a:r>
            <a:r>
              <a:rPr sz="1900" spc="1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is 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given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bellow</a:t>
            </a:r>
            <a:r>
              <a:rPr sz="1900" spc="25" dirty="0">
                <a:latin typeface="Calibri"/>
                <a:cs typeface="Calibri"/>
              </a:rPr>
              <a:t> </a:t>
            </a:r>
            <a:r>
              <a:rPr sz="1900" spc="-5" dirty="0">
                <a:latin typeface="Calibri"/>
                <a:cs typeface="Calibri"/>
              </a:rPr>
              <a:t>on the</a:t>
            </a:r>
            <a:r>
              <a:rPr sz="190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right-hand</a:t>
            </a:r>
            <a:r>
              <a:rPr sz="1900" spc="40" dirty="0">
                <a:latin typeface="Calibri"/>
                <a:cs typeface="Calibri"/>
              </a:rPr>
              <a:t> </a:t>
            </a:r>
            <a:r>
              <a:rPr sz="1900" spc="-10" dirty="0">
                <a:latin typeface="Calibri"/>
                <a:cs typeface="Calibri"/>
              </a:rPr>
              <a:t>side.</a:t>
            </a:r>
            <a:endParaRPr sz="1900">
              <a:latin typeface="Calibri"/>
              <a:cs typeface="Calibri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266825" y="3114675"/>
            <a:ext cx="6086475" cy="1476375"/>
          </a:xfrm>
          <a:prstGeom prst="rect">
            <a:avLst/>
          </a:prstGeom>
        </p:spPr>
      </p:pic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8AA25DF-2DFA-4FCE-B32F-48780B972002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l-PL" spc="-105"/>
              <a:t>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027426" y="304800"/>
            <a:ext cx="3093085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rtl="0">
              <a:spcBef>
                <a:spcPts val="105"/>
              </a:spcBef>
            </a:pPr>
            <a:r>
              <a:rPr sz="3600" b="1" dirty="0"/>
              <a:t>Solution for 3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99093" y="1600200"/>
            <a:ext cx="7891443" cy="4410744"/>
          </a:xfrm>
          <a:prstGeom prst="rect">
            <a:avLst/>
          </a:prstGeom>
        </p:spPr>
      </p:pic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DC36E9C-4480-425F-8B54-5D456326E0BD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l-PL" spc="-105"/>
              <a:t>By: Dr. Binod Kr. Adhikari</a:t>
            </a:r>
            <a:endParaRPr lang="en-IN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555115" y="2861537"/>
            <a:ext cx="6033770" cy="567463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rtl="0">
              <a:spcBef>
                <a:spcPts val="105"/>
              </a:spcBef>
            </a:pPr>
            <a:r>
              <a:rPr sz="3600" b="1" dirty="0"/>
              <a:t>Paper Review on Deadlock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EB06C4A-06E3-4BE7-AC7A-5215BF2FD596}"/>
              </a:ext>
            </a:extLst>
          </p:cNvPr>
          <p:cNvSpPr>
            <a:spLocks noGrp="1"/>
          </p:cNvSpPr>
          <p:nvPr>
            <p:ph type="ftr" sz="quarter" idx="5"/>
          </p:nvPr>
        </p:nvSpPr>
        <p:spPr/>
        <p:txBody>
          <a:bodyPr/>
          <a:lstStyle/>
          <a:p>
            <a:pPr marL="12700">
              <a:lnSpc>
                <a:spcPts val="1240"/>
              </a:lnSpc>
            </a:pPr>
            <a:r>
              <a:rPr lang="pl-PL" spc="-105"/>
              <a:t>By: Dr. Binod Kr. Adhikari</a:t>
            </a:r>
            <a:endParaRPr lang="en-IN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heme3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heme3" id="{D686E11A-70D7-488D-9857-BF232B03B157}" vid="{361E00F6-43B0-4859-9256-696880D8D5E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Theme3</Template>
  <TotalTime>1789</TotalTime>
  <Words>2273</Words>
  <Application>Microsoft Office PowerPoint</Application>
  <PresentationFormat>On-screen Show (4:3)</PresentationFormat>
  <Paragraphs>253</Paragraphs>
  <Slides>34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34</vt:i4>
      </vt:variant>
    </vt:vector>
  </HeadingPairs>
  <TitlesOfParts>
    <vt:vector size="39" baseType="lpstr">
      <vt:lpstr>Arial MT</vt:lpstr>
      <vt:lpstr>Calibri</vt:lpstr>
      <vt:lpstr>Cambria Math</vt:lpstr>
      <vt:lpstr>Times New Roman</vt:lpstr>
      <vt:lpstr>Theme3</vt:lpstr>
      <vt:lpstr>Deadlock</vt:lpstr>
      <vt:lpstr>Deadlock Example</vt:lpstr>
      <vt:lpstr>Resource Deadlock</vt:lpstr>
      <vt:lpstr>Resource Deadlock</vt:lpstr>
      <vt:lpstr>Condition for Deadlock</vt:lpstr>
      <vt:lpstr>Resource Allocation Graph (RAG)</vt:lpstr>
      <vt:lpstr>Example</vt:lpstr>
      <vt:lpstr>Method for Handling Deadlock</vt:lpstr>
      <vt:lpstr>Deadlock Prevention</vt:lpstr>
      <vt:lpstr>First : Denying Mutual Exclusion</vt:lpstr>
      <vt:lpstr>Second: Denying Hold and Wait:</vt:lpstr>
      <vt:lpstr>Third: Denying No-preemption</vt:lpstr>
      <vt:lpstr>Denying Circular Wait:</vt:lpstr>
      <vt:lpstr>Deadlock Avoidance</vt:lpstr>
      <vt:lpstr>Deadlock Avoidance</vt:lpstr>
      <vt:lpstr>Safe state and Deadlock State</vt:lpstr>
      <vt:lpstr>Example</vt:lpstr>
      <vt:lpstr>Continued</vt:lpstr>
      <vt:lpstr>Deadlock Avoidance</vt:lpstr>
      <vt:lpstr>Banker’s Algorithm</vt:lpstr>
      <vt:lpstr>Banker’s Algorithm</vt:lpstr>
      <vt:lpstr>Deadlock Avoidance  Problem with Banker</vt:lpstr>
      <vt:lpstr>Deadlock Detection and Recovery</vt:lpstr>
      <vt:lpstr>Deadlock Detection</vt:lpstr>
      <vt:lpstr>Example</vt:lpstr>
      <vt:lpstr>Deadlock Detection</vt:lpstr>
      <vt:lpstr>Recovery from Deadlock</vt:lpstr>
      <vt:lpstr>Recovery from Deadlock</vt:lpstr>
      <vt:lpstr>Ostrich Algorithm</vt:lpstr>
      <vt:lpstr>Exercise</vt:lpstr>
      <vt:lpstr>3. A system has four processes and five allocable resources. The current allocation and maximum needs are given bellow:</vt:lpstr>
      <vt:lpstr>Solutions</vt:lpstr>
      <vt:lpstr>Solution for 3</vt:lpstr>
      <vt:lpstr>Paper Review on Deadlock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Deadlock</dc:title>
  <dc:creator>bishal</dc:creator>
  <cp:lastModifiedBy>Yujan Basnet</cp:lastModifiedBy>
  <cp:revision>4</cp:revision>
  <dcterms:created xsi:type="dcterms:W3CDTF">2024-03-08T16:18:43Z</dcterms:created>
  <dcterms:modified xsi:type="dcterms:W3CDTF">2025-06-06T00:48:16Z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2018-04-18T00:00:00Z</vt:filetime>
  </property>
  <property fmtid="{D5CDD505-2E9C-101B-9397-08002B2CF9AE}" pid="3" name="Creator">
    <vt:lpwstr>Microsoft® Office PowerPoint® 2007</vt:lpwstr>
  </property>
  <property fmtid="{D5CDD505-2E9C-101B-9397-08002B2CF9AE}" pid="4" name="LastSaved">
    <vt:filetime>2024-03-08T00:00:00Z</vt:filetime>
  </property>
</Properties>
</file>