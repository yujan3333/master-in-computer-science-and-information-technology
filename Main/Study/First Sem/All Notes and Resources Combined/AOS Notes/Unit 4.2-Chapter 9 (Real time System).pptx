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90" r:id="rId23"/>
    <p:sldId id="291" r:id="rId24"/>
    <p:sldId id="292" r:id="rId25"/>
    <p:sldId id="293" r:id="rId26"/>
    <p:sldId id="277" r:id="rId27"/>
    <p:sldId id="294" r:id="rId28"/>
    <p:sldId id="295" r:id="rId29"/>
    <p:sldId id="296" r:id="rId30"/>
    <p:sldId id="297" r:id="rId31"/>
    <p:sldId id="298" r:id="rId32"/>
    <p:sldId id="299" r:id="rId33"/>
    <p:sldId id="278" r:id="rId34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nod Kumar Adhikari" userId="256f5a90-d823-4e8d-9a41-a3da19f4a0ad" providerId="ADAL" clId="{5B5036A4-69CC-4354-AC55-1030226413DF}"/>
    <pc:docChg chg="addSld modSld">
      <pc:chgData name="Binod Kumar Adhikari" userId="256f5a90-d823-4e8d-9a41-a3da19f4a0ad" providerId="ADAL" clId="{5B5036A4-69CC-4354-AC55-1030226413DF}" dt="2025-04-29T15:34:38.321" v="10" actId="114"/>
      <pc:docMkLst>
        <pc:docMk/>
      </pc:docMkLst>
      <pc:sldChg chg="modSp">
        <pc:chgData name="Binod Kumar Adhikari" userId="256f5a90-d823-4e8d-9a41-a3da19f4a0ad" providerId="ADAL" clId="{5B5036A4-69CC-4354-AC55-1030226413DF}" dt="2025-04-29T15:34:38.321" v="10" actId="114"/>
        <pc:sldMkLst>
          <pc:docMk/>
          <pc:sldMk cId="0" sldId="275"/>
        </pc:sldMkLst>
        <pc:spChg chg="mod">
          <ac:chgData name="Binod Kumar Adhikari" userId="256f5a90-d823-4e8d-9a41-a3da19f4a0ad" providerId="ADAL" clId="{5B5036A4-69CC-4354-AC55-1030226413DF}" dt="2025-04-29T15:34:38.321" v="10" actId="114"/>
          <ac:spMkLst>
            <pc:docMk/>
            <pc:sldMk cId="0" sldId="275"/>
            <ac:spMk id="3" creationId="{00000000-0000-0000-0000-000000000000}"/>
          </ac:spMkLst>
        </pc:spChg>
      </pc:sldChg>
      <pc:sldChg chg="add">
        <pc:chgData name="Binod Kumar Adhikari" userId="256f5a90-d823-4e8d-9a41-a3da19f4a0ad" providerId="ADAL" clId="{5B5036A4-69CC-4354-AC55-1030226413DF}" dt="2025-04-29T15:28:11.321" v="0"/>
        <pc:sldMkLst>
          <pc:docMk/>
          <pc:sldMk cId="0" sldId="290"/>
        </pc:sldMkLst>
      </pc:sldChg>
      <pc:sldChg chg="add">
        <pc:chgData name="Binod Kumar Adhikari" userId="256f5a90-d823-4e8d-9a41-a3da19f4a0ad" providerId="ADAL" clId="{5B5036A4-69CC-4354-AC55-1030226413DF}" dt="2025-04-29T15:28:22.414" v="1"/>
        <pc:sldMkLst>
          <pc:docMk/>
          <pc:sldMk cId="0" sldId="291"/>
        </pc:sldMkLst>
      </pc:sldChg>
      <pc:sldChg chg="add">
        <pc:chgData name="Binod Kumar Adhikari" userId="256f5a90-d823-4e8d-9a41-a3da19f4a0ad" providerId="ADAL" clId="{5B5036A4-69CC-4354-AC55-1030226413DF}" dt="2025-04-29T15:28:34.477" v="2"/>
        <pc:sldMkLst>
          <pc:docMk/>
          <pc:sldMk cId="0" sldId="292"/>
        </pc:sldMkLst>
      </pc:sldChg>
      <pc:sldChg chg="add">
        <pc:chgData name="Binod Kumar Adhikari" userId="256f5a90-d823-4e8d-9a41-a3da19f4a0ad" providerId="ADAL" clId="{5B5036A4-69CC-4354-AC55-1030226413DF}" dt="2025-04-29T15:28:44.136" v="3"/>
        <pc:sldMkLst>
          <pc:docMk/>
          <pc:sldMk cId="0" sldId="293"/>
        </pc:sldMkLst>
      </pc:sldChg>
      <pc:sldChg chg="add">
        <pc:chgData name="Binod Kumar Adhikari" userId="256f5a90-d823-4e8d-9a41-a3da19f4a0ad" providerId="ADAL" clId="{5B5036A4-69CC-4354-AC55-1030226413DF}" dt="2025-04-29T15:29:05.316" v="4"/>
        <pc:sldMkLst>
          <pc:docMk/>
          <pc:sldMk cId="0" sldId="294"/>
        </pc:sldMkLst>
      </pc:sldChg>
      <pc:sldChg chg="add">
        <pc:chgData name="Binod Kumar Adhikari" userId="256f5a90-d823-4e8d-9a41-a3da19f4a0ad" providerId="ADAL" clId="{5B5036A4-69CC-4354-AC55-1030226413DF}" dt="2025-04-29T15:29:12.702" v="5"/>
        <pc:sldMkLst>
          <pc:docMk/>
          <pc:sldMk cId="0" sldId="295"/>
        </pc:sldMkLst>
      </pc:sldChg>
      <pc:sldChg chg="add">
        <pc:chgData name="Binod Kumar Adhikari" userId="256f5a90-d823-4e8d-9a41-a3da19f4a0ad" providerId="ADAL" clId="{5B5036A4-69CC-4354-AC55-1030226413DF}" dt="2025-04-29T15:29:19.277" v="6"/>
        <pc:sldMkLst>
          <pc:docMk/>
          <pc:sldMk cId="0" sldId="296"/>
        </pc:sldMkLst>
      </pc:sldChg>
      <pc:sldChg chg="add">
        <pc:chgData name="Binod Kumar Adhikari" userId="256f5a90-d823-4e8d-9a41-a3da19f4a0ad" providerId="ADAL" clId="{5B5036A4-69CC-4354-AC55-1030226413DF}" dt="2025-04-29T15:29:26.974" v="7"/>
        <pc:sldMkLst>
          <pc:docMk/>
          <pc:sldMk cId="0" sldId="297"/>
        </pc:sldMkLst>
      </pc:sldChg>
      <pc:sldChg chg="add">
        <pc:chgData name="Binod Kumar Adhikari" userId="256f5a90-d823-4e8d-9a41-a3da19f4a0ad" providerId="ADAL" clId="{5B5036A4-69CC-4354-AC55-1030226413DF}" dt="2025-04-29T15:29:33.379" v="8"/>
        <pc:sldMkLst>
          <pc:docMk/>
          <pc:sldMk cId="0" sldId="298"/>
        </pc:sldMkLst>
      </pc:sldChg>
      <pc:sldChg chg="add">
        <pc:chgData name="Binod Kumar Adhikari" userId="256f5a90-d823-4e8d-9a41-a3da19f4a0ad" providerId="ADAL" clId="{5B5036A4-69CC-4354-AC55-1030226413DF}" dt="2025-04-29T15:29:40.822" v="9"/>
        <pc:sldMkLst>
          <pc:docMk/>
          <pc:sldMk cId="0" sldId="299"/>
        </pc:sldMkLst>
      </pc:sldChg>
    </pc:docChg>
  </pc:docChgLst>
  <pc:docChgLst>
    <pc:chgData name="Yujan Basnet" userId="495fd8277ebfbaef" providerId="LiveId" clId="{992D80D9-0300-4A30-8838-15E503452DEA}"/>
    <pc:docChg chg="undo custSel modSld">
      <pc:chgData name="Yujan Basnet" userId="495fd8277ebfbaef" providerId="LiveId" clId="{992D80D9-0300-4A30-8838-15E503452DEA}" dt="2025-06-18T10:50:01.728" v="15" actId="207"/>
      <pc:docMkLst>
        <pc:docMk/>
      </pc:docMkLst>
      <pc:sldChg chg="modSp mod">
        <pc:chgData name="Yujan Basnet" userId="495fd8277ebfbaef" providerId="LiveId" clId="{992D80D9-0300-4A30-8838-15E503452DEA}" dt="2025-06-18T04:27:26.902" v="7" actId="207"/>
        <pc:sldMkLst>
          <pc:docMk/>
          <pc:sldMk cId="0" sldId="258"/>
        </pc:sldMkLst>
        <pc:spChg chg="mod">
          <ac:chgData name="Yujan Basnet" userId="495fd8277ebfbaef" providerId="LiveId" clId="{992D80D9-0300-4A30-8838-15E503452DEA}" dt="2025-06-18T04:27:26.902" v="7" actId="20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Yujan Basnet" userId="495fd8277ebfbaef" providerId="LiveId" clId="{992D80D9-0300-4A30-8838-15E503452DEA}" dt="2025-06-18T09:47:46.480" v="8" actId="207"/>
        <pc:sldMkLst>
          <pc:docMk/>
          <pc:sldMk cId="0" sldId="273"/>
        </pc:sldMkLst>
        <pc:spChg chg="mod">
          <ac:chgData name="Yujan Basnet" userId="495fd8277ebfbaef" providerId="LiveId" clId="{992D80D9-0300-4A30-8838-15E503452DEA}" dt="2025-06-18T09:47:46.480" v="8" actId="207"/>
          <ac:spMkLst>
            <pc:docMk/>
            <pc:sldMk cId="0" sldId="273"/>
            <ac:spMk id="3" creationId="{00000000-0000-0000-0000-000000000000}"/>
          </ac:spMkLst>
        </pc:spChg>
      </pc:sldChg>
      <pc:sldChg chg="modSp mod">
        <pc:chgData name="Yujan Basnet" userId="495fd8277ebfbaef" providerId="LiveId" clId="{992D80D9-0300-4A30-8838-15E503452DEA}" dt="2025-06-18T10:11:18.863" v="10" actId="21"/>
        <pc:sldMkLst>
          <pc:docMk/>
          <pc:sldMk cId="0" sldId="291"/>
        </pc:sldMkLst>
        <pc:spChg chg="mod">
          <ac:chgData name="Yujan Basnet" userId="495fd8277ebfbaef" providerId="LiveId" clId="{992D80D9-0300-4A30-8838-15E503452DEA}" dt="2025-06-18T10:11:18.863" v="10" actId="21"/>
          <ac:spMkLst>
            <pc:docMk/>
            <pc:sldMk cId="0" sldId="291"/>
            <ac:spMk id="3" creationId="{00000000-0000-0000-0000-000000000000}"/>
          </ac:spMkLst>
        </pc:spChg>
      </pc:sldChg>
      <pc:sldChg chg="modSp mod">
        <pc:chgData name="Yujan Basnet" userId="495fd8277ebfbaef" providerId="LiveId" clId="{992D80D9-0300-4A30-8838-15E503452DEA}" dt="2025-06-18T10:44:13.427" v="14" actId="21"/>
        <pc:sldMkLst>
          <pc:docMk/>
          <pc:sldMk cId="0" sldId="296"/>
        </pc:sldMkLst>
        <pc:spChg chg="mod">
          <ac:chgData name="Yujan Basnet" userId="495fd8277ebfbaef" providerId="LiveId" clId="{992D80D9-0300-4A30-8838-15E503452DEA}" dt="2025-06-18T10:44:13.427" v="14" actId="21"/>
          <ac:spMkLst>
            <pc:docMk/>
            <pc:sldMk cId="0" sldId="296"/>
            <ac:spMk id="3" creationId="{00000000-0000-0000-0000-000000000000}"/>
          </ac:spMkLst>
        </pc:spChg>
      </pc:sldChg>
      <pc:sldChg chg="modSp mod">
        <pc:chgData name="Yujan Basnet" userId="495fd8277ebfbaef" providerId="LiveId" clId="{992D80D9-0300-4A30-8838-15E503452DEA}" dt="2025-06-18T10:50:01.728" v="15" actId="207"/>
        <pc:sldMkLst>
          <pc:docMk/>
          <pc:sldMk cId="0" sldId="299"/>
        </pc:sldMkLst>
        <pc:spChg chg="mod">
          <ac:chgData name="Yujan Basnet" userId="495fd8277ebfbaef" providerId="LiveId" clId="{992D80D9-0300-4A30-8838-15E503452DEA}" dt="2025-06-18T10:50:01.728" v="15" actId="207"/>
          <ac:spMkLst>
            <pc:docMk/>
            <pc:sldMk cId="0" sldId="29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4AE44F-3886-4BC9-84EC-9E23167748CE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042DD-C914-4F6C-B642-4E07DBE165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22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243841"/>
            <a:ext cx="879348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rgbClr val="FFFFFF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/>
              <a:t>Dr. Binod Kr. Adhikari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373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/>
              <a:t>Dr. Binod Kr. Adhikari</a:t>
            </a:r>
            <a:endParaRPr lang="en-US" spc="-2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A54A6A-B736-424B-A461-DD07D9471141}"/>
              </a:ext>
            </a:extLst>
          </p:cNvPr>
          <p:cNvSpPr/>
          <p:nvPr/>
        </p:nvSpPr>
        <p:spPr>
          <a:xfrm>
            <a:off x="846814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733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54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65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Dr. Binod Kr. Adhikari</a:t>
            </a:r>
            <a:endParaRPr lang="en-US" spc="-2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59C1D18-596C-4A46-A2BD-73A286C6F7F2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06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Dr. Binod Kr. Adhikari</a:t>
            </a:r>
            <a:endParaRPr lang="en-US" spc="-2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A4FB00-F04E-4239-9D65-0039C0394CB0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57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Dr. Binod Kr. Adhikari</a:t>
            </a:r>
            <a:endParaRPr lang="en-US" spc="-2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9D5B90-141B-44D9-BEC0-A558419CFA32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465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 b="1"/>
            </a:lvl1pPr>
          </a:lstStyle>
          <a:p>
            <a:pPr marL="12700">
              <a:lnSpc>
                <a:spcPts val="1240"/>
              </a:lnSpc>
            </a:pPr>
            <a:r>
              <a:rPr lang="en-US" spc="-10"/>
              <a:t>Dr. Binod Kr. Adhikari</a:t>
            </a:r>
            <a:endParaRPr lang="en-US" spc="-2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5F449E-F837-4EA1-A58D-7E2CA932D463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688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Dr. Binod Kr. Adhikari</a:t>
            </a:r>
            <a:endParaRPr lang="en-US" spc="-2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F4AFE6-6A8F-441E-952B-130FFFB4070D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317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9489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19" y="1097280"/>
            <a:ext cx="3909060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94894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Dr. Binod Kr. Adhikari</a:t>
            </a:r>
            <a:endParaRPr lang="en-US" spc="-2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2A32BE-F2A3-4F12-A8C0-09BD997E5102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kern="1200" smtClean="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‹#›</a:t>
            </a:fld>
            <a:endParaRPr lang="en-IN" sz="1400" kern="1200" dirty="0">
              <a:solidFill>
                <a:schemeClr val="l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397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9489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59936" y="1069847"/>
            <a:ext cx="4574286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9489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Dr. Binod Kr. Adhikari</a:t>
            </a:r>
            <a:endParaRPr lang="en-US" spc="-2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31849C-2872-4E43-9633-84F714AA45D0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kern="1200" smtClean="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‹#›</a:t>
            </a:fld>
            <a:endParaRPr lang="en-IN" sz="1400" kern="1200" dirty="0">
              <a:solidFill>
                <a:schemeClr val="l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903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Dr. Binod Kr. Adhikari</a:t>
            </a:r>
            <a:endParaRPr lang="en-US" spc="-2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BC1332-0CCA-4F8E-BE2B-75DDDED7AE4E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smtClean="0"/>
              <a:t>‹#›</a:t>
            </a:fld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634572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Dr. Binod Kr. Adhikari</a:t>
            </a:r>
            <a:endParaRPr lang="en-US" spc="-2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FDDA1-89B3-4669-9E5C-82E52ECCD924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/>
              <a:pPr lvl="0" algn="ctr"/>
              <a:t>‹#›</a:t>
            </a:fld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437691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304800"/>
            <a:ext cx="7086600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/>
              <a:t>Dr. Binod Kr. Adhikari</a:t>
            </a:r>
            <a:endParaRPr lang="en-US"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4755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243841"/>
            <a:ext cx="879348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775" y="406815"/>
            <a:ext cx="7406640" cy="329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1"/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/>
              <a:t>Dr. Binod Kr. Adhikari</a:t>
            </a:r>
            <a:endParaRPr lang="en-US" spc="-2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3CFB57-0013-4E9E-AA54-EAB84A192B1B}"/>
              </a:ext>
            </a:extLst>
          </p:cNvPr>
          <p:cNvSpPr/>
          <p:nvPr/>
        </p:nvSpPr>
        <p:spPr>
          <a:xfrm>
            <a:off x="8471452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/>
              <a:pPr lvl="0" algn="ctr"/>
              <a:t>‹#›</a:t>
            </a:fld>
            <a:endParaRPr lang="en-IN" sz="14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ED3EEF7-35B4-40EB-928F-09FC3F136274}"/>
              </a:ext>
            </a:extLst>
          </p:cNvPr>
          <p:cNvCxnSpPr>
            <a:cxnSpLocks/>
          </p:cNvCxnSpPr>
          <p:nvPr/>
        </p:nvCxnSpPr>
        <p:spPr>
          <a:xfrm>
            <a:off x="76200" y="1066800"/>
            <a:ext cx="89916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6690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hf sldNum="0" hd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50"/>
        </a:spcBef>
        <a:buClr>
          <a:schemeClr val="accent1"/>
        </a:buClr>
        <a:buSzPct val="80000"/>
        <a:buFont typeface="Corbel" pitchFamily="34" charset="0"/>
        <a:buChar char="•"/>
        <a:defRPr sz="165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5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219200" y="371190"/>
            <a:ext cx="70866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47470" marR="5080" indent="-1335405">
              <a:lnSpc>
                <a:spcPct val="100000"/>
              </a:lnSpc>
              <a:spcBef>
                <a:spcPts val="105"/>
              </a:spcBef>
            </a:pPr>
            <a:r>
              <a:rPr sz="4000" spc="-20" dirty="0"/>
              <a:t>Real </a:t>
            </a:r>
            <a:r>
              <a:rPr sz="4000" spc="-5" dirty="0"/>
              <a:t>time </a:t>
            </a:r>
            <a:r>
              <a:rPr sz="4000" spc="-30" dirty="0"/>
              <a:t>System: </a:t>
            </a:r>
            <a:r>
              <a:rPr sz="4000" spc="-5" dirty="0"/>
              <a:t>CPU </a:t>
            </a:r>
            <a:r>
              <a:rPr sz="4000" spc="-980" dirty="0"/>
              <a:t> </a:t>
            </a:r>
            <a:r>
              <a:rPr sz="4000" spc="-5" dirty="0"/>
              <a:t>scheduling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1219200" y="2303918"/>
            <a:ext cx="7086600" cy="21918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0" algn="just">
              <a:lnSpc>
                <a:spcPct val="120100"/>
              </a:lnSpc>
              <a:spcBef>
                <a:spcPts val="100"/>
              </a:spcBef>
              <a:buNone/>
            </a:pPr>
            <a:r>
              <a:rPr lang="en-US" spc="-95" dirty="0"/>
              <a:t>Real-Time Systems: Real time system characteristics and kernel features, Implementing real-time operating system, real-time CPU scheduling.</a:t>
            </a:r>
            <a:endParaRPr spc="-6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3102" y="304800"/>
            <a:ext cx="21793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Overview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0703"/>
            <a:ext cx="7587615" cy="236728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25" dirty="0">
                <a:latin typeface="Calibri"/>
                <a:cs typeface="Calibri"/>
              </a:rPr>
              <a:t>System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Characteristics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Features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spc="-10" dirty="0">
                <a:latin typeface="Calibri"/>
                <a:cs typeface="Calibri"/>
              </a:rPr>
              <a:t> Real-Time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Systems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Implementing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Real-Time </a:t>
            </a:r>
            <a:r>
              <a:rPr sz="3200" spc="-15" dirty="0">
                <a:latin typeface="Calibri"/>
                <a:cs typeface="Calibri"/>
              </a:rPr>
              <a:t>Operating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Systems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Real-Time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CPU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Scheduling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4773" y="304800"/>
            <a:ext cx="28536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</a:t>
            </a:r>
            <a:r>
              <a:rPr spc="-35" dirty="0"/>
              <a:t>n</a:t>
            </a:r>
            <a:r>
              <a:rPr dirty="0"/>
              <a:t>t</a:t>
            </a:r>
            <a:r>
              <a:rPr spc="-75" dirty="0"/>
              <a:t>r</a:t>
            </a:r>
            <a:r>
              <a:rPr spc="-5" dirty="0"/>
              <a:t>o</a:t>
            </a:r>
            <a:r>
              <a:rPr spc="5" dirty="0"/>
              <a:t>d</a:t>
            </a:r>
            <a:r>
              <a:rPr spc="-5" dirty="0"/>
              <a:t>uction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73390" cy="3636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00B050"/>
                </a:solidFill>
                <a:latin typeface="Calibri"/>
                <a:cs typeface="Calibri"/>
              </a:rPr>
              <a:t>real-time</a:t>
            </a:r>
            <a:r>
              <a:rPr sz="3200" b="1" spc="-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200" b="1" spc="-30" dirty="0">
                <a:solidFill>
                  <a:srgbClr val="00B050"/>
                </a:solidFill>
                <a:latin typeface="Calibri"/>
                <a:cs typeface="Calibri"/>
              </a:rPr>
              <a:t>system</a:t>
            </a:r>
            <a:r>
              <a:rPr sz="3200" b="1" spc="-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requires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that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results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be 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produced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within</a:t>
            </a:r>
            <a:r>
              <a:rPr sz="32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 specified</a:t>
            </a:r>
            <a:r>
              <a:rPr sz="32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deadline</a:t>
            </a:r>
            <a:r>
              <a:rPr sz="3200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period</a:t>
            </a:r>
            <a:endParaRPr sz="32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An </a:t>
            </a:r>
            <a:r>
              <a:rPr sz="3200" b="1" dirty="0">
                <a:solidFill>
                  <a:srgbClr val="00B050"/>
                </a:solidFill>
                <a:latin typeface="Calibri"/>
                <a:cs typeface="Calibri"/>
              </a:rPr>
              <a:t>embedded </a:t>
            </a:r>
            <a:r>
              <a:rPr sz="3200" b="1" spc="-30" dirty="0">
                <a:solidFill>
                  <a:srgbClr val="00B050"/>
                </a:solidFill>
                <a:latin typeface="Calibri"/>
                <a:cs typeface="Calibri"/>
              </a:rPr>
              <a:t>system</a:t>
            </a:r>
            <a:r>
              <a:rPr sz="3200" b="1" spc="-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 a </a:t>
            </a:r>
            <a:r>
              <a:rPr sz="3200" spc="-5" dirty="0">
                <a:latin typeface="Calibri"/>
                <a:cs typeface="Calibri"/>
              </a:rPr>
              <a:t>computing device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that </a:t>
            </a:r>
            <a:r>
              <a:rPr sz="3200" spc="-5" dirty="0">
                <a:latin typeface="Calibri"/>
                <a:cs typeface="Calibri"/>
              </a:rPr>
              <a:t>is </a:t>
            </a:r>
            <a:r>
              <a:rPr sz="3200" dirty="0">
                <a:latin typeface="Calibri"/>
                <a:cs typeface="Calibri"/>
              </a:rPr>
              <a:t>part of a </a:t>
            </a:r>
            <a:r>
              <a:rPr sz="3200" spc="-10" dirty="0">
                <a:latin typeface="Calibri"/>
                <a:cs typeface="Calibri"/>
              </a:rPr>
              <a:t>larger </a:t>
            </a:r>
            <a:r>
              <a:rPr sz="3200" spc="-35" dirty="0">
                <a:latin typeface="Calibri"/>
                <a:cs typeface="Calibri"/>
              </a:rPr>
              <a:t>system </a:t>
            </a:r>
            <a:r>
              <a:rPr sz="3200" dirty="0">
                <a:latin typeface="Calibri"/>
                <a:cs typeface="Calibri"/>
              </a:rPr>
              <a:t>(I.e. </a:t>
            </a:r>
            <a:r>
              <a:rPr sz="3200" spc="-5" dirty="0">
                <a:latin typeface="Calibri"/>
                <a:cs typeface="Calibri"/>
              </a:rPr>
              <a:t>automobile,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airliner)</a:t>
            </a:r>
            <a:endParaRPr sz="32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447040" algn="l"/>
              </a:tabLst>
            </a:pPr>
            <a:r>
              <a:rPr dirty="0"/>
              <a:t>	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b="1" spc="-15" dirty="0">
                <a:solidFill>
                  <a:srgbClr val="00B050"/>
                </a:solidFill>
                <a:latin typeface="Calibri"/>
                <a:cs typeface="Calibri"/>
              </a:rPr>
              <a:t>safety-critical </a:t>
            </a:r>
            <a:r>
              <a:rPr sz="3200" b="1" spc="-30" dirty="0">
                <a:solidFill>
                  <a:srgbClr val="00B050"/>
                </a:solidFill>
                <a:latin typeface="Calibri"/>
                <a:cs typeface="Calibri"/>
              </a:rPr>
              <a:t>system </a:t>
            </a:r>
            <a:r>
              <a:rPr sz="3200" spc="-5" dirty="0">
                <a:latin typeface="Calibri"/>
                <a:cs typeface="Calibri"/>
              </a:rPr>
              <a:t>is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10" dirty="0">
                <a:latin typeface="Calibri"/>
                <a:cs typeface="Calibri"/>
              </a:rPr>
              <a:t>real-time </a:t>
            </a:r>
            <a:r>
              <a:rPr sz="3200" spc="-30" dirty="0">
                <a:latin typeface="Calibri"/>
                <a:cs typeface="Calibri"/>
              </a:rPr>
              <a:t>system 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C00000"/>
                </a:solidFill>
                <a:latin typeface="Calibri"/>
                <a:cs typeface="Calibri"/>
              </a:rPr>
              <a:t>catastrophic</a:t>
            </a:r>
            <a:r>
              <a:rPr sz="3200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C00000"/>
                </a:solidFill>
                <a:latin typeface="Calibri"/>
                <a:cs typeface="Calibri"/>
              </a:rPr>
              <a:t>results</a:t>
            </a:r>
            <a:r>
              <a:rPr sz="32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3200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C00000"/>
                </a:solidFill>
                <a:latin typeface="Calibri"/>
                <a:cs typeface="Calibri"/>
              </a:rPr>
              <a:t>case</a:t>
            </a:r>
            <a:r>
              <a:rPr sz="32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C00000"/>
                </a:solidFill>
                <a:latin typeface="Calibri"/>
                <a:cs typeface="Calibri"/>
              </a:rPr>
              <a:t>of </a:t>
            </a:r>
            <a:r>
              <a:rPr sz="3200" spc="-15" dirty="0">
                <a:solidFill>
                  <a:srgbClr val="C00000"/>
                </a:solidFill>
                <a:latin typeface="Calibri"/>
                <a:cs typeface="Calibri"/>
              </a:rPr>
              <a:t>failure</a:t>
            </a:r>
            <a:endParaRPr sz="3200" dirty="0">
              <a:solidFill>
                <a:srgbClr val="C0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7860" y="304800"/>
            <a:ext cx="3750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Hard</a:t>
            </a:r>
            <a:r>
              <a:rPr spc="-40" dirty="0"/>
              <a:t> </a:t>
            </a:r>
            <a:r>
              <a:rPr spc="-100" dirty="0"/>
              <a:t>Vs</a:t>
            </a:r>
            <a:r>
              <a:rPr spc="-10" dirty="0"/>
              <a:t> </a:t>
            </a:r>
            <a:r>
              <a:rPr dirty="0"/>
              <a:t>Soft</a:t>
            </a:r>
            <a:r>
              <a:rPr spc="-30" dirty="0"/>
              <a:t> </a:t>
            </a:r>
            <a:r>
              <a:rPr spc="-25" dirty="0"/>
              <a:t>RTS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47800"/>
            <a:ext cx="7925434" cy="3733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445770" algn="l"/>
              </a:tabLst>
            </a:pPr>
            <a:r>
              <a:rPr sz="3200" dirty="0">
                <a:latin typeface="Calibri"/>
                <a:cs typeface="Calibri"/>
              </a:rPr>
              <a:t>A </a:t>
            </a:r>
            <a:r>
              <a:rPr sz="3200" spc="-15" dirty="0">
                <a:latin typeface="Calibri"/>
                <a:cs typeface="Calibri"/>
              </a:rPr>
              <a:t>hard </a:t>
            </a:r>
            <a:r>
              <a:rPr sz="3200" spc="-5" dirty="0">
                <a:latin typeface="Calibri"/>
                <a:cs typeface="Calibri"/>
              </a:rPr>
              <a:t>real-time </a:t>
            </a:r>
            <a:r>
              <a:rPr sz="3200" spc="-30" dirty="0">
                <a:latin typeface="Calibri"/>
                <a:cs typeface="Calibri"/>
              </a:rPr>
              <a:t>system </a:t>
            </a:r>
            <a:r>
              <a:rPr sz="3200" spc="-15" dirty="0">
                <a:latin typeface="Calibri"/>
                <a:cs typeface="Calibri"/>
              </a:rPr>
              <a:t>guarantees </a:t>
            </a:r>
            <a:r>
              <a:rPr sz="3200" spc="-10" dirty="0">
                <a:latin typeface="Calibri"/>
                <a:cs typeface="Calibri"/>
              </a:rPr>
              <a:t>that real-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time </a:t>
            </a:r>
            <a:r>
              <a:rPr sz="3200" spc="-20" dirty="0">
                <a:latin typeface="Calibri"/>
                <a:cs typeface="Calibri"/>
              </a:rPr>
              <a:t>tasks </a:t>
            </a:r>
            <a:r>
              <a:rPr sz="3200" spc="-5" dirty="0">
                <a:latin typeface="Calibri"/>
                <a:cs typeface="Calibri"/>
              </a:rPr>
              <a:t>be </a:t>
            </a:r>
            <a:r>
              <a:rPr sz="3200" spc="-15" dirty="0">
                <a:latin typeface="Calibri"/>
                <a:cs typeface="Calibri"/>
              </a:rPr>
              <a:t>completed </a:t>
            </a:r>
            <a:r>
              <a:rPr sz="3200" dirty="0">
                <a:latin typeface="Calibri"/>
                <a:cs typeface="Calibri"/>
              </a:rPr>
              <a:t>within </a:t>
            </a:r>
            <a:r>
              <a:rPr sz="3200" spc="-5" dirty="0">
                <a:latin typeface="Calibri"/>
                <a:cs typeface="Calibri"/>
              </a:rPr>
              <a:t>their </a:t>
            </a:r>
            <a:r>
              <a:rPr sz="3200" spc="-10" dirty="0">
                <a:latin typeface="Calibri"/>
                <a:cs typeface="Calibri"/>
              </a:rPr>
              <a:t>required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deadlines.</a:t>
            </a:r>
            <a:endParaRPr sz="3200" dirty="0">
              <a:latin typeface="Calibri"/>
              <a:cs typeface="Calibri"/>
            </a:endParaRPr>
          </a:p>
          <a:p>
            <a:pPr marL="355600" marR="520700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 </a:t>
            </a:r>
            <a:r>
              <a:rPr sz="3200" spc="-5" dirty="0">
                <a:latin typeface="Calibri"/>
                <a:cs typeface="Calibri"/>
              </a:rPr>
              <a:t>soft real-time </a:t>
            </a:r>
            <a:r>
              <a:rPr sz="3200" spc="-30" dirty="0">
                <a:latin typeface="Calibri"/>
                <a:cs typeface="Calibri"/>
              </a:rPr>
              <a:t>system </a:t>
            </a:r>
            <a:r>
              <a:rPr sz="3200" spc="-10" dirty="0">
                <a:latin typeface="Calibri"/>
                <a:cs typeface="Calibri"/>
              </a:rPr>
              <a:t>provides </a:t>
            </a:r>
            <a:r>
              <a:rPr sz="3200" spc="-5" dirty="0">
                <a:latin typeface="Calibri"/>
                <a:cs typeface="Calibri"/>
              </a:rPr>
              <a:t>priority of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real-time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tasks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over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non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real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time </a:t>
            </a:r>
            <a:r>
              <a:rPr sz="3200" spc="-15" dirty="0">
                <a:latin typeface="Calibri"/>
                <a:cs typeface="Calibri"/>
              </a:rPr>
              <a:t>tasks"</a:t>
            </a:r>
            <a:endParaRPr sz="3200" dirty="0">
              <a:latin typeface="Calibri"/>
              <a:cs typeface="Calibri"/>
            </a:endParaRPr>
          </a:p>
          <a:p>
            <a:pPr marL="445134" indent="-43307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445134" algn="l"/>
                <a:tab pos="445770" algn="l"/>
              </a:tabLst>
            </a:pPr>
            <a:r>
              <a:rPr sz="3200" spc="-10" dirty="0">
                <a:latin typeface="Calibri"/>
                <a:cs typeface="Calibri"/>
              </a:rPr>
              <a:t>Periodic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 </a:t>
            </a:r>
            <a:r>
              <a:rPr sz="3200" spc="-5" dirty="0">
                <a:latin typeface="Calibri"/>
                <a:cs typeface="Calibri"/>
              </a:rPr>
              <a:t>aperiodic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tasks."</a:t>
            </a:r>
            <a:endParaRPr sz="3200" dirty="0">
              <a:latin typeface="Calibri"/>
              <a:cs typeface="Calibri"/>
            </a:endParaRPr>
          </a:p>
          <a:p>
            <a:pPr marL="355600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Starting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deadline/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completion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deadline."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RTS</a:t>
            </a:r>
            <a:r>
              <a:rPr spc="-30" dirty="0"/>
              <a:t> </a:t>
            </a:r>
            <a:r>
              <a:rPr spc="-15" dirty="0"/>
              <a:t>Characteristic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0703"/>
            <a:ext cx="5323840" cy="236728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Single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purpose</a:t>
            </a:r>
            <a:endParaRPr sz="3200" dirty="0">
              <a:latin typeface="Calibri"/>
              <a:cs typeface="Calibri"/>
            </a:endParaRPr>
          </a:p>
          <a:p>
            <a:pPr marL="445134" indent="-43307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445134" algn="l"/>
                <a:tab pos="445770" algn="l"/>
              </a:tabLst>
            </a:pPr>
            <a:r>
              <a:rPr sz="3200" spc="-5" dirty="0">
                <a:latin typeface="Calibri"/>
                <a:cs typeface="Calibri"/>
              </a:rPr>
              <a:t>Small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size</a:t>
            </a:r>
            <a:endParaRPr sz="3200" dirty="0">
              <a:latin typeface="Calibri"/>
              <a:cs typeface="Calibri"/>
            </a:endParaRPr>
          </a:p>
          <a:p>
            <a:pPr marL="445134" indent="-4330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445134" algn="l"/>
                <a:tab pos="445770" algn="l"/>
              </a:tabLst>
            </a:pPr>
            <a:r>
              <a:rPr sz="3200" spc="-10" dirty="0">
                <a:latin typeface="Calibri"/>
                <a:cs typeface="Calibri"/>
              </a:rPr>
              <a:t>Inexpensively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mass-produced</a:t>
            </a:r>
            <a:endParaRPr sz="3200" dirty="0">
              <a:latin typeface="Calibri"/>
              <a:cs typeface="Calibri"/>
            </a:endParaRPr>
          </a:p>
          <a:p>
            <a:pPr marL="445134" indent="-4330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445134" algn="l"/>
                <a:tab pos="445770" algn="l"/>
              </a:tabLst>
            </a:pPr>
            <a:r>
              <a:rPr sz="3200" spc="-5" dirty="0">
                <a:latin typeface="Calibri"/>
                <a:cs typeface="Calibri"/>
              </a:rPr>
              <a:t>Specific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timing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requirements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RTS</a:t>
            </a:r>
            <a:r>
              <a:rPr spc="-30" dirty="0"/>
              <a:t> </a:t>
            </a:r>
            <a:r>
              <a:rPr spc="-15" dirty="0"/>
              <a:t>Characteristic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69580" cy="29809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  <a:tab pos="1499870" algn="l"/>
                <a:tab pos="3219450" algn="l"/>
                <a:tab pos="4735830" algn="l"/>
                <a:tab pos="5482590" algn="l"/>
                <a:tab pos="7182484" algn="l"/>
              </a:tabLst>
            </a:pPr>
            <a:r>
              <a:rPr sz="3200" dirty="0">
                <a:latin typeface="Calibri"/>
                <a:cs typeface="Calibri"/>
              </a:rPr>
              <a:t>Ma</a:t>
            </a:r>
            <a:r>
              <a:rPr sz="3200" spc="-70" dirty="0">
                <a:latin typeface="Calibri"/>
                <a:cs typeface="Calibri"/>
              </a:rPr>
              <a:t>n</a:t>
            </a:r>
            <a:r>
              <a:rPr sz="3200" dirty="0">
                <a:latin typeface="Calibri"/>
                <a:cs typeface="Calibri"/>
              </a:rPr>
              <a:t>y	</a:t>
            </a:r>
            <a:r>
              <a:rPr sz="3200" spc="-40" dirty="0">
                <a:latin typeface="Calibri"/>
                <a:cs typeface="Calibri"/>
              </a:rPr>
              <a:t>r</a:t>
            </a:r>
            <a:r>
              <a:rPr sz="3200" spc="-15" dirty="0">
                <a:latin typeface="Calibri"/>
                <a:cs typeface="Calibri"/>
              </a:rPr>
              <a:t>e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l</a:t>
            </a:r>
            <a:r>
              <a:rPr sz="3200" dirty="0">
                <a:latin typeface="Calibri"/>
                <a:cs typeface="Calibri"/>
              </a:rPr>
              <a:t>-</a:t>
            </a:r>
            <a:r>
              <a:rPr sz="3200" spc="-10" dirty="0">
                <a:latin typeface="Calibri"/>
                <a:cs typeface="Calibri"/>
              </a:rPr>
              <a:t>tim</a:t>
            </a:r>
            <a:r>
              <a:rPr sz="3200" dirty="0">
                <a:latin typeface="Calibri"/>
                <a:cs typeface="Calibri"/>
              </a:rPr>
              <a:t>e	</a:t>
            </a:r>
            <a:r>
              <a:rPr sz="3200" spc="-55" dirty="0">
                <a:latin typeface="Calibri"/>
                <a:cs typeface="Calibri"/>
              </a:rPr>
              <a:t>s</a:t>
            </a:r>
            <a:r>
              <a:rPr sz="3200" spc="-25" dirty="0">
                <a:latin typeface="Calibri"/>
                <a:cs typeface="Calibri"/>
              </a:rPr>
              <a:t>y</a:t>
            </a:r>
            <a:r>
              <a:rPr sz="3200" spc="-45" dirty="0">
                <a:latin typeface="Calibri"/>
                <a:cs typeface="Calibri"/>
              </a:rPr>
              <a:t>st</a:t>
            </a:r>
            <a:r>
              <a:rPr sz="3200" dirty="0">
                <a:latin typeface="Calibri"/>
                <a:cs typeface="Calibri"/>
              </a:rPr>
              <a:t>ems	a</a:t>
            </a:r>
            <a:r>
              <a:rPr sz="3200" spc="-40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e	</a:t>
            </a:r>
            <a:r>
              <a:rPr sz="3200" spc="-5" dirty="0">
                <a:latin typeface="Calibri"/>
                <a:cs typeface="Calibri"/>
              </a:rPr>
              <a:t>de</a:t>
            </a:r>
            <a:r>
              <a:rPr sz="3200" spc="-15" dirty="0">
                <a:latin typeface="Calibri"/>
                <a:cs typeface="Calibri"/>
              </a:rPr>
              <a:t>si</a:t>
            </a:r>
            <a:r>
              <a:rPr sz="3200" dirty="0">
                <a:latin typeface="Calibri"/>
                <a:cs typeface="Calibri"/>
              </a:rPr>
              <a:t>gned	</a:t>
            </a:r>
            <a:r>
              <a:rPr sz="3200" spc="-5" dirty="0">
                <a:latin typeface="Calibri"/>
                <a:cs typeface="Calibri"/>
              </a:rPr>
              <a:t>usi</a:t>
            </a:r>
            <a:r>
              <a:rPr sz="3200" spc="10" dirty="0">
                <a:latin typeface="Calibri"/>
                <a:cs typeface="Calibri"/>
              </a:rPr>
              <a:t>n</a:t>
            </a:r>
            <a:r>
              <a:rPr sz="3200" dirty="0">
                <a:latin typeface="Calibri"/>
                <a:cs typeface="Calibri"/>
              </a:rPr>
              <a:t>g  </a:t>
            </a:r>
            <a:r>
              <a:rPr sz="3200" b="1" spc="-10" dirty="0">
                <a:latin typeface="Calibri"/>
                <a:cs typeface="Calibri"/>
              </a:rPr>
              <a:t>system-on-a-chip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(SOC)</a:t>
            </a:r>
            <a:r>
              <a:rPr sz="3200" b="1" spc="25" dirty="0">
                <a:latin typeface="Calibri"/>
                <a:cs typeface="Calibri"/>
              </a:rPr>
              <a:t> </a:t>
            </a:r>
            <a:r>
              <a:rPr sz="3200" spc="-45" dirty="0">
                <a:latin typeface="Calibri"/>
                <a:cs typeface="Calibri"/>
              </a:rPr>
              <a:t>strategy.</a:t>
            </a:r>
            <a:endParaRPr lang="en-US" sz="3200" spc="-45" dirty="0">
              <a:latin typeface="Calibri"/>
              <a:cs typeface="Calibri"/>
            </a:endParaRPr>
          </a:p>
          <a:p>
            <a:pPr marL="355600" marR="5080" indent="-342900"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  <a:tab pos="1499870" algn="l"/>
                <a:tab pos="3219450" algn="l"/>
                <a:tab pos="4735830" algn="l"/>
                <a:tab pos="5482590" algn="l"/>
                <a:tab pos="7182484" algn="l"/>
              </a:tabLst>
            </a:pPr>
            <a:r>
              <a:rPr lang="en-IN" sz="3200" spc="-5" dirty="0">
                <a:latin typeface="Calibri"/>
                <a:cs typeface="Calibri"/>
              </a:rPr>
              <a:t>SO</a:t>
            </a:r>
            <a:r>
              <a:rPr lang="en-IN" sz="3200" dirty="0">
                <a:latin typeface="Calibri"/>
                <a:cs typeface="Calibri"/>
              </a:rPr>
              <a:t>C	</a:t>
            </a:r>
            <a:r>
              <a:rPr lang="en-IN" sz="3200" spc="5" dirty="0">
                <a:latin typeface="Calibri"/>
                <a:cs typeface="Calibri"/>
              </a:rPr>
              <a:t>a</a:t>
            </a:r>
            <a:r>
              <a:rPr lang="en-IN" sz="3200" dirty="0">
                <a:latin typeface="Calibri"/>
                <a:cs typeface="Calibri"/>
              </a:rPr>
              <a:t>llo</a:t>
            </a:r>
            <a:r>
              <a:rPr lang="en-IN" sz="3200" spc="-30" dirty="0">
                <a:latin typeface="Calibri"/>
                <a:cs typeface="Calibri"/>
              </a:rPr>
              <a:t>w</a:t>
            </a:r>
            <a:r>
              <a:rPr lang="en-IN" sz="3200" dirty="0">
                <a:latin typeface="Calibri"/>
                <a:cs typeface="Calibri"/>
              </a:rPr>
              <a:t>s	the CPU, memory, memory-management unit, and attached peripheral ports (i.e., USB) to be contained in a single integrated circuit.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8508" y="304800"/>
            <a:ext cx="405002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Real</a:t>
            </a:r>
            <a:r>
              <a:rPr spc="-25" dirty="0"/>
              <a:t> </a:t>
            </a:r>
            <a:r>
              <a:rPr spc="-5" dirty="0"/>
              <a:t>Time</a:t>
            </a:r>
            <a:r>
              <a:rPr spc="-35" dirty="0"/>
              <a:t> </a:t>
            </a:r>
            <a:r>
              <a:rPr spc="-10" dirty="0"/>
              <a:t>Kernels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7668895" cy="29629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Most </a:t>
            </a:r>
            <a:r>
              <a:rPr sz="3200" spc="-5" dirty="0">
                <a:latin typeface="Calibri"/>
                <a:cs typeface="Calibri"/>
              </a:rPr>
              <a:t>real-time </a:t>
            </a:r>
            <a:r>
              <a:rPr sz="3200" spc="-25" dirty="0">
                <a:latin typeface="Calibri"/>
                <a:cs typeface="Calibri"/>
              </a:rPr>
              <a:t>systems </a:t>
            </a:r>
            <a:r>
              <a:rPr sz="3200" dirty="0">
                <a:latin typeface="Calibri"/>
                <a:cs typeface="Calibri"/>
              </a:rPr>
              <a:t>do </a:t>
            </a:r>
            <a:r>
              <a:rPr sz="3200" spc="-5" dirty="0">
                <a:latin typeface="Calibri"/>
                <a:cs typeface="Calibri"/>
              </a:rPr>
              <a:t>not </a:t>
            </a:r>
            <a:r>
              <a:rPr sz="3200" spc="-10" dirty="0">
                <a:latin typeface="Calibri"/>
                <a:cs typeface="Calibri"/>
              </a:rPr>
              <a:t>provide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features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found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standard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desktop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system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Because:</a:t>
            </a:r>
            <a:endParaRPr sz="3200" dirty="0">
              <a:latin typeface="Calibri"/>
              <a:cs typeface="Calibri"/>
            </a:endParaRPr>
          </a:p>
          <a:p>
            <a:pPr marL="835660" lvl="1" indent="-366395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835660" algn="l"/>
                <a:tab pos="836294" algn="l"/>
              </a:tabLst>
            </a:pPr>
            <a:r>
              <a:rPr sz="2800" spc="-10" dirty="0">
                <a:latin typeface="Calibri"/>
                <a:cs typeface="Calibri"/>
              </a:rPr>
              <a:t>Real-time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systems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typically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single-purpose</a:t>
            </a:r>
            <a:endParaRPr sz="2800" dirty="0">
              <a:latin typeface="Calibri"/>
              <a:cs typeface="Calibri"/>
            </a:endParaRPr>
          </a:p>
          <a:p>
            <a:pPr marL="756285" marR="120713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835660" algn="l"/>
                <a:tab pos="836294" algn="l"/>
              </a:tabLst>
            </a:pPr>
            <a:r>
              <a:rPr dirty="0"/>
              <a:t>	</a:t>
            </a:r>
            <a:r>
              <a:rPr sz="2800" spc="-10" dirty="0">
                <a:latin typeface="Calibri"/>
                <a:cs typeface="Calibri"/>
              </a:rPr>
              <a:t>Real-time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systems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often</a:t>
            </a:r>
            <a:r>
              <a:rPr sz="2800" spc="-5" dirty="0">
                <a:latin typeface="Calibri"/>
                <a:cs typeface="Calibri"/>
              </a:rPr>
              <a:t> do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require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interfacing</a:t>
            </a:r>
            <a:r>
              <a:rPr sz="2800" spc="-5" dirty="0">
                <a:latin typeface="Calibri"/>
                <a:cs typeface="Calibri"/>
              </a:rPr>
              <a:t> with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user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8761" y="304800"/>
            <a:ext cx="77273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5" dirty="0">
                <a:latin typeface="Calibri"/>
                <a:cs typeface="Calibri"/>
              </a:rPr>
              <a:t>Implementing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Real-Time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spc="-30" dirty="0">
                <a:latin typeface="Calibri"/>
                <a:cs typeface="Calibri"/>
              </a:rPr>
              <a:t>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7705090" cy="2540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In </a:t>
            </a:r>
            <a:r>
              <a:rPr sz="3200" spc="-10" dirty="0">
                <a:latin typeface="Calibri"/>
                <a:cs typeface="Calibri"/>
              </a:rPr>
              <a:t>general, </a:t>
            </a:r>
            <a:r>
              <a:rPr sz="3200" spc="-5" dirty="0">
                <a:latin typeface="Calibri"/>
                <a:cs typeface="Calibri"/>
              </a:rPr>
              <a:t>real-time </a:t>
            </a:r>
            <a:r>
              <a:rPr sz="3200" spc="-15" dirty="0">
                <a:latin typeface="Calibri"/>
                <a:cs typeface="Calibri"/>
              </a:rPr>
              <a:t>operating </a:t>
            </a:r>
            <a:r>
              <a:rPr sz="3200" spc="-25" dirty="0">
                <a:latin typeface="Calibri"/>
                <a:cs typeface="Calibri"/>
              </a:rPr>
              <a:t>systems </a:t>
            </a:r>
            <a:r>
              <a:rPr sz="3200" spc="-10" dirty="0">
                <a:latin typeface="Calibri"/>
                <a:cs typeface="Calibri"/>
              </a:rPr>
              <a:t>must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provide:</a:t>
            </a:r>
            <a:endParaRPr sz="3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Preemptive,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priority-based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scheduling.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Preemptive kernels.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Latency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must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minimized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9908" y="304800"/>
            <a:ext cx="45059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5" dirty="0">
                <a:latin typeface="Calibri"/>
                <a:cs typeface="Calibri"/>
              </a:rPr>
              <a:t>Minimizing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Latency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612140" y="1385061"/>
            <a:ext cx="80740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  <a:tab pos="1186180" algn="l"/>
                <a:tab pos="2223770" algn="l"/>
                <a:tab pos="2556510" algn="l"/>
                <a:tab pos="3115945" algn="l"/>
                <a:tab pos="4228465" algn="l"/>
                <a:tab pos="4626610" algn="l"/>
                <a:tab pos="5337810" algn="l"/>
                <a:tab pos="6078855" algn="l"/>
                <a:tab pos="6912609" algn="l"/>
                <a:tab pos="7364095" algn="l"/>
              </a:tabLst>
            </a:pPr>
            <a:r>
              <a:rPr sz="2400" b="1" spc="-60" dirty="0">
                <a:latin typeface="Calibri"/>
                <a:cs typeface="Calibri"/>
              </a:rPr>
              <a:t>E</a:t>
            </a:r>
            <a:r>
              <a:rPr sz="2400" b="1" spc="-30" dirty="0">
                <a:latin typeface="Calibri"/>
                <a:cs typeface="Calibri"/>
              </a:rPr>
              <a:t>v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spc="-20" dirty="0">
                <a:latin typeface="Calibri"/>
                <a:cs typeface="Calibri"/>
              </a:rPr>
              <a:t>n</a:t>
            </a:r>
            <a:r>
              <a:rPr sz="2400" b="1" dirty="0">
                <a:latin typeface="Calibri"/>
                <a:cs typeface="Calibri"/>
              </a:rPr>
              <a:t>t	l</a:t>
            </a:r>
            <a:r>
              <a:rPr sz="2400" b="1" spc="-25" dirty="0">
                <a:latin typeface="Calibri"/>
                <a:cs typeface="Calibri"/>
              </a:rPr>
              <a:t>at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spc="15" dirty="0">
                <a:latin typeface="Calibri"/>
                <a:cs typeface="Calibri"/>
              </a:rPr>
              <a:t>n</a:t>
            </a:r>
            <a:r>
              <a:rPr sz="2400" b="1" dirty="0">
                <a:latin typeface="Calibri"/>
                <a:cs typeface="Calibri"/>
              </a:rPr>
              <a:t>cy</a:t>
            </a:r>
            <a:r>
              <a:rPr sz="2400" dirty="0">
                <a:latin typeface="Calibri"/>
                <a:cs typeface="Calibri"/>
              </a:rPr>
              <a:t>	is	the	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mou</a:t>
            </a:r>
            <a:r>
              <a:rPr sz="2400" spc="-30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t	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f	t</a:t>
            </a:r>
            <a:r>
              <a:rPr sz="2400" spc="-1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me	</a:t>
            </a:r>
            <a:r>
              <a:rPr sz="2400" spc="-5" dirty="0">
                <a:latin typeface="Calibri"/>
                <a:cs typeface="Calibri"/>
              </a:rPr>
              <a:t>f</a:t>
            </a:r>
            <a:r>
              <a:rPr sz="2400" spc="-35" dirty="0">
                <a:latin typeface="Calibri"/>
                <a:cs typeface="Calibri"/>
              </a:rPr>
              <a:t>r</a:t>
            </a:r>
            <a:r>
              <a:rPr sz="2400" spc="-2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m	</a:t>
            </a:r>
            <a:r>
              <a:rPr sz="2400" spc="-15" dirty="0">
                <a:latin typeface="Calibri"/>
                <a:cs typeface="Calibri"/>
              </a:rPr>
              <a:t>w</a:t>
            </a:r>
            <a:r>
              <a:rPr sz="2400" spc="-5" dirty="0">
                <a:latin typeface="Calibri"/>
                <a:cs typeface="Calibri"/>
              </a:rPr>
              <a:t>he</a:t>
            </a:r>
            <a:r>
              <a:rPr sz="2400" dirty="0">
                <a:latin typeface="Calibri"/>
                <a:cs typeface="Calibri"/>
              </a:rPr>
              <a:t>n	an	e</a:t>
            </a:r>
            <a:r>
              <a:rPr sz="2400" spc="-35" dirty="0">
                <a:latin typeface="Calibri"/>
                <a:cs typeface="Calibri"/>
              </a:rPr>
              <a:t>v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t  </a:t>
            </a:r>
            <a:r>
              <a:rPr sz="2400" spc="-10" dirty="0">
                <a:latin typeface="Calibri"/>
                <a:cs typeface="Calibri"/>
              </a:rPr>
              <a:t>occurs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serviced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812" y="2590800"/>
            <a:ext cx="6971987" cy="33242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7652" y="293370"/>
            <a:ext cx="40303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latin typeface="Calibri"/>
                <a:cs typeface="Calibri"/>
              </a:rPr>
              <a:t>Interrupt</a:t>
            </a:r>
            <a:r>
              <a:rPr b="1" spc="-100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Latency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95400"/>
            <a:ext cx="7867015" cy="139192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5080" indent="-342900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Interrupt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latency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 </a:t>
            </a:r>
            <a:r>
              <a:rPr sz="3200" spc="-5" dirty="0">
                <a:latin typeface="Calibri"/>
                <a:cs typeface="Calibri"/>
              </a:rPr>
              <a:t>the period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" dirty="0">
                <a:latin typeface="Calibri"/>
                <a:cs typeface="Calibri"/>
              </a:rPr>
              <a:t> time </a:t>
            </a:r>
            <a:r>
              <a:rPr sz="3200" spc="-15" dirty="0">
                <a:latin typeface="Calibri"/>
                <a:cs typeface="Calibri"/>
              </a:rPr>
              <a:t>from 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when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interrupt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arrives </a:t>
            </a:r>
            <a:r>
              <a:rPr sz="3200" spc="-20" dirty="0">
                <a:latin typeface="Calibri"/>
                <a:cs typeface="Calibri"/>
              </a:rPr>
              <a:t>at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" dirty="0">
                <a:latin typeface="Calibri"/>
                <a:cs typeface="Calibri"/>
              </a:rPr>
              <a:t> CPU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when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serviced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8609" y="2819400"/>
            <a:ext cx="5203170" cy="29649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6420" y="228600"/>
            <a:ext cx="39312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5" dirty="0">
                <a:latin typeface="Calibri"/>
                <a:cs typeface="Calibri"/>
              </a:rPr>
              <a:t>Dispatch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Latency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43000"/>
            <a:ext cx="8074025" cy="121475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5600" marR="5080" indent="-342900" algn="just">
              <a:lnSpc>
                <a:spcPct val="80000"/>
              </a:lnSpc>
              <a:spcBef>
                <a:spcPts val="820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spc="-10" dirty="0">
                <a:latin typeface="Calibri"/>
                <a:cs typeface="Calibri"/>
              </a:rPr>
              <a:t>Dispatch </a:t>
            </a:r>
            <a:r>
              <a:rPr sz="3000" spc="-15" dirty="0">
                <a:latin typeface="Calibri"/>
                <a:cs typeface="Calibri"/>
              </a:rPr>
              <a:t>latency </a:t>
            </a:r>
            <a:r>
              <a:rPr sz="3000" spc="-5" dirty="0">
                <a:latin typeface="Calibri"/>
                <a:cs typeface="Calibri"/>
              </a:rPr>
              <a:t>is </a:t>
            </a:r>
            <a:r>
              <a:rPr sz="3000" dirty="0">
                <a:latin typeface="Calibri"/>
                <a:cs typeface="Calibri"/>
              </a:rPr>
              <a:t>the </a:t>
            </a:r>
            <a:r>
              <a:rPr sz="3000" spc="-10" dirty="0">
                <a:latin typeface="Calibri"/>
                <a:cs typeface="Calibri"/>
              </a:rPr>
              <a:t>amount </a:t>
            </a:r>
            <a:r>
              <a:rPr sz="3000" dirty="0">
                <a:latin typeface="Calibri"/>
                <a:cs typeface="Calibri"/>
              </a:rPr>
              <a:t>of </a:t>
            </a:r>
            <a:r>
              <a:rPr sz="3000" spc="-5" dirty="0">
                <a:latin typeface="Calibri"/>
                <a:cs typeface="Calibri"/>
              </a:rPr>
              <a:t>time </a:t>
            </a:r>
            <a:r>
              <a:rPr sz="3000" spc="-15" dirty="0">
                <a:latin typeface="Calibri"/>
                <a:cs typeface="Calibri"/>
              </a:rPr>
              <a:t>required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for </a:t>
            </a:r>
            <a:r>
              <a:rPr sz="3000" dirty="0">
                <a:latin typeface="Calibri"/>
                <a:cs typeface="Calibri"/>
              </a:rPr>
              <a:t>the </a:t>
            </a:r>
            <a:r>
              <a:rPr sz="3000" spc="-5" dirty="0">
                <a:latin typeface="Calibri"/>
                <a:cs typeface="Calibri"/>
              </a:rPr>
              <a:t>scheduler </a:t>
            </a:r>
            <a:r>
              <a:rPr sz="3000" spc="-15" dirty="0">
                <a:latin typeface="Calibri"/>
                <a:cs typeface="Calibri"/>
              </a:rPr>
              <a:t>to </a:t>
            </a:r>
            <a:r>
              <a:rPr sz="3000" spc="-20" dirty="0">
                <a:latin typeface="Calibri"/>
                <a:cs typeface="Calibri"/>
              </a:rPr>
              <a:t>stop </a:t>
            </a:r>
            <a:r>
              <a:rPr sz="3000" spc="-5" dirty="0">
                <a:latin typeface="Calibri"/>
                <a:cs typeface="Calibri"/>
              </a:rPr>
              <a:t>one </a:t>
            </a:r>
            <a:r>
              <a:rPr sz="3000" spc="-15" dirty="0">
                <a:latin typeface="Calibri"/>
                <a:cs typeface="Calibri"/>
              </a:rPr>
              <a:t>process </a:t>
            </a:r>
            <a:r>
              <a:rPr sz="3000" dirty="0">
                <a:latin typeface="Calibri"/>
                <a:cs typeface="Calibri"/>
              </a:rPr>
              <a:t>and </a:t>
            </a:r>
            <a:r>
              <a:rPr sz="3000" spc="-20" dirty="0">
                <a:latin typeface="Calibri"/>
                <a:cs typeface="Calibri"/>
              </a:rPr>
              <a:t>start 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another"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0606" y="2438400"/>
            <a:ext cx="5474517" cy="37897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8929" y="304800"/>
            <a:ext cx="34067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RTS</a:t>
            </a:r>
            <a:r>
              <a:rPr spc="-50" dirty="0"/>
              <a:t> </a:t>
            </a:r>
            <a:r>
              <a:rPr spc="-5" dirty="0"/>
              <a:t>scheduling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19200"/>
            <a:ext cx="731710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  <a:tab pos="1593215" algn="l"/>
              </a:tabLst>
            </a:pPr>
            <a:r>
              <a:rPr sz="3200" spc="-5" dirty="0">
                <a:latin typeface="Calibri"/>
                <a:cs typeface="Calibri"/>
              </a:rPr>
              <a:t>How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schedule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60" dirty="0">
                <a:latin typeface="Calibri"/>
                <a:cs typeface="Calibri"/>
              </a:rPr>
              <a:t>Tasks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such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that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given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timing	</a:t>
            </a:r>
            <a:r>
              <a:rPr sz="3200" spc="-15" dirty="0">
                <a:latin typeface="Calibri"/>
                <a:cs typeface="Calibri"/>
              </a:rPr>
              <a:t>constraints </a:t>
            </a:r>
            <a:r>
              <a:rPr sz="3200" spc="-10" dirty="0">
                <a:latin typeface="Calibri"/>
                <a:cs typeface="Calibri"/>
              </a:rPr>
              <a:t>are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satisfied?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1700" y="2590800"/>
            <a:ext cx="7424099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9826" y="304800"/>
            <a:ext cx="27863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Task</a:t>
            </a:r>
            <a:r>
              <a:rPr spc="-65" dirty="0"/>
              <a:t> </a:t>
            </a:r>
            <a:r>
              <a:rPr dirty="0"/>
              <a:t>models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07044"/>
            <a:ext cx="7428230" cy="325120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Non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periodic/Aperiodic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(three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parameters)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A: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arriving </a:t>
            </a:r>
            <a:r>
              <a:rPr sz="2800" spc="-5" dirty="0">
                <a:latin typeface="Calibri"/>
                <a:cs typeface="Calibri"/>
              </a:rPr>
              <a:t>time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C: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computing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time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D: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deadline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(relative</a:t>
            </a:r>
            <a:r>
              <a:rPr sz="2800" spc="-10" dirty="0">
                <a:latin typeface="Calibri"/>
                <a:cs typeface="Calibri"/>
              </a:rPr>
              <a:t> deadline)</a:t>
            </a:r>
            <a:endParaRPr sz="2800">
              <a:latin typeface="Calibri"/>
              <a:cs typeface="Calibri"/>
            </a:endParaRPr>
          </a:p>
          <a:p>
            <a:pPr marL="342265" marR="113030" indent="-342265" algn="r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422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Timing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constraints: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deadline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for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each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task,</a:t>
            </a:r>
            <a:endParaRPr sz="3200">
              <a:latin typeface="Calibri"/>
              <a:cs typeface="Calibri"/>
            </a:endParaRPr>
          </a:p>
          <a:p>
            <a:pPr marL="287020" marR="183515" lvl="1" indent="-287020" algn="r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287020" algn="l"/>
              </a:tabLst>
            </a:pPr>
            <a:r>
              <a:rPr sz="2800" spc="-15" dirty="0">
                <a:latin typeface="Calibri"/>
                <a:cs typeface="Calibri"/>
              </a:rPr>
              <a:t>Relative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arriving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time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absolute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deadline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3145" y="304800"/>
            <a:ext cx="45377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Scheduling</a:t>
            </a:r>
            <a:r>
              <a:rPr spc="-40" dirty="0"/>
              <a:t> </a:t>
            </a:r>
            <a:r>
              <a:rPr spc="-10" dirty="0"/>
              <a:t>Problem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07044"/>
            <a:ext cx="7837170" cy="258000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Given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set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tasks </a:t>
            </a:r>
            <a:r>
              <a:rPr sz="3200" spc="-5" dirty="0">
                <a:latin typeface="Calibri"/>
                <a:cs typeface="Calibri"/>
              </a:rPr>
              <a:t>(ready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queue)</a:t>
            </a:r>
            <a:endParaRPr sz="3200" dirty="0">
              <a:latin typeface="Calibri"/>
              <a:cs typeface="Calibri"/>
            </a:endParaRPr>
          </a:p>
          <a:p>
            <a:pPr marL="835660" lvl="1" indent="-366395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835660" algn="l"/>
                <a:tab pos="836294" algn="l"/>
              </a:tabLst>
            </a:pPr>
            <a:r>
              <a:rPr sz="2800" spc="-10" dirty="0">
                <a:latin typeface="Calibri"/>
                <a:cs typeface="Calibri"/>
              </a:rPr>
              <a:t>Check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set</a:t>
            </a:r>
            <a:r>
              <a:rPr sz="2800" spc="-5" dirty="0">
                <a:latin typeface="Calibri"/>
                <a:cs typeface="Calibri"/>
              </a:rPr>
              <a:t> 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schedulable</a:t>
            </a:r>
            <a:endParaRPr sz="2800" dirty="0">
              <a:latin typeface="Calibri"/>
              <a:cs typeface="Calibri"/>
            </a:endParaRPr>
          </a:p>
          <a:p>
            <a:pPr marL="835660" lvl="1" indent="-366395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835660" algn="l"/>
                <a:tab pos="836294" algn="l"/>
              </a:tabLst>
            </a:pPr>
            <a:r>
              <a:rPr sz="2800" spc="-5" dirty="0">
                <a:latin typeface="Calibri"/>
                <a:cs typeface="Calibri"/>
              </a:rPr>
              <a:t>If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yes,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construct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schedule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meet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deadlines</a:t>
            </a:r>
            <a:endParaRPr sz="2800" dirty="0">
              <a:latin typeface="Calibri"/>
              <a:cs typeface="Calibri"/>
            </a:endParaRPr>
          </a:p>
          <a:p>
            <a:pPr marL="756285" marR="111315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835660" algn="l"/>
                <a:tab pos="836294" algn="l"/>
              </a:tabLst>
            </a:pPr>
            <a:r>
              <a:rPr dirty="0"/>
              <a:t>	</a:t>
            </a:r>
            <a:r>
              <a:rPr sz="2800" spc="-5" dirty="0">
                <a:latin typeface="Calibri"/>
                <a:cs typeface="Calibri"/>
              </a:rPr>
              <a:t>If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lang="en-US" sz="2800" spc="-15" dirty="0">
                <a:latin typeface="Calibri"/>
                <a:cs typeface="Calibri"/>
              </a:rPr>
              <a:t>no</a:t>
            </a:r>
            <a:r>
              <a:rPr sz="2800" spc="-15" dirty="0">
                <a:latin typeface="Calibri"/>
                <a:cs typeface="Calibri"/>
              </a:rPr>
              <a:t>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construct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10" dirty="0">
                <a:latin typeface="Calibri"/>
                <a:cs typeface="Calibri"/>
              </a:rPr>
              <a:t>optimal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schedule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e.g.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minimizing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response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times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474" y="304800"/>
            <a:ext cx="72993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5" dirty="0"/>
              <a:t>Tasks</a:t>
            </a:r>
            <a:r>
              <a:rPr dirty="0"/>
              <a:t> with the</a:t>
            </a:r>
            <a:r>
              <a:rPr spc="10" dirty="0"/>
              <a:t> </a:t>
            </a:r>
            <a:r>
              <a:rPr spc="-5" dirty="0"/>
              <a:t>same</a:t>
            </a:r>
            <a:r>
              <a:rPr dirty="0"/>
              <a:t> </a:t>
            </a:r>
            <a:r>
              <a:rPr spc="-10" dirty="0"/>
              <a:t>arrival</a:t>
            </a:r>
            <a:r>
              <a:rPr spc="5" dirty="0"/>
              <a:t> </a:t>
            </a:r>
            <a:r>
              <a:rPr dirty="0"/>
              <a:t>time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07044"/>
            <a:ext cx="7927975" cy="265303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Assume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list</a:t>
            </a:r>
            <a:r>
              <a:rPr sz="3200" dirty="0">
                <a:latin typeface="Calibri"/>
                <a:cs typeface="Calibri"/>
              </a:rPr>
              <a:t> of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tasks</a:t>
            </a:r>
            <a:endParaRPr sz="320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dirty="0">
                <a:latin typeface="Calibri"/>
                <a:cs typeface="Calibri"/>
              </a:rPr>
              <a:t>(A,C1,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D1)(A,C2,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D2)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...(A,Cn,Dn)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arrive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same time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i.e.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  <a:p>
            <a:pPr marL="445134" indent="-43307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445134" algn="l"/>
                <a:tab pos="445770" algn="l"/>
              </a:tabLst>
            </a:pPr>
            <a:r>
              <a:rPr sz="3200" spc="-5" dirty="0">
                <a:latin typeface="Calibri"/>
                <a:cs typeface="Calibri"/>
              </a:rPr>
              <a:t>How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find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feasible</a:t>
            </a:r>
            <a:r>
              <a:rPr sz="3200" spc="-5" dirty="0">
                <a:latin typeface="Calibri"/>
                <a:cs typeface="Calibri"/>
              </a:rPr>
              <a:t> schedule?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8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(there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may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spc="-15" dirty="0">
                <a:latin typeface="Calibri"/>
                <a:cs typeface="Calibri"/>
              </a:rPr>
              <a:t>many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feasible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schedules)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101" y="381000"/>
            <a:ext cx="7620634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16275" marR="5080" indent="-3204210">
              <a:lnSpc>
                <a:spcPct val="100000"/>
              </a:lnSpc>
              <a:spcBef>
                <a:spcPts val="95"/>
              </a:spcBef>
            </a:pPr>
            <a:r>
              <a:rPr sz="3200" spc="-20" dirty="0"/>
              <a:t>Earliest</a:t>
            </a:r>
            <a:r>
              <a:rPr sz="3200" spc="-10" dirty="0"/>
              <a:t> </a:t>
            </a:r>
            <a:r>
              <a:rPr sz="3200" spc="-5" dirty="0"/>
              <a:t>Due</a:t>
            </a:r>
            <a:r>
              <a:rPr sz="3200" spc="-20" dirty="0"/>
              <a:t> </a:t>
            </a:r>
            <a:r>
              <a:rPr sz="3200" spc="-25" dirty="0"/>
              <a:t>Date</a:t>
            </a:r>
            <a:r>
              <a:rPr sz="3200" spc="-10" dirty="0"/>
              <a:t> </a:t>
            </a:r>
            <a:r>
              <a:rPr sz="3200" spc="-35" dirty="0"/>
              <a:t>first</a:t>
            </a:r>
            <a:r>
              <a:rPr sz="3200" dirty="0"/>
              <a:t> </a:t>
            </a:r>
            <a:r>
              <a:rPr sz="3200" spc="-5" dirty="0"/>
              <a:t>(EDD) </a:t>
            </a:r>
            <a:r>
              <a:rPr sz="3200" spc="-10" dirty="0"/>
              <a:t>[Jackson </a:t>
            </a:r>
            <a:r>
              <a:rPr sz="3200" spc="-890" dirty="0"/>
              <a:t> </a:t>
            </a:r>
            <a:r>
              <a:rPr sz="3200" dirty="0"/>
              <a:t>1955]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47800"/>
            <a:ext cx="8048625" cy="413829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1403350" indent="-342900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445134" algn="l"/>
                <a:tab pos="445770" algn="l"/>
              </a:tabLst>
            </a:pPr>
            <a:r>
              <a:rPr dirty="0"/>
              <a:t>	</a:t>
            </a:r>
            <a:r>
              <a:rPr sz="3200" spc="-5" dirty="0">
                <a:latin typeface="Calibri"/>
                <a:cs typeface="Calibri"/>
              </a:rPr>
              <a:t>EDD: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order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tasks </a:t>
            </a:r>
            <a:r>
              <a:rPr sz="3200" spc="-5" dirty="0">
                <a:latin typeface="Calibri"/>
                <a:cs typeface="Calibri"/>
              </a:rPr>
              <a:t>with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non-decreasing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deadlines.</a:t>
            </a:r>
            <a:endParaRPr sz="3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0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Simple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form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EDF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(earliest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deadline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first)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35"/>
              </a:spcBef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Calibri"/>
                <a:cs typeface="Calibri"/>
              </a:rPr>
              <a:t>Example: </a:t>
            </a:r>
            <a:r>
              <a:rPr sz="2800" spc="-5" dirty="0">
                <a:latin typeface="Calibri"/>
                <a:cs typeface="Calibri"/>
              </a:rPr>
              <a:t>(1,10)(2,3)(3,5)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35"/>
              </a:spcBef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Calibri"/>
                <a:cs typeface="Calibri"/>
              </a:rPr>
              <a:t>Schedule: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(2,3)(3,5)(1,10)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85" dirty="0">
                <a:latin typeface="Calibri"/>
                <a:cs typeface="Calibri"/>
              </a:rPr>
              <a:t>FACT: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EDD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optimal</a:t>
            </a:r>
            <a:endParaRPr sz="3200" dirty="0">
              <a:latin typeface="Calibri"/>
              <a:cs typeface="Calibri"/>
            </a:endParaRPr>
          </a:p>
          <a:p>
            <a:pPr marL="756285" marR="5080" lvl="1" indent="-287020">
              <a:lnSpc>
                <a:spcPct val="90000"/>
              </a:lnSpc>
              <a:spcBef>
                <a:spcPts val="68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If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EDF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cann’t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find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feasible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schedule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-5" dirty="0">
                <a:latin typeface="Calibri"/>
                <a:cs typeface="Calibri"/>
              </a:rPr>
              <a:t> 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task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set,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other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algorithm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i.e.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task</a:t>
            </a:r>
            <a:r>
              <a:rPr sz="2800" spc="-5" dirty="0">
                <a:latin typeface="Calibri"/>
                <a:cs typeface="Calibri"/>
              </a:rPr>
              <a:t> set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non </a:t>
            </a:r>
            <a:r>
              <a:rPr sz="2800" spc="-10" dirty="0">
                <a:latin typeface="Calibri"/>
                <a:cs typeface="Calibri"/>
              </a:rPr>
              <a:t>schedulable.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2802" y="304800"/>
            <a:ext cx="73844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5" dirty="0"/>
              <a:t>Tasks</a:t>
            </a:r>
            <a:r>
              <a:rPr dirty="0"/>
              <a:t> with </a:t>
            </a:r>
            <a:r>
              <a:rPr spc="-30" dirty="0"/>
              <a:t>different</a:t>
            </a:r>
            <a:r>
              <a:rPr spc="-15" dirty="0"/>
              <a:t> </a:t>
            </a:r>
            <a:r>
              <a:rPr spc="-10" dirty="0"/>
              <a:t>arrival</a:t>
            </a:r>
            <a:r>
              <a:rPr spc="5" dirty="0"/>
              <a:t> </a:t>
            </a:r>
            <a:r>
              <a:rPr dirty="0"/>
              <a:t>times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07044"/>
            <a:ext cx="8042275" cy="316547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Assume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list</a:t>
            </a:r>
            <a:r>
              <a:rPr sz="3200" dirty="0">
                <a:latin typeface="Calibri"/>
                <a:cs typeface="Calibri"/>
              </a:rPr>
              <a:t> of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tasks</a:t>
            </a:r>
            <a:endParaRPr sz="3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690"/>
              </a:spcBef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5" dirty="0">
                <a:latin typeface="Calibri"/>
                <a:cs typeface="Calibri"/>
              </a:rPr>
              <a:t>S=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(A1,C1,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D1)(A2,C2,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D2)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...(An,Cn,Dn)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Preemptive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EDF </a:t>
            </a:r>
            <a:r>
              <a:rPr sz="3200" dirty="0">
                <a:latin typeface="Calibri"/>
                <a:cs typeface="Calibri"/>
              </a:rPr>
              <a:t>[Horn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1974]:</a:t>
            </a:r>
            <a:endParaRPr sz="320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85"/>
              </a:spcBef>
              <a:buFont typeface="Arial MT"/>
              <a:buChar char="–"/>
              <a:tabLst>
                <a:tab pos="835660" algn="l"/>
                <a:tab pos="836294" algn="l"/>
              </a:tabLst>
            </a:pPr>
            <a:r>
              <a:rPr dirty="0"/>
              <a:t>	</a:t>
            </a:r>
            <a:r>
              <a:rPr sz="2800" spc="-15" dirty="0">
                <a:latin typeface="Calibri"/>
                <a:cs typeface="Calibri"/>
              </a:rPr>
              <a:t>Whenever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new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tasks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arrive,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ready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queue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according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earliest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deadlines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first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at</a:t>
            </a:r>
            <a:r>
              <a:rPr sz="2800" spc="-5" dirty="0">
                <a:latin typeface="Calibri"/>
                <a:cs typeface="Calibri"/>
              </a:rPr>
              <a:t> 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moment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Run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25" dirty="0">
                <a:latin typeface="Calibri"/>
                <a:cs typeface="Calibri"/>
              </a:rPr>
              <a:t>first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task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queue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non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empty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1174" y="304800"/>
            <a:ext cx="75266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Earliest</a:t>
            </a:r>
            <a:r>
              <a:rPr dirty="0"/>
              <a:t> </a:t>
            </a:r>
            <a:r>
              <a:rPr spc="-5" dirty="0"/>
              <a:t>Deadline </a:t>
            </a:r>
            <a:r>
              <a:rPr spc="-25" dirty="0"/>
              <a:t>First</a:t>
            </a:r>
            <a:r>
              <a:rPr spc="5" dirty="0"/>
              <a:t> </a:t>
            </a:r>
            <a:r>
              <a:rPr dirty="0"/>
              <a:t>Scheduling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07044"/>
            <a:ext cx="7912734" cy="1640839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Priorities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are </a:t>
            </a:r>
            <a:r>
              <a:rPr sz="3200" dirty="0">
                <a:latin typeface="Calibri"/>
                <a:cs typeface="Calibri"/>
              </a:rPr>
              <a:t>assigned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according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to</a:t>
            </a:r>
            <a:r>
              <a:rPr sz="3200" spc="-5" dirty="0">
                <a:latin typeface="Calibri"/>
                <a:cs typeface="Calibri"/>
              </a:rPr>
              <a:t> deadlines:</a:t>
            </a:r>
            <a:endParaRPr sz="3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solidFill>
                  <a:srgbClr val="00B050"/>
                </a:solidFill>
                <a:latin typeface="Calibri"/>
                <a:cs typeface="Calibri"/>
              </a:rPr>
              <a:t>the earlier the</a:t>
            </a:r>
            <a:r>
              <a:rPr sz="28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B050"/>
                </a:solidFill>
                <a:latin typeface="Calibri"/>
                <a:cs typeface="Calibri"/>
              </a:rPr>
              <a:t>deadline,</a:t>
            </a:r>
            <a:r>
              <a:rPr sz="28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B050"/>
                </a:solidFill>
                <a:latin typeface="Calibri"/>
                <a:cs typeface="Calibri"/>
              </a:rPr>
              <a:t>the</a:t>
            </a:r>
            <a:r>
              <a:rPr sz="28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B050"/>
                </a:solidFill>
                <a:latin typeface="Calibri"/>
                <a:cs typeface="Calibri"/>
              </a:rPr>
              <a:t>higher</a:t>
            </a:r>
            <a:r>
              <a:rPr sz="28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B050"/>
                </a:solidFill>
                <a:latin typeface="Calibri"/>
                <a:cs typeface="Calibri"/>
              </a:rPr>
              <a:t>the</a:t>
            </a:r>
            <a:r>
              <a:rPr sz="28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B050"/>
                </a:solidFill>
                <a:latin typeface="Calibri"/>
                <a:cs typeface="Calibri"/>
              </a:rPr>
              <a:t>priority;</a:t>
            </a:r>
            <a:endParaRPr sz="2800" dirty="0">
              <a:solidFill>
                <a:srgbClr val="00B050"/>
              </a:solidFill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solidFill>
                  <a:srgbClr val="00B050"/>
                </a:solidFill>
                <a:latin typeface="Calibri"/>
                <a:cs typeface="Calibri"/>
              </a:rPr>
              <a:t>the</a:t>
            </a:r>
            <a:r>
              <a:rPr sz="2800" spc="-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B050"/>
                </a:solidFill>
                <a:latin typeface="Calibri"/>
                <a:cs typeface="Calibri"/>
              </a:rPr>
              <a:t>later</a:t>
            </a:r>
            <a:r>
              <a:rPr sz="2800" spc="-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B050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B050"/>
                </a:solidFill>
                <a:latin typeface="Calibri"/>
                <a:cs typeface="Calibri"/>
              </a:rPr>
              <a:t>deadline,</a:t>
            </a:r>
            <a:r>
              <a:rPr sz="2800" spc="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B050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B050"/>
                </a:solidFill>
                <a:latin typeface="Calibri"/>
                <a:cs typeface="Calibri"/>
              </a:rPr>
              <a:t>lower </a:t>
            </a:r>
            <a:r>
              <a:rPr sz="2800" spc="-5" dirty="0">
                <a:solidFill>
                  <a:srgbClr val="00B050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B050"/>
                </a:solidFill>
                <a:latin typeface="Calibri"/>
                <a:cs typeface="Calibri"/>
              </a:rPr>
              <a:t>priority</a:t>
            </a:r>
            <a:endParaRPr sz="2800" dirty="0">
              <a:solidFill>
                <a:srgbClr val="00B05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4377" y="381000"/>
            <a:ext cx="30968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EDF:</a:t>
            </a:r>
            <a:r>
              <a:rPr spc="-65" dirty="0"/>
              <a:t> </a:t>
            </a:r>
            <a:r>
              <a:rPr spc="-15" dirty="0"/>
              <a:t>Example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089" y="1600200"/>
            <a:ext cx="7546552" cy="418263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2729" y="304800"/>
            <a:ext cx="51015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latin typeface="Calibri"/>
                <a:cs typeface="Calibri"/>
              </a:rPr>
              <a:t>Least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slack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scheduling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8008620" cy="447103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55600" marR="131445" indent="-342900" algn="just">
              <a:lnSpc>
                <a:spcPts val="2920"/>
              </a:lnSpc>
              <a:spcBef>
                <a:spcPts val="46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similar </a:t>
            </a:r>
            <a:r>
              <a:rPr sz="2700" spc="-15" dirty="0">
                <a:latin typeface="Calibri"/>
                <a:cs typeface="Calibri"/>
              </a:rPr>
              <a:t>to shortest </a:t>
            </a:r>
            <a:r>
              <a:rPr sz="2700" spc="-5" dirty="0">
                <a:latin typeface="Calibri"/>
                <a:cs typeface="Calibri"/>
              </a:rPr>
              <a:t>remaining </a:t>
            </a:r>
            <a:r>
              <a:rPr sz="2700" dirty="0">
                <a:latin typeface="Calibri"/>
                <a:cs typeface="Calibri"/>
              </a:rPr>
              <a:t>time </a:t>
            </a:r>
            <a:r>
              <a:rPr sz="2700" spc="-5" dirty="0">
                <a:latin typeface="Calibri"/>
                <a:cs typeface="Calibri"/>
              </a:rPr>
              <a:t>scheduling </a:t>
            </a:r>
            <a:r>
              <a:rPr sz="2700" dirty="0">
                <a:latin typeface="Calibri"/>
                <a:cs typeface="Calibri"/>
              </a:rPr>
              <a:t>with the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concept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of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5" dirty="0">
                <a:latin typeface="Calibri"/>
                <a:cs typeface="Calibri"/>
              </a:rPr>
              <a:t> deadline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thrown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in.</a:t>
            </a:r>
          </a:p>
          <a:p>
            <a:pPr marL="355600" indent="-342900" algn="just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pick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process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that</a:t>
            </a:r>
            <a:r>
              <a:rPr sz="2700" spc="-15" dirty="0">
                <a:latin typeface="Calibri"/>
                <a:cs typeface="Calibri"/>
              </a:rPr>
              <a:t> we</a:t>
            </a:r>
            <a:r>
              <a:rPr sz="2700" spc="-10" dirty="0">
                <a:latin typeface="Calibri"/>
                <a:cs typeface="Calibri"/>
              </a:rPr>
              <a:t> can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least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afford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to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40" dirty="0">
                <a:latin typeface="Calibri"/>
                <a:cs typeface="Calibri"/>
              </a:rPr>
              <a:t>delay.</a:t>
            </a:r>
            <a:endParaRPr sz="2700" dirty="0">
              <a:latin typeface="Calibri"/>
              <a:cs typeface="Calibri"/>
            </a:endParaRPr>
          </a:p>
          <a:p>
            <a:pPr marL="355600" marR="561975" indent="-342900" algn="just">
              <a:lnSpc>
                <a:spcPts val="2920"/>
              </a:lnSpc>
              <a:spcBef>
                <a:spcPts val="69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spc="-10" dirty="0">
                <a:latin typeface="Calibri"/>
                <a:cs typeface="Calibri"/>
              </a:rPr>
              <a:t>Least </a:t>
            </a:r>
            <a:r>
              <a:rPr sz="2700" spc="-5" dirty="0">
                <a:latin typeface="Calibri"/>
                <a:cs typeface="Calibri"/>
              </a:rPr>
              <a:t>slack </a:t>
            </a:r>
            <a:r>
              <a:rPr sz="2700" dirty="0">
                <a:latin typeface="Calibri"/>
                <a:cs typeface="Calibri"/>
              </a:rPr>
              <a:t>is </a:t>
            </a:r>
            <a:r>
              <a:rPr sz="2700" spc="-10" dirty="0">
                <a:latin typeface="Calibri"/>
                <a:cs typeface="Calibri"/>
              </a:rPr>
              <a:t>computed </a:t>
            </a:r>
            <a:r>
              <a:rPr sz="2700" dirty="0">
                <a:latin typeface="Calibri"/>
                <a:cs typeface="Calibri"/>
              </a:rPr>
              <a:t>as </a:t>
            </a:r>
            <a:r>
              <a:rPr sz="2700" i="1" dirty="0">
                <a:latin typeface="Calibri"/>
                <a:cs typeface="Calibri"/>
              </a:rPr>
              <a:t>the time </a:t>
            </a:r>
            <a:r>
              <a:rPr sz="2700" i="1" spc="-20" dirty="0">
                <a:latin typeface="Calibri"/>
                <a:cs typeface="Calibri"/>
              </a:rPr>
              <a:t>to </a:t>
            </a:r>
            <a:r>
              <a:rPr sz="2700" i="1" spc="-10" dirty="0">
                <a:latin typeface="Calibri"/>
                <a:cs typeface="Calibri"/>
              </a:rPr>
              <a:t>the </a:t>
            </a:r>
            <a:r>
              <a:rPr sz="2700" i="1" spc="-5" dirty="0">
                <a:latin typeface="Calibri"/>
                <a:cs typeface="Calibri"/>
              </a:rPr>
              <a:t>deadline </a:t>
            </a:r>
            <a:r>
              <a:rPr sz="2700" i="1" spc="-600" dirty="0">
                <a:latin typeface="Calibri"/>
                <a:cs typeface="Calibri"/>
              </a:rPr>
              <a:t> </a:t>
            </a:r>
            <a:r>
              <a:rPr sz="2700" i="1" dirty="0">
                <a:latin typeface="Calibri"/>
                <a:cs typeface="Calibri"/>
              </a:rPr>
              <a:t>minus</a:t>
            </a:r>
            <a:r>
              <a:rPr sz="2700" i="1" spc="-25" dirty="0">
                <a:latin typeface="Calibri"/>
                <a:cs typeface="Calibri"/>
              </a:rPr>
              <a:t> </a:t>
            </a:r>
            <a:r>
              <a:rPr sz="2700" i="1" dirty="0">
                <a:latin typeface="Calibri"/>
                <a:cs typeface="Calibri"/>
              </a:rPr>
              <a:t>the</a:t>
            </a:r>
            <a:r>
              <a:rPr sz="2700" i="1" spc="-20" dirty="0">
                <a:latin typeface="Calibri"/>
                <a:cs typeface="Calibri"/>
              </a:rPr>
              <a:t> </a:t>
            </a:r>
            <a:r>
              <a:rPr sz="2700" i="1" spc="-5" dirty="0">
                <a:latin typeface="Calibri"/>
                <a:cs typeface="Calibri"/>
              </a:rPr>
              <a:t>amount</a:t>
            </a:r>
            <a:r>
              <a:rPr sz="2700" i="1" spc="-20" dirty="0">
                <a:latin typeface="Calibri"/>
                <a:cs typeface="Calibri"/>
              </a:rPr>
              <a:t> </a:t>
            </a:r>
            <a:r>
              <a:rPr sz="2700" i="1" spc="-5" dirty="0">
                <a:latin typeface="Calibri"/>
                <a:cs typeface="Calibri"/>
              </a:rPr>
              <a:t>of</a:t>
            </a:r>
            <a:r>
              <a:rPr sz="2700" i="1" dirty="0">
                <a:latin typeface="Calibri"/>
                <a:cs typeface="Calibri"/>
              </a:rPr>
              <a:t> </a:t>
            </a:r>
            <a:r>
              <a:rPr sz="2700" i="1" spc="-10" dirty="0">
                <a:latin typeface="Calibri"/>
                <a:cs typeface="Calibri"/>
              </a:rPr>
              <a:t>computation</a:t>
            </a:r>
            <a:r>
              <a:rPr sz="2700" spc="-10" dirty="0">
                <a:latin typeface="Calibri"/>
                <a:cs typeface="Calibri"/>
              </a:rPr>
              <a:t>.</a:t>
            </a:r>
            <a:endParaRPr sz="27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900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spc="-20" dirty="0">
                <a:latin typeface="Calibri"/>
                <a:cs typeface="Calibri"/>
              </a:rPr>
              <a:t>For </a:t>
            </a:r>
            <a:r>
              <a:rPr sz="2700" spc="-15" dirty="0">
                <a:latin typeface="Calibri"/>
                <a:cs typeface="Calibri"/>
              </a:rPr>
              <a:t>example, </a:t>
            </a:r>
            <a:r>
              <a:rPr sz="2700" spc="-10" dirty="0">
                <a:latin typeface="Calibri"/>
                <a:cs typeface="Calibri"/>
              </a:rPr>
              <a:t>suppose that </a:t>
            </a:r>
            <a:r>
              <a:rPr sz="2700" spc="-5" dirty="0">
                <a:latin typeface="Calibri"/>
                <a:cs typeface="Calibri"/>
              </a:rPr>
              <a:t>our remaining </a:t>
            </a:r>
            <a:r>
              <a:rPr sz="2700" spc="-15" dirty="0">
                <a:latin typeface="Calibri"/>
                <a:cs typeface="Calibri"/>
              </a:rPr>
              <a:t>computation 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time,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i="1" dirty="0">
                <a:latin typeface="Calibri"/>
                <a:cs typeface="Calibri"/>
              </a:rPr>
              <a:t>C</a:t>
            </a:r>
            <a:r>
              <a:rPr sz="2700" dirty="0">
                <a:latin typeface="Calibri"/>
                <a:cs typeface="Calibri"/>
              </a:rPr>
              <a:t>,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 5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msec.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deadline,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i="1" spc="-5" dirty="0">
                <a:latin typeface="Calibri"/>
                <a:cs typeface="Calibri"/>
              </a:rPr>
              <a:t>D</a:t>
            </a:r>
            <a:r>
              <a:rPr sz="2700" spc="-5" dirty="0">
                <a:latin typeface="Calibri"/>
                <a:cs typeface="Calibri"/>
              </a:rPr>
              <a:t>,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20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msec</a:t>
            </a:r>
            <a:r>
              <a:rPr sz="2700" spc="-20" dirty="0">
                <a:latin typeface="Calibri"/>
                <a:cs typeface="Calibri"/>
              </a:rPr>
              <a:t> from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50" dirty="0">
                <a:latin typeface="Calibri"/>
                <a:cs typeface="Calibri"/>
              </a:rPr>
              <a:t>now.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The slack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time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i="1" dirty="0">
                <a:latin typeface="Calibri"/>
                <a:cs typeface="Calibri"/>
              </a:rPr>
              <a:t>D</a:t>
            </a:r>
            <a:r>
              <a:rPr sz="2700" i="1" spc="-10" dirty="0">
                <a:latin typeface="Calibri"/>
                <a:cs typeface="Calibri"/>
              </a:rPr>
              <a:t> </a:t>
            </a:r>
            <a:r>
              <a:rPr sz="2700" i="1" dirty="0">
                <a:latin typeface="Calibri"/>
                <a:cs typeface="Calibri"/>
              </a:rPr>
              <a:t>- C</a:t>
            </a:r>
            <a:r>
              <a:rPr sz="2700" dirty="0">
                <a:latin typeface="Calibri"/>
                <a:cs typeface="Calibri"/>
              </a:rPr>
              <a:t>, </a:t>
            </a:r>
            <a:r>
              <a:rPr sz="2700" spc="-5" dirty="0">
                <a:latin typeface="Calibri"/>
                <a:cs typeface="Calibri"/>
              </a:rPr>
              <a:t>or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15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msec.</a:t>
            </a:r>
          </a:p>
          <a:p>
            <a:pPr marL="355600" marR="406400" indent="-342900" algn="just">
              <a:lnSpc>
                <a:spcPct val="90000"/>
              </a:lnSpc>
              <a:spcBef>
                <a:spcPts val="65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The scheduler </a:t>
            </a:r>
            <a:r>
              <a:rPr sz="2700" dirty="0">
                <a:latin typeface="Calibri"/>
                <a:cs typeface="Calibri"/>
              </a:rPr>
              <a:t>will </a:t>
            </a:r>
            <a:r>
              <a:rPr sz="2700" spc="-15" dirty="0">
                <a:latin typeface="Calibri"/>
                <a:cs typeface="Calibri"/>
              </a:rPr>
              <a:t>compare </a:t>
            </a:r>
            <a:r>
              <a:rPr sz="2700" dirty="0">
                <a:latin typeface="Calibri"/>
                <a:cs typeface="Calibri"/>
              </a:rPr>
              <a:t>this </a:t>
            </a:r>
            <a:r>
              <a:rPr sz="2700" spc="-5" dirty="0">
                <a:latin typeface="Calibri"/>
                <a:cs typeface="Calibri"/>
              </a:rPr>
              <a:t>slack </a:t>
            </a:r>
            <a:r>
              <a:rPr sz="2700" dirty="0">
                <a:latin typeface="Calibri"/>
                <a:cs typeface="Calibri"/>
              </a:rPr>
              <a:t>time with the 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slack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times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of other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processes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25" dirty="0">
                <a:latin typeface="Calibri"/>
                <a:cs typeface="Calibri"/>
              </a:rPr>
              <a:t> system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run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one </a:t>
            </a:r>
            <a:r>
              <a:rPr sz="2700" dirty="0">
                <a:latin typeface="Calibri"/>
                <a:cs typeface="Calibri"/>
              </a:rPr>
              <a:t>with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 </a:t>
            </a:r>
            <a:r>
              <a:rPr sz="2700" spc="-15" dirty="0">
                <a:latin typeface="Calibri"/>
                <a:cs typeface="Calibri"/>
              </a:rPr>
              <a:t>lowest </a:t>
            </a:r>
            <a:r>
              <a:rPr sz="2700" spc="-5" dirty="0">
                <a:latin typeface="Calibri"/>
                <a:cs typeface="Calibri"/>
              </a:rPr>
              <a:t>slack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time.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28369" y="304800"/>
            <a:ext cx="6290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Least</a:t>
            </a:r>
            <a:r>
              <a:rPr spc="-25" dirty="0"/>
              <a:t> </a:t>
            </a:r>
            <a:r>
              <a:rPr spc="-5" dirty="0"/>
              <a:t>Slack</a:t>
            </a:r>
            <a:r>
              <a:rPr spc="5" dirty="0"/>
              <a:t> </a:t>
            </a:r>
            <a:r>
              <a:rPr spc="-5" dirty="0"/>
              <a:t>Time</a:t>
            </a:r>
            <a:r>
              <a:rPr spc="-10" dirty="0"/>
              <a:t> </a:t>
            </a:r>
            <a:r>
              <a:rPr dirty="0"/>
              <a:t>scheduling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73390" cy="35388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With </a:t>
            </a:r>
            <a:r>
              <a:rPr sz="3200" spc="-10" dirty="0">
                <a:latin typeface="Calibri"/>
                <a:cs typeface="Calibri"/>
              </a:rPr>
              <a:t>earliest </a:t>
            </a:r>
            <a:r>
              <a:rPr sz="3200" spc="-5" dirty="0">
                <a:latin typeface="Calibri"/>
                <a:cs typeface="Calibri"/>
              </a:rPr>
              <a:t>deadline, </a:t>
            </a:r>
            <a:r>
              <a:rPr sz="3200" spc="-10" dirty="0">
                <a:latin typeface="Calibri"/>
                <a:cs typeface="Calibri"/>
              </a:rPr>
              <a:t>we </a:t>
            </a:r>
            <a:r>
              <a:rPr sz="3200" spc="-5" dirty="0">
                <a:latin typeface="Calibri"/>
                <a:cs typeface="Calibri"/>
              </a:rPr>
              <a:t>will </a:t>
            </a:r>
            <a:r>
              <a:rPr sz="3200" spc="-20" dirty="0">
                <a:latin typeface="Calibri"/>
                <a:cs typeface="Calibri"/>
              </a:rPr>
              <a:t>always </a:t>
            </a:r>
            <a:r>
              <a:rPr sz="3200" spc="-10" dirty="0">
                <a:latin typeface="Calibri"/>
                <a:cs typeface="Calibri"/>
              </a:rPr>
              <a:t>work </a:t>
            </a:r>
            <a:r>
              <a:rPr sz="3200" dirty="0">
                <a:latin typeface="Calibri"/>
                <a:cs typeface="Calibri"/>
              </a:rPr>
              <a:t>on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process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nearest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deadline,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delaying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 the </a:t>
            </a:r>
            <a:r>
              <a:rPr sz="3200" spc="-5" dirty="0">
                <a:latin typeface="Calibri"/>
                <a:cs typeface="Calibri"/>
              </a:rPr>
              <a:t>other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processes.</a:t>
            </a:r>
            <a:endParaRPr sz="32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With </a:t>
            </a:r>
            <a:r>
              <a:rPr sz="3200" spc="-10" dirty="0">
                <a:latin typeface="Calibri"/>
                <a:cs typeface="Calibri"/>
              </a:rPr>
              <a:t>least </a:t>
            </a:r>
            <a:r>
              <a:rPr sz="3200" spc="-5" dirty="0">
                <a:latin typeface="Calibri"/>
                <a:cs typeface="Calibri"/>
              </a:rPr>
              <a:t>slack </a:t>
            </a:r>
            <a:r>
              <a:rPr sz="3200" dirty="0">
                <a:latin typeface="Calibri"/>
                <a:cs typeface="Calibri"/>
              </a:rPr>
              <a:t>scheduling, </a:t>
            </a:r>
            <a:r>
              <a:rPr sz="3200" spc="-15" dirty="0">
                <a:latin typeface="Calibri"/>
                <a:cs typeface="Calibri"/>
              </a:rPr>
              <a:t>we get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5" dirty="0">
                <a:latin typeface="Calibri"/>
                <a:cs typeface="Calibri"/>
              </a:rPr>
              <a:t>balanced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result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that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we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attempt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keep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differences</a:t>
            </a:r>
            <a:r>
              <a:rPr sz="3200" spc="-15" dirty="0">
                <a:latin typeface="Calibri"/>
                <a:cs typeface="Calibri"/>
              </a:rPr>
              <a:t> from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deadlines</a:t>
            </a:r>
            <a:r>
              <a:rPr sz="3200" dirty="0">
                <a:latin typeface="Calibri"/>
                <a:cs typeface="Calibri"/>
              </a:rPr>
              <a:t> balanced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among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processes.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228600"/>
            <a:ext cx="8534399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Monotonic</a:t>
            </a:r>
            <a:r>
              <a:rPr sz="2400" i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  <a:r>
              <a:rPr sz="24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(RMS)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240" y="1507044"/>
            <a:ext cx="8013700" cy="206756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67665" algn="l"/>
                <a:tab pos="368300" algn="l"/>
              </a:tabLst>
            </a:pPr>
            <a:r>
              <a:rPr sz="3200" spc="-5" dirty="0">
                <a:latin typeface="Calibri"/>
                <a:cs typeface="Calibri"/>
              </a:rPr>
              <a:t>Assume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i="1" spc="5" dirty="0">
                <a:latin typeface="Calibri"/>
                <a:cs typeface="Calibri"/>
              </a:rPr>
              <a:t>m</a:t>
            </a:r>
            <a:r>
              <a:rPr sz="3200" i="1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periodic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processes</a:t>
            </a:r>
            <a:endParaRPr sz="3200" dirty="0">
              <a:latin typeface="Calibri"/>
              <a:cs typeface="Calibri"/>
            </a:endParaRPr>
          </a:p>
          <a:p>
            <a:pPr marL="7689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69620" algn="l"/>
              </a:tabLst>
            </a:pPr>
            <a:r>
              <a:rPr sz="2800" spc="-15" dirty="0">
                <a:latin typeface="Calibri"/>
                <a:cs typeface="Calibri"/>
              </a:rPr>
              <a:t>Process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i</a:t>
            </a:r>
            <a:r>
              <a:rPr sz="2800" i="1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requires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t</a:t>
            </a:r>
            <a:r>
              <a:rPr sz="2775" i="1" spc="-7" baseline="-21021" dirty="0">
                <a:latin typeface="Calibri"/>
                <a:cs typeface="Calibri"/>
              </a:rPr>
              <a:t>i</a:t>
            </a:r>
            <a:r>
              <a:rPr sz="2775" i="1" spc="322" baseline="-21021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msec 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processing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time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every</a:t>
            </a:r>
            <a:endParaRPr sz="2800" dirty="0">
              <a:latin typeface="Calibri"/>
              <a:cs typeface="Calibri"/>
            </a:endParaRPr>
          </a:p>
          <a:p>
            <a:pPr marL="768985">
              <a:lnSpc>
                <a:spcPct val="100000"/>
              </a:lnSpc>
            </a:pPr>
            <a:r>
              <a:rPr sz="2800" i="1" dirty="0">
                <a:latin typeface="Calibri"/>
                <a:cs typeface="Calibri"/>
              </a:rPr>
              <a:t>p</a:t>
            </a:r>
            <a:r>
              <a:rPr sz="2775" i="1" baseline="-21021" dirty="0">
                <a:latin typeface="Calibri"/>
                <a:cs typeface="Calibri"/>
              </a:rPr>
              <a:t>i</a:t>
            </a:r>
            <a:r>
              <a:rPr sz="2775" i="1" spc="240" baseline="-21021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msec.</a:t>
            </a:r>
            <a:endParaRPr sz="2800" dirty="0">
              <a:latin typeface="Calibri"/>
              <a:cs typeface="Calibri"/>
            </a:endParaRPr>
          </a:p>
          <a:p>
            <a:pPr marL="7689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69620" algn="l"/>
              </a:tabLst>
            </a:pPr>
            <a:r>
              <a:rPr sz="2800" spc="-15" dirty="0">
                <a:latin typeface="Calibri"/>
                <a:cs typeface="Calibri"/>
              </a:rPr>
              <a:t>Equal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processing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every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interval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—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like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clockwork!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D8A86-E145-41C7-9EB7-61B060BA0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5600" y="304800"/>
            <a:ext cx="2901266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E</a:t>
            </a:r>
            <a:r>
              <a:rPr sz="4400" spc="-85" dirty="0"/>
              <a:t>x</a:t>
            </a:r>
            <a:r>
              <a:rPr sz="4400" dirty="0"/>
              <a:t>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240" y="1196085"/>
            <a:ext cx="7303134" cy="226695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68300" marR="17780" indent="-342900">
              <a:lnSpc>
                <a:spcPts val="2600"/>
              </a:lnSpc>
              <a:spcBef>
                <a:spcPts val="420"/>
              </a:spcBef>
              <a:buFont typeface="Arial MT"/>
              <a:buChar char="•"/>
              <a:tabLst>
                <a:tab pos="367665" algn="l"/>
                <a:tab pos="368300" algn="l"/>
              </a:tabLst>
            </a:pPr>
            <a:r>
              <a:rPr lang="en-US" sz="2400" spc="-10" dirty="0">
                <a:latin typeface="Calibri"/>
                <a:cs typeface="Calibri"/>
              </a:rPr>
              <a:t>Periodic process </a:t>
            </a:r>
            <a:r>
              <a:rPr lang="en-US" sz="2400" i="1" dirty="0">
                <a:latin typeface="Calibri"/>
                <a:cs typeface="Calibri"/>
              </a:rPr>
              <a:t>i </a:t>
            </a:r>
            <a:r>
              <a:rPr lang="en-US" sz="2400" spc="-10" dirty="0">
                <a:latin typeface="Calibri"/>
                <a:cs typeface="Calibri"/>
              </a:rPr>
              <a:t>requires </a:t>
            </a:r>
            <a:r>
              <a:rPr lang="en-US" sz="2400" dirty="0">
                <a:latin typeface="Calibri"/>
                <a:cs typeface="Calibri"/>
              </a:rPr>
              <a:t>the </a:t>
            </a:r>
            <a:r>
              <a:rPr lang="en-US" sz="2400" spc="-5" dirty="0">
                <a:latin typeface="Calibri"/>
                <a:cs typeface="Calibri"/>
              </a:rPr>
              <a:t>CPU </a:t>
            </a:r>
            <a:r>
              <a:rPr lang="en-US" sz="2400" spc="-15" dirty="0">
                <a:latin typeface="Calibri"/>
                <a:cs typeface="Calibri"/>
              </a:rPr>
              <a:t>at </a:t>
            </a:r>
            <a:r>
              <a:rPr lang="en-US" sz="2400" spc="-5" dirty="0">
                <a:latin typeface="Calibri"/>
                <a:cs typeface="Calibri"/>
              </a:rPr>
              <a:t>specified </a:t>
            </a:r>
            <a:r>
              <a:rPr lang="en-US" sz="2400" spc="-10" dirty="0">
                <a:latin typeface="Calibri"/>
                <a:cs typeface="Calibri"/>
              </a:rPr>
              <a:t>intervals </a:t>
            </a:r>
            <a:r>
              <a:rPr lang="en-US" sz="2400" spc="-53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(periods)</a:t>
            </a:r>
            <a:endParaRPr lang="en-US" sz="2400" dirty="0">
              <a:latin typeface="Calibri"/>
              <a:cs typeface="Calibri"/>
            </a:endParaRPr>
          </a:p>
          <a:p>
            <a:pPr marL="368300" indent="-34290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367665" algn="l"/>
                <a:tab pos="368300" algn="l"/>
              </a:tabLst>
            </a:pPr>
            <a:r>
              <a:rPr lang="en-US" sz="2400" b="1" i="1" dirty="0">
                <a:latin typeface="Calibri"/>
                <a:cs typeface="Calibri"/>
              </a:rPr>
              <a:t>p</a:t>
            </a:r>
            <a:r>
              <a:rPr lang="en-US" sz="2400" b="1" i="1" baseline="-20833" dirty="0">
                <a:latin typeface="Calibri"/>
                <a:cs typeface="Calibri"/>
              </a:rPr>
              <a:t>i</a:t>
            </a:r>
            <a:r>
              <a:rPr lang="en-US" sz="2400" b="1" i="1" spc="209" baseline="-20833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is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duration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of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5" dirty="0">
                <a:latin typeface="Calibri"/>
                <a:cs typeface="Calibri"/>
              </a:rPr>
              <a:t> period</a:t>
            </a:r>
            <a:endParaRPr lang="en-US" sz="2400" dirty="0">
              <a:latin typeface="Calibri"/>
              <a:cs typeface="Calibri"/>
            </a:endParaRPr>
          </a:p>
          <a:p>
            <a:pPr marL="368300" indent="-34290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367665" algn="l"/>
                <a:tab pos="368300" algn="l"/>
              </a:tabLst>
            </a:pPr>
            <a:r>
              <a:rPr lang="en-US" sz="2400" b="1" i="1" spc="-5" dirty="0" err="1">
                <a:latin typeface="Calibri"/>
                <a:cs typeface="Calibri"/>
              </a:rPr>
              <a:t>t</a:t>
            </a:r>
            <a:r>
              <a:rPr lang="en-US" sz="2400" b="1" i="1" spc="-7" baseline="-20833" dirty="0" err="1">
                <a:latin typeface="Calibri"/>
                <a:cs typeface="Calibri"/>
              </a:rPr>
              <a:t>i</a:t>
            </a:r>
            <a:r>
              <a:rPr lang="en-US" sz="2400" b="1" i="1" spc="232" baseline="-20833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is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processing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time</a:t>
            </a:r>
          </a:p>
          <a:p>
            <a:pPr marL="368300" indent="-34290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367665" algn="l"/>
                <a:tab pos="368300" algn="l"/>
              </a:tabLst>
            </a:pPr>
            <a:r>
              <a:rPr lang="en-US" sz="2400" b="1" i="1" dirty="0">
                <a:latin typeface="Calibri"/>
                <a:cs typeface="Calibri"/>
              </a:rPr>
              <a:t>d</a:t>
            </a:r>
            <a:r>
              <a:rPr lang="en-US" sz="2400" b="1" i="1" baseline="-20833" dirty="0">
                <a:latin typeface="Calibri"/>
                <a:cs typeface="Calibri"/>
              </a:rPr>
              <a:t>i</a:t>
            </a:r>
            <a:r>
              <a:rPr lang="en-US" sz="2400" b="1" i="1" spc="209" baseline="-20833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is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5" dirty="0">
                <a:latin typeface="Calibri"/>
                <a:cs typeface="Calibri"/>
              </a:rPr>
              <a:t> deadline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by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when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process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must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be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serviced</a:t>
            </a:r>
          </a:p>
          <a:p>
            <a:pPr marL="482600">
              <a:lnSpc>
                <a:spcPct val="100000"/>
              </a:lnSpc>
              <a:spcBef>
                <a:spcPts val="270"/>
              </a:spcBef>
              <a:tabLst>
                <a:tab pos="768985" algn="l"/>
              </a:tabLst>
            </a:pPr>
            <a:r>
              <a:rPr lang="en-US" sz="2000" dirty="0">
                <a:latin typeface="Arial MT"/>
                <a:cs typeface="Arial MT"/>
              </a:rPr>
              <a:t>–	</a:t>
            </a:r>
            <a:r>
              <a:rPr lang="en-US" sz="2000" spc="-5" dirty="0">
                <a:latin typeface="Calibri"/>
                <a:cs typeface="Calibri"/>
              </a:rPr>
              <a:t>Often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same</a:t>
            </a:r>
            <a:r>
              <a:rPr lang="en-US" sz="2000" dirty="0">
                <a:latin typeface="Calibri"/>
                <a:cs typeface="Calibri"/>
              </a:rPr>
              <a:t> as end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of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period</a:t>
            </a:r>
            <a:endParaRPr lang="en-US" sz="20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04862" y="3771900"/>
            <a:ext cx="7266305" cy="2211070"/>
            <a:chOff x="804862" y="3771900"/>
            <a:chExt cx="7266305" cy="22110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2962" y="3809936"/>
              <a:ext cx="7189724" cy="213525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04862" y="3771899"/>
              <a:ext cx="7266305" cy="2211070"/>
            </a:xfrm>
            <a:custGeom>
              <a:avLst/>
              <a:gdLst/>
              <a:ahLst/>
              <a:cxnLst/>
              <a:rect l="l" t="t" r="r" b="b"/>
              <a:pathLst>
                <a:path w="7266305" h="2211070">
                  <a:moveTo>
                    <a:pt x="7240587" y="25400"/>
                  </a:moveTo>
                  <a:lnTo>
                    <a:pt x="7227887" y="25400"/>
                  </a:lnTo>
                  <a:lnTo>
                    <a:pt x="7227887" y="38100"/>
                  </a:lnTo>
                  <a:lnTo>
                    <a:pt x="7227887" y="2172970"/>
                  </a:lnTo>
                  <a:lnTo>
                    <a:pt x="38100" y="2172970"/>
                  </a:lnTo>
                  <a:lnTo>
                    <a:pt x="38100" y="38100"/>
                  </a:lnTo>
                  <a:lnTo>
                    <a:pt x="7227887" y="38100"/>
                  </a:lnTo>
                  <a:lnTo>
                    <a:pt x="7227887" y="25400"/>
                  </a:lnTo>
                  <a:lnTo>
                    <a:pt x="25400" y="25400"/>
                  </a:lnTo>
                  <a:lnTo>
                    <a:pt x="25400" y="38100"/>
                  </a:lnTo>
                  <a:lnTo>
                    <a:pt x="25400" y="2172970"/>
                  </a:lnTo>
                  <a:lnTo>
                    <a:pt x="25400" y="2185670"/>
                  </a:lnTo>
                  <a:lnTo>
                    <a:pt x="7240587" y="2185670"/>
                  </a:lnTo>
                  <a:lnTo>
                    <a:pt x="7240587" y="2173287"/>
                  </a:lnTo>
                  <a:lnTo>
                    <a:pt x="7240587" y="2172970"/>
                  </a:lnTo>
                  <a:lnTo>
                    <a:pt x="7240587" y="38100"/>
                  </a:lnTo>
                  <a:lnTo>
                    <a:pt x="7240587" y="25400"/>
                  </a:lnTo>
                  <a:close/>
                </a:path>
                <a:path w="7266305" h="2211070">
                  <a:moveTo>
                    <a:pt x="7265987" y="0"/>
                  </a:moveTo>
                  <a:lnTo>
                    <a:pt x="7253287" y="0"/>
                  </a:lnTo>
                  <a:lnTo>
                    <a:pt x="7253287" y="12700"/>
                  </a:lnTo>
                  <a:lnTo>
                    <a:pt x="7253287" y="2198370"/>
                  </a:lnTo>
                  <a:lnTo>
                    <a:pt x="12700" y="2198370"/>
                  </a:lnTo>
                  <a:lnTo>
                    <a:pt x="12700" y="12700"/>
                  </a:lnTo>
                  <a:lnTo>
                    <a:pt x="7253287" y="12700"/>
                  </a:lnTo>
                  <a:lnTo>
                    <a:pt x="7253287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2198370"/>
                  </a:lnTo>
                  <a:lnTo>
                    <a:pt x="0" y="2211070"/>
                  </a:lnTo>
                  <a:lnTo>
                    <a:pt x="7265987" y="2211070"/>
                  </a:lnTo>
                  <a:lnTo>
                    <a:pt x="7265987" y="2198687"/>
                  </a:lnTo>
                  <a:lnTo>
                    <a:pt x="7265987" y="2198370"/>
                  </a:lnTo>
                  <a:lnTo>
                    <a:pt x="7265987" y="12700"/>
                  </a:lnTo>
                  <a:lnTo>
                    <a:pt x="7265987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7C05970-EE59-4B5B-81B7-C0E09BAA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319862"/>
            <a:ext cx="861556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Processor</a:t>
            </a:r>
            <a:r>
              <a:rPr sz="3200" spc="-45" dirty="0"/>
              <a:t> </a:t>
            </a:r>
            <a:r>
              <a:rPr sz="3200" spc="-5" dirty="0"/>
              <a:t>Scheduling</a:t>
            </a:r>
            <a:r>
              <a:rPr sz="3200" spc="30" dirty="0"/>
              <a:t> </a:t>
            </a:r>
            <a:r>
              <a:rPr sz="3200" spc="-30" dirty="0"/>
              <a:t>for</a:t>
            </a:r>
            <a:r>
              <a:rPr sz="3200" dirty="0"/>
              <a:t> </a:t>
            </a:r>
            <a:r>
              <a:rPr sz="3200" spc="-10" dirty="0"/>
              <a:t>Real-Time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574722" y="751227"/>
            <a:ext cx="7333615" cy="2699385"/>
          </a:xfrm>
          <a:prstGeom prst="rect">
            <a:avLst/>
          </a:prstGeom>
        </p:spPr>
        <p:txBody>
          <a:bodyPr vert="horz" wrap="square" lIns="0" tIns="2857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00"/>
              </a:spcBef>
            </a:pPr>
            <a:r>
              <a:rPr lang="en-US" sz="3200" i="1" spc="-10" dirty="0">
                <a:latin typeface="Calibri"/>
                <a:cs typeface="Calibri"/>
              </a:rPr>
              <a:t>           </a:t>
            </a:r>
            <a:r>
              <a:rPr sz="3200" i="1" spc="-10" dirty="0">
                <a:latin typeface="Calibri"/>
                <a:cs typeface="Calibri"/>
              </a:rPr>
              <a:t>Rate</a:t>
            </a:r>
            <a:r>
              <a:rPr sz="3200" i="1" spc="-15" dirty="0">
                <a:latin typeface="Calibri"/>
                <a:cs typeface="Calibri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Monotonic</a:t>
            </a:r>
            <a:r>
              <a:rPr sz="3200" i="1" spc="5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Scheduling</a:t>
            </a:r>
            <a:r>
              <a:rPr sz="3200" i="1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(RMS)</a:t>
            </a:r>
          </a:p>
          <a:p>
            <a:pPr marL="368300" indent="-342900">
              <a:lnSpc>
                <a:spcPct val="100000"/>
              </a:lnSpc>
              <a:spcBef>
                <a:spcPts val="1875"/>
              </a:spcBef>
              <a:buFont typeface="Arial MT"/>
              <a:buChar char="•"/>
              <a:tabLst>
                <a:tab pos="367665" algn="l"/>
                <a:tab pos="368300" algn="l"/>
              </a:tabLst>
            </a:pPr>
            <a:r>
              <a:rPr sz="2800" spc="-5" dirty="0">
                <a:latin typeface="Calibri"/>
                <a:cs typeface="Calibri"/>
              </a:rPr>
              <a:t>Assume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m</a:t>
            </a:r>
            <a:r>
              <a:rPr sz="2800" i="1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periodic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processes</a:t>
            </a:r>
            <a:endParaRPr sz="2800" dirty="0">
              <a:latin typeface="Calibri"/>
              <a:cs typeface="Calibri"/>
            </a:endParaRPr>
          </a:p>
          <a:p>
            <a:pPr marL="768985" lvl="1" indent="-287020">
              <a:lnSpc>
                <a:spcPct val="100000"/>
              </a:lnSpc>
              <a:spcBef>
                <a:spcPts val="605"/>
              </a:spcBef>
              <a:buFont typeface="Arial MT"/>
              <a:buChar char="–"/>
              <a:tabLst>
                <a:tab pos="769620" algn="l"/>
              </a:tabLst>
            </a:pPr>
            <a:r>
              <a:rPr sz="2400" spc="-10" dirty="0">
                <a:latin typeface="Calibri"/>
                <a:cs typeface="Calibri"/>
              </a:rPr>
              <a:t>Process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i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t</a:t>
            </a:r>
            <a:r>
              <a:rPr sz="2400" i="1" spc="-7" baseline="-20833" dirty="0">
                <a:latin typeface="Calibri"/>
                <a:cs typeface="Calibri"/>
              </a:rPr>
              <a:t>i</a:t>
            </a:r>
            <a:r>
              <a:rPr sz="2400" i="1" spc="247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msec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processing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every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p</a:t>
            </a:r>
            <a:r>
              <a:rPr sz="2400" i="1" spc="-7" baseline="-20833" dirty="0">
                <a:latin typeface="Calibri"/>
                <a:cs typeface="Calibri"/>
              </a:rPr>
              <a:t>i</a:t>
            </a:r>
            <a:endParaRPr sz="2400" baseline="-20833" dirty="0">
              <a:latin typeface="Calibri"/>
              <a:cs typeface="Calibri"/>
            </a:endParaRPr>
          </a:p>
          <a:p>
            <a:pPr marL="768985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msec.</a:t>
            </a:r>
          </a:p>
          <a:p>
            <a:pPr marL="768985" lvl="1" indent="-287020">
              <a:lnSpc>
                <a:spcPct val="100000"/>
              </a:lnSpc>
              <a:spcBef>
                <a:spcPts val="580"/>
              </a:spcBef>
              <a:buFont typeface="Arial MT"/>
              <a:buChar char="–"/>
              <a:tabLst>
                <a:tab pos="769620" algn="l"/>
              </a:tabLst>
            </a:pPr>
            <a:r>
              <a:rPr sz="2400" spc="-10" dirty="0">
                <a:latin typeface="Calibri"/>
                <a:cs typeface="Calibri"/>
              </a:rPr>
              <a:t>Equal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every </a:t>
            </a:r>
            <a:r>
              <a:rPr sz="2400" spc="-10" dirty="0">
                <a:latin typeface="Calibri"/>
                <a:cs typeface="Calibri"/>
              </a:rPr>
              <a:t>interval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—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like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clockwork!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9A4573A-17BC-470B-AA7B-28295730F127}"/>
              </a:ext>
            </a:extLst>
          </p:cNvPr>
          <p:cNvGrpSpPr/>
          <p:nvPr/>
        </p:nvGrpSpPr>
        <p:grpSpPr>
          <a:xfrm>
            <a:off x="2961861" y="3505200"/>
            <a:ext cx="1152939" cy="991621"/>
            <a:chOff x="2773847" y="3427402"/>
            <a:chExt cx="1138415" cy="848744"/>
          </a:xfrm>
        </p:grpSpPr>
        <p:sp>
          <p:nvSpPr>
            <p:cNvPr id="6" name="object 6"/>
            <p:cNvSpPr txBox="1"/>
            <p:nvPr/>
          </p:nvSpPr>
          <p:spPr>
            <a:xfrm>
              <a:off x="2872310" y="3436981"/>
              <a:ext cx="154940" cy="23876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400" i="1" spc="5" dirty="0">
                  <a:latin typeface="Times New Roman"/>
                  <a:cs typeface="Times New Roman"/>
                </a:rPr>
                <a:t>m</a:t>
              </a:r>
              <a:endParaRPr sz="1400">
                <a:latin typeface="Times New Roman"/>
                <a:cs typeface="Times New Roman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6EC77A3-2461-42F3-BAE6-43F6F9EB840E}"/>
                </a:ext>
              </a:extLst>
            </p:cNvPr>
            <p:cNvGrpSpPr/>
            <p:nvPr/>
          </p:nvGrpSpPr>
          <p:grpSpPr>
            <a:xfrm>
              <a:off x="2773847" y="3538499"/>
              <a:ext cx="1138415" cy="737647"/>
              <a:chOff x="2773847" y="3538499"/>
              <a:chExt cx="1138415" cy="737647"/>
            </a:xfrm>
          </p:grpSpPr>
          <p:sp>
            <p:nvSpPr>
              <p:cNvPr id="4" name="object 4"/>
              <p:cNvSpPr txBox="1"/>
              <p:nvPr/>
            </p:nvSpPr>
            <p:spPr>
              <a:xfrm>
                <a:off x="3528722" y="3619966"/>
                <a:ext cx="383540" cy="390525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</a:pPr>
                <a:r>
                  <a:rPr sz="2400" spc="5" dirty="0">
                    <a:latin typeface="Symbol"/>
                    <a:cs typeface="Symbol"/>
                  </a:rPr>
                  <a:t></a:t>
                </a:r>
                <a:r>
                  <a:rPr sz="2400" spc="-320" dirty="0">
                    <a:latin typeface="Times New Roman"/>
                    <a:cs typeface="Times New Roman"/>
                  </a:rPr>
                  <a:t> </a:t>
                </a:r>
                <a:r>
                  <a:rPr sz="2400" spc="5" dirty="0">
                    <a:latin typeface="Times New Roman"/>
                    <a:cs typeface="Times New Roman"/>
                  </a:rPr>
                  <a:t>1</a:t>
                </a:r>
                <a:endParaRPr sz="240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5" name="object 5"/>
              <p:cNvSpPr txBox="1"/>
              <p:nvPr/>
            </p:nvSpPr>
            <p:spPr>
              <a:xfrm>
                <a:off x="2773847" y="3538499"/>
                <a:ext cx="353060" cy="572135"/>
              </a:xfrm>
              <a:prstGeom prst="rect">
                <a:avLst/>
              </a:prstGeom>
            </p:spPr>
            <p:txBody>
              <a:bodyPr vert="horz" wrap="square" lIns="0" tIns="1714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35"/>
                  </a:spcBef>
                </a:pPr>
                <a:r>
                  <a:rPr sz="3550" spc="45" dirty="0">
                    <a:latin typeface="Symbol"/>
                    <a:cs typeface="Symbol"/>
                  </a:rPr>
                  <a:t></a:t>
                </a:r>
                <a:endParaRPr sz="3550" dirty="0">
                  <a:latin typeface="Symbol"/>
                  <a:cs typeface="Symbol"/>
                </a:endParaRPr>
              </a:p>
            </p:txBody>
          </p:sp>
          <p:sp>
            <p:nvSpPr>
              <p:cNvPr id="7" name="object 7"/>
              <p:cNvSpPr txBox="1"/>
              <p:nvPr/>
            </p:nvSpPr>
            <p:spPr>
              <a:xfrm>
                <a:off x="2821531" y="4037386"/>
                <a:ext cx="266065" cy="23876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400" i="1" spc="105" dirty="0">
                    <a:latin typeface="Times New Roman"/>
                    <a:cs typeface="Times New Roman"/>
                  </a:rPr>
                  <a:t>i</a:t>
                </a:r>
                <a:r>
                  <a:rPr sz="1400" spc="-80" dirty="0">
                    <a:latin typeface="Symbol"/>
                    <a:cs typeface="Symbol"/>
                  </a:rPr>
                  <a:t></a:t>
                </a:r>
                <a:r>
                  <a:rPr sz="1400" dirty="0">
                    <a:latin typeface="Times New Roman"/>
                    <a:cs typeface="Times New Roman"/>
                  </a:rPr>
                  <a:t>1</a:t>
                </a:r>
                <a:endParaRPr sz="1400">
                  <a:latin typeface="Times New Roman"/>
                  <a:cs typeface="Times New Roman"/>
                </a:endParaRPr>
              </a:p>
            </p:txBody>
          </p:sp>
          <p:sp>
            <p:nvSpPr>
              <p:cNvPr id="8" name="object 8"/>
              <p:cNvSpPr txBox="1"/>
              <p:nvPr/>
            </p:nvSpPr>
            <p:spPr>
              <a:xfrm>
                <a:off x="3118774" y="3629521"/>
                <a:ext cx="385445" cy="61849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400" u="sng" dirty="0">
                    <a:uFill>
                      <a:solidFill>
                        <a:srgbClr val="000000"/>
                      </a:solidFill>
                    </a:uFill>
                    <a:latin typeface="Times New Roman"/>
                    <a:cs typeface="Times New Roman"/>
                  </a:rPr>
                  <a:t>  </a:t>
                </a:r>
                <a:r>
                  <a:rPr sz="1400" u="sng" spc="160" dirty="0">
                    <a:uFill>
                      <a:solidFill>
                        <a:srgbClr val="000000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r>
                  <a:rPr sz="1400" i="1" u="sng" dirty="0">
                    <a:uFill>
                      <a:solidFill>
                        <a:srgbClr val="000000"/>
                      </a:solidFill>
                    </a:uFill>
                    <a:latin typeface="Times New Roman"/>
                    <a:cs typeface="Times New Roman"/>
                  </a:rPr>
                  <a:t>i</a:t>
                </a:r>
                <a:r>
                  <a:rPr sz="1400" i="1" u="sng" spc="125" dirty="0">
                    <a:uFill>
                      <a:solidFill>
                        <a:srgbClr val="000000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endParaRPr sz="1400" dirty="0">
                  <a:latin typeface="Times New Roman"/>
                  <a:cs typeface="Times New Roman"/>
                </a:endParaRPr>
              </a:p>
              <a:p>
                <a:pPr marL="95885">
                  <a:lnSpc>
                    <a:spcPct val="100000"/>
                  </a:lnSpc>
                  <a:spcBef>
                    <a:spcPts val="110"/>
                  </a:spcBef>
                </a:pPr>
                <a:r>
                  <a:rPr sz="2400" i="1" spc="-10" dirty="0">
                    <a:latin typeface="Times New Roman"/>
                    <a:cs typeface="Times New Roman"/>
                  </a:rPr>
                  <a:t>p</a:t>
                </a:r>
                <a:r>
                  <a:rPr sz="2100" i="1" spc="-15" baseline="-23809" dirty="0">
                    <a:latin typeface="Times New Roman"/>
                    <a:cs typeface="Times New Roman"/>
                  </a:rPr>
                  <a:t>i</a:t>
                </a:r>
                <a:endParaRPr sz="2100" baseline="-23809" dirty="0">
                  <a:latin typeface="Times New Roman"/>
                  <a:cs typeface="Times New Roman"/>
                </a:endParaRPr>
              </a:p>
            </p:txBody>
          </p:sp>
        </p:grpSp>
        <p:sp>
          <p:nvSpPr>
            <p:cNvPr id="9" name="object 9"/>
            <p:cNvSpPr txBox="1"/>
            <p:nvPr/>
          </p:nvSpPr>
          <p:spPr>
            <a:xfrm>
              <a:off x="3208571" y="3427402"/>
              <a:ext cx="111125" cy="390525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</a:pPr>
              <a:r>
                <a:rPr sz="2400" i="1" dirty="0">
                  <a:latin typeface="Times New Roman"/>
                  <a:cs typeface="Times New Roman"/>
                </a:rPr>
                <a:t>t</a:t>
              </a:r>
              <a:endParaRPr sz="2400">
                <a:latin typeface="Times New Roman"/>
                <a:cs typeface="Times New Roman"/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8060" y="3907143"/>
            <a:ext cx="14998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alibri"/>
                <a:cs typeface="Calibri"/>
              </a:rPr>
              <a:t>Assume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8060" y="4495800"/>
            <a:ext cx="6601459" cy="149288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354965" algn="l"/>
                <a:tab pos="355600" algn="l"/>
                <a:tab pos="4300220" algn="l"/>
              </a:tabLst>
            </a:pPr>
            <a:r>
              <a:rPr sz="2800" spc="-5" dirty="0">
                <a:latin typeface="Calibri"/>
                <a:cs typeface="Calibri"/>
              </a:rPr>
              <a:t>Assign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priority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process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i	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latin typeface="Arial MT"/>
                <a:cs typeface="Arial MT"/>
              </a:rPr>
              <a:t>–</a:t>
            </a:r>
            <a:r>
              <a:rPr sz="2400" spc="2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Calibri"/>
                <a:cs typeface="Calibri"/>
              </a:rPr>
              <a:t>Statically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assigned</a:t>
            </a:r>
          </a:p>
          <a:p>
            <a:pPr marL="355600" indent="-342900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Let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priority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non-real-time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processes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0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F43C520-EBC6-423C-B22A-5FA635D984E3}"/>
              </a:ext>
            </a:extLst>
          </p:cNvPr>
          <p:cNvGrpSpPr/>
          <p:nvPr/>
        </p:nvGrpSpPr>
        <p:grpSpPr>
          <a:xfrm>
            <a:off x="5867400" y="4392295"/>
            <a:ext cx="262254" cy="789305"/>
            <a:chOff x="8357871" y="4179241"/>
            <a:chExt cx="262254" cy="789305"/>
          </a:xfrm>
        </p:grpSpPr>
        <p:sp>
          <p:nvSpPr>
            <p:cNvPr id="12" name="object 12"/>
            <p:cNvSpPr/>
            <p:nvPr/>
          </p:nvSpPr>
          <p:spPr>
            <a:xfrm>
              <a:off x="8357871" y="4622963"/>
              <a:ext cx="252729" cy="0"/>
            </a:xfrm>
            <a:custGeom>
              <a:avLst/>
              <a:gdLst/>
              <a:ahLst/>
              <a:cxnLst/>
              <a:rect l="l" t="t" r="r" b="b"/>
              <a:pathLst>
                <a:path w="252729">
                  <a:moveTo>
                    <a:pt x="0" y="0"/>
                  </a:moveTo>
                  <a:lnTo>
                    <a:pt x="252410" y="0"/>
                  </a:lnTo>
                </a:path>
              </a:pathLst>
            </a:custGeom>
            <a:ln w="114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8382000" y="4179241"/>
              <a:ext cx="238125" cy="789305"/>
            </a:xfrm>
            <a:prstGeom prst="rect">
              <a:avLst/>
            </a:prstGeom>
          </p:spPr>
          <p:txBody>
            <a:bodyPr vert="horz" wrap="square" lIns="0" tIns="73660" rIns="0" bIns="0" rtlCol="0">
              <a:spAutoFit/>
            </a:bodyPr>
            <a:lstStyle/>
            <a:p>
              <a:pPr marL="53975">
                <a:lnSpc>
                  <a:spcPct val="100000"/>
                </a:lnSpc>
                <a:spcBef>
                  <a:spcPts val="580"/>
                </a:spcBef>
              </a:pPr>
              <a:r>
                <a:rPr sz="2100" spc="-105" dirty="0">
                  <a:latin typeface="Times New Roman"/>
                  <a:cs typeface="Times New Roman"/>
                </a:rPr>
                <a:t>1</a:t>
              </a:r>
              <a:endParaRPr sz="2100" dirty="0">
                <a:latin typeface="Times New Roman"/>
                <a:cs typeface="Times New Roman"/>
              </a:endParaRPr>
            </a:p>
            <a:p>
              <a:pPr marL="38100">
                <a:lnSpc>
                  <a:spcPct val="100000"/>
                </a:lnSpc>
                <a:spcBef>
                  <a:spcPts val="484"/>
                </a:spcBef>
              </a:pPr>
              <a:r>
                <a:rPr sz="2100" i="1" spc="-60" dirty="0">
                  <a:latin typeface="Times New Roman"/>
                  <a:cs typeface="Times New Roman"/>
                </a:rPr>
                <a:t>p</a:t>
              </a:r>
              <a:r>
                <a:rPr sz="1800" i="1" spc="-89" baseline="-25462" dirty="0">
                  <a:latin typeface="Times New Roman"/>
                  <a:cs typeface="Times New Roman"/>
                </a:rPr>
                <a:t>i</a:t>
              </a:r>
              <a:endParaRPr sz="1800" baseline="-25462" dirty="0">
                <a:latin typeface="Times New Roman"/>
                <a:cs typeface="Times New Roman"/>
              </a:endParaRPr>
            </a:p>
          </p:txBody>
        </p:sp>
      </p:grp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F708404F-DFB7-4473-82E1-D4DCECD96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400685"/>
            <a:ext cx="77724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0" dirty="0"/>
              <a:t>Rate</a:t>
            </a:r>
            <a:r>
              <a:rPr sz="3200" spc="-40" dirty="0"/>
              <a:t> </a:t>
            </a:r>
            <a:r>
              <a:rPr sz="3200" spc="-5" dirty="0"/>
              <a:t>Monotonic</a:t>
            </a:r>
            <a:r>
              <a:rPr sz="3200" spc="-25" dirty="0"/>
              <a:t> </a:t>
            </a:r>
            <a:r>
              <a:rPr sz="3200" dirty="0"/>
              <a:t>Scheduling</a:t>
            </a:r>
            <a:r>
              <a:rPr sz="3200" spc="10" dirty="0"/>
              <a:t> </a:t>
            </a:r>
            <a:r>
              <a:rPr sz="2400" spc="-5" dirty="0"/>
              <a:t>(continued)</a:t>
            </a:r>
            <a:endParaRPr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7944484" cy="3394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Scheduler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simply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runs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highest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priority </a:t>
            </a:r>
            <a:r>
              <a:rPr sz="3200" spc="-10" dirty="0">
                <a:latin typeface="Calibri"/>
                <a:cs typeface="Calibri"/>
              </a:rPr>
              <a:t>process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that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 </a:t>
            </a:r>
            <a:r>
              <a:rPr sz="3200" spc="-10" dirty="0">
                <a:latin typeface="Calibri"/>
                <a:cs typeface="Calibri"/>
              </a:rPr>
              <a:t>ready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20" dirty="0">
                <a:latin typeface="Calibri"/>
                <a:cs typeface="Calibri"/>
              </a:rPr>
              <a:t>May</a:t>
            </a:r>
            <a:r>
              <a:rPr sz="2800" spc="-15" dirty="0">
                <a:latin typeface="Calibri"/>
                <a:cs typeface="Calibri"/>
              </a:rPr>
              <a:t> pre-empt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other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real-time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processes</a:t>
            </a:r>
            <a:endParaRPr sz="2800">
              <a:latin typeface="Calibri"/>
              <a:cs typeface="Calibri"/>
            </a:endParaRPr>
          </a:p>
          <a:p>
            <a:pPr marL="756285" marR="58737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Real-time </a:t>
            </a:r>
            <a:r>
              <a:rPr sz="2800" spc="-15" dirty="0">
                <a:latin typeface="Calibri"/>
                <a:cs typeface="Calibri"/>
              </a:rPr>
              <a:t>processes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become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ready in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time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each</a:t>
            </a:r>
            <a:r>
              <a:rPr sz="2800" spc="-20" dirty="0">
                <a:latin typeface="Calibri"/>
                <a:cs typeface="Calibri"/>
              </a:rPr>
              <a:t> frame</a:t>
            </a:r>
            <a:r>
              <a:rPr sz="2800" spc="-5" dirty="0">
                <a:latin typeface="Calibri"/>
                <a:cs typeface="Calibri"/>
              </a:rPr>
              <a:t> 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sound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interval</a:t>
            </a:r>
            <a:endParaRPr sz="2800">
              <a:latin typeface="Calibri"/>
              <a:cs typeface="Calibri"/>
            </a:endParaRPr>
          </a:p>
          <a:p>
            <a:pPr marL="756285" marR="2990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Non-real-time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processes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run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only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real-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time </a:t>
            </a:r>
            <a:r>
              <a:rPr sz="2800" spc="-15" dirty="0">
                <a:latin typeface="Calibri"/>
                <a:cs typeface="Calibri"/>
              </a:rPr>
              <a:t>process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needs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CPU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4B7F0-4737-4E6C-8A8B-4A47C8822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5988" y="304800"/>
            <a:ext cx="62744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Rate</a:t>
            </a:r>
            <a:r>
              <a:rPr spc="-25" dirty="0"/>
              <a:t> </a:t>
            </a:r>
            <a:r>
              <a:rPr spc="-5" dirty="0"/>
              <a:t>Monotonic Scheduling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43000"/>
            <a:ext cx="7872095" cy="2611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priority </a:t>
            </a:r>
            <a:r>
              <a:rPr sz="3200" spc="-10" dirty="0">
                <a:latin typeface="Calibri"/>
                <a:cs typeface="Calibri"/>
              </a:rPr>
              <a:t>is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assigned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based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on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20" dirty="0">
                <a:latin typeface="Calibri"/>
                <a:cs typeface="Calibri"/>
              </a:rPr>
              <a:t>inverse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its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period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(its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rate)"</a:t>
            </a:r>
            <a:endParaRPr sz="3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Shorter periods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=</a:t>
            </a:r>
            <a:r>
              <a:rPr sz="2800" spc="-10" dirty="0">
                <a:latin typeface="Calibri"/>
                <a:cs typeface="Calibri"/>
              </a:rPr>
              <a:t> higher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priority;"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Longer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periods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=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lower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priority“</a:t>
            </a:r>
            <a:endParaRPr sz="2800" dirty="0">
              <a:latin typeface="Calibri"/>
              <a:cs typeface="Calibri"/>
            </a:endParaRPr>
          </a:p>
          <a:p>
            <a:pPr marL="445134" indent="-433070">
              <a:lnSpc>
                <a:spcPct val="100000"/>
              </a:lnSpc>
              <a:spcBef>
                <a:spcPts val="750"/>
              </a:spcBef>
              <a:buFont typeface="Arial MT"/>
              <a:buChar char="•"/>
              <a:tabLst>
                <a:tab pos="445134" algn="l"/>
                <a:tab pos="445770" algn="l"/>
              </a:tabLst>
            </a:pPr>
            <a:r>
              <a:rPr sz="3200" dirty="0">
                <a:latin typeface="Calibri"/>
                <a:cs typeface="Calibri"/>
              </a:rPr>
              <a:t>P1 is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assigned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 higher priority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than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P2.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068" y="3886200"/>
            <a:ext cx="7258731" cy="224449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1" y="304800"/>
            <a:ext cx="413702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E</a:t>
            </a:r>
            <a:r>
              <a:rPr sz="4400" spc="-85" dirty="0"/>
              <a:t>x</a:t>
            </a:r>
            <a:r>
              <a:rPr sz="4400" dirty="0"/>
              <a:t>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6440" y="1219200"/>
            <a:ext cx="5656580" cy="276987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93700" indent="-343535">
              <a:lnSpc>
                <a:spcPct val="100000"/>
              </a:lnSpc>
              <a:spcBef>
                <a:spcPts val="1060"/>
              </a:spcBef>
              <a:buFont typeface="Arial MT"/>
              <a:buChar char="•"/>
              <a:tabLst>
                <a:tab pos="393700" algn="l"/>
                <a:tab pos="394335" algn="l"/>
              </a:tabLst>
            </a:pPr>
            <a:r>
              <a:rPr sz="2000" i="1" spc="5" dirty="0">
                <a:latin typeface="Calibri"/>
                <a:cs typeface="Calibri"/>
              </a:rPr>
              <a:t>p</a:t>
            </a:r>
            <a:r>
              <a:rPr sz="1950" i="1" spc="7" baseline="-21367" dirty="0">
                <a:latin typeface="Calibri"/>
                <a:cs typeface="Calibri"/>
              </a:rPr>
              <a:t>1</a:t>
            </a:r>
            <a:r>
              <a:rPr sz="1950" i="1" spc="187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50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msec;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i="1" spc="5" dirty="0">
                <a:latin typeface="Calibri"/>
                <a:cs typeface="Calibri"/>
              </a:rPr>
              <a:t>t</a:t>
            </a:r>
            <a:r>
              <a:rPr sz="1950" i="1" spc="7" baseline="-21367" dirty="0">
                <a:latin typeface="Calibri"/>
                <a:cs typeface="Calibri"/>
              </a:rPr>
              <a:t>1</a:t>
            </a:r>
            <a:r>
              <a:rPr sz="1950" i="1" spc="232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20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msec</a:t>
            </a:r>
            <a:endParaRPr sz="2000" dirty="0">
              <a:latin typeface="Calibri"/>
              <a:cs typeface="Calibri"/>
            </a:endParaRPr>
          </a:p>
          <a:p>
            <a:pPr marL="393700" indent="-343535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393700" algn="l"/>
                <a:tab pos="394335" algn="l"/>
              </a:tabLst>
            </a:pPr>
            <a:r>
              <a:rPr sz="2000" i="1" spc="5" dirty="0">
                <a:latin typeface="Calibri"/>
                <a:cs typeface="Calibri"/>
              </a:rPr>
              <a:t>p</a:t>
            </a:r>
            <a:r>
              <a:rPr sz="1950" i="1" spc="7" baseline="-21367" dirty="0">
                <a:latin typeface="Calibri"/>
                <a:cs typeface="Calibri"/>
              </a:rPr>
              <a:t>2</a:t>
            </a:r>
            <a:r>
              <a:rPr sz="1950" i="1" spc="187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100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msec;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i="1" spc="5" dirty="0">
                <a:latin typeface="Calibri"/>
                <a:cs typeface="Calibri"/>
              </a:rPr>
              <a:t>t</a:t>
            </a:r>
            <a:r>
              <a:rPr sz="1950" i="1" spc="7" baseline="-21367" dirty="0">
                <a:latin typeface="Calibri"/>
                <a:cs typeface="Calibri"/>
              </a:rPr>
              <a:t>2</a:t>
            </a:r>
            <a:r>
              <a:rPr sz="1950" i="1" spc="232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35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msec</a:t>
            </a:r>
            <a:endParaRPr sz="2000" dirty="0">
              <a:latin typeface="Calibri"/>
              <a:cs typeface="Calibri"/>
            </a:endParaRPr>
          </a:p>
          <a:p>
            <a:pPr marL="393700" indent="-34353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393700" algn="l"/>
                <a:tab pos="394335" algn="l"/>
              </a:tabLst>
            </a:pPr>
            <a:r>
              <a:rPr sz="2000" dirty="0">
                <a:latin typeface="Calibri"/>
                <a:cs typeface="Calibri"/>
              </a:rPr>
              <a:t>Priority(</a:t>
            </a:r>
            <a:r>
              <a:rPr sz="2000" i="1" dirty="0">
                <a:latin typeface="Calibri"/>
                <a:cs typeface="Calibri"/>
              </a:rPr>
              <a:t>p</a:t>
            </a:r>
            <a:r>
              <a:rPr sz="1950" i="1" baseline="-21367" dirty="0">
                <a:latin typeface="Calibri"/>
                <a:cs typeface="Calibri"/>
              </a:rPr>
              <a:t>1</a:t>
            </a:r>
            <a:r>
              <a:rPr sz="2000" dirty="0">
                <a:latin typeface="Calibri"/>
                <a:cs typeface="Calibri"/>
              </a:rPr>
              <a:t>)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&gt;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Priority(</a:t>
            </a:r>
            <a:r>
              <a:rPr sz="2000" i="1" dirty="0">
                <a:latin typeface="Calibri"/>
                <a:cs typeface="Calibri"/>
              </a:rPr>
              <a:t>p</a:t>
            </a:r>
            <a:r>
              <a:rPr sz="1950" i="1" baseline="-21367" dirty="0">
                <a:latin typeface="Calibri"/>
                <a:cs typeface="Calibri"/>
              </a:rPr>
              <a:t>2</a:t>
            </a:r>
            <a:r>
              <a:rPr sz="2000" dirty="0">
                <a:latin typeface="Calibri"/>
                <a:cs typeface="Calibri"/>
              </a:rPr>
              <a:t>)</a:t>
            </a:r>
          </a:p>
          <a:p>
            <a:pPr>
              <a:lnSpc>
                <a:spcPct val="100000"/>
              </a:lnSpc>
              <a:spcBef>
                <a:spcPts val="15"/>
              </a:spcBef>
              <a:buFont typeface="Arial MT"/>
              <a:buChar char="•"/>
            </a:pPr>
            <a:endParaRPr sz="2700" dirty="0">
              <a:latin typeface="Calibri"/>
              <a:cs typeface="Calibri"/>
            </a:endParaRPr>
          </a:p>
          <a:p>
            <a:pPr marL="393700" indent="-343535">
              <a:lnSpc>
                <a:spcPct val="100000"/>
              </a:lnSpc>
              <a:buFont typeface="Arial MT"/>
              <a:buChar char="•"/>
              <a:tabLst>
                <a:tab pos="393700" algn="l"/>
                <a:tab pos="394335" algn="l"/>
              </a:tabLst>
            </a:pPr>
            <a:r>
              <a:rPr sz="2000" spc="-45" dirty="0">
                <a:latin typeface="Calibri"/>
                <a:cs typeface="Calibri"/>
              </a:rPr>
              <a:t>Total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compute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load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75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msec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per</a:t>
            </a:r>
            <a:r>
              <a:rPr sz="2000" spc="-10" dirty="0">
                <a:latin typeface="Calibri"/>
                <a:cs typeface="Calibri"/>
              </a:rPr>
              <a:t> every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100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msec.</a:t>
            </a:r>
            <a:endParaRPr sz="2000" dirty="0">
              <a:latin typeface="Calibri"/>
              <a:cs typeface="Calibri"/>
            </a:endParaRPr>
          </a:p>
          <a:p>
            <a:pPr marL="393700" indent="-34353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393700" algn="l"/>
                <a:tab pos="394335" algn="l"/>
              </a:tabLst>
            </a:pPr>
            <a:r>
              <a:rPr sz="2000" dirty="0">
                <a:latin typeface="Calibri"/>
                <a:cs typeface="Calibri"/>
              </a:rPr>
              <a:t>Both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tasks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complete </a:t>
            </a:r>
            <a:r>
              <a:rPr sz="2000" dirty="0">
                <a:latin typeface="Calibri"/>
                <a:cs typeface="Calibri"/>
              </a:rPr>
              <a:t>within</a:t>
            </a:r>
            <a:r>
              <a:rPr sz="2000" spc="-10" dirty="0">
                <a:latin typeface="Calibri"/>
                <a:cs typeface="Calibri"/>
              </a:rPr>
              <a:t> every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period</a:t>
            </a:r>
            <a:endParaRPr sz="2000" dirty="0">
              <a:latin typeface="Calibri"/>
              <a:cs typeface="Calibri"/>
            </a:endParaRPr>
          </a:p>
          <a:p>
            <a:pPr marL="1193800" lvl="1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1193800" algn="l"/>
                <a:tab pos="1194435" algn="l"/>
              </a:tabLst>
            </a:pPr>
            <a:r>
              <a:rPr sz="1400" dirty="0">
                <a:latin typeface="Calibri"/>
                <a:cs typeface="Calibri"/>
              </a:rPr>
              <a:t>25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msec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per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100 </a:t>
            </a:r>
            <a:r>
              <a:rPr sz="1400" dirty="0">
                <a:latin typeface="Calibri"/>
                <a:cs typeface="Calibri"/>
              </a:rPr>
              <a:t>msec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to spare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3100" y="4267200"/>
            <a:ext cx="7799705" cy="1226820"/>
            <a:chOff x="673100" y="4610100"/>
            <a:chExt cx="7799705" cy="12268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1200" y="4648200"/>
              <a:ext cx="7715499" cy="115093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73100" y="4610099"/>
              <a:ext cx="7799705" cy="1226820"/>
            </a:xfrm>
            <a:custGeom>
              <a:avLst/>
              <a:gdLst/>
              <a:ahLst/>
              <a:cxnLst/>
              <a:rect l="l" t="t" r="r" b="b"/>
              <a:pathLst>
                <a:path w="7799705" h="1226820">
                  <a:moveTo>
                    <a:pt x="7773924" y="25400"/>
                  </a:moveTo>
                  <a:lnTo>
                    <a:pt x="7761224" y="25400"/>
                  </a:lnTo>
                  <a:lnTo>
                    <a:pt x="7761224" y="38100"/>
                  </a:lnTo>
                  <a:lnTo>
                    <a:pt x="7761224" y="1188720"/>
                  </a:lnTo>
                  <a:lnTo>
                    <a:pt x="38100" y="1188720"/>
                  </a:lnTo>
                  <a:lnTo>
                    <a:pt x="38100" y="38100"/>
                  </a:lnTo>
                  <a:lnTo>
                    <a:pt x="7761224" y="38100"/>
                  </a:lnTo>
                  <a:lnTo>
                    <a:pt x="7761224" y="25400"/>
                  </a:lnTo>
                  <a:lnTo>
                    <a:pt x="25400" y="25400"/>
                  </a:lnTo>
                  <a:lnTo>
                    <a:pt x="25400" y="38100"/>
                  </a:lnTo>
                  <a:lnTo>
                    <a:pt x="25400" y="1188720"/>
                  </a:lnTo>
                  <a:lnTo>
                    <a:pt x="25400" y="1201420"/>
                  </a:lnTo>
                  <a:lnTo>
                    <a:pt x="7773924" y="1201420"/>
                  </a:lnTo>
                  <a:lnTo>
                    <a:pt x="7773924" y="1189037"/>
                  </a:lnTo>
                  <a:lnTo>
                    <a:pt x="7773924" y="1188720"/>
                  </a:lnTo>
                  <a:lnTo>
                    <a:pt x="7773924" y="38100"/>
                  </a:lnTo>
                  <a:lnTo>
                    <a:pt x="7773924" y="25400"/>
                  </a:lnTo>
                  <a:close/>
                </a:path>
                <a:path w="7799705" h="1226820">
                  <a:moveTo>
                    <a:pt x="7799324" y="0"/>
                  </a:moveTo>
                  <a:lnTo>
                    <a:pt x="7786624" y="0"/>
                  </a:lnTo>
                  <a:lnTo>
                    <a:pt x="7786624" y="12700"/>
                  </a:lnTo>
                  <a:lnTo>
                    <a:pt x="7786624" y="1214120"/>
                  </a:lnTo>
                  <a:lnTo>
                    <a:pt x="12700" y="1214120"/>
                  </a:lnTo>
                  <a:lnTo>
                    <a:pt x="12700" y="12700"/>
                  </a:lnTo>
                  <a:lnTo>
                    <a:pt x="7786624" y="12700"/>
                  </a:lnTo>
                  <a:lnTo>
                    <a:pt x="7786624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1214120"/>
                  </a:lnTo>
                  <a:lnTo>
                    <a:pt x="0" y="1226820"/>
                  </a:lnTo>
                  <a:lnTo>
                    <a:pt x="7799324" y="1226820"/>
                  </a:lnTo>
                  <a:lnTo>
                    <a:pt x="7799324" y="1214437"/>
                  </a:lnTo>
                  <a:lnTo>
                    <a:pt x="7799324" y="1214120"/>
                  </a:lnTo>
                  <a:lnTo>
                    <a:pt x="7799324" y="12700"/>
                  </a:lnTo>
                  <a:lnTo>
                    <a:pt x="7799324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E730FCB-F58B-4F30-989B-484E76499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1862" y="304800"/>
            <a:ext cx="384216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Example</a:t>
            </a:r>
            <a:r>
              <a:rPr sz="4400" spc="-100" dirty="0"/>
              <a:t> </a:t>
            </a:r>
            <a:r>
              <a:rPr sz="440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6440" y="1219200"/>
            <a:ext cx="6741160" cy="2793072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93700" indent="-343535">
              <a:lnSpc>
                <a:spcPct val="100000"/>
              </a:lnSpc>
              <a:spcBef>
                <a:spcPts val="1060"/>
              </a:spcBef>
              <a:buFont typeface="Arial MT"/>
              <a:buChar char="•"/>
              <a:tabLst>
                <a:tab pos="393700" algn="l"/>
                <a:tab pos="394335" algn="l"/>
              </a:tabLst>
            </a:pPr>
            <a:r>
              <a:rPr sz="2000" i="1" spc="5" dirty="0">
                <a:latin typeface="Calibri"/>
                <a:cs typeface="Calibri"/>
              </a:rPr>
              <a:t>p</a:t>
            </a:r>
            <a:r>
              <a:rPr sz="1950" i="1" spc="7" baseline="-21367" dirty="0">
                <a:latin typeface="Calibri"/>
                <a:cs typeface="Calibri"/>
              </a:rPr>
              <a:t>1</a:t>
            </a:r>
            <a:r>
              <a:rPr sz="1950" i="1" spc="187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50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msec;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i="1" spc="5" dirty="0">
                <a:latin typeface="Calibri"/>
                <a:cs typeface="Calibri"/>
              </a:rPr>
              <a:t>t</a:t>
            </a:r>
            <a:r>
              <a:rPr sz="1950" i="1" spc="7" baseline="-21367" dirty="0">
                <a:latin typeface="Calibri"/>
                <a:cs typeface="Calibri"/>
              </a:rPr>
              <a:t>1</a:t>
            </a:r>
            <a:r>
              <a:rPr sz="1950" i="1" spc="232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25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msec</a:t>
            </a:r>
            <a:endParaRPr sz="2000" dirty="0">
              <a:latin typeface="Calibri"/>
              <a:cs typeface="Calibri"/>
            </a:endParaRPr>
          </a:p>
          <a:p>
            <a:pPr marL="393700" indent="-343535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393700" algn="l"/>
                <a:tab pos="394335" algn="l"/>
              </a:tabLst>
            </a:pPr>
            <a:r>
              <a:rPr sz="2000" i="1" spc="5" dirty="0">
                <a:latin typeface="Calibri"/>
                <a:cs typeface="Calibri"/>
              </a:rPr>
              <a:t>p</a:t>
            </a:r>
            <a:r>
              <a:rPr sz="1950" i="1" spc="7" baseline="-21367" dirty="0">
                <a:latin typeface="Calibri"/>
                <a:cs typeface="Calibri"/>
              </a:rPr>
              <a:t>2</a:t>
            </a:r>
            <a:r>
              <a:rPr sz="1950" i="1" spc="187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80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msec;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i="1" spc="5" dirty="0">
                <a:latin typeface="Calibri"/>
                <a:cs typeface="Calibri"/>
              </a:rPr>
              <a:t>t</a:t>
            </a:r>
            <a:r>
              <a:rPr sz="1950" i="1" spc="7" baseline="-21367" dirty="0">
                <a:latin typeface="Calibri"/>
                <a:cs typeface="Calibri"/>
              </a:rPr>
              <a:t>2</a:t>
            </a:r>
            <a:r>
              <a:rPr sz="1950" i="1" spc="232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35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msec</a:t>
            </a:r>
            <a:endParaRPr sz="2000" dirty="0">
              <a:latin typeface="Calibri"/>
              <a:cs typeface="Calibri"/>
            </a:endParaRPr>
          </a:p>
          <a:p>
            <a:pPr marL="393700" indent="-34353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393700" algn="l"/>
                <a:tab pos="394335" algn="l"/>
              </a:tabLst>
            </a:pPr>
            <a:r>
              <a:rPr sz="2000" dirty="0">
                <a:latin typeface="Calibri"/>
                <a:cs typeface="Calibri"/>
              </a:rPr>
              <a:t>Priority(</a:t>
            </a:r>
            <a:r>
              <a:rPr sz="2000" i="1" dirty="0">
                <a:latin typeface="Calibri"/>
                <a:cs typeface="Calibri"/>
              </a:rPr>
              <a:t>p</a:t>
            </a:r>
            <a:r>
              <a:rPr sz="1950" i="1" baseline="-21367" dirty="0">
                <a:latin typeface="Calibri"/>
                <a:cs typeface="Calibri"/>
              </a:rPr>
              <a:t>1</a:t>
            </a:r>
            <a:r>
              <a:rPr sz="2000" dirty="0">
                <a:latin typeface="Calibri"/>
                <a:cs typeface="Calibri"/>
              </a:rPr>
              <a:t>)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&gt;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Priority(</a:t>
            </a:r>
            <a:r>
              <a:rPr sz="2000" i="1" dirty="0">
                <a:latin typeface="Calibri"/>
                <a:cs typeface="Calibri"/>
              </a:rPr>
              <a:t>p</a:t>
            </a:r>
            <a:r>
              <a:rPr sz="1950" i="1" baseline="-21367" dirty="0">
                <a:latin typeface="Calibri"/>
                <a:cs typeface="Calibri"/>
              </a:rPr>
              <a:t>2</a:t>
            </a:r>
            <a:r>
              <a:rPr sz="2000" dirty="0">
                <a:latin typeface="Calibri"/>
                <a:cs typeface="Calibri"/>
              </a:rPr>
              <a:t>)</a:t>
            </a:r>
          </a:p>
          <a:p>
            <a:pPr>
              <a:lnSpc>
                <a:spcPct val="100000"/>
              </a:lnSpc>
              <a:spcBef>
                <a:spcPts val="15"/>
              </a:spcBef>
              <a:buFont typeface="Arial MT"/>
              <a:buChar char="•"/>
            </a:pPr>
            <a:endParaRPr sz="2700" dirty="0">
              <a:latin typeface="Calibri"/>
              <a:cs typeface="Calibri"/>
            </a:endParaRPr>
          </a:p>
          <a:p>
            <a:pPr marL="393700" indent="-343535">
              <a:lnSpc>
                <a:spcPct val="100000"/>
              </a:lnSpc>
              <a:buFont typeface="Arial MT"/>
              <a:buChar char="•"/>
              <a:tabLst>
                <a:tab pos="393700" algn="l"/>
                <a:tab pos="394335" algn="l"/>
              </a:tabLst>
            </a:pPr>
            <a:r>
              <a:rPr sz="2000" spc="-45" dirty="0">
                <a:latin typeface="Calibri"/>
                <a:cs typeface="Calibri"/>
              </a:rPr>
              <a:t>Total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compute </a:t>
            </a:r>
            <a:r>
              <a:rPr sz="2000" dirty="0">
                <a:latin typeface="Calibri"/>
                <a:cs typeface="Calibri"/>
              </a:rPr>
              <a:t>load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lang="en-US" sz="2000" dirty="0">
                <a:latin typeface="Calibri"/>
                <a:cs typeface="Calibri"/>
              </a:rPr>
              <a:t> (25/50)+(35/80) = 0.94 =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~ 94%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CPU.</a:t>
            </a:r>
            <a:endParaRPr sz="2000" dirty="0">
              <a:latin typeface="Calibri"/>
              <a:cs typeface="Calibri"/>
            </a:endParaRPr>
          </a:p>
          <a:p>
            <a:pPr marL="393700" indent="-34353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393700" algn="l"/>
                <a:tab pos="394335" algn="l"/>
              </a:tabLst>
            </a:pPr>
            <a:r>
              <a:rPr sz="2000" spc="-5" dirty="0">
                <a:latin typeface="Calibri"/>
                <a:cs typeface="Calibri"/>
              </a:rPr>
              <a:t>Cannot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complete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both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tasks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within</a:t>
            </a:r>
            <a:r>
              <a:rPr sz="2000" spc="-5" dirty="0">
                <a:latin typeface="Calibri"/>
                <a:cs typeface="Calibri"/>
              </a:rPr>
              <a:t> some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periods</a:t>
            </a:r>
            <a:endParaRPr sz="2000" dirty="0">
              <a:latin typeface="Calibri"/>
              <a:cs typeface="Calibri"/>
            </a:endParaRPr>
          </a:p>
          <a:p>
            <a:pPr marL="1193800" lvl="1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1193800" algn="l"/>
                <a:tab pos="1194435" algn="l"/>
              </a:tabLst>
            </a:pPr>
            <a:r>
              <a:rPr sz="1400" spc="-15" dirty="0">
                <a:latin typeface="Calibri"/>
                <a:cs typeface="Calibri"/>
              </a:rPr>
              <a:t>Even </a:t>
            </a:r>
            <a:r>
              <a:rPr sz="1400" spc="-5" dirty="0">
                <a:latin typeface="Calibri"/>
                <a:cs typeface="Calibri"/>
              </a:rPr>
              <a:t>though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there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still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CPU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capacity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to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spare!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987" y="4267200"/>
            <a:ext cx="8074025" cy="1283970"/>
            <a:chOff x="534987" y="4533900"/>
            <a:chExt cx="8074025" cy="12839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06" y="4595843"/>
              <a:ext cx="7989906" cy="116834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34987" y="4533899"/>
              <a:ext cx="8074025" cy="1283970"/>
            </a:xfrm>
            <a:custGeom>
              <a:avLst/>
              <a:gdLst/>
              <a:ahLst/>
              <a:cxnLst/>
              <a:rect l="l" t="t" r="r" b="b"/>
              <a:pathLst>
                <a:path w="8074025" h="1283970">
                  <a:moveTo>
                    <a:pt x="8048561" y="25400"/>
                  </a:moveTo>
                  <a:lnTo>
                    <a:pt x="8035861" y="25400"/>
                  </a:lnTo>
                  <a:lnTo>
                    <a:pt x="8035861" y="38100"/>
                  </a:lnTo>
                  <a:lnTo>
                    <a:pt x="8035861" y="1245870"/>
                  </a:lnTo>
                  <a:lnTo>
                    <a:pt x="38100" y="1245870"/>
                  </a:lnTo>
                  <a:lnTo>
                    <a:pt x="38100" y="38100"/>
                  </a:lnTo>
                  <a:lnTo>
                    <a:pt x="8035861" y="38100"/>
                  </a:lnTo>
                  <a:lnTo>
                    <a:pt x="8035861" y="25400"/>
                  </a:lnTo>
                  <a:lnTo>
                    <a:pt x="25400" y="25400"/>
                  </a:lnTo>
                  <a:lnTo>
                    <a:pt x="25400" y="38100"/>
                  </a:lnTo>
                  <a:lnTo>
                    <a:pt x="25400" y="1245870"/>
                  </a:lnTo>
                  <a:lnTo>
                    <a:pt x="25400" y="1258570"/>
                  </a:lnTo>
                  <a:lnTo>
                    <a:pt x="8048561" y="1258570"/>
                  </a:lnTo>
                  <a:lnTo>
                    <a:pt x="8048561" y="1246187"/>
                  </a:lnTo>
                  <a:lnTo>
                    <a:pt x="8048561" y="1245870"/>
                  </a:lnTo>
                  <a:lnTo>
                    <a:pt x="8048561" y="38100"/>
                  </a:lnTo>
                  <a:lnTo>
                    <a:pt x="8048561" y="25400"/>
                  </a:lnTo>
                  <a:close/>
                </a:path>
                <a:path w="8074025" h="1283970">
                  <a:moveTo>
                    <a:pt x="8073961" y="0"/>
                  </a:moveTo>
                  <a:lnTo>
                    <a:pt x="8061261" y="0"/>
                  </a:lnTo>
                  <a:lnTo>
                    <a:pt x="8061261" y="12700"/>
                  </a:lnTo>
                  <a:lnTo>
                    <a:pt x="8061261" y="1271270"/>
                  </a:lnTo>
                  <a:lnTo>
                    <a:pt x="12700" y="1271270"/>
                  </a:lnTo>
                  <a:lnTo>
                    <a:pt x="12700" y="12700"/>
                  </a:lnTo>
                  <a:lnTo>
                    <a:pt x="8061261" y="12700"/>
                  </a:lnTo>
                  <a:lnTo>
                    <a:pt x="8061261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1271270"/>
                  </a:lnTo>
                  <a:lnTo>
                    <a:pt x="0" y="1283970"/>
                  </a:lnTo>
                  <a:lnTo>
                    <a:pt x="8073961" y="1283970"/>
                  </a:lnTo>
                  <a:lnTo>
                    <a:pt x="8073961" y="1271587"/>
                  </a:lnTo>
                  <a:lnTo>
                    <a:pt x="8073961" y="1271270"/>
                  </a:lnTo>
                  <a:lnTo>
                    <a:pt x="8073961" y="12700"/>
                  </a:lnTo>
                  <a:lnTo>
                    <a:pt x="8073961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132E944-88E3-423D-8627-3BB569E3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455403"/>
            <a:ext cx="8839199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400" spc="-10" dirty="0"/>
              <a:t>Processor</a:t>
            </a:r>
            <a:r>
              <a:rPr sz="2400" spc="-50" dirty="0"/>
              <a:t> </a:t>
            </a:r>
            <a:r>
              <a:rPr sz="2400" spc="-5" dirty="0"/>
              <a:t>Scheduling</a:t>
            </a:r>
            <a:r>
              <a:rPr sz="2400" spc="35" dirty="0"/>
              <a:t> </a:t>
            </a:r>
            <a:r>
              <a:rPr sz="2400" spc="-30" dirty="0"/>
              <a:t>for</a:t>
            </a:r>
            <a:r>
              <a:rPr sz="2400" dirty="0"/>
              <a:t> </a:t>
            </a:r>
            <a:r>
              <a:rPr sz="2400" spc="-10" dirty="0"/>
              <a:t>Real-Time</a:t>
            </a:r>
            <a:r>
              <a:rPr lang="en-US" sz="2400" spc="-10" dirty="0"/>
              <a:t> </a:t>
            </a:r>
            <a:r>
              <a:rPr sz="2400" i="1" spc="-15" dirty="0">
                <a:latin typeface="Calibri"/>
                <a:cs typeface="Calibri"/>
              </a:rPr>
              <a:t>Earliest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Deadline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First</a:t>
            </a:r>
            <a:r>
              <a:rPr sz="2400" i="1" spc="5" dirty="0">
                <a:latin typeface="Calibri"/>
                <a:cs typeface="Calibri"/>
              </a:rPr>
              <a:t> </a:t>
            </a:r>
            <a:r>
              <a:rPr sz="2400" spc="-5" dirty="0"/>
              <a:t>(EDF)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7840" y="1752600"/>
            <a:ext cx="7997825" cy="3104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 marR="113474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93065" algn="l"/>
                <a:tab pos="393700" algn="l"/>
              </a:tabLst>
            </a:pPr>
            <a:r>
              <a:rPr lang="en-US" sz="3200" dirty="0">
                <a:latin typeface="Calibri"/>
                <a:cs typeface="Calibri"/>
              </a:rPr>
              <a:t>When</a:t>
            </a:r>
            <a:r>
              <a:rPr lang="en-US" sz="3200" spc="-2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each </a:t>
            </a:r>
            <a:r>
              <a:rPr lang="en-US" sz="3200" spc="-15" dirty="0">
                <a:latin typeface="Calibri"/>
                <a:cs typeface="Calibri"/>
              </a:rPr>
              <a:t>process</a:t>
            </a:r>
            <a:r>
              <a:rPr lang="en-US" sz="3200" spc="-10" dirty="0">
                <a:latin typeface="Calibri"/>
                <a:cs typeface="Calibri"/>
              </a:rPr>
              <a:t> </a:t>
            </a:r>
            <a:r>
              <a:rPr lang="en-US" sz="3200" i="1" dirty="0">
                <a:latin typeface="Calibri"/>
                <a:cs typeface="Calibri"/>
              </a:rPr>
              <a:t>i </a:t>
            </a:r>
            <a:r>
              <a:rPr lang="en-US" sz="3200" spc="-10" dirty="0">
                <a:latin typeface="Calibri"/>
                <a:cs typeface="Calibri"/>
              </a:rPr>
              <a:t>become</a:t>
            </a:r>
            <a:r>
              <a:rPr lang="en-US" sz="3200" spc="-20" dirty="0">
                <a:latin typeface="Calibri"/>
                <a:cs typeface="Calibri"/>
              </a:rPr>
              <a:t> </a:t>
            </a:r>
            <a:r>
              <a:rPr lang="en-US" sz="3200" spc="-45" dirty="0">
                <a:latin typeface="Calibri"/>
                <a:cs typeface="Calibri"/>
              </a:rPr>
              <a:t>ready,</a:t>
            </a:r>
            <a:r>
              <a:rPr lang="en-US" sz="3200" spc="-1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it </a:t>
            </a:r>
            <a:r>
              <a:rPr lang="en-US" sz="3200" spc="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announces</a:t>
            </a:r>
            <a:r>
              <a:rPr lang="en-US" sz="3200" spc="-5" dirty="0">
                <a:latin typeface="Calibri"/>
                <a:cs typeface="Calibri"/>
              </a:rPr>
              <a:t> deadline</a:t>
            </a:r>
            <a:r>
              <a:rPr lang="en-US" sz="3200" spc="10" dirty="0">
                <a:latin typeface="Calibri"/>
                <a:cs typeface="Calibri"/>
              </a:rPr>
              <a:t> </a:t>
            </a:r>
            <a:r>
              <a:rPr lang="en-US" sz="3200" i="1" dirty="0">
                <a:latin typeface="Calibri"/>
                <a:cs typeface="Calibri"/>
              </a:rPr>
              <a:t>D</a:t>
            </a:r>
            <a:r>
              <a:rPr lang="en-US" sz="3150" i="1" baseline="-21164" dirty="0">
                <a:latin typeface="Calibri"/>
                <a:cs typeface="Calibri"/>
              </a:rPr>
              <a:t>i</a:t>
            </a:r>
            <a:r>
              <a:rPr lang="en-US" sz="3150" i="1" spc="367" baseline="-21164" dirty="0">
                <a:latin typeface="Calibri"/>
                <a:cs typeface="Calibri"/>
              </a:rPr>
              <a:t> </a:t>
            </a:r>
            <a:r>
              <a:rPr lang="en-US" sz="3200" spc="-30" dirty="0">
                <a:latin typeface="Calibri"/>
                <a:cs typeface="Calibri"/>
              </a:rPr>
              <a:t>for</a:t>
            </a:r>
            <a:r>
              <a:rPr lang="en-US" sz="3200" spc="-1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its</a:t>
            </a:r>
            <a:r>
              <a:rPr lang="en-US" sz="3200" spc="-10" dirty="0">
                <a:latin typeface="Calibri"/>
                <a:cs typeface="Calibri"/>
              </a:rPr>
              <a:t> next</a:t>
            </a:r>
            <a:r>
              <a:rPr lang="en-US" sz="3200" spc="5" dirty="0">
                <a:latin typeface="Calibri"/>
                <a:cs typeface="Calibri"/>
              </a:rPr>
              <a:t> </a:t>
            </a:r>
            <a:r>
              <a:rPr lang="en-US" sz="3200" i="1" spc="-15" dirty="0">
                <a:latin typeface="Calibri"/>
                <a:cs typeface="Calibri"/>
              </a:rPr>
              <a:t>task</a:t>
            </a:r>
            <a:r>
              <a:rPr lang="en-US" sz="3200" spc="-15" dirty="0">
                <a:latin typeface="Calibri"/>
                <a:cs typeface="Calibri"/>
              </a:rPr>
              <a:t>.</a:t>
            </a:r>
            <a:endParaRPr lang="en-US"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lang="en-US" sz="4400" dirty="0">
              <a:latin typeface="Calibri"/>
              <a:cs typeface="Calibri"/>
            </a:endParaRPr>
          </a:p>
          <a:p>
            <a:pPr marL="393700" marR="17780" indent="-342900">
              <a:lnSpc>
                <a:spcPct val="100000"/>
              </a:lnSpc>
              <a:buFont typeface="Arial MT"/>
              <a:buChar char="•"/>
              <a:tabLst>
                <a:tab pos="393065" algn="l"/>
                <a:tab pos="393700" algn="l"/>
              </a:tabLst>
            </a:pPr>
            <a:r>
              <a:rPr lang="en-US" sz="3200" spc="-5" dirty="0">
                <a:latin typeface="Calibri"/>
                <a:cs typeface="Calibri"/>
              </a:rPr>
              <a:t>Scheduler</a:t>
            </a:r>
            <a:r>
              <a:rPr lang="en-US" sz="3200" spc="-30" dirty="0">
                <a:latin typeface="Calibri"/>
                <a:cs typeface="Calibri"/>
              </a:rPr>
              <a:t> </a:t>
            </a:r>
            <a:r>
              <a:rPr lang="en-US" sz="3200" spc="-20" dirty="0">
                <a:latin typeface="Calibri"/>
                <a:cs typeface="Calibri"/>
              </a:rPr>
              <a:t>always</a:t>
            </a:r>
            <a:r>
              <a:rPr lang="en-US" sz="3200" spc="-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assigns</a:t>
            </a:r>
            <a:r>
              <a:rPr lang="en-US" sz="3200" spc="1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processor</a:t>
            </a:r>
            <a:r>
              <a:rPr lang="en-US" sz="3200" spc="-30" dirty="0">
                <a:latin typeface="Calibri"/>
                <a:cs typeface="Calibri"/>
              </a:rPr>
              <a:t> </a:t>
            </a:r>
            <a:r>
              <a:rPr lang="en-US" sz="3200" spc="-25" dirty="0">
                <a:latin typeface="Calibri"/>
                <a:cs typeface="Calibri"/>
              </a:rPr>
              <a:t>to</a:t>
            </a:r>
            <a:r>
              <a:rPr lang="en-US" sz="3200" spc="5" dirty="0">
                <a:latin typeface="Calibri"/>
                <a:cs typeface="Calibri"/>
              </a:rPr>
              <a:t> </a:t>
            </a:r>
            <a:r>
              <a:rPr lang="en-US" sz="3200" spc="-15" dirty="0">
                <a:latin typeface="Calibri"/>
                <a:cs typeface="Calibri"/>
              </a:rPr>
              <a:t>process </a:t>
            </a:r>
            <a:r>
              <a:rPr lang="en-US" sz="3200" spc="-71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with</a:t>
            </a:r>
            <a:r>
              <a:rPr lang="en-US" sz="3200" spc="-20" dirty="0">
                <a:latin typeface="Calibri"/>
                <a:cs typeface="Calibri"/>
              </a:rPr>
              <a:t> </a:t>
            </a:r>
            <a:r>
              <a:rPr lang="en-US" sz="3200" spc="-5" dirty="0">
                <a:latin typeface="Calibri"/>
                <a:cs typeface="Calibri"/>
              </a:rPr>
              <a:t>earliest</a:t>
            </a:r>
            <a:r>
              <a:rPr lang="en-US" sz="3200" dirty="0">
                <a:latin typeface="Calibri"/>
                <a:cs typeface="Calibri"/>
              </a:rPr>
              <a:t> </a:t>
            </a:r>
            <a:r>
              <a:rPr lang="en-US" sz="3200" spc="-5" dirty="0">
                <a:latin typeface="Calibri"/>
                <a:cs typeface="Calibri"/>
              </a:rPr>
              <a:t>deadline.</a:t>
            </a:r>
            <a:endParaRPr lang="en-US" sz="3200" dirty="0">
              <a:latin typeface="Calibri"/>
              <a:cs typeface="Calibri"/>
            </a:endParaRPr>
          </a:p>
          <a:p>
            <a:pPr marL="1193800" lvl="1" indent="-22923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1194435" algn="l"/>
              </a:tabLst>
            </a:pPr>
            <a:r>
              <a:rPr lang="en-US" sz="2400" spc="-20" dirty="0">
                <a:latin typeface="Calibri"/>
                <a:cs typeface="Calibri"/>
              </a:rPr>
              <a:t>May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pre-empt</a:t>
            </a:r>
            <a:r>
              <a:rPr lang="en-US" sz="2400" spc="-5" dirty="0">
                <a:latin typeface="Calibri"/>
                <a:cs typeface="Calibri"/>
              </a:rPr>
              <a:t> other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real-time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processes</a:t>
            </a: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DDD936-FB5F-470C-9746-3F1488FAE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381000"/>
            <a:ext cx="80098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5" dirty="0"/>
              <a:t>Earliest</a:t>
            </a:r>
            <a:r>
              <a:rPr sz="3200" spc="-5" dirty="0"/>
              <a:t> Deadline</a:t>
            </a:r>
            <a:r>
              <a:rPr sz="3200" spc="15" dirty="0"/>
              <a:t> </a:t>
            </a:r>
            <a:r>
              <a:rPr sz="3200" spc="-25" dirty="0"/>
              <a:t>First</a:t>
            </a:r>
            <a:r>
              <a:rPr sz="3200" spc="10" dirty="0"/>
              <a:t> </a:t>
            </a:r>
            <a:r>
              <a:rPr sz="3200" spc="-5" dirty="0"/>
              <a:t>Scheduling</a:t>
            </a:r>
            <a:r>
              <a:rPr sz="3200" spc="20" dirty="0"/>
              <a:t> </a:t>
            </a:r>
            <a:r>
              <a:rPr sz="2400" spc="-5" dirty="0"/>
              <a:t>(continued)</a:t>
            </a:r>
            <a:endParaRPr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497840" y="1524723"/>
            <a:ext cx="8121650" cy="410273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93065" algn="l"/>
                <a:tab pos="393700" algn="l"/>
              </a:tabLst>
            </a:pPr>
            <a:r>
              <a:rPr sz="2800" spc="-5" dirty="0">
                <a:latin typeface="Calibri"/>
                <a:cs typeface="Calibri"/>
              </a:rPr>
              <a:t>No </a:t>
            </a:r>
            <a:r>
              <a:rPr sz="2800" spc="-10" dirty="0">
                <a:latin typeface="Calibri"/>
                <a:cs typeface="Calibri"/>
              </a:rPr>
              <a:t>assumption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periodicity</a:t>
            </a:r>
            <a:endParaRPr sz="2800" dirty="0">
              <a:latin typeface="Calibri"/>
              <a:cs typeface="Calibri"/>
            </a:endParaRPr>
          </a:p>
          <a:p>
            <a:pPr marL="393700" indent="-3429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93065" algn="l"/>
                <a:tab pos="393700" algn="l"/>
              </a:tabLst>
            </a:pPr>
            <a:r>
              <a:rPr sz="2800" spc="-5" dirty="0">
                <a:latin typeface="Calibri"/>
                <a:cs typeface="Calibri"/>
              </a:rPr>
              <a:t>No assumption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uniform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processing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times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3850" dirty="0">
              <a:latin typeface="Calibri"/>
              <a:cs typeface="Calibri"/>
            </a:endParaRPr>
          </a:p>
          <a:p>
            <a:pPr marL="393700" marR="318770" indent="-342900">
              <a:lnSpc>
                <a:spcPct val="100000"/>
              </a:lnSpc>
              <a:buFont typeface="Arial MT"/>
              <a:buChar char="•"/>
              <a:tabLst>
                <a:tab pos="393065" algn="l"/>
                <a:tab pos="393700" algn="l"/>
              </a:tabLst>
            </a:pPr>
            <a:r>
              <a:rPr sz="2800" b="1" spc="-15" dirty="0">
                <a:latin typeface="Calibri"/>
                <a:cs typeface="Calibri"/>
              </a:rPr>
              <a:t>Theorem: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i="1" spc="-20" dirty="0">
                <a:latin typeface="Calibri"/>
                <a:cs typeface="Calibri"/>
              </a:rPr>
              <a:t>any</a:t>
            </a:r>
            <a:r>
              <a:rPr sz="2800" i="1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scheduling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policy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satisfy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QoS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requirement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-5" dirty="0">
                <a:latin typeface="Calibri"/>
                <a:cs typeface="Calibri"/>
              </a:rPr>
              <a:t> a </a:t>
            </a:r>
            <a:r>
              <a:rPr sz="2800" spc="-10" dirty="0">
                <a:latin typeface="Calibri"/>
                <a:cs typeface="Calibri"/>
              </a:rPr>
              <a:t>sequence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real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time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tasks,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then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EDF</a:t>
            </a:r>
            <a:r>
              <a:rPr sz="2800" spc="-10" dirty="0">
                <a:latin typeface="Calibri"/>
                <a:cs typeface="Calibri"/>
              </a:rPr>
              <a:t> can</a:t>
            </a:r>
            <a:r>
              <a:rPr sz="2800" spc="-5" dirty="0">
                <a:latin typeface="Calibri"/>
                <a:cs typeface="Calibri"/>
              </a:rPr>
              <a:t> also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satisfy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it.</a:t>
            </a:r>
            <a:endParaRPr sz="2800" dirty="0">
              <a:latin typeface="Calibri"/>
              <a:cs typeface="Calibri"/>
            </a:endParaRPr>
          </a:p>
          <a:p>
            <a:pPr marL="794385" marR="55880" indent="-287020">
              <a:lnSpc>
                <a:spcPct val="100000"/>
              </a:lnSpc>
              <a:spcBef>
                <a:spcPts val="610"/>
              </a:spcBef>
            </a:pPr>
            <a:r>
              <a:rPr sz="2400" dirty="0">
                <a:latin typeface="Arial MT"/>
                <a:cs typeface="Arial MT"/>
              </a:rPr>
              <a:t>– </a:t>
            </a:r>
            <a:r>
              <a:rPr sz="2400" i="1" dirty="0">
                <a:latin typeface="Calibri"/>
                <a:cs typeface="Calibri"/>
              </a:rPr>
              <a:t>Proof: </a:t>
            </a:r>
            <a:r>
              <a:rPr sz="2400" dirty="0">
                <a:latin typeface="Calibri"/>
                <a:cs typeface="Calibri"/>
              </a:rPr>
              <a:t>If </a:t>
            </a:r>
            <a:r>
              <a:rPr sz="2400" i="1" dirty="0">
                <a:latin typeface="Calibri"/>
                <a:cs typeface="Calibri"/>
              </a:rPr>
              <a:t>i </a:t>
            </a:r>
            <a:r>
              <a:rPr sz="2400" spc="-5" dirty="0">
                <a:latin typeface="Calibri"/>
                <a:cs typeface="Calibri"/>
              </a:rPr>
              <a:t>scheduled </a:t>
            </a:r>
            <a:r>
              <a:rPr sz="2400" spc="-20" dirty="0">
                <a:latin typeface="Calibri"/>
                <a:cs typeface="Calibri"/>
              </a:rPr>
              <a:t>before </a:t>
            </a:r>
            <a:r>
              <a:rPr sz="2400" i="1" dirty="0">
                <a:latin typeface="Calibri"/>
                <a:cs typeface="Calibri"/>
              </a:rPr>
              <a:t>i+1</a:t>
            </a:r>
            <a:r>
              <a:rPr sz="2400" dirty="0">
                <a:latin typeface="Calibri"/>
                <a:cs typeface="Calibri"/>
              </a:rPr>
              <a:t>, </a:t>
            </a:r>
            <a:r>
              <a:rPr sz="2400" spc="-5" dirty="0">
                <a:latin typeface="Calibri"/>
                <a:cs typeface="Calibri"/>
              </a:rPr>
              <a:t>but </a:t>
            </a:r>
            <a:r>
              <a:rPr sz="2400" i="1" spc="-5" dirty="0">
                <a:latin typeface="Calibri"/>
                <a:cs typeface="Calibri"/>
              </a:rPr>
              <a:t>D</a:t>
            </a:r>
            <a:r>
              <a:rPr sz="2400" i="1" spc="-7" baseline="-20833" dirty="0">
                <a:latin typeface="Calibri"/>
                <a:cs typeface="Calibri"/>
              </a:rPr>
              <a:t>i+1</a:t>
            </a:r>
            <a:r>
              <a:rPr sz="2400" i="1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&lt; </a:t>
            </a:r>
            <a:r>
              <a:rPr sz="2400" i="1" spc="-5" dirty="0">
                <a:latin typeface="Calibri"/>
                <a:cs typeface="Calibri"/>
              </a:rPr>
              <a:t>D</a:t>
            </a:r>
            <a:r>
              <a:rPr sz="2400" i="1" spc="-7" baseline="-20833" dirty="0">
                <a:latin typeface="Calibri"/>
                <a:cs typeface="Calibri"/>
              </a:rPr>
              <a:t>i </a:t>
            </a:r>
            <a:r>
              <a:rPr sz="2400" dirty="0">
                <a:latin typeface="Calibri"/>
                <a:cs typeface="Calibri"/>
              </a:rPr>
              <a:t>, then </a:t>
            </a:r>
            <a:r>
              <a:rPr sz="2400" i="1" dirty="0">
                <a:latin typeface="Calibri"/>
                <a:cs typeface="Calibri"/>
              </a:rPr>
              <a:t>i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i="1" dirty="0">
                <a:latin typeface="Calibri"/>
                <a:cs typeface="Calibri"/>
              </a:rPr>
              <a:t>i+1 </a:t>
            </a:r>
            <a:r>
              <a:rPr sz="2400" i="1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spc="-10" dirty="0">
                <a:latin typeface="Calibri"/>
                <a:cs typeface="Calibri"/>
              </a:rPr>
              <a:t>interchanged </a:t>
            </a:r>
            <a:r>
              <a:rPr sz="2400" dirty="0">
                <a:latin typeface="Calibri"/>
                <a:cs typeface="Calibri"/>
              </a:rPr>
              <a:t>without </a:t>
            </a:r>
            <a:r>
              <a:rPr sz="2400" spc="-15" dirty="0">
                <a:latin typeface="Calibri"/>
                <a:cs typeface="Calibri"/>
              </a:rPr>
              <a:t>affecting </a:t>
            </a:r>
            <a:r>
              <a:rPr sz="2400" dirty="0">
                <a:latin typeface="Calibri"/>
                <a:cs typeface="Calibri"/>
              </a:rPr>
              <a:t>QoS </a:t>
            </a:r>
            <a:r>
              <a:rPr sz="2400" spc="-15" dirty="0">
                <a:latin typeface="Calibri"/>
                <a:cs typeface="Calibri"/>
              </a:rPr>
              <a:t>guarantee to 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either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one.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BBCCEA-02C0-4006-A5B6-BB93B739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81000"/>
            <a:ext cx="81508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5" dirty="0"/>
              <a:t>Earliest</a:t>
            </a:r>
            <a:r>
              <a:rPr sz="3200" spc="-5" dirty="0"/>
              <a:t> Deadline</a:t>
            </a:r>
            <a:r>
              <a:rPr sz="3200" spc="15" dirty="0"/>
              <a:t> </a:t>
            </a:r>
            <a:r>
              <a:rPr sz="3200" spc="-25" dirty="0"/>
              <a:t>First</a:t>
            </a:r>
            <a:r>
              <a:rPr sz="3200" spc="10" dirty="0"/>
              <a:t> </a:t>
            </a:r>
            <a:r>
              <a:rPr sz="3200" spc="-5" dirty="0"/>
              <a:t>Scheduling</a:t>
            </a:r>
            <a:r>
              <a:rPr sz="3200" spc="20" dirty="0"/>
              <a:t> </a:t>
            </a:r>
            <a:endParaRPr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772160" y="1447800"/>
            <a:ext cx="7457440" cy="426529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4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EDF</a:t>
            </a:r>
            <a:r>
              <a:rPr sz="3200" spc="-10" dirty="0">
                <a:latin typeface="Calibri"/>
                <a:cs typeface="Calibri"/>
              </a:rPr>
              <a:t> is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more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complex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scheduling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algorithm</a:t>
            </a:r>
            <a:endParaRPr sz="32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Priorities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-5" dirty="0">
                <a:latin typeface="Calibri"/>
                <a:cs typeface="Calibri"/>
              </a:rPr>
              <a:t> dynamically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calculated</a:t>
            </a:r>
            <a:endParaRPr sz="24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Processes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 deadlines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tasks</a:t>
            </a:r>
            <a:endParaRPr sz="2400" dirty="0">
              <a:latin typeface="Calibri"/>
              <a:cs typeface="Calibri"/>
            </a:endParaRPr>
          </a:p>
          <a:p>
            <a:pPr marL="355600" marR="5080" indent="-342900">
              <a:lnSpc>
                <a:spcPts val="3460"/>
              </a:lnSpc>
              <a:spcBef>
                <a:spcPts val="7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EDF</a:t>
            </a:r>
            <a:r>
              <a:rPr sz="3200" spc="-10" dirty="0">
                <a:latin typeface="Calibri"/>
                <a:cs typeface="Calibri"/>
              </a:rPr>
              <a:t> can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make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higher use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10" dirty="0">
                <a:latin typeface="Calibri"/>
                <a:cs typeface="Calibri"/>
              </a:rPr>
              <a:t> processor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than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RMS</a:t>
            </a:r>
          </a:p>
          <a:p>
            <a:pPr marL="1155700" lvl="1" indent="-229235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dirty="0">
                <a:latin typeface="Calibri"/>
                <a:cs typeface="Calibri"/>
              </a:rPr>
              <a:t>Up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100%</a:t>
            </a:r>
            <a:endParaRPr sz="24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Arial MT"/>
              <a:buChar char="•"/>
            </a:pPr>
            <a:endParaRPr sz="2700" dirty="0">
              <a:latin typeface="Calibri"/>
              <a:cs typeface="Calibri"/>
            </a:endParaRPr>
          </a:p>
          <a:p>
            <a:pPr marL="355600" marR="647065" indent="-342900">
              <a:lnSpc>
                <a:spcPts val="3460"/>
              </a:lnSpc>
              <a:spcBef>
                <a:spcPts val="17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There </a:t>
            </a:r>
            <a:r>
              <a:rPr sz="3200" dirty="0">
                <a:latin typeface="Calibri"/>
                <a:cs typeface="Calibri"/>
              </a:rPr>
              <a:t>is a </a:t>
            </a:r>
            <a:r>
              <a:rPr sz="3200" spc="-15" dirty="0">
                <a:latin typeface="Calibri"/>
                <a:cs typeface="Calibri"/>
              </a:rPr>
              <a:t>large </a:t>
            </a:r>
            <a:r>
              <a:rPr sz="3200" spc="-5" dirty="0">
                <a:latin typeface="Calibri"/>
                <a:cs typeface="Calibri"/>
              </a:rPr>
              <a:t>body of knowledge </a:t>
            </a:r>
            <a:r>
              <a:rPr sz="3200" dirty="0">
                <a:latin typeface="Calibri"/>
                <a:cs typeface="Calibri"/>
              </a:rPr>
              <a:t>and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theorems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about EDF</a:t>
            </a:r>
            <a:r>
              <a:rPr sz="3200" spc="-5" dirty="0">
                <a:latin typeface="Calibri"/>
                <a:cs typeface="Calibri"/>
              </a:rPr>
              <a:t> analysis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D87D1D-003C-4E89-A343-3DCC46534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5265" y="304800"/>
            <a:ext cx="63633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Example</a:t>
            </a:r>
            <a:r>
              <a:rPr sz="4400" spc="-50" dirty="0"/>
              <a:t> </a:t>
            </a:r>
            <a:r>
              <a:rPr sz="4400" dirty="0"/>
              <a:t>2</a:t>
            </a:r>
            <a:r>
              <a:rPr sz="4400" spc="-20" dirty="0"/>
              <a:t> </a:t>
            </a:r>
            <a:r>
              <a:rPr sz="4400" spc="-15" dirty="0"/>
              <a:t>(again)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371600"/>
            <a:ext cx="6958330" cy="1845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latin typeface="Calibri"/>
                <a:cs typeface="Calibri"/>
              </a:rPr>
              <a:t>Priorities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assigned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according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deadlines: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3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the</a:t>
            </a:r>
            <a:r>
              <a:rPr sz="2400" spc="-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earlier</a:t>
            </a:r>
            <a:r>
              <a:rPr sz="2400" spc="-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the</a:t>
            </a:r>
            <a:r>
              <a:rPr sz="2400" spc="-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B050"/>
                </a:solidFill>
                <a:latin typeface="Calibri"/>
                <a:cs typeface="Calibri"/>
              </a:rPr>
              <a:t>deadline,</a:t>
            </a:r>
            <a:r>
              <a:rPr sz="2400" spc="-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B050"/>
                </a:solidFill>
                <a:latin typeface="Calibri"/>
                <a:cs typeface="Calibri"/>
              </a:rPr>
              <a:t>higher</a:t>
            </a:r>
            <a:r>
              <a:rPr sz="2400" spc="-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B050"/>
                </a:solidFill>
                <a:latin typeface="Calibri"/>
                <a:cs typeface="Calibri"/>
              </a:rPr>
              <a:t>priority;</a:t>
            </a:r>
            <a:endParaRPr sz="2400" dirty="0">
              <a:solidFill>
                <a:srgbClr val="00B050"/>
              </a:solidFill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the</a:t>
            </a:r>
            <a:r>
              <a:rPr sz="2400" spc="-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B050"/>
                </a:solidFill>
                <a:latin typeface="Calibri"/>
                <a:cs typeface="Calibri"/>
              </a:rPr>
              <a:t>later</a:t>
            </a:r>
            <a:r>
              <a:rPr sz="2400" spc="-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the</a:t>
            </a:r>
            <a:r>
              <a:rPr sz="2400" spc="-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B050"/>
                </a:solidFill>
                <a:latin typeface="Calibri"/>
                <a:cs typeface="Calibri"/>
              </a:rPr>
              <a:t>deadline,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the</a:t>
            </a:r>
            <a:r>
              <a:rPr sz="2400" spc="-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B050"/>
                </a:solidFill>
                <a:latin typeface="Calibri"/>
                <a:cs typeface="Calibri"/>
              </a:rPr>
              <a:t>lower</a:t>
            </a:r>
            <a:r>
              <a:rPr sz="2400" spc="-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the</a:t>
            </a:r>
            <a:r>
              <a:rPr sz="2400" spc="-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B050"/>
                </a:solidFill>
                <a:latin typeface="Calibri"/>
                <a:cs typeface="Calibri"/>
              </a:rPr>
              <a:t>priority.</a:t>
            </a:r>
            <a:endParaRPr sz="2400" dirty="0">
              <a:solidFill>
                <a:srgbClr val="00B050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6303061"/>
            <a:ext cx="7207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18/04/2018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00825" y="6257035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44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2625" y="3733800"/>
            <a:ext cx="7780655" cy="1245870"/>
            <a:chOff x="682625" y="4000500"/>
            <a:chExt cx="7780655" cy="124587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0725" y="4053830"/>
              <a:ext cx="7704201" cy="112410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82625" y="4000499"/>
              <a:ext cx="7780655" cy="1245870"/>
            </a:xfrm>
            <a:custGeom>
              <a:avLst/>
              <a:gdLst/>
              <a:ahLst/>
              <a:cxnLst/>
              <a:rect l="l" t="t" r="r" b="b"/>
              <a:pathLst>
                <a:path w="7780655" h="1245870">
                  <a:moveTo>
                    <a:pt x="7754874" y="25400"/>
                  </a:moveTo>
                  <a:lnTo>
                    <a:pt x="7742174" y="25400"/>
                  </a:lnTo>
                  <a:lnTo>
                    <a:pt x="7742174" y="38100"/>
                  </a:lnTo>
                  <a:lnTo>
                    <a:pt x="7742174" y="1207770"/>
                  </a:lnTo>
                  <a:lnTo>
                    <a:pt x="38100" y="1207770"/>
                  </a:lnTo>
                  <a:lnTo>
                    <a:pt x="38100" y="38100"/>
                  </a:lnTo>
                  <a:lnTo>
                    <a:pt x="7742174" y="38100"/>
                  </a:lnTo>
                  <a:lnTo>
                    <a:pt x="7742174" y="25400"/>
                  </a:lnTo>
                  <a:lnTo>
                    <a:pt x="25400" y="25400"/>
                  </a:lnTo>
                  <a:lnTo>
                    <a:pt x="25400" y="38100"/>
                  </a:lnTo>
                  <a:lnTo>
                    <a:pt x="25400" y="1207770"/>
                  </a:lnTo>
                  <a:lnTo>
                    <a:pt x="25400" y="1220470"/>
                  </a:lnTo>
                  <a:lnTo>
                    <a:pt x="7754874" y="1220470"/>
                  </a:lnTo>
                  <a:lnTo>
                    <a:pt x="7754874" y="1208024"/>
                  </a:lnTo>
                  <a:lnTo>
                    <a:pt x="7754874" y="1207770"/>
                  </a:lnTo>
                  <a:lnTo>
                    <a:pt x="7754874" y="38100"/>
                  </a:lnTo>
                  <a:lnTo>
                    <a:pt x="7754874" y="25400"/>
                  </a:lnTo>
                  <a:close/>
                </a:path>
                <a:path w="7780655" h="1245870">
                  <a:moveTo>
                    <a:pt x="7780274" y="0"/>
                  </a:moveTo>
                  <a:lnTo>
                    <a:pt x="7767574" y="0"/>
                  </a:lnTo>
                  <a:lnTo>
                    <a:pt x="7767574" y="12700"/>
                  </a:lnTo>
                  <a:lnTo>
                    <a:pt x="7767574" y="1233170"/>
                  </a:lnTo>
                  <a:lnTo>
                    <a:pt x="12700" y="1233170"/>
                  </a:lnTo>
                  <a:lnTo>
                    <a:pt x="12700" y="12700"/>
                  </a:lnTo>
                  <a:lnTo>
                    <a:pt x="7767574" y="12700"/>
                  </a:lnTo>
                  <a:lnTo>
                    <a:pt x="7767574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1233170"/>
                  </a:lnTo>
                  <a:lnTo>
                    <a:pt x="0" y="1245870"/>
                  </a:lnTo>
                  <a:lnTo>
                    <a:pt x="7780274" y="1245870"/>
                  </a:lnTo>
                  <a:lnTo>
                    <a:pt x="7780274" y="1233424"/>
                  </a:lnTo>
                  <a:lnTo>
                    <a:pt x="7780274" y="1233170"/>
                  </a:lnTo>
                  <a:lnTo>
                    <a:pt x="7780274" y="12700"/>
                  </a:lnTo>
                  <a:lnTo>
                    <a:pt x="7780274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10D2AC1-3E4C-40C9-90B9-39BCCE29B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B9431C-F68C-442F-B396-A4009E56CA45}"/>
              </a:ext>
            </a:extLst>
          </p:cNvPr>
          <p:cNvSpPr/>
          <p:nvPr/>
        </p:nvSpPr>
        <p:spPr>
          <a:xfrm>
            <a:off x="2760640" y="2967335"/>
            <a:ext cx="3622723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- OS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- OS" id="{F0A37ABD-166E-4991-BEB4-560DCE37D1A7}" vid="{B41524AA-38AE-4EEB-A55E-5368FBCB6A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 - OS</Template>
  <TotalTime>7935</TotalTime>
  <Words>1572</Words>
  <Application>Microsoft Office PowerPoint</Application>
  <PresentationFormat>On-screen Show (4:3)</PresentationFormat>
  <Paragraphs>202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 MT</vt:lpstr>
      <vt:lpstr>Calibri</vt:lpstr>
      <vt:lpstr>Corbel</vt:lpstr>
      <vt:lpstr>Symbol</vt:lpstr>
      <vt:lpstr>Times New Roman</vt:lpstr>
      <vt:lpstr>Theme - OS</vt:lpstr>
      <vt:lpstr>Real time System: CPU  scheduling</vt:lpstr>
      <vt:lpstr>Overview</vt:lpstr>
      <vt:lpstr>Introduction</vt:lpstr>
      <vt:lpstr>Hard Vs Soft RTS</vt:lpstr>
      <vt:lpstr>RTS Characteristic</vt:lpstr>
      <vt:lpstr>RTS Characteristic</vt:lpstr>
      <vt:lpstr>Real Time Kernels</vt:lpstr>
      <vt:lpstr>Implementing Real-Time Systems</vt:lpstr>
      <vt:lpstr>Minimizing Latency</vt:lpstr>
      <vt:lpstr>Interrupt Latency</vt:lpstr>
      <vt:lpstr>Dispatch Latency</vt:lpstr>
      <vt:lpstr>RTS scheduling</vt:lpstr>
      <vt:lpstr>Task models</vt:lpstr>
      <vt:lpstr>Scheduling Problem</vt:lpstr>
      <vt:lpstr>Tasks with the same arrival time</vt:lpstr>
      <vt:lpstr>Earliest Due Date first (EDD) [Jackson  1955]</vt:lpstr>
      <vt:lpstr>Tasks with different arrival times</vt:lpstr>
      <vt:lpstr>Earliest Deadline First Scheduling</vt:lpstr>
      <vt:lpstr>EDF: Example</vt:lpstr>
      <vt:lpstr>Least slack scheduling</vt:lpstr>
      <vt:lpstr>Least Slack Time scheduling</vt:lpstr>
      <vt:lpstr>Processor Scheduling for Real-Time Rate Monotonic Scheduling (RMS)</vt:lpstr>
      <vt:lpstr>Example</vt:lpstr>
      <vt:lpstr>Processor Scheduling for Real-Time</vt:lpstr>
      <vt:lpstr>Rate Monotonic Scheduling (continued)</vt:lpstr>
      <vt:lpstr>Rate Monotonic Scheduling</vt:lpstr>
      <vt:lpstr>Example</vt:lpstr>
      <vt:lpstr>Example 2</vt:lpstr>
      <vt:lpstr>Processor Scheduling for Real-Time Earliest Deadline First (EDF)</vt:lpstr>
      <vt:lpstr>Earliest Deadline First Scheduling (continued)</vt:lpstr>
      <vt:lpstr>Earliest Deadline First Scheduling </vt:lpstr>
      <vt:lpstr>Example 2 (again)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System: CPU scheduling</dc:title>
  <dc:creator>Hp</dc:creator>
  <cp:lastModifiedBy>Yujan Basnet</cp:lastModifiedBy>
  <cp:revision>4</cp:revision>
  <dcterms:created xsi:type="dcterms:W3CDTF">2024-03-08T16:22:38Z</dcterms:created>
  <dcterms:modified xsi:type="dcterms:W3CDTF">2025-06-18T11:12:45Z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2018-04-18T00:00:00Z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2024-03-08T00:00:00Z</vt:filetime>
  </property>
</Properties>
</file>