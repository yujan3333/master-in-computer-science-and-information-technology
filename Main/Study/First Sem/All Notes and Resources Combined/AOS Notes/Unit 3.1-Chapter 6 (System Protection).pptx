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od Kumar Adhikari" userId="256f5a90-d823-4e8d-9a41-a3da19f4a0ad" providerId="ADAL" clId="{CCF41073-6722-4975-908A-EAA39B773F45}"/>
    <pc:docChg chg="custSel modSld">
      <pc:chgData name="Binod Kumar Adhikari" userId="256f5a90-d823-4e8d-9a41-a3da19f4a0ad" providerId="ADAL" clId="{CCF41073-6722-4975-908A-EAA39B773F45}" dt="2025-04-23T06:43:12.852" v="2" actId="33524"/>
      <pc:docMkLst>
        <pc:docMk/>
      </pc:docMkLst>
      <pc:sldChg chg="modSp mod">
        <pc:chgData name="Binod Kumar Adhikari" userId="256f5a90-d823-4e8d-9a41-a3da19f4a0ad" providerId="ADAL" clId="{CCF41073-6722-4975-908A-EAA39B773F45}" dt="2025-04-23T06:43:12.852" v="2" actId="33524"/>
        <pc:sldMkLst>
          <pc:docMk/>
          <pc:sldMk cId="0" sldId="259"/>
        </pc:sldMkLst>
        <pc:spChg chg="mod">
          <ac:chgData name="Binod Kumar Adhikari" userId="256f5a90-d823-4e8d-9a41-a3da19f4a0ad" providerId="ADAL" clId="{CCF41073-6722-4975-908A-EAA39B773F45}" dt="2025-04-23T06:43:12.852" v="2" actId="33524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Binod Kumar Adhikari" userId="256f5a90-d823-4e8d-9a41-a3da19f4a0ad" providerId="ADAL" clId="{CCF41073-6722-4975-908A-EAA39B773F45}" dt="2025-04-23T06:29:42.597" v="0" actId="6549"/>
        <pc:sldMkLst>
          <pc:docMk/>
          <pc:sldMk cId="0" sldId="262"/>
        </pc:sldMkLst>
        <pc:spChg chg="mod">
          <ac:chgData name="Binod Kumar Adhikari" userId="256f5a90-d823-4e8d-9a41-a3da19f4a0ad" providerId="ADAL" clId="{CCF41073-6722-4975-908A-EAA39B773F45}" dt="2025-04-23T06:29:42.597" v="0" actId="6549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Binod Kumar Adhikari" userId="256f5a90-d823-4e8d-9a41-a3da19f4a0ad" providerId="ADAL" clId="{CCF41073-6722-4975-908A-EAA39B773F45}" dt="2025-04-23T06:42:50.663" v="1" actId="33524"/>
        <pc:sldMkLst>
          <pc:docMk/>
          <pc:sldMk cId="0" sldId="274"/>
        </pc:sldMkLst>
        <pc:spChg chg="mod">
          <ac:chgData name="Binod Kumar Adhikari" userId="256f5a90-d823-4e8d-9a41-a3da19f4a0ad" providerId="ADAL" clId="{CCF41073-6722-4975-908A-EAA39B773F45}" dt="2025-04-23T06:42:50.663" v="1" actId="33524"/>
          <ac:spMkLst>
            <pc:docMk/>
            <pc:sldMk cId="0" sldId="274"/>
            <ac:spMk id="3" creationId="{00000000-0000-0000-0000-000000000000}"/>
          </ac:spMkLst>
        </pc:spChg>
      </pc:sldChg>
    </pc:docChg>
  </pc:docChgLst>
  <pc:docChgLst>
    <pc:chgData name="Yujan Basnet" userId="495fd8277ebfbaef" providerId="LiveId" clId="{C48A5302-ED37-41B1-8197-8352DBE64824}"/>
    <pc:docChg chg="modSld">
      <pc:chgData name="Yujan Basnet" userId="495fd8277ebfbaef" providerId="LiveId" clId="{C48A5302-ED37-41B1-8197-8352DBE64824}" dt="2025-06-19T11:29:14.052" v="2" actId="207"/>
      <pc:docMkLst>
        <pc:docMk/>
      </pc:docMkLst>
      <pc:sldChg chg="modSp mod">
        <pc:chgData name="Yujan Basnet" userId="495fd8277ebfbaef" providerId="LiveId" clId="{C48A5302-ED37-41B1-8197-8352DBE64824}" dt="2025-06-19T10:43:12.246" v="0" actId="207"/>
        <pc:sldMkLst>
          <pc:docMk/>
          <pc:sldMk cId="0" sldId="258"/>
        </pc:sldMkLst>
        <pc:spChg chg="mod">
          <ac:chgData name="Yujan Basnet" userId="495fd8277ebfbaef" providerId="LiveId" clId="{C48A5302-ED37-41B1-8197-8352DBE64824}" dt="2025-06-19T10:43:12.246" v="0" actId="20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Yujan Basnet" userId="495fd8277ebfbaef" providerId="LiveId" clId="{C48A5302-ED37-41B1-8197-8352DBE64824}" dt="2025-06-19T11:29:14.052" v="2" actId="207"/>
        <pc:sldMkLst>
          <pc:docMk/>
          <pc:sldMk cId="0" sldId="274"/>
        </pc:sldMkLst>
        <pc:spChg chg="mod">
          <ac:chgData name="Yujan Basnet" userId="495fd8277ebfbaef" providerId="LiveId" clId="{C48A5302-ED37-41B1-8197-8352DBE64824}" dt="2025-06-19T11:29:14.052" v="2" actId="207"/>
          <ac:spMkLst>
            <pc:docMk/>
            <pc:sldMk cId="0" sldId="274"/>
            <ac:spMk id="3" creationId="{00000000-0000-0000-0000-000000000000}"/>
          </ac:spMkLst>
        </pc:spChg>
      </pc:sldChg>
    </pc:docChg>
  </pc:docChgLst>
  <pc:docChgLst>
    <pc:chgData name="Binod Kumar Adhikari" userId="256f5a90-d823-4e8d-9a41-a3da19f4a0ad" providerId="ADAL" clId="{3CF3BE64-4DBF-433C-BA17-6C32BA5DC329}"/>
    <pc:docChg chg="modSld">
      <pc:chgData name="Binod Kumar Adhikari" userId="256f5a90-d823-4e8d-9a41-a3da19f4a0ad" providerId="ADAL" clId="{3CF3BE64-4DBF-433C-BA17-6C32BA5DC329}" dt="2025-04-24T05:49:58.277" v="0" actId="114"/>
      <pc:docMkLst>
        <pc:docMk/>
      </pc:docMkLst>
      <pc:sldChg chg="modSp">
        <pc:chgData name="Binod Kumar Adhikari" userId="256f5a90-d823-4e8d-9a41-a3da19f4a0ad" providerId="ADAL" clId="{3CF3BE64-4DBF-433C-BA17-6C32BA5DC329}" dt="2025-04-24T05:49:58.277" v="0" actId="114"/>
        <pc:sldMkLst>
          <pc:docMk/>
          <pc:sldMk cId="0" sldId="277"/>
        </pc:sldMkLst>
        <pc:spChg chg="mod">
          <ac:chgData name="Binod Kumar Adhikari" userId="256f5a90-d823-4e8d-9a41-a3da19f4a0ad" providerId="ADAL" clId="{3CF3BE64-4DBF-433C-BA17-6C32BA5DC329}" dt="2025-04-24T05:49:58.277" v="0" actId="114"/>
          <ac:spMkLst>
            <pc:docMk/>
            <pc:sldMk cId="0" sldId="27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2DB17-8D13-4501-BA56-2B9A68AD64D3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EC0F9-3332-4323-8693-F39134940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955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933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A54A6A-B736-424B-A461-DD07D9471141}"/>
              </a:ext>
            </a:extLst>
          </p:cNvPr>
          <p:cNvSpPr/>
          <p:nvPr/>
        </p:nvSpPr>
        <p:spPr>
          <a:xfrm>
            <a:off x="846814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458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9C1D18-596C-4A46-A2BD-73A286C6F7F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04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4FB00-F04E-4239-9D65-0039C0394CB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11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D5B90-141B-44D9-BEC0-A558419CFA3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94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 b="1"/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5F449E-F837-4EA1-A58D-7E2CA932D463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48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F4AFE6-6A8F-441E-952B-130FFFB4070D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327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1097280"/>
            <a:ext cx="3909060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2A32BE-F2A3-4F12-A8C0-09BD997E510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3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1069847"/>
            <a:ext cx="4574286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1849C-2872-4E43-9633-84F714AA45D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883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C1332-0CCA-4F8E-BE2B-75DDDED7AE4E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02010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FDDA1-89B3-4669-9E5C-82E52ECCD924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565979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46374" y="461594"/>
            <a:ext cx="2651251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08724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18/04/2018</a:t>
            </a:r>
            <a:endParaRPr lang="en-IN"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CFB57-0013-4E9E-AA54-EAB84A192B1B}"/>
              </a:ext>
            </a:extLst>
          </p:cNvPr>
          <p:cNvSpPr/>
          <p:nvPr/>
        </p:nvSpPr>
        <p:spPr>
          <a:xfrm>
            <a:off x="8471452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D3EEF7-35B4-40EB-928F-09FC3F136274}"/>
              </a:ext>
            </a:extLst>
          </p:cNvPr>
          <p:cNvCxnSpPr>
            <a:cxnSpLocks/>
          </p:cNvCxnSpPr>
          <p:nvPr/>
        </p:nvCxnSpPr>
        <p:spPr>
          <a:xfrm>
            <a:off x="76200" y="1066800"/>
            <a:ext cx="89916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63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2400" y="346937"/>
            <a:ext cx="87630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7260" marR="5080" indent="-925194" algn="ctr">
              <a:lnSpc>
                <a:spcPct val="100000"/>
              </a:lnSpc>
              <a:spcBef>
                <a:spcPts val="105"/>
              </a:spcBef>
            </a:pPr>
            <a:r>
              <a:rPr sz="3600" b="1" dirty="0"/>
              <a:t>Protection</a:t>
            </a:r>
            <a:r>
              <a:rPr sz="3600" b="1" spc="-100" dirty="0"/>
              <a:t> </a:t>
            </a:r>
            <a:r>
              <a:rPr sz="3600" b="1" dirty="0"/>
              <a:t>and</a:t>
            </a:r>
            <a:r>
              <a:rPr sz="3600" b="1" spc="-80" dirty="0"/>
              <a:t> </a:t>
            </a:r>
            <a:r>
              <a:rPr sz="3600" b="1" dirty="0"/>
              <a:t>Security</a:t>
            </a:r>
            <a:r>
              <a:rPr sz="3600" b="1" spc="-100" dirty="0"/>
              <a:t> </a:t>
            </a:r>
            <a:r>
              <a:rPr sz="3600" b="1" spc="-25" dirty="0"/>
              <a:t>in</a:t>
            </a:r>
            <a:r>
              <a:rPr lang="en-US" sz="3600" b="1" spc="-25" dirty="0"/>
              <a:t> </a:t>
            </a:r>
            <a:r>
              <a:rPr sz="3600" b="1" dirty="0"/>
              <a:t>Operating</a:t>
            </a:r>
            <a:r>
              <a:rPr sz="3600" b="1" spc="-190" dirty="0"/>
              <a:t> </a:t>
            </a:r>
            <a:r>
              <a:rPr sz="3600" b="1" spc="-10" dirty="0"/>
              <a:t>System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CE6E2C-4B53-4FA9-AB46-D2E4365CEA7D}"/>
              </a:ext>
            </a:extLst>
          </p:cNvPr>
          <p:cNvSpPr/>
          <p:nvPr/>
        </p:nvSpPr>
        <p:spPr>
          <a:xfrm>
            <a:off x="419100" y="2585018"/>
            <a:ext cx="8305800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System Protection: protection principles and domain, access matrix and its implementation, access controls and rights, capability-based system, language-based protection.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68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99589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System</a:t>
            </a:r>
            <a:r>
              <a:rPr b="1" spc="-204" dirty="0"/>
              <a:t> </a:t>
            </a:r>
            <a:r>
              <a:rPr b="1" spc="-10" dirty="0"/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47990" cy="4124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Protection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refers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strategy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controlling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program,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processes,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10" dirty="0">
                <a:latin typeface="Calibri"/>
                <a:cs typeface="Calibri"/>
              </a:rPr>
              <a:t>resources.</a:t>
            </a:r>
            <a:endParaRPr sz="3200" dirty="0">
              <a:latin typeface="Calibri"/>
              <a:cs typeface="Calibri"/>
            </a:endParaRPr>
          </a:p>
          <a:p>
            <a:pPr marL="355600" marR="9144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ensure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resources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consistent </a:t>
            </a:r>
            <a:r>
              <a:rPr sz="3200" spc="-20" dirty="0">
                <a:latin typeface="Calibri"/>
                <a:cs typeface="Calibri"/>
              </a:rPr>
              <a:t>ways</a:t>
            </a:r>
            <a:r>
              <a:rPr lang="en-US" sz="3200" spc="-20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  <a:p>
            <a:pPr marL="354330" marR="303530" indent="-34163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Further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more,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ensure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resource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is 	</a:t>
            </a:r>
            <a:r>
              <a:rPr sz="3200" dirty="0">
                <a:latin typeface="Calibri"/>
                <a:cs typeface="Calibri"/>
              </a:rPr>
              <a:t>accessed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correctly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only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those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 	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allowed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so.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99589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System</a:t>
            </a:r>
            <a:r>
              <a:rPr b="1" spc="-204" dirty="0"/>
              <a:t> </a:t>
            </a:r>
            <a:r>
              <a:rPr b="1" spc="-10" dirty="0"/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4025" cy="3538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163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If</a:t>
            </a:r>
            <a:r>
              <a:rPr sz="3200" spc="7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72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computer</a:t>
            </a:r>
            <a:r>
              <a:rPr sz="3200" spc="7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program</a:t>
            </a:r>
            <a:r>
              <a:rPr sz="3200" spc="7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72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run</a:t>
            </a:r>
            <a:r>
              <a:rPr sz="3200" spc="73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730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an </a:t>
            </a:r>
            <a:r>
              <a:rPr sz="3200" spc="-25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unauthorized</a:t>
            </a:r>
            <a:r>
              <a:rPr sz="3200" spc="13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user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1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then</a:t>
            </a:r>
            <a:r>
              <a:rPr sz="3200" spc="13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he/she</a:t>
            </a:r>
            <a:r>
              <a:rPr sz="3200" spc="1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may</a:t>
            </a:r>
            <a:r>
              <a:rPr sz="3200" spc="125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cause 	</a:t>
            </a:r>
            <a:r>
              <a:rPr sz="3200" dirty="0">
                <a:latin typeface="Calibri"/>
                <a:cs typeface="Calibri"/>
              </a:rPr>
              <a:t>severe</a:t>
            </a:r>
            <a:r>
              <a:rPr sz="3200" spc="1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damage</a:t>
            </a:r>
            <a:r>
              <a:rPr sz="3200" spc="1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1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computer</a:t>
            </a:r>
            <a:r>
              <a:rPr sz="3200" spc="1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1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1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stored</a:t>
            </a:r>
            <a:r>
              <a:rPr sz="3200" spc="1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in 	it.</a:t>
            </a:r>
            <a:endParaRPr sz="3200" dirty="0">
              <a:latin typeface="Calibri"/>
              <a:cs typeface="Calibri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So</a:t>
            </a:r>
            <a:r>
              <a:rPr sz="3200" spc="204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2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computer</a:t>
            </a:r>
            <a:r>
              <a:rPr sz="3200" spc="2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system</a:t>
            </a:r>
            <a:r>
              <a:rPr sz="3200" spc="2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must</a:t>
            </a:r>
            <a:r>
              <a:rPr sz="3200" spc="2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21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protected </a:t>
            </a:r>
            <a:r>
              <a:rPr sz="3200" dirty="0">
                <a:latin typeface="Calibri"/>
                <a:cs typeface="Calibri"/>
              </a:rPr>
              <a:t>against</a:t>
            </a:r>
            <a:r>
              <a:rPr sz="3200" spc="22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unauthorized</a:t>
            </a:r>
            <a:r>
              <a:rPr sz="3200" spc="22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access,</a:t>
            </a:r>
            <a:r>
              <a:rPr sz="3200" spc="2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malicious</a:t>
            </a:r>
            <a:r>
              <a:rPr sz="3200" spc="229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access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memory,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viruses,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worms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etc.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56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191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Example</a:t>
            </a:r>
            <a:r>
              <a:rPr b="1" spc="-60" dirty="0"/>
              <a:t> </a:t>
            </a:r>
            <a:r>
              <a:rPr b="1" dirty="0"/>
              <a:t>of</a:t>
            </a:r>
            <a:r>
              <a:rPr b="1" spc="-40" dirty="0"/>
              <a:t> </a:t>
            </a:r>
            <a:r>
              <a:rPr b="1" spc="-10" dirty="0"/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71066"/>
            <a:ext cx="8073390" cy="4277966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 algn="just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  <a:tab pos="456565" algn="l"/>
              </a:tabLst>
            </a:pP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b="1" dirty="0">
                <a:latin typeface="Times New Roman"/>
                <a:cs typeface="Times New Roman"/>
              </a:rPr>
              <a:t>Privileged</a:t>
            </a:r>
            <a:r>
              <a:rPr sz="3200" b="1" spc="7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instructions</a:t>
            </a:r>
            <a:r>
              <a:rPr sz="3200" b="1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must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be </a:t>
            </a:r>
            <a:r>
              <a:rPr sz="3200" dirty="0">
                <a:latin typeface="Times New Roman"/>
                <a:cs typeface="Times New Roman"/>
              </a:rPr>
              <a:t>executing</a:t>
            </a:r>
            <a:r>
              <a:rPr sz="3200" spc="4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4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kernel</a:t>
            </a:r>
            <a:r>
              <a:rPr sz="3200" spc="4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</a:t>
            </a:r>
            <a:r>
              <a:rPr sz="3200" spc="4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order</a:t>
            </a:r>
            <a:r>
              <a:rPr sz="3200" spc="4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48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execute </a:t>
            </a:r>
            <a:r>
              <a:rPr sz="3200" dirty="0">
                <a:latin typeface="Times New Roman"/>
                <a:cs typeface="Times New Roman"/>
              </a:rPr>
              <a:t>without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causing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exception.</a:t>
            </a:r>
            <a:endParaRPr sz="3200" dirty="0">
              <a:latin typeface="Times New Roman"/>
              <a:cs typeface="Times New Roman"/>
            </a:endParaRPr>
          </a:p>
          <a:p>
            <a:pPr marL="354330" marR="5080" indent="-341630" algn="just">
              <a:lnSpc>
                <a:spcPct val="90000"/>
              </a:lnSpc>
              <a:spcBef>
                <a:spcPts val="71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latin typeface="Times New Roman"/>
                <a:cs typeface="Times New Roman"/>
              </a:rPr>
              <a:t>Memory</a:t>
            </a:r>
            <a:r>
              <a:rPr sz="3200" b="1" spc="360" dirty="0">
                <a:latin typeface="Times New Roman"/>
                <a:cs typeface="Times New Roman"/>
              </a:rPr>
              <a:t>  </a:t>
            </a:r>
            <a:r>
              <a:rPr sz="3200" b="1" dirty="0">
                <a:latin typeface="Times New Roman"/>
                <a:cs typeface="Times New Roman"/>
              </a:rPr>
              <a:t>protection</a:t>
            </a:r>
            <a:r>
              <a:rPr sz="3200" b="1" spc="36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37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7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kernel</a:t>
            </a:r>
            <a:r>
              <a:rPr sz="3200" spc="370" dirty="0">
                <a:latin typeface="Times New Roman"/>
                <a:cs typeface="Times New Roman"/>
              </a:rPr>
              <a:t>  </a:t>
            </a:r>
            <a:r>
              <a:rPr sz="3200" spc="-10" dirty="0">
                <a:latin typeface="Times New Roman"/>
                <a:cs typeface="Times New Roman"/>
              </a:rPr>
              <a:t>address 	</a:t>
            </a:r>
            <a:r>
              <a:rPr sz="3200" dirty="0">
                <a:latin typeface="Times New Roman"/>
                <a:cs typeface="Times New Roman"/>
              </a:rPr>
              <a:t>space</a:t>
            </a:r>
            <a:r>
              <a:rPr sz="3200" spc="1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1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protected</a:t>
            </a:r>
            <a:r>
              <a:rPr sz="3200" spc="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1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level</a:t>
            </a:r>
            <a:r>
              <a:rPr sz="3200" spc="1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instructions. 	</a:t>
            </a:r>
            <a:r>
              <a:rPr lang="en-US" sz="3200" dirty="0">
                <a:latin typeface="Times New Roman"/>
                <a:cs typeface="Times New Roman"/>
              </a:rPr>
              <a:t>Similarly,</a:t>
            </a:r>
            <a:r>
              <a:rPr sz="3200" spc="65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one</a:t>
            </a:r>
            <a:r>
              <a:rPr sz="3200" spc="66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process’</a:t>
            </a:r>
            <a:r>
              <a:rPr sz="3200" spc="54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address</a:t>
            </a:r>
            <a:r>
              <a:rPr sz="3200" spc="66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space</a:t>
            </a:r>
            <a:r>
              <a:rPr sz="3200" spc="660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Times New Roman"/>
                <a:cs typeface="Times New Roman"/>
              </a:rPr>
              <a:t>is 	</a:t>
            </a:r>
            <a:r>
              <a:rPr sz="3200" dirty="0">
                <a:latin typeface="Times New Roman"/>
                <a:cs typeface="Times New Roman"/>
              </a:rPr>
              <a:t>protected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another.</a:t>
            </a:r>
            <a:endParaRPr sz="32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3460"/>
              </a:lnSpc>
              <a:spcBef>
                <a:spcPts val="820"/>
              </a:spcBef>
              <a:buFont typeface="Arial MT"/>
              <a:buChar char="•"/>
              <a:tabLst>
                <a:tab pos="355600" algn="l"/>
                <a:tab pos="456565" algn="l"/>
              </a:tabLst>
            </a:pP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b="1" dirty="0">
                <a:latin typeface="Times New Roman"/>
                <a:cs typeface="Times New Roman"/>
              </a:rPr>
              <a:t>File</a:t>
            </a:r>
            <a:r>
              <a:rPr sz="3200" b="1" spc="6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system</a:t>
            </a:r>
            <a:r>
              <a:rPr sz="3200" b="1" spc="6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6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one</a:t>
            </a:r>
            <a:r>
              <a:rPr sz="3200" spc="6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user’s</a:t>
            </a:r>
            <a:r>
              <a:rPr sz="3200" spc="6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files</a:t>
            </a:r>
            <a:r>
              <a:rPr sz="3200" spc="6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6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protected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another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user.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33855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Goals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6870"/>
            <a:ext cx="8074659" cy="450723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marR="6985" indent="-342900">
              <a:lnSpc>
                <a:spcPct val="80000"/>
              </a:lnSpc>
              <a:spcBef>
                <a:spcPts val="819"/>
              </a:spcBef>
              <a:buFont typeface="Arial MT"/>
              <a:buChar char="•"/>
              <a:tabLst>
                <a:tab pos="355600" algn="l"/>
                <a:tab pos="876935" algn="l"/>
                <a:tab pos="2266315" algn="l"/>
                <a:tab pos="3921760" algn="l"/>
                <a:tab pos="5198110" algn="l"/>
                <a:tab pos="5708650" algn="l"/>
                <a:tab pos="6420485" algn="l"/>
                <a:tab pos="7689850" algn="l"/>
              </a:tabLst>
            </a:pPr>
            <a:r>
              <a:rPr sz="3000" spc="-25" dirty="0">
                <a:latin typeface="Calibri"/>
                <a:cs typeface="Calibri"/>
              </a:rPr>
              <a:t>to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prevent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malicious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misuse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of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the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system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40" dirty="0">
                <a:latin typeface="Calibri"/>
                <a:cs typeface="Calibri"/>
              </a:rPr>
              <a:t>by </a:t>
            </a:r>
            <a:r>
              <a:rPr sz="3000" dirty="0">
                <a:latin typeface="Calibri"/>
                <a:cs typeface="Calibri"/>
              </a:rPr>
              <a:t>users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or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programs.</a:t>
            </a:r>
            <a:endParaRPr sz="3000" dirty="0">
              <a:latin typeface="Calibri"/>
              <a:cs typeface="Calibri"/>
            </a:endParaRPr>
          </a:p>
          <a:p>
            <a:pPr marL="355600" marR="5715" indent="-342900">
              <a:lnSpc>
                <a:spcPts val="288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To</a:t>
            </a:r>
            <a:r>
              <a:rPr sz="3000" spc="11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ensure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11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each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shared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resource</a:t>
            </a:r>
            <a:r>
              <a:rPr sz="3000" spc="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1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used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only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accordance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system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i="1" spc="-10" dirty="0">
                <a:latin typeface="Calibri"/>
                <a:cs typeface="Calibri"/>
              </a:rPr>
              <a:t>policies.</a:t>
            </a:r>
            <a:endParaRPr sz="30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880"/>
              </a:lnSpc>
              <a:spcBef>
                <a:spcPts val="725"/>
              </a:spcBef>
              <a:buFont typeface="Arial MT"/>
              <a:buChar char="•"/>
              <a:tabLst>
                <a:tab pos="355600" algn="l"/>
                <a:tab pos="1016635" algn="l"/>
                <a:tab pos="2379345" algn="l"/>
                <a:tab pos="3318510" algn="l"/>
                <a:tab pos="4580890" algn="l"/>
                <a:tab pos="6358890" algn="l"/>
                <a:tab pos="7543800" algn="l"/>
              </a:tabLst>
            </a:pPr>
            <a:r>
              <a:rPr sz="3000" spc="-25" dirty="0">
                <a:latin typeface="Calibri"/>
                <a:cs typeface="Calibri"/>
              </a:rPr>
              <a:t>To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ensure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that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errant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programs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cause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minimal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amount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damage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possible.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3000" dirty="0">
              <a:latin typeface="Calibri"/>
              <a:cs typeface="Calibri"/>
            </a:endParaRPr>
          </a:p>
          <a:p>
            <a:pPr marL="448309" marR="60325" indent="-382905">
              <a:lnSpc>
                <a:spcPts val="2880"/>
              </a:lnSpc>
            </a:pPr>
            <a:r>
              <a:rPr sz="3000" spc="-10" dirty="0">
                <a:latin typeface="Calibri"/>
                <a:cs typeface="Calibri"/>
              </a:rPr>
              <a:t>System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protection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only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provide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mechanisms</a:t>
            </a:r>
            <a:r>
              <a:rPr sz="3000" i="1" spc="-9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for </a:t>
            </a:r>
            <a:r>
              <a:rPr sz="3000" spc="-10" dirty="0">
                <a:latin typeface="Calibri"/>
                <a:cs typeface="Calibri"/>
              </a:rPr>
              <a:t>enforcing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policies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ensuring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reliable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systems.</a:t>
            </a:r>
            <a:endParaRPr sz="3000" dirty="0">
              <a:latin typeface="Calibri"/>
              <a:cs typeface="Calibri"/>
            </a:endParaRPr>
          </a:p>
          <a:p>
            <a:pPr marL="1894839" marR="100965" indent="-1446530">
              <a:lnSpc>
                <a:spcPts val="2880"/>
              </a:lnSpc>
            </a:pPr>
            <a:r>
              <a:rPr sz="3000" dirty="0">
                <a:latin typeface="Calibri"/>
                <a:cs typeface="Calibri"/>
              </a:rPr>
              <a:t>It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up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administrators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users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implement </a:t>
            </a:r>
            <a:r>
              <a:rPr sz="3000" dirty="0">
                <a:latin typeface="Calibri"/>
                <a:cs typeface="Calibri"/>
              </a:rPr>
              <a:t>those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mechanisms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effectively.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515" y="411898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58240" algn="ctr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Principles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0702" y="1212383"/>
            <a:ext cx="7968615" cy="4578817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b="1" i="1" dirty="0">
                <a:latin typeface="Calibri"/>
                <a:cs typeface="Calibri"/>
              </a:rPr>
              <a:t>Principle</a:t>
            </a:r>
            <a:r>
              <a:rPr sz="3000" b="1" i="1" spc="-90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of</a:t>
            </a:r>
            <a:r>
              <a:rPr sz="3000" b="1" i="1" spc="-85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least</a:t>
            </a:r>
            <a:r>
              <a:rPr sz="3000" b="1" i="1" spc="-85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privilege</a:t>
            </a:r>
            <a:r>
              <a:rPr sz="3000" b="1" i="1" spc="-75" dirty="0">
                <a:latin typeface="Calibri"/>
                <a:cs typeface="Calibri"/>
              </a:rPr>
              <a:t> </a:t>
            </a:r>
            <a:r>
              <a:rPr sz="3000" b="1" i="1" spc="-50" dirty="0">
                <a:latin typeface="Calibri"/>
                <a:cs typeface="Calibri"/>
              </a:rPr>
              <a:t>:</a:t>
            </a:r>
            <a:endParaRPr sz="3000" dirty="0">
              <a:latin typeface="Calibri"/>
              <a:cs typeface="Calibri"/>
            </a:endParaRPr>
          </a:p>
          <a:p>
            <a:pPr marL="756285" marR="322580" lvl="1" indent="-287020">
              <a:lnSpc>
                <a:spcPct val="100000"/>
              </a:lnSpc>
              <a:spcBef>
                <a:spcPts val="65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dictates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programs,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users,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systems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given </a:t>
            </a:r>
            <a:r>
              <a:rPr sz="2600" dirty="0">
                <a:latin typeface="Calibri"/>
                <a:cs typeface="Calibri"/>
              </a:rPr>
              <a:t>just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enough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privileges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tasks.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Ensure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little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damage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even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fails</a:t>
            </a:r>
            <a:endParaRPr sz="26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Example:</a:t>
            </a:r>
            <a:endParaRPr sz="30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5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program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needs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special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privileges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</a:t>
            </a:r>
            <a:r>
              <a:rPr sz="2600" spc="-50" dirty="0">
                <a:latin typeface="Calibri"/>
                <a:cs typeface="Calibri"/>
              </a:rPr>
              <a:t> a </a:t>
            </a:r>
            <a:r>
              <a:rPr sz="2600" dirty="0">
                <a:latin typeface="Calibri"/>
                <a:cs typeface="Calibri"/>
              </a:rPr>
              <a:t>task,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better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make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lang="en-US" sz="2600" b="1" spc="-45" dirty="0">
                <a:latin typeface="Calibri"/>
                <a:cs typeface="Calibri"/>
              </a:rPr>
              <a:t>Set Group ID (</a:t>
            </a:r>
            <a:r>
              <a:rPr sz="2600" b="1" dirty="0">
                <a:latin typeface="Calibri"/>
                <a:cs typeface="Calibri"/>
              </a:rPr>
              <a:t>SGID</a:t>
            </a:r>
            <a:r>
              <a:rPr lang="en-US" sz="2600" b="1" dirty="0">
                <a:latin typeface="Calibri"/>
                <a:cs typeface="Calibri"/>
              </a:rPr>
              <a:t>)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program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group </a:t>
            </a:r>
            <a:r>
              <a:rPr sz="2600" dirty="0">
                <a:latin typeface="Calibri"/>
                <a:cs typeface="Calibri"/>
              </a:rPr>
              <a:t>ownership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"network"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"backup"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other </a:t>
            </a:r>
            <a:r>
              <a:rPr sz="2600" dirty="0">
                <a:latin typeface="Calibri"/>
                <a:cs typeface="Calibri"/>
              </a:rPr>
              <a:t>pseudo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group,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rather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lang="en-US" sz="2600" b="1" spc="-65" dirty="0">
                <a:latin typeface="Calibri"/>
                <a:cs typeface="Calibri"/>
              </a:rPr>
              <a:t>Set User ID(</a:t>
            </a:r>
            <a:r>
              <a:rPr sz="2600" b="1" dirty="0">
                <a:latin typeface="Calibri"/>
                <a:cs typeface="Calibri"/>
              </a:rPr>
              <a:t>SUID</a:t>
            </a:r>
            <a:r>
              <a:rPr lang="en-US" sz="2600" b="1" dirty="0">
                <a:latin typeface="Calibri"/>
                <a:cs typeface="Calibri"/>
              </a:rPr>
              <a:t>)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root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ownership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36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2176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Domain</a:t>
            </a:r>
            <a:r>
              <a:rPr b="1" spc="-10" dirty="0"/>
              <a:t> </a:t>
            </a:r>
            <a:r>
              <a:rPr b="1" dirty="0"/>
              <a:t>of </a:t>
            </a:r>
            <a:r>
              <a:rPr b="1" spc="-10" dirty="0"/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4000"/>
            <a:ext cx="7870825" cy="4124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1402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Computer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consists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objects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process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Objects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consists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both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hardware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objects </a:t>
            </a:r>
            <a:r>
              <a:rPr sz="3200" dirty="0">
                <a:latin typeface="Calibri"/>
                <a:cs typeface="Calibri"/>
              </a:rPr>
              <a:t>(CPU,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Memory)and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software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objects(files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programs)</a:t>
            </a:r>
            <a:endParaRPr sz="3200" dirty="0">
              <a:latin typeface="Calibri"/>
              <a:cs typeface="Calibri"/>
            </a:endParaRPr>
          </a:p>
          <a:p>
            <a:pPr marL="355600" marR="13779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Each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domain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defines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objects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types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operations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invoked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on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object.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9695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Domain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Protection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20050" cy="3893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746125" indent="-34163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access</a:t>
            </a:r>
            <a:r>
              <a:rPr sz="3200" b="1" i="1" spc="-6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right</a:t>
            </a:r>
            <a:r>
              <a:rPr sz="3200" b="1" i="1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ability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execute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 	</a:t>
            </a:r>
            <a:r>
              <a:rPr sz="3200" spc="-10" dirty="0">
                <a:latin typeface="Calibri"/>
                <a:cs typeface="Calibri"/>
              </a:rPr>
              <a:t>operation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object.</a:t>
            </a:r>
            <a:endParaRPr sz="3200" dirty="0">
              <a:latin typeface="Calibri"/>
              <a:cs typeface="Calibri"/>
            </a:endParaRPr>
          </a:p>
          <a:p>
            <a:pPr marL="354965" indent="-34226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domain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defined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</a:t>
            </a:r>
            <a:endParaRPr sz="3200" dirty="0">
              <a:latin typeface="Calibri"/>
              <a:cs typeface="Calibri"/>
            </a:endParaRPr>
          </a:p>
          <a:p>
            <a:pPr marL="756285" lvl="1" indent="-286385" algn="just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&lt;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object,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{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right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}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&gt;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pairs</a:t>
            </a:r>
            <a:endParaRPr sz="2800" dirty="0">
              <a:latin typeface="Calibri"/>
              <a:cs typeface="Calibri"/>
            </a:endParaRPr>
          </a:p>
          <a:p>
            <a:pPr marL="756285" lvl="1" indent="-286385" algn="just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Example</a:t>
            </a:r>
            <a:r>
              <a:rPr sz="2800" spc="5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right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&lt;file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F,</a:t>
            </a:r>
            <a:endParaRPr sz="2800" b="1" dirty="0">
              <a:latin typeface="Calibri"/>
              <a:cs typeface="Calibri"/>
            </a:endParaRPr>
          </a:p>
          <a:p>
            <a:pPr marL="756285" marR="5080" algn="just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Calibri"/>
                <a:cs typeface="Calibri"/>
              </a:rPr>
              <a:t>{read,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write}&gt;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executing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domain </a:t>
            </a:r>
            <a:r>
              <a:rPr sz="2800" dirty="0">
                <a:latin typeface="Calibri"/>
                <a:cs typeface="Calibri"/>
              </a:rPr>
              <a:t>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both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write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40" dirty="0">
                <a:latin typeface="Calibri"/>
                <a:cs typeface="Calibri"/>
              </a:rPr>
              <a:t>F.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However,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can’t </a:t>
            </a:r>
            <a:r>
              <a:rPr sz="2800" dirty="0">
                <a:latin typeface="Calibri"/>
                <a:cs typeface="Calibri"/>
              </a:rPr>
              <a:t>perform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operation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it.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16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69695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Domain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Protection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524000"/>
            <a:ext cx="8347267" cy="26890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2000" y="4343400"/>
            <a:ext cx="7086600" cy="1143000"/>
          </a:xfrm>
          <a:prstGeom prst="rect">
            <a:avLst/>
          </a:prstGeom>
          <a:ln w="25400">
            <a:solidFill>
              <a:srgbClr val="F79546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40"/>
              </a:spcBef>
            </a:pPr>
            <a:endParaRPr sz="1800">
              <a:latin typeface="Times New Roman"/>
              <a:cs typeface="Times New Roman"/>
            </a:endParaRPr>
          </a:p>
          <a:p>
            <a:pPr marL="13335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Domain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overlap: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Permission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overlap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available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domains.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16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894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Protection</a:t>
            </a:r>
            <a:r>
              <a:rPr b="1" spc="-185" dirty="0"/>
              <a:t> </a:t>
            </a:r>
            <a:r>
              <a:rPr b="1" spc="-10" dirty="0"/>
              <a:t>Domain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8073390" cy="3348354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domain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realized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various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way:</a:t>
            </a:r>
            <a:endParaRPr sz="3200" dirty="0">
              <a:latin typeface="Calibri"/>
              <a:cs typeface="Calibri"/>
            </a:endParaRPr>
          </a:p>
          <a:p>
            <a:pPr marL="756285" marR="5715" lvl="1" indent="-287020" algn="just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have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domain.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object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accessed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depends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upon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b="1" dirty="0">
                <a:latin typeface="Calibri"/>
                <a:cs typeface="Calibri"/>
              </a:rPr>
              <a:t>identity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user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have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domain.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set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object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accessed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depends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upon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identity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1989">
              <a:lnSpc>
                <a:spcPct val="100000"/>
              </a:lnSpc>
              <a:spcBef>
                <a:spcPts val="105"/>
              </a:spcBef>
            </a:pPr>
            <a:r>
              <a:rPr b="1" dirty="0"/>
              <a:t>Crossing</a:t>
            </a:r>
            <a:r>
              <a:rPr b="1" spc="-220" dirty="0"/>
              <a:t> </a:t>
            </a:r>
            <a:r>
              <a:rPr b="1" spc="-10" dirty="0"/>
              <a:t>Domain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8965"/>
            <a:ext cx="8046720" cy="2660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912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We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want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controlled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resources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don’t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direct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to.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e.g.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database,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particular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hardware,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networks</a:t>
            </a:r>
            <a:endParaRPr sz="3200" dirty="0">
              <a:latin typeface="Calibri"/>
              <a:cs typeface="Calibri"/>
            </a:endParaRPr>
          </a:p>
          <a:p>
            <a:pPr marL="355600" marR="3429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So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give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program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that </a:t>
            </a:r>
            <a:r>
              <a:rPr sz="3200" dirty="0">
                <a:latin typeface="Calibri"/>
                <a:cs typeface="Calibri"/>
              </a:rPr>
              <a:t>does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restricted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resource.</a:t>
            </a:r>
            <a:endParaRPr sz="32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5500" y="4406900"/>
            <a:ext cx="7569200" cy="1397635"/>
            <a:chOff x="825500" y="4406900"/>
            <a:chExt cx="7569200" cy="1397635"/>
          </a:xfrm>
        </p:grpSpPr>
        <p:sp>
          <p:nvSpPr>
            <p:cNvPr id="5" name="object 5"/>
            <p:cNvSpPr/>
            <p:nvPr/>
          </p:nvSpPr>
          <p:spPr>
            <a:xfrm>
              <a:off x="838200" y="4419612"/>
              <a:ext cx="7543800" cy="1371600"/>
            </a:xfrm>
            <a:custGeom>
              <a:avLst/>
              <a:gdLst/>
              <a:ahLst/>
              <a:cxnLst/>
              <a:rect l="l" t="t" r="r" b="b"/>
              <a:pathLst>
                <a:path w="7543800" h="1371600">
                  <a:moveTo>
                    <a:pt x="4514092" y="1358900"/>
                  </a:moveTo>
                  <a:lnTo>
                    <a:pt x="3029707" y="1358900"/>
                  </a:lnTo>
                  <a:lnTo>
                    <a:pt x="3101941" y="1371600"/>
                  </a:lnTo>
                  <a:lnTo>
                    <a:pt x="4441858" y="1371600"/>
                  </a:lnTo>
                  <a:lnTo>
                    <a:pt x="4514092" y="1358900"/>
                  </a:lnTo>
                  <a:close/>
                </a:path>
                <a:path w="7543800" h="1371600">
                  <a:moveTo>
                    <a:pt x="4797959" y="1346200"/>
                  </a:moveTo>
                  <a:lnTo>
                    <a:pt x="2745840" y="1346200"/>
                  </a:lnTo>
                  <a:lnTo>
                    <a:pt x="2816018" y="1358900"/>
                  </a:lnTo>
                  <a:lnTo>
                    <a:pt x="4727781" y="1358900"/>
                  </a:lnTo>
                  <a:lnTo>
                    <a:pt x="4797959" y="1346200"/>
                  </a:lnTo>
                  <a:close/>
                </a:path>
                <a:path w="7543800" h="1371600">
                  <a:moveTo>
                    <a:pt x="5073038" y="1333500"/>
                  </a:moveTo>
                  <a:lnTo>
                    <a:pt x="2470761" y="1333500"/>
                  </a:lnTo>
                  <a:lnTo>
                    <a:pt x="2538657" y="1346200"/>
                  </a:lnTo>
                  <a:lnTo>
                    <a:pt x="5005142" y="1346200"/>
                  </a:lnTo>
                  <a:lnTo>
                    <a:pt x="5073038" y="1333500"/>
                  </a:lnTo>
                  <a:close/>
                </a:path>
                <a:path w="7543800" h="1371600">
                  <a:moveTo>
                    <a:pt x="5207002" y="1320800"/>
                  </a:moveTo>
                  <a:lnTo>
                    <a:pt x="2336797" y="1320800"/>
                  </a:lnTo>
                  <a:lnTo>
                    <a:pt x="2403469" y="1333500"/>
                  </a:lnTo>
                  <a:lnTo>
                    <a:pt x="5140330" y="1333500"/>
                  </a:lnTo>
                  <a:lnTo>
                    <a:pt x="5207002" y="1320800"/>
                  </a:lnTo>
                  <a:close/>
                </a:path>
                <a:path w="7543800" h="1371600">
                  <a:moveTo>
                    <a:pt x="5403159" y="1308100"/>
                  </a:moveTo>
                  <a:lnTo>
                    <a:pt x="2140640" y="1308100"/>
                  </a:lnTo>
                  <a:lnTo>
                    <a:pt x="2205369" y="1320800"/>
                  </a:lnTo>
                  <a:lnTo>
                    <a:pt x="5338430" y="1320800"/>
                  </a:lnTo>
                  <a:lnTo>
                    <a:pt x="5403159" y="1308100"/>
                  </a:lnTo>
                  <a:close/>
                </a:path>
                <a:path w="7543800" h="1371600">
                  <a:moveTo>
                    <a:pt x="5530574" y="1295400"/>
                  </a:moveTo>
                  <a:lnTo>
                    <a:pt x="2013225" y="1295400"/>
                  </a:lnTo>
                  <a:lnTo>
                    <a:pt x="2076588" y="1308100"/>
                  </a:lnTo>
                  <a:lnTo>
                    <a:pt x="5467211" y="1308100"/>
                  </a:lnTo>
                  <a:lnTo>
                    <a:pt x="5530574" y="1295400"/>
                  </a:lnTo>
                  <a:close/>
                </a:path>
                <a:path w="7543800" h="1371600">
                  <a:moveTo>
                    <a:pt x="5655173" y="1282700"/>
                  </a:moveTo>
                  <a:lnTo>
                    <a:pt x="1888626" y="1282700"/>
                  </a:lnTo>
                  <a:lnTo>
                    <a:pt x="1950566" y="1295400"/>
                  </a:lnTo>
                  <a:lnTo>
                    <a:pt x="5593233" y="1295400"/>
                  </a:lnTo>
                  <a:lnTo>
                    <a:pt x="5655173" y="1282700"/>
                  </a:lnTo>
                  <a:close/>
                </a:path>
                <a:path w="7543800" h="1371600">
                  <a:moveTo>
                    <a:pt x="5776843" y="1270000"/>
                  </a:moveTo>
                  <a:lnTo>
                    <a:pt x="1766956" y="1270000"/>
                  </a:lnTo>
                  <a:lnTo>
                    <a:pt x="1827418" y="1282700"/>
                  </a:lnTo>
                  <a:lnTo>
                    <a:pt x="5716381" y="1282700"/>
                  </a:lnTo>
                  <a:lnTo>
                    <a:pt x="5776843" y="1270000"/>
                  </a:lnTo>
                  <a:close/>
                </a:path>
                <a:path w="7543800" h="1371600">
                  <a:moveTo>
                    <a:pt x="5895471" y="1257300"/>
                  </a:moveTo>
                  <a:lnTo>
                    <a:pt x="1648328" y="1257300"/>
                  </a:lnTo>
                  <a:lnTo>
                    <a:pt x="1707255" y="1270000"/>
                  </a:lnTo>
                  <a:lnTo>
                    <a:pt x="5836544" y="1270000"/>
                  </a:lnTo>
                  <a:lnTo>
                    <a:pt x="5895471" y="1257300"/>
                  </a:lnTo>
                  <a:close/>
                </a:path>
                <a:path w="7543800" h="1371600">
                  <a:moveTo>
                    <a:pt x="6067463" y="1231900"/>
                  </a:moveTo>
                  <a:lnTo>
                    <a:pt x="1476336" y="1231900"/>
                  </a:lnTo>
                  <a:lnTo>
                    <a:pt x="1590190" y="1257300"/>
                  </a:lnTo>
                  <a:lnTo>
                    <a:pt x="5953609" y="1257300"/>
                  </a:lnTo>
                  <a:lnTo>
                    <a:pt x="6067463" y="1231900"/>
                  </a:lnTo>
                  <a:close/>
                </a:path>
                <a:path w="7543800" h="1371600">
                  <a:moveTo>
                    <a:pt x="6231978" y="1206500"/>
                  </a:moveTo>
                  <a:lnTo>
                    <a:pt x="1311821" y="1206500"/>
                  </a:lnTo>
                  <a:lnTo>
                    <a:pt x="1420648" y="1231900"/>
                  </a:lnTo>
                  <a:lnTo>
                    <a:pt x="6123151" y="1231900"/>
                  </a:lnTo>
                  <a:lnTo>
                    <a:pt x="6231978" y="1206500"/>
                  </a:lnTo>
                  <a:close/>
                </a:path>
                <a:path w="7543800" h="1371600">
                  <a:moveTo>
                    <a:pt x="6388635" y="1181100"/>
                  </a:moveTo>
                  <a:lnTo>
                    <a:pt x="1155164" y="1181100"/>
                  </a:lnTo>
                  <a:lnTo>
                    <a:pt x="1258710" y="1206500"/>
                  </a:lnTo>
                  <a:lnTo>
                    <a:pt x="6285089" y="1206500"/>
                  </a:lnTo>
                  <a:lnTo>
                    <a:pt x="6388635" y="1181100"/>
                  </a:lnTo>
                  <a:close/>
                </a:path>
                <a:path w="7543800" h="1371600">
                  <a:moveTo>
                    <a:pt x="6584631" y="1143000"/>
                  </a:moveTo>
                  <a:lnTo>
                    <a:pt x="959168" y="1143000"/>
                  </a:lnTo>
                  <a:lnTo>
                    <a:pt x="1104757" y="1181100"/>
                  </a:lnTo>
                  <a:lnTo>
                    <a:pt x="6439042" y="1181100"/>
                  </a:lnTo>
                  <a:lnTo>
                    <a:pt x="6584631" y="1143000"/>
                  </a:lnTo>
                  <a:close/>
                </a:path>
                <a:path w="7543800" h="1371600">
                  <a:moveTo>
                    <a:pt x="6765079" y="1104900"/>
                  </a:moveTo>
                  <a:lnTo>
                    <a:pt x="778720" y="1104900"/>
                  </a:lnTo>
                  <a:lnTo>
                    <a:pt x="912564" y="1143000"/>
                  </a:lnTo>
                  <a:lnTo>
                    <a:pt x="6631235" y="1143000"/>
                  </a:lnTo>
                  <a:lnTo>
                    <a:pt x="6765079" y="1104900"/>
                  </a:lnTo>
                  <a:close/>
                </a:path>
                <a:path w="7543800" h="1371600">
                  <a:moveTo>
                    <a:pt x="7040742" y="1028700"/>
                  </a:moveTo>
                  <a:lnTo>
                    <a:pt x="503057" y="1028700"/>
                  </a:lnTo>
                  <a:lnTo>
                    <a:pt x="539170" y="1041400"/>
                  </a:lnTo>
                  <a:lnTo>
                    <a:pt x="576396" y="1054100"/>
                  </a:lnTo>
                  <a:lnTo>
                    <a:pt x="654129" y="1079500"/>
                  </a:lnTo>
                  <a:lnTo>
                    <a:pt x="736143" y="1104900"/>
                  </a:lnTo>
                  <a:lnTo>
                    <a:pt x="6807656" y="1104900"/>
                  </a:lnTo>
                  <a:lnTo>
                    <a:pt x="6889670" y="1079500"/>
                  </a:lnTo>
                  <a:lnTo>
                    <a:pt x="6967403" y="1054100"/>
                  </a:lnTo>
                  <a:lnTo>
                    <a:pt x="7004629" y="1041400"/>
                  </a:lnTo>
                  <a:lnTo>
                    <a:pt x="7040742" y="1028700"/>
                  </a:lnTo>
                  <a:close/>
                </a:path>
                <a:path w="7543800" h="1371600">
                  <a:moveTo>
                    <a:pt x="7075729" y="355600"/>
                  </a:moveTo>
                  <a:lnTo>
                    <a:pt x="468076" y="355600"/>
                  </a:lnTo>
                  <a:lnTo>
                    <a:pt x="434230" y="368300"/>
                  </a:lnTo>
                  <a:lnTo>
                    <a:pt x="370017" y="393700"/>
                  </a:lnTo>
                  <a:lnTo>
                    <a:pt x="310535" y="419100"/>
                  </a:lnTo>
                  <a:lnTo>
                    <a:pt x="255897" y="444500"/>
                  </a:lnTo>
                  <a:lnTo>
                    <a:pt x="206217" y="469900"/>
                  </a:lnTo>
                  <a:lnTo>
                    <a:pt x="161607" y="495300"/>
                  </a:lnTo>
                  <a:lnTo>
                    <a:pt x="122179" y="520700"/>
                  </a:lnTo>
                  <a:lnTo>
                    <a:pt x="88046" y="546100"/>
                  </a:lnTo>
                  <a:lnTo>
                    <a:pt x="59321" y="571500"/>
                  </a:lnTo>
                  <a:lnTo>
                    <a:pt x="26619" y="609600"/>
                  </a:lnTo>
                  <a:lnTo>
                    <a:pt x="6718" y="647700"/>
                  </a:lnTo>
                  <a:lnTo>
                    <a:pt x="0" y="685800"/>
                  </a:lnTo>
                  <a:lnTo>
                    <a:pt x="751" y="711200"/>
                  </a:lnTo>
                  <a:lnTo>
                    <a:pt x="11904" y="749300"/>
                  </a:lnTo>
                  <a:lnTo>
                    <a:pt x="36113" y="787400"/>
                  </a:lnTo>
                  <a:lnTo>
                    <a:pt x="72997" y="825500"/>
                  </a:lnTo>
                  <a:lnTo>
                    <a:pt x="104439" y="850900"/>
                  </a:lnTo>
                  <a:lnTo>
                    <a:pt x="141233" y="876300"/>
                  </a:lnTo>
                  <a:lnTo>
                    <a:pt x="183266" y="901700"/>
                  </a:lnTo>
                  <a:lnTo>
                    <a:pt x="230426" y="927100"/>
                  </a:lnTo>
                  <a:lnTo>
                    <a:pt x="282598" y="952500"/>
                  </a:lnTo>
                  <a:lnTo>
                    <a:pt x="339672" y="977900"/>
                  </a:lnTo>
                  <a:lnTo>
                    <a:pt x="401533" y="1003300"/>
                  </a:lnTo>
                  <a:lnTo>
                    <a:pt x="468070" y="1028700"/>
                  </a:lnTo>
                  <a:lnTo>
                    <a:pt x="7075729" y="1028700"/>
                  </a:lnTo>
                  <a:lnTo>
                    <a:pt x="7142266" y="1003300"/>
                  </a:lnTo>
                  <a:lnTo>
                    <a:pt x="7204127" y="977900"/>
                  </a:lnTo>
                  <a:lnTo>
                    <a:pt x="7261201" y="952500"/>
                  </a:lnTo>
                  <a:lnTo>
                    <a:pt x="7313373" y="927100"/>
                  </a:lnTo>
                  <a:lnTo>
                    <a:pt x="7360533" y="901700"/>
                  </a:lnTo>
                  <a:lnTo>
                    <a:pt x="7402566" y="876300"/>
                  </a:lnTo>
                  <a:lnTo>
                    <a:pt x="7439360" y="850900"/>
                  </a:lnTo>
                  <a:lnTo>
                    <a:pt x="7470802" y="825500"/>
                  </a:lnTo>
                  <a:lnTo>
                    <a:pt x="7507686" y="787400"/>
                  </a:lnTo>
                  <a:lnTo>
                    <a:pt x="7531895" y="749300"/>
                  </a:lnTo>
                  <a:lnTo>
                    <a:pt x="7543048" y="711200"/>
                  </a:lnTo>
                  <a:lnTo>
                    <a:pt x="7543800" y="685800"/>
                  </a:lnTo>
                  <a:lnTo>
                    <a:pt x="7543048" y="673100"/>
                  </a:lnTo>
                  <a:lnTo>
                    <a:pt x="7531895" y="635000"/>
                  </a:lnTo>
                  <a:lnTo>
                    <a:pt x="7507686" y="596900"/>
                  </a:lnTo>
                  <a:lnTo>
                    <a:pt x="7470802" y="558800"/>
                  </a:lnTo>
                  <a:lnTo>
                    <a:pt x="7439360" y="533400"/>
                  </a:lnTo>
                  <a:lnTo>
                    <a:pt x="7402566" y="508000"/>
                  </a:lnTo>
                  <a:lnTo>
                    <a:pt x="7360533" y="482600"/>
                  </a:lnTo>
                  <a:lnTo>
                    <a:pt x="7313373" y="457200"/>
                  </a:lnTo>
                  <a:lnTo>
                    <a:pt x="7261201" y="431800"/>
                  </a:lnTo>
                  <a:lnTo>
                    <a:pt x="7204127" y="406400"/>
                  </a:lnTo>
                  <a:lnTo>
                    <a:pt x="7142266" y="381000"/>
                  </a:lnTo>
                  <a:lnTo>
                    <a:pt x="7075729" y="355600"/>
                  </a:lnTo>
                  <a:close/>
                </a:path>
                <a:path w="7543800" h="1371600">
                  <a:moveTo>
                    <a:pt x="6807656" y="279400"/>
                  </a:moveTo>
                  <a:lnTo>
                    <a:pt x="736148" y="279400"/>
                  </a:lnTo>
                  <a:lnTo>
                    <a:pt x="694613" y="292100"/>
                  </a:lnTo>
                  <a:lnTo>
                    <a:pt x="614726" y="317500"/>
                  </a:lnTo>
                  <a:lnTo>
                    <a:pt x="539176" y="342900"/>
                  </a:lnTo>
                  <a:lnTo>
                    <a:pt x="503063" y="355600"/>
                  </a:lnTo>
                  <a:lnTo>
                    <a:pt x="7040742" y="355600"/>
                  </a:lnTo>
                  <a:lnTo>
                    <a:pt x="7004629" y="342900"/>
                  </a:lnTo>
                  <a:lnTo>
                    <a:pt x="6929079" y="317500"/>
                  </a:lnTo>
                  <a:lnTo>
                    <a:pt x="6849191" y="292100"/>
                  </a:lnTo>
                  <a:lnTo>
                    <a:pt x="6807656" y="279400"/>
                  </a:lnTo>
                  <a:close/>
                </a:path>
                <a:path w="7543800" h="1371600">
                  <a:moveTo>
                    <a:pt x="6631235" y="241300"/>
                  </a:moveTo>
                  <a:lnTo>
                    <a:pt x="912569" y="241300"/>
                  </a:lnTo>
                  <a:lnTo>
                    <a:pt x="778726" y="279400"/>
                  </a:lnTo>
                  <a:lnTo>
                    <a:pt x="6765079" y="279400"/>
                  </a:lnTo>
                  <a:lnTo>
                    <a:pt x="6631235" y="241300"/>
                  </a:lnTo>
                  <a:close/>
                </a:path>
                <a:path w="7543800" h="1371600">
                  <a:moveTo>
                    <a:pt x="6439042" y="203200"/>
                  </a:moveTo>
                  <a:lnTo>
                    <a:pt x="1104761" y="203200"/>
                  </a:lnTo>
                  <a:lnTo>
                    <a:pt x="959174" y="241300"/>
                  </a:lnTo>
                  <a:lnTo>
                    <a:pt x="6584631" y="241300"/>
                  </a:lnTo>
                  <a:lnTo>
                    <a:pt x="6439042" y="203200"/>
                  </a:lnTo>
                  <a:close/>
                </a:path>
                <a:path w="7543800" h="1371600">
                  <a:moveTo>
                    <a:pt x="6285089" y="177800"/>
                  </a:moveTo>
                  <a:lnTo>
                    <a:pt x="1258714" y="177800"/>
                  </a:lnTo>
                  <a:lnTo>
                    <a:pt x="1155168" y="203200"/>
                  </a:lnTo>
                  <a:lnTo>
                    <a:pt x="6388635" y="203200"/>
                  </a:lnTo>
                  <a:lnTo>
                    <a:pt x="6285089" y="177800"/>
                  </a:lnTo>
                  <a:close/>
                </a:path>
                <a:path w="7543800" h="1371600">
                  <a:moveTo>
                    <a:pt x="6123151" y="152400"/>
                  </a:moveTo>
                  <a:lnTo>
                    <a:pt x="1420652" y="152400"/>
                  </a:lnTo>
                  <a:lnTo>
                    <a:pt x="1311825" y="177800"/>
                  </a:lnTo>
                  <a:lnTo>
                    <a:pt x="6231978" y="177800"/>
                  </a:lnTo>
                  <a:lnTo>
                    <a:pt x="6123151" y="152400"/>
                  </a:lnTo>
                  <a:close/>
                </a:path>
                <a:path w="7543800" h="1371600">
                  <a:moveTo>
                    <a:pt x="5953609" y="127000"/>
                  </a:moveTo>
                  <a:lnTo>
                    <a:pt x="1590193" y="127000"/>
                  </a:lnTo>
                  <a:lnTo>
                    <a:pt x="1476339" y="152400"/>
                  </a:lnTo>
                  <a:lnTo>
                    <a:pt x="6067463" y="152400"/>
                  </a:lnTo>
                  <a:lnTo>
                    <a:pt x="5953609" y="127000"/>
                  </a:lnTo>
                  <a:close/>
                </a:path>
                <a:path w="7543800" h="1371600">
                  <a:moveTo>
                    <a:pt x="5836544" y="114300"/>
                  </a:moveTo>
                  <a:lnTo>
                    <a:pt x="1707258" y="114300"/>
                  </a:lnTo>
                  <a:lnTo>
                    <a:pt x="1648331" y="127000"/>
                  </a:lnTo>
                  <a:lnTo>
                    <a:pt x="5895471" y="127000"/>
                  </a:lnTo>
                  <a:lnTo>
                    <a:pt x="5836544" y="114300"/>
                  </a:lnTo>
                  <a:close/>
                </a:path>
                <a:path w="7543800" h="1371600">
                  <a:moveTo>
                    <a:pt x="5716381" y="101600"/>
                  </a:moveTo>
                  <a:lnTo>
                    <a:pt x="1827421" y="101600"/>
                  </a:lnTo>
                  <a:lnTo>
                    <a:pt x="1766959" y="114300"/>
                  </a:lnTo>
                  <a:lnTo>
                    <a:pt x="5776843" y="114300"/>
                  </a:lnTo>
                  <a:lnTo>
                    <a:pt x="5716381" y="101600"/>
                  </a:lnTo>
                  <a:close/>
                </a:path>
                <a:path w="7543800" h="1371600">
                  <a:moveTo>
                    <a:pt x="5593233" y="88900"/>
                  </a:moveTo>
                  <a:lnTo>
                    <a:pt x="1950569" y="88900"/>
                  </a:lnTo>
                  <a:lnTo>
                    <a:pt x="1888629" y="101600"/>
                  </a:lnTo>
                  <a:lnTo>
                    <a:pt x="5655173" y="101600"/>
                  </a:lnTo>
                  <a:lnTo>
                    <a:pt x="5593233" y="88900"/>
                  </a:lnTo>
                  <a:close/>
                </a:path>
                <a:path w="7543800" h="1371600">
                  <a:moveTo>
                    <a:pt x="5467211" y="76200"/>
                  </a:moveTo>
                  <a:lnTo>
                    <a:pt x="2076590" y="76200"/>
                  </a:lnTo>
                  <a:lnTo>
                    <a:pt x="2013227" y="88900"/>
                  </a:lnTo>
                  <a:lnTo>
                    <a:pt x="5530574" y="88900"/>
                  </a:lnTo>
                  <a:lnTo>
                    <a:pt x="5467211" y="76200"/>
                  </a:lnTo>
                  <a:close/>
                </a:path>
                <a:path w="7543800" h="1371600">
                  <a:moveTo>
                    <a:pt x="5338430" y="63500"/>
                  </a:moveTo>
                  <a:lnTo>
                    <a:pt x="2205371" y="63500"/>
                  </a:lnTo>
                  <a:lnTo>
                    <a:pt x="2140642" y="76200"/>
                  </a:lnTo>
                  <a:lnTo>
                    <a:pt x="5403159" y="76200"/>
                  </a:lnTo>
                  <a:lnTo>
                    <a:pt x="5338430" y="63500"/>
                  </a:lnTo>
                  <a:close/>
                </a:path>
                <a:path w="7543800" h="1371600">
                  <a:moveTo>
                    <a:pt x="5140330" y="50800"/>
                  </a:moveTo>
                  <a:lnTo>
                    <a:pt x="2403471" y="50800"/>
                  </a:lnTo>
                  <a:lnTo>
                    <a:pt x="2336799" y="63500"/>
                  </a:lnTo>
                  <a:lnTo>
                    <a:pt x="5207002" y="63500"/>
                  </a:lnTo>
                  <a:lnTo>
                    <a:pt x="5140330" y="50800"/>
                  </a:lnTo>
                  <a:close/>
                </a:path>
                <a:path w="7543800" h="1371600">
                  <a:moveTo>
                    <a:pt x="5005142" y="38100"/>
                  </a:moveTo>
                  <a:lnTo>
                    <a:pt x="2538659" y="38100"/>
                  </a:lnTo>
                  <a:lnTo>
                    <a:pt x="2470762" y="50800"/>
                  </a:lnTo>
                  <a:lnTo>
                    <a:pt x="5073038" y="50800"/>
                  </a:lnTo>
                  <a:lnTo>
                    <a:pt x="5005142" y="38100"/>
                  </a:lnTo>
                  <a:close/>
                </a:path>
                <a:path w="7543800" h="1371600">
                  <a:moveTo>
                    <a:pt x="4727781" y="25400"/>
                  </a:moveTo>
                  <a:lnTo>
                    <a:pt x="2816019" y="25400"/>
                  </a:lnTo>
                  <a:lnTo>
                    <a:pt x="2745841" y="38100"/>
                  </a:lnTo>
                  <a:lnTo>
                    <a:pt x="4797959" y="38100"/>
                  </a:lnTo>
                  <a:lnTo>
                    <a:pt x="4727781" y="25400"/>
                  </a:lnTo>
                  <a:close/>
                </a:path>
                <a:path w="7543800" h="1371600">
                  <a:moveTo>
                    <a:pt x="4441858" y="12700"/>
                  </a:moveTo>
                  <a:lnTo>
                    <a:pt x="3101941" y="12700"/>
                  </a:lnTo>
                  <a:lnTo>
                    <a:pt x="3029707" y="25400"/>
                  </a:lnTo>
                  <a:lnTo>
                    <a:pt x="4514092" y="25400"/>
                  </a:lnTo>
                  <a:lnTo>
                    <a:pt x="4441858" y="12700"/>
                  </a:lnTo>
                  <a:close/>
                </a:path>
                <a:path w="7543800" h="1371600">
                  <a:moveTo>
                    <a:pt x="3771900" y="0"/>
                  </a:moveTo>
                  <a:lnTo>
                    <a:pt x="3695864" y="12700"/>
                  </a:lnTo>
                  <a:lnTo>
                    <a:pt x="3847935" y="12700"/>
                  </a:lnTo>
                  <a:lnTo>
                    <a:pt x="3771900" y="0"/>
                  </a:lnTo>
                  <a:close/>
                </a:path>
              </a:pathLst>
            </a:custGeom>
            <a:solidFill>
              <a:srgbClr val="D995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8200" y="4419600"/>
              <a:ext cx="7543800" cy="1372235"/>
            </a:xfrm>
            <a:custGeom>
              <a:avLst/>
              <a:gdLst/>
              <a:ahLst/>
              <a:cxnLst/>
              <a:rect l="l" t="t" r="r" b="b"/>
              <a:pathLst>
                <a:path w="7543800" h="1372235">
                  <a:moveTo>
                    <a:pt x="0" y="685800"/>
                  </a:moveTo>
                  <a:lnTo>
                    <a:pt x="6718" y="644532"/>
                  </a:lnTo>
                  <a:lnTo>
                    <a:pt x="26619" y="603910"/>
                  </a:lnTo>
                  <a:lnTo>
                    <a:pt x="59321" y="564001"/>
                  </a:lnTo>
                  <a:lnTo>
                    <a:pt x="88046" y="537825"/>
                  </a:lnTo>
                  <a:lnTo>
                    <a:pt x="122179" y="512019"/>
                  </a:lnTo>
                  <a:lnTo>
                    <a:pt x="161607" y="486600"/>
                  </a:lnTo>
                  <a:lnTo>
                    <a:pt x="206217" y="461592"/>
                  </a:lnTo>
                  <a:lnTo>
                    <a:pt x="255897" y="437013"/>
                  </a:lnTo>
                  <a:lnTo>
                    <a:pt x="310535" y="412885"/>
                  </a:lnTo>
                  <a:lnTo>
                    <a:pt x="370017" y="389227"/>
                  </a:lnTo>
                  <a:lnTo>
                    <a:pt x="434230" y="366061"/>
                  </a:lnTo>
                  <a:lnTo>
                    <a:pt x="503063" y="343407"/>
                  </a:lnTo>
                  <a:lnTo>
                    <a:pt x="576402" y="321285"/>
                  </a:lnTo>
                  <a:lnTo>
                    <a:pt x="614726" y="310430"/>
                  </a:lnTo>
                  <a:lnTo>
                    <a:pt x="654135" y="299716"/>
                  </a:lnTo>
                  <a:lnTo>
                    <a:pt x="694613" y="289145"/>
                  </a:lnTo>
                  <a:lnTo>
                    <a:pt x="736148" y="278720"/>
                  </a:lnTo>
                  <a:lnTo>
                    <a:pt x="778726" y="268444"/>
                  </a:lnTo>
                  <a:lnTo>
                    <a:pt x="822331" y="258319"/>
                  </a:lnTo>
                  <a:lnTo>
                    <a:pt x="866950" y="248347"/>
                  </a:lnTo>
                  <a:lnTo>
                    <a:pt x="912569" y="238531"/>
                  </a:lnTo>
                  <a:lnTo>
                    <a:pt x="959174" y="228874"/>
                  </a:lnTo>
                  <a:lnTo>
                    <a:pt x="1006750" y="219379"/>
                  </a:lnTo>
                  <a:lnTo>
                    <a:pt x="1055284" y="210047"/>
                  </a:lnTo>
                  <a:lnTo>
                    <a:pt x="1104761" y="200882"/>
                  </a:lnTo>
                  <a:lnTo>
                    <a:pt x="1155168" y="191885"/>
                  </a:lnTo>
                  <a:lnTo>
                    <a:pt x="1206491" y="183061"/>
                  </a:lnTo>
                  <a:lnTo>
                    <a:pt x="1258714" y="174410"/>
                  </a:lnTo>
                  <a:lnTo>
                    <a:pt x="1311825" y="165936"/>
                  </a:lnTo>
                  <a:lnTo>
                    <a:pt x="1365809" y="157641"/>
                  </a:lnTo>
                  <a:lnTo>
                    <a:pt x="1420652" y="149528"/>
                  </a:lnTo>
                  <a:lnTo>
                    <a:pt x="1476339" y="141599"/>
                  </a:lnTo>
                  <a:lnTo>
                    <a:pt x="1532858" y="133857"/>
                  </a:lnTo>
                  <a:lnTo>
                    <a:pt x="1590193" y="126305"/>
                  </a:lnTo>
                  <a:lnTo>
                    <a:pt x="1648331" y="118944"/>
                  </a:lnTo>
                  <a:lnTo>
                    <a:pt x="1707258" y="111779"/>
                  </a:lnTo>
                  <a:lnTo>
                    <a:pt x="1766959" y="104810"/>
                  </a:lnTo>
                  <a:lnTo>
                    <a:pt x="1827421" y="98041"/>
                  </a:lnTo>
                  <a:lnTo>
                    <a:pt x="1888629" y="91475"/>
                  </a:lnTo>
                  <a:lnTo>
                    <a:pt x="1950569" y="85113"/>
                  </a:lnTo>
                  <a:lnTo>
                    <a:pt x="2013227" y="78958"/>
                  </a:lnTo>
                  <a:lnTo>
                    <a:pt x="2076590" y="73014"/>
                  </a:lnTo>
                  <a:lnTo>
                    <a:pt x="2140642" y="67282"/>
                  </a:lnTo>
                  <a:lnTo>
                    <a:pt x="2205371" y="61765"/>
                  </a:lnTo>
                  <a:lnTo>
                    <a:pt x="2270761" y="56466"/>
                  </a:lnTo>
                  <a:lnTo>
                    <a:pt x="2336799" y="51387"/>
                  </a:lnTo>
                  <a:lnTo>
                    <a:pt x="2403471" y="46531"/>
                  </a:lnTo>
                  <a:lnTo>
                    <a:pt x="2470762" y="41900"/>
                  </a:lnTo>
                  <a:lnTo>
                    <a:pt x="2538659" y="37497"/>
                  </a:lnTo>
                  <a:lnTo>
                    <a:pt x="2607147" y="33325"/>
                  </a:lnTo>
                  <a:lnTo>
                    <a:pt x="2676213" y="29386"/>
                  </a:lnTo>
                  <a:lnTo>
                    <a:pt x="2745841" y="25682"/>
                  </a:lnTo>
                  <a:lnTo>
                    <a:pt x="2816019" y="22216"/>
                  </a:lnTo>
                  <a:lnTo>
                    <a:pt x="2886732" y="18991"/>
                  </a:lnTo>
                  <a:lnTo>
                    <a:pt x="2957966" y="16009"/>
                  </a:lnTo>
                  <a:lnTo>
                    <a:pt x="3029707" y="13273"/>
                  </a:lnTo>
                  <a:lnTo>
                    <a:pt x="3101941" y="10786"/>
                  </a:lnTo>
                  <a:lnTo>
                    <a:pt x="3174654" y="8550"/>
                  </a:lnTo>
                  <a:lnTo>
                    <a:pt x="3247831" y="6567"/>
                  </a:lnTo>
                  <a:lnTo>
                    <a:pt x="3321459" y="4840"/>
                  </a:lnTo>
                  <a:lnTo>
                    <a:pt x="3395523" y="3371"/>
                  </a:lnTo>
                  <a:lnTo>
                    <a:pt x="3470010" y="2164"/>
                  </a:lnTo>
                  <a:lnTo>
                    <a:pt x="3544905" y="1221"/>
                  </a:lnTo>
                  <a:lnTo>
                    <a:pt x="3620194" y="544"/>
                  </a:lnTo>
                  <a:lnTo>
                    <a:pt x="3695864" y="136"/>
                  </a:lnTo>
                  <a:lnTo>
                    <a:pt x="3771900" y="0"/>
                  </a:lnTo>
                  <a:lnTo>
                    <a:pt x="3847935" y="136"/>
                  </a:lnTo>
                  <a:lnTo>
                    <a:pt x="3923605" y="544"/>
                  </a:lnTo>
                  <a:lnTo>
                    <a:pt x="3998894" y="1221"/>
                  </a:lnTo>
                  <a:lnTo>
                    <a:pt x="4073789" y="2164"/>
                  </a:lnTo>
                  <a:lnTo>
                    <a:pt x="4148276" y="3371"/>
                  </a:lnTo>
                  <a:lnTo>
                    <a:pt x="4222340" y="4840"/>
                  </a:lnTo>
                  <a:lnTo>
                    <a:pt x="4295968" y="6567"/>
                  </a:lnTo>
                  <a:lnTo>
                    <a:pt x="4369146" y="8550"/>
                  </a:lnTo>
                  <a:lnTo>
                    <a:pt x="4441858" y="10786"/>
                  </a:lnTo>
                  <a:lnTo>
                    <a:pt x="4514092" y="13273"/>
                  </a:lnTo>
                  <a:lnTo>
                    <a:pt x="4585833" y="16009"/>
                  </a:lnTo>
                  <a:lnTo>
                    <a:pt x="4657067" y="18991"/>
                  </a:lnTo>
                  <a:lnTo>
                    <a:pt x="4727781" y="22216"/>
                  </a:lnTo>
                  <a:lnTo>
                    <a:pt x="4797959" y="25682"/>
                  </a:lnTo>
                  <a:lnTo>
                    <a:pt x="4867588" y="29386"/>
                  </a:lnTo>
                  <a:lnTo>
                    <a:pt x="4936653" y="33325"/>
                  </a:lnTo>
                  <a:lnTo>
                    <a:pt x="5005142" y="37497"/>
                  </a:lnTo>
                  <a:lnTo>
                    <a:pt x="5073038" y="41900"/>
                  </a:lnTo>
                  <a:lnTo>
                    <a:pt x="5140330" y="46531"/>
                  </a:lnTo>
                  <a:lnTo>
                    <a:pt x="5207002" y="51387"/>
                  </a:lnTo>
                  <a:lnTo>
                    <a:pt x="5273040" y="56466"/>
                  </a:lnTo>
                  <a:lnTo>
                    <a:pt x="5338430" y="61765"/>
                  </a:lnTo>
                  <a:lnTo>
                    <a:pt x="5403159" y="67282"/>
                  </a:lnTo>
                  <a:lnTo>
                    <a:pt x="5467211" y="73014"/>
                  </a:lnTo>
                  <a:lnTo>
                    <a:pt x="5530574" y="78958"/>
                  </a:lnTo>
                  <a:lnTo>
                    <a:pt x="5593233" y="85113"/>
                  </a:lnTo>
                  <a:lnTo>
                    <a:pt x="5655173" y="91475"/>
                  </a:lnTo>
                  <a:lnTo>
                    <a:pt x="5716381" y="98041"/>
                  </a:lnTo>
                  <a:lnTo>
                    <a:pt x="5776843" y="104810"/>
                  </a:lnTo>
                  <a:lnTo>
                    <a:pt x="5836544" y="111779"/>
                  </a:lnTo>
                  <a:lnTo>
                    <a:pt x="5895471" y="118944"/>
                  </a:lnTo>
                  <a:lnTo>
                    <a:pt x="5953609" y="126305"/>
                  </a:lnTo>
                  <a:lnTo>
                    <a:pt x="6010945" y="133857"/>
                  </a:lnTo>
                  <a:lnTo>
                    <a:pt x="6067463" y="141599"/>
                  </a:lnTo>
                  <a:lnTo>
                    <a:pt x="6123151" y="149528"/>
                  </a:lnTo>
                  <a:lnTo>
                    <a:pt x="6177994" y="157641"/>
                  </a:lnTo>
                  <a:lnTo>
                    <a:pt x="6231978" y="165936"/>
                  </a:lnTo>
                  <a:lnTo>
                    <a:pt x="6285089" y="174410"/>
                  </a:lnTo>
                  <a:lnTo>
                    <a:pt x="6337313" y="183061"/>
                  </a:lnTo>
                  <a:lnTo>
                    <a:pt x="6388635" y="191885"/>
                  </a:lnTo>
                  <a:lnTo>
                    <a:pt x="6439042" y="200882"/>
                  </a:lnTo>
                  <a:lnTo>
                    <a:pt x="6488520" y="210047"/>
                  </a:lnTo>
                  <a:lnTo>
                    <a:pt x="6537054" y="219379"/>
                  </a:lnTo>
                  <a:lnTo>
                    <a:pt x="6584631" y="228874"/>
                  </a:lnTo>
                  <a:lnTo>
                    <a:pt x="6631235" y="238531"/>
                  </a:lnTo>
                  <a:lnTo>
                    <a:pt x="6676854" y="248347"/>
                  </a:lnTo>
                  <a:lnTo>
                    <a:pt x="6721474" y="258319"/>
                  </a:lnTo>
                  <a:lnTo>
                    <a:pt x="6765079" y="268444"/>
                  </a:lnTo>
                  <a:lnTo>
                    <a:pt x="6807656" y="278720"/>
                  </a:lnTo>
                  <a:lnTo>
                    <a:pt x="6849191" y="289145"/>
                  </a:lnTo>
                  <a:lnTo>
                    <a:pt x="6889670" y="299716"/>
                  </a:lnTo>
                  <a:lnTo>
                    <a:pt x="6929079" y="310430"/>
                  </a:lnTo>
                  <a:lnTo>
                    <a:pt x="6967403" y="321285"/>
                  </a:lnTo>
                  <a:lnTo>
                    <a:pt x="7004629" y="332278"/>
                  </a:lnTo>
                  <a:lnTo>
                    <a:pt x="7075729" y="354669"/>
                  </a:lnTo>
                  <a:lnTo>
                    <a:pt x="7142266" y="377581"/>
                  </a:lnTo>
                  <a:lnTo>
                    <a:pt x="7204127" y="400996"/>
                  </a:lnTo>
                  <a:lnTo>
                    <a:pt x="7261201" y="424891"/>
                  </a:lnTo>
                  <a:lnTo>
                    <a:pt x="7313373" y="449247"/>
                  </a:lnTo>
                  <a:lnTo>
                    <a:pt x="7360533" y="474044"/>
                  </a:lnTo>
                  <a:lnTo>
                    <a:pt x="7402566" y="499260"/>
                  </a:lnTo>
                  <a:lnTo>
                    <a:pt x="7439360" y="524875"/>
                  </a:lnTo>
                  <a:lnTo>
                    <a:pt x="7470802" y="550868"/>
                  </a:lnTo>
                  <a:lnTo>
                    <a:pt x="7507686" y="590524"/>
                  </a:lnTo>
                  <a:lnTo>
                    <a:pt x="7531895" y="630917"/>
                  </a:lnTo>
                  <a:lnTo>
                    <a:pt x="7543048" y="671976"/>
                  </a:lnTo>
                  <a:lnTo>
                    <a:pt x="7543800" y="685800"/>
                  </a:lnTo>
                  <a:lnTo>
                    <a:pt x="7543048" y="699623"/>
                  </a:lnTo>
                  <a:lnTo>
                    <a:pt x="7540805" y="713379"/>
                  </a:lnTo>
                  <a:lnTo>
                    <a:pt x="7525257" y="754224"/>
                  </a:lnTo>
                  <a:lnTo>
                    <a:pt x="7496781" y="794379"/>
                  </a:lnTo>
                  <a:lnTo>
                    <a:pt x="7455757" y="833774"/>
                  </a:lnTo>
                  <a:lnTo>
                    <a:pt x="7421625" y="859581"/>
                  </a:lnTo>
                  <a:lnTo>
                    <a:pt x="7382197" y="885000"/>
                  </a:lnTo>
                  <a:lnTo>
                    <a:pt x="7337587" y="910009"/>
                  </a:lnTo>
                  <a:lnTo>
                    <a:pt x="7287907" y="934588"/>
                  </a:lnTo>
                  <a:lnTo>
                    <a:pt x="7233270" y="958717"/>
                  </a:lnTo>
                  <a:lnTo>
                    <a:pt x="7173788" y="982374"/>
                  </a:lnTo>
                  <a:lnTo>
                    <a:pt x="7109574" y="1005541"/>
                  </a:lnTo>
                  <a:lnTo>
                    <a:pt x="7040742" y="1028196"/>
                  </a:lnTo>
                  <a:lnTo>
                    <a:pt x="6967403" y="1050318"/>
                  </a:lnTo>
                  <a:lnTo>
                    <a:pt x="6929079" y="1061173"/>
                  </a:lnTo>
                  <a:lnTo>
                    <a:pt x="6889670" y="1071887"/>
                  </a:lnTo>
                  <a:lnTo>
                    <a:pt x="6849191" y="1082458"/>
                  </a:lnTo>
                  <a:lnTo>
                    <a:pt x="6807656" y="1092883"/>
                  </a:lnTo>
                  <a:lnTo>
                    <a:pt x="6765079" y="1103160"/>
                  </a:lnTo>
                  <a:lnTo>
                    <a:pt x="6721474" y="1113285"/>
                  </a:lnTo>
                  <a:lnTo>
                    <a:pt x="6676854" y="1123257"/>
                  </a:lnTo>
                  <a:lnTo>
                    <a:pt x="6631235" y="1133073"/>
                  </a:lnTo>
                  <a:lnTo>
                    <a:pt x="6584631" y="1142730"/>
                  </a:lnTo>
                  <a:lnTo>
                    <a:pt x="6537054" y="1152226"/>
                  </a:lnTo>
                  <a:lnTo>
                    <a:pt x="6488520" y="1161558"/>
                  </a:lnTo>
                  <a:lnTo>
                    <a:pt x="6439042" y="1170724"/>
                  </a:lnTo>
                  <a:lnTo>
                    <a:pt x="6388635" y="1179720"/>
                  </a:lnTo>
                  <a:lnTo>
                    <a:pt x="6337313" y="1188545"/>
                  </a:lnTo>
                  <a:lnTo>
                    <a:pt x="6285089" y="1197196"/>
                  </a:lnTo>
                  <a:lnTo>
                    <a:pt x="6231978" y="1205671"/>
                  </a:lnTo>
                  <a:lnTo>
                    <a:pt x="6177994" y="1213966"/>
                  </a:lnTo>
                  <a:lnTo>
                    <a:pt x="6123151" y="1222079"/>
                  </a:lnTo>
                  <a:lnTo>
                    <a:pt x="6067463" y="1230008"/>
                  </a:lnTo>
                  <a:lnTo>
                    <a:pt x="6010945" y="1237750"/>
                  </a:lnTo>
                  <a:lnTo>
                    <a:pt x="5953609" y="1245303"/>
                  </a:lnTo>
                  <a:lnTo>
                    <a:pt x="5895471" y="1252663"/>
                  </a:lnTo>
                  <a:lnTo>
                    <a:pt x="5836544" y="1259829"/>
                  </a:lnTo>
                  <a:lnTo>
                    <a:pt x="5776843" y="1266798"/>
                  </a:lnTo>
                  <a:lnTo>
                    <a:pt x="5716381" y="1273567"/>
                  </a:lnTo>
                  <a:lnTo>
                    <a:pt x="5655173" y="1280134"/>
                  </a:lnTo>
                  <a:lnTo>
                    <a:pt x="5593233" y="1286496"/>
                  </a:lnTo>
                  <a:lnTo>
                    <a:pt x="5530574" y="1292650"/>
                  </a:lnTo>
                  <a:lnTo>
                    <a:pt x="5467211" y="1298595"/>
                  </a:lnTo>
                  <a:lnTo>
                    <a:pt x="5403159" y="1304327"/>
                  </a:lnTo>
                  <a:lnTo>
                    <a:pt x="5338430" y="1309844"/>
                  </a:lnTo>
                  <a:lnTo>
                    <a:pt x="5273040" y="1315143"/>
                  </a:lnTo>
                  <a:lnTo>
                    <a:pt x="5207002" y="1320222"/>
                  </a:lnTo>
                  <a:lnTo>
                    <a:pt x="5140330" y="1325079"/>
                  </a:lnTo>
                  <a:lnTo>
                    <a:pt x="5073038" y="1329710"/>
                  </a:lnTo>
                  <a:lnTo>
                    <a:pt x="5005142" y="1334113"/>
                  </a:lnTo>
                  <a:lnTo>
                    <a:pt x="4936653" y="1338285"/>
                  </a:lnTo>
                  <a:lnTo>
                    <a:pt x="4867588" y="1342225"/>
                  </a:lnTo>
                  <a:lnTo>
                    <a:pt x="4797959" y="1345929"/>
                  </a:lnTo>
                  <a:lnTo>
                    <a:pt x="4727781" y="1349395"/>
                  </a:lnTo>
                  <a:lnTo>
                    <a:pt x="4657067" y="1352620"/>
                  </a:lnTo>
                  <a:lnTo>
                    <a:pt x="4585833" y="1355602"/>
                  </a:lnTo>
                  <a:lnTo>
                    <a:pt x="4514092" y="1358338"/>
                  </a:lnTo>
                  <a:lnTo>
                    <a:pt x="4441858" y="1360825"/>
                  </a:lnTo>
                  <a:lnTo>
                    <a:pt x="4369146" y="1363062"/>
                  </a:lnTo>
                  <a:lnTo>
                    <a:pt x="4295968" y="1365045"/>
                  </a:lnTo>
                  <a:lnTo>
                    <a:pt x="4222340" y="1366772"/>
                  </a:lnTo>
                  <a:lnTo>
                    <a:pt x="4148276" y="1368240"/>
                  </a:lnTo>
                  <a:lnTo>
                    <a:pt x="4073789" y="1369447"/>
                  </a:lnTo>
                  <a:lnTo>
                    <a:pt x="3998894" y="1370391"/>
                  </a:lnTo>
                  <a:lnTo>
                    <a:pt x="3923605" y="1371068"/>
                  </a:lnTo>
                  <a:lnTo>
                    <a:pt x="3847935" y="1371476"/>
                  </a:lnTo>
                  <a:lnTo>
                    <a:pt x="3771900" y="1371612"/>
                  </a:lnTo>
                  <a:lnTo>
                    <a:pt x="3695864" y="1371476"/>
                  </a:lnTo>
                  <a:lnTo>
                    <a:pt x="3620194" y="1371068"/>
                  </a:lnTo>
                  <a:lnTo>
                    <a:pt x="3544905" y="1370391"/>
                  </a:lnTo>
                  <a:lnTo>
                    <a:pt x="3470010" y="1369447"/>
                  </a:lnTo>
                  <a:lnTo>
                    <a:pt x="3395523" y="1368240"/>
                  </a:lnTo>
                  <a:lnTo>
                    <a:pt x="3321459" y="1366772"/>
                  </a:lnTo>
                  <a:lnTo>
                    <a:pt x="3247831" y="1365045"/>
                  </a:lnTo>
                  <a:lnTo>
                    <a:pt x="3174653" y="1363062"/>
                  </a:lnTo>
                  <a:lnTo>
                    <a:pt x="3101941" y="1360825"/>
                  </a:lnTo>
                  <a:lnTo>
                    <a:pt x="3029707" y="1358338"/>
                  </a:lnTo>
                  <a:lnTo>
                    <a:pt x="2957966" y="1355602"/>
                  </a:lnTo>
                  <a:lnTo>
                    <a:pt x="2886732" y="1352620"/>
                  </a:lnTo>
                  <a:lnTo>
                    <a:pt x="2816018" y="1349395"/>
                  </a:lnTo>
                  <a:lnTo>
                    <a:pt x="2745840" y="1345929"/>
                  </a:lnTo>
                  <a:lnTo>
                    <a:pt x="2676211" y="1342225"/>
                  </a:lnTo>
                  <a:lnTo>
                    <a:pt x="2607146" y="1338285"/>
                  </a:lnTo>
                  <a:lnTo>
                    <a:pt x="2538657" y="1334113"/>
                  </a:lnTo>
                  <a:lnTo>
                    <a:pt x="2470761" y="1329710"/>
                  </a:lnTo>
                  <a:lnTo>
                    <a:pt x="2403469" y="1325079"/>
                  </a:lnTo>
                  <a:lnTo>
                    <a:pt x="2336797" y="1320222"/>
                  </a:lnTo>
                  <a:lnTo>
                    <a:pt x="2270759" y="1315143"/>
                  </a:lnTo>
                  <a:lnTo>
                    <a:pt x="2205369" y="1309844"/>
                  </a:lnTo>
                  <a:lnTo>
                    <a:pt x="2140640" y="1304327"/>
                  </a:lnTo>
                  <a:lnTo>
                    <a:pt x="2076588" y="1298595"/>
                  </a:lnTo>
                  <a:lnTo>
                    <a:pt x="2013225" y="1292650"/>
                  </a:lnTo>
                  <a:lnTo>
                    <a:pt x="1950566" y="1286496"/>
                  </a:lnTo>
                  <a:lnTo>
                    <a:pt x="1888626" y="1280134"/>
                  </a:lnTo>
                  <a:lnTo>
                    <a:pt x="1827418" y="1273567"/>
                  </a:lnTo>
                  <a:lnTo>
                    <a:pt x="1766956" y="1266798"/>
                  </a:lnTo>
                  <a:lnTo>
                    <a:pt x="1707255" y="1259829"/>
                  </a:lnTo>
                  <a:lnTo>
                    <a:pt x="1648328" y="1252663"/>
                  </a:lnTo>
                  <a:lnTo>
                    <a:pt x="1590190" y="1245303"/>
                  </a:lnTo>
                  <a:lnTo>
                    <a:pt x="1532854" y="1237750"/>
                  </a:lnTo>
                  <a:lnTo>
                    <a:pt x="1476336" y="1230008"/>
                  </a:lnTo>
                  <a:lnTo>
                    <a:pt x="1420648" y="1222079"/>
                  </a:lnTo>
                  <a:lnTo>
                    <a:pt x="1365805" y="1213966"/>
                  </a:lnTo>
                  <a:lnTo>
                    <a:pt x="1311821" y="1205671"/>
                  </a:lnTo>
                  <a:lnTo>
                    <a:pt x="1258710" y="1197196"/>
                  </a:lnTo>
                  <a:lnTo>
                    <a:pt x="1206486" y="1188545"/>
                  </a:lnTo>
                  <a:lnTo>
                    <a:pt x="1155164" y="1179720"/>
                  </a:lnTo>
                  <a:lnTo>
                    <a:pt x="1104757" y="1170724"/>
                  </a:lnTo>
                  <a:lnTo>
                    <a:pt x="1055279" y="1161558"/>
                  </a:lnTo>
                  <a:lnTo>
                    <a:pt x="1006745" y="1152226"/>
                  </a:lnTo>
                  <a:lnTo>
                    <a:pt x="959168" y="1142730"/>
                  </a:lnTo>
                  <a:lnTo>
                    <a:pt x="912564" y="1133073"/>
                  </a:lnTo>
                  <a:lnTo>
                    <a:pt x="866945" y="1123257"/>
                  </a:lnTo>
                  <a:lnTo>
                    <a:pt x="822325" y="1113285"/>
                  </a:lnTo>
                  <a:lnTo>
                    <a:pt x="778720" y="1103160"/>
                  </a:lnTo>
                  <a:lnTo>
                    <a:pt x="736143" y="1092883"/>
                  </a:lnTo>
                  <a:lnTo>
                    <a:pt x="694608" y="1082458"/>
                  </a:lnTo>
                  <a:lnTo>
                    <a:pt x="654129" y="1071887"/>
                  </a:lnTo>
                  <a:lnTo>
                    <a:pt x="614720" y="1061173"/>
                  </a:lnTo>
                  <a:lnTo>
                    <a:pt x="576396" y="1050318"/>
                  </a:lnTo>
                  <a:lnTo>
                    <a:pt x="539170" y="1039325"/>
                  </a:lnTo>
                  <a:lnTo>
                    <a:pt x="468070" y="1016934"/>
                  </a:lnTo>
                  <a:lnTo>
                    <a:pt x="401533" y="994020"/>
                  </a:lnTo>
                  <a:lnTo>
                    <a:pt x="339672" y="970606"/>
                  </a:lnTo>
                  <a:lnTo>
                    <a:pt x="282598" y="946710"/>
                  </a:lnTo>
                  <a:lnTo>
                    <a:pt x="230426" y="922353"/>
                  </a:lnTo>
                  <a:lnTo>
                    <a:pt x="183266" y="897557"/>
                  </a:lnTo>
                  <a:lnTo>
                    <a:pt x="141233" y="872340"/>
                  </a:lnTo>
                  <a:lnTo>
                    <a:pt x="104439" y="846725"/>
                  </a:lnTo>
                  <a:lnTo>
                    <a:pt x="72997" y="820731"/>
                  </a:lnTo>
                  <a:lnTo>
                    <a:pt x="36113" y="781075"/>
                  </a:lnTo>
                  <a:lnTo>
                    <a:pt x="11904" y="740682"/>
                  </a:lnTo>
                  <a:lnTo>
                    <a:pt x="751" y="699623"/>
                  </a:lnTo>
                  <a:lnTo>
                    <a:pt x="0" y="68580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12645" y="4620005"/>
            <a:ext cx="49936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3655" marR="5080" indent="-129159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Crossing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domains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dangerous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commonly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attack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16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526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An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Example: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UNIX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7823200" cy="119634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UNIX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associates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domains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users.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6397625" algn="l"/>
              </a:tabLst>
            </a:pPr>
            <a:r>
              <a:rPr sz="3200" dirty="0">
                <a:latin typeface="Calibri"/>
                <a:cs typeface="Calibri"/>
              </a:rPr>
              <a:t>Here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identify</a:t>
            </a:r>
            <a:r>
              <a:rPr sz="3200" spc="-25" dirty="0">
                <a:latin typeface="Calibri"/>
                <a:cs typeface="Calibri"/>
              </a:rPr>
              <a:t> the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domains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80895" marR="5080" indent="-2068830">
              <a:lnSpc>
                <a:spcPct val="100000"/>
              </a:lnSpc>
              <a:spcBef>
                <a:spcPts val="95"/>
              </a:spcBef>
            </a:pPr>
            <a:r>
              <a:rPr sz="3600" b="1" dirty="0"/>
              <a:t>Multics</a:t>
            </a:r>
            <a:r>
              <a:rPr sz="3600" b="1" spc="-125" dirty="0"/>
              <a:t> </a:t>
            </a:r>
            <a:r>
              <a:rPr sz="3600" b="1" dirty="0"/>
              <a:t>ring</a:t>
            </a:r>
            <a:r>
              <a:rPr sz="3600" b="1" spc="-110" dirty="0"/>
              <a:t> </a:t>
            </a:r>
            <a:r>
              <a:rPr sz="3600" b="1" dirty="0"/>
              <a:t>structure:</a:t>
            </a:r>
            <a:r>
              <a:rPr sz="3600" b="1" spc="-105" dirty="0"/>
              <a:t> </a:t>
            </a:r>
            <a:r>
              <a:rPr sz="3600" b="1" spc="-10" dirty="0"/>
              <a:t>Domain Protection</a:t>
            </a:r>
            <a:endParaRPr sz="3600" b="1" dirty="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701304" y="1361889"/>
            <a:ext cx="7404653" cy="1365823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>
                <a:latin typeface="Calibri"/>
                <a:cs typeface="Calibri"/>
              </a:rPr>
              <a:t>Let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Di</a:t>
            </a:r>
            <a:r>
              <a:rPr i="1" spc="-3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and</a:t>
            </a:r>
            <a:r>
              <a:rPr i="1" spc="-3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Dj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be</a:t>
            </a:r>
            <a:r>
              <a:rPr i="1" spc="-3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any</a:t>
            </a:r>
            <a:r>
              <a:rPr i="1" spc="-2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two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domain</a:t>
            </a:r>
            <a:r>
              <a:rPr i="1"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rings.</a:t>
            </a:r>
          </a:p>
          <a:p>
            <a:pPr marL="355600" marR="5080" indent="-342900">
              <a:lnSpc>
                <a:spcPts val="3820"/>
              </a:lnSpc>
              <a:spcBef>
                <a:spcPts val="9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>
                <a:latin typeface="Calibri"/>
                <a:cs typeface="Calibri"/>
              </a:rPr>
              <a:t>If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j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&lt;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i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sz="3350" dirty="0">
                <a:latin typeface="Cambria Math"/>
                <a:cs typeface="Cambria Math"/>
              </a:rPr>
              <a:t>⇒</a:t>
            </a:r>
            <a:r>
              <a:rPr sz="3350" spc="-60" dirty="0">
                <a:latin typeface="Cambria Math"/>
                <a:cs typeface="Cambria Math"/>
              </a:rPr>
              <a:t> </a:t>
            </a:r>
            <a:r>
              <a:rPr i="1" dirty="0">
                <a:latin typeface="Calibri"/>
                <a:cs typeface="Calibri"/>
              </a:rPr>
              <a:t>Di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sz="3350" dirty="0">
                <a:latin typeface="Cambria Math"/>
                <a:cs typeface="Cambria Math"/>
              </a:rPr>
              <a:t>⊆</a:t>
            </a:r>
            <a:r>
              <a:rPr sz="3350" spc="-70" dirty="0">
                <a:latin typeface="Cambria Math"/>
                <a:cs typeface="Cambria Math"/>
              </a:rPr>
              <a:t> </a:t>
            </a:r>
            <a:r>
              <a:rPr i="1" dirty="0">
                <a:latin typeface="Calibri"/>
                <a:cs typeface="Calibri"/>
              </a:rPr>
              <a:t>Dj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Then</a:t>
            </a:r>
            <a:r>
              <a:rPr i="1" spc="-4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process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executing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i="1" spc="-25" dirty="0">
                <a:latin typeface="Calibri"/>
                <a:cs typeface="Calibri"/>
              </a:rPr>
              <a:t>Dj </a:t>
            </a:r>
            <a:r>
              <a:rPr i="1" dirty="0">
                <a:latin typeface="Calibri"/>
                <a:cs typeface="Calibri"/>
              </a:rPr>
              <a:t>has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more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privileges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than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executing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i="1" spc="-25" dirty="0">
                <a:latin typeface="Calibri"/>
                <a:cs typeface="Calibri"/>
              </a:rPr>
              <a:t>Di.</a:t>
            </a:r>
            <a:endParaRPr sz="33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987" y="3276600"/>
            <a:ext cx="3509813" cy="25015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917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Access</a:t>
            </a:r>
            <a:r>
              <a:rPr b="1" spc="-25" dirty="0"/>
              <a:t> </a:t>
            </a:r>
            <a:r>
              <a:rPr b="1" spc="-10" dirty="0"/>
              <a:t>Matrix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57250" y="2209800"/>
            <a:ext cx="7404653" cy="2130299"/>
          </a:xfrm>
          <a:prstGeom prst="rect">
            <a:avLst/>
          </a:prstGeom>
        </p:spPr>
        <p:txBody>
          <a:bodyPr vert="horz" wrap="square" lIns="0" tIns="64996" rIns="0" bIns="0" rtlCol="0">
            <a:spAutoFit/>
          </a:bodyPr>
          <a:lstStyle/>
          <a:p>
            <a:pPr marL="355600" marR="511809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i="1" dirty="0">
                <a:latin typeface="Calibri"/>
                <a:cs typeface="Calibri"/>
              </a:rPr>
              <a:t>A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model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of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system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protection</a:t>
            </a:r>
            <a:r>
              <a:rPr sz="2400" i="1" spc="-7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called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access matrix,</a:t>
            </a:r>
          </a:p>
          <a:p>
            <a:pPr marL="756285" marR="8699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different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 resources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protection domains.</a:t>
            </a:r>
            <a:endParaRPr sz="2400" dirty="0">
              <a:latin typeface="Calibri"/>
              <a:cs typeface="Calibri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Entries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matrix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	</a:t>
            </a:r>
            <a:r>
              <a:rPr sz="2400" dirty="0">
                <a:latin typeface="Calibri"/>
                <a:cs typeface="Calibri"/>
              </a:rPr>
              <a:t>domain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95600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Example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752600"/>
            <a:ext cx="6054598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1673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Domain</a:t>
            </a:r>
            <a:r>
              <a:rPr b="1" spc="-5" dirty="0"/>
              <a:t> </a:t>
            </a:r>
            <a:r>
              <a:rPr b="1" spc="-10" dirty="0"/>
              <a:t>Switching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752600"/>
            <a:ext cx="69342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7056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Access</a:t>
            </a:r>
            <a:r>
              <a:rPr b="1" spc="-25" dirty="0"/>
              <a:t> </a:t>
            </a:r>
            <a:r>
              <a:rPr b="1" dirty="0"/>
              <a:t>Matrix</a:t>
            </a:r>
            <a:r>
              <a:rPr b="1" spc="-40" dirty="0"/>
              <a:t> </a:t>
            </a:r>
            <a:r>
              <a:rPr b="1" dirty="0"/>
              <a:t>:</a:t>
            </a:r>
            <a:r>
              <a:rPr b="1" spc="-20" dirty="0"/>
              <a:t> </a:t>
            </a:r>
            <a:r>
              <a:rPr b="1" dirty="0"/>
              <a:t>Owner</a:t>
            </a:r>
            <a:r>
              <a:rPr b="1" spc="-40" dirty="0"/>
              <a:t> </a:t>
            </a:r>
            <a:r>
              <a:rPr b="1" spc="-10" dirty="0"/>
              <a:t>Right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3000"/>
            <a:ext cx="7680959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owner</a:t>
            </a:r>
            <a:r>
              <a:rPr sz="3200" b="1" i="1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right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privilege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adding </a:t>
            </a:r>
            <a:r>
              <a:rPr sz="3200" dirty="0">
                <a:latin typeface="Calibri"/>
                <a:cs typeface="Calibri"/>
              </a:rPr>
              <a:t>new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rights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removing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existing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ones: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2286000"/>
            <a:ext cx="7620000" cy="38004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8982" y="393103"/>
            <a:ext cx="770191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Implementation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Access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Matrix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86740" y="1217991"/>
            <a:ext cx="8095615" cy="38615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42875" marR="2375535" indent="-142875" algn="r">
              <a:lnSpc>
                <a:spcPct val="100000"/>
              </a:lnSpc>
              <a:spcBef>
                <a:spcPts val="480"/>
              </a:spcBef>
              <a:buSzPct val="90625"/>
              <a:buFont typeface="Arial MT"/>
              <a:buChar char="•"/>
              <a:tabLst>
                <a:tab pos="14287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Contains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ordered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triples</a:t>
            </a:r>
            <a:endParaRPr sz="3200" dirty="0">
              <a:latin typeface="Times New Roman"/>
              <a:cs typeface="Times New Roman"/>
            </a:endParaRPr>
          </a:p>
          <a:p>
            <a:pPr marR="2470150" algn="r">
              <a:lnSpc>
                <a:spcPct val="100000"/>
              </a:lnSpc>
              <a:spcBef>
                <a:spcPts val="390"/>
              </a:spcBef>
            </a:pPr>
            <a:r>
              <a:rPr sz="3200" spc="-10" dirty="0">
                <a:latin typeface="Times New Roman"/>
                <a:cs typeface="Times New Roman"/>
              </a:rPr>
              <a:t>&lt;</a:t>
            </a:r>
            <a:r>
              <a:rPr sz="3200" b="1" spc="-10" dirty="0">
                <a:latin typeface="Times New Roman"/>
                <a:cs typeface="Times New Roman"/>
              </a:rPr>
              <a:t>domain,object,rights-</a:t>
            </a:r>
            <a:r>
              <a:rPr sz="3200" b="1" spc="-20" dirty="0">
                <a:latin typeface="Times New Roman"/>
                <a:cs typeface="Times New Roman"/>
              </a:rPr>
              <a:t>set&gt;</a:t>
            </a:r>
            <a:endParaRPr sz="3200" dirty="0">
              <a:latin typeface="Times New Roman"/>
              <a:cs typeface="Times New Roman"/>
            </a:endParaRPr>
          </a:p>
          <a:p>
            <a:pPr marL="180340" marR="30480" indent="-142875">
              <a:lnSpc>
                <a:spcPct val="110000"/>
              </a:lnSpc>
              <a:buSzPct val="90625"/>
              <a:buFont typeface="Arial MT"/>
              <a:buChar char="•"/>
              <a:tabLst>
                <a:tab pos="240665" algn="l"/>
                <a:tab pos="4913630" algn="l"/>
              </a:tabLst>
            </a:pPr>
            <a:r>
              <a:rPr sz="3200" dirty="0">
                <a:latin typeface="Times New Roman"/>
                <a:cs typeface="Times New Roman"/>
              </a:rPr>
              <a:t>Whenever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operation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executed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an 	</a:t>
            </a:r>
            <a:r>
              <a:rPr sz="3200" dirty="0">
                <a:latin typeface="Times New Roman"/>
                <a:cs typeface="Times New Roman"/>
              </a:rPr>
              <a:t>object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Oj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domain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Di</a:t>
            </a:r>
            <a:r>
              <a:rPr sz="3200" dirty="0">
                <a:latin typeface="Times New Roman"/>
                <a:cs typeface="Times New Roman"/>
              </a:rPr>
              <a:t>	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global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table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is 	</a:t>
            </a:r>
            <a:r>
              <a:rPr sz="3200" dirty="0">
                <a:latin typeface="Times New Roman"/>
                <a:cs typeface="Times New Roman"/>
              </a:rPr>
              <a:t>searched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triple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&lt;Di,Oj,R</a:t>
            </a:r>
            <a:r>
              <a:rPr sz="3150" b="1" baseline="-21164" dirty="0">
                <a:latin typeface="Times New Roman"/>
                <a:cs typeface="Times New Roman"/>
              </a:rPr>
              <a:t>k</a:t>
            </a:r>
            <a:r>
              <a:rPr sz="3150" b="1" spc="-44" baseline="-21164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&gt;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where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Є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R</a:t>
            </a:r>
            <a:r>
              <a:rPr sz="3150" spc="-37" baseline="-21164" dirty="0">
                <a:latin typeface="Times New Roman"/>
                <a:cs typeface="Times New Roman"/>
              </a:rPr>
              <a:t>k</a:t>
            </a:r>
            <a:endParaRPr sz="3150" baseline="-21164" dirty="0">
              <a:latin typeface="Times New Roman"/>
              <a:cs typeface="Times New Roman"/>
            </a:endParaRPr>
          </a:p>
          <a:p>
            <a:pPr marL="38100" marR="52069" indent="142875">
              <a:spcBef>
                <a:spcPts val="1200"/>
              </a:spcBef>
              <a:buSzPct val="90625"/>
              <a:buFont typeface="Arial MT"/>
              <a:buChar char="•"/>
              <a:tabLst>
                <a:tab pos="180975" algn="l"/>
              </a:tabLst>
            </a:pP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triple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found,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operation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allowed</a:t>
            </a:r>
            <a:r>
              <a:rPr sz="3200" spc="-25" dirty="0">
                <a:latin typeface="Times New Roman"/>
                <a:cs typeface="Times New Roman"/>
              </a:rPr>
              <a:t> to </a:t>
            </a:r>
            <a:r>
              <a:rPr sz="3200" dirty="0">
                <a:latin typeface="Times New Roman"/>
                <a:cs typeface="Times New Roman"/>
              </a:rPr>
              <a:t>continue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else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exception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raised.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9CA30-B369-4E5E-9BCE-A54BD889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Implementation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Access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Matrix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980680" cy="475450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Global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Table</a:t>
            </a:r>
            <a:endParaRPr sz="3200" dirty="0">
              <a:latin typeface="Calibri"/>
              <a:cs typeface="Calibri"/>
            </a:endParaRPr>
          </a:p>
          <a:p>
            <a:pPr marL="756285" lvl="1" indent="-286385" algn="just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simplest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approach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is</a:t>
            </a:r>
            <a:r>
              <a:rPr sz="2800" b="1" spc="-6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one</a:t>
            </a:r>
            <a:r>
              <a:rPr sz="2800" b="1" spc="-6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big</a:t>
            </a:r>
            <a:r>
              <a:rPr sz="2800" b="1" spc="-5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global</a:t>
            </a:r>
            <a:r>
              <a:rPr sz="2800" b="1" spc="-6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table</a:t>
            </a:r>
            <a:r>
              <a:rPr sz="2800" b="1" spc="-6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00B050"/>
                </a:solidFill>
                <a:latin typeface="Calibri"/>
                <a:cs typeface="Calibri"/>
              </a:rPr>
              <a:t>with</a:t>
            </a:r>
            <a:endParaRPr sz="2800" b="1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756285" algn="just">
              <a:lnSpc>
                <a:spcPct val="100000"/>
              </a:lnSpc>
            </a:pP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&lt;</a:t>
            </a:r>
            <a:r>
              <a:rPr sz="2800" b="1" spc="-6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domain,</a:t>
            </a:r>
            <a:r>
              <a:rPr sz="2800" b="1" spc="-4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object,</a:t>
            </a:r>
            <a:r>
              <a:rPr sz="2800" b="1" spc="-4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rights</a:t>
            </a:r>
            <a:r>
              <a:rPr sz="2800" b="1" spc="-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B050"/>
                </a:solidFill>
                <a:latin typeface="Calibri"/>
                <a:cs typeface="Calibri"/>
              </a:rPr>
              <a:t>&gt;</a:t>
            </a:r>
            <a:r>
              <a:rPr sz="2800" b="1" spc="-5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B050"/>
                </a:solidFill>
                <a:latin typeface="Calibri"/>
                <a:cs typeface="Calibri"/>
              </a:rPr>
              <a:t>entries.</a:t>
            </a:r>
            <a:endParaRPr sz="2800" b="1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756285" marR="549910" lvl="1" indent="-287020" algn="just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lang="en-US" sz="2800" spc="-10" dirty="0">
                <a:latin typeface="Calibri"/>
                <a:cs typeface="Calibri"/>
              </a:rPr>
              <a:t>Unfortunately,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if </a:t>
            </a:r>
            <a:r>
              <a:rPr sz="2800" dirty="0">
                <a:latin typeface="Calibri"/>
                <a:cs typeface="Calibri"/>
              </a:rPr>
              <a:t>sparse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cannot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kept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memory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( </a:t>
            </a:r>
            <a:r>
              <a:rPr sz="2800" dirty="0">
                <a:latin typeface="Calibri"/>
                <a:cs typeface="Calibri"/>
              </a:rPr>
              <a:t>without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invoking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virtual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memory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techniques.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good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groupings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If </a:t>
            </a:r>
            <a:r>
              <a:rPr sz="2800" dirty="0">
                <a:latin typeface="Calibri"/>
                <a:cs typeface="Calibri"/>
              </a:rPr>
              <a:t>everyone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still </a:t>
            </a:r>
            <a:r>
              <a:rPr sz="2800" dirty="0">
                <a:latin typeface="Calibri"/>
                <a:cs typeface="Calibri"/>
              </a:rPr>
              <a:t>needs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domain.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4775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Implementation</a:t>
            </a:r>
            <a:r>
              <a:rPr b="1" spc="-120" dirty="0"/>
              <a:t> </a:t>
            </a:r>
            <a:r>
              <a:rPr b="1" dirty="0"/>
              <a:t>of</a:t>
            </a:r>
            <a:r>
              <a:rPr b="1" spc="-75" dirty="0"/>
              <a:t> </a:t>
            </a:r>
            <a:r>
              <a:rPr b="1" dirty="0"/>
              <a:t>Access</a:t>
            </a:r>
            <a:r>
              <a:rPr b="1" spc="-80" dirty="0"/>
              <a:t> </a:t>
            </a:r>
            <a:r>
              <a:rPr b="1" spc="-10" dirty="0"/>
              <a:t>Matrix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57251" y="1712382"/>
            <a:ext cx="7404653" cy="3469218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</a:p>
          <a:p>
            <a:pPr marL="756285" marR="608330" lvl="1" indent="-287020">
              <a:lnSpc>
                <a:spcPts val="3020"/>
              </a:lnSpc>
              <a:spcBef>
                <a:spcPts val="740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 algn="just">
              <a:lnSpc>
                <a:spcPts val="3190"/>
              </a:lnSpc>
              <a:spcBef>
                <a:spcPts val="29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domain,</a:t>
            </a:r>
            <a:r>
              <a:rPr sz="2400" b="0" i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rights-</a:t>
            </a:r>
            <a:r>
              <a:rPr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400" b="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2400" b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</a:t>
            </a:r>
            <a:r>
              <a:rPr sz="2400"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400" b="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domains</a:t>
            </a:r>
            <a:r>
              <a:rPr sz="2400"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400"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sz="2400" b="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400"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2400" b="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rights</a:t>
            </a:r>
            <a:r>
              <a:rPr sz="2400"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285750">
              <a:lnSpc>
                <a:spcPts val="3180"/>
              </a:lnSpc>
              <a:spcBef>
                <a:spcPts val="32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sz="2400" b="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set,</a:t>
            </a:r>
            <a:r>
              <a:rPr sz="2400"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z="2400" b="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  <a:r>
              <a:rPr sz="2400"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2783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Access</a:t>
            </a:r>
            <a:r>
              <a:rPr b="1" spc="-40" dirty="0"/>
              <a:t> </a:t>
            </a:r>
            <a:r>
              <a:rPr b="1" dirty="0"/>
              <a:t>List</a:t>
            </a:r>
            <a:r>
              <a:rPr b="1" spc="-40" dirty="0"/>
              <a:t> </a:t>
            </a:r>
            <a:r>
              <a:rPr b="1" spc="-10" dirty="0"/>
              <a:t>(cont…)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35025" y="1524000"/>
            <a:ext cx="7165975" cy="367728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6985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Each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column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Access-</a:t>
            </a:r>
            <a:r>
              <a:rPr sz="3200" dirty="0">
                <a:latin typeface="Calibri"/>
                <a:cs typeface="Calibri"/>
              </a:rPr>
              <a:t>control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list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one </a:t>
            </a:r>
            <a:r>
              <a:rPr sz="3200" dirty="0">
                <a:latin typeface="Calibri"/>
                <a:cs typeface="Calibri"/>
              </a:rPr>
              <a:t>object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Defines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perform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what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operation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3200" dirty="0">
              <a:latin typeface="Calibri"/>
              <a:cs typeface="Calibri"/>
            </a:endParaRPr>
          </a:p>
          <a:p>
            <a:pPr marL="927100" marR="1351915">
              <a:lnSpc>
                <a:spcPct val="90000"/>
              </a:lnSpc>
            </a:pPr>
            <a:r>
              <a:rPr sz="4000" dirty="0">
                <a:latin typeface="Calibri"/>
                <a:cs typeface="Calibri"/>
              </a:rPr>
              <a:t>Domain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1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=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Read,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Write </a:t>
            </a:r>
            <a:r>
              <a:rPr sz="4000" dirty="0">
                <a:latin typeface="Calibri"/>
                <a:cs typeface="Calibri"/>
              </a:rPr>
              <a:t>Domain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2</a:t>
            </a:r>
            <a:r>
              <a:rPr sz="4000" spc="-5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=</a:t>
            </a:r>
            <a:r>
              <a:rPr sz="4000" spc="-55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Read </a:t>
            </a:r>
            <a:r>
              <a:rPr sz="4000" dirty="0">
                <a:latin typeface="Calibri"/>
                <a:cs typeface="Calibri"/>
              </a:rPr>
              <a:t>Domain</a:t>
            </a:r>
            <a:r>
              <a:rPr sz="4000" spc="-6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3</a:t>
            </a:r>
            <a:r>
              <a:rPr sz="4000" spc="-3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=</a:t>
            </a:r>
            <a:r>
              <a:rPr sz="4000" spc="-40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Read</a:t>
            </a:r>
            <a:endParaRPr sz="4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4572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4775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Implementation</a:t>
            </a:r>
            <a:r>
              <a:rPr b="1" spc="-120" dirty="0"/>
              <a:t> </a:t>
            </a:r>
            <a:r>
              <a:rPr b="1" dirty="0"/>
              <a:t>of</a:t>
            </a:r>
            <a:r>
              <a:rPr b="1" spc="-75" dirty="0"/>
              <a:t> </a:t>
            </a:r>
            <a:r>
              <a:rPr b="1" dirty="0"/>
              <a:t>Access</a:t>
            </a:r>
            <a:r>
              <a:rPr b="1" spc="-80" dirty="0"/>
              <a:t> </a:t>
            </a:r>
            <a:r>
              <a:rPr b="1" spc="-10" dirty="0"/>
              <a:t>Matrix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10540" y="1544777"/>
            <a:ext cx="7811770" cy="40500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0365" indent="-34226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80365" algn="l"/>
              </a:tabLst>
            </a:pPr>
            <a:r>
              <a:rPr sz="2500" b="1" dirty="0">
                <a:latin typeface="Calibri"/>
                <a:cs typeface="Calibri"/>
              </a:rPr>
              <a:t>Capability</a:t>
            </a:r>
            <a:r>
              <a:rPr sz="2500" b="1" spc="-10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Lists</a:t>
            </a:r>
            <a:r>
              <a:rPr sz="2500" b="1" spc="-7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for</a:t>
            </a:r>
            <a:r>
              <a:rPr sz="2500" b="1" spc="-8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Domains</a:t>
            </a:r>
            <a:endParaRPr sz="2500" dirty="0">
              <a:latin typeface="Calibri"/>
              <a:cs typeface="Calibri"/>
            </a:endParaRPr>
          </a:p>
          <a:p>
            <a:pPr marL="781685" lvl="1" indent="-286385" algn="just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81685" algn="l"/>
              </a:tabLst>
            </a:pPr>
            <a:r>
              <a:rPr sz="2200" dirty="0">
                <a:latin typeface="Calibri"/>
                <a:cs typeface="Calibri"/>
              </a:rPr>
              <a:t>Instead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object-</a:t>
            </a:r>
            <a:r>
              <a:rPr sz="2200" dirty="0">
                <a:latin typeface="Calibri"/>
                <a:cs typeface="Calibri"/>
              </a:rPr>
              <a:t>based,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list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domain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based</a:t>
            </a:r>
            <a:endParaRPr sz="2200" dirty="0">
              <a:latin typeface="Calibri"/>
              <a:cs typeface="Calibri"/>
            </a:endParaRPr>
          </a:p>
          <a:p>
            <a:pPr marL="781685" marR="733425" lvl="1" indent="-287020" algn="just">
              <a:lnSpc>
                <a:spcPct val="80000"/>
              </a:lnSpc>
              <a:spcBef>
                <a:spcPts val="530"/>
              </a:spcBef>
              <a:buFont typeface="Arial MT"/>
              <a:buChar char="–"/>
              <a:tabLst>
                <a:tab pos="781685" algn="l"/>
              </a:tabLst>
            </a:pPr>
            <a:r>
              <a:rPr sz="2200" b="1" dirty="0">
                <a:solidFill>
                  <a:srgbClr val="3366FF"/>
                </a:solidFill>
                <a:latin typeface="Calibri"/>
                <a:cs typeface="Calibri"/>
              </a:rPr>
              <a:t>Capability</a:t>
            </a:r>
            <a:r>
              <a:rPr sz="2200" b="1" spc="-5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366FF"/>
                </a:solidFill>
                <a:latin typeface="Calibri"/>
                <a:cs typeface="Calibri"/>
              </a:rPr>
              <a:t>list</a:t>
            </a:r>
            <a:r>
              <a:rPr sz="2200" b="1" spc="-45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domain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list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objects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together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with </a:t>
            </a:r>
            <a:r>
              <a:rPr sz="2200" spc="-10" dirty="0">
                <a:latin typeface="Calibri"/>
                <a:cs typeface="Calibri"/>
              </a:rPr>
              <a:t>operations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allows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them</a:t>
            </a:r>
            <a:endParaRPr sz="2200" dirty="0">
              <a:latin typeface="Calibri"/>
              <a:cs typeface="Calibri"/>
            </a:endParaRPr>
          </a:p>
          <a:p>
            <a:pPr marL="781685" lvl="1" indent="-286385" algn="just">
              <a:lnSpc>
                <a:spcPct val="100000"/>
              </a:lnSpc>
              <a:buFont typeface="Arial MT"/>
              <a:buChar char="–"/>
              <a:tabLst>
                <a:tab pos="781685" algn="l"/>
              </a:tabLst>
            </a:pPr>
            <a:r>
              <a:rPr sz="2200" dirty="0">
                <a:latin typeface="Calibri"/>
                <a:cs typeface="Calibri"/>
              </a:rPr>
              <a:t>Object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name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or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address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66FF"/>
                </a:solidFill>
                <a:latin typeface="Calibri"/>
                <a:cs typeface="Calibri"/>
              </a:rPr>
              <a:t>capability</a:t>
            </a:r>
            <a:endParaRPr sz="2200" dirty="0">
              <a:latin typeface="Calibri"/>
              <a:cs typeface="Calibri"/>
            </a:endParaRPr>
          </a:p>
          <a:p>
            <a:pPr marL="781685" marR="41275" lvl="1" indent="-287020" algn="just">
              <a:lnSpc>
                <a:spcPts val="2110"/>
              </a:lnSpc>
              <a:spcBef>
                <a:spcPts val="515"/>
              </a:spcBef>
              <a:buFont typeface="Arial MT"/>
              <a:buChar char="–"/>
              <a:tabLst>
                <a:tab pos="781685" algn="l"/>
              </a:tabLst>
            </a:pPr>
            <a:r>
              <a:rPr sz="2200" spc="-10" dirty="0">
                <a:latin typeface="Calibri"/>
                <a:cs typeface="Calibri"/>
              </a:rPr>
              <a:t>Execute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operation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object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175" baseline="-21072" dirty="0">
                <a:latin typeface="Calibri"/>
                <a:cs typeface="Calibri"/>
              </a:rPr>
              <a:t>j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requests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operation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specifies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capability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parameter</a:t>
            </a:r>
            <a:endParaRPr sz="2200" dirty="0">
              <a:latin typeface="Calibri"/>
              <a:cs typeface="Calibri"/>
            </a:endParaRPr>
          </a:p>
          <a:p>
            <a:pPr marL="1181100" lvl="2" indent="-228600" algn="just">
              <a:lnSpc>
                <a:spcPts val="2275"/>
              </a:lnSpc>
              <a:spcBef>
                <a:spcPts val="30"/>
              </a:spcBef>
              <a:buFont typeface="Arial MT"/>
              <a:buChar char="•"/>
              <a:tabLst>
                <a:tab pos="1181100" algn="l"/>
              </a:tabLst>
            </a:pPr>
            <a:r>
              <a:rPr sz="1900" dirty="0">
                <a:latin typeface="Calibri"/>
                <a:cs typeface="Calibri"/>
              </a:rPr>
              <a:t>Possession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capability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means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access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allowed</a:t>
            </a:r>
            <a:endParaRPr sz="1900" dirty="0">
              <a:latin typeface="Calibri"/>
              <a:cs typeface="Calibri"/>
            </a:endParaRPr>
          </a:p>
          <a:p>
            <a:pPr marL="781685" lvl="1" indent="-286385" algn="just">
              <a:lnSpc>
                <a:spcPts val="2370"/>
              </a:lnSpc>
              <a:buFont typeface="Arial MT"/>
              <a:buChar char="–"/>
              <a:tabLst>
                <a:tab pos="781685" algn="l"/>
              </a:tabLst>
            </a:pPr>
            <a:r>
              <a:rPr sz="2200" dirty="0">
                <a:latin typeface="Calibri"/>
                <a:cs typeface="Calibri"/>
              </a:rPr>
              <a:t>Capability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list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associated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domain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never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directly</a:t>
            </a:r>
            <a:endParaRPr sz="2200" dirty="0">
              <a:latin typeface="Calibri"/>
              <a:cs typeface="Calibri"/>
            </a:endParaRPr>
          </a:p>
          <a:p>
            <a:pPr marL="781685" algn="just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accessible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domain</a:t>
            </a:r>
            <a:endParaRPr sz="2200" dirty="0">
              <a:latin typeface="Calibri"/>
              <a:cs typeface="Calibri"/>
            </a:endParaRPr>
          </a:p>
          <a:p>
            <a:pPr marL="1181100" lvl="2" indent="-228600" algn="just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1181100" algn="l"/>
              </a:tabLst>
            </a:pPr>
            <a:r>
              <a:rPr sz="1900" spc="-25" dirty="0">
                <a:latin typeface="Calibri"/>
                <a:cs typeface="Calibri"/>
              </a:rPr>
              <a:t>Rather,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protected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object,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maintained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accessed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indirectly</a:t>
            </a:r>
            <a:endParaRPr sz="1900" dirty="0">
              <a:latin typeface="Calibri"/>
              <a:cs typeface="Calibri"/>
            </a:endParaRPr>
          </a:p>
          <a:p>
            <a:pPr marL="1181100" lvl="2" indent="-228600" algn="just">
              <a:lnSpc>
                <a:spcPct val="100000"/>
              </a:lnSpc>
              <a:buFont typeface="Arial MT"/>
              <a:buChar char="•"/>
              <a:tabLst>
                <a:tab pos="1181100" algn="l"/>
              </a:tabLst>
            </a:pPr>
            <a:r>
              <a:rPr sz="1900" dirty="0">
                <a:latin typeface="Calibri"/>
                <a:cs typeface="Calibri"/>
              </a:rPr>
              <a:t>Like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“secure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pointer”</a:t>
            </a:r>
            <a:endParaRPr sz="1900" dirty="0">
              <a:latin typeface="Calibri"/>
              <a:cs typeface="Calibri"/>
            </a:endParaRPr>
          </a:p>
          <a:p>
            <a:pPr marL="1181100" lvl="2" indent="-228600" algn="just">
              <a:lnSpc>
                <a:spcPct val="100000"/>
              </a:lnSpc>
              <a:buFont typeface="Arial MT"/>
              <a:buChar char="•"/>
              <a:tabLst>
                <a:tab pos="1181100" algn="l"/>
              </a:tabLst>
            </a:pPr>
            <a:r>
              <a:rPr sz="1900" dirty="0">
                <a:latin typeface="Calibri"/>
                <a:cs typeface="Calibri"/>
              </a:rPr>
              <a:t>Idea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extended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up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applications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7510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Capability</a:t>
            </a:r>
            <a:r>
              <a:rPr b="1" spc="-15" dirty="0"/>
              <a:t> </a:t>
            </a:r>
            <a:r>
              <a:rPr b="1" spc="-10" dirty="0"/>
              <a:t>List(cont..)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8874"/>
            <a:ext cx="7932420" cy="255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365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Each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Row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Capability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List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(like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key)</a:t>
            </a:r>
            <a:endParaRPr sz="3200">
              <a:latin typeface="Calibri"/>
              <a:cs typeface="Calibri"/>
            </a:endParaRPr>
          </a:p>
          <a:p>
            <a:pPr marL="355600" marR="5080">
              <a:lnSpc>
                <a:spcPts val="3460"/>
              </a:lnSpc>
              <a:spcBef>
                <a:spcPts val="240"/>
              </a:spcBef>
            </a:pPr>
            <a:r>
              <a:rPr sz="3200" dirty="0">
                <a:latin typeface="Calibri"/>
                <a:cs typeface="Calibri"/>
              </a:rPr>
              <a:t>For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domain,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what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operations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allowed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on </a:t>
            </a:r>
            <a:r>
              <a:rPr sz="3200" dirty="0">
                <a:latin typeface="Calibri"/>
                <a:cs typeface="Calibri"/>
              </a:rPr>
              <a:t>what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objects</a:t>
            </a:r>
            <a:endParaRPr sz="320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270"/>
              </a:spcBef>
            </a:pPr>
            <a:r>
              <a:rPr sz="2300" dirty="0">
                <a:latin typeface="Calibri"/>
                <a:cs typeface="Calibri"/>
              </a:rPr>
              <a:t>Object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F1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–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Read</a:t>
            </a:r>
            <a:endParaRPr sz="2300">
              <a:latin typeface="Calibri"/>
              <a:cs typeface="Calibri"/>
            </a:endParaRPr>
          </a:p>
          <a:p>
            <a:pPr marL="1384300" marR="2082164">
              <a:lnSpc>
                <a:spcPct val="110000"/>
              </a:lnSpc>
            </a:pPr>
            <a:r>
              <a:rPr sz="2300" dirty="0">
                <a:latin typeface="Calibri"/>
                <a:cs typeface="Calibri"/>
              </a:rPr>
              <a:t>Object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F4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–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Read,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Write,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Execute </a:t>
            </a:r>
            <a:r>
              <a:rPr sz="2300" dirty="0">
                <a:latin typeface="Calibri"/>
                <a:cs typeface="Calibri"/>
              </a:rPr>
              <a:t>Object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F5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–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Read,</a:t>
            </a:r>
            <a:r>
              <a:rPr sz="2300" spc="-6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Write,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Delete,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Copy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4775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Implementation</a:t>
            </a:r>
            <a:r>
              <a:rPr b="1" spc="-120" dirty="0"/>
              <a:t> </a:t>
            </a:r>
            <a:r>
              <a:rPr b="1" dirty="0"/>
              <a:t>of</a:t>
            </a:r>
            <a:r>
              <a:rPr b="1" spc="-75" dirty="0"/>
              <a:t> </a:t>
            </a:r>
            <a:r>
              <a:rPr b="1" dirty="0"/>
              <a:t>Access</a:t>
            </a:r>
            <a:r>
              <a:rPr b="1" spc="-80" dirty="0"/>
              <a:t> </a:t>
            </a:r>
            <a:r>
              <a:rPr b="1" spc="-10" dirty="0"/>
              <a:t>Matrix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784465" cy="437261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3200" b="1" dirty="0">
                <a:latin typeface="Calibri"/>
                <a:cs typeface="Calibri"/>
              </a:rPr>
              <a:t>A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Lock-Key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Mechanism</a:t>
            </a:r>
            <a:endParaRPr sz="3200" dirty="0">
              <a:latin typeface="Calibri"/>
              <a:cs typeface="Calibri"/>
            </a:endParaRPr>
          </a:p>
          <a:p>
            <a:pPr marL="756285" marR="371475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unique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bit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patterns, </a:t>
            </a:r>
            <a:r>
              <a:rPr sz="2800" b="1" dirty="0">
                <a:latin typeface="Calibri"/>
                <a:cs typeface="Calibri"/>
              </a:rPr>
              <a:t>termed</a:t>
            </a:r>
            <a:r>
              <a:rPr sz="2800" b="1" spc="-1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locks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56285" marR="1034415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own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bit </a:t>
            </a:r>
            <a:r>
              <a:rPr sz="2800" spc="-10" dirty="0">
                <a:latin typeface="Calibri"/>
                <a:cs typeface="Calibri"/>
              </a:rPr>
              <a:t>patterns,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termed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keys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55015" marR="92075" indent="-28575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granted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domain's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keys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fits 	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resource's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locks.</a:t>
            </a:r>
            <a:endParaRPr sz="2800" dirty="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Again,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modify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own </a:t>
            </a:r>
            <a:r>
              <a:rPr sz="2800" spc="-10" dirty="0">
                <a:latin typeface="Calibri"/>
                <a:cs typeface="Calibri"/>
              </a:rPr>
              <a:t>keys.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3810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3675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Comparison</a:t>
            </a:r>
            <a:r>
              <a:rPr b="1" spc="-60" dirty="0"/>
              <a:t> </a:t>
            </a:r>
            <a:r>
              <a:rPr b="1" dirty="0"/>
              <a:t>of</a:t>
            </a:r>
            <a:r>
              <a:rPr b="1" spc="-30" dirty="0"/>
              <a:t> </a:t>
            </a:r>
            <a:r>
              <a:rPr b="1" spc="-10" dirty="0"/>
              <a:t>Implementations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693659" cy="426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Many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trade-</a:t>
            </a:r>
            <a:r>
              <a:rPr sz="3000" dirty="0">
                <a:latin typeface="Calibri"/>
                <a:cs typeface="Calibri"/>
              </a:rPr>
              <a:t>offs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consider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Global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table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simple,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but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large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Access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lists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correspond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needs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users</a:t>
            </a:r>
            <a:endParaRPr sz="2600" dirty="0">
              <a:latin typeface="Calibri"/>
              <a:cs typeface="Calibri"/>
            </a:endParaRPr>
          </a:p>
          <a:p>
            <a:pPr marL="1155700" marR="45720" lvl="2" indent="-228600">
              <a:lnSpc>
                <a:spcPts val="2110"/>
              </a:lnSpc>
              <a:spcBef>
                <a:spcPts val="530"/>
              </a:spcBef>
              <a:buFont typeface="Arial MT"/>
              <a:buChar char="•"/>
              <a:tabLst>
                <a:tab pos="1155700" algn="l"/>
              </a:tabLst>
            </a:pPr>
            <a:r>
              <a:rPr sz="2200" spc="-10" dirty="0">
                <a:latin typeface="Calibri"/>
                <a:cs typeface="Calibri"/>
              </a:rPr>
              <a:t>Determining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rights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domain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non-</a:t>
            </a:r>
            <a:r>
              <a:rPr sz="2200" spc="-10" dirty="0">
                <a:latin typeface="Calibri"/>
                <a:cs typeface="Calibri"/>
              </a:rPr>
              <a:t>localized difficult</a:t>
            </a:r>
            <a:endParaRPr sz="22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1155700" algn="l"/>
              </a:tabLst>
            </a:pPr>
            <a:r>
              <a:rPr sz="2200" dirty="0">
                <a:latin typeface="Calibri"/>
                <a:cs typeface="Calibri"/>
              </a:rPr>
              <a:t>Every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object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checked</a:t>
            </a:r>
            <a:endParaRPr sz="2200" dirty="0">
              <a:latin typeface="Calibri"/>
              <a:cs typeface="Calibri"/>
            </a:endParaRPr>
          </a:p>
          <a:p>
            <a:pPr marL="1384300">
              <a:lnSpc>
                <a:spcPts val="2270"/>
              </a:lnSpc>
              <a:spcBef>
                <a:spcPts val="15"/>
              </a:spcBef>
            </a:pPr>
            <a:r>
              <a:rPr sz="1900" dirty="0">
                <a:latin typeface="Arial MT"/>
                <a:cs typeface="Arial MT"/>
              </a:rPr>
              <a:t>–</a:t>
            </a:r>
            <a:r>
              <a:rPr sz="1900" spc="150" dirty="0">
                <a:latin typeface="Arial MT"/>
                <a:cs typeface="Arial MT"/>
              </a:rPr>
              <a:t> </a:t>
            </a:r>
            <a:r>
              <a:rPr sz="1900" dirty="0">
                <a:latin typeface="Calibri"/>
                <a:cs typeface="Calibri"/>
              </a:rPr>
              <a:t>Many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objects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access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rights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-</a:t>
            </a:r>
            <a:r>
              <a:rPr sz="1900" dirty="0">
                <a:latin typeface="Calibri"/>
                <a:cs typeface="Calibri"/>
              </a:rPr>
              <a:t>&gt;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slow</a:t>
            </a:r>
            <a:endParaRPr sz="19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610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Capability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lists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useful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localizing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information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given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endParaRPr sz="2600" dirty="0">
              <a:latin typeface="Calibri"/>
              <a:cs typeface="Calibri"/>
            </a:endParaRPr>
          </a:p>
          <a:p>
            <a:pPr marL="1155700" lvl="2" indent="-228600">
              <a:lnSpc>
                <a:spcPts val="2630"/>
              </a:lnSpc>
              <a:spcBef>
                <a:spcPts val="15"/>
              </a:spcBef>
              <a:buFont typeface="Arial MT"/>
              <a:buChar char="•"/>
              <a:tabLst>
                <a:tab pos="1155700" algn="l"/>
              </a:tabLst>
            </a:pPr>
            <a:r>
              <a:rPr sz="2200" dirty="0">
                <a:latin typeface="Calibri"/>
                <a:cs typeface="Calibri"/>
              </a:rPr>
              <a:t>But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revocation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capabilities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inefficient</a:t>
            </a:r>
            <a:endParaRPr sz="2200" dirty="0">
              <a:latin typeface="Calibri"/>
              <a:cs typeface="Calibri"/>
            </a:endParaRPr>
          </a:p>
          <a:p>
            <a:pPr marL="756285" marR="239395" lvl="1" indent="-287020">
              <a:lnSpc>
                <a:spcPts val="2500"/>
              </a:lnSpc>
              <a:spcBef>
                <a:spcPts val="595"/>
              </a:spcBef>
              <a:buFont typeface="Arial MT"/>
              <a:buChar char="–"/>
              <a:tabLst>
                <a:tab pos="756285" algn="l"/>
              </a:tabLst>
            </a:pPr>
            <a:r>
              <a:rPr sz="2600" spc="-10" dirty="0">
                <a:latin typeface="Calibri"/>
                <a:cs typeface="Calibri"/>
              </a:rPr>
              <a:t>Lock-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effective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flexible,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keys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passed </a:t>
            </a:r>
            <a:r>
              <a:rPr sz="2600" dirty="0">
                <a:latin typeface="Calibri"/>
                <a:cs typeface="Calibri"/>
              </a:rPr>
              <a:t>freely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domain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domain,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easy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revocation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C1477-8FDB-49B8-B012-19B06B0F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fr-FR"/>
              <a:t>Dr. Binod Kr. Adhikari</a:t>
            </a:r>
            <a:endParaRPr lang="fr-FR"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457200"/>
            <a:ext cx="740664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0685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Access</a:t>
            </a:r>
            <a:r>
              <a:rPr b="1" spc="-45" dirty="0"/>
              <a:t> </a:t>
            </a:r>
            <a:r>
              <a:rPr b="1" dirty="0"/>
              <a:t>Matrix</a:t>
            </a:r>
            <a:r>
              <a:rPr b="1" spc="-35" dirty="0"/>
              <a:t> </a:t>
            </a:r>
            <a:r>
              <a:rPr b="1" spc="-10" dirty="0"/>
              <a:t>Implementation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59126" y="2209800"/>
            <a:ext cx="7543800" cy="18396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27393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Each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advantage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</a:t>
            </a:r>
            <a:r>
              <a:rPr lang="en-US"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disadvantages</a:t>
            </a:r>
            <a:endParaRPr sz="28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Many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commercial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combination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9682" y="381000"/>
            <a:ext cx="3564254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dirty="0"/>
              <a:t>Access</a:t>
            </a:r>
            <a:r>
              <a:rPr b="1" spc="-25" dirty="0"/>
              <a:t> </a:t>
            </a:r>
            <a:r>
              <a:rPr b="1" spc="-10" dirty="0"/>
              <a:t>Controls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535431" y="1535264"/>
            <a:ext cx="8072755" cy="40555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algn="just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latin typeface="Calibri"/>
                <a:cs typeface="Calibri"/>
              </a:rPr>
              <a:t>Role-Based Access Control, RBAC </a:t>
            </a:r>
            <a:r>
              <a:rPr lang="en-US" sz="3200" dirty="0">
                <a:latin typeface="Calibri"/>
                <a:cs typeface="Calibri"/>
              </a:rPr>
              <a:t>assigns </a:t>
            </a:r>
            <a:r>
              <a:rPr sz="3200" dirty="0">
                <a:latin typeface="Calibri"/>
                <a:cs typeface="Calibri"/>
              </a:rPr>
              <a:t>privileges</a:t>
            </a:r>
            <a:r>
              <a:rPr sz="3200" spc="30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3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users,</a:t>
            </a:r>
            <a:r>
              <a:rPr sz="3200" spc="30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programs,</a:t>
            </a:r>
            <a:r>
              <a:rPr sz="3200" spc="29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30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roles</a:t>
            </a:r>
            <a:r>
              <a:rPr sz="3200" spc="295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as </a:t>
            </a:r>
            <a:r>
              <a:rPr sz="3200" dirty="0">
                <a:latin typeface="Calibri"/>
                <a:cs typeface="Calibri"/>
              </a:rPr>
              <a:t>appropriate,</a:t>
            </a:r>
            <a:r>
              <a:rPr sz="3200" spc="7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where</a:t>
            </a:r>
            <a:r>
              <a:rPr sz="3200" spc="7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"privileges"</a:t>
            </a:r>
            <a:r>
              <a:rPr sz="3200" spc="7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refer</a:t>
            </a:r>
            <a:r>
              <a:rPr sz="3200" spc="7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7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right</a:t>
            </a:r>
            <a:r>
              <a:rPr sz="3200" spc="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call</a:t>
            </a:r>
            <a:r>
              <a:rPr sz="3200" spc="4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certain</a:t>
            </a:r>
            <a:r>
              <a:rPr sz="3200" spc="5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system</a:t>
            </a:r>
            <a:r>
              <a:rPr sz="3200" spc="4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calls,</a:t>
            </a:r>
            <a:r>
              <a:rPr sz="3200" spc="5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45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use </a:t>
            </a:r>
            <a:r>
              <a:rPr sz="3200" dirty="0">
                <a:latin typeface="Calibri"/>
                <a:cs typeface="Calibri"/>
              </a:rPr>
              <a:t>certain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parameters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those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calls.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  <a:tab pos="446405" algn="l"/>
              </a:tabLst>
            </a:pPr>
            <a:r>
              <a:rPr sz="3200" dirty="0">
                <a:latin typeface="Calibri"/>
                <a:cs typeface="Calibri"/>
              </a:rPr>
              <a:t>	RBAC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supports</a:t>
            </a:r>
            <a:r>
              <a:rPr sz="3200" spc="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principle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least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privilege,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5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reduces</a:t>
            </a:r>
            <a:r>
              <a:rPr sz="3200" spc="1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15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susceptibility</a:t>
            </a:r>
            <a:r>
              <a:rPr sz="3200" spc="17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abuse</a:t>
            </a:r>
            <a:r>
              <a:rPr sz="3200" spc="155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as </a:t>
            </a:r>
            <a:r>
              <a:rPr sz="3200" dirty="0">
                <a:latin typeface="Calibri"/>
                <a:cs typeface="Calibri"/>
              </a:rPr>
              <a:t>opposed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SUID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SGID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programs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3457" y="5624576"/>
            <a:ext cx="4726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Role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solaris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143000"/>
            <a:ext cx="3847093" cy="425671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316F186-553A-411E-B9B1-3AD06EEAF921}"/>
              </a:ext>
            </a:extLst>
          </p:cNvPr>
          <p:cNvSpPr txBox="1">
            <a:spLocks/>
          </p:cNvSpPr>
          <p:nvPr/>
        </p:nvSpPr>
        <p:spPr>
          <a:xfrm>
            <a:off x="990600" y="381000"/>
            <a:ext cx="6934200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b="1" dirty="0"/>
              <a:t>Role-Based Access Control</a:t>
            </a:r>
            <a:endParaRPr lang="en-IN" b="1" spc="-1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/>
              <a:t>Dr. Binod Kr. Adhikari</a:t>
            </a:r>
            <a:endParaRPr spc="-25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722156-CD66-4465-8F0F-377D5EE2CDAC}"/>
              </a:ext>
            </a:extLst>
          </p:cNvPr>
          <p:cNvSpPr/>
          <p:nvPr/>
        </p:nvSpPr>
        <p:spPr>
          <a:xfrm>
            <a:off x="2792505" y="2819400"/>
            <a:ext cx="360829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</a:t>
            </a:r>
            <a:r>
              <a:rPr lang="en-US" sz="6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You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- O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- OS" id="{F0A37ABD-166E-4991-BEB4-560DCE37D1A7}" vid="{B41524AA-38AE-4EEB-A55E-5368FBCB6A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- OS</Template>
  <TotalTime>3131</TotalTime>
  <Words>1568</Words>
  <Application>Microsoft Office PowerPoint</Application>
  <PresentationFormat>On-screen Show (4:3)</PresentationFormat>
  <Paragraphs>154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 MT</vt:lpstr>
      <vt:lpstr>Calibri</vt:lpstr>
      <vt:lpstr>Cambria Math</vt:lpstr>
      <vt:lpstr>Corbel</vt:lpstr>
      <vt:lpstr>Times New Roman</vt:lpstr>
      <vt:lpstr>Theme - OS</vt:lpstr>
      <vt:lpstr>Protection and Security in Operating System</vt:lpstr>
      <vt:lpstr>System Protection</vt:lpstr>
      <vt:lpstr>System Protection</vt:lpstr>
      <vt:lpstr>Example of Protection</vt:lpstr>
      <vt:lpstr>Goals of Protection</vt:lpstr>
      <vt:lpstr>Principles of Protection</vt:lpstr>
      <vt:lpstr>Domain of Protection</vt:lpstr>
      <vt:lpstr>Domain of Protection</vt:lpstr>
      <vt:lpstr>Domain of Protection</vt:lpstr>
      <vt:lpstr>Protection Domain</vt:lpstr>
      <vt:lpstr>Crossing Domain</vt:lpstr>
      <vt:lpstr>An Example: UNIX</vt:lpstr>
      <vt:lpstr>Multics ring structure: Domain Protection</vt:lpstr>
      <vt:lpstr>Access Matrix</vt:lpstr>
      <vt:lpstr>Example</vt:lpstr>
      <vt:lpstr>Domain Switching</vt:lpstr>
      <vt:lpstr>Access Matrix : Owner Right</vt:lpstr>
      <vt:lpstr>Implementation of Access Matrix</vt:lpstr>
      <vt:lpstr>Implementation of Access Matrix</vt:lpstr>
      <vt:lpstr>Implementation of Access Matrix</vt:lpstr>
      <vt:lpstr>Access List (cont…)</vt:lpstr>
      <vt:lpstr>Implementation of Access Matrix</vt:lpstr>
      <vt:lpstr>Capability List(cont..)</vt:lpstr>
      <vt:lpstr>Implementation of Access Matrix</vt:lpstr>
      <vt:lpstr>Comparison of Implementations</vt:lpstr>
      <vt:lpstr>Access Matrix Implementation</vt:lpstr>
      <vt:lpstr>Access Controls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Protection and Security in Operating System</dc:title>
  <dc:creator>Hp</dc:creator>
  <cp:lastModifiedBy>Yujan Basnet</cp:lastModifiedBy>
  <cp:revision>5</cp:revision>
  <dcterms:created xsi:type="dcterms:W3CDTF">2024-03-08T16:21:06Z</dcterms:created>
  <dcterms:modified xsi:type="dcterms:W3CDTF">2025-06-19T11:49:48Z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2024-03-08T00:00:00Z</vt:filetime>
  </property>
  <property fmtid="{D5CDD505-2E9C-101B-9397-08002B2CF9AE}" pid="5" name="Producer">
    <vt:lpwstr>Microsoft® Office PowerPoint® 2007</vt:lpwstr>
  </property>
</Properties>
</file>