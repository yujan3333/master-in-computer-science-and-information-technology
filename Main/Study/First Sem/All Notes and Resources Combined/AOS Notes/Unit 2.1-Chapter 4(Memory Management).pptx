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81"/>
  </p:notesMasterIdLst>
  <p:handoutMasterIdLst>
    <p:handoutMasterId r:id="rId82"/>
  </p:handoutMasterIdLst>
  <p:sldIdLst>
    <p:sldId id="256" r:id="rId2"/>
    <p:sldId id="257" r:id="rId3"/>
    <p:sldId id="258" r:id="rId4"/>
    <p:sldId id="259" r:id="rId5"/>
    <p:sldId id="260" r:id="rId6"/>
    <p:sldId id="335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336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337" r:id="rId31"/>
    <p:sldId id="283" r:id="rId32"/>
    <p:sldId id="284" r:id="rId33"/>
    <p:sldId id="338" r:id="rId34"/>
    <p:sldId id="285" r:id="rId35"/>
    <p:sldId id="286" r:id="rId36"/>
    <p:sldId id="384" r:id="rId37"/>
    <p:sldId id="339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382" autoAdjust="0"/>
    <p:restoredTop sz="86397" autoAdjust="0"/>
  </p:normalViewPr>
  <p:slideViewPr>
    <p:cSldViewPr>
      <p:cViewPr varScale="1">
        <p:scale>
          <a:sx n="63" d="100"/>
          <a:sy n="63" d="100"/>
        </p:scale>
        <p:origin x="1482" y="6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1593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1104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jan Basnet" userId="495fd8277ebfbaef" providerId="LiveId" clId="{F0914254-2A6D-4298-9D51-7854CC5E3582}"/>
    <pc:docChg chg="undo custSel modSld">
      <pc:chgData name="Yujan Basnet" userId="495fd8277ebfbaef" providerId="LiveId" clId="{F0914254-2A6D-4298-9D51-7854CC5E3582}" dt="2025-06-19T04:06:57.878" v="67" actId="207"/>
      <pc:docMkLst>
        <pc:docMk/>
      </pc:docMkLst>
      <pc:sldChg chg="modSp mod">
        <pc:chgData name="Yujan Basnet" userId="495fd8277ebfbaef" providerId="LiveId" clId="{F0914254-2A6D-4298-9D51-7854CC5E3582}" dt="2025-06-18T22:57:56.436" v="3" actId="21"/>
        <pc:sldMkLst>
          <pc:docMk/>
          <pc:sldMk cId="0" sldId="270"/>
        </pc:sldMkLst>
        <pc:spChg chg="mod">
          <ac:chgData name="Yujan Basnet" userId="495fd8277ebfbaef" providerId="LiveId" clId="{F0914254-2A6D-4298-9D51-7854CC5E3582}" dt="2025-06-18T22:57:56.436" v="3" actId="21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Yujan Basnet" userId="495fd8277ebfbaef" providerId="LiveId" clId="{F0914254-2A6D-4298-9D51-7854CC5E3582}" dt="2025-06-06T01:02:17.592" v="1" actId="207"/>
        <pc:sldMkLst>
          <pc:docMk/>
          <pc:sldMk cId="0" sldId="285"/>
        </pc:sldMkLst>
        <pc:spChg chg="mod">
          <ac:chgData name="Yujan Basnet" userId="495fd8277ebfbaef" providerId="LiveId" clId="{F0914254-2A6D-4298-9D51-7854CC5E3582}" dt="2025-06-06T01:02:17.592" v="1" actId="207"/>
          <ac:spMkLst>
            <pc:docMk/>
            <pc:sldMk cId="0" sldId="285"/>
            <ac:spMk id="3" creationId="{00000000-0000-0000-0000-000000000000}"/>
          </ac:spMkLst>
        </pc:spChg>
      </pc:sldChg>
      <pc:sldChg chg="addSp delSp modSp mod modNotesTx">
        <pc:chgData name="Yujan Basnet" userId="495fd8277ebfbaef" providerId="LiveId" clId="{F0914254-2A6D-4298-9D51-7854CC5E3582}" dt="2025-06-19T01:33:35.916" v="9"/>
        <pc:sldMkLst>
          <pc:docMk/>
          <pc:sldMk cId="0" sldId="294"/>
        </pc:sldMkLst>
        <pc:spChg chg="mod topLvl">
          <ac:chgData name="Yujan Basnet" userId="495fd8277ebfbaef" providerId="LiveId" clId="{F0914254-2A6D-4298-9D51-7854CC5E3582}" dt="2025-06-19T01:32:19.699" v="6" actId="338"/>
          <ac:spMkLst>
            <pc:docMk/>
            <pc:sldMk cId="0" sldId="294"/>
            <ac:spMk id="5" creationId="{00000000-0000-0000-0000-000000000000}"/>
          </ac:spMkLst>
        </pc:spChg>
        <pc:spChg chg="mod topLvl">
          <ac:chgData name="Yujan Basnet" userId="495fd8277ebfbaef" providerId="LiveId" clId="{F0914254-2A6D-4298-9D51-7854CC5E3582}" dt="2025-06-19T01:32:19.699" v="6" actId="338"/>
          <ac:spMkLst>
            <pc:docMk/>
            <pc:sldMk cId="0" sldId="294"/>
            <ac:spMk id="6" creationId="{00000000-0000-0000-0000-000000000000}"/>
          </ac:spMkLst>
        </pc:spChg>
        <pc:spChg chg="mod topLvl">
          <ac:chgData name="Yujan Basnet" userId="495fd8277ebfbaef" providerId="LiveId" clId="{F0914254-2A6D-4298-9D51-7854CC5E3582}" dt="2025-06-19T01:32:19.699" v="6" actId="338"/>
          <ac:spMkLst>
            <pc:docMk/>
            <pc:sldMk cId="0" sldId="294"/>
            <ac:spMk id="7" creationId="{00000000-0000-0000-0000-000000000000}"/>
          </ac:spMkLst>
        </pc:spChg>
        <pc:grpChg chg="add del mod">
          <ac:chgData name="Yujan Basnet" userId="495fd8277ebfbaef" providerId="LiveId" clId="{F0914254-2A6D-4298-9D51-7854CC5E3582}" dt="2025-06-19T01:32:15.154" v="5" actId="165"/>
          <ac:grpSpMkLst>
            <pc:docMk/>
            <pc:sldMk cId="0" sldId="294"/>
            <ac:grpSpMk id="9" creationId="{08D9BBF9-90A3-F839-2AF7-EF2B64CFC3F6}"/>
          </ac:grpSpMkLst>
        </pc:grpChg>
        <pc:grpChg chg="add mod">
          <ac:chgData name="Yujan Basnet" userId="495fd8277ebfbaef" providerId="LiveId" clId="{F0914254-2A6D-4298-9D51-7854CC5E3582}" dt="2025-06-19T01:32:23.795" v="8" actId="14100"/>
          <ac:grpSpMkLst>
            <pc:docMk/>
            <pc:sldMk cId="0" sldId="294"/>
            <ac:grpSpMk id="10" creationId="{EAC0D587-1DD1-490D-88BE-90E2C6643D87}"/>
          </ac:grpSpMkLst>
        </pc:grpChg>
      </pc:sldChg>
      <pc:sldChg chg="modSp">
        <pc:chgData name="Yujan Basnet" userId="495fd8277ebfbaef" providerId="LiveId" clId="{F0914254-2A6D-4298-9D51-7854CC5E3582}" dt="2025-06-19T02:01:53.413" v="11" actId="207"/>
        <pc:sldMkLst>
          <pc:docMk/>
          <pc:sldMk cId="0" sldId="297"/>
        </pc:sldMkLst>
        <pc:spChg chg="mod">
          <ac:chgData name="Yujan Basnet" userId="495fd8277ebfbaef" providerId="LiveId" clId="{F0914254-2A6D-4298-9D51-7854CC5E3582}" dt="2025-06-19T02:01:53.413" v="11" actId="207"/>
          <ac:spMkLst>
            <pc:docMk/>
            <pc:sldMk cId="0" sldId="297"/>
            <ac:spMk id="3" creationId="{00000000-0000-0000-0000-000000000000}"/>
          </ac:spMkLst>
        </pc:spChg>
      </pc:sldChg>
      <pc:sldChg chg="modSp">
        <pc:chgData name="Yujan Basnet" userId="495fd8277ebfbaef" providerId="LiveId" clId="{F0914254-2A6D-4298-9D51-7854CC5E3582}" dt="2025-06-19T03:23:13.455" v="18" actId="207"/>
        <pc:sldMkLst>
          <pc:docMk/>
          <pc:sldMk cId="0" sldId="304"/>
        </pc:sldMkLst>
        <pc:spChg chg="mod">
          <ac:chgData name="Yujan Basnet" userId="495fd8277ebfbaef" providerId="LiveId" clId="{F0914254-2A6D-4298-9D51-7854CC5E3582}" dt="2025-06-19T03:23:13.455" v="18" actId="207"/>
          <ac:spMkLst>
            <pc:docMk/>
            <pc:sldMk cId="0" sldId="304"/>
            <ac:spMk id="3" creationId="{00000000-0000-0000-0000-000000000000}"/>
          </ac:spMkLst>
        </pc:spChg>
      </pc:sldChg>
      <pc:sldChg chg="modSp">
        <pc:chgData name="Yujan Basnet" userId="495fd8277ebfbaef" providerId="LiveId" clId="{F0914254-2A6D-4298-9D51-7854CC5E3582}" dt="2025-06-19T02:32:18.652" v="14" actId="207"/>
        <pc:sldMkLst>
          <pc:docMk/>
          <pc:sldMk cId="0" sldId="305"/>
        </pc:sldMkLst>
        <pc:spChg chg="mod">
          <ac:chgData name="Yujan Basnet" userId="495fd8277ebfbaef" providerId="LiveId" clId="{F0914254-2A6D-4298-9D51-7854CC5E3582}" dt="2025-06-19T02:32:18.652" v="14" actId="207"/>
          <ac:spMkLst>
            <pc:docMk/>
            <pc:sldMk cId="0" sldId="305"/>
            <ac:spMk id="4" creationId="{00000000-0000-0000-0000-000000000000}"/>
          </ac:spMkLst>
        </pc:spChg>
      </pc:sldChg>
      <pc:sldChg chg="modSp">
        <pc:chgData name="Yujan Basnet" userId="495fd8277ebfbaef" providerId="LiveId" clId="{F0914254-2A6D-4298-9D51-7854CC5E3582}" dt="2025-06-19T03:22:18.267" v="17" actId="207"/>
        <pc:sldMkLst>
          <pc:docMk/>
          <pc:sldMk cId="0" sldId="307"/>
        </pc:sldMkLst>
        <pc:spChg chg="mod">
          <ac:chgData name="Yujan Basnet" userId="495fd8277ebfbaef" providerId="LiveId" clId="{F0914254-2A6D-4298-9D51-7854CC5E3582}" dt="2025-06-19T03:22:18.267" v="17" actId="207"/>
          <ac:spMkLst>
            <pc:docMk/>
            <pc:sldMk cId="0" sldId="307"/>
            <ac:spMk id="3" creationId="{00000000-0000-0000-0000-000000000000}"/>
          </ac:spMkLst>
        </pc:spChg>
      </pc:sldChg>
      <pc:sldChg chg="modSp">
        <pc:chgData name="Yujan Basnet" userId="495fd8277ebfbaef" providerId="LiveId" clId="{F0914254-2A6D-4298-9D51-7854CC5E3582}" dt="2025-06-19T03:44:58.469" v="21" actId="207"/>
        <pc:sldMkLst>
          <pc:docMk/>
          <pc:sldMk cId="0" sldId="312"/>
        </pc:sldMkLst>
        <pc:spChg chg="mod">
          <ac:chgData name="Yujan Basnet" userId="495fd8277ebfbaef" providerId="LiveId" clId="{F0914254-2A6D-4298-9D51-7854CC5E3582}" dt="2025-06-19T03:44:58.469" v="21" actId="207"/>
          <ac:spMkLst>
            <pc:docMk/>
            <pc:sldMk cId="0" sldId="312"/>
            <ac:spMk id="3" creationId="{00000000-0000-0000-0000-000000000000}"/>
          </ac:spMkLst>
        </pc:spChg>
      </pc:sldChg>
      <pc:sldChg chg="modSp">
        <pc:chgData name="Yujan Basnet" userId="495fd8277ebfbaef" providerId="LiveId" clId="{F0914254-2A6D-4298-9D51-7854CC5E3582}" dt="2025-06-19T03:51:35.147" v="46" actId="207"/>
        <pc:sldMkLst>
          <pc:docMk/>
          <pc:sldMk cId="0" sldId="314"/>
        </pc:sldMkLst>
        <pc:spChg chg="mod">
          <ac:chgData name="Yujan Basnet" userId="495fd8277ebfbaef" providerId="LiveId" clId="{F0914254-2A6D-4298-9D51-7854CC5E3582}" dt="2025-06-19T03:51:35.147" v="46" actId="207"/>
          <ac:spMkLst>
            <pc:docMk/>
            <pc:sldMk cId="0" sldId="314"/>
            <ac:spMk id="3" creationId="{00000000-0000-0000-0000-000000000000}"/>
          </ac:spMkLst>
        </pc:spChg>
      </pc:sldChg>
      <pc:sldChg chg="modSp">
        <pc:chgData name="Yujan Basnet" userId="495fd8277ebfbaef" providerId="LiveId" clId="{F0914254-2A6D-4298-9D51-7854CC5E3582}" dt="2025-06-19T03:54:36.207" v="62" actId="113"/>
        <pc:sldMkLst>
          <pc:docMk/>
          <pc:sldMk cId="0" sldId="317"/>
        </pc:sldMkLst>
        <pc:spChg chg="mod">
          <ac:chgData name="Yujan Basnet" userId="495fd8277ebfbaef" providerId="LiveId" clId="{F0914254-2A6D-4298-9D51-7854CC5E3582}" dt="2025-06-19T03:54:36.207" v="62" actId="113"/>
          <ac:spMkLst>
            <pc:docMk/>
            <pc:sldMk cId="0" sldId="317"/>
            <ac:spMk id="3" creationId="{00000000-0000-0000-0000-000000000000}"/>
          </ac:spMkLst>
        </pc:spChg>
      </pc:sldChg>
      <pc:sldChg chg="modSp">
        <pc:chgData name="Yujan Basnet" userId="495fd8277ebfbaef" providerId="LiveId" clId="{F0914254-2A6D-4298-9D51-7854CC5E3582}" dt="2025-06-19T04:02:32.594" v="63" actId="207"/>
        <pc:sldMkLst>
          <pc:docMk/>
          <pc:sldMk cId="0" sldId="319"/>
        </pc:sldMkLst>
        <pc:spChg chg="mod">
          <ac:chgData name="Yujan Basnet" userId="495fd8277ebfbaef" providerId="LiveId" clId="{F0914254-2A6D-4298-9D51-7854CC5E3582}" dt="2025-06-19T04:02:32.594" v="63" actId="207"/>
          <ac:spMkLst>
            <pc:docMk/>
            <pc:sldMk cId="0" sldId="319"/>
            <ac:spMk id="3" creationId="{00000000-0000-0000-0000-000000000000}"/>
          </ac:spMkLst>
        </pc:spChg>
      </pc:sldChg>
      <pc:sldChg chg="modSp">
        <pc:chgData name="Yujan Basnet" userId="495fd8277ebfbaef" providerId="LiveId" clId="{F0914254-2A6D-4298-9D51-7854CC5E3582}" dt="2025-06-19T04:03:30.768" v="66" actId="207"/>
        <pc:sldMkLst>
          <pc:docMk/>
          <pc:sldMk cId="0" sldId="320"/>
        </pc:sldMkLst>
        <pc:spChg chg="mod">
          <ac:chgData name="Yujan Basnet" userId="495fd8277ebfbaef" providerId="LiveId" clId="{F0914254-2A6D-4298-9D51-7854CC5E3582}" dt="2025-06-19T04:03:30.768" v="66" actId="207"/>
          <ac:spMkLst>
            <pc:docMk/>
            <pc:sldMk cId="0" sldId="320"/>
            <ac:spMk id="3" creationId="{00000000-0000-0000-0000-000000000000}"/>
          </ac:spMkLst>
        </pc:spChg>
      </pc:sldChg>
      <pc:sldChg chg="modSp">
        <pc:chgData name="Yujan Basnet" userId="495fd8277ebfbaef" providerId="LiveId" clId="{F0914254-2A6D-4298-9D51-7854CC5E3582}" dt="2025-06-19T04:06:57.878" v="67" actId="207"/>
        <pc:sldMkLst>
          <pc:docMk/>
          <pc:sldMk cId="0" sldId="324"/>
        </pc:sldMkLst>
        <pc:spChg chg="mod">
          <ac:chgData name="Yujan Basnet" userId="495fd8277ebfbaef" providerId="LiveId" clId="{F0914254-2A6D-4298-9D51-7854CC5E3582}" dt="2025-06-19T04:06:57.878" v="67" actId="207"/>
          <ac:spMkLst>
            <pc:docMk/>
            <pc:sldMk cId="0" sldId="324"/>
            <ac:spMk id="3" creationId="{00000000-0000-0000-0000-000000000000}"/>
          </ac:spMkLst>
        </pc:spChg>
      </pc:sldChg>
    </pc:docChg>
  </pc:docChgLst>
  <pc:docChgLst>
    <pc:chgData name="Binod Kumar Adhikari" userId="256f5a90-d823-4e8d-9a41-a3da19f4a0ad" providerId="ADAL" clId="{5A71DB9E-0438-43DD-BCCD-4705A857DDEE}"/>
    <pc:docChg chg="modSld">
      <pc:chgData name="Binod Kumar Adhikari" userId="256f5a90-d823-4e8d-9a41-a3da19f4a0ad" providerId="ADAL" clId="{5A71DB9E-0438-43DD-BCCD-4705A857DDEE}" dt="2025-04-03T07:07:01.682" v="9" actId="20577"/>
      <pc:docMkLst>
        <pc:docMk/>
      </pc:docMkLst>
      <pc:sldChg chg="modSp">
        <pc:chgData name="Binod Kumar Adhikari" userId="256f5a90-d823-4e8d-9a41-a3da19f4a0ad" providerId="ADAL" clId="{5A71DB9E-0438-43DD-BCCD-4705A857DDEE}" dt="2025-04-03T06:48:48.930" v="3" actId="1036"/>
        <pc:sldMkLst>
          <pc:docMk/>
          <pc:sldMk cId="0" sldId="263"/>
        </pc:sldMkLst>
        <pc:spChg chg="mod">
          <ac:chgData name="Binod Kumar Adhikari" userId="256f5a90-d823-4e8d-9a41-a3da19f4a0ad" providerId="ADAL" clId="{5A71DB9E-0438-43DD-BCCD-4705A857DDEE}" dt="2025-04-03T06:48:48.930" v="3" actId="1036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Binod Kumar Adhikari" userId="256f5a90-d823-4e8d-9a41-a3da19f4a0ad" providerId="ADAL" clId="{5A71DB9E-0438-43DD-BCCD-4705A857DDEE}" dt="2025-04-03T07:07:01.682" v="9" actId="20577"/>
        <pc:sldMkLst>
          <pc:docMk/>
          <pc:sldMk cId="0" sldId="271"/>
        </pc:sldMkLst>
        <pc:spChg chg="mod">
          <ac:chgData name="Binod Kumar Adhikari" userId="256f5a90-d823-4e8d-9a41-a3da19f4a0ad" providerId="ADAL" clId="{5A71DB9E-0438-43DD-BCCD-4705A857DDEE}" dt="2025-04-03T07:07:01.682" v="9" actId="20577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65A204-45CC-4915-9840-16CDBBFD24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60AC94-C9A0-404B-8E7A-F4D4AA3B18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99C20-1A27-4BE1-B0EA-2CDE3A3C1465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F0429-373A-4FAC-B0C7-E5C2FC467E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E2813-E1C8-42F6-8369-D9409F825E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2FEF3-F7A2-4AE0-99E8-0006A1BC43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3260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0D91A-2931-4225-9197-D5B0622D4AE5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B29EF-3201-4070-944A-7D10145F7B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64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1FF4BE45-5D39-4F6C-96DF-00DB6410E1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5BED16-7B95-4138-B611-53730FDE70F5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8EB4223F-101A-48BC-AFBD-9C393719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513CAAC-C82C-46DC-9D1A-53622666C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B29EF-3201-4070-944A-7D10145F7BE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646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DFC83465-7550-4DE3-9F4A-F77E873414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7017BB2-CFBE-4573-BD91-DA0D80E301F6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0D5EE0BB-3F37-4059-A9F1-4EF552C0A1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53AD2A18-1150-4461-9698-AF4FB1836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Given segment table: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Segment 0: Base = 330, Size = 124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Segment 1: Base = 876, Size = 211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Segment 2: Base = 111, Size = 99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Segment 3: Base = 498, Size = 302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B29EF-3201-4070-944A-7D10145F7BED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590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page fault, the OS validates the address, fetches the page from disk to memory, updates mappings, and resumes the process seamlessly.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B29EF-3201-4070-944A-7D10145F7BED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429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25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 dirty="0"/>
              <a:t>Prepared by: </a:t>
            </a:r>
            <a:r>
              <a:rPr lang="en-IN" dirty="0" err="1"/>
              <a:t>Dr.</a:t>
            </a:r>
            <a:r>
              <a:rPr lang="en-IN" dirty="0"/>
              <a:t> Binod Kr. Adhikari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54A6A-B736-424B-A461-DD07D9471141}"/>
              </a:ext>
            </a:extLst>
          </p:cNvPr>
          <p:cNvSpPr/>
          <p:nvPr userDrawn="1"/>
        </p:nvSpPr>
        <p:spPr>
          <a:xfrm>
            <a:off x="846814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71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9C1D18-596C-4A46-A2BD-73A286C6F7F2}"/>
              </a:ext>
            </a:extLst>
          </p:cNvPr>
          <p:cNvSpPr/>
          <p:nvPr userDrawn="1"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095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4FB00-F04E-4239-9D65-0039C0394CB0}"/>
              </a:ext>
            </a:extLst>
          </p:cNvPr>
          <p:cNvSpPr/>
          <p:nvPr userDrawn="1"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721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D5B90-141B-44D9-BEC0-A558419CFA32}"/>
              </a:ext>
            </a:extLst>
          </p:cNvPr>
          <p:cNvSpPr/>
          <p:nvPr userDrawn="1"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62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b="1"/>
            </a:lvl1pPr>
          </a:lstStyle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F449E-F837-4EA1-A58D-7E2CA932D463}"/>
              </a:ext>
            </a:extLst>
          </p:cNvPr>
          <p:cNvSpPr/>
          <p:nvPr userDrawn="1"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03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4AFE6-6A8F-441E-952B-130FFFB4070D}"/>
              </a:ext>
            </a:extLst>
          </p:cNvPr>
          <p:cNvSpPr/>
          <p:nvPr userDrawn="1"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72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1097280"/>
            <a:ext cx="3909060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A32BE-F2A3-4F12-A8C0-09BD997E5102}"/>
              </a:ext>
            </a:extLst>
          </p:cNvPr>
          <p:cNvSpPr/>
          <p:nvPr userDrawn="1"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59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1069847"/>
            <a:ext cx="4574286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1849C-2872-4E43-9633-84F714AA45D0}"/>
              </a:ext>
            </a:extLst>
          </p:cNvPr>
          <p:cNvSpPr/>
          <p:nvPr userDrawn="1"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97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C1332-0CCA-4F8E-BE2B-75DDDED7AE4E}"/>
              </a:ext>
            </a:extLst>
          </p:cNvPr>
          <p:cNvSpPr/>
          <p:nvPr userDrawn="1"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6327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FDDA1-89B3-4669-9E5C-82E52ECCD924}"/>
              </a:ext>
            </a:extLst>
          </p:cNvPr>
          <p:cNvSpPr/>
          <p:nvPr userDrawn="1"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0752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FB57-0013-4E9E-AA54-EAB84A192B1B}"/>
              </a:ext>
            </a:extLst>
          </p:cNvPr>
          <p:cNvSpPr/>
          <p:nvPr userDrawn="1"/>
        </p:nvSpPr>
        <p:spPr>
          <a:xfrm>
            <a:off x="8471452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49443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545" y="541559"/>
            <a:ext cx="515175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5" dirty="0"/>
              <a:t>Memory</a:t>
            </a:r>
            <a:r>
              <a:rPr b="1" spc="-75" dirty="0"/>
              <a:t> </a:t>
            </a:r>
            <a:r>
              <a:rPr b="1" spc="-5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616774"/>
            <a:ext cx="7534275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entire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program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endParaRPr sz="2400">
              <a:latin typeface="Calibri"/>
              <a:cs typeface="Calibri"/>
            </a:endParaRPr>
          </a:p>
          <a:p>
            <a:pPr marL="3175" algn="ctr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process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execute.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keep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track</a:t>
            </a:r>
            <a:r>
              <a:rPr sz="20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processes</a:t>
            </a:r>
            <a:r>
              <a:rPr sz="20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currently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being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executed?</a:t>
            </a:r>
            <a:endParaRPr sz="2000">
              <a:latin typeface="Calibri"/>
              <a:cs typeface="Calibri"/>
            </a:endParaRPr>
          </a:p>
          <a:p>
            <a:pPr marL="12700" marR="1106805">
              <a:lnSpc>
                <a:spcPct val="120000"/>
              </a:lnSpc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Which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processes</a:t>
            </a:r>
            <a:r>
              <a:rPr sz="20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load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when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memory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space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0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available?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 How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 load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processes</a:t>
            </a:r>
            <a:r>
              <a:rPr sz="20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20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larger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 main</a:t>
            </a:r>
            <a:r>
              <a:rPr sz="20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memory? </a:t>
            </a:r>
            <a:r>
              <a:rPr sz="2000" spc="-4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processes</a:t>
            </a:r>
            <a:r>
              <a:rPr sz="20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share</a:t>
            </a:r>
            <a:r>
              <a:rPr sz="20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main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memory?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b="1" spc="-5" dirty="0">
                <a:latin typeface="Calibri"/>
                <a:cs typeface="Calibri"/>
              </a:rPr>
              <a:t>OS</a:t>
            </a:r>
            <a:r>
              <a:rPr sz="2400" b="1" spc="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component</a:t>
            </a:r>
            <a:r>
              <a:rPr sz="2400" b="1" spc="6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that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spc="5" dirty="0">
                <a:latin typeface="Calibri"/>
                <a:cs typeface="Calibri"/>
              </a:rPr>
              <a:t>is</a:t>
            </a:r>
            <a:r>
              <a:rPr sz="2400" b="1" spc="6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responsible</a:t>
            </a:r>
            <a:r>
              <a:rPr sz="2400" b="1" spc="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for</a:t>
            </a:r>
            <a:r>
              <a:rPr sz="2400" b="1" spc="6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handling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these</a:t>
            </a:r>
            <a:r>
              <a:rPr sz="2400" b="1" spc="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issues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 memory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manager.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2F83D40-8FFD-4D21-B7E9-34F4C779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342" y="990600"/>
            <a:ext cx="8277225" cy="5037396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993882-0E3B-4225-BB32-4560393E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DE9DF43-9F86-441C-9669-9B2205E180DF}"/>
              </a:ext>
            </a:extLst>
          </p:cNvPr>
          <p:cNvSpPr txBox="1">
            <a:spLocks/>
          </p:cNvSpPr>
          <p:nvPr/>
        </p:nvSpPr>
        <p:spPr>
          <a:xfrm>
            <a:off x="2017076" y="269046"/>
            <a:ext cx="515175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spc="5"/>
              <a:t>Memory</a:t>
            </a:r>
            <a:r>
              <a:rPr lang="en-IN" b="1" spc="-75"/>
              <a:t> </a:t>
            </a:r>
            <a:r>
              <a:rPr lang="en-IN" b="1" spc="-5"/>
              <a:t>Management</a:t>
            </a:r>
            <a:endParaRPr lang="en-IN" b="1"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264" y="549560"/>
            <a:ext cx="41427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5" dirty="0"/>
              <a:t>Memory</a:t>
            </a:r>
            <a:r>
              <a:rPr b="1" spc="-110" dirty="0"/>
              <a:t> </a:t>
            </a:r>
            <a:r>
              <a:rPr b="1" dirty="0"/>
              <a:t>Manager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74659" cy="46482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5080" indent="-342900" algn="just">
              <a:lnSpc>
                <a:spcPts val="3240"/>
              </a:lnSpc>
              <a:spcBef>
                <a:spcPts val="509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The part </a:t>
            </a:r>
            <a:r>
              <a:rPr sz="3000" dirty="0">
                <a:latin typeface="Calibri"/>
                <a:cs typeface="Calibri"/>
              </a:rPr>
              <a:t>of the </a:t>
            </a:r>
            <a:r>
              <a:rPr sz="3000" spc="-15" dirty="0">
                <a:latin typeface="Calibri"/>
                <a:cs typeface="Calibri"/>
              </a:rPr>
              <a:t>operating </a:t>
            </a:r>
            <a:r>
              <a:rPr sz="3000" spc="-30" dirty="0">
                <a:latin typeface="Calibri"/>
                <a:cs typeface="Calibri"/>
              </a:rPr>
              <a:t>system </a:t>
            </a:r>
            <a:r>
              <a:rPr sz="3000" spc="-10" dirty="0">
                <a:latin typeface="Calibri"/>
                <a:cs typeface="Calibri"/>
              </a:rPr>
              <a:t>that </a:t>
            </a:r>
            <a:r>
              <a:rPr sz="3000" spc="-5" dirty="0">
                <a:latin typeface="Calibri"/>
                <a:cs typeface="Calibri"/>
              </a:rPr>
              <a:t>manages </a:t>
            </a:r>
            <a:r>
              <a:rPr sz="3000" dirty="0">
                <a:latin typeface="Calibri"/>
                <a:cs typeface="Calibri"/>
              </a:rPr>
              <a:t> the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memory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hierarchy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called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memory 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manager</a:t>
            </a:r>
            <a:r>
              <a:rPr sz="3000" spc="-10" dirty="0">
                <a:latin typeface="Calibri"/>
                <a:cs typeface="Calibri"/>
              </a:rPr>
              <a:t>.</a:t>
            </a:r>
            <a:endParaRPr sz="3000" dirty="0">
              <a:latin typeface="Calibri"/>
              <a:cs typeface="Calibri"/>
            </a:endParaRPr>
          </a:p>
          <a:p>
            <a:pPr marL="439420" indent="-426720" algn="just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439420" algn="l"/>
              </a:tabLst>
            </a:pPr>
            <a:r>
              <a:rPr sz="3000" dirty="0">
                <a:latin typeface="Calibri"/>
                <a:cs typeface="Calibri"/>
              </a:rPr>
              <a:t>Its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job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are:</a:t>
            </a:r>
            <a:endParaRPr sz="3000" dirty="0">
              <a:latin typeface="Calibri"/>
              <a:cs typeface="Calibri"/>
            </a:endParaRPr>
          </a:p>
          <a:p>
            <a:pPr marL="756285" marR="5715" lvl="1" indent="-287020" algn="just">
              <a:lnSpc>
                <a:spcPts val="281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20" dirty="0">
                <a:latin typeface="Calibri"/>
                <a:cs typeface="Calibri"/>
              </a:rPr>
              <a:t>keep </a:t>
            </a:r>
            <a:r>
              <a:rPr sz="2600" spc="-15" dirty="0">
                <a:latin typeface="Calibri"/>
                <a:cs typeface="Calibri"/>
              </a:rPr>
              <a:t>track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which </a:t>
            </a:r>
            <a:r>
              <a:rPr sz="2600" spc="-5" dirty="0">
                <a:latin typeface="Calibri"/>
                <a:cs typeface="Calibri"/>
              </a:rPr>
              <a:t>parts of memory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600" spc="-5" dirty="0">
                <a:latin typeface="Calibri"/>
                <a:cs typeface="Calibri"/>
              </a:rPr>
              <a:t>use and </a:t>
            </a:r>
            <a:r>
              <a:rPr sz="2600" dirty="0">
                <a:latin typeface="Calibri"/>
                <a:cs typeface="Calibri"/>
              </a:rPr>
              <a:t> which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parts </a:t>
            </a:r>
            <a:r>
              <a:rPr sz="2600" spc="-10" dirty="0">
                <a:latin typeface="Calibri"/>
                <a:cs typeface="Calibri"/>
              </a:rPr>
              <a:t>are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not</a:t>
            </a:r>
            <a:r>
              <a:rPr sz="2600" dirty="0">
                <a:latin typeface="Calibri"/>
                <a:cs typeface="Calibri"/>
              </a:rPr>
              <a:t> in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use,</a:t>
            </a:r>
            <a:endParaRPr sz="2600" dirty="0">
              <a:latin typeface="Calibri"/>
              <a:cs typeface="Calibri"/>
            </a:endParaRPr>
          </a:p>
          <a:p>
            <a:pPr marL="756285" marR="7620" lvl="1" indent="-287020" algn="just">
              <a:lnSpc>
                <a:spcPts val="2810"/>
              </a:lnSpc>
              <a:spcBef>
                <a:spcPts val="625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to allocate </a:t>
            </a:r>
            <a:r>
              <a:rPr sz="2600" dirty="0">
                <a:latin typeface="Calibri"/>
                <a:cs typeface="Calibri"/>
              </a:rPr>
              <a:t>memory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10" dirty="0">
                <a:latin typeface="Calibri"/>
                <a:cs typeface="Calibri"/>
              </a:rPr>
              <a:t>processes </a:t>
            </a:r>
            <a:r>
              <a:rPr sz="2600" spc="-5" dirty="0">
                <a:latin typeface="Calibri"/>
                <a:cs typeface="Calibri"/>
              </a:rPr>
              <a:t>when they need </a:t>
            </a:r>
            <a:r>
              <a:rPr sz="2600" spc="-15" dirty="0">
                <a:latin typeface="Calibri"/>
                <a:cs typeface="Calibri"/>
              </a:rPr>
              <a:t>it 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de-allocate </a:t>
            </a:r>
            <a:r>
              <a:rPr sz="2600" dirty="0">
                <a:latin typeface="Calibri"/>
                <a:cs typeface="Calibri"/>
              </a:rPr>
              <a:t>it when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they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done,</a:t>
            </a:r>
            <a:endParaRPr sz="2600" dirty="0">
              <a:latin typeface="Calibri"/>
              <a:cs typeface="Calibri"/>
            </a:endParaRPr>
          </a:p>
          <a:p>
            <a:pPr marL="756285" marR="5715" lvl="1" indent="-287020" algn="just">
              <a:lnSpc>
                <a:spcPct val="90800"/>
              </a:lnSpc>
              <a:spcBef>
                <a:spcPts val="655"/>
              </a:spcBef>
              <a:buFont typeface="Arial MT"/>
              <a:buChar char="–"/>
              <a:tabLst>
                <a:tab pos="831850" algn="l"/>
              </a:tabLst>
            </a:pPr>
            <a:r>
              <a:rPr dirty="0"/>
              <a:t>	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manage </a:t>
            </a:r>
            <a:r>
              <a:rPr sz="3200" b="1" spc="-10" dirty="0">
                <a:latin typeface="Calibri"/>
                <a:cs typeface="Calibri"/>
              </a:rPr>
              <a:t>swapping </a:t>
            </a:r>
            <a:r>
              <a:rPr sz="2600" spc="-10" dirty="0">
                <a:latin typeface="Calibri"/>
                <a:cs typeface="Calibri"/>
              </a:rPr>
              <a:t>between </a:t>
            </a:r>
            <a:r>
              <a:rPr sz="2600" dirty="0">
                <a:latin typeface="Calibri"/>
                <a:cs typeface="Calibri"/>
              </a:rPr>
              <a:t>main </a:t>
            </a:r>
            <a:r>
              <a:rPr sz="2600" spc="-5" dirty="0">
                <a:latin typeface="Calibri"/>
                <a:cs typeface="Calibri"/>
              </a:rPr>
              <a:t>memory and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disk when </a:t>
            </a:r>
            <a:r>
              <a:rPr sz="2600" dirty="0">
                <a:latin typeface="Calibri"/>
                <a:cs typeface="Calibri"/>
              </a:rPr>
              <a:t>main </a:t>
            </a:r>
            <a:r>
              <a:rPr sz="2600" spc="-5" dirty="0">
                <a:latin typeface="Calibri"/>
                <a:cs typeface="Calibri"/>
              </a:rPr>
              <a:t>memory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too </a:t>
            </a:r>
            <a:r>
              <a:rPr sz="2600" spc="-5" dirty="0">
                <a:latin typeface="Calibri"/>
                <a:cs typeface="Calibri"/>
              </a:rPr>
              <a:t>small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hold all the 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processes.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8118C4-00D3-4F2C-B425-840BE1B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6642" y="549560"/>
            <a:ext cx="689610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5" dirty="0"/>
              <a:t>Memory</a:t>
            </a:r>
            <a:r>
              <a:rPr b="1" spc="-50" dirty="0"/>
              <a:t> </a:t>
            </a:r>
            <a:r>
              <a:rPr b="1" spc="-5" dirty="0"/>
              <a:t>Management</a:t>
            </a:r>
            <a:r>
              <a:rPr b="1" spc="-40" dirty="0"/>
              <a:t> </a:t>
            </a:r>
            <a:r>
              <a:rPr b="1" spc="-3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4659" cy="3952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62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Memory </a:t>
            </a:r>
            <a:r>
              <a:rPr sz="3200" spc="-5" dirty="0">
                <a:latin typeface="Calibri"/>
                <a:cs typeface="Calibri"/>
              </a:rPr>
              <a:t>management </a:t>
            </a:r>
            <a:r>
              <a:rPr sz="3200" spc="-25" dirty="0">
                <a:latin typeface="Calibri"/>
                <a:cs typeface="Calibri"/>
              </a:rPr>
              <a:t>systems </a:t>
            </a:r>
            <a:r>
              <a:rPr sz="3200" spc="-10" dirty="0">
                <a:latin typeface="Calibri"/>
                <a:cs typeface="Calibri"/>
              </a:rPr>
              <a:t>can </a:t>
            </a:r>
            <a:r>
              <a:rPr sz="3200" dirty="0">
                <a:latin typeface="Calibri"/>
                <a:cs typeface="Calibri"/>
              </a:rPr>
              <a:t>be </a:t>
            </a:r>
            <a:r>
              <a:rPr sz="3200" spc="-5" dirty="0">
                <a:latin typeface="Calibri"/>
                <a:cs typeface="Calibri"/>
              </a:rPr>
              <a:t>divided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two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classes:</a:t>
            </a:r>
            <a:endParaRPr sz="32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837565" algn="l"/>
              </a:tabLst>
            </a:pPr>
            <a:r>
              <a:rPr dirty="0"/>
              <a:t>	</a:t>
            </a:r>
            <a:r>
              <a:rPr sz="2800" spc="-10" dirty="0">
                <a:latin typeface="Calibri"/>
                <a:cs typeface="Calibri"/>
              </a:rPr>
              <a:t>Those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move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processes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back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forth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 </a:t>
            </a:r>
            <a:r>
              <a:rPr sz="2800" spc="-5" dirty="0">
                <a:latin typeface="Calibri"/>
                <a:cs typeface="Calibri"/>
              </a:rPr>
              <a:t>main memory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disk </a:t>
            </a:r>
            <a:r>
              <a:rPr sz="2800" spc="-5" dirty="0">
                <a:latin typeface="Calibri"/>
                <a:cs typeface="Calibri"/>
              </a:rPr>
              <a:t>during </a:t>
            </a:r>
            <a:r>
              <a:rPr sz="2800" spc="-20" dirty="0">
                <a:latin typeface="Calibri"/>
                <a:cs typeface="Calibri"/>
              </a:rPr>
              <a:t>execution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(swapping</a:t>
            </a:r>
            <a:r>
              <a:rPr sz="2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paging),</a:t>
            </a:r>
            <a:endParaRPr sz="28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those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out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swapping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paging.</a:t>
            </a:r>
            <a:endParaRPr sz="2800">
              <a:latin typeface="Calibri"/>
              <a:cs typeface="Calibri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latter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spc="-35" dirty="0">
                <a:latin typeface="Calibri"/>
                <a:cs typeface="Calibri"/>
              </a:rPr>
              <a:t>simpler, </a:t>
            </a:r>
            <a:r>
              <a:rPr sz="3200" spc="-5" dirty="0">
                <a:latin typeface="Calibri"/>
                <a:cs typeface="Calibri"/>
              </a:rPr>
              <a:t>so </a:t>
            </a:r>
            <a:r>
              <a:rPr sz="3200" spc="-15" dirty="0">
                <a:latin typeface="Calibri"/>
                <a:cs typeface="Calibri"/>
              </a:rPr>
              <a:t>we </a:t>
            </a:r>
            <a:r>
              <a:rPr sz="3200" dirty="0">
                <a:latin typeface="Calibri"/>
                <a:cs typeface="Calibri"/>
              </a:rPr>
              <a:t>will </a:t>
            </a:r>
            <a:r>
              <a:rPr sz="3200" spc="-5" dirty="0">
                <a:latin typeface="Calibri"/>
                <a:cs typeface="Calibri"/>
              </a:rPr>
              <a:t>study </a:t>
            </a:r>
            <a:r>
              <a:rPr sz="3200" dirty="0">
                <a:latin typeface="Calibri"/>
                <a:cs typeface="Calibri"/>
              </a:rPr>
              <a:t>them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first.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A975509-742A-4FD8-A039-9A3BC4E8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5629" y="549560"/>
            <a:ext cx="441642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5" dirty="0"/>
              <a:t>Memory</a:t>
            </a:r>
            <a:r>
              <a:rPr b="1" spc="-85" dirty="0"/>
              <a:t> </a:t>
            </a:r>
            <a:r>
              <a:rPr b="1" spc="-5" dirty="0"/>
              <a:t>Addresses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870"/>
            <a:ext cx="8074659" cy="420497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8255" indent="-342900">
              <a:lnSpc>
                <a:spcPct val="80000"/>
              </a:lnSpc>
              <a:spcBef>
                <a:spcPts val="819"/>
              </a:spcBef>
              <a:buFont typeface="Arial MT"/>
              <a:buChar char="•"/>
              <a:tabLst>
                <a:tab pos="354965" algn="l"/>
                <a:tab pos="355600" algn="l"/>
                <a:tab pos="1555115" algn="l"/>
                <a:tab pos="3036570" algn="l"/>
                <a:tab pos="3754120" algn="l"/>
                <a:tab pos="5095875" algn="l"/>
                <a:tab pos="6810375" algn="l"/>
                <a:tab pos="7324090" algn="l"/>
              </a:tabLst>
            </a:pPr>
            <a:r>
              <a:rPr sz="3000" spc="-5" dirty="0">
                <a:latin typeface="Calibri"/>
                <a:cs typeface="Calibri"/>
              </a:rPr>
              <a:t>Logi</a:t>
            </a:r>
            <a:r>
              <a:rPr sz="3000" spc="-30" dirty="0">
                <a:latin typeface="Calibri"/>
                <a:cs typeface="Calibri"/>
              </a:rPr>
              <a:t>c</a:t>
            </a:r>
            <a:r>
              <a:rPr sz="3000" dirty="0">
                <a:latin typeface="Calibri"/>
                <a:cs typeface="Calibri"/>
              </a:rPr>
              <a:t>al	</a:t>
            </a:r>
            <a:r>
              <a:rPr sz="3000" spc="-10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dd</a:t>
            </a:r>
            <a:r>
              <a:rPr sz="3000" spc="-50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es</a:t>
            </a:r>
            <a:r>
              <a:rPr sz="3000" spc="-5" dirty="0">
                <a:latin typeface="Calibri"/>
                <a:cs typeface="Calibri"/>
              </a:rPr>
              <a:t>s</a:t>
            </a:r>
            <a:r>
              <a:rPr sz="3000" dirty="0">
                <a:latin typeface="Calibri"/>
                <a:cs typeface="Calibri"/>
              </a:rPr>
              <a:t>:	</a:t>
            </a:r>
            <a:r>
              <a:rPr sz="3000" spc="-10" dirty="0">
                <a:latin typeface="Calibri"/>
                <a:cs typeface="Calibri"/>
              </a:rPr>
              <a:t>T</a:t>
            </a:r>
            <a:r>
              <a:rPr sz="3000" spc="-5" dirty="0">
                <a:latin typeface="Calibri"/>
                <a:cs typeface="Calibri"/>
              </a:rPr>
              <a:t>h</a:t>
            </a:r>
            <a:r>
              <a:rPr sz="3000" dirty="0">
                <a:latin typeface="Calibri"/>
                <a:cs typeface="Calibri"/>
              </a:rPr>
              <a:t>e	add</a:t>
            </a:r>
            <a:r>
              <a:rPr sz="3000" spc="-4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ess	</a:t>
            </a:r>
            <a:r>
              <a:rPr sz="3000" spc="-25" dirty="0">
                <a:latin typeface="Calibri"/>
                <a:cs typeface="Calibri"/>
              </a:rPr>
              <a:t>g</a:t>
            </a:r>
            <a:r>
              <a:rPr sz="3000" dirty="0">
                <a:latin typeface="Calibri"/>
                <a:cs typeface="Calibri"/>
              </a:rPr>
              <a:t>e</a:t>
            </a:r>
            <a:r>
              <a:rPr sz="3000" spc="-15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e</a:t>
            </a:r>
            <a:r>
              <a:rPr sz="3000" spc="-75" dirty="0">
                <a:latin typeface="Calibri"/>
                <a:cs typeface="Calibri"/>
              </a:rPr>
              <a:t>r</a:t>
            </a:r>
            <a:r>
              <a:rPr sz="3000" spc="-35" dirty="0">
                <a:latin typeface="Calibri"/>
                <a:cs typeface="Calibri"/>
              </a:rPr>
              <a:t>at</a:t>
            </a:r>
            <a:r>
              <a:rPr sz="3000" dirty="0">
                <a:latin typeface="Calibri"/>
                <a:cs typeface="Calibri"/>
              </a:rPr>
              <a:t>ed	</a:t>
            </a:r>
            <a:r>
              <a:rPr sz="3000" spc="-20" dirty="0">
                <a:latin typeface="Calibri"/>
                <a:cs typeface="Calibri"/>
              </a:rPr>
              <a:t>b</a:t>
            </a:r>
            <a:r>
              <a:rPr sz="3000" dirty="0">
                <a:latin typeface="Calibri"/>
                <a:cs typeface="Calibri"/>
              </a:rPr>
              <a:t>y	</a:t>
            </a:r>
            <a:r>
              <a:rPr sz="3000" spc="-5" dirty="0">
                <a:latin typeface="Calibri"/>
                <a:cs typeface="Calibri"/>
              </a:rPr>
              <a:t>CP</a:t>
            </a:r>
            <a:r>
              <a:rPr sz="3000" spc="-55" dirty="0">
                <a:latin typeface="Calibri"/>
                <a:cs typeface="Calibri"/>
              </a:rPr>
              <a:t>U</a:t>
            </a:r>
            <a:r>
              <a:rPr sz="3000" dirty="0">
                <a:latin typeface="Calibri"/>
                <a:cs typeface="Calibri"/>
              </a:rPr>
              <a:t>.  Also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known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5" dirty="0">
                <a:latin typeface="Calibri"/>
                <a:cs typeface="Calibri"/>
              </a:rPr>
              <a:t> virtual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address.</a:t>
            </a:r>
            <a:endParaRPr sz="30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  <a:tab pos="355600" algn="l"/>
                <a:tab pos="1708785" algn="l"/>
                <a:tab pos="3176905" algn="l"/>
                <a:tab pos="4286250" algn="l"/>
                <a:tab pos="5614035" algn="l"/>
                <a:tab pos="6804659" algn="l"/>
                <a:tab pos="7543800" algn="l"/>
              </a:tabLst>
            </a:pPr>
            <a:r>
              <a:rPr sz="3000" dirty="0">
                <a:latin typeface="Calibri"/>
                <a:cs typeface="Calibri"/>
              </a:rPr>
              <a:t>P</a:t>
            </a:r>
            <a:r>
              <a:rPr sz="3000" spc="-65" dirty="0">
                <a:latin typeface="Calibri"/>
                <a:cs typeface="Calibri"/>
              </a:rPr>
              <a:t>h</a:t>
            </a:r>
            <a:r>
              <a:rPr sz="3000" spc="-30" dirty="0">
                <a:latin typeface="Calibri"/>
                <a:cs typeface="Calibri"/>
              </a:rPr>
              <a:t>y</a:t>
            </a:r>
            <a:r>
              <a:rPr sz="3000" spc="-5" dirty="0">
                <a:latin typeface="Calibri"/>
                <a:cs typeface="Calibri"/>
              </a:rPr>
              <a:t>si</a:t>
            </a:r>
            <a:r>
              <a:rPr sz="3000" spc="-25" dirty="0">
                <a:latin typeface="Calibri"/>
                <a:cs typeface="Calibri"/>
              </a:rPr>
              <a:t>c</a:t>
            </a:r>
            <a:r>
              <a:rPr sz="3000" dirty="0">
                <a:latin typeface="Calibri"/>
                <a:cs typeface="Calibri"/>
              </a:rPr>
              <a:t>al	Add</a:t>
            </a:r>
            <a:r>
              <a:rPr sz="3000" spc="-4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es</a:t>
            </a:r>
            <a:r>
              <a:rPr sz="3000" spc="-5" dirty="0">
                <a:latin typeface="Calibri"/>
                <a:cs typeface="Calibri"/>
              </a:rPr>
              <a:t>s</a:t>
            </a:r>
            <a:r>
              <a:rPr sz="3000" dirty="0">
                <a:latin typeface="Calibri"/>
                <a:cs typeface="Calibri"/>
              </a:rPr>
              <a:t>:	Actual	a</a:t>
            </a:r>
            <a:r>
              <a:rPr sz="3000" spc="-15" dirty="0">
                <a:latin typeface="Calibri"/>
                <a:cs typeface="Calibri"/>
              </a:rPr>
              <a:t>d</a:t>
            </a:r>
            <a:r>
              <a:rPr sz="3000" spc="-5" dirty="0">
                <a:latin typeface="Calibri"/>
                <a:cs typeface="Calibri"/>
              </a:rPr>
              <a:t>d</a:t>
            </a:r>
            <a:r>
              <a:rPr sz="3000" spc="-4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ess	load</a:t>
            </a:r>
            <a:r>
              <a:rPr sz="3000" spc="-10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d	i</a:t>
            </a:r>
            <a:r>
              <a:rPr sz="3000" spc="-35" dirty="0">
                <a:latin typeface="Calibri"/>
                <a:cs typeface="Calibri"/>
              </a:rPr>
              <a:t>n</a:t>
            </a:r>
            <a:r>
              <a:rPr sz="3000" spc="-25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o	the  memory </a:t>
            </a:r>
            <a:r>
              <a:rPr sz="3000" spc="-10" dirty="0">
                <a:latin typeface="Calibri"/>
                <a:cs typeface="Calibri"/>
              </a:rPr>
              <a:t>address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register.</a:t>
            </a:r>
            <a:endParaRPr sz="30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88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Mapping</a:t>
            </a:r>
            <a:r>
              <a:rPr sz="3000" spc="17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from</a:t>
            </a:r>
            <a:r>
              <a:rPr sz="3000" spc="2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logical</a:t>
            </a:r>
            <a:r>
              <a:rPr sz="3000" spc="1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address</a:t>
            </a:r>
            <a:r>
              <a:rPr sz="3000" spc="17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18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physical</a:t>
            </a:r>
            <a:r>
              <a:rPr sz="3000" spc="1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address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relocation</a:t>
            </a:r>
            <a:r>
              <a:rPr sz="3000" spc="-10" dirty="0">
                <a:latin typeface="Calibri"/>
                <a:cs typeface="Calibri"/>
              </a:rPr>
              <a:t>.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0" dirty="0">
                <a:latin typeface="Calibri"/>
                <a:cs typeface="Calibri"/>
              </a:rPr>
              <a:t>Two </a:t>
            </a:r>
            <a:r>
              <a:rPr sz="3000" spc="-20" dirty="0">
                <a:latin typeface="Calibri"/>
                <a:cs typeface="Calibri"/>
              </a:rPr>
              <a:t>registers:</a:t>
            </a:r>
            <a:endParaRPr sz="3000" dirty="0">
              <a:latin typeface="Calibri"/>
              <a:cs typeface="Calibri"/>
            </a:endParaRPr>
          </a:p>
          <a:p>
            <a:pPr marL="756285" lvl="1" indent="-287020">
              <a:lnSpc>
                <a:spcPts val="3110"/>
              </a:lnSpc>
              <a:spcBef>
                <a:spcPts val="15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Base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Limit</a:t>
            </a:r>
            <a:r>
              <a:rPr sz="2600" spc="-10" dirty="0">
                <a:latin typeface="Calibri"/>
                <a:cs typeface="Calibri"/>
              </a:rPr>
              <a:t> are</a:t>
            </a:r>
            <a:r>
              <a:rPr sz="2600" spc="-5" dirty="0">
                <a:latin typeface="Calibri"/>
                <a:cs typeface="Calibri"/>
              </a:rPr>
              <a:t> used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mapping.</a:t>
            </a:r>
          </a:p>
          <a:p>
            <a:pPr marL="355600" indent="-342900">
              <a:lnSpc>
                <a:spcPts val="359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This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mechanism </a:t>
            </a:r>
            <a:r>
              <a:rPr sz="3000" dirty="0">
                <a:latin typeface="Calibri"/>
                <a:cs typeface="Calibri"/>
              </a:rPr>
              <a:t>also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used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memory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protection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.</a:t>
            </a:r>
          </a:p>
          <a:p>
            <a:pPr marL="756285" lvl="1" indent="-287020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outside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range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protected.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1C2612B-57FB-4642-B1C4-D2A09E916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3142571-BE2F-4BE2-B613-A713D2CF4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2225" y="397669"/>
            <a:ext cx="6559550" cy="576262"/>
          </a:xfrm>
        </p:spPr>
        <p:txBody>
          <a:bodyPr/>
          <a:lstStyle/>
          <a:p>
            <a:pPr algn="ctr" eaLnBrk="1" hangingPunct="1"/>
            <a:r>
              <a:rPr lang="en-US" altLang="en-US" b="1" dirty="0"/>
              <a:t>Base and Limit Registers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A056ED1-780A-48ED-AAEB-D0F80BDE7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6144" y="1143000"/>
            <a:ext cx="7351712" cy="1466453"/>
          </a:xfrm>
        </p:spPr>
        <p:txBody>
          <a:bodyPr>
            <a:no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pair of </a:t>
            </a:r>
            <a:r>
              <a:rPr lang="en-US" altLang="en-US"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en-US" altLang="en-US" sz="22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altLang="en-US" sz="22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the logical address space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must check every memory access generated in user mode to be sure it is between base and limit for that user</a:t>
            </a:r>
          </a:p>
        </p:txBody>
      </p:sp>
      <p:pic>
        <p:nvPicPr>
          <p:cNvPr id="7172" name="Picture 5">
            <a:extLst>
              <a:ext uri="{FF2B5EF4-FFF2-40B4-BE49-F238E27FC236}">
                <a16:creationId xmlns:a16="http://schemas.microsoft.com/office/drawing/2014/main" id="{515532B0-00F7-4912-B459-1E144C3A0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2861010"/>
            <a:ext cx="3005137" cy="3311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2286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5" dirty="0"/>
              <a:t>Address Translation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114800"/>
            <a:ext cx="7545070" cy="2171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2375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Base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register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(relocation):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Holds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smallest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legal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physical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spc="-5" dirty="0">
                <a:latin typeface="Calibri"/>
                <a:cs typeface="Calibri"/>
              </a:rPr>
              <a:t>address.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Limit </a:t>
            </a:r>
            <a:r>
              <a:rPr sz="2200" spc="-15" dirty="0">
                <a:latin typeface="Calibri"/>
                <a:cs typeface="Calibri"/>
              </a:rPr>
              <a:t>register: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contain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size</a:t>
            </a:r>
            <a:r>
              <a:rPr sz="2200" dirty="0">
                <a:latin typeface="Calibri"/>
                <a:cs typeface="Calibri"/>
              </a:rPr>
              <a:t> 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range.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Example: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logical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address</a:t>
            </a:r>
            <a:r>
              <a:rPr sz="2000" dirty="0">
                <a:latin typeface="Calibri"/>
                <a:cs typeface="Calibri"/>
              </a:rPr>
              <a:t> 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300</a:t>
            </a: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1500</a:t>
            </a:r>
          </a:p>
          <a:p>
            <a:pPr marL="1155700" lvl="2" indent="-22923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700" spc="-10" dirty="0">
                <a:latin typeface="Calibri"/>
                <a:cs typeface="Calibri"/>
              </a:rPr>
              <a:t>physical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address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= 1500 + 300 =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1800.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940" y="914400"/>
            <a:ext cx="7924800" cy="308610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2A9FBD2-F234-42DF-9AE5-8FA5CD4EE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95446" y="6310312"/>
            <a:ext cx="3538331" cy="365125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IN" dirty="0"/>
              <a:t>Prepared by: Dr. Binod Kr. Adhikari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2250" y="549560"/>
            <a:ext cx="362013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Virtual</a:t>
            </a:r>
            <a:r>
              <a:rPr b="1" spc="-55" dirty="0"/>
              <a:t> </a:t>
            </a:r>
            <a:r>
              <a:rPr b="1" spc="5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3390" cy="3538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 basic </a:t>
            </a:r>
            <a:r>
              <a:rPr sz="3200" dirty="0">
                <a:latin typeface="Calibri"/>
                <a:cs typeface="Calibri"/>
              </a:rPr>
              <a:t>idea </a:t>
            </a:r>
            <a:r>
              <a:rPr sz="3200" spc="-5" dirty="0">
                <a:latin typeface="Calibri"/>
                <a:cs typeface="Calibri"/>
              </a:rPr>
              <a:t>behind </a:t>
            </a:r>
            <a:r>
              <a:rPr sz="3200" spc="5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virtual </a:t>
            </a:r>
            <a:r>
              <a:rPr sz="3200" dirty="0">
                <a:latin typeface="Calibri"/>
                <a:cs typeface="Calibri"/>
              </a:rPr>
              <a:t>memory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combined </a:t>
            </a:r>
            <a:r>
              <a:rPr sz="3200" spc="-20" dirty="0">
                <a:latin typeface="Calibri"/>
                <a:cs typeface="Calibri"/>
              </a:rPr>
              <a:t>size </a:t>
            </a:r>
            <a:r>
              <a:rPr sz="3200" dirty="0">
                <a:latin typeface="Calibri"/>
                <a:cs typeface="Calibri"/>
              </a:rPr>
              <a:t>of the of </a:t>
            </a:r>
            <a:r>
              <a:rPr sz="3200" spc="5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program, </a:t>
            </a:r>
            <a:r>
              <a:rPr sz="3200" spc="-15" dirty="0">
                <a:latin typeface="Calibri"/>
                <a:cs typeface="Calibri"/>
              </a:rPr>
              <a:t> data,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stack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may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exceed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amount</a:t>
            </a:r>
            <a:r>
              <a:rPr sz="3200" dirty="0">
                <a:latin typeface="Calibri"/>
                <a:cs typeface="Calibri"/>
              </a:rPr>
              <a:t> of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physical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memory </a:t>
            </a:r>
            <a:r>
              <a:rPr sz="3200" spc="-15" dirty="0">
                <a:latin typeface="Calibri"/>
                <a:cs typeface="Calibri"/>
              </a:rPr>
              <a:t>available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it.</a:t>
            </a:r>
            <a:endParaRPr sz="3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OS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keeps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those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program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currently </a:t>
            </a:r>
            <a:r>
              <a:rPr sz="3200" dirty="0">
                <a:latin typeface="Calibri"/>
                <a:cs typeface="Calibri"/>
              </a:rPr>
              <a:t>in </a:t>
            </a:r>
            <a:r>
              <a:rPr sz="3200" spc="-5" dirty="0">
                <a:latin typeface="Calibri"/>
                <a:cs typeface="Calibri"/>
              </a:rPr>
              <a:t>use </a:t>
            </a:r>
            <a:r>
              <a:rPr sz="3200" dirty="0">
                <a:latin typeface="Calibri"/>
                <a:cs typeface="Calibri"/>
              </a:rPr>
              <a:t>in main </a:t>
            </a:r>
            <a:r>
              <a:rPr sz="3200" spc="-30" dirty="0">
                <a:latin typeface="Calibri"/>
                <a:cs typeface="Calibri"/>
              </a:rPr>
              <a:t>memory, </a:t>
            </a:r>
            <a:r>
              <a:rPr sz="3200" dirty="0">
                <a:latin typeface="Calibri"/>
                <a:cs typeface="Calibri"/>
              </a:rPr>
              <a:t>and the </a:t>
            </a:r>
            <a:r>
              <a:rPr sz="3200" spc="-20" dirty="0">
                <a:latin typeface="Calibri"/>
                <a:cs typeface="Calibri"/>
              </a:rPr>
              <a:t>rest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disk.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986DA-6360-406A-850D-618FFDE8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980" y="549560"/>
            <a:ext cx="41173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5" dirty="0"/>
              <a:t>Review:</a:t>
            </a:r>
            <a:r>
              <a:rPr b="1" spc="-95" dirty="0"/>
              <a:t> </a:t>
            </a:r>
            <a:r>
              <a:rPr b="1" spc="-10" dirty="0"/>
              <a:t>Swapping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423035"/>
            <a:ext cx="7907019" cy="42157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9085" marR="11430" indent="-287020">
              <a:lnSpc>
                <a:spcPts val="3020"/>
              </a:lnSpc>
              <a:spcBef>
                <a:spcPts val="480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process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-5" dirty="0">
                <a:latin typeface="Calibri"/>
                <a:cs typeface="Calibri"/>
              </a:rPr>
              <a:t> 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swapped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temporarily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out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memory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backing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store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brought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back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memory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continued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execution.</a:t>
            </a:r>
            <a:endParaRPr sz="2800" dirty="0">
              <a:latin typeface="Calibri"/>
              <a:cs typeface="Calibri"/>
            </a:endParaRPr>
          </a:p>
          <a:p>
            <a:pPr marL="1155700" marR="5080" lvl="1" indent="-228600" algn="just">
              <a:lnSpc>
                <a:spcPts val="2160"/>
              </a:lnSpc>
              <a:spcBef>
                <a:spcPts val="535"/>
              </a:spcBef>
              <a:buFont typeface="Arial MT"/>
              <a:buChar char="–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Backing </a:t>
            </a:r>
            <a:r>
              <a:rPr sz="2000" spc="-15" dirty="0">
                <a:latin typeface="Calibri"/>
                <a:cs typeface="Calibri"/>
              </a:rPr>
              <a:t>Store </a:t>
            </a:r>
            <a:r>
              <a:rPr sz="2000" dirty="0">
                <a:latin typeface="Calibri"/>
                <a:cs typeface="Calibri"/>
              </a:rPr>
              <a:t>- </a:t>
            </a:r>
            <a:r>
              <a:rPr sz="2000" spc="-20" dirty="0">
                <a:latin typeface="Calibri"/>
                <a:cs typeface="Calibri"/>
              </a:rPr>
              <a:t>fast </a:t>
            </a:r>
            <a:r>
              <a:rPr sz="2000" spc="-5" dirty="0">
                <a:latin typeface="Calibri"/>
                <a:cs typeface="Calibri"/>
              </a:rPr>
              <a:t>disk </a:t>
            </a:r>
            <a:r>
              <a:rPr sz="2000" spc="-10" dirty="0">
                <a:latin typeface="Calibri"/>
                <a:cs typeface="Calibri"/>
              </a:rPr>
              <a:t>large </a:t>
            </a:r>
            <a:r>
              <a:rPr sz="2000" dirty="0">
                <a:latin typeface="Calibri"/>
                <a:cs typeface="Calibri"/>
              </a:rPr>
              <a:t>enough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accommodate </a:t>
            </a:r>
            <a:r>
              <a:rPr sz="2000" spc="-5" dirty="0">
                <a:latin typeface="Calibri"/>
                <a:cs typeface="Calibri"/>
              </a:rPr>
              <a:t>copies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all memory </a:t>
            </a:r>
            <a:r>
              <a:rPr sz="2000" spc="-5" dirty="0">
                <a:latin typeface="Calibri"/>
                <a:cs typeface="Calibri"/>
              </a:rPr>
              <a:t>images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all </a:t>
            </a:r>
            <a:r>
              <a:rPr sz="2000" spc="-10" dirty="0">
                <a:latin typeface="Calibri"/>
                <a:cs typeface="Calibri"/>
              </a:rPr>
              <a:t>users; must provide </a:t>
            </a:r>
            <a:r>
              <a:rPr sz="2000" spc="-5" dirty="0">
                <a:latin typeface="Calibri"/>
                <a:cs typeface="Calibri"/>
              </a:rPr>
              <a:t>direct </a:t>
            </a:r>
            <a:r>
              <a:rPr sz="2000" dirty="0">
                <a:latin typeface="Calibri"/>
                <a:cs typeface="Calibri"/>
              </a:rPr>
              <a:t>access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these memory</a:t>
            </a:r>
            <a:r>
              <a:rPr sz="2000" spc="-5" dirty="0">
                <a:latin typeface="Calibri"/>
                <a:cs typeface="Calibri"/>
              </a:rPr>
              <a:t> images.</a:t>
            </a:r>
            <a:endParaRPr sz="2000" dirty="0">
              <a:latin typeface="Calibri"/>
              <a:cs typeface="Calibri"/>
            </a:endParaRPr>
          </a:p>
          <a:p>
            <a:pPr marL="1155700" marR="53340" lvl="1" indent="-228600">
              <a:lnSpc>
                <a:spcPct val="90100"/>
              </a:lnSpc>
              <a:spcBef>
                <a:spcPts val="445"/>
              </a:spcBef>
              <a:buFont typeface="Arial MT"/>
              <a:buChar char="–"/>
              <a:tabLst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Roll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out, </a:t>
            </a:r>
            <a:r>
              <a:rPr sz="2000" spc="-15" dirty="0">
                <a:latin typeface="Calibri"/>
                <a:cs typeface="Calibri"/>
              </a:rPr>
              <a:t>roll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 </a:t>
            </a:r>
            <a:r>
              <a:rPr sz="2000" spc="-5" dirty="0">
                <a:latin typeface="Calibri"/>
                <a:cs typeface="Calibri"/>
              </a:rPr>
              <a:t>swapping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variant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priority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based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scheduling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algorithms;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lower</a:t>
            </a:r>
            <a:r>
              <a:rPr sz="2000" spc="-5" dirty="0">
                <a:latin typeface="Calibri"/>
                <a:cs typeface="Calibri"/>
              </a:rPr>
              <a:t> priority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swapped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out,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higher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priority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process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loaded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executed.</a:t>
            </a:r>
            <a:endParaRPr sz="2000" dirty="0">
              <a:latin typeface="Calibri"/>
              <a:cs typeface="Calibri"/>
            </a:endParaRPr>
          </a:p>
          <a:p>
            <a:pPr marL="1155700" marR="29845" lvl="1" indent="-228600">
              <a:lnSpc>
                <a:spcPts val="2160"/>
              </a:lnSpc>
              <a:spcBef>
                <a:spcPts val="509"/>
              </a:spcBef>
              <a:buFont typeface="Arial MT"/>
              <a:buChar char="–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Major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swap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time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transfer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time;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total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transfer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time</a:t>
            </a:r>
            <a:r>
              <a:rPr sz="2000" dirty="0">
                <a:latin typeface="Calibri"/>
                <a:cs typeface="Calibri"/>
              </a:rPr>
              <a:t> is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directly </a:t>
            </a:r>
            <a:r>
              <a:rPr sz="2000" spc="-10" dirty="0">
                <a:latin typeface="Calibri"/>
                <a:cs typeface="Calibri"/>
              </a:rPr>
              <a:t>proportional</a:t>
            </a:r>
            <a:r>
              <a:rPr sz="2000" spc="-15" dirty="0">
                <a:latin typeface="Calibri"/>
                <a:cs typeface="Calibri"/>
              </a:rPr>
              <a:t> 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amount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 </a:t>
            </a:r>
            <a:r>
              <a:rPr sz="2000" spc="-5" dirty="0">
                <a:latin typeface="Calibri"/>
                <a:cs typeface="Calibri"/>
              </a:rPr>
              <a:t>swapped.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ts val="2280"/>
              </a:lnSpc>
              <a:spcBef>
                <a:spcPts val="210"/>
              </a:spcBef>
              <a:buFont typeface="Arial MT"/>
              <a:buChar char="–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Modified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versions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swapping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found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systems,</a:t>
            </a:r>
            <a:endParaRPr sz="2000" dirty="0">
              <a:latin typeface="Calibri"/>
              <a:cs typeface="Calibri"/>
            </a:endParaRPr>
          </a:p>
          <a:p>
            <a:pPr marL="1155700">
              <a:lnSpc>
                <a:spcPts val="2280"/>
              </a:lnSpc>
            </a:pPr>
            <a:r>
              <a:rPr sz="2000" spc="-5" dirty="0">
                <a:latin typeface="Calibri"/>
                <a:cs typeface="Calibri"/>
              </a:rPr>
              <a:t>i.e.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UNIX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Microsoft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Windows.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7E282A-EBBB-4731-A09C-787E4C56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8933" y="549560"/>
            <a:ext cx="641032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Schematic</a:t>
            </a:r>
            <a:r>
              <a:rPr b="1" spc="-45" dirty="0"/>
              <a:t> </a:t>
            </a:r>
            <a:r>
              <a:rPr b="1" spc="-5" dirty="0"/>
              <a:t>view</a:t>
            </a:r>
            <a:r>
              <a:rPr b="1" spc="-20" dirty="0"/>
              <a:t> </a:t>
            </a:r>
            <a:r>
              <a:rPr b="1" dirty="0"/>
              <a:t>of</a:t>
            </a:r>
            <a:r>
              <a:rPr b="1" spc="-25" dirty="0"/>
              <a:t> </a:t>
            </a:r>
            <a:r>
              <a:rPr b="1" spc="-5" dirty="0"/>
              <a:t>swapping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0300" y="1866900"/>
            <a:ext cx="4343400" cy="3276600"/>
            <a:chOff x="2400300" y="1866900"/>
            <a:chExt cx="4343400" cy="3276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8400" y="1905000"/>
              <a:ext cx="4267200" cy="3200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00300" y="1866899"/>
              <a:ext cx="4343400" cy="3276600"/>
            </a:xfrm>
            <a:custGeom>
              <a:avLst/>
              <a:gdLst/>
              <a:ahLst/>
              <a:cxnLst/>
              <a:rect l="l" t="t" r="r" b="b"/>
              <a:pathLst>
                <a:path w="4343400" h="3276600">
                  <a:moveTo>
                    <a:pt x="4318000" y="25400"/>
                  </a:moveTo>
                  <a:lnTo>
                    <a:pt x="4305300" y="25400"/>
                  </a:lnTo>
                  <a:lnTo>
                    <a:pt x="4305300" y="38100"/>
                  </a:lnTo>
                  <a:lnTo>
                    <a:pt x="4305300" y="3238500"/>
                  </a:lnTo>
                  <a:lnTo>
                    <a:pt x="38100" y="3238500"/>
                  </a:lnTo>
                  <a:lnTo>
                    <a:pt x="38100" y="38100"/>
                  </a:lnTo>
                  <a:lnTo>
                    <a:pt x="4305300" y="38100"/>
                  </a:lnTo>
                  <a:lnTo>
                    <a:pt x="4305300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3238500"/>
                  </a:lnTo>
                  <a:lnTo>
                    <a:pt x="25400" y="3251200"/>
                  </a:lnTo>
                  <a:lnTo>
                    <a:pt x="4318000" y="3251200"/>
                  </a:lnTo>
                  <a:lnTo>
                    <a:pt x="4318000" y="3238512"/>
                  </a:lnTo>
                  <a:lnTo>
                    <a:pt x="4318000" y="38100"/>
                  </a:lnTo>
                  <a:lnTo>
                    <a:pt x="4318000" y="25400"/>
                  </a:lnTo>
                  <a:close/>
                </a:path>
                <a:path w="4343400" h="3276600">
                  <a:moveTo>
                    <a:pt x="4343400" y="0"/>
                  </a:moveTo>
                  <a:lnTo>
                    <a:pt x="4330700" y="0"/>
                  </a:lnTo>
                  <a:lnTo>
                    <a:pt x="4330700" y="12700"/>
                  </a:lnTo>
                  <a:lnTo>
                    <a:pt x="4330700" y="3263900"/>
                  </a:lnTo>
                  <a:lnTo>
                    <a:pt x="12700" y="3263900"/>
                  </a:lnTo>
                  <a:lnTo>
                    <a:pt x="12700" y="12700"/>
                  </a:lnTo>
                  <a:lnTo>
                    <a:pt x="4330700" y="12700"/>
                  </a:lnTo>
                  <a:lnTo>
                    <a:pt x="4330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3263900"/>
                  </a:lnTo>
                  <a:lnTo>
                    <a:pt x="0" y="3276600"/>
                  </a:lnTo>
                  <a:lnTo>
                    <a:pt x="4343400" y="3276600"/>
                  </a:lnTo>
                  <a:lnTo>
                    <a:pt x="4343400" y="3263900"/>
                  </a:lnTo>
                  <a:lnTo>
                    <a:pt x="4343400" y="127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95DEFC7-38E5-4F3C-8408-0D03E4F11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6901" y="549560"/>
            <a:ext cx="387159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5" dirty="0"/>
              <a:t>Review:</a:t>
            </a:r>
            <a:r>
              <a:rPr b="1" spc="-114" dirty="0"/>
              <a:t> </a:t>
            </a:r>
            <a:r>
              <a:rPr b="1" spc="-20" dirty="0"/>
              <a:t>Overlays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970520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3464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Keep </a:t>
            </a:r>
            <a:r>
              <a:rPr sz="3200" dirty="0">
                <a:latin typeface="Calibri"/>
                <a:cs typeface="Calibri"/>
              </a:rPr>
              <a:t>in memory </a:t>
            </a:r>
            <a:r>
              <a:rPr sz="3200" spc="-5" dirty="0">
                <a:latin typeface="Calibri"/>
                <a:cs typeface="Calibri"/>
              </a:rPr>
              <a:t>only </a:t>
            </a:r>
            <a:r>
              <a:rPr sz="3200" dirty="0">
                <a:latin typeface="Calibri"/>
                <a:cs typeface="Calibri"/>
              </a:rPr>
              <a:t>those </a:t>
            </a:r>
            <a:r>
              <a:rPr sz="3200" spc="-5" dirty="0">
                <a:latin typeface="Calibri"/>
                <a:cs typeface="Calibri"/>
              </a:rPr>
              <a:t>instructions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needed </a:t>
            </a:r>
            <a:r>
              <a:rPr sz="3200" spc="-20" dirty="0">
                <a:latin typeface="Calibri"/>
                <a:cs typeface="Calibri"/>
              </a:rPr>
              <a:t>at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any</a:t>
            </a:r>
            <a:r>
              <a:rPr sz="3200" spc="-5" dirty="0">
                <a:latin typeface="Calibri"/>
                <a:cs typeface="Calibri"/>
              </a:rPr>
              <a:t> given</a:t>
            </a:r>
            <a:r>
              <a:rPr sz="3200" dirty="0">
                <a:latin typeface="Calibri"/>
                <a:cs typeface="Calibri"/>
              </a:rPr>
              <a:t> time.</a:t>
            </a:r>
            <a:endParaRPr sz="3200">
              <a:latin typeface="Calibri"/>
              <a:cs typeface="Calibri"/>
            </a:endParaRPr>
          </a:p>
          <a:p>
            <a:pPr marL="355600" marR="32131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Needed when </a:t>
            </a:r>
            <a:r>
              <a:rPr sz="3200" spc="-10" dirty="0">
                <a:latin typeface="Calibri"/>
                <a:cs typeface="Calibri"/>
              </a:rPr>
              <a:t>process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15" dirty="0">
                <a:latin typeface="Calibri"/>
                <a:cs typeface="Calibri"/>
              </a:rPr>
              <a:t>larger </a:t>
            </a:r>
            <a:r>
              <a:rPr sz="3200" spc="-5" dirty="0">
                <a:latin typeface="Calibri"/>
                <a:cs typeface="Calibri"/>
              </a:rPr>
              <a:t>than amount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memory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allocated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it.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Implemented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60" dirty="0">
                <a:latin typeface="Calibri"/>
                <a:cs typeface="Calibri"/>
              </a:rPr>
              <a:t>user,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 special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support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operating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system;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programming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design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overlay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structure</a:t>
            </a:r>
            <a:r>
              <a:rPr sz="3200" dirty="0">
                <a:latin typeface="Calibri"/>
                <a:cs typeface="Calibri"/>
              </a:rPr>
              <a:t> is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complex.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C4C89-8928-4033-96F0-01F2624A4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482107"/>
            <a:ext cx="244221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5" dirty="0"/>
              <a:t>Overlaying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" y="1600200"/>
            <a:ext cx="6934199" cy="41148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C4BA3-BA57-4A8D-ABB6-38786857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2250" y="549560"/>
            <a:ext cx="362013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Virtual</a:t>
            </a:r>
            <a:r>
              <a:rPr b="1" spc="-55" dirty="0"/>
              <a:t> </a:t>
            </a:r>
            <a:r>
              <a:rPr b="1" spc="5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660640" cy="2540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Virtual </a:t>
            </a:r>
            <a:r>
              <a:rPr sz="3200" dirty="0">
                <a:latin typeface="Calibri"/>
                <a:cs typeface="Calibri"/>
              </a:rPr>
              <a:t>memory </a:t>
            </a:r>
            <a:r>
              <a:rPr sz="3200" spc="-5" dirty="0">
                <a:latin typeface="Calibri"/>
                <a:cs typeface="Calibri"/>
              </a:rPr>
              <a:t>can be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implemented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two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most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commonly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used methods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Paging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Segmentation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mix</a:t>
            </a:r>
            <a:r>
              <a:rPr sz="2800" spc="-5" dirty="0">
                <a:latin typeface="Calibri"/>
                <a:cs typeface="Calibri"/>
              </a:rPr>
              <a:t> 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both.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8293D-4741-4FE1-8CB1-3F0E316E8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500278"/>
            <a:ext cx="647699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635" marR="5080" indent="-623570" algn="ctr">
              <a:lnSpc>
                <a:spcPct val="100000"/>
              </a:lnSpc>
              <a:spcBef>
                <a:spcPts val="95"/>
              </a:spcBef>
            </a:pPr>
            <a:r>
              <a:rPr sz="4000" b="1" spc="-5" dirty="0"/>
              <a:t>Backg</a:t>
            </a:r>
            <a:r>
              <a:rPr sz="4000" b="1" spc="-70" dirty="0"/>
              <a:t>r</a:t>
            </a:r>
            <a:r>
              <a:rPr sz="4000" b="1" spc="-10" dirty="0"/>
              <a:t>ou</a:t>
            </a:r>
            <a:r>
              <a:rPr sz="4000" b="1" dirty="0"/>
              <a:t>n</a:t>
            </a:r>
            <a:r>
              <a:rPr sz="4000" b="1" spc="-5" dirty="0"/>
              <a:t>d  </a:t>
            </a:r>
            <a:r>
              <a:rPr sz="4000" b="1" dirty="0"/>
              <a:t>MMU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884159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run time mapping </a:t>
            </a:r>
            <a:r>
              <a:rPr sz="3200" spc="-15" dirty="0">
                <a:latin typeface="Calibri"/>
                <a:cs typeface="Calibri"/>
              </a:rPr>
              <a:t>from </a:t>
            </a:r>
            <a:r>
              <a:rPr sz="3200" spc="-5" dirty="0">
                <a:latin typeface="Calibri"/>
                <a:cs typeface="Calibri"/>
              </a:rPr>
              <a:t>virtual address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physical </a:t>
            </a:r>
            <a:r>
              <a:rPr sz="3200" spc="-5" dirty="0">
                <a:latin typeface="Calibri"/>
                <a:cs typeface="Calibri"/>
              </a:rPr>
              <a:t>address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5" dirty="0">
                <a:latin typeface="Calibri"/>
                <a:cs typeface="Calibri"/>
              </a:rPr>
              <a:t>done </a:t>
            </a:r>
            <a:r>
              <a:rPr sz="3200" spc="-10" dirty="0">
                <a:latin typeface="Calibri"/>
                <a:cs typeface="Calibri"/>
              </a:rPr>
              <a:t>by </a:t>
            </a:r>
            <a:r>
              <a:rPr sz="3200" spc="-20" dirty="0">
                <a:latin typeface="Calibri"/>
                <a:cs typeface="Calibri"/>
              </a:rPr>
              <a:t>hardware </a:t>
            </a:r>
            <a:r>
              <a:rPr sz="3200" spc="-5" dirty="0">
                <a:latin typeface="Calibri"/>
                <a:cs typeface="Calibri"/>
              </a:rPr>
              <a:t>devices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called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memory-management-unit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(MMU).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315" y="3711202"/>
            <a:ext cx="5897622" cy="1546598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475F84D-A2E4-4EE0-A4BD-FA3AAF559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2285" y="549560"/>
            <a:ext cx="152082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95" dirty="0"/>
              <a:t>P</a:t>
            </a:r>
            <a:r>
              <a:rPr b="1" dirty="0"/>
              <a:t>aging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995" y="1524000"/>
            <a:ext cx="8015605" cy="38785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5796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Calibri"/>
                <a:cs typeface="Calibri"/>
              </a:rPr>
              <a:t>Logical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address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space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can</a:t>
            </a:r>
            <a:r>
              <a:rPr sz="2600" dirty="0">
                <a:latin typeface="Calibri"/>
                <a:cs typeface="Calibri"/>
              </a:rPr>
              <a:t> be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non-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contiguous;</a:t>
            </a:r>
            <a:endParaRPr sz="2600" dirty="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475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</a:t>
            </a:r>
            <a:r>
              <a:rPr sz="1800" spc="-5" dirty="0">
                <a:latin typeface="Calibri"/>
                <a:cs typeface="Calibri"/>
              </a:rPr>
              <a:t> 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allocated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physical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memory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wherever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latter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available.</a:t>
            </a:r>
            <a:endParaRPr sz="1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Divide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physical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fixed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size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blocks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called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4F81BC"/>
                </a:solidFill>
                <a:latin typeface="Calibri"/>
                <a:cs typeface="Calibri"/>
              </a:rPr>
              <a:t>f</a:t>
            </a:r>
            <a:r>
              <a:rPr sz="2000" b="1" i="1" spc="-5" dirty="0">
                <a:solidFill>
                  <a:srgbClr val="4F81BC"/>
                </a:solidFill>
                <a:latin typeface="Calibri"/>
                <a:cs typeface="Calibri"/>
              </a:rPr>
              <a:t>rames</a:t>
            </a:r>
            <a:endParaRPr sz="2000" dirty="0">
              <a:latin typeface="Calibri"/>
              <a:cs typeface="Calibri"/>
            </a:endParaRPr>
          </a:p>
          <a:p>
            <a:pPr marL="1612900" lvl="2" indent="-229235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1613535" algn="l"/>
              </a:tabLst>
            </a:pPr>
            <a:r>
              <a:rPr sz="1800" spc="-15" dirty="0">
                <a:latin typeface="Calibri"/>
                <a:cs typeface="Calibri"/>
              </a:rPr>
              <a:t>size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power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512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bytes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5" dirty="0">
                <a:latin typeface="Calibri"/>
                <a:cs typeface="Calibri"/>
              </a:rPr>
              <a:t> 8K</a:t>
            </a:r>
            <a:endParaRPr sz="1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Divide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logical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same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size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blocks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called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4F81BC"/>
                </a:solidFill>
                <a:latin typeface="Calibri"/>
                <a:cs typeface="Calibri"/>
              </a:rPr>
              <a:t>pages.</a:t>
            </a:r>
            <a:endParaRPr sz="2000" dirty="0">
              <a:latin typeface="Calibri"/>
              <a:cs typeface="Calibri"/>
            </a:endParaRPr>
          </a:p>
          <a:p>
            <a:pPr marL="1612900" lvl="2" indent="-229235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1613535" algn="l"/>
              </a:tabLst>
            </a:pPr>
            <a:r>
              <a:rPr sz="1800" spc="-10" dirty="0">
                <a:latin typeface="Calibri"/>
                <a:cs typeface="Calibri"/>
              </a:rPr>
              <a:t>Keep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track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all</a:t>
            </a:r>
            <a:r>
              <a:rPr sz="1800" spc="-10" dirty="0">
                <a:latin typeface="Calibri"/>
                <a:cs typeface="Calibri"/>
              </a:rPr>
              <a:t> free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frames.</a:t>
            </a:r>
            <a:endParaRPr sz="1800" dirty="0">
              <a:latin typeface="Calibri"/>
              <a:cs typeface="Calibri"/>
            </a:endParaRPr>
          </a:p>
          <a:p>
            <a:pPr marL="1612900" lvl="2" indent="-229235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1613535" algn="l"/>
              </a:tabLst>
            </a:pPr>
            <a:r>
              <a:rPr sz="1800" spc="-8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5" dirty="0">
                <a:latin typeface="Calibri"/>
                <a:cs typeface="Calibri"/>
              </a:rPr>
              <a:t>program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5" dirty="0">
                <a:latin typeface="Calibri"/>
                <a:cs typeface="Calibri"/>
              </a:rPr>
              <a:t>size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 pages, find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free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frames </a:t>
            </a:r>
            <a:r>
              <a:rPr sz="1800" dirty="0">
                <a:latin typeface="Calibri"/>
                <a:cs typeface="Calibri"/>
              </a:rPr>
              <a:t>and load</a:t>
            </a:r>
          </a:p>
          <a:p>
            <a:pPr marL="16129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program.</a:t>
            </a:r>
            <a:endParaRPr sz="1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Set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up</a:t>
            </a:r>
            <a:r>
              <a:rPr sz="2000" dirty="0">
                <a:latin typeface="Calibri"/>
                <a:cs typeface="Calibri"/>
              </a:rPr>
              <a:t> 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page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table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translate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logical</a:t>
            </a:r>
            <a:r>
              <a:rPr sz="2000" spc="-15" dirty="0">
                <a:latin typeface="Calibri"/>
                <a:cs typeface="Calibri"/>
              </a:rPr>
              <a:t> 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physical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addresses.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Note::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Internal </a:t>
            </a:r>
            <a:r>
              <a:rPr sz="2000" spc="-10" dirty="0">
                <a:latin typeface="Calibri"/>
                <a:cs typeface="Calibri"/>
              </a:rPr>
              <a:t>Fragmentation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possible!!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D6B34-1CF9-450B-8333-509A5802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533400"/>
            <a:ext cx="4343400" cy="5562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57800" y="374294"/>
            <a:ext cx="3576954" cy="25975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  <a:tabLst>
                <a:tab pos="741045" algn="l"/>
                <a:tab pos="978535" algn="l"/>
                <a:tab pos="1411605" algn="l"/>
                <a:tab pos="2417445" algn="l"/>
                <a:tab pos="2507615" algn="l"/>
                <a:tab pos="3199130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64K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en-US"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 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</a:t>
            </a:r>
            <a:r>
              <a:rPr lang="en-US" sz="2400" spc="-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eces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brought</a:t>
            </a:r>
            <a:r>
              <a:rPr lang="en-US" sz="2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spc="-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99B80-52A3-49AE-8BB4-57675683B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2285" y="549560"/>
            <a:ext cx="152082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95" dirty="0"/>
              <a:t>P</a:t>
            </a:r>
            <a:r>
              <a:rPr b="1" dirty="0"/>
              <a:t>aging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446"/>
            <a:ext cx="7919720" cy="417893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244475" indent="-342900">
              <a:lnSpc>
                <a:spcPts val="324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64KB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virtual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32KB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3000" spc="-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and 4KB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size,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</a:t>
            </a:r>
            <a:r>
              <a:rPr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frames.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3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happen</a:t>
            </a:r>
            <a:r>
              <a:rPr sz="3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instruction?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sz="3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sz="3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marR="5080" indent="-287020">
              <a:lnSpc>
                <a:spcPct val="90000"/>
              </a:lnSpc>
              <a:spcBef>
                <a:spcPts val="650"/>
              </a:spcBef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is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MMU.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MMU </a:t>
            </a:r>
            <a:r>
              <a:rPr sz="2600" spc="-5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sees that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virtual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(0-4095), </a:t>
            </a:r>
            <a:r>
              <a:rPr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mapping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frame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(8192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-12287).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is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transformed 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8192 and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address </a:t>
            </a:r>
            <a:r>
              <a:rPr sz="2600" spc="-5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8192.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9F637-20BA-494B-B5A3-EE3FB46E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633358"/>
            <a:ext cx="7406640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635635" marR="5080" indent="-62357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spc="-5" dirty="0"/>
              <a:t>Paging</a:t>
            </a:r>
            <a:endParaRPr sz="4000"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59117" y="1754823"/>
            <a:ext cx="8025765" cy="334835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Address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generated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by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CPU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divided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into:</a:t>
            </a:r>
            <a:endParaRPr sz="3200" dirty="0">
              <a:latin typeface="Calibri"/>
              <a:cs typeface="Calibri"/>
            </a:endParaRPr>
          </a:p>
          <a:p>
            <a:pPr marL="756285" marR="78740" lvl="1" indent="-287020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5" dirty="0">
                <a:latin typeface="Calibri"/>
                <a:cs typeface="Calibri"/>
              </a:rPr>
              <a:t>Page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(p)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.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index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page </a:t>
            </a:r>
            <a:r>
              <a:rPr sz="2800" spc="-10" dirty="0">
                <a:latin typeface="Calibri"/>
                <a:cs typeface="Calibri"/>
              </a:rPr>
              <a:t> table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contains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each</a:t>
            </a:r>
            <a:r>
              <a:rPr sz="2800" spc="-10" dirty="0">
                <a:latin typeface="Calibri"/>
                <a:cs typeface="Calibri"/>
              </a:rPr>
              <a:t> page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physical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memory.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5" dirty="0">
                <a:latin typeface="Calibri"/>
                <a:cs typeface="Calibri"/>
              </a:rPr>
              <a:t>Page </a:t>
            </a:r>
            <a:r>
              <a:rPr sz="2800" spc="-20" dirty="0">
                <a:latin typeface="Calibri"/>
                <a:cs typeface="Calibri"/>
              </a:rPr>
              <a:t>offset</a:t>
            </a:r>
            <a:r>
              <a:rPr sz="2800" spc="-5" dirty="0">
                <a:latin typeface="Calibri"/>
                <a:cs typeface="Calibri"/>
              </a:rPr>
              <a:t> (d)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. </a:t>
            </a:r>
            <a:r>
              <a:rPr sz="2800" spc="-10" dirty="0">
                <a:latin typeface="Calibri"/>
                <a:cs typeface="Calibri"/>
              </a:rPr>
              <a:t>combined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 define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physical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memory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memory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unit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E82D4-EF1B-47D2-8EC5-CCD0D2CCC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228600"/>
            <a:ext cx="7406640" cy="627736"/>
          </a:xfrm>
          <a:prstGeom prst="rect">
            <a:avLst/>
          </a:prstGeom>
          <a:noFill/>
        </p:spPr>
        <p:txBody>
          <a:bodyPr vert="horz" wrap="square" lIns="0" tIns="12065" rIns="0" bIns="0" rtlCol="0" anchor="ctr">
            <a:spAutoFit/>
          </a:bodyPr>
          <a:lstStyle/>
          <a:p>
            <a:pPr marL="635635" marR="5080" indent="-62357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endParaRPr sz="40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1255C-92DB-48EE-8C1E-ACA5A2E3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02F51E-355C-409B-8CAA-8DA489FC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14" y="990600"/>
            <a:ext cx="7226906" cy="50011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228600"/>
            <a:ext cx="7406640" cy="627736"/>
          </a:xfrm>
          <a:prstGeom prst="rect">
            <a:avLst/>
          </a:prstGeom>
          <a:noFill/>
        </p:spPr>
        <p:txBody>
          <a:bodyPr vert="horz" wrap="square" lIns="0" tIns="12065" rIns="0" bIns="0" rtlCol="0" anchor="ctr">
            <a:spAutoFit/>
          </a:bodyPr>
          <a:lstStyle/>
          <a:p>
            <a:pPr marL="635635" marR="5080" indent="-62357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endParaRPr sz="40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914400"/>
            <a:ext cx="6400800" cy="4495799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1255C-92DB-48EE-8C1E-ACA5A2E3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14680-CE9A-45FA-A056-5ACDC0846705}"/>
              </a:ext>
            </a:extLst>
          </p:cNvPr>
          <p:cNvSpPr txBox="1"/>
          <p:nvPr/>
        </p:nvSpPr>
        <p:spPr>
          <a:xfrm>
            <a:off x="2961861" y="5562600"/>
            <a:ext cx="4200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Paging Hardware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545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3645" y="549560"/>
            <a:ext cx="415925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Example</a:t>
            </a:r>
            <a:r>
              <a:rPr b="1" spc="-55" dirty="0"/>
              <a:t> </a:t>
            </a:r>
            <a:r>
              <a:rPr b="1" dirty="0"/>
              <a:t>of</a:t>
            </a:r>
            <a:r>
              <a:rPr b="1" spc="-40" dirty="0"/>
              <a:t> </a:t>
            </a:r>
            <a:r>
              <a:rPr b="1" spc="-15" dirty="0"/>
              <a:t>Paging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00634"/>
              </p:ext>
            </p:extLst>
          </p:nvPr>
        </p:nvGraphicFramePr>
        <p:xfrm>
          <a:off x="1593850" y="1986916"/>
          <a:ext cx="1219200" cy="312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104139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04139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04139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04139"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0" marR="0" marT="114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132080" algn="ctr">
                        <a:lnSpc>
                          <a:spcPct val="100000"/>
                        </a:lnSpc>
                        <a:spcBef>
                          <a:spcPts val="20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: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4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22775" y="3126460"/>
            <a:ext cx="139700" cy="122110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600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spc="-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788853"/>
              </p:ext>
            </p:extLst>
          </p:nvPr>
        </p:nvGraphicFramePr>
        <p:xfrm>
          <a:off x="4641850" y="3129916"/>
          <a:ext cx="381000" cy="167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R="91440" algn="r">
                        <a:lnSpc>
                          <a:spcPts val="18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91440" algn="r">
                        <a:lnSpc>
                          <a:spcPts val="18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91440" algn="r">
                        <a:lnSpc>
                          <a:spcPts val="187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 algn="ctr">
                        <a:lnSpc>
                          <a:spcPts val="187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597018"/>
              </p:ext>
            </p:extLst>
          </p:nvPr>
        </p:nvGraphicFramePr>
        <p:xfrm>
          <a:off x="6470650" y="1758316"/>
          <a:ext cx="990600" cy="3581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9209" algn="ctr">
                        <a:lnSpc>
                          <a:spcPts val="2095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9209" algn="ctr">
                        <a:lnSpc>
                          <a:spcPts val="21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9209" algn="ctr">
                        <a:lnSpc>
                          <a:spcPts val="21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9209" algn="ctr">
                        <a:lnSpc>
                          <a:spcPts val="21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5778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: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096000" y="1295400"/>
            <a:ext cx="1616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Physical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memory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0594" y="1333500"/>
            <a:ext cx="1540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Logical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memory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732814-38D9-486F-9E32-533E5091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0248A-E238-4199-93B2-12D93AE8D933}"/>
              </a:ext>
            </a:extLst>
          </p:cNvPr>
          <p:cNvSpPr txBox="1"/>
          <p:nvPr/>
        </p:nvSpPr>
        <p:spPr>
          <a:xfrm>
            <a:off x="1752600" y="5574268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Paging Model of Logical and Physical Memory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8926" y="381000"/>
            <a:ext cx="194627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E</a:t>
            </a:r>
            <a:r>
              <a:rPr b="1" spc="-85" dirty="0"/>
              <a:t>x</a:t>
            </a:r>
            <a:r>
              <a:rPr b="1" dirty="0"/>
              <a:t>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609" y="1066800"/>
            <a:ext cx="7218782" cy="50292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011DD0-BC16-4B17-8235-39016178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6882" y="609600"/>
            <a:ext cx="264985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30" dirty="0"/>
              <a:t>Page</a:t>
            </a:r>
            <a:r>
              <a:rPr b="1" spc="-85" dirty="0"/>
              <a:t> </a:t>
            </a:r>
            <a:r>
              <a:rPr b="1" spc="-60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760" y="1447800"/>
            <a:ext cx="7904480" cy="3817198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15464" marR="5080" indent="-1640205" algn="just">
              <a:lnSpc>
                <a:spcPts val="3240"/>
              </a:lnSpc>
              <a:spcBef>
                <a:spcPts val="509"/>
              </a:spcBef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process,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frame,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allocated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23215" indent="-342900" algn="just">
              <a:lnSpc>
                <a:spcPct val="9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is 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sz="2800" spc="-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frames.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can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mathematical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as:</a:t>
            </a:r>
          </a:p>
          <a:p>
            <a:pPr marL="756285" algn="just">
              <a:lnSpc>
                <a:spcPct val="100000"/>
              </a:lnSpc>
              <a:spcBef>
                <a:spcPts val="340"/>
              </a:spcBef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page_frame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page_table(page_number)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98425" indent="-342900" algn="just">
              <a:lnSpc>
                <a:spcPts val="324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virtual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number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into </a:t>
            </a:r>
            <a:r>
              <a:rPr sz="2800" spc="-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page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4A9CC-DFC3-4420-89CB-09C219C2F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3041" y="549560"/>
            <a:ext cx="46761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30" dirty="0"/>
              <a:t>Page</a:t>
            </a:r>
            <a:r>
              <a:rPr b="1" spc="-50" dirty="0"/>
              <a:t> </a:t>
            </a:r>
            <a:r>
              <a:rPr b="1" spc="-70" dirty="0"/>
              <a:t>Table</a:t>
            </a:r>
            <a:r>
              <a:rPr b="1" spc="-15" dirty="0"/>
              <a:t> </a:t>
            </a:r>
            <a:r>
              <a:rPr b="1"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5155" y="1524000"/>
            <a:ext cx="770064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20" dirty="0">
                <a:latin typeface="Calibri"/>
                <a:cs typeface="Calibri"/>
              </a:rPr>
              <a:t> exact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layout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table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entry</a:t>
            </a:r>
            <a:r>
              <a:rPr sz="3200" dirty="0">
                <a:latin typeface="Calibri"/>
                <a:cs typeface="Calibri"/>
              </a:rPr>
              <a:t> 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highly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 </a:t>
            </a:r>
            <a:r>
              <a:rPr sz="3200" spc="-5" dirty="0">
                <a:latin typeface="Calibri"/>
                <a:cs typeface="Calibri"/>
              </a:rPr>
              <a:t>dependent, but </a:t>
            </a:r>
            <a:r>
              <a:rPr sz="3200" spc="-10" dirty="0">
                <a:latin typeface="Calibri"/>
                <a:cs typeface="Calibri"/>
              </a:rPr>
              <a:t>more common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structure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5" dirty="0">
                <a:latin typeface="Calibri"/>
                <a:cs typeface="Calibri"/>
              </a:rPr>
              <a:t> 32-bit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 is as: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5509971"/>
            <a:ext cx="79578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Frame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number: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goal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locate </a:t>
            </a: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value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75" y="3525049"/>
            <a:ext cx="7048500" cy="1677563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2DF0670-09BE-4803-B2C7-3306DF80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179154"/>
            <a:ext cx="8001634" cy="4764446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50165" indent="-342900" algn="just">
              <a:lnSpc>
                <a:spcPts val="2590"/>
              </a:lnSpc>
              <a:spcBef>
                <a:spcPts val="7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15" dirty="0">
                <a:latin typeface="Calibri"/>
                <a:cs typeface="Calibri"/>
              </a:rPr>
              <a:t>Present/absent </a:t>
            </a:r>
            <a:r>
              <a:rPr sz="2700" b="1" dirty="0">
                <a:latin typeface="Calibri"/>
                <a:cs typeface="Calibri"/>
              </a:rPr>
              <a:t>bit: </a:t>
            </a:r>
            <a:r>
              <a:rPr sz="2700" dirty="0">
                <a:latin typeface="Calibri"/>
                <a:cs typeface="Calibri"/>
              </a:rPr>
              <a:t>If </a:t>
            </a:r>
            <a:r>
              <a:rPr sz="2700" spc="-15" dirty="0">
                <a:latin typeface="Calibri"/>
                <a:cs typeface="Calibri"/>
              </a:rPr>
              <a:t>present/absent </a:t>
            </a:r>
            <a:r>
              <a:rPr sz="2700" spc="-5" dirty="0">
                <a:latin typeface="Calibri"/>
                <a:cs typeface="Calibri"/>
              </a:rPr>
              <a:t>bit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10" dirty="0">
                <a:latin typeface="Calibri"/>
                <a:cs typeface="Calibri"/>
              </a:rPr>
              <a:t>present,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 virtual </a:t>
            </a:r>
            <a:r>
              <a:rPr sz="2700" spc="-5" dirty="0">
                <a:latin typeface="Calibri"/>
                <a:cs typeface="Calibri"/>
              </a:rPr>
              <a:t>addresses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5" dirty="0">
                <a:latin typeface="Calibri"/>
                <a:cs typeface="Calibri"/>
              </a:rPr>
              <a:t>mapped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10" dirty="0">
                <a:latin typeface="Calibri"/>
                <a:cs typeface="Calibri"/>
              </a:rPr>
              <a:t>the corresponding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physical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address.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If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present/absent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absent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trap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occur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called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page fault.</a:t>
            </a:r>
            <a:endParaRPr sz="27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2590"/>
              </a:lnSpc>
              <a:spcBef>
                <a:spcPts val="6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10" dirty="0">
                <a:latin typeface="Calibri"/>
                <a:cs typeface="Calibri"/>
              </a:rPr>
              <a:t>Protection </a:t>
            </a:r>
            <a:r>
              <a:rPr sz="2700" b="1" dirty="0">
                <a:latin typeface="Calibri"/>
                <a:cs typeface="Calibri"/>
              </a:rPr>
              <a:t>bit: </a:t>
            </a:r>
            <a:r>
              <a:rPr sz="2700" spc="-50" dirty="0">
                <a:latin typeface="Calibri"/>
                <a:cs typeface="Calibri"/>
              </a:rPr>
              <a:t>Tells </a:t>
            </a:r>
            <a:r>
              <a:rPr sz="2700" spc="-5" dirty="0">
                <a:latin typeface="Calibri"/>
                <a:cs typeface="Calibri"/>
              </a:rPr>
              <a:t>what kinds of </a:t>
            </a:r>
            <a:r>
              <a:rPr sz="2700" dirty="0">
                <a:latin typeface="Calibri"/>
                <a:cs typeface="Calibri"/>
              </a:rPr>
              <a:t>access </a:t>
            </a:r>
            <a:r>
              <a:rPr sz="2700" spc="-15" dirty="0">
                <a:latin typeface="Calibri"/>
                <a:cs typeface="Calibri"/>
              </a:rPr>
              <a:t>are </a:t>
            </a:r>
            <a:r>
              <a:rPr sz="2700" spc="-10" dirty="0">
                <a:latin typeface="Calibri"/>
                <a:cs typeface="Calibri"/>
              </a:rPr>
              <a:t>permitted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read,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write </a:t>
            </a:r>
            <a:r>
              <a:rPr sz="2700" spc="-5" dirty="0">
                <a:latin typeface="Calibri"/>
                <a:cs typeface="Calibri"/>
              </a:rPr>
              <a:t>or </a:t>
            </a:r>
            <a:r>
              <a:rPr sz="2700" spc="-10" dirty="0">
                <a:latin typeface="Calibri"/>
                <a:cs typeface="Calibri"/>
              </a:rPr>
              <a:t>read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only.</a:t>
            </a:r>
            <a:endParaRPr sz="2700" dirty="0">
              <a:latin typeface="Calibri"/>
              <a:cs typeface="Calibri"/>
            </a:endParaRPr>
          </a:p>
          <a:p>
            <a:pPr marL="355600" marR="276225" indent="-342900" algn="just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5" dirty="0">
                <a:latin typeface="Calibri"/>
                <a:cs typeface="Calibri"/>
              </a:rPr>
              <a:t>Modified</a:t>
            </a:r>
            <a:r>
              <a:rPr sz="2700" b="1" spc="-2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bit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(dirty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bit):</a:t>
            </a:r>
            <a:r>
              <a:rPr sz="2700" b="1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Identifies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changed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status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 the </a:t>
            </a:r>
            <a:r>
              <a:rPr sz="2700" spc="-10" dirty="0">
                <a:latin typeface="Calibri"/>
                <a:cs typeface="Calibri"/>
              </a:rPr>
              <a:t>page </a:t>
            </a:r>
            <a:r>
              <a:rPr sz="2700" spc="-5" dirty="0">
                <a:latin typeface="Calibri"/>
                <a:cs typeface="Calibri"/>
              </a:rPr>
              <a:t>since </a:t>
            </a:r>
            <a:r>
              <a:rPr sz="2700" spc="-10" dirty="0">
                <a:latin typeface="Calibri"/>
                <a:cs typeface="Calibri"/>
              </a:rPr>
              <a:t>last </a:t>
            </a:r>
            <a:r>
              <a:rPr sz="2700" spc="-5" dirty="0">
                <a:latin typeface="Calibri"/>
                <a:cs typeface="Calibri"/>
              </a:rPr>
              <a:t>access; </a:t>
            </a:r>
            <a:r>
              <a:rPr sz="2700" dirty="0">
                <a:latin typeface="Calibri"/>
                <a:cs typeface="Calibri"/>
              </a:rPr>
              <a:t>if it is modified </a:t>
            </a:r>
            <a:r>
              <a:rPr sz="2700" spc="-5" dirty="0">
                <a:latin typeface="Calibri"/>
                <a:cs typeface="Calibri"/>
              </a:rPr>
              <a:t>then </a:t>
            </a:r>
            <a:r>
              <a:rPr sz="2700" dirty="0">
                <a:latin typeface="Calibri"/>
                <a:cs typeface="Calibri"/>
              </a:rPr>
              <a:t>it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must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be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rewritten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back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the </a:t>
            </a:r>
            <a:r>
              <a:rPr sz="2700" spc="-5" dirty="0">
                <a:latin typeface="Calibri"/>
                <a:cs typeface="Calibri"/>
              </a:rPr>
              <a:t>disk.</a:t>
            </a:r>
            <a:endParaRPr sz="2700" dirty="0">
              <a:latin typeface="Calibri"/>
              <a:cs typeface="Calibri"/>
            </a:endParaRPr>
          </a:p>
          <a:p>
            <a:pPr marL="355600" marR="552450" indent="-342900" algn="just">
              <a:lnSpc>
                <a:spcPct val="80000"/>
              </a:lnSpc>
              <a:spcBef>
                <a:spcPts val="6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20" dirty="0">
                <a:latin typeface="Calibri"/>
                <a:cs typeface="Calibri"/>
              </a:rPr>
              <a:t>Referenced </a:t>
            </a:r>
            <a:r>
              <a:rPr sz="2700" b="1" dirty="0">
                <a:latin typeface="Calibri"/>
                <a:cs typeface="Calibri"/>
              </a:rPr>
              <a:t>bit: </a:t>
            </a:r>
            <a:r>
              <a:rPr sz="2700" spc="-10" dirty="0">
                <a:latin typeface="Calibri"/>
                <a:cs typeface="Calibri"/>
              </a:rPr>
              <a:t>set </a:t>
            </a:r>
            <a:r>
              <a:rPr sz="2700" spc="-5" dirty="0">
                <a:latin typeface="Calibri"/>
                <a:cs typeface="Calibri"/>
              </a:rPr>
              <a:t>whenever </a:t>
            </a:r>
            <a:r>
              <a:rPr sz="2700" dirty="0">
                <a:latin typeface="Calibri"/>
                <a:cs typeface="Calibri"/>
              </a:rPr>
              <a:t>a </a:t>
            </a:r>
            <a:r>
              <a:rPr sz="2700" spc="-10" dirty="0">
                <a:latin typeface="Calibri"/>
                <a:cs typeface="Calibri"/>
              </a:rPr>
              <a:t>page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20" dirty="0">
                <a:latin typeface="Calibri"/>
                <a:cs typeface="Calibri"/>
              </a:rPr>
              <a:t>referenced;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used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 </a:t>
            </a:r>
            <a:r>
              <a:rPr sz="2700" spc="-10" dirty="0">
                <a:latin typeface="Calibri"/>
                <a:cs typeface="Calibri"/>
              </a:rPr>
              <a:t>page replacement.</a:t>
            </a:r>
            <a:endParaRPr sz="2700" dirty="0">
              <a:latin typeface="Calibri"/>
              <a:cs typeface="Calibri"/>
            </a:endParaRPr>
          </a:p>
          <a:p>
            <a:pPr marL="355600" marR="722630" indent="-342900" algn="just">
              <a:lnSpc>
                <a:spcPts val="2590"/>
              </a:lnSpc>
              <a:spcBef>
                <a:spcPts val="6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5" dirty="0">
                <a:latin typeface="Calibri"/>
                <a:cs typeface="Calibri"/>
              </a:rPr>
              <a:t>Caching disabled</a:t>
            </a:r>
            <a:r>
              <a:rPr sz="2700" spc="-5" dirty="0">
                <a:latin typeface="Calibri"/>
                <a:cs typeface="Calibri"/>
              </a:rPr>
              <a:t>: used </a:t>
            </a:r>
            <a:r>
              <a:rPr sz="2700" spc="-25" dirty="0">
                <a:latin typeface="Calibri"/>
                <a:cs typeface="Calibri"/>
              </a:rPr>
              <a:t>for </a:t>
            </a:r>
            <a:r>
              <a:rPr sz="2700" spc="-10" dirty="0">
                <a:latin typeface="Calibri"/>
                <a:cs typeface="Calibri"/>
              </a:rPr>
              <a:t>that </a:t>
            </a:r>
            <a:r>
              <a:rPr sz="2700" spc="-25" dirty="0">
                <a:latin typeface="Calibri"/>
                <a:cs typeface="Calibri"/>
              </a:rPr>
              <a:t>system </a:t>
            </a:r>
            <a:r>
              <a:rPr sz="2700" spc="-10" dirty="0">
                <a:latin typeface="Calibri"/>
                <a:cs typeface="Calibri"/>
              </a:rPr>
              <a:t>where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mapping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into </a:t>
            </a:r>
            <a:r>
              <a:rPr sz="2700" spc="-5" dirty="0">
                <a:latin typeface="Calibri"/>
                <a:cs typeface="Calibri"/>
              </a:rPr>
              <a:t>device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register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rather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memory.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BA649E-9056-4487-B47E-01898810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344B97BD-BB5B-439C-86FA-CE6BD13F5A5E}"/>
              </a:ext>
            </a:extLst>
          </p:cNvPr>
          <p:cNvSpPr txBox="1">
            <a:spLocks/>
          </p:cNvSpPr>
          <p:nvPr/>
        </p:nvSpPr>
        <p:spPr>
          <a:xfrm>
            <a:off x="2233041" y="381000"/>
            <a:ext cx="46761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b="1" spc="-30" dirty="0"/>
              <a:t>Page</a:t>
            </a:r>
            <a:r>
              <a:rPr lang="en-IN" b="1" spc="-50" dirty="0"/>
              <a:t> </a:t>
            </a:r>
            <a:r>
              <a:rPr lang="en-IN" b="1" spc="-70" dirty="0"/>
              <a:t>Table</a:t>
            </a:r>
            <a:r>
              <a:rPr lang="en-IN" b="1" spc="-15" dirty="0"/>
              <a:t> </a:t>
            </a:r>
            <a:r>
              <a:rPr lang="en-IN" b="1" spc="-10" dirty="0"/>
              <a:t>Structure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8217" y="549560"/>
            <a:ext cx="414972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30" dirty="0"/>
              <a:t>Page</a:t>
            </a:r>
            <a:r>
              <a:rPr b="1" spc="-60" dirty="0"/>
              <a:t> </a:t>
            </a:r>
            <a:r>
              <a:rPr b="1" spc="-55" dirty="0"/>
              <a:t>Tables</a:t>
            </a:r>
            <a:r>
              <a:rPr b="1" spc="-30" dirty="0"/>
              <a:t> </a:t>
            </a:r>
            <a:r>
              <a:rPr b="1" dirty="0"/>
              <a:t>Issues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753350" cy="456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20" dirty="0">
                <a:latin typeface="Calibri"/>
                <a:cs typeface="Calibri"/>
              </a:rPr>
              <a:t>Size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page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table.</a:t>
            </a:r>
            <a:endParaRPr sz="2700" dirty="0">
              <a:latin typeface="Calibri"/>
              <a:cs typeface="Calibri"/>
            </a:endParaRPr>
          </a:p>
          <a:p>
            <a:pPr marL="756285" marR="67310" lvl="1" indent="-287020">
              <a:lnSpc>
                <a:spcPct val="80000"/>
              </a:lnSpc>
              <a:spcBef>
                <a:spcPts val="59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Most </a:t>
            </a:r>
            <a:r>
              <a:rPr sz="2400" dirty="0">
                <a:latin typeface="Calibri"/>
                <a:cs typeface="Calibri"/>
              </a:rPr>
              <a:t>modern </a:t>
            </a:r>
            <a:r>
              <a:rPr sz="2400" spc="-15" dirty="0">
                <a:latin typeface="Calibri"/>
                <a:cs typeface="Calibri"/>
              </a:rPr>
              <a:t>computers </a:t>
            </a:r>
            <a:r>
              <a:rPr sz="2400" spc="-5" dirty="0">
                <a:latin typeface="Calibri"/>
                <a:cs typeface="Calibri"/>
              </a:rPr>
              <a:t>support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large </a:t>
            </a:r>
            <a:r>
              <a:rPr sz="2400" spc="-5" dirty="0">
                <a:latin typeface="Calibri"/>
                <a:cs typeface="Calibri"/>
              </a:rPr>
              <a:t>virtual-address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space (2^32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2^64). If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page </a:t>
            </a:r>
            <a:r>
              <a:rPr sz="2400" spc="-15" dirty="0">
                <a:latin typeface="Calibri"/>
                <a:cs typeface="Calibri"/>
              </a:rPr>
              <a:t>size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4KB,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32-bit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address space has </a:t>
            </a:r>
            <a:r>
              <a:rPr sz="2400" dirty="0">
                <a:latin typeface="Calibri"/>
                <a:cs typeface="Calibri"/>
              </a:rPr>
              <a:t>1 million </a:t>
            </a:r>
            <a:r>
              <a:rPr sz="2400" spc="-10" dirty="0">
                <a:latin typeface="Calibri"/>
                <a:cs typeface="Calibri"/>
              </a:rPr>
              <a:t>pages. </a:t>
            </a:r>
            <a:r>
              <a:rPr sz="2400" dirty="0">
                <a:latin typeface="Calibri"/>
                <a:cs typeface="Calibri"/>
              </a:rPr>
              <a:t>With 1 million </a:t>
            </a:r>
            <a:r>
              <a:rPr sz="2400" spc="-10" dirty="0">
                <a:latin typeface="Calibri"/>
                <a:cs typeface="Calibri"/>
              </a:rPr>
              <a:t>pages,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page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have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million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entries.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875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think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about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64-bit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address space???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323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Efficiency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mapping.</a:t>
            </a:r>
          </a:p>
          <a:p>
            <a:pPr marL="756285" marR="125095" lvl="1" indent="-287020">
              <a:lnSpc>
                <a:spcPct val="80100"/>
              </a:lnSpc>
              <a:spcBef>
                <a:spcPts val="58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If a </a:t>
            </a:r>
            <a:r>
              <a:rPr sz="2400" spc="-5" dirty="0">
                <a:latin typeface="Calibri"/>
                <a:cs typeface="Calibri"/>
              </a:rPr>
              <a:t>particular instruction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being </a:t>
            </a:r>
            <a:r>
              <a:rPr sz="2400" dirty="0">
                <a:latin typeface="Calibri"/>
                <a:cs typeface="Calibri"/>
              </a:rPr>
              <a:t>mapped, the </a:t>
            </a:r>
            <a:r>
              <a:rPr sz="2400" spc="-5" dirty="0">
                <a:latin typeface="Calibri"/>
                <a:cs typeface="Calibri"/>
              </a:rPr>
              <a:t>table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lookup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should 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very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small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total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mapping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avoid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becoming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CPU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idle.</a:t>
            </a:r>
          </a:p>
          <a:p>
            <a:pPr marL="355600" marR="5080" indent="-342900">
              <a:lnSpc>
                <a:spcPts val="2590"/>
              </a:lnSpc>
              <a:spcBef>
                <a:spcPts val="6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What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would </a:t>
            </a:r>
            <a:r>
              <a:rPr sz="2700" spc="-5" dirty="0">
                <a:latin typeface="Calibri"/>
                <a:cs typeface="Calibri"/>
              </a:rPr>
              <a:t>be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performance,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if</a:t>
            </a:r>
            <a:r>
              <a:rPr sz="2700" spc="-5" dirty="0">
                <a:latin typeface="Calibri"/>
                <a:cs typeface="Calibri"/>
              </a:rPr>
              <a:t> such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large </a:t>
            </a:r>
            <a:r>
              <a:rPr sz="2700" spc="-10" dirty="0">
                <a:latin typeface="Calibri"/>
                <a:cs typeface="Calibri"/>
              </a:rPr>
              <a:t>table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have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load</a:t>
            </a:r>
            <a:r>
              <a:rPr sz="2700" spc="-15" dirty="0">
                <a:latin typeface="Calibri"/>
                <a:cs typeface="Calibri"/>
              </a:rPr>
              <a:t> at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every</a:t>
            </a:r>
            <a:r>
              <a:rPr sz="2700" spc="-5" dirty="0">
                <a:latin typeface="Calibri"/>
                <a:cs typeface="Calibri"/>
              </a:rPr>
              <a:t> mapping.</a:t>
            </a:r>
            <a:endParaRPr sz="2700" dirty="0">
              <a:latin typeface="Calibri"/>
              <a:cs typeface="Calibri"/>
            </a:endParaRPr>
          </a:p>
          <a:p>
            <a:pPr marL="2061210">
              <a:lnSpc>
                <a:spcPct val="100000"/>
              </a:lnSpc>
              <a:spcBef>
                <a:spcPts val="25"/>
              </a:spcBef>
            </a:pP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7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handle</a:t>
            </a:r>
            <a:r>
              <a:rPr sz="2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these</a:t>
            </a:r>
            <a:r>
              <a:rPr sz="27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issues?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E9BFD-0C02-4423-9021-4975CED4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7113" y="549560"/>
            <a:ext cx="505206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Multilevel</a:t>
            </a:r>
            <a:r>
              <a:rPr b="1" spc="-45" dirty="0"/>
              <a:t> </a:t>
            </a:r>
            <a:r>
              <a:rPr b="1" spc="-30" dirty="0"/>
              <a:t>Page</a:t>
            </a:r>
            <a:r>
              <a:rPr b="1" spc="-35" dirty="0"/>
              <a:t> </a:t>
            </a:r>
            <a:r>
              <a:rPr b="1" spc="-60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36559" cy="3051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334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45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get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around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problem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having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store 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huge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tables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 memory all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time,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many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computers</a:t>
            </a:r>
            <a:r>
              <a:rPr sz="3200" spc="-5" dirty="0">
                <a:latin typeface="Calibri"/>
                <a:cs typeface="Calibri"/>
              </a:rPr>
              <a:t> use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multilevel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table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page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table</a:t>
            </a:r>
            <a:r>
              <a:rPr sz="3200" spc="-5" dirty="0">
                <a:latin typeface="Calibri"/>
                <a:cs typeface="Calibri"/>
              </a:rPr>
              <a:t> itself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paged.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Pentium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II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-2 </a:t>
            </a:r>
            <a:r>
              <a:rPr sz="3200" spc="-10" dirty="0">
                <a:latin typeface="Calibri"/>
                <a:cs typeface="Calibri"/>
              </a:rPr>
              <a:t>level,</a:t>
            </a:r>
            <a:r>
              <a:rPr sz="3200" spc="-5" dirty="0">
                <a:latin typeface="Calibri"/>
                <a:cs typeface="Calibri"/>
              </a:rPr>
              <a:t> 32-bit </a:t>
            </a:r>
            <a:r>
              <a:rPr sz="3200" spc="-15" dirty="0">
                <a:latin typeface="Calibri"/>
                <a:cs typeface="Calibri"/>
              </a:rPr>
              <a:t>Motorola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-4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level,</a:t>
            </a:r>
            <a:r>
              <a:rPr sz="3200" spc="-5" dirty="0">
                <a:latin typeface="Calibri"/>
                <a:cs typeface="Calibri"/>
              </a:rPr>
              <a:t> 32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Calibri"/>
                <a:cs typeface="Calibri"/>
              </a:rPr>
              <a:t>-bit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SPARC-3</a:t>
            </a:r>
            <a:r>
              <a:rPr sz="3200" spc="-10" dirty="0">
                <a:latin typeface="Calibri"/>
                <a:cs typeface="Calibri"/>
              </a:rPr>
              <a:t> level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etc.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5EAF13-0F13-4F77-BED2-10889A9B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55445"/>
            <a:ext cx="8073390" cy="1232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Example: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Two-Level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Page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Tables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A 32-bit virtual </a:t>
            </a:r>
            <a:r>
              <a:rPr sz="2200" spc="-10" dirty="0">
                <a:latin typeface="Calibri"/>
                <a:cs typeface="Calibri"/>
              </a:rPr>
              <a:t>address </a:t>
            </a:r>
            <a:r>
              <a:rPr sz="2200" spc="-5" dirty="0">
                <a:latin typeface="Calibri"/>
                <a:cs typeface="Calibri"/>
              </a:rPr>
              <a:t>space with a </a:t>
            </a:r>
            <a:r>
              <a:rPr sz="2200" spc="-10" dirty="0">
                <a:latin typeface="Calibri"/>
                <a:cs typeface="Calibri"/>
              </a:rPr>
              <a:t>page </a:t>
            </a:r>
            <a:r>
              <a:rPr sz="2200" spc="-15" dirty="0">
                <a:latin typeface="Calibri"/>
                <a:cs typeface="Calibri"/>
              </a:rPr>
              <a:t>size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4 </a:t>
            </a:r>
            <a:r>
              <a:rPr sz="2200" spc="-10" dirty="0">
                <a:latin typeface="Calibri"/>
                <a:cs typeface="Calibri"/>
              </a:rPr>
              <a:t>KB, </a:t>
            </a:r>
            <a:r>
              <a:rPr sz="2200" spc="-5" dirty="0">
                <a:latin typeface="Calibri"/>
                <a:cs typeface="Calibri"/>
              </a:rPr>
              <a:t>the virtual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address</a:t>
            </a:r>
            <a:r>
              <a:rPr sz="2200" spc="-5" dirty="0">
                <a:latin typeface="Calibri"/>
                <a:cs typeface="Calibri"/>
              </a:rPr>
              <a:t> space 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partitioned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into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10-bit PT1 field, a 10-bit </a:t>
            </a:r>
            <a:r>
              <a:rPr sz="2200" dirty="0">
                <a:latin typeface="Calibri"/>
                <a:cs typeface="Calibri"/>
              </a:rPr>
              <a:t>PT2 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field,</a:t>
            </a:r>
            <a:r>
              <a:rPr sz="2200" spc="-5" dirty="0">
                <a:latin typeface="Calibri"/>
                <a:cs typeface="Calibri"/>
              </a:rPr>
              <a:t> 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12-bit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offset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field.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4104588"/>
            <a:ext cx="8072120" cy="143383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5600" marR="5080" indent="-342900" algn="just">
              <a:lnSpc>
                <a:spcPts val="2110"/>
              </a:lnSpc>
              <a:spcBef>
                <a:spcPts val="61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top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level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1024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entries,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corresponding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PT1.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At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mapping,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5" dirty="0">
                <a:latin typeface="Calibri"/>
                <a:cs typeface="Calibri"/>
              </a:rPr>
              <a:t>first extracts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PT1 </a:t>
            </a:r>
            <a:r>
              <a:rPr sz="2200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uses </a:t>
            </a:r>
            <a:r>
              <a:rPr sz="2200" spc="-5" dirty="0">
                <a:latin typeface="Calibri"/>
                <a:cs typeface="Calibri"/>
              </a:rPr>
              <a:t>this </a:t>
            </a:r>
            <a:r>
              <a:rPr sz="2200" spc="-10" dirty="0">
                <a:latin typeface="Calibri"/>
                <a:cs typeface="Calibri"/>
              </a:rPr>
              <a:t>value </a:t>
            </a:r>
            <a:r>
              <a:rPr sz="2200" spc="-5" dirty="0">
                <a:latin typeface="Calibri"/>
                <a:cs typeface="Calibri"/>
              </a:rPr>
              <a:t>as an </a:t>
            </a:r>
            <a:r>
              <a:rPr sz="2200" spc="-15" dirty="0">
                <a:latin typeface="Calibri"/>
                <a:cs typeface="Calibri"/>
              </a:rPr>
              <a:t>index into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top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level page table. </a:t>
            </a:r>
            <a:r>
              <a:rPr sz="2200" spc="-15" dirty="0">
                <a:latin typeface="Calibri"/>
                <a:cs typeface="Calibri"/>
              </a:rPr>
              <a:t>Each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these entries </a:t>
            </a:r>
            <a:r>
              <a:rPr sz="2200" spc="-20" dirty="0">
                <a:latin typeface="Calibri"/>
                <a:cs typeface="Calibri"/>
              </a:rPr>
              <a:t>have </a:t>
            </a:r>
            <a:r>
              <a:rPr sz="2200" spc="-10" dirty="0">
                <a:latin typeface="Calibri"/>
                <a:cs typeface="Calibri"/>
              </a:rPr>
              <a:t>again </a:t>
            </a:r>
            <a:r>
              <a:rPr sz="2200" spc="-5" dirty="0">
                <a:latin typeface="Calibri"/>
                <a:cs typeface="Calibri"/>
              </a:rPr>
              <a:t>1024 </a:t>
            </a:r>
            <a:r>
              <a:rPr sz="2200" spc="-10" dirty="0">
                <a:latin typeface="Calibri"/>
                <a:cs typeface="Calibri"/>
              </a:rPr>
              <a:t>entries,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resulting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address</a:t>
            </a:r>
            <a:r>
              <a:rPr sz="2200" dirty="0">
                <a:latin typeface="Calibri"/>
                <a:cs typeface="Calibri"/>
              </a:rPr>
              <a:t> 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top-level</a:t>
            </a:r>
            <a:r>
              <a:rPr sz="2200" spc="-5" dirty="0">
                <a:latin typeface="Calibri"/>
                <a:cs typeface="Calibri"/>
              </a:rPr>
              <a:t> yields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address</a:t>
            </a:r>
            <a:r>
              <a:rPr sz="2200" dirty="0">
                <a:latin typeface="Calibri"/>
                <a:cs typeface="Calibri"/>
              </a:rPr>
              <a:t> or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sz="2200" spc="-10" dirty="0">
                <a:latin typeface="Calibri"/>
                <a:cs typeface="Calibri"/>
              </a:rPr>
              <a:t> frame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second-level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table.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0" y="3190875"/>
            <a:ext cx="3152775" cy="65722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5C95A2-3FE3-4263-83A3-1CC1EAAB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F1ED4BE5-1B3B-49C6-B84B-8CA6D6B66BF2}"/>
              </a:ext>
            </a:extLst>
          </p:cNvPr>
          <p:cNvSpPr txBox="1">
            <a:spLocks/>
          </p:cNvSpPr>
          <p:nvPr/>
        </p:nvSpPr>
        <p:spPr>
          <a:xfrm>
            <a:off x="2047113" y="549560"/>
            <a:ext cx="505206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b="1" spc="-5"/>
              <a:t>Multilevel</a:t>
            </a:r>
            <a:r>
              <a:rPr lang="en-IN" b="1" spc="-45"/>
              <a:t> </a:t>
            </a:r>
            <a:r>
              <a:rPr lang="en-IN" b="1" spc="-30"/>
              <a:t>Page</a:t>
            </a:r>
            <a:r>
              <a:rPr lang="en-IN" b="1" spc="-35"/>
              <a:t> </a:t>
            </a:r>
            <a:r>
              <a:rPr lang="en-IN" b="1" spc="-60"/>
              <a:t>Tables</a:t>
            </a:r>
            <a:endParaRPr lang="en-IN" b="1" spc="-6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9973" y="304800"/>
            <a:ext cx="500697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u="sng" spc="-5" dirty="0"/>
              <a:t>Multilevel</a:t>
            </a:r>
            <a:r>
              <a:rPr b="1" u="sng" spc="-20" dirty="0"/>
              <a:t> </a:t>
            </a:r>
            <a:r>
              <a:rPr b="1" u="sng" spc="-35" dirty="0"/>
              <a:t>Page</a:t>
            </a:r>
            <a:r>
              <a:rPr b="1" u="sng" spc="-20" dirty="0"/>
              <a:t> </a:t>
            </a:r>
            <a:r>
              <a:rPr b="1" u="sng" spc="-10" dirty="0"/>
              <a:t>tables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136B0-1EBD-4BB8-A5F7-8AAAB93D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38C73-B899-4AFB-8532-7D6BD160C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96856"/>
            <a:ext cx="7284217" cy="49467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9973" y="304800"/>
            <a:ext cx="500697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Multilevel</a:t>
            </a:r>
            <a:r>
              <a:rPr b="1" spc="-20" dirty="0"/>
              <a:t> </a:t>
            </a:r>
            <a:r>
              <a:rPr b="1" spc="-35" dirty="0"/>
              <a:t>Page</a:t>
            </a:r>
            <a:r>
              <a:rPr b="1" spc="-20" dirty="0"/>
              <a:t> </a:t>
            </a:r>
            <a:r>
              <a:rPr b="1" spc="-10" dirty="0"/>
              <a:t>tables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" y="1066799"/>
            <a:ext cx="7581900" cy="504896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136B0-1EBD-4BB8-A5F7-8AAAB93D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443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4312" y="457200"/>
            <a:ext cx="779388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600" b="1" spc="-40" dirty="0"/>
              <a:t>Translation</a:t>
            </a:r>
            <a:r>
              <a:rPr sz="3600" b="1" spc="-20" dirty="0"/>
              <a:t> </a:t>
            </a:r>
            <a:r>
              <a:rPr sz="3600" b="1" spc="-5" dirty="0"/>
              <a:t>Look aside</a:t>
            </a:r>
            <a:r>
              <a:rPr sz="3600" b="1" spc="-15" dirty="0"/>
              <a:t> </a:t>
            </a:r>
            <a:r>
              <a:rPr sz="3600" b="1" spc="-30" dirty="0"/>
              <a:t>Buffers</a:t>
            </a:r>
            <a:r>
              <a:rPr sz="3600" b="1" spc="-10" dirty="0"/>
              <a:t> </a:t>
            </a:r>
            <a:r>
              <a:rPr sz="3600" b="1" spc="-5" dirty="0"/>
              <a:t>(TLBs)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19200"/>
            <a:ext cx="8074025" cy="455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speed</a:t>
            </a:r>
            <a:r>
              <a:rPr sz="27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up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 address</a:t>
            </a:r>
            <a:r>
              <a:rPr sz="27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translation?</a:t>
            </a:r>
            <a:endParaRPr sz="2700" dirty="0">
              <a:latin typeface="Calibri"/>
              <a:cs typeface="Calibri"/>
            </a:endParaRPr>
          </a:p>
          <a:p>
            <a:pPr marL="355600" marR="10795" indent="-342900" algn="just">
              <a:lnSpc>
                <a:spcPts val="2590"/>
              </a:lnSpc>
              <a:spcBef>
                <a:spcPts val="630"/>
              </a:spcBef>
            </a:pPr>
            <a:r>
              <a:rPr sz="2700" spc="-5" dirty="0">
                <a:latin typeface="Calibri"/>
                <a:cs typeface="Calibri"/>
              </a:rPr>
              <a:t>Locality: </a:t>
            </a:r>
            <a:r>
              <a:rPr sz="2700" spc="-10" dirty="0">
                <a:latin typeface="Calibri"/>
                <a:cs typeface="Calibri"/>
              </a:rPr>
              <a:t>Most </a:t>
            </a:r>
            <a:r>
              <a:rPr sz="2700" spc="-15" dirty="0">
                <a:latin typeface="Calibri"/>
                <a:cs typeface="Calibri"/>
              </a:rPr>
              <a:t>processes </a:t>
            </a:r>
            <a:r>
              <a:rPr sz="2700" spc="-10" dirty="0">
                <a:latin typeface="Calibri"/>
                <a:cs typeface="Calibri"/>
              </a:rPr>
              <a:t>use </a:t>
            </a:r>
            <a:r>
              <a:rPr sz="2700" spc="-20" dirty="0">
                <a:latin typeface="Calibri"/>
                <a:cs typeface="Calibri"/>
              </a:rPr>
              <a:t>large </a:t>
            </a:r>
            <a:r>
              <a:rPr sz="2700" spc="-5" dirty="0">
                <a:latin typeface="Calibri"/>
                <a:cs typeface="Calibri"/>
              </a:rPr>
              <a:t>number </a:t>
            </a:r>
            <a:r>
              <a:rPr sz="2700" dirty="0">
                <a:latin typeface="Calibri"/>
                <a:cs typeface="Calibri"/>
              </a:rPr>
              <a:t>of </a:t>
            </a:r>
            <a:r>
              <a:rPr sz="2700" spc="-25" dirty="0">
                <a:latin typeface="Calibri"/>
                <a:cs typeface="Calibri"/>
              </a:rPr>
              <a:t>reference </a:t>
            </a:r>
            <a:r>
              <a:rPr sz="2700" spc="-45" dirty="0">
                <a:latin typeface="Calibri"/>
                <a:cs typeface="Calibri"/>
              </a:rPr>
              <a:t>to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small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number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pages.</a:t>
            </a:r>
            <a:endParaRPr sz="2700" dirty="0">
              <a:latin typeface="Calibri"/>
              <a:cs typeface="Calibri"/>
            </a:endParaRPr>
          </a:p>
          <a:p>
            <a:pPr marL="355600" marR="6350" indent="-342900" algn="just">
              <a:lnSpc>
                <a:spcPts val="259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The small, </a:t>
            </a:r>
            <a:r>
              <a:rPr sz="2700" spc="-20" dirty="0">
                <a:latin typeface="Calibri"/>
                <a:cs typeface="Calibri"/>
              </a:rPr>
              <a:t>fast, </a:t>
            </a:r>
            <a:r>
              <a:rPr sz="2700" spc="-10" dirty="0">
                <a:latin typeface="Calibri"/>
                <a:cs typeface="Calibri"/>
              </a:rPr>
              <a:t>lookup </a:t>
            </a:r>
            <a:r>
              <a:rPr sz="2700" spc="-25" dirty="0">
                <a:latin typeface="Calibri"/>
                <a:cs typeface="Calibri"/>
              </a:rPr>
              <a:t>hardware </a:t>
            </a:r>
            <a:r>
              <a:rPr sz="2700" spc="-10" dirty="0">
                <a:latin typeface="Calibri"/>
                <a:cs typeface="Calibri"/>
              </a:rPr>
              <a:t>cache, </a:t>
            </a:r>
            <a:r>
              <a:rPr sz="2700" spc="-5" dirty="0">
                <a:latin typeface="Calibri"/>
                <a:cs typeface="Calibri"/>
              </a:rPr>
              <a:t>called TLB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used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overcome</a:t>
            </a:r>
            <a:r>
              <a:rPr sz="2700" spc="-10" dirty="0">
                <a:latin typeface="Calibri"/>
                <a:cs typeface="Calibri"/>
              </a:rPr>
              <a:t> this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problem,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by</a:t>
            </a:r>
            <a:r>
              <a:rPr sz="2700" b="1" spc="-5" dirty="0">
                <a:latin typeface="Calibri"/>
                <a:cs typeface="Calibri"/>
              </a:rPr>
              <a:t> mapping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logical 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address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to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physical</a:t>
            </a:r>
            <a:r>
              <a:rPr sz="2700" b="1" spc="-10" dirty="0">
                <a:latin typeface="Calibri"/>
                <a:cs typeface="Calibri"/>
              </a:rPr>
              <a:t> address</a:t>
            </a:r>
            <a:r>
              <a:rPr sz="2700" b="1" spc="-2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without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page tables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sz="27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68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The TLB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10" dirty="0">
                <a:latin typeface="Calibri"/>
                <a:cs typeface="Calibri"/>
              </a:rPr>
              <a:t>associative, </a:t>
            </a:r>
            <a:r>
              <a:rPr sz="2700" spc="-5" dirty="0">
                <a:latin typeface="Calibri"/>
                <a:cs typeface="Calibri"/>
              </a:rPr>
              <a:t>high-speed, </a:t>
            </a:r>
            <a:r>
              <a:rPr sz="2700" dirty="0">
                <a:latin typeface="Calibri"/>
                <a:cs typeface="Calibri"/>
              </a:rPr>
              <a:t>memory; </a:t>
            </a:r>
            <a:r>
              <a:rPr sz="2700" spc="-5" dirty="0">
                <a:latin typeface="Calibri"/>
                <a:cs typeface="Calibri"/>
              </a:rPr>
              <a:t>each </a:t>
            </a:r>
            <a:r>
              <a:rPr sz="2700" spc="-15" dirty="0">
                <a:latin typeface="Calibri"/>
                <a:cs typeface="Calibri"/>
              </a:rPr>
              <a:t>entry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consists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information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about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virtual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page-number</a:t>
            </a:r>
            <a:r>
              <a:rPr sz="2700" b="1" spc="-5" dirty="0">
                <a:latin typeface="Calibri"/>
                <a:cs typeface="Calibri"/>
              </a:rPr>
              <a:t> and 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physical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page </a:t>
            </a:r>
            <a:r>
              <a:rPr sz="2700" b="1" spc="-15" dirty="0">
                <a:latin typeface="Calibri"/>
                <a:cs typeface="Calibri"/>
              </a:rPr>
              <a:t>frame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45" dirty="0">
                <a:latin typeface="Calibri"/>
                <a:cs typeface="Calibri"/>
              </a:rPr>
              <a:t>number</a:t>
            </a:r>
            <a:r>
              <a:rPr sz="2700" spc="-45" dirty="0">
                <a:latin typeface="Calibri"/>
                <a:cs typeface="Calibri"/>
              </a:rPr>
              <a:t>.</a:t>
            </a:r>
            <a:endParaRPr sz="27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700" spc="-25" dirty="0">
                <a:latin typeface="Calibri"/>
                <a:cs typeface="Calibri"/>
              </a:rPr>
              <a:t>Typical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sizes: </a:t>
            </a:r>
            <a:r>
              <a:rPr sz="2700" spc="-5" dirty="0">
                <a:latin typeface="Calibri"/>
                <a:cs typeface="Calibri"/>
              </a:rPr>
              <a:t>only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64</a:t>
            </a:r>
            <a:r>
              <a:rPr sz="2700" spc="-15" dirty="0">
                <a:latin typeface="Calibri"/>
                <a:cs typeface="Calibri"/>
              </a:rPr>
              <a:t> 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1024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entries.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265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700" spc="-25" dirty="0">
                <a:solidFill>
                  <a:srgbClr val="FF0000"/>
                </a:solidFill>
                <a:latin typeface="Calibri"/>
                <a:cs typeface="Calibri"/>
              </a:rPr>
              <a:t>Key</a:t>
            </a:r>
            <a:r>
              <a:rPr sz="27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 improvement: 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Parallel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search</a:t>
            </a:r>
            <a:r>
              <a:rPr sz="2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entries.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404B61-D950-4F24-94F1-D5C370FAA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3661" y="461594"/>
            <a:ext cx="837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latin typeface="Calibri"/>
                <a:cs typeface="Calibri"/>
              </a:rPr>
              <a:t>TLB</a:t>
            </a:r>
            <a:endParaRPr sz="4400" b="1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3C941-C79C-407C-9767-B77E7F2A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9DA4A-5BCC-4F40-B6D4-B1D38B738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312"/>
            <a:ext cx="7391400" cy="488239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3661" y="461594"/>
            <a:ext cx="837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latin typeface="Calibri"/>
                <a:cs typeface="Calibri"/>
              </a:rPr>
              <a:t>TLB</a:t>
            </a:r>
            <a:endParaRPr sz="4400" b="1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5025"/>
            <a:ext cx="8153400" cy="4567174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3C941-C79C-407C-9767-B77E7F2A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931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3661" y="549560"/>
            <a:ext cx="83756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TLB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1066"/>
            <a:ext cx="8074025" cy="43065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42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When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logical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address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generated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by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CPU,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page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number</a:t>
            </a:r>
            <a:r>
              <a:rPr sz="2700" dirty="0">
                <a:latin typeface="Calibri"/>
                <a:cs typeface="Calibri"/>
              </a:rPr>
              <a:t> is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presented</a:t>
            </a:r>
            <a:r>
              <a:rPr sz="2700" spc="-15" dirty="0">
                <a:latin typeface="Calibri"/>
                <a:cs typeface="Calibri"/>
              </a:rPr>
              <a:t> 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TLB;</a:t>
            </a:r>
            <a:r>
              <a:rPr sz="2700" dirty="0">
                <a:latin typeface="Calibri"/>
                <a:cs typeface="Calibri"/>
              </a:rPr>
              <a:t> if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page</a:t>
            </a:r>
            <a:r>
              <a:rPr sz="2700" spc="-10" dirty="0">
                <a:latin typeface="Calibri"/>
                <a:cs typeface="Calibri"/>
              </a:rPr>
              <a:t> number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found</a:t>
            </a:r>
            <a:r>
              <a:rPr sz="2700" spc="-10" dirty="0">
                <a:latin typeface="Calibri"/>
                <a:cs typeface="Calibri"/>
              </a:rPr>
              <a:t> (</a:t>
            </a:r>
            <a:r>
              <a:rPr sz="2700" spc="-10" dirty="0">
                <a:solidFill>
                  <a:srgbClr val="00B050"/>
                </a:solidFill>
                <a:latin typeface="Calibri"/>
                <a:cs typeface="Calibri"/>
              </a:rPr>
              <a:t>TLB</a:t>
            </a:r>
            <a:r>
              <a:rPr sz="2700" spc="-5" dirty="0">
                <a:solidFill>
                  <a:srgbClr val="00B050"/>
                </a:solidFill>
                <a:latin typeface="Calibri"/>
                <a:cs typeface="Calibri"/>
              </a:rPr>
              <a:t> hit</a:t>
            </a:r>
            <a:r>
              <a:rPr sz="2700" spc="-5" dirty="0">
                <a:latin typeface="Calibri"/>
                <a:cs typeface="Calibri"/>
              </a:rPr>
              <a:t>),</a:t>
            </a:r>
            <a:r>
              <a:rPr sz="2700" dirty="0">
                <a:latin typeface="Calibri"/>
                <a:cs typeface="Calibri"/>
              </a:rPr>
              <a:t> its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frame</a:t>
            </a:r>
            <a:r>
              <a:rPr sz="2700" spc="-10" dirty="0">
                <a:latin typeface="Calibri"/>
                <a:cs typeface="Calibri"/>
              </a:rPr>
              <a:t> number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immediately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available,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5" dirty="0">
                <a:latin typeface="Calibri"/>
                <a:cs typeface="Calibri"/>
              </a:rPr>
              <a:t>whole </a:t>
            </a:r>
            <a:r>
              <a:rPr sz="2700" spc="-15" dirty="0">
                <a:latin typeface="Calibri"/>
                <a:cs typeface="Calibri"/>
              </a:rPr>
              <a:t>task </a:t>
            </a:r>
            <a:r>
              <a:rPr sz="2700" spc="-10" dirty="0">
                <a:latin typeface="Calibri"/>
                <a:cs typeface="Calibri"/>
              </a:rPr>
              <a:t>would </a:t>
            </a:r>
            <a:r>
              <a:rPr sz="2700" spc="-5" dirty="0">
                <a:latin typeface="Calibri"/>
                <a:cs typeface="Calibri"/>
              </a:rPr>
              <a:t>be </a:t>
            </a:r>
            <a:r>
              <a:rPr sz="2700" spc="-10" dirty="0">
                <a:latin typeface="Calibri"/>
                <a:cs typeface="Calibri"/>
              </a:rPr>
              <a:t>very </a:t>
            </a:r>
            <a:r>
              <a:rPr sz="2700" spc="-30" dirty="0">
                <a:latin typeface="Calibri"/>
                <a:cs typeface="Calibri"/>
              </a:rPr>
              <a:t>fast </a:t>
            </a:r>
            <a:r>
              <a:rPr sz="2700" spc="-15" dirty="0">
                <a:latin typeface="Calibri"/>
                <a:cs typeface="Calibri"/>
              </a:rPr>
              <a:t>because </a:t>
            </a:r>
            <a:r>
              <a:rPr sz="2700" dirty="0">
                <a:latin typeface="Calibri"/>
                <a:cs typeface="Calibri"/>
              </a:rPr>
              <a:t>it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compare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TLB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entries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simultaneously.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45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90000"/>
              </a:lnSpc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If the </a:t>
            </a:r>
            <a:r>
              <a:rPr sz="2700" spc="-10" dirty="0">
                <a:latin typeface="Calibri"/>
                <a:cs typeface="Calibri"/>
              </a:rPr>
              <a:t>page </a:t>
            </a:r>
            <a:r>
              <a:rPr sz="2700" spc="-5" dirty="0">
                <a:latin typeface="Calibri"/>
                <a:cs typeface="Calibri"/>
              </a:rPr>
              <a:t>number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5" dirty="0">
                <a:latin typeface="Calibri"/>
                <a:cs typeface="Calibri"/>
              </a:rPr>
              <a:t>not </a:t>
            </a:r>
            <a:r>
              <a:rPr sz="2700" dirty="0">
                <a:latin typeface="Calibri"/>
                <a:cs typeface="Calibri"/>
              </a:rPr>
              <a:t>in TLB </a:t>
            </a:r>
            <a:r>
              <a:rPr sz="2700" spc="-5" dirty="0">
                <a:latin typeface="Calibri"/>
                <a:cs typeface="Calibri"/>
              </a:rPr>
              <a:t>(</a:t>
            </a:r>
            <a:r>
              <a:rPr sz="2700" spc="-5" dirty="0">
                <a:solidFill>
                  <a:srgbClr val="C00000"/>
                </a:solidFill>
                <a:latin typeface="Calibri"/>
                <a:cs typeface="Calibri"/>
              </a:rPr>
              <a:t>TLB miss</a:t>
            </a:r>
            <a:r>
              <a:rPr sz="2700" spc="-5" dirty="0">
                <a:latin typeface="Calibri"/>
                <a:cs typeface="Calibri"/>
              </a:rPr>
              <a:t>), </a:t>
            </a:r>
            <a:r>
              <a:rPr sz="2700" dirty="0">
                <a:latin typeface="Calibri"/>
                <a:cs typeface="Calibri"/>
              </a:rPr>
              <a:t>a memory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reference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page</a:t>
            </a:r>
            <a:r>
              <a:rPr sz="2700" spc="-10" dirty="0">
                <a:latin typeface="Calibri"/>
                <a:cs typeface="Calibri"/>
              </a:rPr>
              <a:t> table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must</a:t>
            </a:r>
            <a:r>
              <a:rPr sz="2700" spc="-5" dirty="0">
                <a:latin typeface="Calibri"/>
                <a:cs typeface="Calibri"/>
              </a:rPr>
              <a:t> be</a:t>
            </a:r>
            <a:r>
              <a:rPr sz="2700" dirty="0">
                <a:latin typeface="Calibri"/>
                <a:cs typeface="Calibri"/>
              </a:rPr>
              <a:t> made.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then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replace </a:t>
            </a:r>
            <a:r>
              <a:rPr sz="2700" spc="-5" dirty="0">
                <a:latin typeface="Calibri"/>
                <a:cs typeface="Calibri"/>
              </a:rPr>
              <a:t>one </a:t>
            </a:r>
            <a:r>
              <a:rPr sz="2700" spc="-10" dirty="0">
                <a:latin typeface="Calibri"/>
                <a:cs typeface="Calibri"/>
              </a:rPr>
              <a:t>entry </a:t>
            </a:r>
            <a:r>
              <a:rPr sz="2700" dirty="0">
                <a:latin typeface="Calibri"/>
                <a:cs typeface="Calibri"/>
              </a:rPr>
              <a:t>of TLB with </a:t>
            </a:r>
            <a:r>
              <a:rPr sz="2700" spc="-10" dirty="0">
                <a:latin typeface="Calibri"/>
                <a:cs typeface="Calibri"/>
              </a:rPr>
              <a:t>the page </a:t>
            </a:r>
            <a:r>
              <a:rPr sz="2700" spc="-15" dirty="0">
                <a:latin typeface="Calibri"/>
                <a:cs typeface="Calibri"/>
              </a:rPr>
              <a:t>table </a:t>
            </a:r>
            <a:r>
              <a:rPr sz="2700" spc="-10" dirty="0">
                <a:latin typeface="Calibri"/>
                <a:cs typeface="Calibri"/>
              </a:rPr>
              <a:t>entry </a:t>
            </a:r>
            <a:r>
              <a:rPr sz="2700" spc="-15" dirty="0">
                <a:latin typeface="Calibri"/>
                <a:cs typeface="Calibri"/>
              </a:rPr>
              <a:t>just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referenced. </a:t>
            </a:r>
            <a:r>
              <a:rPr sz="2700" spc="-5" dirty="0">
                <a:latin typeface="Calibri"/>
                <a:cs typeface="Calibri"/>
              </a:rPr>
              <a:t>Thus </a:t>
            </a:r>
            <a:r>
              <a:rPr sz="2700" dirty="0">
                <a:latin typeface="Calibri"/>
                <a:cs typeface="Calibri"/>
              </a:rPr>
              <a:t>in </a:t>
            </a:r>
            <a:r>
              <a:rPr sz="2700" spc="-15" dirty="0">
                <a:latin typeface="Calibri"/>
                <a:cs typeface="Calibri"/>
              </a:rPr>
              <a:t>next </a:t>
            </a:r>
            <a:r>
              <a:rPr sz="2700" dirty="0">
                <a:latin typeface="Calibri"/>
                <a:cs typeface="Calibri"/>
              </a:rPr>
              <a:t>time, </a:t>
            </a:r>
            <a:r>
              <a:rPr sz="2700" spc="-20" dirty="0">
                <a:latin typeface="Calibri"/>
                <a:cs typeface="Calibri"/>
              </a:rPr>
              <a:t>for </a:t>
            </a:r>
            <a:r>
              <a:rPr sz="2700" spc="-10" dirty="0">
                <a:latin typeface="Calibri"/>
                <a:cs typeface="Calibri"/>
              </a:rPr>
              <a:t>that page, </a:t>
            </a:r>
            <a:r>
              <a:rPr sz="2700" dirty="0">
                <a:latin typeface="Calibri"/>
                <a:cs typeface="Calibri"/>
              </a:rPr>
              <a:t>TLB </a:t>
            </a:r>
            <a:r>
              <a:rPr sz="2700" spc="-5" dirty="0">
                <a:latin typeface="Calibri"/>
                <a:cs typeface="Calibri"/>
              </a:rPr>
              <a:t>hit </a:t>
            </a:r>
            <a:r>
              <a:rPr sz="2700" dirty="0">
                <a:latin typeface="Calibri"/>
                <a:cs typeface="Calibri"/>
              </a:rPr>
              <a:t>will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found.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2F07FD-AD58-49AF-82D3-FB3A6D89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8314" y="531360"/>
            <a:ext cx="757618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600" b="1" spc="-15" dirty="0"/>
              <a:t>Advantages/Disadvantages</a:t>
            </a:r>
            <a:r>
              <a:rPr sz="3600" b="1" spc="-60" dirty="0"/>
              <a:t> </a:t>
            </a:r>
            <a:r>
              <a:rPr sz="3600" b="1" spc="-5" dirty="0"/>
              <a:t>of</a:t>
            </a:r>
            <a:r>
              <a:rPr sz="3600" b="1" spc="-25" dirty="0"/>
              <a:t> </a:t>
            </a:r>
            <a:r>
              <a:rPr sz="3600" b="1" spc="-20" dirty="0"/>
              <a:t>Paging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784465" cy="491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Advantages:</a:t>
            </a:r>
            <a:endParaRPr sz="3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spc="-25" dirty="0">
                <a:latin typeface="Calibri"/>
                <a:cs typeface="Calibri"/>
              </a:rPr>
              <a:t>Fast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10" dirty="0">
                <a:latin typeface="Calibri"/>
                <a:cs typeface="Calibri"/>
              </a:rPr>
              <a:t>allocate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free:</a:t>
            </a:r>
            <a:endParaRPr sz="26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5" dirty="0">
                <a:latin typeface="Calibri"/>
                <a:cs typeface="Calibri"/>
              </a:rPr>
              <a:t>Alloc: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keep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free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list</a:t>
            </a:r>
            <a:r>
              <a:rPr sz="2200" spc="-5" dirty="0">
                <a:latin typeface="Calibri"/>
                <a:cs typeface="Calibri"/>
              </a:rPr>
              <a:t> 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free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pages,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grab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first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-5" dirty="0">
                <a:latin typeface="Calibri"/>
                <a:cs typeface="Calibri"/>
              </a:rPr>
              <a:t> list.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ts val="263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10" dirty="0">
                <a:latin typeface="Calibri"/>
                <a:cs typeface="Calibri"/>
              </a:rPr>
              <a:t>Free: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Add</a:t>
            </a:r>
            <a:r>
              <a:rPr sz="2200" spc="-10" dirty="0">
                <a:latin typeface="Calibri"/>
                <a:cs typeface="Calibri"/>
              </a:rPr>
              <a:t> pages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free </a:t>
            </a:r>
            <a:r>
              <a:rPr sz="2200" spc="-5" dirty="0">
                <a:latin typeface="Calibri"/>
                <a:cs typeface="Calibri"/>
              </a:rPr>
              <a:t>list.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lnSpc>
                <a:spcPts val="3115"/>
              </a:lnSpc>
              <a:buFont typeface="Arial MT"/>
              <a:buChar char="–"/>
              <a:tabLst>
                <a:tab pos="756920" algn="l"/>
              </a:tabLst>
            </a:pPr>
            <a:r>
              <a:rPr sz="2600" spc="-25" dirty="0">
                <a:latin typeface="Calibri"/>
                <a:cs typeface="Calibri"/>
              </a:rPr>
              <a:t>Easy </a:t>
            </a:r>
            <a:r>
              <a:rPr sz="2600" spc="-15" dirty="0">
                <a:latin typeface="Calibri"/>
                <a:cs typeface="Calibri"/>
              </a:rPr>
              <a:t>to</a:t>
            </a:r>
            <a:r>
              <a:rPr sz="2600" spc="-10" dirty="0">
                <a:latin typeface="Calibri"/>
                <a:cs typeface="Calibri"/>
              </a:rPr>
              <a:t> swap-out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disk.</a:t>
            </a:r>
            <a:endParaRPr sz="26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15" dirty="0">
                <a:latin typeface="Calibri"/>
                <a:cs typeface="Calibri"/>
              </a:rPr>
              <a:t>Frame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size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matches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disk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size.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15" dirty="0">
                <a:latin typeface="Calibri"/>
                <a:cs typeface="Calibri"/>
              </a:rPr>
              <a:t>Swap-out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only necessary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pages.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ts val="262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20" dirty="0">
                <a:latin typeface="Calibri"/>
                <a:cs typeface="Calibri"/>
              </a:rPr>
              <a:t>Easy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swap-in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back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disk.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ts val="358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Disadvantages:</a:t>
            </a:r>
            <a:endParaRPr sz="3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Additional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reference.</a:t>
            </a:r>
            <a:endParaRPr sz="26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600" spc="-25" dirty="0">
                <a:latin typeface="Calibri"/>
                <a:cs typeface="Calibri"/>
              </a:rPr>
              <a:t>Page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table </a:t>
            </a:r>
            <a:r>
              <a:rPr sz="2600" spc="-15" dirty="0">
                <a:latin typeface="Calibri"/>
                <a:cs typeface="Calibri"/>
              </a:rPr>
              <a:t>are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kept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memory.</a:t>
            </a:r>
            <a:endParaRPr sz="2600" dirty="0">
              <a:latin typeface="Calibri"/>
              <a:cs typeface="Calibri"/>
            </a:endParaRPr>
          </a:p>
          <a:p>
            <a:pPr marL="756285" marR="72390" lvl="1" indent="-287020">
              <a:lnSpc>
                <a:spcPts val="2500"/>
              </a:lnSpc>
              <a:spcBef>
                <a:spcPts val="600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Internal </a:t>
            </a:r>
            <a:r>
              <a:rPr sz="2600" spc="-10" dirty="0">
                <a:latin typeface="Calibri"/>
                <a:cs typeface="Calibri"/>
              </a:rPr>
              <a:t>fragmentation: process </a:t>
            </a:r>
            <a:r>
              <a:rPr sz="2600" spc="-15" dirty="0">
                <a:latin typeface="Calibri"/>
                <a:cs typeface="Calibri"/>
              </a:rPr>
              <a:t>size </a:t>
            </a:r>
            <a:r>
              <a:rPr sz="2600" spc="-5" dirty="0">
                <a:latin typeface="Calibri"/>
                <a:cs typeface="Calibri"/>
              </a:rPr>
              <a:t>does not </a:t>
            </a:r>
            <a:r>
              <a:rPr sz="2600" spc="-15" dirty="0">
                <a:latin typeface="Calibri"/>
                <a:cs typeface="Calibri"/>
              </a:rPr>
              <a:t>match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allocation </a:t>
            </a:r>
            <a:r>
              <a:rPr sz="2600" spc="-15" dirty="0">
                <a:latin typeface="Calibri"/>
                <a:cs typeface="Calibri"/>
              </a:rPr>
              <a:t>size.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8B1DDD-4484-4C81-AD63-F4817557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6FB124C9-2CAC-4239-84CF-51C457B45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36549"/>
            <a:ext cx="7956550" cy="576263"/>
          </a:xfrm>
        </p:spPr>
        <p:txBody>
          <a:bodyPr/>
          <a:lstStyle/>
          <a:p>
            <a:pPr algn="ctr" eaLnBrk="1" hangingPunct="1"/>
            <a:r>
              <a:rPr lang="en-US" altLang="en-US" b="1" dirty="0"/>
              <a:t>Inverted Page Table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F3BDD7F5-B2E0-4C82-9DAC-866FCC087A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152525"/>
            <a:ext cx="8077200" cy="4792663"/>
          </a:xfrm>
        </p:spPr>
        <p:txBody>
          <a:bodyPr>
            <a:no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each process having a page table and keeping track of all possible logical pages, track all physical pages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entry for each real page of memory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memory needed to store each page table, but increases time needed to search the table when a page reference occurs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hash table to limit the search to one — or at most a few — page-table entries</a:t>
            </a:r>
          </a:p>
          <a:p>
            <a:pPr lvl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TLB can accelerate access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how to implement shared memory?</a:t>
            </a:r>
          </a:p>
          <a:p>
            <a:pPr lvl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8314" y="381000"/>
            <a:ext cx="757618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600" b="1" spc="-15" dirty="0"/>
              <a:t>Inverted </a:t>
            </a:r>
            <a:r>
              <a:rPr sz="3600" b="1" spc="-20" dirty="0"/>
              <a:t>Paging</a:t>
            </a:r>
            <a:endParaRPr sz="3600" b="1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8B1DDD-4484-4C81-AD63-F4817557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10EFCF1-A129-41E5-B302-EB3792B9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1600"/>
            <a:ext cx="7881767" cy="424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025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4917" y="549560"/>
            <a:ext cx="207454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E</a:t>
            </a:r>
            <a:r>
              <a:rPr b="1" spc="-125" dirty="0"/>
              <a:t>x</a:t>
            </a:r>
            <a:r>
              <a:rPr b="1" dirty="0"/>
              <a:t>e</a:t>
            </a:r>
            <a:r>
              <a:rPr b="1" spc="-60" dirty="0"/>
              <a:t>r</a:t>
            </a:r>
            <a:r>
              <a:rPr b="1" dirty="0"/>
              <a:t>cises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992745" cy="373316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Why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spc="-10" dirty="0">
                <a:latin typeface="Calibri"/>
                <a:cs typeface="Calibri"/>
              </a:rPr>
              <a:t>page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sizes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always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power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2?</a:t>
            </a: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dirty="0"/>
              <a:t>	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simple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paging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 with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2^24 </a:t>
            </a:r>
            <a:r>
              <a:rPr sz="3200" spc="-10" dirty="0">
                <a:latin typeface="Calibri"/>
                <a:cs typeface="Calibri"/>
              </a:rPr>
              <a:t>bytes</a:t>
            </a:r>
            <a:r>
              <a:rPr sz="3200" spc="-5" dirty="0">
                <a:latin typeface="Calibri"/>
                <a:cs typeface="Calibri"/>
              </a:rPr>
              <a:t> of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physical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memory,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256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pages</a:t>
            </a:r>
            <a:r>
              <a:rPr sz="3200" dirty="0">
                <a:latin typeface="Calibri"/>
                <a:cs typeface="Calibri"/>
              </a:rPr>
              <a:t> of </a:t>
            </a:r>
            <a:r>
              <a:rPr sz="3200" spc="-10" dirty="0">
                <a:latin typeface="Calibri"/>
                <a:cs typeface="Calibri"/>
              </a:rPr>
              <a:t>logical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address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space,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page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size</a:t>
            </a:r>
            <a:r>
              <a:rPr sz="3200" dirty="0">
                <a:latin typeface="Calibri"/>
                <a:cs typeface="Calibri"/>
              </a:rPr>
              <a:t> of</a:t>
            </a:r>
            <a:r>
              <a:rPr sz="3200" spc="-5" dirty="0">
                <a:latin typeface="Calibri"/>
                <a:cs typeface="Calibri"/>
              </a:rPr>
              <a:t> 2^10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lang="en-IN" sz="3200" spc="-10" dirty="0">
                <a:latin typeface="Calibri"/>
                <a:cs typeface="Calibri"/>
              </a:rPr>
              <a:t>bytes</a:t>
            </a:r>
            <a:r>
              <a:rPr sz="3200" spc="-10" dirty="0">
                <a:latin typeface="Calibri"/>
                <a:cs typeface="Calibri"/>
              </a:rPr>
              <a:t>,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how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many</a:t>
            </a:r>
            <a:r>
              <a:rPr sz="3200" spc="-5" dirty="0">
                <a:latin typeface="Calibri"/>
                <a:cs typeface="Calibri"/>
              </a:rPr>
              <a:t> bits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in a </a:t>
            </a:r>
            <a:r>
              <a:rPr sz="3200" spc="-5" dirty="0">
                <a:latin typeface="Calibri"/>
                <a:cs typeface="Calibri"/>
              </a:rPr>
              <a:t>logical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address?</a:t>
            </a:r>
            <a:endParaRPr sz="3200" dirty="0">
              <a:latin typeface="Calibri"/>
              <a:cs typeface="Calibri"/>
            </a:endParaRPr>
          </a:p>
          <a:p>
            <a:pPr marL="355600" marR="511175" indent="-3429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Describe, how TLB increase </a:t>
            </a:r>
            <a:r>
              <a:rPr sz="3200" spc="-10" dirty="0">
                <a:latin typeface="Calibri"/>
                <a:cs typeface="Calibri"/>
              </a:rPr>
              <a:t>performance </a:t>
            </a:r>
            <a:r>
              <a:rPr sz="3200" spc="-5" dirty="0">
                <a:latin typeface="Calibri"/>
                <a:cs typeface="Calibri"/>
              </a:rPr>
              <a:t>in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paging.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ABD083-DB79-428D-8195-C4BA81F1D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7133" y="549560"/>
            <a:ext cx="318960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Segmentation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670" y="1371600"/>
            <a:ext cx="7796530" cy="4391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Memory </a:t>
            </a:r>
            <a:r>
              <a:rPr sz="3200" spc="-5" dirty="0">
                <a:latin typeface="Calibri"/>
                <a:cs typeface="Calibri"/>
              </a:rPr>
              <a:t>Management Scheme </a:t>
            </a:r>
            <a:r>
              <a:rPr sz="3200" spc="-10" dirty="0">
                <a:latin typeface="Calibri"/>
                <a:cs typeface="Calibri"/>
              </a:rPr>
              <a:t>that </a:t>
            </a:r>
            <a:r>
              <a:rPr sz="3200" spc="-5" dirty="0">
                <a:latin typeface="Calibri"/>
                <a:cs typeface="Calibri"/>
              </a:rPr>
              <a:t>supports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user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view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30" dirty="0">
                <a:latin typeface="Calibri"/>
                <a:cs typeface="Calibri"/>
              </a:rPr>
              <a:t>memory.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program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collection of </a:t>
            </a:r>
            <a:r>
              <a:rPr sz="3200" spc="-10" dirty="0">
                <a:latin typeface="Calibri"/>
                <a:cs typeface="Calibri"/>
              </a:rPr>
              <a:t>segments.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segment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logical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unit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such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</a:p>
          <a:p>
            <a:pPr marL="1612900" lvl="1" indent="-229235">
              <a:lnSpc>
                <a:spcPct val="100000"/>
              </a:lnSpc>
              <a:spcBef>
                <a:spcPts val="310"/>
              </a:spcBef>
              <a:buFont typeface="Arial MT"/>
              <a:buChar char="–"/>
              <a:tabLst>
                <a:tab pos="1613535" algn="l"/>
              </a:tabLst>
            </a:pPr>
            <a:r>
              <a:rPr sz="2000" spc="-5" dirty="0">
                <a:latin typeface="Calibri"/>
                <a:cs typeface="Calibri"/>
              </a:rPr>
              <a:t>main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program,</a:t>
            </a:r>
            <a:r>
              <a:rPr sz="2000" spc="-10" dirty="0">
                <a:latin typeface="Calibri"/>
                <a:cs typeface="Calibri"/>
              </a:rPr>
              <a:t> procedure,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</a:p>
          <a:p>
            <a:pPr marL="1612900" lvl="1" indent="-229235">
              <a:lnSpc>
                <a:spcPct val="100000"/>
              </a:lnSpc>
              <a:spcBef>
                <a:spcPts val="244"/>
              </a:spcBef>
              <a:buFont typeface="Arial MT"/>
              <a:buChar char="–"/>
              <a:tabLst>
                <a:tab pos="1613535" algn="l"/>
              </a:tabLst>
            </a:pPr>
            <a:r>
              <a:rPr sz="2000" spc="-5" dirty="0">
                <a:latin typeface="Calibri"/>
                <a:cs typeface="Calibri"/>
              </a:rPr>
              <a:t>local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variables,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global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variables,common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</a:t>
            </a:r>
            <a:endParaRPr sz="2000" dirty="0">
              <a:latin typeface="Calibri"/>
              <a:cs typeface="Calibri"/>
            </a:endParaRPr>
          </a:p>
          <a:p>
            <a:pPr marL="16129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–"/>
              <a:tabLst>
                <a:tab pos="1613535" algn="l"/>
              </a:tabLst>
            </a:pPr>
            <a:r>
              <a:rPr sz="2000" spc="-10" dirty="0">
                <a:latin typeface="Calibri"/>
                <a:cs typeface="Calibri"/>
              </a:rPr>
              <a:t>stack, symbol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table, </a:t>
            </a:r>
            <a:r>
              <a:rPr sz="2000" spc="-20" dirty="0">
                <a:latin typeface="Calibri"/>
                <a:cs typeface="Calibri"/>
              </a:rPr>
              <a:t>arrays</a:t>
            </a:r>
            <a:endParaRPr sz="2000" dirty="0">
              <a:latin typeface="Calibri"/>
              <a:cs typeface="Calibri"/>
            </a:endParaRPr>
          </a:p>
          <a:p>
            <a:pPr marL="1155700" indent="-229235">
              <a:lnSpc>
                <a:spcPct val="100000"/>
              </a:lnSpc>
              <a:spcBef>
                <a:spcPts val="259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Protect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entity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independently</a:t>
            </a:r>
            <a:endParaRPr sz="2400" dirty="0">
              <a:latin typeface="Calibri"/>
              <a:cs typeface="Calibri"/>
            </a:endParaRPr>
          </a:p>
          <a:p>
            <a:pPr marL="1155700" indent="-2292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b="1" spc="-5" dirty="0">
                <a:latin typeface="Calibri"/>
                <a:cs typeface="Calibri"/>
              </a:rPr>
              <a:t>Allow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10" dirty="0">
                <a:latin typeface="Calibri"/>
                <a:cs typeface="Calibri"/>
              </a:rPr>
              <a:t> segment</a:t>
            </a:r>
            <a:r>
              <a:rPr sz="2400" b="1" spc="-15" dirty="0">
                <a:latin typeface="Calibri"/>
                <a:cs typeface="Calibri"/>
              </a:rPr>
              <a:t> to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grow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independently</a:t>
            </a:r>
            <a:endParaRPr sz="2400" b="1" dirty="0">
              <a:latin typeface="Calibri"/>
              <a:cs typeface="Calibri"/>
            </a:endParaRPr>
          </a:p>
          <a:p>
            <a:pPr marL="1155700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Share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segment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independently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1ED51-308B-467F-99BE-19242239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9872" y="549560"/>
            <a:ext cx="660590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Logical </a:t>
            </a:r>
            <a:r>
              <a:rPr b="1" spc="-5" dirty="0"/>
              <a:t>view</a:t>
            </a:r>
            <a:r>
              <a:rPr b="1" spc="-10" dirty="0"/>
              <a:t> </a:t>
            </a:r>
            <a:r>
              <a:rPr b="1" dirty="0"/>
              <a:t>of</a:t>
            </a:r>
            <a:r>
              <a:rPr b="1" spc="-10" dirty="0"/>
              <a:t> segmentation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70050" y="1905000"/>
            <a:ext cx="1993900" cy="3441700"/>
            <a:chOff x="1670050" y="2355850"/>
            <a:chExt cx="1993900" cy="3441700"/>
          </a:xfrm>
        </p:grpSpPr>
        <p:sp>
          <p:nvSpPr>
            <p:cNvPr id="4" name="object 4"/>
            <p:cNvSpPr/>
            <p:nvPr/>
          </p:nvSpPr>
          <p:spPr>
            <a:xfrm>
              <a:off x="1676400" y="2362200"/>
              <a:ext cx="1981200" cy="3429000"/>
            </a:xfrm>
            <a:custGeom>
              <a:avLst/>
              <a:gdLst/>
              <a:ahLst/>
              <a:cxnLst/>
              <a:rect l="l" t="t" r="r" b="b"/>
              <a:pathLst>
                <a:path w="1981200" h="3429000">
                  <a:moveTo>
                    <a:pt x="990600" y="0"/>
                  </a:moveTo>
                  <a:lnTo>
                    <a:pt x="921344" y="4124"/>
                  </a:lnTo>
                  <a:lnTo>
                    <a:pt x="853372" y="16316"/>
                  </a:lnTo>
                  <a:lnTo>
                    <a:pt x="786839" y="36304"/>
                  </a:lnTo>
                  <a:lnTo>
                    <a:pt x="721904" y="63815"/>
                  </a:lnTo>
                  <a:lnTo>
                    <a:pt x="658724" y="98578"/>
                  </a:lnTo>
                  <a:lnTo>
                    <a:pt x="597455" y="140321"/>
                  </a:lnTo>
                  <a:lnTo>
                    <a:pt x="538255" y="188771"/>
                  </a:lnTo>
                  <a:lnTo>
                    <a:pt x="509479" y="215427"/>
                  </a:lnTo>
                  <a:lnTo>
                    <a:pt x="481280" y="243658"/>
                  </a:lnTo>
                  <a:lnTo>
                    <a:pt x="453677" y="273429"/>
                  </a:lnTo>
                  <a:lnTo>
                    <a:pt x="426688" y="304708"/>
                  </a:lnTo>
                  <a:lnTo>
                    <a:pt x="400335" y="337459"/>
                  </a:lnTo>
                  <a:lnTo>
                    <a:pt x="374637" y="371650"/>
                  </a:lnTo>
                  <a:lnTo>
                    <a:pt x="349613" y="407245"/>
                  </a:lnTo>
                  <a:lnTo>
                    <a:pt x="325282" y="444212"/>
                  </a:lnTo>
                  <a:lnTo>
                    <a:pt x="301666" y="482515"/>
                  </a:lnTo>
                  <a:lnTo>
                    <a:pt x="278782" y="522121"/>
                  </a:lnTo>
                  <a:lnTo>
                    <a:pt x="256651" y="562997"/>
                  </a:lnTo>
                  <a:lnTo>
                    <a:pt x="235293" y="605107"/>
                  </a:lnTo>
                  <a:lnTo>
                    <a:pt x="214727" y="648418"/>
                  </a:lnTo>
                  <a:lnTo>
                    <a:pt x="194973" y="692897"/>
                  </a:lnTo>
                  <a:lnTo>
                    <a:pt x="176050" y="738508"/>
                  </a:lnTo>
                  <a:lnTo>
                    <a:pt x="157978" y="785218"/>
                  </a:lnTo>
                  <a:lnTo>
                    <a:pt x="140777" y="832994"/>
                  </a:lnTo>
                  <a:lnTo>
                    <a:pt x="124466" y="881800"/>
                  </a:lnTo>
                  <a:lnTo>
                    <a:pt x="109066" y="931604"/>
                  </a:lnTo>
                  <a:lnTo>
                    <a:pt x="94594" y="982370"/>
                  </a:lnTo>
                  <a:lnTo>
                    <a:pt x="81072" y="1034065"/>
                  </a:lnTo>
                  <a:lnTo>
                    <a:pt x="68519" y="1086656"/>
                  </a:lnTo>
                  <a:lnTo>
                    <a:pt x="56955" y="1140107"/>
                  </a:lnTo>
                  <a:lnTo>
                    <a:pt x="46398" y="1194386"/>
                  </a:lnTo>
                  <a:lnTo>
                    <a:pt x="36870" y="1249457"/>
                  </a:lnTo>
                  <a:lnTo>
                    <a:pt x="28389" y="1305288"/>
                  </a:lnTo>
                  <a:lnTo>
                    <a:pt x="20975" y="1361844"/>
                  </a:lnTo>
                  <a:lnTo>
                    <a:pt x="14648" y="1419090"/>
                  </a:lnTo>
                  <a:lnTo>
                    <a:pt x="9427" y="1476994"/>
                  </a:lnTo>
                  <a:lnTo>
                    <a:pt x="5332" y="1535521"/>
                  </a:lnTo>
                  <a:lnTo>
                    <a:pt x="2382" y="1594637"/>
                  </a:lnTo>
                  <a:lnTo>
                    <a:pt x="599" y="1654308"/>
                  </a:lnTo>
                  <a:lnTo>
                    <a:pt x="0" y="1714500"/>
                  </a:lnTo>
                  <a:lnTo>
                    <a:pt x="599" y="1774691"/>
                  </a:lnTo>
                  <a:lnTo>
                    <a:pt x="2382" y="1834362"/>
                  </a:lnTo>
                  <a:lnTo>
                    <a:pt x="5332" y="1893478"/>
                  </a:lnTo>
                  <a:lnTo>
                    <a:pt x="9427" y="1952005"/>
                  </a:lnTo>
                  <a:lnTo>
                    <a:pt x="14648" y="2009909"/>
                  </a:lnTo>
                  <a:lnTo>
                    <a:pt x="20975" y="2067155"/>
                  </a:lnTo>
                  <a:lnTo>
                    <a:pt x="28389" y="2123711"/>
                  </a:lnTo>
                  <a:lnTo>
                    <a:pt x="36870" y="2179542"/>
                  </a:lnTo>
                  <a:lnTo>
                    <a:pt x="46398" y="2234613"/>
                  </a:lnTo>
                  <a:lnTo>
                    <a:pt x="56955" y="2288892"/>
                  </a:lnTo>
                  <a:lnTo>
                    <a:pt x="68519" y="2342343"/>
                  </a:lnTo>
                  <a:lnTo>
                    <a:pt x="81072" y="2394934"/>
                  </a:lnTo>
                  <a:lnTo>
                    <a:pt x="94594" y="2446629"/>
                  </a:lnTo>
                  <a:lnTo>
                    <a:pt x="109066" y="2497395"/>
                  </a:lnTo>
                  <a:lnTo>
                    <a:pt x="124466" y="2547199"/>
                  </a:lnTo>
                  <a:lnTo>
                    <a:pt x="140777" y="2596005"/>
                  </a:lnTo>
                  <a:lnTo>
                    <a:pt x="157978" y="2643781"/>
                  </a:lnTo>
                  <a:lnTo>
                    <a:pt x="176050" y="2690491"/>
                  </a:lnTo>
                  <a:lnTo>
                    <a:pt x="194973" y="2736102"/>
                  </a:lnTo>
                  <a:lnTo>
                    <a:pt x="214727" y="2780581"/>
                  </a:lnTo>
                  <a:lnTo>
                    <a:pt x="235293" y="2823892"/>
                  </a:lnTo>
                  <a:lnTo>
                    <a:pt x="256651" y="2866002"/>
                  </a:lnTo>
                  <a:lnTo>
                    <a:pt x="278782" y="2906878"/>
                  </a:lnTo>
                  <a:lnTo>
                    <a:pt x="301666" y="2946484"/>
                  </a:lnTo>
                  <a:lnTo>
                    <a:pt x="325282" y="2984787"/>
                  </a:lnTo>
                  <a:lnTo>
                    <a:pt x="349613" y="3021754"/>
                  </a:lnTo>
                  <a:lnTo>
                    <a:pt x="374637" y="3057349"/>
                  </a:lnTo>
                  <a:lnTo>
                    <a:pt x="400335" y="3091540"/>
                  </a:lnTo>
                  <a:lnTo>
                    <a:pt x="426688" y="3124291"/>
                  </a:lnTo>
                  <a:lnTo>
                    <a:pt x="453677" y="3155570"/>
                  </a:lnTo>
                  <a:lnTo>
                    <a:pt x="481280" y="3185341"/>
                  </a:lnTo>
                  <a:lnTo>
                    <a:pt x="509479" y="3213572"/>
                  </a:lnTo>
                  <a:lnTo>
                    <a:pt x="538255" y="3240228"/>
                  </a:lnTo>
                  <a:lnTo>
                    <a:pt x="567586" y="3265274"/>
                  </a:lnTo>
                  <a:lnTo>
                    <a:pt x="627841" y="3310405"/>
                  </a:lnTo>
                  <a:lnTo>
                    <a:pt x="690085" y="3348692"/>
                  </a:lnTo>
                  <a:lnTo>
                    <a:pt x="754162" y="3379863"/>
                  </a:lnTo>
                  <a:lnTo>
                    <a:pt x="819916" y="3403647"/>
                  </a:lnTo>
                  <a:lnTo>
                    <a:pt x="887188" y="3419770"/>
                  </a:lnTo>
                  <a:lnTo>
                    <a:pt x="955821" y="3427963"/>
                  </a:lnTo>
                  <a:lnTo>
                    <a:pt x="990600" y="3429000"/>
                  </a:lnTo>
                  <a:lnTo>
                    <a:pt x="1025378" y="3427963"/>
                  </a:lnTo>
                  <a:lnTo>
                    <a:pt x="1094011" y="3419770"/>
                  </a:lnTo>
                  <a:lnTo>
                    <a:pt x="1161283" y="3403647"/>
                  </a:lnTo>
                  <a:lnTo>
                    <a:pt x="1227037" y="3379863"/>
                  </a:lnTo>
                  <a:lnTo>
                    <a:pt x="1291114" y="3348692"/>
                  </a:lnTo>
                  <a:lnTo>
                    <a:pt x="1353358" y="3310405"/>
                  </a:lnTo>
                  <a:lnTo>
                    <a:pt x="1413613" y="3265274"/>
                  </a:lnTo>
                  <a:lnTo>
                    <a:pt x="1442944" y="3240228"/>
                  </a:lnTo>
                  <a:lnTo>
                    <a:pt x="1471720" y="3213572"/>
                  </a:lnTo>
                  <a:lnTo>
                    <a:pt x="1499919" y="3185341"/>
                  </a:lnTo>
                  <a:lnTo>
                    <a:pt x="1527522" y="3155570"/>
                  </a:lnTo>
                  <a:lnTo>
                    <a:pt x="1554511" y="3124291"/>
                  </a:lnTo>
                  <a:lnTo>
                    <a:pt x="1580864" y="3091540"/>
                  </a:lnTo>
                  <a:lnTo>
                    <a:pt x="1606562" y="3057349"/>
                  </a:lnTo>
                  <a:lnTo>
                    <a:pt x="1631586" y="3021754"/>
                  </a:lnTo>
                  <a:lnTo>
                    <a:pt x="1655917" y="2984787"/>
                  </a:lnTo>
                  <a:lnTo>
                    <a:pt x="1679533" y="2946484"/>
                  </a:lnTo>
                  <a:lnTo>
                    <a:pt x="1702417" y="2906878"/>
                  </a:lnTo>
                  <a:lnTo>
                    <a:pt x="1724548" y="2866002"/>
                  </a:lnTo>
                  <a:lnTo>
                    <a:pt x="1745906" y="2823892"/>
                  </a:lnTo>
                  <a:lnTo>
                    <a:pt x="1766472" y="2780581"/>
                  </a:lnTo>
                  <a:lnTo>
                    <a:pt x="1786226" y="2736102"/>
                  </a:lnTo>
                  <a:lnTo>
                    <a:pt x="1805149" y="2690491"/>
                  </a:lnTo>
                  <a:lnTo>
                    <a:pt x="1823221" y="2643781"/>
                  </a:lnTo>
                  <a:lnTo>
                    <a:pt x="1840422" y="2596005"/>
                  </a:lnTo>
                  <a:lnTo>
                    <a:pt x="1856733" y="2547199"/>
                  </a:lnTo>
                  <a:lnTo>
                    <a:pt x="1872133" y="2497395"/>
                  </a:lnTo>
                  <a:lnTo>
                    <a:pt x="1886605" y="2446629"/>
                  </a:lnTo>
                  <a:lnTo>
                    <a:pt x="1900127" y="2394934"/>
                  </a:lnTo>
                  <a:lnTo>
                    <a:pt x="1912680" y="2342343"/>
                  </a:lnTo>
                  <a:lnTo>
                    <a:pt x="1924244" y="2288892"/>
                  </a:lnTo>
                  <a:lnTo>
                    <a:pt x="1934801" y="2234613"/>
                  </a:lnTo>
                  <a:lnTo>
                    <a:pt x="1944329" y="2179542"/>
                  </a:lnTo>
                  <a:lnTo>
                    <a:pt x="1952810" y="2123711"/>
                  </a:lnTo>
                  <a:lnTo>
                    <a:pt x="1960224" y="2067155"/>
                  </a:lnTo>
                  <a:lnTo>
                    <a:pt x="1966551" y="2009909"/>
                  </a:lnTo>
                  <a:lnTo>
                    <a:pt x="1971772" y="1952005"/>
                  </a:lnTo>
                  <a:lnTo>
                    <a:pt x="1975867" y="1893478"/>
                  </a:lnTo>
                  <a:lnTo>
                    <a:pt x="1978817" y="1834362"/>
                  </a:lnTo>
                  <a:lnTo>
                    <a:pt x="1980600" y="1774691"/>
                  </a:lnTo>
                  <a:lnTo>
                    <a:pt x="1981200" y="1714500"/>
                  </a:lnTo>
                  <a:lnTo>
                    <a:pt x="1980600" y="1654308"/>
                  </a:lnTo>
                  <a:lnTo>
                    <a:pt x="1978817" y="1594637"/>
                  </a:lnTo>
                  <a:lnTo>
                    <a:pt x="1975867" y="1535521"/>
                  </a:lnTo>
                  <a:lnTo>
                    <a:pt x="1971772" y="1476994"/>
                  </a:lnTo>
                  <a:lnTo>
                    <a:pt x="1966551" y="1419090"/>
                  </a:lnTo>
                  <a:lnTo>
                    <a:pt x="1960224" y="1361844"/>
                  </a:lnTo>
                  <a:lnTo>
                    <a:pt x="1952810" y="1305288"/>
                  </a:lnTo>
                  <a:lnTo>
                    <a:pt x="1944329" y="1249457"/>
                  </a:lnTo>
                  <a:lnTo>
                    <a:pt x="1934801" y="1194386"/>
                  </a:lnTo>
                  <a:lnTo>
                    <a:pt x="1924244" y="1140107"/>
                  </a:lnTo>
                  <a:lnTo>
                    <a:pt x="1912680" y="1086656"/>
                  </a:lnTo>
                  <a:lnTo>
                    <a:pt x="1900127" y="1034065"/>
                  </a:lnTo>
                  <a:lnTo>
                    <a:pt x="1886605" y="982370"/>
                  </a:lnTo>
                  <a:lnTo>
                    <a:pt x="1872133" y="931604"/>
                  </a:lnTo>
                  <a:lnTo>
                    <a:pt x="1856733" y="881800"/>
                  </a:lnTo>
                  <a:lnTo>
                    <a:pt x="1840422" y="832994"/>
                  </a:lnTo>
                  <a:lnTo>
                    <a:pt x="1823221" y="785218"/>
                  </a:lnTo>
                  <a:lnTo>
                    <a:pt x="1805149" y="738508"/>
                  </a:lnTo>
                  <a:lnTo>
                    <a:pt x="1786226" y="692897"/>
                  </a:lnTo>
                  <a:lnTo>
                    <a:pt x="1766472" y="648418"/>
                  </a:lnTo>
                  <a:lnTo>
                    <a:pt x="1745906" y="605107"/>
                  </a:lnTo>
                  <a:lnTo>
                    <a:pt x="1724548" y="562997"/>
                  </a:lnTo>
                  <a:lnTo>
                    <a:pt x="1702417" y="522121"/>
                  </a:lnTo>
                  <a:lnTo>
                    <a:pt x="1679533" y="482515"/>
                  </a:lnTo>
                  <a:lnTo>
                    <a:pt x="1655917" y="444212"/>
                  </a:lnTo>
                  <a:lnTo>
                    <a:pt x="1631586" y="407245"/>
                  </a:lnTo>
                  <a:lnTo>
                    <a:pt x="1606562" y="371650"/>
                  </a:lnTo>
                  <a:lnTo>
                    <a:pt x="1580864" y="337459"/>
                  </a:lnTo>
                  <a:lnTo>
                    <a:pt x="1554511" y="304708"/>
                  </a:lnTo>
                  <a:lnTo>
                    <a:pt x="1527522" y="273429"/>
                  </a:lnTo>
                  <a:lnTo>
                    <a:pt x="1499919" y="243658"/>
                  </a:lnTo>
                  <a:lnTo>
                    <a:pt x="1471720" y="215427"/>
                  </a:lnTo>
                  <a:lnTo>
                    <a:pt x="1442944" y="188771"/>
                  </a:lnTo>
                  <a:lnTo>
                    <a:pt x="1413613" y="163725"/>
                  </a:lnTo>
                  <a:lnTo>
                    <a:pt x="1353358" y="118594"/>
                  </a:lnTo>
                  <a:lnTo>
                    <a:pt x="1291114" y="80307"/>
                  </a:lnTo>
                  <a:lnTo>
                    <a:pt x="1227037" y="49136"/>
                  </a:lnTo>
                  <a:lnTo>
                    <a:pt x="1161283" y="25352"/>
                  </a:lnTo>
                  <a:lnTo>
                    <a:pt x="1094011" y="9229"/>
                  </a:lnTo>
                  <a:lnTo>
                    <a:pt x="1025378" y="1036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76400" y="2362200"/>
              <a:ext cx="1981200" cy="3429000"/>
            </a:xfrm>
            <a:custGeom>
              <a:avLst/>
              <a:gdLst/>
              <a:ahLst/>
              <a:cxnLst/>
              <a:rect l="l" t="t" r="r" b="b"/>
              <a:pathLst>
                <a:path w="1981200" h="3429000">
                  <a:moveTo>
                    <a:pt x="0" y="1714500"/>
                  </a:moveTo>
                  <a:lnTo>
                    <a:pt x="599" y="1654308"/>
                  </a:lnTo>
                  <a:lnTo>
                    <a:pt x="2382" y="1594637"/>
                  </a:lnTo>
                  <a:lnTo>
                    <a:pt x="5332" y="1535521"/>
                  </a:lnTo>
                  <a:lnTo>
                    <a:pt x="9427" y="1476994"/>
                  </a:lnTo>
                  <a:lnTo>
                    <a:pt x="14648" y="1419090"/>
                  </a:lnTo>
                  <a:lnTo>
                    <a:pt x="20975" y="1361844"/>
                  </a:lnTo>
                  <a:lnTo>
                    <a:pt x="28389" y="1305288"/>
                  </a:lnTo>
                  <a:lnTo>
                    <a:pt x="36870" y="1249457"/>
                  </a:lnTo>
                  <a:lnTo>
                    <a:pt x="46398" y="1194386"/>
                  </a:lnTo>
                  <a:lnTo>
                    <a:pt x="56955" y="1140107"/>
                  </a:lnTo>
                  <a:lnTo>
                    <a:pt x="68519" y="1086656"/>
                  </a:lnTo>
                  <a:lnTo>
                    <a:pt x="81072" y="1034065"/>
                  </a:lnTo>
                  <a:lnTo>
                    <a:pt x="94594" y="982370"/>
                  </a:lnTo>
                  <a:lnTo>
                    <a:pt x="109066" y="931604"/>
                  </a:lnTo>
                  <a:lnTo>
                    <a:pt x="124466" y="881800"/>
                  </a:lnTo>
                  <a:lnTo>
                    <a:pt x="140777" y="832994"/>
                  </a:lnTo>
                  <a:lnTo>
                    <a:pt x="157978" y="785218"/>
                  </a:lnTo>
                  <a:lnTo>
                    <a:pt x="176050" y="738508"/>
                  </a:lnTo>
                  <a:lnTo>
                    <a:pt x="194973" y="692897"/>
                  </a:lnTo>
                  <a:lnTo>
                    <a:pt x="214727" y="648418"/>
                  </a:lnTo>
                  <a:lnTo>
                    <a:pt x="235293" y="605107"/>
                  </a:lnTo>
                  <a:lnTo>
                    <a:pt x="256651" y="562997"/>
                  </a:lnTo>
                  <a:lnTo>
                    <a:pt x="278782" y="522121"/>
                  </a:lnTo>
                  <a:lnTo>
                    <a:pt x="301666" y="482515"/>
                  </a:lnTo>
                  <a:lnTo>
                    <a:pt x="325282" y="444212"/>
                  </a:lnTo>
                  <a:lnTo>
                    <a:pt x="349613" y="407245"/>
                  </a:lnTo>
                  <a:lnTo>
                    <a:pt x="374637" y="371650"/>
                  </a:lnTo>
                  <a:lnTo>
                    <a:pt x="400335" y="337459"/>
                  </a:lnTo>
                  <a:lnTo>
                    <a:pt x="426688" y="304708"/>
                  </a:lnTo>
                  <a:lnTo>
                    <a:pt x="453677" y="273429"/>
                  </a:lnTo>
                  <a:lnTo>
                    <a:pt x="481280" y="243658"/>
                  </a:lnTo>
                  <a:lnTo>
                    <a:pt x="509479" y="215427"/>
                  </a:lnTo>
                  <a:lnTo>
                    <a:pt x="538255" y="188771"/>
                  </a:lnTo>
                  <a:lnTo>
                    <a:pt x="567586" y="163725"/>
                  </a:lnTo>
                  <a:lnTo>
                    <a:pt x="627841" y="118594"/>
                  </a:lnTo>
                  <a:lnTo>
                    <a:pt x="690085" y="80307"/>
                  </a:lnTo>
                  <a:lnTo>
                    <a:pt x="754162" y="49136"/>
                  </a:lnTo>
                  <a:lnTo>
                    <a:pt x="819916" y="25352"/>
                  </a:lnTo>
                  <a:lnTo>
                    <a:pt x="887188" y="9229"/>
                  </a:lnTo>
                  <a:lnTo>
                    <a:pt x="955821" y="1036"/>
                  </a:lnTo>
                  <a:lnTo>
                    <a:pt x="990600" y="0"/>
                  </a:lnTo>
                  <a:lnTo>
                    <a:pt x="1025378" y="1036"/>
                  </a:lnTo>
                  <a:lnTo>
                    <a:pt x="1059855" y="4124"/>
                  </a:lnTo>
                  <a:lnTo>
                    <a:pt x="1127827" y="16316"/>
                  </a:lnTo>
                  <a:lnTo>
                    <a:pt x="1194360" y="36304"/>
                  </a:lnTo>
                  <a:lnTo>
                    <a:pt x="1259295" y="63815"/>
                  </a:lnTo>
                  <a:lnTo>
                    <a:pt x="1322475" y="98578"/>
                  </a:lnTo>
                  <a:lnTo>
                    <a:pt x="1383744" y="140321"/>
                  </a:lnTo>
                  <a:lnTo>
                    <a:pt x="1442944" y="188771"/>
                  </a:lnTo>
                  <a:lnTo>
                    <a:pt x="1471720" y="215427"/>
                  </a:lnTo>
                  <a:lnTo>
                    <a:pt x="1499919" y="243658"/>
                  </a:lnTo>
                  <a:lnTo>
                    <a:pt x="1527522" y="273429"/>
                  </a:lnTo>
                  <a:lnTo>
                    <a:pt x="1554511" y="304708"/>
                  </a:lnTo>
                  <a:lnTo>
                    <a:pt x="1580864" y="337459"/>
                  </a:lnTo>
                  <a:lnTo>
                    <a:pt x="1606562" y="371650"/>
                  </a:lnTo>
                  <a:lnTo>
                    <a:pt x="1631586" y="407245"/>
                  </a:lnTo>
                  <a:lnTo>
                    <a:pt x="1655917" y="444212"/>
                  </a:lnTo>
                  <a:lnTo>
                    <a:pt x="1679533" y="482515"/>
                  </a:lnTo>
                  <a:lnTo>
                    <a:pt x="1702417" y="522121"/>
                  </a:lnTo>
                  <a:lnTo>
                    <a:pt x="1724548" y="562997"/>
                  </a:lnTo>
                  <a:lnTo>
                    <a:pt x="1745906" y="605107"/>
                  </a:lnTo>
                  <a:lnTo>
                    <a:pt x="1766472" y="648418"/>
                  </a:lnTo>
                  <a:lnTo>
                    <a:pt x="1786226" y="692897"/>
                  </a:lnTo>
                  <a:lnTo>
                    <a:pt x="1805149" y="738508"/>
                  </a:lnTo>
                  <a:lnTo>
                    <a:pt x="1823221" y="785218"/>
                  </a:lnTo>
                  <a:lnTo>
                    <a:pt x="1840422" y="832994"/>
                  </a:lnTo>
                  <a:lnTo>
                    <a:pt x="1856733" y="881800"/>
                  </a:lnTo>
                  <a:lnTo>
                    <a:pt x="1872133" y="931604"/>
                  </a:lnTo>
                  <a:lnTo>
                    <a:pt x="1886605" y="982370"/>
                  </a:lnTo>
                  <a:lnTo>
                    <a:pt x="1900127" y="1034065"/>
                  </a:lnTo>
                  <a:lnTo>
                    <a:pt x="1912680" y="1086656"/>
                  </a:lnTo>
                  <a:lnTo>
                    <a:pt x="1924244" y="1140107"/>
                  </a:lnTo>
                  <a:lnTo>
                    <a:pt x="1934801" y="1194386"/>
                  </a:lnTo>
                  <a:lnTo>
                    <a:pt x="1944329" y="1249457"/>
                  </a:lnTo>
                  <a:lnTo>
                    <a:pt x="1952810" y="1305288"/>
                  </a:lnTo>
                  <a:lnTo>
                    <a:pt x="1960224" y="1361844"/>
                  </a:lnTo>
                  <a:lnTo>
                    <a:pt x="1966551" y="1419090"/>
                  </a:lnTo>
                  <a:lnTo>
                    <a:pt x="1971772" y="1476994"/>
                  </a:lnTo>
                  <a:lnTo>
                    <a:pt x="1975867" y="1535521"/>
                  </a:lnTo>
                  <a:lnTo>
                    <a:pt x="1978817" y="1594637"/>
                  </a:lnTo>
                  <a:lnTo>
                    <a:pt x="1980600" y="1654308"/>
                  </a:lnTo>
                  <a:lnTo>
                    <a:pt x="1981200" y="1714500"/>
                  </a:lnTo>
                  <a:lnTo>
                    <a:pt x="1980600" y="1774691"/>
                  </a:lnTo>
                  <a:lnTo>
                    <a:pt x="1978817" y="1834362"/>
                  </a:lnTo>
                  <a:lnTo>
                    <a:pt x="1975867" y="1893478"/>
                  </a:lnTo>
                  <a:lnTo>
                    <a:pt x="1971772" y="1952005"/>
                  </a:lnTo>
                  <a:lnTo>
                    <a:pt x="1966551" y="2009909"/>
                  </a:lnTo>
                  <a:lnTo>
                    <a:pt x="1960224" y="2067155"/>
                  </a:lnTo>
                  <a:lnTo>
                    <a:pt x="1952810" y="2123711"/>
                  </a:lnTo>
                  <a:lnTo>
                    <a:pt x="1944329" y="2179542"/>
                  </a:lnTo>
                  <a:lnTo>
                    <a:pt x="1934801" y="2234613"/>
                  </a:lnTo>
                  <a:lnTo>
                    <a:pt x="1924244" y="2288892"/>
                  </a:lnTo>
                  <a:lnTo>
                    <a:pt x="1912680" y="2342343"/>
                  </a:lnTo>
                  <a:lnTo>
                    <a:pt x="1900127" y="2394934"/>
                  </a:lnTo>
                  <a:lnTo>
                    <a:pt x="1886605" y="2446629"/>
                  </a:lnTo>
                  <a:lnTo>
                    <a:pt x="1872133" y="2497395"/>
                  </a:lnTo>
                  <a:lnTo>
                    <a:pt x="1856733" y="2547199"/>
                  </a:lnTo>
                  <a:lnTo>
                    <a:pt x="1840422" y="2596005"/>
                  </a:lnTo>
                  <a:lnTo>
                    <a:pt x="1823221" y="2643781"/>
                  </a:lnTo>
                  <a:lnTo>
                    <a:pt x="1805149" y="2690491"/>
                  </a:lnTo>
                  <a:lnTo>
                    <a:pt x="1786226" y="2736102"/>
                  </a:lnTo>
                  <a:lnTo>
                    <a:pt x="1766472" y="2780581"/>
                  </a:lnTo>
                  <a:lnTo>
                    <a:pt x="1745906" y="2823892"/>
                  </a:lnTo>
                  <a:lnTo>
                    <a:pt x="1724548" y="2866002"/>
                  </a:lnTo>
                  <a:lnTo>
                    <a:pt x="1702417" y="2906878"/>
                  </a:lnTo>
                  <a:lnTo>
                    <a:pt x="1679533" y="2946484"/>
                  </a:lnTo>
                  <a:lnTo>
                    <a:pt x="1655917" y="2984787"/>
                  </a:lnTo>
                  <a:lnTo>
                    <a:pt x="1631586" y="3021754"/>
                  </a:lnTo>
                  <a:lnTo>
                    <a:pt x="1606562" y="3057349"/>
                  </a:lnTo>
                  <a:lnTo>
                    <a:pt x="1580864" y="3091540"/>
                  </a:lnTo>
                  <a:lnTo>
                    <a:pt x="1554511" y="3124291"/>
                  </a:lnTo>
                  <a:lnTo>
                    <a:pt x="1527522" y="3155570"/>
                  </a:lnTo>
                  <a:lnTo>
                    <a:pt x="1499919" y="3185341"/>
                  </a:lnTo>
                  <a:lnTo>
                    <a:pt x="1471720" y="3213572"/>
                  </a:lnTo>
                  <a:lnTo>
                    <a:pt x="1442944" y="3240228"/>
                  </a:lnTo>
                  <a:lnTo>
                    <a:pt x="1413613" y="3265274"/>
                  </a:lnTo>
                  <a:lnTo>
                    <a:pt x="1353358" y="3310405"/>
                  </a:lnTo>
                  <a:lnTo>
                    <a:pt x="1291114" y="3348692"/>
                  </a:lnTo>
                  <a:lnTo>
                    <a:pt x="1227037" y="3379863"/>
                  </a:lnTo>
                  <a:lnTo>
                    <a:pt x="1161283" y="3403647"/>
                  </a:lnTo>
                  <a:lnTo>
                    <a:pt x="1094011" y="3419770"/>
                  </a:lnTo>
                  <a:lnTo>
                    <a:pt x="1025378" y="3427963"/>
                  </a:lnTo>
                  <a:lnTo>
                    <a:pt x="990600" y="3429000"/>
                  </a:lnTo>
                  <a:lnTo>
                    <a:pt x="955821" y="3427963"/>
                  </a:lnTo>
                  <a:lnTo>
                    <a:pt x="921344" y="3424875"/>
                  </a:lnTo>
                  <a:lnTo>
                    <a:pt x="853372" y="3412683"/>
                  </a:lnTo>
                  <a:lnTo>
                    <a:pt x="786839" y="3392695"/>
                  </a:lnTo>
                  <a:lnTo>
                    <a:pt x="721904" y="3365184"/>
                  </a:lnTo>
                  <a:lnTo>
                    <a:pt x="658724" y="3330421"/>
                  </a:lnTo>
                  <a:lnTo>
                    <a:pt x="597455" y="3288678"/>
                  </a:lnTo>
                  <a:lnTo>
                    <a:pt x="538255" y="3240228"/>
                  </a:lnTo>
                  <a:lnTo>
                    <a:pt x="509479" y="3213572"/>
                  </a:lnTo>
                  <a:lnTo>
                    <a:pt x="481280" y="3185341"/>
                  </a:lnTo>
                  <a:lnTo>
                    <a:pt x="453677" y="3155570"/>
                  </a:lnTo>
                  <a:lnTo>
                    <a:pt x="426688" y="3124291"/>
                  </a:lnTo>
                  <a:lnTo>
                    <a:pt x="400335" y="3091540"/>
                  </a:lnTo>
                  <a:lnTo>
                    <a:pt x="374637" y="3057349"/>
                  </a:lnTo>
                  <a:lnTo>
                    <a:pt x="349613" y="3021754"/>
                  </a:lnTo>
                  <a:lnTo>
                    <a:pt x="325282" y="2984787"/>
                  </a:lnTo>
                  <a:lnTo>
                    <a:pt x="301666" y="2946484"/>
                  </a:lnTo>
                  <a:lnTo>
                    <a:pt x="278782" y="2906878"/>
                  </a:lnTo>
                  <a:lnTo>
                    <a:pt x="256651" y="2866002"/>
                  </a:lnTo>
                  <a:lnTo>
                    <a:pt x="235293" y="2823892"/>
                  </a:lnTo>
                  <a:lnTo>
                    <a:pt x="214727" y="2780581"/>
                  </a:lnTo>
                  <a:lnTo>
                    <a:pt x="194973" y="2736102"/>
                  </a:lnTo>
                  <a:lnTo>
                    <a:pt x="176050" y="2690491"/>
                  </a:lnTo>
                  <a:lnTo>
                    <a:pt x="157978" y="2643781"/>
                  </a:lnTo>
                  <a:lnTo>
                    <a:pt x="140777" y="2596005"/>
                  </a:lnTo>
                  <a:lnTo>
                    <a:pt x="124466" y="2547199"/>
                  </a:lnTo>
                  <a:lnTo>
                    <a:pt x="109066" y="2497395"/>
                  </a:lnTo>
                  <a:lnTo>
                    <a:pt x="94594" y="2446629"/>
                  </a:lnTo>
                  <a:lnTo>
                    <a:pt x="81072" y="2394934"/>
                  </a:lnTo>
                  <a:lnTo>
                    <a:pt x="68519" y="2342343"/>
                  </a:lnTo>
                  <a:lnTo>
                    <a:pt x="56955" y="2288892"/>
                  </a:lnTo>
                  <a:lnTo>
                    <a:pt x="46398" y="2234613"/>
                  </a:lnTo>
                  <a:lnTo>
                    <a:pt x="36870" y="2179542"/>
                  </a:lnTo>
                  <a:lnTo>
                    <a:pt x="28389" y="2123711"/>
                  </a:lnTo>
                  <a:lnTo>
                    <a:pt x="20975" y="2067155"/>
                  </a:lnTo>
                  <a:lnTo>
                    <a:pt x="14648" y="2009909"/>
                  </a:lnTo>
                  <a:lnTo>
                    <a:pt x="9427" y="1952005"/>
                  </a:lnTo>
                  <a:lnTo>
                    <a:pt x="5332" y="1893478"/>
                  </a:lnTo>
                  <a:lnTo>
                    <a:pt x="2382" y="1834362"/>
                  </a:lnTo>
                  <a:lnTo>
                    <a:pt x="599" y="1774691"/>
                  </a:lnTo>
                  <a:lnTo>
                    <a:pt x="0" y="1714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947106"/>
              </p:ext>
            </p:extLst>
          </p:nvPr>
        </p:nvGraphicFramePr>
        <p:xfrm>
          <a:off x="5403850" y="1905000"/>
          <a:ext cx="609600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244475">
                        <a:lnSpc>
                          <a:spcPts val="1635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50" dirty="0">
                        <a:latin typeface="Times New Roman"/>
                        <a:cs typeface="Times New Roman"/>
                      </a:endParaRPr>
                    </a:p>
                    <a:p>
                      <a:pPr marL="2444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981200" y="3276600"/>
            <a:ext cx="609600" cy="304800"/>
          </a:xfrm>
          <a:prstGeom prst="rect">
            <a:avLst/>
          </a:prstGeom>
          <a:solidFill>
            <a:srgbClr val="4F81BC"/>
          </a:solidFill>
          <a:ln w="12700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R="12065" algn="ctr">
              <a:lnSpc>
                <a:spcPct val="100000"/>
              </a:lnSpc>
              <a:spcBef>
                <a:spcPts val="315"/>
              </a:spcBef>
            </a:pPr>
            <a:r>
              <a:rPr sz="1600" b="1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9400" y="4114800"/>
            <a:ext cx="609600" cy="304800"/>
          </a:xfrm>
          <a:prstGeom prst="rect">
            <a:avLst/>
          </a:prstGeom>
          <a:solidFill>
            <a:srgbClr val="4F81BC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1430" algn="ctr">
              <a:lnSpc>
                <a:spcPts val="1635"/>
              </a:lnSpc>
            </a:pPr>
            <a:r>
              <a:rPr sz="1600" b="1" spc="-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5000" y="3886200"/>
            <a:ext cx="609600" cy="838200"/>
          </a:xfrm>
          <a:prstGeom prst="rect">
            <a:avLst/>
          </a:prstGeom>
          <a:solidFill>
            <a:srgbClr val="4F81BC"/>
          </a:solidFill>
          <a:ln w="12700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350">
              <a:latin typeface="Times New Roman"/>
              <a:cs typeface="Times New Roman"/>
            </a:endParaRPr>
          </a:p>
          <a:p>
            <a:pPr marR="12065" algn="ctr">
              <a:lnSpc>
                <a:spcPct val="100000"/>
              </a:lnSpc>
            </a:pPr>
            <a:r>
              <a:rPr sz="1600" b="1" spc="-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9400" y="3505200"/>
            <a:ext cx="609600" cy="228600"/>
          </a:xfrm>
          <a:prstGeom prst="rect">
            <a:avLst/>
          </a:prstGeom>
          <a:solidFill>
            <a:srgbClr val="4F81BC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1430" algn="ctr">
              <a:lnSpc>
                <a:spcPts val="1635"/>
              </a:lnSpc>
            </a:pPr>
            <a:r>
              <a:rPr sz="1600" b="1" spc="-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09495" y="5486400"/>
            <a:ext cx="9671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latin typeface="Times New Roman"/>
                <a:cs typeface="Times New Roman"/>
              </a:rPr>
              <a:t>User</a:t>
            </a:r>
            <a:r>
              <a:rPr sz="1600" b="1" i="1" spc="-55" dirty="0">
                <a:latin typeface="Times New Roman"/>
                <a:cs typeface="Times New Roman"/>
              </a:rPr>
              <a:t> </a:t>
            </a:r>
            <a:r>
              <a:rPr sz="1600" b="1" i="1" spc="-5" dirty="0">
                <a:latin typeface="Times New Roman"/>
                <a:cs typeface="Times New Roman"/>
              </a:rPr>
              <a:t>Space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53000" y="5486400"/>
            <a:ext cx="1484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Times New Roman"/>
                <a:cs typeface="Times New Roman"/>
              </a:rPr>
              <a:t>Physical</a:t>
            </a:r>
            <a:r>
              <a:rPr sz="1600" b="1" i="1" spc="-40" dirty="0">
                <a:latin typeface="Times New Roman"/>
                <a:cs typeface="Times New Roman"/>
              </a:rPr>
              <a:t> </a:t>
            </a:r>
            <a:r>
              <a:rPr sz="1600" b="1" i="1" spc="-10" dirty="0">
                <a:latin typeface="Times New Roman"/>
                <a:cs typeface="Times New Roman"/>
              </a:rPr>
              <a:t>Memory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6850239-2738-4E0D-AC43-11C643AE5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0664" y="381000"/>
            <a:ext cx="612965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Segmentation</a:t>
            </a:r>
            <a:r>
              <a:rPr b="1" spc="-55" dirty="0"/>
              <a:t> </a:t>
            </a:r>
            <a:r>
              <a:rPr b="1" spc="-1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219200"/>
            <a:ext cx="7461884" cy="4474210"/>
          </a:xfrm>
          <a:prstGeom prst="rect">
            <a:avLst/>
          </a:prstGeom>
          <a:noFill/>
        </p:spPr>
        <p:txBody>
          <a:bodyPr vert="horz" wrap="square" lIns="0" tIns="8191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45"/>
              </a:spcBef>
              <a:buFont typeface="Arial MT"/>
              <a:buChar char="–"/>
              <a:tabLst>
                <a:tab pos="299085" algn="l"/>
                <a:tab pos="299720" algn="l"/>
              </a:tabLst>
            </a:pPr>
            <a:r>
              <a:rPr sz="2200" spc="-10" dirty="0">
                <a:latin typeface="Calibri"/>
                <a:cs typeface="Calibri"/>
              </a:rPr>
              <a:t>Logical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address </a:t>
            </a:r>
            <a:r>
              <a:rPr sz="2200" spc="-10" dirty="0">
                <a:latin typeface="Calibri"/>
                <a:cs typeface="Calibri"/>
              </a:rPr>
              <a:t>consists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two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tuple</a:t>
            </a:r>
            <a:endParaRPr sz="22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45"/>
              </a:spcBef>
            </a:pPr>
            <a:r>
              <a:rPr sz="1800" spc="-10" dirty="0">
                <a:latin typeface="Calibri"/>
                <a:cs typeface="Calibri"/>
              </a:rPr>
              <a:t>&lt;segment-number,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offset&gt;</a:t>
            </a:r>
            <a:endParaRPr sz="1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15"/>
              </a:spcBef>
              <a:buFont typeface="Arial MT"/>
              <a:buChar char="–"/>
              <a:tabLst>
                <a:tab pos="299085" algn="l"/>
                <a:tab pos="299720" algn="l"/>
              </a:tabLst>
            </a:pPr>
            <a:r>
              <a:rPr sz="2200" spc="-10" dirty="0">
                <a:latin typeface="Calibri"/>
                <a:cs typeface="Calibri"/>
              </a:rPr>
              <a:t>Segment </a:t>
            </a:r>
            <a:r>
              <a:rPr sz="2200" spc="-40" dirty="0">
                <a:latin typeface="Calibri"/>
                <a:cs typeface="Calibri"/>
              </a:rPr>
              <a:t>Table</a:t>
            </a:r>
            <a:endParaRPr sz="2200" dirty="0">
              <a:latin typeface="Calibri"/>
              <a:cs typeface="Calibri"/>
            </a:endParaRPr>
          </a:p>
          <a:p>
            <a:pPr marL="698500" marR="937894" lvl="1" indent="-2286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Maps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two-dimensional user-defined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addresses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one-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dimensional </a:t>
            </a:r>
            <a:r>
              <a:rPr sz="2000" spc="-10" dirty="0">
                <a:latin typeface="Calibri"/>
                <a:cs typeface="Calibri"/>
              </a:rPr>
              <a:t>physical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addresses.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Each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table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entry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</a:t>
            </a:r>
            <a:endParaRPr sz="2000" dirty="0">
              <a:latin typeface="Calibri"/>
              <a:cs typeface="Calibri"/>
            </a:endParaRPr>
          </a:p>
          <a:p>
            <a:pPr marL="1155700" marR="277495" lvl="2" indent="-228600">
              <a:lnSpc>
                <a:spcPct val="100000"/>
              </a:lnSpc>
              <a:spcBef>
                <a:spcPts val="445"/>
              </a:spcBef>
              <a:buFont typeface="Arial MT"/>
              <a:buChar char="–"/>
              <a:tabLst>
                <a:tab pos="1156335" algn="l"/>
              </a:tabLst>
            </a:pPr>
            <a:r>
              <a:rPr sz="1800" dirty="0">
                <a:latin typeface="Calibri"/>
                <a:cs typeface="Calibri"/>
              </a:rPr>
              <a:t>Base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-10" dirty="0">
                <a:latin typeface="Calibri"/>
                <a:cs typeface="Calibri"/>
              </a:rPr>
              <a:t>contains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starting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physical</a:t>
            </a:r>
            <a:r>
              <a:rPr sz="1800" spc="-5" dirty="0">
                <a:latin typeface="Calibri"/>
                <a:cs typeface="Calibri"/>
              </a:rPr>
              <a:t> address where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segments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reside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memory.</a:t>
            </a:r>
            <a:endParaRPr sz="1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1156335" algn="l"/>
              </a:tabLst>
            </a:pPr>
            <a:r>
              <a:rPr sz="1800" spc="-5" dirty="0">
                <a:latin typeface="Calibri"/>
                <a:cs typeface="Calibri"/>
              </a:rPr>
              <a:t>Limit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specifies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length 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segment.</a:t>
            </a:r>
          </a:p>
          <a:p>
            <a:pPr marL="698500" marR="96520" lvl="1" indent="-22860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i="1" spc="-5" dirty="0">
                <a:solidFill>
                  <a:srgbClr val="4F81BC"/>
                </a:solidFill>
                <a:latin typeface="Calibri"/>
                <a:cs typeface="Calibri"/>
              </a:rPr>
              <a:t>Segment-table base </a:t>
            </a:r>
            <a:r>
              <a:rPr sz="2000" i="1" spc="-10" dirty="0">
                <a:solidFill>
                  <a:srgbClr val="4F81BC"/>
                </a:solidFill>
                <a:latin typeface="Calibri"/>
                <a:cs typeface="Calibri"/>
              </a:rPr>
              <a:t>register </a:t>
            </a:r>
            <a:r>
              <a:rPr sz="2000" spc="-5" dirty="0">
                <a:latin typeface="Calibri"/>
                <a:cs typeface="Calibri"/>
              </a:rPr>
              <a:t>(STBR) points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segment </a:t>
            </a:r>
            <a:r>
              <a:rPr sz="2000" spc="-20" dirty="0">
                <a:latin typeface="Calibri"/>
                <a:cs typeface="Calibri"/>
              </a:rPr>
              <a:t>table’s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location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sz="2000" spc="-20" dirty="0">
                <a:latin typeface="Calibri"/>
                <a:cs typeface="Calibri"/>
              </a:rPr>
              <a:t>memory.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We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 </a:t>
            </a:r>
            <a:r>
              <a:rPr sz="2000" b="1" dirty="0">
                <a:latin typeface="Calibri"/>
                <a:cs typeface="Calibri"/>
              </a:rPr>
              <a:t>Base </a:t>
            </a:r>
            <a:r>
              <a:rPr sz="2000" b="1" spc="-15" dirty="0">
                <a:latin typeface="Calibri"/>
                <a:cs typeface="Calibri"/>
              </a:rPr>
              <a:t>register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i="1" spc="-5" dirty="0">
                <a:solidFill>
                  <a:srgbClr val="4F81BC"/>
                </a:solidFill>
                <a:latin typeface="Calibri"/>
                <a:cs typeface="Calibri"/>
              </a:rPr>
              <a:t>Segment-table</a:t>
            </a:r>
            <a:r>
              <a:rPr sz="2000" i="1" spc="-65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F81BC"/>
                </a:solidFill>
                <a:latin typeface="Calibri"/>
                <a:cs typeface="Calibri"/>
              </a:rPr>
              <a:t>length</a:t>
            </a:r>
            <a:r>
              <a:rPr sz="2000" i="1" spc="-2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4F81BC"/>
                </a:solidFill>
                <a:latin typeface="Calibri"/>
                <a:cs typeface="Calibri"/>
              </a:rPr>
              <a:t>register</a:t>
            </a:r>
            <a:r>
              <a:rPr sz="2000" i="1" spc="-25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(STLR)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indicates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endParaRPr sz="2000" dirty="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/>
                <a:cs typeface="Calibri"/>
              </a:rPr>
              <a:t>segments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program;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segment</a:t>
            </a:r>
            <a:r>
              <a:rPr sz="2000" dirty="0">
                <a:latin typeface="Calibri"/>
                <a:cs typeface="Calibri"/>
              </a:rPr>
              <a:t> number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legal</a:t>
            </a:r>
            <a:r>
              <a:rPr sz="2000" dirty="0">
                <a:latin typeface="Calibri"/>
                <a:cs typeface="Calibri"/>
              </a:rPr>
              <a:t> if s &lt;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STLR.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b="1" dirty="0">
                <a:latin typeface="Calibri"/>
                <a:cs typeface="Calibri"/>
              </a:rPr>
              <a:t>Limit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register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89F3EF-C823-4281-8921-C860F543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1842" y="531360"/>
            <a:ext cx="750252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600" b="1" spc="-10" dirty="0"/>
              <a:t>Address</a:t>
            </a:r>
            <a:r>
              <a:rPr sz="3600" b="1" spc="-25" dirty="0"/>
              <a:t> </a:t>
            </a:r>
            <a:r>
              <a:rPr sz="3600" b="1" spc="-40" dirty="0"/>
              <a:t>Translation</a:t>
            </a:r>
            <a:r>
              <a:rPr sz="3600" b="1" spc="-10" dirty="0"/>
              <a:t> </a:t>
            </a:r>
            <a:r>
              <a:rPr sz="3600" b="1" spc="-5" dirty="0"/>
              <a:t>in </a:t>
            </a:r>
            <a:r>
              <a:rPr sz="3600" b="1" spc="-15" dirty="0"/>
              <a:t>segmentation</a:t>
            </a:r>
            <a:endParaRPr sz="3600" b="1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714" y="1828800"/>
            <a:ext cx="6041571" cy="368617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6BE719-4E08-444F-9B87-10B09306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4494" y="549560"/>
            <a:ext cx="774319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Segmentation</a:t>
            </a:r>
            <a:r>
              <a:rPr b="1" spc="-40" dirty="0"/>
              <a:t> </a:t>
            </a:r>
            <a:r>
              <a:rPr b="1" spc="-15" dirty="0"/>
              <a:t>Architecture</a:t>
            </a:r>
            <a:r>
              <a:rPr b="1" spc="5" dirty="0"/>
              <a:t> </a:t>
            </a:r>
            <a:r>
              <a:rPr b="1"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371600"/>
            <a:ext cx="7439659" cy="446595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439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15" dirty="0">
                <a:latin typeface="Calibri"/>
                <a:cs typeface="Calibri"/>
              </a:rPr>
              <a:t>Relocation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dynamic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segment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table</a:t>
            </a:r>
            <a:endParaRPr sz="28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10" dirty="0">
                <a:latin typeface="Calibri"/>
                <a:cs typeface="Calibri"/>
              </a:rPr>
              <a:t>Sharing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Code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sharing</a:t>
            </a:r>
            <a:r>
              <a:rPr sz="2400" spc="-10" dirty="0">
                <a:latin typeface="Calibri"/>
                <a:cs typeface="Calibri"/>
              </a:rPr>
              <a:t> occurs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segment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9135" algn="l"/>
                <a:tab pos="6161405" algn="l"/>
              </a:tabLst>
            </a:pPr>
            <a:r>
              <a:rPr sz="2400" spc="-10" dirty="0">
                <a:latin typeface="Calibri"/>
                <a:cs typeface="Calibri"/>
              </a:rPr>
              <a:t>Shared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segments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same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segment	</a:t>
            </a:r>
            <a:r>
              <a:rPr sz="2400" spc="-40" dirty="0">
                <a:latin typeface="Calibri"/>
                <a:cs typeface="Calibri"/>
              </a:rPr>
              <a:t>number.</a:t>
            </a:r>
            <a:endParaRPr sz="24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309"/>
              </a:spcBef>
              <a:buFont typeface="Arial MT"/>
              <a:buChar char="–"/>
              <a:tabLst>
                <a:tab pos="299720" algn="l"/>
                <a:tab pos="1903730" algn="l"/>
              </a:tabLst>
            </a:pPr>
            <a:r>
              <a:rPr sz="2800" spc="-10" dirty="0">
                <a:latin typeface="Calibri"/>
                <a:cs typeface="Calibri"/>
              </a:rPr>
              <a:t>Allocation	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dynamic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storage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allocation </a:t>
            </a:r>
            <a:r>
              <a:rPr sz="2800" spc="-15" dirty="0">
                <a:latin typeface="Calibri"/>
                <a:cs typeface="Calibri"/>
              </a:rPr>
              <a:t>problem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use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best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fit/first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fit,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spc="-5" dirty="0">
                <a:latin typeface="Calibri"/>
                <a:cs typeface="Calibri"/>
              </a:rPr>
              <a:t>cause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external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fragmentation.</a:t>
            </a:r>
            <a:endParaRPr sz="24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310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15" dirty="0">
                <a:latin typeface="Calibri"/>
                <a:cs typeface="Calibri"/>
              </a:rPr>
              <a:t>Protection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protection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bits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associated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0" dirty="0">
                <a:latin typeface="Calibri"/>
                <a:cs typeface="Calibri"/>
              </a:rPr>
              <a:t> segments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70"/>
              </a:spcBef>
              <a:buFont typeface="Arial MT"/>
              <a:buChar char="–"/>
              <a:tabLst>
                <a:tab pos="1156335" algn="l"/>
              </a:tabLst>
            </a:pPr>
            <a:r>
              <a:rPr sz="2000" spc="-15" dirty="0">
                <a:latin typeface="Calibri"/>
                <a:cs typeface="Calibri"/>
              </a:rPr>
              <a:t>read/write/execute</a:t>
            </a:r>
            <a:r>
              <a:rPr sz="2000" spc="-5" dirty="0">
                <a:latin typeface="Calibri"/>
                <a:cs typeface="Calibri"/>
              </a:rPr>
              <a:t> privileges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2280"/>
              </a:lnSpc>
              <a:spcBef>
                <a:spcPts val="240"/>
              </a:spcBef>
              <a:buFont typeface="Arial MT"/>
              <a:buChar char="–"/>
              <a:tabLst>
                <a:tab pos="1156335" algn="l"/>
              </a:tabLst>
            </a:pPr>
            <a:r>
              <a:rPr sz="2000" spc="-20" dirty="0">
                <a:latin typeface="Calibri"/>
                <a:cs typeface="Calibri"/>
              </a:rPr>
              <a:t>array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separate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segment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hardware</a:t>
            </a:r>
            <a:r>
              <a:rPr sz="2000" spc="-5" dirty="0">
                <a:latin typeface="Calibri"/>
                <a:cs typeface="Calibri"/>
              </a:rPr>
              <a:t> can </a:t>
            </a:r>
            <a:r>
              <a:rPr sz="2000" dirty="0">
                <a:latin typeface="Calibri"/>
                <a:cs typeface="Calibri"/>
              </a:rPr>
              <a:t>check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illegal</a:t>
            </a:r>
            <a:endParaRPr sz="2000" dirty="0">
              <a:latin typeface="Calibri"/>
              <a:cs typeface="Calibri"/>
            </a:endParaRPr>
          </a:p>
          <a:p>
            <a:pPr marL="1155700">
              <a:lnSpc>
                <a:spcPts val="2280"/>
              </a:lnSpc>
            </a:pPr>
            <a:r>
              <a:rPr sz="2000" spc="-20" dirty="0">
                <a:latin typeface="Calibri"/>
                <a:cs typeface="Calibri"/>
              </a:rPr>
              <a:t>array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indexes.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7E4EB9-6C32-42B1-95CA-FAE4DAB31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950" y="1622882"/>
            <a:ext cx="5327650" cy="3951723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segment</a:t>
            </a:r>
            <a:r>
              <a:rPr sz="2500" dirty="0">
                <a:latin typeface="Times New Roman"/>
                <a:cs typeface="Times New Roman"/>
              </a:rPr>
              <a:t> number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used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as</a:t>
            </a:r>
            <a:r>
              <a:rPr sz="2500" spc="6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index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into </a:t>
            </a:r>
            <a:r>
              <a:rPr sz="2500" dirty="0">
                <a:latin typeface="Times New Roman"/>
                <a:cs typeface="Times New Roman"/>
              </a:rPr>
              <a:t>the segment table.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10" dirty="0">
                <a:latin typeface="Times New Roman"/>
                <a:cs typeface="Times New Roman"/>
              </a:rPr>
              <a:t>offset </a:t>
            </a:r>
            <a:r>
              <a:rPr sz="2500" spc="-5" dirty="0">
                <a:latin typeface="Times New Roman"/>
                <a:cs typeface="Times New Roman"/>
              </a:rPr>
              <a:t>d of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dirty="0">
                <a:latin typeface="Times New Roman"/>
                <a:cs typeface="Times New Roman"/>
              </a:rPr>
              <a:t>logical </a:t>
            </a:r>
            <a:r>
              <a:rPr sz="2500" spc="-5" dirty="0">
                <a:latin typeface="Times New Roman"/>
                <a:cs typeface="Times New Roman"/>
              </a:rPr>
              <a:t>address must be between 0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and</a:t>
            </a:r>
            <a:r>
              <a:rPr sz="2500" dirty="0">
                <a:latin typeface="Times New Roman"/>
                <a:cs typeface="Times New Roman"/>
              </a:rPr>
              <a:t> 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segment</a:t>
            </a:r>
            <a:r>
              <a:rPr sz="2500" dirty="0">
                <a:latin typeface="Times New Roman"/>
                <a:cs typeface="Times New Roman"/>
              </a:rPr>
              <a:t> limit.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If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not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,</a:t>
            </a:r>
            <a:r>
              <a:rPr sz="2500" dirty="0">
                <a:latin typeface="Times New Roman"/>
                <a:cs typeface="Times New Roman"/>
              </a:rPr>
              <a:t> trap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occur, </a:t>
            </a:r>
            <a:r>
              <a:rPr sz="2500" dirty="0">
                <a:latin typeface="Times New Roman"/>
                <a:cs typeface="Times New Roman"/>
              </a:rPr>
              <a:t>if </a:t>
            </a:r>
            <a:r>
              <a:rPr sz="2500" spc="-5" dirty="0">
                <a:latin typeface="Times New Roman"/>
                <a:cs typeface="Times New Roman"/>
              </a:rPr>
              <a:t>it is </a:t>
            </a:r>
            <a:r>
              <a:rPr sz="2500" dirty="0">
                <a:latin typeface="Times New Roman"/>
                <a:cs typeface="Times New Roman"/>
              </a:rPr>
              <a:t>legal it is </a:t>
            </a:r>
            <a:r>
              <a:rPr sz="2500" spc="-5" dirty="0">
                <a:latin typeface="Times New Roman"/>
                <a:cs typeface="Times New Roman"/>
              </a:rPr>
              <a:t>added to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segment</a:t>
            </a:r>
            <a:r>
              <a:rPr sz="2500" spc="50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base</a:t>
            </a:r>
            <a:r>
              <a:rPr sz="2500" spc="509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4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produce</a:t>
            </a:r>
            <a:r>
              <a:rPr sz="2500" spc="5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0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address </a:t>
            </a:r>
            <a:r>
              <a:rPr sz="2500" spc="-6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physical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30" dirty="0">
                <a:latin typeface="Times New Roman"/>
                <a:cs typeface="Times New Roman"/>
              </a:rPr>
              <a:t>memory.</a:t>
            </a:r>
            <a:endParaRPr sz="2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31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0000"/>
              </a:lnSpc>
              <a:buFont typeface="Arial MT"/>
              <a:buChar char="•"/>
              <a:tabLst>
                <a:tab pos="355600" algn="l"/>
              </a:tabLst>
            </a:pP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dirty="0">
                <a:latin typeface="Times New Roman"/>
                <a:cs typeface="Times New Roman"/>
              </a:rPr>
              <a:t> segmentation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scheme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causes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External</a:t>
            </a:r>
            <a:r>
              <a:rPr sz="2500" dirty="0">
                <a:latin typeface="Times New Roman"/>
                <a:cs typeface="Times New Roman"/>
              </a:rPr>
              <a:t> fragmentation,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this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can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be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handle</a:t>
            </a:r>
            <a:r>
              <a:rPr sz="2500" dirty="0">
                <a:latin typeface="Times New Roman"/>
                <a:cs typeface="Times New Roman"/>
              </a:rPr>
              <a:t> by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memory</a:t>
            </a:r>
            <a:r>
              <a:rPr sz="2500" b="1" dirty="0">
                <a:latin typeface="Times New Roman"/>
                <a:cs typeface="Times New Roman"/>
              </a:rPr>
              <a:t> compaction </a:t>
            </a:r>
            <a:r>
              <a:rPr sz="2500" b="1" spc="-610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technique.</a:t>
            </a:r>
            <a:endParaRPr sz="2500" b="1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638800" y="1193504"/>
            <a:ext cx="3143250" cy="4815205"/>
            <a:chOff x="5638800" y="1193504"/>
            <a:chExt cx="3143250" cy="48152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3275" y="1193504"/>
              <a:ext cx="1628775" cy="48147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00" y="3505200"/>
              <a:ext cx="1600200" cy="1276350"/>
            </a:xfrm>
            <a:prstGeom prst="rect">
              <a:avLst/>
            </a:prstGeom>
          </p:spPr>
        </p:pic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1F2C2A-BB20-43C0-BC42-5497D1B1C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580ED0F3-8518-4AAA-A9BC-728CF8761B67}"/>
              </a:ext>
            </a:extLst>
          </p:cNvPr>
          <p:cNvSpPr txBox="1">
            <a:spLocks/>
          </p:cNvSpPr>
          <p:nvPr/>
        </p:nvSpPr>
        <p:spPr>
          <a:xfrm>
            <a:off x="704494" y="457200"/>
            <a:ext cx="774319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b="1" spc="-10"/>
              <a:t>Segmentation</a:t>
            </a:r>
            <a:r>
              <a:rPr lang="en-IN" b="1" spc="-40"/>
              <a:t> </a:t>
            </a:r>
            <a:r>
              <a:rPr lang="en-IN" b="1" spc="-15"/>
              <a:t>Architecture</a:t>
            </a:r>
            <a:r>
              <a:rPr lang="en-IN" b="1" spc="5"/>
              <a:t> </a:t>
            </a:r>
            <a:r>
              <a:rPr lang="en-IN" b="1" spc="-10"/>
              <a:t>(cont.)</a:t>
            </a:r>
            <a:endParaRPr lang="en-IN" b="1" spc="-1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86106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200" b="1" spc="-15" dirty="0"/>
              <a:t>Example</a:t>
            </a:r>
            <a:r>
              <a:rPr lang="en-US" sz="3200" b="1" spc="-15" dirty="0"/>
              <a:t> - </a:t>
            </a:r>
            <a:r>
              <a:rPr sz="3200" b="1" spc="-10" dirty="0"/>
              <a:t>Address </a:t>
            </a:r>
            <a:r>
              <a:rPr sz="3200" b="1" spc="-15" dirty="0"/>
              <a:t>translation</a:t>
            </a:r>
            <a:r>
              <a:rPr sz="3200" b="1" spc="-20" dirty="0"/>
              <a:t> </a:t>
            </a:r>
            <a:r>
              <a:rPr sz="3200" b="1" spc="-5" dirty="0"/>
              <a:t>in</a:t>
            </a:r>
            <a:r>
              <a:rPr sz="3200" b="1" spc="-10" dirty="0"/>
              <a:t> </a:t>
            </a:r>
            <a:r>
              <a:rPr sz="3200" b="1" spc="-15" dirty="0"/>
              <a:t>segmentation</a:t>
            </a:r>
            <a:endParaRPr sz="32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222885" y="1256576"/>
            <a:ext cx="42976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Compute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10" dirty="0">
                <a:latin typeface="Times New Roman"/>
                <a:cs typeface="Times New Roman"/>
              </a:rPr>
              <a:t>Physical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address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for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978" y="1899000"/>
            <a:ext cx="6015990" cy="37024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95"/>
              </a:spcBef>
              <a:tabLst>
                <a:tab pos="1841500" algn="l"/>
                <a:tab pos="3071495" algn="l"/>
              </a:tabLst>
            </a:pPr>
            <a:r>
              <a:rPr sz="2400" spc="-5" dirty="0">
                <a:latin typeface="Times New Roman"/>
                <a:cs typeface="Times New Roman"/>
              </a:rPr>
              <a:t>a)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099	b)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278	c)1265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Ans:</a:t>
            </a:r>
            <a:endParaRPr sz="2400" dirty="0">
              <a:latin typeface="Times New Roman"/>
              <a:cs typeface="Times New Roman"/>
            </a:endParaRPr>
          </a:p>
          <a:p>
            <a:pPr marL="259715" marR="5080" indent="-259715" algn="just">
              <a:lnSpc>
                <a:spcPct val="80000"/>
              </a:lnSpc>
              <a:spcBef>
                <a:spcPts val="600"/>
              </a:spcBef>
              <a:buSzPct val="96000"/>
              <a:buAutoNum type="alphaLcParenR"/>
              <a:tabLst>
                <a:tab pos="259715" algn="l"/>
              </a:tabLst>
            </a:pPr>
            <a:r>
              <a:rPr sz="2400" spc="-5" dirty="0">
                <a:latin typeface="Times New Roman"/>
                <a:cs typeface="Times New Roman"/>
              </a:rPr>
              <a:t>099, </a:t>
            </a:r>
            <a:r>
              <a:rPr sz="2400" dirty="0">
                <a:latin typeface="Times New Roman"/>
                <a:cs typeface="Times New Roman"/>
              </a:rPr>
              <a:t>here </a:t>
            </a:r>
            <a:r>
              <a:rPr sz="2400" spc="-5" dirty="0">
                <a:latin typeface="Times New Roman"/>
                <a:cs typeface="Times New Roman"/>
              </a:rPr>
              <a:t>segment </a:t>
            </a:r>
            <a:r>
              <a:rPr sz="2400" dirty="0">
                <a:latin typeface="Times New Roman"/>
                <a:cs typeface="Times New Roman"/>
              </a:rPr>
              <a:t>no </a:t>
            </a:r>
            <a:r>
              <a:rPr sz="2400" spc="-5" dirty="0">
                <a:latin typeface="Times New Roman"/>
                <a:cs typeface="Times New Roman"/>
              </a:rPr>
              <a:t>is 0 and </a:t>
            </a:r>
            <a:r>
              <a:rPr sz="2400" spc="-10" dirty="0">
                <a:latin typeface="Times New Roman"/>
                <a:cs typeface="Times New Roman"/>
              </a:rPr>
              <a:t>offset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spc="5" dirty="0">
                <a:latin typeface="Times New Roman"/>
                <a:cs typeface="Times New Roman"/>
              </a:rPr>
              <a:t>99. 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since</a:t>
            </a:r>
            <a:r>
              <a:rPr sz="2400" dirty="0">
                <a:latin typeface="Times New Roman"/>
                <a:cs typeface="Times New Roman"/>
              </a:rPr>
              <a:t> 99&lt;124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 segment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0</a:t>
            </a:r>
            <a:r>
              <a:rPr sz="2400" dirty="0">
                <a:latin typeface="Times New Roman"/>
                <a:cs typeface="Times New Roman"/>
              </a:rPr>
              <a:t> begins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location</a:t>
            </a:r>
            <a:r>
              <a:rPr sz="2400" dirty="0">
                <a:latin typeface="Times New Roman"/>
                <a:cs typeface="Times New Roman"/>
              </a:rPr>
              <a:t> 330,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5" dirty="0">
                <a:latin typeface="Times New Roman"/>
                <a:cs typeface="Times New Roman"/>
              </a:rPr>
              <a:t> is 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330+99=429</a:t>
            </a:r>
            <a:endParaRPr sz="2400" dirty="0">
              <a:latin typeface="Times New Roman"/>
              <a:cs typeface="Times New Roman"/>
            </a:endParaRPr>
          </a:p>
          <a:p>
            <a:pPr marL="277495" marR="6350" indent="-277495" algn="just">
              <a:lnSpc>
                <a:spcPts val="2400"/>
              </a:lnSpc>
              <a:spcBef>
                <a:spcPts val="585"/>
              </a:spcBef>
              <a:buSzPct val="96000"/>
              <a:buAutoNum type="alphaLcParenR"/>
              <a:tabLst>
                <a:tab pos="277495" algn="l"/>
              </a:tabLst>
            </a:pPr>
            <a:r>
              <a:rPr sz="2400" dirty="0">
                <a:latin typeface="Times New Roman"/>
                <a:cs typeface="Times New Roman"/>
              </a:rPr>
              <a:t>278,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segment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offset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is 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78&lt;99.</a:t>
            </a:r>
            <a:r>
              <a:rPr sz="2400" dirty="0">
                <a:latin typeface="Times New Roman"/>
                <a:cs typeface="Times New Roman"/>
              </a:rPr>
              <a:t> Segment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begins</a:t>
            </a:r>
            <a:r>
              <a:rPr sz="2400" dirty="0">
                <a:latin typeface="Times New Roman"/>
                <a:cs typeface="Times New Roman"/>
              </a:rPr>
              <a:t> 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111,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physical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111+78=189</a:t>
            </a:r>
            <a:endParaRPr sz="2400" dirty="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ts val="2400"/>
              </a:lnSpc>
              <a:spcBef>
                <a:spcPts val="600"/>
              </a:spcBef>
              <a:buSzPct val="96000"/>
              <a:buFont typeface="Times New Roman"/>
              <a:buAutoNum type="alphaLcParenR"/>
              <a:tabLst>
                <a:tab pos="407670" algn="l"/>
              </a:tabLst>
            </a:pPr>
            <a:r>
              <a:rPr sz="1600" dirty="0"/>
              <a:t>	</a:t>
            </a:r>
            <a:r>
              <a:rPr sz="2400" dirty="0">
                <a:latin typeface="Times New Roman"/>
                <a:cs typeface="Times New Roman"/>
              </a:rPr>
              <a:t>1265, here segment </a:t>
            </a:r>
            <a:r>
              <a:rPr sz="2400" spc="-5" dirty="0">
                <a:latin typeface="Times New Roman"/>
                <a:cs typeface="Times New Roman"/>
              </a:rPr>
              <a:t>no is 1 and </a:t>
            </a:r>
            <a:r>
              <a:rPr sz="2400" spc="-10" dirty="0">
                <a:latin typeface="Times New Roman"/>
                <a:cs typeface="Times New Roman"/>
              </a:rPr>
              <a:t>offset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265&gt;211.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</a:t>
            </a:r>
            <a:r>
              <a:rPr sz="2400" dirty="0">
                <a:latin typeface="Times New Roman"/>
                <a:cs typeface="Times New Roman"/>
              </a:rPr>
              <a:t> result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segment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fault.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C0D587-1DD1-490D-88BE-90E2C6643D87}"/>
              </a:ext>
            </a:extLst>
          </p:cNvPr>
          <p:cNvGrpSpPr/>
          <p:nvPr/>
        </p:nvGrpSpPr>
        <p:grpSpPr>
          <a:xfrm>
            <a:off x="6480428" y="1770710"/>
            <a:ext cx="2253869" cy="1122984"/>
            <a:chOff x="6480428" y="1770710"/>
            <a:chExt cx="2253869" cy="1122984"/>
          </a:xfrm>
        </p:grpSpPr>
        <p:sp>
          <p:nvSpPr>
            <p:cNvPr id="5" name="object 5"/>
            <p:cNvSpPr txBox="1"/>
            <p:nvPr/>
          </p:nvSpPr>
          <p:spPr>
            <a:xfrm>
              <a:off x="6480428" y="1770710"/>
              <a:ext cx="206248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Calibri"/>
                  <a:cs typeface="Calibri"/>
                </a:rPr>
                <a:t>Consider</a:t>
              </a:r>
              <a:r>
                <a:rPr sz="1800" spc="-40" dirty="0">
                  <a:latin typeface="Calibri"/>
                  <a:cs typeface="Calibri"/>
                </a:rPr>
                <a:t> </a:t>
              </a:r>
              <a:r>
                <a:rPr sz="1800" spc="-5" dirty="0">
                  <a:latin typeface="Calibri"/>
                  <a:cs typeface="Calibri"/>
                </a:rPr>
                <a:t>the</a:t>
              </a:r>
              <a:r>
                <a:rPr sz="1800" spc="-40" dirty="0">
                  <a:latin typeface="Calibri"/>
                  <a:cs typeface="Calibri"/>
                </a:rPr>
                <a:t> </a:t>
              </a:r>
              <a:r>
                <a:rPr sz="1800" dirty="0">
                  <a:latin typeface="Calibri"/>
                  <a:cs typeface="Calibri"/>
                </a:rPr>
                <a:t>segment</a:t>
              </a: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480428" y="2045334"/>
              <a:ext cx="845819" cy="8483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Calibri"/>
                  <a:cs typeface="Calibri"/>
                </a:rPr>
                <a:t>table: </a:t>
              </a:r>
              <a:r>
                <a:rPr sz="1800" dirty="0">
                  <a:latin typeface="Calibri"/>
                  <a:cs typeface="Calibri"/>
                </a:rPr>
                <a:t> </a:t>
              </a:r>
              <a:r>
                <a:rPr sz="1800" spc="-5" dirty="0">
                  <a:latin typeface="Calibri"/>
                  <a:cs typeface="Calibri"/>
                </a:rPr>
                <a:t>Se</a:t>
              </a:r>
              <a:r>
                <a:rPr sz="1800" spc="5" dirty="0">
                  <a:latin typeface="Calibri"/>
                  <a:cs typeface="Calibri"/>
                </a:rPr>
                <a:t>g</a:t>
              </a:r>
              <a:r>
                <a:rPr sz="1800" dirty="0">
                  <a:latin typeface="Calibri"/>
                  <a:cs typeface="Calibri"/>
                </a:rPr>
                <a:t>ment  0</a:t>
              </a: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7550657" y="2319654"/>
              <a:ext cx="1183640" cy="5740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814069" algn="l"/>
                </a:tabLst>
              </a:pPr>
              <a:r>
                <a:rPr sz="1800" dirty="0">
                  <a:latin typeface="Calibri"/>
                  <a:cs typeface="Calibri"/>
                </a:rPr>
                <a:t>B</a:t>
              </a:r>
              <a:r>
                <a:rPr sz="1800" spc="5" dirty="0">
                  <a:latin typeface="Calibri"/>
                  <a:cs typeface="Calibri"/>
                </a:rPr>
                <a:t>a</a:t>
              </a:r>
              <a:r>
                <a:rPr sz="1800" spc="-5" dirty="0">
                  <a:latin typeface="Calibri"/>
                  <a:cs typeface="Calibri"/>
                </a:rPr>
                <a:t>s</a:t>
              </a:r>
              <a:r>
                <a:rPr sz="1800" dirty="0">
                  <a:latin typeface="Calibri"/>
                  <a:cs typeface="Calibri"/>
                </a:rPr>
                <a:t>e	</a:t>
              </a:r>
              <a:r>
                <a:rPr sz="1800" spc="-5" dirty="0">
                  <a:latin typeface="Calibri"/>
                  <a:cs typeface="Calibri"/>
                </a:rPr>
                <a:t>Si</a:t>
              </a:r>
              <a:r>
                <a:rPr sz="1800" spc="-45" dirty="0">
                  <a:latin typeface="Calibri"/>
                  <a:cs typeface="Calibri"/>
                </a:rPr>
                <a:t>z</a:t>
              </a:r>
              <a:r>
                <a:rPr sz="1800" dirty="0">
                  <a:latin typeface="Calibri"/>
                  <a:cs typeface="Calibri"/>
                </a:rPr>
                <a:t>e</a:t>
              </a:r>
            </a:p>
            <a:p>
              <a:pPr marL="12700">
                <a:lnSpc>
                  <a:spcPct val="100000"/>
                </a:lnSpc>
                <a:tabLst>
                  <a:tab pos="778510" algn="l"/>
                </a:tabLst>
              </a:pPr>
              <a:r>
                <a:rPr sz="1800" dirty="0">
                  <a:latin typeface="Calibri"/>
                  <a:cs typeface="Calibri"/>
                </a:rPr>
                <a:t>330	124</a:t>
              </a:r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561310"/>
              </p:ext>
            </p:extLst>
          </p:nvPr>
        </p:nvGraphicFramePr>
        <p:xfrm>
          <a:off x="6461378" y="2938145"/>
          <a:ext cx="2344420" cy="7774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587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7965" algn="r">
                        <a:lnSpc>
                          <a:spcPts val="171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ts val="171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2410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1889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99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241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498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302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80B8844-F520-4A46-B4C6-3F8EAE11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5564" y="549560"/>
            <a:ext cx="3916679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Shared</a:t>
            </a:r>
            <a:r>
              <a:rPr b="1" spc="-60" dirty="0"/>
              <a:t> </a:t>
            </a:r>
            <a:r>
              <a:rPr b="1" spc="-5" dirty="0"/>
              <a:t>segments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93850" y="1670050"/>
            <a:ext cx="2070100" cy="2070100"/>
            <a:chOff x="1593850" y="1670050"/>
            <a:chExt cx="2070100" cy="2070100"/>
          </a:xfrm>
        </p:grpSpPr>
        <p:sp>
          <p:nvSpPr>
            <p:cNvPr id="4" name="object 4"/>
            <p:cNvSpPr/>
            <p:nvPr/>
          </p:nvSpPr>
          <p:spPr>
            <a:xfrm>
              <a:off x="1600200" y="167640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1028700" y="0"/>
                  </a:moveTo>
                  <a:lnTo>
                    <a:pt x="980264" y="1119"/>
                  </a:lnTo>
                  <a:lnTo>
                    <a:pt x="932405" y="4446"/>
                  </a:lnTo>
                  <a:lnTo>
                    <a:pt x="885172" y="9930"/>
                  </a:lnTo>
                  <a:lnTo>
                    <a:pt x="838614" y="17521"/>
                  </a:lnTo>
                  <a:lnTo>
                    <a:pt x="792783" y="27172"/>
                  </a:lnTo>
                  <a:lnTo>
                    <a:pt x="747725" y="38831"/>
                  </a:lnTo>
                  <a:lnTo>
                    <a:pt x="703493" y="52449"/>
                  </a:lnTo>
                  <a:lnTo>
                    <a:pt x="660133" y="67978"/>
                  </a:lnTo>
                  <a:lnTo>
                    <a:pt x="617697" y="85368"/>
                  </a:lnTo>
                  <a:lnTo>
                    <a:pt x="576233" y="104569"/>
                  </a:lnTo>
                  <a:lnTo>
                    <a:pt x="535791" y="125532"/>
                  </a:lnTo>
                  <a:lnTo>
                    <a:pt x="496420" y="148207"/>
                  </a:lnTo>
                  <a:lnTo>
                    <a:pt x="458169" y="172546"/>
                  </a:lnTo>
                  <a:lnTo>
                    <a:pt x="421088" y="198497"/>
                  </a:lnTo>
                  <a:lnTo>
                    <a:pt x="385226" y="226014"/>
                  </a:lnTo>
                  <a:lnTo>
                    <a:pt x="350633" y="255044"/>
                  </a:lnTo>
                  <a:lnTo>
                    <a:pt x="317358" y="285541"/>
                  </a:lnTo>
                  <a:lnTo>
                    <a:pt x="285450" y="317453"/>
                  </a:lnTo>
                  <a:lnTo>
                    <a:pt x="254958" y="350731"/>
                  </a:lnTo>
                  <a:lnTo>
                    <a:pt x="225933" y="385327"/>
                  </a:lnTo>
                  <a:lnTo>
                    <a:pt x="198422" y="421190"/>
                  </a:lnTo>
                  <a:lnTo>
                    <a:pt x="172477" y="458272"/>
                  </a:lnTo>
                  <a:lnTo>
                    <a:pt x="148145" y="496522"/>
                  </a:lnTo>
                  <a:lnTo>
                    <a:pt x="125477" y="535892"/>
                  </a:lnTo>
                  <a:lnTo>
                    <a:pt x="104521" y="576331"/>
                  </a:lnTo>
                  <a:lnTo>
                    <a:pt x="85327" y="617791"/>
                  </a:lnTo>
                  <a:lnTo>
                    <a:pt x="67944" y="660223"/>
                  </a:lnTo>
                  <a:lnTo>
                    <a:pt x="52422" y="703575"/>
                  </a:lnTo>
                  <a:lnTo>
                    <a:pt x="38810" y="747800"/>
                  </a:lnTo>
                  <a:lnTo>
                    <a:pt x="27156" y="792848"/>
                  </a:lnTo>
                  <a:lnTo>
                    <a:pt x="17511" y="838669"/>
                  </a:lnTo>
                  <a:lnTo>
                    <a:pt x="9924" y="885215"/>
                  </a:lnTo>
                  <a:lnTo>
                    <a:pt x="4443" y="932434"/>
                  </a:lnTo>
                  <a:lnTo>
                    <a:pt x="1119" y="980279"/>
                  </a:lnTo>
                  <a:lnTo>
                    <a:pt x="0" y="1028700"/>
                  </a:lnTo>
                  <a:lnTo>
                    <a:pt x="1119" y="1077130"/>
                  </a:lnTo>
                  <a:lnTo>
                    <a:pt x="4445" y="1124984"/>
                  </a:lnTo>
                  <a:lnTo>
                    <a:pt x="9927" y="1172212"/>
                  </a:lnTo>
                  <a:lnTo>
                    <a:pt x="17517" y="1218764"/>
                  </a:lnTo>
                  <a:lnTo>
                    <a:pt x="27165" y="1264591"/>
                  </a:lnTo>
                  <a:lnTo>
                    <a:pt x="38821" y="1309643"/>
                  </a:lnTo>
                  <a:lnTo>
                    <a:pt x="52437" y="1353872"/>
                  </a:lnTo>
                  <a:lnTo>
                    <a:pt x="67963" y="1397228"/>
                  </a:lnTo>
                  <a:lnTo>
                    <a:pt x="85349" y="1439662"/>
                  </a:lnTo>
                  <a:lnTo>
                    <a:pt x="104547" y="1481123"/>
                  </a:lnTo>
                  <a:lnTo>
                    <a:pt x="125506" y="1521563"/>
                  </a:lnTo>
                  <a:lnTo>
                    <a:pt x="148178" y="1560933"/>
                  </a:lnTo>
                  <a:lnTo>
                    <a:pt x="172512" y="1599183"/>
                  </a:lnTo>
                  <a:lnTo>
                    <a:pt x="198461" y="1636263"/>
                  </a:lnTo>
                  <a:lnTo>
                    <a:pt x="225974" y="1672125"/>
                  </a:lnTo>
                  <a:lnTo>
                    <a:pt x="255001" y="1706719"/>
                  </a:lnTo>
                  <a:lnTo>
                    <a:pt x="285494" y="1739995"/>
                  </a:lnTo>
                  <a:lnTo>
                    <a:pt x="317404" y="1771905"/>
                  </a:lnTo>
                  <a:lnTo>
                    <a:pt x="350680" y="1802398"/>
                  </a:lnTo>
                  <a:lnTo>
                    <a:pt x="385274" y="1831425"/>
                  </a:lnTo>
                  <a:lnTo>
                    <a:pt x="421136" y="1858938"/>
                  </a:lnTo>
                  <a:lnTo>
                    <a:pt x="458216" y="1884887"/>
                  </a:lnTo>
                  <a:lnTo>
                    <a:pt x="496466" y="1909221"/>
                  </a:lnTo>
                  <a:lnTo>
                    <a:pt x="535836" y="1931893"/>
                  </a:lnTo>
                  <a:lnTo>
                    <a:pt x="576276" y="1952852"/>
                  </a:lnTo>
                  <a:lnTo>
                    <a:pt x="617737" y="1972050"/>
                  </a:lnTo>
                  <a:lnTo>
                    <a:pt x="660171" y="1989436"/>
                  </a:lnTo>
                  <a:lnTo>
                    <a:pt x="703527" y="2004962"/>
                  </a:lnTo>
                  <a:lnTo>
                    <a:pt x="747756" y="2018578"/>
                  </a:lnTo>
                  <a:lnTo>
                    <a:pt x="792808" y="2030234"/>
                  </a:lnTo>
                  <a:lnTo>
                    <a:pt x="838635" y="2039882"/>
                  </a:lnTo>
                  <a:lnTo>
                    <a:pt x="885187" y="2047472"/>
                  </a:lnTo>
                  <a:lnTo>
                    <a:pt x="932415" y="2052954"/>
                  </a:lnTo>
                  <a:lnTo>
                    <a:pt x="980269" y="2056280"/>
                  </a:lnTo>
                  <a:lnTo>
                    <a:pt x="1028700" y="2057400"/>
                  </a:lnTo>
                  <a:lnTo>
                    <a:pt x="1077130" y="2056280"/>
                  </a:lnTo>
                  <a:lnTo>
                    <a:pt x="1124984" y="2052954"/>
                  </a:lnTo>
                  <a:lnTo>
                    <a:pt x="1172212" y="2047472"/>
                  </a:lnTo>
                  <a:lnTo>
                    <a:pt x="1218764" y="2039882"/>
                  </a:lnTo>
                  <a:lnTo>
                    <a:pt x="1264591" y="2030234"/>
                  </a:lnTo>
                  <a:lnTo>
                    <a:pt x="1309643" y="2018578"/>
                  </a:lnTo>
                  <a:lnTo>
                    <a:pt x="1353872" y="2004962"/>
                  </a:lnTo>
                  <a:lnTo>
                    <a:pt x="1397228" y="1989436"/>
                  </a:lnTo>
                  <a:lnTo>
                    <a:pt x="1439662" y="1972050"/>
                  </a:lnTo>
                  <a:lnTo>
                    <a:pt x="1481123" y="1952852"/>
                  </a:lnTo>
                  <a:lnTo>
                    <a:pt x="1521563" y="1931893"/>
                  </a:lnTo>
                  <a:lnTo>
                    <a:pt x="1560933" y="1909221"/>
                  </a:lnTo>
                  <a:lnTo>
                    <a:pt x="1599183" y="1884887"/>
                  </a:lnTo>
                  <a:lnTo>
                    <a:pt x="1636263" y="1858938"/>
                  </a:lnTo>
                  <a:lnTo>
                    <a:pt x="1672125" y="1831425"/>
                  </a:lnTo>
                  <a:lnTo>
                    <a:pt x="1706719" y="1802398"/>
                  </a:lnTo>
                  <a:lnTo>
                    <a:pt x="1739995" y="1771905"/>
                  </a:lnTo>
                  <a:lnTo>
                    <a:pt x="1771905" y="1739995"/>
                  </a:lnTo>
                  <a:lnTo>
                    <a:pt x="1802398" y="1706719"/>
                  </a:lnTo>
                  <a:lnTo>
                    <a:pt x="1831425" y="1672125"/>
                  </a:lnTo>
                  <a:lnTo>
                    <a:pt x="1858938" y="1636263"/>
                  </a:lnTo>
                  <a:lnTo>
                    <a:pt x="1884887" y="1599183"/>
                  </a:lnTo>
                  <a:lnTo>
                    <a:pt x="1909221" y="1560933"/>
                  </a:lnTo>
                  <a:lnTo>
                    <a:pt x="1931893" y="1521563"/>
                  </a:lnTo>
                  <a:lnTo>
                    <a:pt x="1952852" y="1481123"/>
                  </a:lnTo>
                  <a:lnTo>
                    <a:pt x="1972050" y="1439662"/>
                  </a:lnTo>
                  <a:lnTo>
                    <a:pt x="1989436" y="1397228"/>
                  </a:lnTo>
                  <a:lnTo>
                    <a:pt x="2004962" y="1353872"/>
                  </a:lnTo>
                  <a:lnTo>
                    <a:pt x="2018578" y="1309643"/>
                  </a:lnTo>
                  <a:lnTo>
                    <a:pt x="2030234" y="1264591"/>
                  </a:lnTo>
                  <a:lnTo>
                    <a:pt x="2039882" y="1218764"/>
                  </a:lnTo>
                  <a:lnTo>
                    <a:pt x="2047472" y="1172212"/>
                  </a:lnTo>
                  <a:lnTo>
                    <a:pt x="2052954" y="1124984"/>
                  </a:lnTo>
                  <a:lnTo>
                    <a:pt x="2056280" y="1077130"/>
                  </a:lnTo>
                  <a:lnTo>
                    <a:pt x="2057400" y="1028700"/>
                  </a:lnTo>
                  <a:lnTo>
                    <a:pt x="2056279" y="980269"/>
                  </a:lnTo>
                  <a:lnTo>
                    <a:pt x="2052952" y="932415"/>
                  </a:lnTo>
                  <a:lnTo>
                    <a:pt x="2047467" y="885187"/>
                  </a:lnTo>
                  <a:lnTo>
                    <a:pt x="2039875" y="838635"/>
                  </a:lnTo>
                  <a:lnTo>
                    <a:pt x="2030224" y="792808"/>
                  </a:lnTo>
                  <a:lnTo>
                    <a:pt x="2018564" y="747756"/>
                  </a:lnTo>
                  <a:lnTo>
                    <a:pt x="2004944" y="703527"/>
                  </a:lnTo>
                  <a:lnTo>
                    <a:pt x="1989415" y="660171"/>
                  </a:lnTo>
                  <a:lnTo>
                    <a:pt x="1972025" y="617737"/>
                  </a:lnTo>
                  <a:lnTo>
                    <a:pt x="1952823" y="576276"/>
                  </a:lnTo>
                  <a:lnTo>
                    <a:pt x="1931861" y="535836"/>
                  </a:lnTo>
                  <a:lnTo>
                    <a:pt x="1909185" y="496466"/>
                  </a:lnTo>
                  <a:lnTo>
                    <a:pt x="1884847" y="458216"/>
                  </a:lnTo>
                  <a:lnTo>
                    <a:pt x="1858896" y="421136"/>
                  </a:lnTo>
                  <a:lnTo>
                    <a:pt x="1831381" y="385274"/>
                  </a:lnTo>
                  <a:lnTo>
                    <a:pt x="1802351" y="350680"/>
                  </a:lnTo>
                  <a:lnTo>
                    <a:pt x="1771856" y="317404"/>
                  </a:lnTo>
                  <a:lnTo>
                    <a:pt x="1739945" y="285494"/>
                  </a:lnTo>
                  <a:lnTo>
                    <a:pt x="1706667" y="255001"/>
                  </a:lnTo>
                  <a:lnTo>
                    <a:pt x="1672073" y="225974"/>
                  </a:lnTo>
                  <a:lnTo>
                    <a:pt x="1636211" y="198461"/>
                  </a:lnTo>
                  <a:lnTo>
                    <a:pt x="1599131" y="172512"/>
                  </a:lnTo>
                  <a:lnTo>
                    <a:pt x="1560882" y="148178"/>
                  </a:lnTo>
                  <a:lnTo>
                    <a:pt x="1521514" y="125506"/>
                  </a:lnTo>
                  <a:lnTo>
                    <a:pt x="1481075" y="104547"/>
                  </a:lnTo>
                  <a:lnTo>
                    <a:pt x="1439616" y="85349"/>
                  </a:lnTo>
                  <a:lnTo>
                    <a:pt x="1397185" y="67963"/>
                  </a:lnTo>
                  <a:lnTo>
                    <a:pt x="1353833" y="52437"/>
                  </a:lnTo>
                  <a:lnTo>
                    <a:pt x="1309608" y="38821"/>
                  </a:lnTo>
                  <a:lnTo>
                    <a:pt x="1264559" y="27165"/>
                  </a:lnTo>
                  <a:lnTo>
                    <a:pt x="1218737" y="17517"/>
                  </a:lnTo>
                  <a:lnTo>
                    <a:pt x="1172190" y="9927"/>
                  </a:lnTo>
                  <a:lnTo>
                    <a:pt x="1124967" y="4445"/>
                  </a:lnTo>
                  <a:lnTo>
                    <a:pt x="1077117" y="1119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0200" y="167640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lnTo>
                    <a:pt x="1119" y="980269"/>
                  </a:lnTo>
                  <a:lnTo>
                    <a:pt x="4445" y="932415"/>
                  </a:lnTo>
                  <a:lnTo>
                    <a:pt x="9927" y="885187"/>
                  </a:lnTo>
                  <a:lnTo>
                    <a:pt x="17517" y="838635"/>
                  </a:lnTo>
                  <a:lnTo>
                    <a:pt x="27165" y="792808"/>
                  </a:lnTo>
                  <a:lnTo>
                    <a:pt x="38821" y="747756"/>
                  </a:lnTo>
                  <a:lnTo>
                    <a:pt x="52437" y="703527"/>
                  </a:lnTo>
                  <a:lnTo>
                    <a:pt x="67963" y="660171"/>
                  </a:lnTo>
                  <a:lnTo>
                    <a:pt x="85349" y="617737"/>
                  </a:lnTo>
                  <a:lnTo>
                    <a:pt x="104547" y="576276"/>
                  </a:lnTo>
                  <a:lnTo>
                    <a:pt x="125506" y="535836"/>
                  </a:lnTo>
                  <a:lnTo>
                    <a:pt x="148178" y="496466"/>
                  </a:lnTo>
                  <a:lnTo>
                    <a:pt x="172512" y="458216"/>
                  </a:lnTo>
                  <a:lnTo>
                    <a:pt x="198461" y="421136"/>
                  </a:lnTo>
                  <a:lnTo>
                    <a:pt x="225974" y="385274"/>
                  </a:lnTo>
                  <a:lnTo>
                    <a:pt x="255001" y="350680"/>
                  </a:lnTo>
                  <a:lnTo>
                    <a:pt x="285494" y="317404"/>
                  </a:lnTo>
                  <a:lnTo>
                    <a:pt x="317404" y="285494"/>
                  </a:lnTo>
                  <a:lnTo>
                    <a:pt x="350680" y="255001"/>
                  </a:lnTo>
                  <a:lnTo>
                    <a:pt x="385274" y="225974"/>
                  </a:lnTo>
                  <a:lnTo>
                    <a:pt x="421136" y="198461"/>
                  </a:lnTo>
                  <a:lnTo>
                    <a:pt x="458216" y="172512"/>
                  </a:lnTo>
                  <a:lnTo>
                    <a:pt x="496466" y="148178"/>
                  </a:lnTo>
                  <a:lnTo>
                    <a:pt x="535836" y="125506"/>
                  </a:lnTo>
                  <a:lnTo>
                    <a:pt x="576276" y="104547"/>
                  </a:lnTo>
                  <a:lnTo>
                    <a:pt x="617737" y="85349"/>
                  </a:lnTo>
                  <a:lnTo>
                    <a:pt x="660171" y="67963"/>
                  </a:lnTo>
                  <a:lnTo>
                    <a:pt x="703527" y="52437"/>
                  </a:lnTo>
                  <a:lnTo>
                    <a:pt x="747756" y="38821"/>
                  </a:lnTo>
                  <a:lnTo>
                    <a:pt x="792808" y="27165"/>
                  </a:lnTo>
                  <a:lnTo>
                    <a:pt x="838635" y="17517"/>
                  </a:lnTo>
                  <a:lnTo>
                    <a:pt x="885187" y="9927"/>
                  </a:lnTo>
                  <a:lnTo>
                    <a:pt x="932415" y="4445"/>
                  </a:lnTo>
                  <a:lnTo>
                    <a:pt x="980269" y="1119"/>
                  </a:lnTo>
                  <a:lnTo>
                    <a:pt x="1028700" y="0"/>
                  </a:lnTo>
                  <a:lnTo>
                    <a:pt x="1077130" y="1119"/>
                  </a:lnTo>
                  <a:lnTo>
                    <a:pt x="1124984" y="4446"/>
                  </a:lnTo>
                  <a:lnTo>
                    <a:pt x="1172212" y="9930"/>
                  </a:lnTo>
                  <a:lnTo>
                    <a:pt x="1218764" y="17521"/>
                  </a:lnTo>
                  <a:lnTo>
                    <a:pt x="1264591" y="27172"/>
                  </a:lnTo>
                  <a:lnTo>
                    <a:pt x="1309643" y="38831"/>
                  </a:lnTo>
                  <a:lnTo>
                    <a:pt x="1353872" y="52449"/>
                  </a:lnTo>
                  <a:lnTo>
                    <a:pt x="1397228" y="67978"/>
                  </a:lnTo>
                  <a:lnTo>
                    <a:pt x="1439662" y="85368"/>
                  </a:lnTo>
                  <a:lnTo>
                    <a:pt x="1481123" y="104569"/>
                  </a:lnTo>
                  <a:lnTo>
                    <a:pt x="1521563" y="125532"/>
                  </a:lnTo>
                  <a:lnTo>
                    <a:pt x="1560933" y="148207"/>
                  </a:lnTo>
                  <a:lnTo>
                    <a:pt x="1599183" y="172546"/>
                  </a:lnTo>
                  <a:lnTo>
                    <a:pt x="1636263" y="198497"/>
                  </a:lnTo>
                  <a:lnTo>
                    <a:pt x="1672125" y="226014"/>
                  </a:lnTo>
                  <a:lnTo>
                    <a:pt x="1706719" y="255044"/>
                  </a:lnTo>
                  <a:lnTo>
                    <a:pt x="1739995" y="285541"/>
                  </a:lnTo>
                  <a:lnTo>
                    <a:pt x="1771905" y="317453"/>
                  </a:lnTo>
                  <a:lnTo>
                    <a:pt x="1802398" y="350731"/>
                  </a:lnTo>
                  <a:lnTo>
                    <a:pt x="1831425" y="385327"/>
                  </a:lnTo>
                  <a:lnTo>
                    <a:pt x="1858938" y="421190"/>
                  </a:lnTo>
                  <a:lnTo>
                    <a:pt x="1884887" y="458272"/>
                  </a:lnTo>
                  <a:lnTo>
                    <a:pt x="1909221" y="496522"/>
                  </a:lnTo>
                  <a:lnTo>
                    <a:pt x="1931893" y="535892"/>
                  </a:lnTo>
                  <a:lnTo>
                    <a:pt x="1952852" y="576331"/>
                  </a:lnTo>
                  <a:lnTo>
                    <a:pt x="1972050" y="617791"/>
                  </a:lnTo>
                  <a:lnTo>
                    <a:pt x="1989436" y="660223"/>
                  </a:lnTo>
                  <a:lnTo>
                    <a:pt x="2004962" y="703575"/>
                  </a:lnTo>
                  <a:lnTo>
                    <a:pt x="2018578" y="747800"/>
                  </a:lnTo>
                  <a:lnTo>
                    <a:pt x="2030234" y="792848"/>
                  </a:lnTo>
                  <a:lnTo>
                    <a:pt x="2039882" y="838669"/>
                  </a:lnTo>
                  <a:lnTo>
                    <a:pt x="2047472" y="885215"/>
                  </a:lnTo>
                  <a:lnTo>
                    <a:pt x="2052954" y="932434"/>
                  </a:lnTo>
                  <a:lnTo>
                    <a:pt x="2056280" y="980279"/>
                  </a:lnTo>
                  <a:lnTo>
                    <a:pt x="2057400" y="1028700"/>
                  </a:lnTo>
                  <a:lnTo>
                    <a:pt x="2056280" y="1077130"/>
                  </a:lnTo>
                  <a:lnTo>
                    <a:pt x="2052954" y="1124984"/>
                  </a:lnTo>
                  <a:lnTo>
                    <a:pt x="2047472" y="1172212"/>
                  </a:lnTo>
                  <a:lnTo>
                    <a:pt x="2039882" y="1218764"/>
                  </a:lnTo>
                  <a:lnTo>
                    <a:pt x="2030234" y="1264591"/>
                  </a:lnTo>
                  <a:lnTo>
                    <a:pt x="2018578" y="1309643"/>
                  </a:lnTo>
                  <a:lnTo>
                    <a:pt x="2004962" y="1353872"/>
                  </a:lnTo>
                  <a:lnTo>
                    <a:pt x="1989436" y="1397228"/>
                  </a:lnTo>
                  <a:lnTo>
                    <a:pt x="1972050" y="1439662"/>
                  </a:lnTo>
                  <a:lnTo>
                    <a:pt x="1952852" y="1481123"/>
                  </a:lnTo>
                  <a:lnTo>
                    <a:pt x="1931893" y="1521563"/>
                  </a:lnTo>
                  <a:lnTo>
                    <a:pt x="1909221" y="1560933"/>
                  </a:lnTo>
                  <a:lnTo>
                    <a:pt x="1884887" y="1599183"/>
                  </a:lnTo>
                  <a:lnTo>
                    <a:pt x="1858938" y="1636263"/>
                  </a:lnTo>
                  <a:lnTo>
                    <a:pt x="1831425" y="1672125"/>
                  </a:lnTo>
                  <a:lnTo>
                    <a:pt x="1802398" y="1706719"/>
                  </a:lnTo>
                  <a:lnTo>
                    <a:pt x="1771905" y="1739995"/>
                  </a:lnTo>
                  <a:lnTo>
                    <a:pt x="1739995" y="1771905"/>
                  </a:lnTo>
                  <a:lnTo>
                    <a:pt x="1706719" y="1802398"/>
                  </a:lnTo>
                  <a:lnTo>
                    <a:pt x="1672125" y="1831425"/>
                  </a:lnTo>
                  <a:lnTo>
                    <a:pt x="1636263" y="1858938"/>
                  </a:lnTo>
                  <a:lnTo>
                    <a:pt x="1599183" y="1884887"/>
                  </a:lnTo>
                  <a:lnTo>
                    <a:pt x="1560933" y="1909221"/>
                  </a:lnTo>
                  <a:lnTo>
                    <a:pt x="1521563" y="1931893"/>
                  </a:lnTo>
                  <a:lnTo>
                    <a:pt x="1481123" y="1952852"/>
                  </a:lnTo>
                  <a:lnTo>
                    <a:pt x="1439662" y="1972050"/>
                  </a:lnTo>
                  <a:lnTo>
                    <a:pt x="1397228" y="1989436"/>
                  </a:lnTo>
                  <a:lnTo>
                    <a:pt x="1353872" y="2004962"/>
                  </a:lnTo>
                  <a:lnTo>
                    <a:pt x="1309643" y="2018578"/>
                  </a:lnTo>
                  <a:lnTo>
                    <a:pt x="1264591" y="2030234"/>
                  </a:lnTo>
                  <a:lnTo>
                    <a:pt x="1218764" y="2039882"/>
                  </a:lnTo>
                  <a:lnTo>
                    <a:pt x="1172212" y="2047472"/>
                  </a:lnTo>
                  <a:lnTo>
                    <a:pt x="1124984" y="2052954"/>
                  </a:lnTo>
                  <a:lnTo>
                    <a:pt x="1077130" y="2056280"/>
                  </a:lnTo>
                  <a:lnTo>
                    <a:pt x="1028700" y="2057400"/>
                  </a:lnTo>
                  <a:lnTo>
                    <a:pt x="980269" y="2056280"/>
                  </a:lnTo>
                  <a:lnTo>
                    <a:pt x="932415" y="2052954"/>
                  </a:lnTo>
                  <a:lnTo>
                    <a:pt x="885187" y="2047472"/>
                  </a:lnTo>
                  <a:lnTo>
                    <a:pt x="838635" y="2039882"/>
                  </a:lnTo>
                  <a:lnTo>
                    <a:pt x="792808" y="2030234"/>
                  </a:lnTo>
                  <a:lnTo>
                    <a:pt x="747756" y="2018578"/>
                  </a:lnTo>
                  <a:lnTo>
                    <a:pt x="703527" y="2004962"/>
                  </a:lnTo>
                  <a:lnTo>
                    <a:pt x="660171" y="1989436"/>
                  </a:lnTo>
                  <a:lnTo>
                    <a:pt x="617737" y="1972050"/>
                  </a:lnTo>
                  <a:lnTo>
                    <a:pt x="576276" y="1952852"/>
                  </a:lnTo>
                  <a:lnTo>
                    <a:pt x="535836" y="1931893"/>
                  </a:lnTo>
                  <a:lnTo>
                    <a:pt x="496466" y="1909221"/>
                  </a:lnTo>
                  <a:lnTo>
                    <a:pt x="458216" y="1884887"/>
                  </a:lnTo>
                  <a:lnTo>
                    <a:pt x="421136" y="1858938"/>
                  </a:lnTo>
                  <a:lnTo>
                    <a:pt x="385274" y="1831425"/>
                  </a:lnTo>
                  <a:lnTo>
                    <a:pt x="350680" y="1802398"/>
                  </a:lnTo>
                  <a:lnTo>
                    <a:pt x="317404" y="1771905"/>
                  </a:lnTo>
                  <a:lnTo>
                    <a:pt x="285494" y="1739995"/>
                  </a:lnTo>
                  <a:lnTo>
                    <a:pt x="255001" y="1706719"/>
                  </a:lnTo>
                  <a:lnTo>
                    <a:pt x="225974" y="1672125"/>
                  </a:lnTo>
                  <a:lnTo>
                    <a:pt x="198461" y="1636263"/>
                  </a:lnTo>
                  <a:lnTo>
                    <a:pt x="172512" y="1599183"/>
                  </a:lnTo>
                  <a:lnTo>
                    <a:pt x="148178" y="1560933"/>
                  </a:lnTo>
                  <a:lnTo>
                    <a:pt x="125506" y="1521563"/>
                  </a:lnTo>
                  <a:lnTo>
                    <a:pt x="104547" y="1481123"/>
                  </a:lnTo>
                  <a:lnTo>
                    <a:pt x="85349" y="1439662"/>
                  </a:lnTo>
                  <a:lnTo>
                    <a:pt x="67963" y="1397228"/>
                  </a:lnTo>
                  <a:lnTo>
                    <a:pt x="52437" y="1353872"/>
                  </a:lnTo>
                  <a:lnTo>
                    <a:pt x="38821" y="1309643"/>
                  </a:lnTo>
                  <a:lnTo>
                    <a:pt x="27165" y="1264591"/>
                  </a:lnTo>
                  <a:lnTo>
                    <a:pt x="17517" y="1218764"/>
                  </a:lnTo>
                  <a:lnTo>
                    <a:pt x="9927" y="1172212"/>
                  </a:lnTo>
                  <a:lnTo>
                    <a:pt x="4445" y="1124984"/>
                  </a:lnTo>
                  <a:lnTo>
                    <a:pt x="1119" y="1077130"/>
                  </a:lnTo>
                  <a:lnTo>
                    <a:pt x="0" y="1028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67000" y="3048000"/>
              <a:ext cx="685800" cy="304800"/>
            </a:xfrm>
            <a:custGeom>
              <a:avLst/>
              <a:gdLst/>
              <a:ahLst/>
              <a:cxnLst/>
              <a:rect l="l" t="t" r="r" b="b"/>
              <a:pathLst>
                <a:path w="685800" h="304800">
                  <a:moveTo>
                    <a:pt x="685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85800" y="304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67000" y="3048000"/>
              <a:ext cx="685800" cy="304800"/>
            </a:xfrm>
            <a:custGeom>
              <a:avLst/>
              <a:gdLst/>
              <a:ahLst/>
              <a:cxnLst/>
              <a:rect l="l" t="t" r="r" b="b"/>
              <a:pathLst>
                <a:path w="685800" h="304800">
                  <a:moveTo>
                    <a:pt x="0" y="304800"/>
                  </a:moveTo>
                  <a:lnTo>
                    <a:pt x="685800" y="3048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28800" y="2133600"/>
            <a:ext cx="685800" cy="457200"/>
          </a:xfrm>
          <a:prstGeom prst="rect">
            <a:avLst/>
          </a:prstGeom>
          <a:solidFill>
            <a:srgbClr val="99CCFF"/>
          </a:solidFill>
          <a:ln w="12700">
            <a:solidFill>
              <a:srgbClr val="00000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9"/>
              </a:spcBef>
            </a:pPr>
            <a:r>
              <a:rPr sz="1400" b="1" dirty="0">
                <a:latin typeface="Times New Roman"/>
                <a:cs typeface="Times New Roman"/>
              </a:rPr>
              <a:t>editor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4994" y="3380613"/>
            <a:ext cx="7791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segment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5394" y="2618358"/>
            <a:ext cx="7791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segment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1228" y="5285994"/>
            <a:ext cx="113601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Se</a:t>
            </a:r>
            <a:r>
              <a:rPr sz="1400" b="1" dirty="0">
                <a:latin typeface="Times New Roman"/>
                <a:cs typeface="Times New Roman"/>
              </a:rPr>
              <a:t>g</a:t>
            </a:r>
            <a:r>
              <a:rPr sz="1400" b="1" spc="-20" dirty="0">
                <a:latin typeface="Times New Roman"/>
                <a:cs typeface="Times New Roman"/>
              </a:rPr>
              <a:t>m</a:t>
            </a:r>
            <a:r>
              <a:rPr sz="1400" b="1" dirty="0">
                <a:latin typeface="Times New Roman"/>
                <a:cs typeface="Times New Roman"/>
              </a:rPr>
              <a:t>ent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135" dirty="0">
                <a:latin typeface="Times New Roman"/>
                <a:cs typeface="Times New Roman"/>
              </a:rPr>
              <a:t>T</a:t>
            </a:r>
            <a:r>
              <a:rPr sz="1400" b="1" dirty="0">
                <a:latin typeface="Times New Roman"/>
                <a:cs typeface="Times New Roman"/>
              </a:rPr>
              <a:t>a</a:t>
            </a:r>
            <a:r>
              <a:rPr sz="1400" b="1" spc="-5" dirty="0">
                <a:latin typeface="Times New Roman"/>
                <a:cs typeface="Times New Roman"/>
              </a:rPr>
              <a:t>b</a:t>
            </a:r>
            <a:r>
              <a:rPr sz="1400" b="1" dirty="0">
                <a:latin typeface="Times New Roman"/>
                <a:cs typeface="Times New Roman"/>
              </a:rPr>
              <a:t>le</a:t>
            </a:r>
            <a:endParaRPr sz="14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latin typeface="Times New Roman"/>
                <a:cs typeface="Times New Roman"/>
              </a:rPr>
              <a:t>process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P2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84450" y="3956050"/>
            <a:ext cx="2070100" cy="2070100"/>
            <a:chOff x="2584450" y="3956050"/>
            <a:chExt cx="2070100" cy="2070100"/>
          </a:xfrm>
        </p:grpSpPr>
        <p:sp>
          <p:nvSpPr>
            <p:cNvPr id="14" name="object 14"/>
            <p:cNvSpPr/>
            <p:nvPr/>
          </p:nvSpPr>
          <p:spPr>
            <a:xfrm>
              <a:off x="2590800" y="396240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1028700" y="0"/>
                  </a:moveTo>
                  <a:lnTo>
                    <a:pt x="980264" y="1119"/>
                  </a:lnTo>
                  <a:lnTo>
                    <a:pt x="932405" y="4446"/>
                  </a:lnTo>
                  <a:lnTo>
                    <a:pt x="885172" y="9930"/>
                  </a:lnTo>
                  <a:lnTo>
                    <a:pt x="838614" y="17521"/>
                  </a:lnTo>
                  <a:lnTo>
                    <a:pt x="792783" y="27172"/>
                  </a:lnTo>
                  <a:lnTo>
                    <a:pt x="747725" y="38831"/>
                  </a:lnTo>
                  <a:lnTo>
                    <a:pt x="703493" y="52449"/>
                  </a:lnTo>
                  <a:lnTo>
                    <a:pt x="660133" y="67978"/>
                  </a:lnTo>
                  <a:lnTo>
                    <a:pt x="617697" y="85368"/>
                  </a:lnTo>
                  <a:lnTo>
                    <a:pt x="576233" y="104569"/>
                  </a:lnTo>
                  <a:lnTo>
                    <a:pt x="535791" y="125532"/>
                  </a:lnTo>
                  <a:lnTo>
                    <a:pt x="496420" y="148207"/>
                  </a:lnTo>
                  <a:lnTo>
                    <a:pt x="458169" y="172546"/>
                  </a:lnTo>
                  <a:lnTo>
                    <a:pt x="421088" y="198497"/>
                  </a:lnTo>
                  <a:lnTo>
                    <a:pt x="385226" y="226014"/>
                  </a:lnTo>
                  <a:lnTo>
                    <a:pt x="350633" y="255044"/>
                  </a:lnTo>
                  <a:lnTo>
                    <a:pt x="317358" y="285541"/>
                  </a:lnTo>
                  <a:lnTo>
                    <a:pt x="285450" y="317453"/>
                  </a:lnTo>
                  <a:lnTo>
                    <a:pt x="254958" y="350731"/>
                  </a:lnTo>
                  <a:lnTo>
                    <a:pt x="225933" y="385327"/>
                  </a:lnTo>
                  <a:lnTo>
                    <a:pt x="198422" y="421190"/>
                  </a:lnTo>
                  <a:lnTo>
                    <a:pt x="172477" y="458272"/>
                  </a:lnTo>
                  <a:lnTo>
                    <a:pt x="148145" y="496522"/>
                  </a:lnTo>
                  <a:lnTo>
                    <a:pt x="125477" y="535892"/>
                  </a:lnTo>
                  <a:lnTo>
                    <a:pt x="104521" y="576331"/>
                  </a:lnTo>
                  <a:lnTo>
                    <a:pt x="85327" y="617791"/>
                  </a:lnTo>
                  <a:lnTo>
                    <a:pt x="67944" y="660223"/>
                  </a:lnTo>
                  <a:lnTo>
                    <a:pt x="52422" y="703575"/>
                  </a:lnTo>
                  <a:lnTo>
                    <a:pt x="38810" y="747800"/>
                  </a:lnTo>
                  <a:lnTo>
                    <a:pt x="27156" y="792848"/>
                  </a:lnTo>
                  <a:lnTo>
                    <a:pt x="17511" y="838669"/>
                  </a:lnTo>
                  <a:lnTo>
                    <a:pt x="9924" y="885215"/>
                  </a:lnTo>
                  <a:lnTo>
                    <a:pt x="4443" y="932434"/>
                  </a:lnTo>
                  <a:lnTo>
                    <a:pt x="1119" y="980279"/>
                  </a:lnTo>
                  <a:lnTo>
                    <a:pt x="0" y="1028700"/>
                  </a:lnTo>
                  <a:lnTo>
                    <a:pt x="1119" y="1077130"/>
                  </a:lnTo>
                  <a:lnTo>
                    <a:pt x="4445" y="1124984"/>
                  </a:lnTo>
                  <a:lnTo>
                    <a:pt x="9927" y="1172212"/>
                  </a:lnTo>
                  <a:lnTo>
                    <a:pt x="17517" y="1218764"/>
                  </a:lnTo>
                  <a:lnTo>
                    <a:pt x="27165" y="1264591"/>
                  </a:lnTo>
                  <a:lnTo>
                    <a:pt x="38821" y="1309643"/>
                  </a:lnTo>
                  <a:lnTo>
                    <a:pt x="52437" y="1353872"/>
                  </a:lnTo>
                  <a:lnTo>
                    <a:pt x="67963" y="1397228"/>
                  </a:lnTo>
                  <a:lnTo>
                    <a:pt x="85349" y="1439662"/>
                  </a:lnTo>
                  <a:lnTo>
                    <a:pt x="104547" y="1481123"/>
                  </a:lnTo>
                  <a:lnTo>
                    <a:pt x="125506" y="1521563"/>
                  </a:lnTo>
                  <a:lnTo>
                    <a:pt x="148178" y="1560933"/>
                  </a:lnTo>
                  <a:lnTo>
                    <a:pt x="172512" y="1599183"/>
                  </a:lnTo>
                  <a:lnTo>
                    <a:pt x="198461" y="1636263"/>
                  </a:lnTo>
                  <a:lnTo>
                    <a:pt x="225974" y="1672125"/>
                  </a:lnTo>
                  <a:lnTo>
                    <a:pt x="255001" y="1706719"/>
                  </a:lnTo>
                  <a:lnTo>
                    <a:pt x="285494" y="1739995"/>
                  </a:lnTo>
                  <a:lnTo>
                    <a:pt x="317404" y="1771905"/>
                  </a:lnTo>
                  <a:lnTo>
                    <a:pt x="350680" y="1802398"/>
                  </a:lnTo>
                  <a:lnTo>
                    <a:pt x="385274" y="1831425"/>
                  </a:lnTo>
                  <a:lnTo>
                    <a:pt x="421136" y="1858938"/>
                  </a:lnTo>
                  <a:lnTo>
                    <a:pt x="458216" y="1884887"/>
                  </a:lnTo>
                  <a:lnTo>
                    <a:pt x="496466" y="1909221"/>
                  </a:lnTo>
                  <a:lnTo>
                    <a:pt x="535836" y="1931893"/>
                  </a:lnTo>
                  <a:lnTo>
                    <a:pt x="576276" y="1952852"/>
                  </a:lnTo>
                  <a:lnTo>
                    <a:pt x="617737" y="1972050"/>
                  </a:lnTo>
                  <a:lnTo>
                    <a:pt x="660171" y="1989436"/>
                  </a:lnTo>
                  <a:lnTo>
                    <a:pt x="703527" y="2004962"/>
                  </a:lnTo>
                  <a:lnTo>
                    <a:pt x="747756" y="2018578"/>
                  </a:lnTo>
                  <a:lnTo>
                    <a:pt x="792808" y="2030234"/>
                  </a:lnTo>
                  <a:lnTo>
                    <a:pt x="838635" y="2039882"/>
                  </a:lnTo>
                  <a:lnTo>
                    <a:pt x="885187" y="2047472"/>
                  </a:lnTo>
                  <a:lnTo>
                    <a:pt x="932415" y="2052954"/>
                  </a:lnTo>
                  <a:lnTo>
                    <a:pt x="980269" y="2056280"/>
                  </a:lnTo>
                  <a:lnTo>
                    <a:pt x="1028700" y="2057400"/>
                  </a:lnTo>
                  <a:lnTo>
                    <a:pt x="1077130" y="2056280"/>
                  </a:lnTo>
                  <a:lnTo>
                    <a:pt x="1124984" y="2052954"/>
                  </a:lnTo>
                  <a:lnTo>
                    <a:pt x="1172212" y="2047472"/>
                  </a:lnTo>
                  <a:lnTo>
                    <a:pt x="1218764" y="2039882"/>
                  </a:lnTo>
                  <a:lnTo>
                    <a:pt x="1264591" y="2030234"/>
                  </a:lnTo>
                  <a:lnTo>
                    <a:pt x="1309643" y="2018578"/>
                  </a:lnTo>
                  <a:lnTo>
                    <a:pt x="1353872" y="2004962"/>
                  </a:lnTo>
                  <a:lnTo>
                    <a:pt x="1397228" y="1989436"/>
                  </a:lnTo>
                  <a:lnTo>
                    <a:pt x="1439662" y="1972050"/>
                  </a:lnTo>
                  <a:lnTo>
                    <a:pt x="1481123" y="1952852"/>
                  </a:lnTo>
                  <a:lnTo>
                    <a:pt x="1521563" y="1931893"/>
                  </a:lnTo>
                  <a:lnTo>
                    <a:pt x="1560933" y="1909221"/>
                  </a:lnTo>
                  <a:lnTo>
                    <a:pt x="1599183" y="1884887"/>
                  </a:lnTo>
                  <a:lnTo>
                    <a:pt x="1636263" y="1858938"/>
                  </a:lnTo>
                  <a:lnTo>
                    <a:pt x="1672125" y="1831425"/>
                  </a:lnTo>
                  <a:lnTo>
                    <a:pt x="1706719" y="1802398"/>
                  </a:lnTo>
                  <a:lnTo>
                    <a:pt x="1739995" y="1771905"/>
                  </a:lnTo>
                  <a:lnTo>
                    <a:pt x="1771905" y="1739995"/>
                  </a:lnTo>
                  <a:lnTo>
                    <a:pt x="1802398" y="1706719"/>
                  </a:lnTo>
                  <a:lnTo>
                    <a:pt x="1831425" y="1672125"/>
                  </a:lnTo>
                  <a:lnTo>
                    <a:pt x="1858938" y="1636263"/>
                  </a:lnTo>
                  <a:lnTo>
                    <a:pt x="1884887" y="1599183"/>
                  </a:lnTo>
                  <a:lnTo>
                    <a:pt x="1909221" y="1560933"/>
                  </a:lnTo>
                  <a:lnTo>
                    <a:pt x="1931893" y="1521563"/>
                  </a:lnTo>
                  <a:lnTo>
                    <a:pt x="1952852" y="1481123"/>
                  </a:lnTo>
                  <a:lnTo>
                    <a:pt x="1972050" y="1439662"/>
                  </a:lnTo>
                  <a:lnTo>
                    <a:pt x="1989436" y="1397228"/>
                  </a:lnTo>
                  <a:lnTo>
                    <a:pt x="2004962" y="1353872"/>
                  </a:lnTo>
                  <a:lnTo>
                    <a:pt x="2018578" y="1309643"/>
                  </a:lnTo>
                  <a:lnTo>
                    <a:pt x="2030234" y="1264591"/>
                  </a:lnTo>
                  <a:lnTo>
                    <a:pt x="2039882" y="1218764"/>
                  </a:lnTo>
                  <a:lnTo>
                    <a:pt x="2047472" y="1172212"/>
                  </a:lnTo>
                  <a:lnTo>
                    <a:pt x="2052954" y="1124984"/>
                  </a:lnTo>
                  <a:lnTo>
                    <a:pt x="2056280" y="1077130"/>
                  </a:lnTo>
                  <a:lnTo>
                    <a:pt x="2057400" y="1028700"/>
                  </a:lnTo>
                  <a:lnTo>
                    <a:pt x="2056279" y="980269"/>
                  </a:lnTo>
                  <a:lnTo>
                    <a:pt x="2052952" y="932415"/>
                  </a:lnTo>
                  <a:lnTo>
                    <a:pt x="2047467" y="885187"/>
                  </a:lnTo>
                  <a:lnTo>
                    <a:pt x="2039875" y="838635"/>
                  </a:lnTo>
                  <a:lnTo>
                    <a:pt x="2030224" y="792808"/>
                  </a:lnTo>
                  <a:lnTo>
                    <a:pt x="2018564" y="747756"/>
                  </a:lnTo>
                  <a:lnTo>
                    <a:pt x="2004944" y="703527"/>
                  </a:lnTo>
                  <a:lnTo>
                    <a:pt x="1989415" y="660171"/>
                  </a:lnTo>
                  <a:lnTo>
                    <a:pt x="1972025" y="617737"/>
                  </a:lnTo>
                  <a:lnTo>
                    <a:pt x="1952823" y="576276"/>
                  </a:lnTo>
                  <a:lnTo>
                    <a:pt x="1931861" y="535836"/>
                  </a:lnTo>
                  <a:lnTo>
                    <a:pt x="1909185" y="496466"/>
                  </a:lnTo>
                  <a:lnTo>
                    <a:pt x="1884847" y="458216"/>
                  </a:lnTo>
                  <a:lnTo>
                    <a:pt x="1858896" y="421136"/>
                  </a:lnTo>
                  <a:lnTo>
                    <a:pt x="1831381" y="385274"/>
                  </a:lnTo>
                  <a:lnTo>
                    <a:pt x="1802351" y="350680"/>
                  </a:lnTo>
                  <a:lnTo>
                    <a:pt x="1771856" y="317404"/>
                  </a:lnTo>
                  <a:lnTo>
                    <a:pt x="1739945" y="285494"/>
                  </a:lnTo>
                  <a:lnTo>
                    <a:pt x="1706667" y="255001"/>
                  </a:lnTo>
                  <a:lnTo>
                    <a:pt x="1672073" y="225974"/>
                  </a:lnTo>
                  <a:lnTo>
                    <a:pt x="1636211" y="198461"/>
                  </a:lnTo>
                  <a:lnTo>
                    <a:pt x="1599131" y="172512"/>
                  </a:lnTo>
                  <a:lnTo>
                    <a:pt x="1560882" y="148178"/>
                  </a:lnTo>
                  <a:lnTo>
                    <a:pt x="1521514" y="125506"/>
                  </a:lnTo>
                  <a:lnTo>
                    <a:pt x="1481075" y="104547"/>
                  </a:lnTo>
                  <a:lnTo>
                    <a:pt x="1439616" y="85349"/>
                  </a:lnTo>
                  <a:lnTo>
                    <a:pt x="1397185" y="67963"/>
                  </a:lnTo>
                  <a:lnTo>
                    <a:pt x="1353833" y="52437"/>
                  </a:lnTo>
                  <a:lnTo>
                    <a:pt x="1309608" y="38821"/>
                  </a:lnTo>
                  <a:lnTo>
                    <a:pt x="1264559" y="27165"/>
                  </a:lnTo>
                  <a:lnTo>
                    <a:pt x="1218737" y="17517"/>
                  </a:lnTo>
                  <a:lnTo>
                    <a:pt x="1172190" y="9927"/>
                  </a:lnTo>
                  <a:lnTo>
                    <a:pt x="1124967" y="4445"/>
                  </a:lnTo>
                  <a:lnTo>
                    <a:pt x="1077117" y="1119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90800" y="396240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0" y="1028700"/>
                  </a:moveTo>
                  <a:lnTo>
                    <a:pt x="1119" y="980269"/>
                  </a:lnTo>
                  <a:lnTo>
                    <a:pt x="4445" y="932415"/>
                  </a:lnTo>
                  <a:lnTo>
                    <a:pt x="9927" y="885187"/>
                  </a:lnTo>
                  <a:lnTo>
                    <a:pt x="17517" y="838635"/>
                  </a:lnTo>
                  <a:lnTo>
                    <a:pt x="27165" y="792808"/>
                  </a:lnTo>
                  <a:lnTo>
                    <a:pt x="38821" y="747756"/>
                  </a:lnTo>
                  <a:lnTo>
                    <a:pt x="52437" y="703527"/>
                  </a:lnTo>
                  <a:lnTo>
                    <a:pt x="67963" y="660171"/>
                  </a:lnTo>
                  <a:lnTo>
                    <a:pt x="85349" y="617737"/>
                  </a:lnTo>
                  <a:lnTo>
                    <a:pt x="104547" y="576276"/>
                  </a:lnTo>
                  <a:lnTo>
                    <a:pt x="125506" y="535836"/>
                  </a:lnTo>
                  <a:lnTo>
                    <a:pt x="148178" y="496466"/>
                  </a:lnTo>
                  <a:lnTo>
                    <a:pt x="172512" y="458216"/>
                  </a:lnTo>
                  <a:lnTo>
                    <a:pt x="198461" y="421136"/>
                  </a:lnTo>
                  <a:lnTo>
                    <a:pt x="225974" y="385274"/>
                  </a:lnTo>
                  <a:lnTo>
                    <a:pt x="255001" y="350680"/>
                  </a:lnTo>
                  <a:lnTo>
                    <a:pt x="285494" y="317404"/>
                  </a:lnTo>
                  <a:lnTo>
                    <a:pt x="317404" y="285494"/>
                  </a:lnTo>
                  <a:lnTo>
                    <a:pt x="350680" y="255001"/>
                  </a:lnTo>
                  <a:lnTo>
                    <a:pt x="385274" y="225974"/>
                  </a:lnTo>
                  <a:lnTo>
                    <a:pt x="421136" y="198461"/>
                  </a:lnTo>
                  <a:lnTo>
                    <a:pt x="458216" y="172512"/>
                  </a:lnTo>
                  <a:lnTo>
                    <a:pt x="496466" y="148178"/>
                  </a:lnTo>
                  <a:lnTo>
                    <a:pt x="535836" y="125506"/>
                  </a:lnTo>
                  <a:lnTo>
                    <a:pt x="576276" y="104547"/>
                  </a:lnTo>
                  <a:lnTo>
                    <a:pt x="617737" y="85349"/>
                  </a:lnTo>
                  <a:lnTo>
                    <a:pt x="660171" y="67963"/>
                  </a:lnTo>
                  <a:lnTo>
                    <a:pt x="703527" y="52437"/>
                  </a:lnTo>
                  <a:lnTo>
                    <a:pt x="747756" y="38821"/>
                  </a:lnTo>
                  <a:lnTo>
                    <a:pt x="792808" y="27165"/>
                  </a:lnTo>
                  <a:lnTo>
                    <a:pt x="838635" y="17517"/>
                  </a:lnTo>
                  <a:lnTo>
                    <a:pt x="885187" y="9927"/>
                  </a:lnTo>
                  <a:lnTo>
                    <a:pt x="932415" y="4445"/>
                  </a:lnTo>
                  <a:lnTo>
                    <a:pt x="980269" y="1119"/>
                  </a:lnTo>
                  <a:lnTo>
                    <a:pt x="1028700" y="0"/>
                  </a:lnTo>
                  <a:lnTo>
                    <a:pt x="1077130" y="1119"/>
                  </a:lnTo>
                  <a:lnTo>
                    <a:pt x="1124984" y="4446"/>
                  </a:lnTo>
                  <a:lnTo>
                    <a:pt x="1172212" y="9930"/>
                  </a:lnTo>
                  <a:lnTo>
                    <a:pt x="1218764" y="17521"/>
                  </a:lnTo>
                  <a:lnTo>
                    <a:pt x="1264591" y="27172"/>
                  </a:lnTo>
                  <a:lnTo>
                    <a:pt x="1309643" y="38831"/>
                  </a:lnTo>
                  <a:lnTo>
                    <a:pt x="1353872" y="52449"/>
                  </a:lnTo>
                  <a:lnTo>
                    <a:pt x="1397228" y="67978"/>
                  </a:lnTo>
                  <a:lnTo>
                    <a:pt x="1439662" y="85368"/>
                  </a:lnTo>
                  <a:lnTo>
                    <a:pt x="1481123" y="104569"/>
                  </a:lnTo>
                  <a:lnTo>
                    <a:pt x="1521563" y="125532"/>
                  </a:lnTo>
                  <a:lnTo>
                    <a:pt x="1560933" y="148207"/>
                  </a:lnTo>
                  <a:lnTo>
                    <a:pt x="1599183" y="172546"/>
                  </a:lnTo>
                  <a:lnTo>
                    <a:pt x="1636263" y="198497"/>
                  </a:lnTo>
                  <a:lnTo>
                    <a:pt x="1672125" y="226014"/>
                  </a:lnTo>
                  <a:lnTo>
                    <a:pt x="1706719" y="255044"/>
                  </a:lnTo>
                  <a:lnTo>
                    <a:pt x="1739995" y="285541"/>
                  </a:lnTo>
                  <a:lnTo>
                    <a:pt x="1771905" y="317453"/>
                  </a:lnTo>
                  <a:lnTo>
                    <a:pt x="1802398" y="350731"/>
                  </a:lnTo>
                  <a:lnTo>
                    <a:pt x="1831425" y="385327"/>
                  </a:lnTo>
                  <a:lnTo>
                    <a:pt x="1858938" y="421190"/>
                  </a:lnTo>
                  <a:lnTo>
                    <a:pt x="1884887" y="458272"/>
                  </a:lnTo>
                  <a:lnTo>
                    <a:pt x="1909221" y="496522"/>
                  </a:lnTo>
                  <a:lnTo>
                    <a:pt x="1931893" y="535892"/>
                  </a:lnTo>
                  <a:lnTo>
                    <a:pt x="1952852" y="576331"/>
                  </a:lnTo>
                  <a:lnTo>
                    <a:pt x="1972050" y="617791"/>
                  </a:lnTo>
                  <a:lnTo>
                    <a:pt x="1989436" y="660223"/>
                  </a:lnTo>
                  <a:lnTo>
                    <a:pt x="2004962" y="703575"/>
                  </a:lnTo>
                  <a:lnTo>
                    <a:pt x="2018578" y="747800"/>
                  </a:lnTo>
                  <a:lnTo>
                    <a:pt x="2030234" y="792848"/>
                  </a:lnTo>
                  <a:lnTo>
                    <a:pt x="2039882" y="838669"/>
                  </a:lnTo>
                  <a:lnTo>
                    <a:pt x="2047472" y="885215"/>
                  </a:lnTo>
                  <a:lnTo>
                    <a:pt x="2052954" y="932434"/>
                  </a:lnTo>
                  <a:lnTo>
                    <a:pt x="2056280" y="980279"/>
                  </a:lnTo>
                  <a:lnTo>
                    <a:pt x="2057400" y="1028700"/>
                  </a:lnTo>
                  <a:lnTo>
                    <a:pt x="2056280" y="1077130"/>
                  </a:lnTo>
                  <a:lnTo>
                    <a:pt x="2052954" y="1124984"/>
                  </a:lnTo>
                  <a:lnTo>
                    <a:pt x="2047472" y="1172212"/>
                  </a:lnTo>
                  <a:lnTo>
                    <a:pt x="2039882" y="1218764"/>
                  </a:lnTo>
                  <a:lnTo>
                    <a:pt x="2030234" y="1264591"/>
                  </a:lnTo>
                  <a:lnTo>
                    <a:pt x="2018578" y="1309643"/>
                  </a:lnTo>
                  <a:lnTo>
                    <a:pt x="2004962" y="1353872"/>
                  </a:lnTo>
                  <a:lnTo>
                    <a:pt x="1989436" y="1397228"/>
                  </a:lnTo>
                  <a:lnTo>
                    <a:pt x="1972050" y="1439662"/>
                  </a:lnTo>
                  <a:lnTo>
                    <a:pt x="1952852" y="1481123"/>
                  </a:lnTo>
                  <a:lnTo>
                    <a:pt x="1931893" y="1521563"/>
                  </a:lnTo>
                  <a:lnTo>
                    <a:pt x="1909221" y="1560933"/>
                  </a:lnTo>
                  <a:lnTo>
                    <a:pt x="1884887" y="1599183"/>
                  </a:lnTo>
                  <a:lnTo>
                    <a:pt x="1858938" y="1636263"/>
                  </a:lnTo>
                  <a:lnTo>
                    <a:pt x="1831425" y="1672125"/>
                  </a:lnTo>
                  <a:lnTo>
                    <a:pt x="1802398" y="1706719"/>
                  </a:lnTo>
                  <a:lnTo>
                    <a:pt x="1771905" y="1739995"/>
                  </a:lnTo>
                  <a:lnTo>
                    <a:pt x="1739995" y="1771905"/>
                  </a:lnTo>
                  <a:lnTo>
                    <a:pt x="1706719" y="1802398"/>
                  </a:lnTo>
                  <a:lnTo>
                    <a:pt x="1672125" y="1831425"/>
                  </a:lnTo>
                  <a:lnTo>
                    <a:pt x="1636263" y="1858938"/>
                  </a:lnTo>
                  <a:lnTo>
                    <a:pt x="1599183" y="1884887"/>
                  </a:lnTo>
                  <a:lnTo>
                    <a:pt x="1560933" y="1909221"/>
                  </a:lnTo>
                  <a:lnTo>
                    <a:pt x="1521563" y="1931893"/>
                  </a:lnTo>
                  <a:lnTo>
                    <a:pt x="1481123" y="1952852"/>
                  </a:lnTo>
                  <a:lnTo>
                    <a:pt x="1439662" y="1972050"/>
                  </a:lnTo>
                  <a:lnTo>
                    <a:pt x="1397228" y="1989436"/>
                  </a:lnTo>
                  <a:lnTo>
                    <a:pt x="1353872" y="2004962"/>
                  </a:lnTo>
                  <a:lnTo>
                    <a:pt x="1309643" y="2018578"/>
                  </a:lnTo>
                  <a:lnTo>
                    <a:pt x="1264591" y="2030234"/>
                  </a:lnTo>
                  <a:lnTo>
                    <a:pt x="1218764" y="2039882"/>
                  </a:lnTo>
                  <a:lnTo>
                    <a:pt x="1172212" y="2047472"/>
                  </a:lnTo>
                  <a:lnTo>
                    <a:pt x="1124984" y="2052954"/>
                  </a:lnTo>
                  <a:lnTo>
                    <a:pt x="1077130" y="2056280"/>
                  </a:lnTo>
                  <a:lnTo>
                    <a:pt x="1028700" y="2057400"/>
                  </a:lnTo>
                  <a:lnTo>
                    <a:pt x="980269" y="2056280"/>
                  </a:lnTo>
                  <a:lnTo>
                    <a:pt x="932415" y="2052954"/>
                  </a:lnTo>
                  <a:lnTo>
                    <a:pt x="885187" y="2047472"/>
                  </a:lnTo>
                  <a:lnTo>
                    <a:pt x="838635" y="2039882"/>
                  </a:lnTo>
                  <a:lnTo>
                    <a:pt x="792808" y="2030234"/>
                  </a:lnTo>
                  <a:lnTo>
                    <a:pt x="747756" y="2018578"/>
                  </a:lnTo>
                  <a:lnTo>
                    <a:pt x="703527" y="2004962"/>
                  </a:lnTo>
                  <a:lnTo>
                    <a:pt x="660171" y="1989436"/>
                  </a:lnTo>
                  <a:lnTo>
                    <a:pt x="617737" y="1972050"/>
                  </a:lnTo>
                  <a:lnTo>
                    <a:pt x="576276" y="1952852"/>
                  </a:lnTo>
                  <a:lnTo>
                    <a:pt x="535836" y="1931893"/>
                  </a:lnTo>
                  <a:lnTo>
                    <a:pt x="496466" y="1909221"/>
                  </a:lnTo>
                  <a:lnTo>
                    <a:pt x="458216" y="1884887"/>
                  </a:lnTo>
                  <a:lnTo>
                    <a:pt x="421136" y="1858938"/>
                  </a:lnTo>
                  <a:lnTo>
                    <a:pt x="385274" y="1831425"/>
                  </a:lnTo>
                  <a:lnTo>
                    <a:pt x="350680" y="1802398"/>
                  </a:lnTo>
                  <a:lnTo>
                    <a:pt x="317404" y="1771905"/>
                  </a:lnTo>
                  <a:lnTo>
                    <a:pt x="285494" y="1739995"/>
                  </a:lnTo>
                  <a:lnTo>
                    <a:pt x="255001" y="1706719"/>
                  </a:lnTo>
                  <a:lnTo>
                    <a:pt x="225974" y="1672125"/>
                  </a:lnTo>
                  <a:lnTo>
                    <a:pt x="198461" y="1636263"/>
                  </a:lnTo>
                  <a:lnTo>
                    <a:pt x="172512" y="1599183"/>
                  </a:lnTo>
                  <a:lnTo>
                    <a:pt x="148178" y="1560933"/>
                  </a:lnTo>
                  <a:lnTo>
                    <a:pt x="125506" y="1521563"/>
                  </a:lnTo>
                  <a:lnTo>
                    <a:pt x="104547" y="1481123"/>
                  </a:lnTo>
                  <a:lnTo>
                    <a:pt x="85349" y="1439662"/>
                  </a:lnTo>
                  <a:lnTo>
                    <a:pt x="67963" y="1397228"/>
                  </a:lnTo>
                  <a:lnTo>
                    <a:pt x="52437" y="1353872"/>
                  </a:lnTo>
                  <a:lnTo>
                    <a:pt x="38821" y="1309643"/>
                  </a:lnTo>
                  <a:lnTo>
                    <a:pt x="27165" y="1264591"/>
                  </a:lnTo>
                  <a:lnTo>
                    <a:pt x="17517" y="1218764"/>
                  </a:lnTo>
                  <a:lnTo>
                    <a:pt x="9927" y="1172212"/>
                  </a:lnTo>
                  <a:lnTo>
                    <a:pt x="4445" y="1124984"/>
                  </a:lnTo>
                  <a:lnTo>
                    <a:pt x="1119" y="1077130"/>
                  </a:lnTo>
                  <a:lnTo>
                    <a:pt x="0" y="10287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600" y="51054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685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85800" y="5334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57600" y="5105400"/>
              <a:ext cx="685800" cy="533400"/>
            </a:xfrm>
            <a:custGeom>
              <a:avLst/>
              <a:gdLst/>
              <a:ahLst/>
              <a:cxnLst/>
              <a:rect l="l" t="t" r="r" b="b"/>
              <a:pathLst>
                <a:path w="685800" h="533400">
                  <a:moveTo>
                    <a:pt x="0" y="533400"/>
                  </a:moveTo>
                  <a:lnTo>
                    <a:pt x="685800" y="5334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819400" y="4419600"/>
            <a:ext cx="685800" cy="457200"/>
          </a:xfrm>
          <a:prstGeom prst="rect">
            <a:avLst/>
          </a:prstGeom>
          <a:solidFill>
            <a:srgbClr val="99CCFF"/>
          </a:solidFill>
          <a:ln w="12700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25"/>
              </a:spcBef>
            </a:pPr>
            <a:r>
              <a:rPr sz="1400" b="1" dirty="0">
                <a:latin typeface="Times New Roman"/>
                <a:cs typeface="Times New Roman"/>
              </a:rPr>
              <a:t>editor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13175" y="4828794"/>
            <a:ext cx="49275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d</a:t>
            </a:r>
            <a:r>
              <a:rPr sz="1400" b="1" dirty="0">
                <a:latin typeface="Times New Roman"/>
                <a:cs typeface="Times New Roman"/>
              </a:rPr>
              <a:t>ata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55975" y="5667247"/>
            <a:ext cx="7791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segment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45994" y="4904994"/>
            <a:ext cx="7791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Times New Roman"/>
                <a:cs typeface="Times New Roman"/>
              </a:rPr>
              <a:t>segment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50594" y="5514543"/>
            <a:ext cx="12833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Logical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Memory</a:t>
            </a:r>
            <a:endParaRPr sz="14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1400" b="1" spc="-5" dirty="0">
                <a:latin typeface="Times New Roman"/>
                <a:cs typeface="Times New Roman"/>
              </a:rPr>
              <a:t>process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P2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356449"/>
              </p:ext>
            </p:extLst>
          </p:nvPr>
        </p:nvGraphicFramePr>
        <p:xfrm>
          <a:off x="8001000" y="1974850"/>
          <a:ext cx="685800" cy="3968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1095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ts val="126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editor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1145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11811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>
                        <a:lnSpc>
                          <a:spcPts val="1864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R="118110" algn="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2745994" y="2770758"/>
            <a:ext cx="49275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d</a:t>
            </a:r>
            <a:r>
              <a:rPr sz="1400" b="1" dirty="0">
                <a:latin typeface="Times New Roman"/>
                <a:cs typeface="Times New Roman"/>
              </a:rPr>
              <a:t>ata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endParaRPr sz="1400" dirty="0">
              <a:latin typeface="Times New Roman"/>
              <a:cs typeface="Times New Roman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5022850" y="4579873"/>
          <a:ext cx="1367790" cy="54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364">
                <a:tc>
                  <a:txBody>
                    <a:bodyPr/>
                    <a:lstStyle/>
                    <a:p>
                      <a:pPr marL="40005">
                        <a:lnSpc>
                          <a:spcPts val="1335"/>
                        </a:lnSpc>
                      </a:pPr>
                      <a:r>
                        <a:rPr sz="1150" b="1" spc="70" dirty="0">
                          <a:latin typeface="Arial"/>
                          <a:cs typeface="Arial"/>
                        </a:rPr>
                        <a:t>Limit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335"/>
                        </a:lnSpc>
                      </a:pPr>
                      <a:r>
                        <a:rPr sz="1150" b="1" spc="125" dirty="0">
                          <a:latin typeface="Arial"/>
                          <a:cs typeface="Arial"/>
                        </a:rPr>
                        <a:t>Base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41">
                <a:tc>
                  <a:txBody>
                    <a:bodyPr/>
                    <a:lstStyle/>
                    <a:p>
                      <a:pPr marR="29209" algn="r">
                        <a:lnSpc>
                          <a:spcPts val="1310"/>
                        </a:lnSpc>
                      </a:pPr>
                      <a:r>
                        <a:rPr sz="1150" b="1" spc="110" dirty="0">
                          <a:latin typeface="Arial"/>
                          <a:cs typeface="Arial"/>
                        </a:rPr>
                        <a:t>25286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4" algn="r">
                        <a:lnSpc>
                          <a:spcPts val="1310"/>
                        </a:lnSpc>
                      </a:pPr>
                      <a:r>
                        <a:rPr sz="1150" b="1" spc="110" dirty="0">
                          <a:latin typeface="Arial"/>
                          <a:cs typeface="Arial"/>
                        </a:rPr>
                        <a:t>43602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365">
                <a:tc>
                  <a:txBody>
                    <a:bodyPr/>
                    <a:lstStyle/>
                    <a:p>
                      <a:pPr marR="29209" algn="r">
                        <a:lnSpc>
                          <a:spcPts val="1335"/>
                        </a:lnSpc>
                      </a:pPr>
                      <a:r>
                        <a:rPr sz="1150" b="1" spc="110" dirty="0">
                          <a:latin typeface="Arial"/>
                          <a:cs typeface="Arial"/>
                        </a:rPr>
                        <a:t>8850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4" algn="r">
                        <a:lnSpc>
                          <a:spcPts val="1335"/>
                        </a:lnSpc>
                      </a:pPr>
                      <a:r>
                        <a:rPr sz="1150" b="1" spc="110" dirty="0">
                          <a:latin typeface="Arial"/>
                          <a:cs typeface="Arial"/>
                        </a:rPr>
                        <a:t>90003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4803775" y="4751070"/>
            <a:ext cx="1397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80"/>
              </a:lnSpc>
            </a:pPr>
            <a:r>
              <a:rPr sz="1800" b="1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56428" y="2846958"/>
            <a:ext cx="113601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" marR="5080" indent="-86995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Se</a:t>
            </a:r>
            <a:r>
              <a:rPr sz="1400" b="1" dirty="0">
                <a:latin typeface="Times New Roman"/>
                <a:cs typeface="Times New Roman"/>
              </a:rPr>
              <a:t>g</a:t>
            </a:r>
            <a:r>
              <a:rPr sz="1400" b="1" spc="-20" dirty="0">
                <a:latin typeface="Times New Roman"/>
                <a:cs typeface="Times New Roman"/>
              </a:rPr>
              <a:t>m</a:t>
            </a:r>
            <a:r>
              <a:rPr sz="1400" b="1" dirty="0">
                <a:latin typeface="Times New Roman"/>
                <a:cs typeface="Times New Roman"/>
              </a:rPr>
              <a:t>ent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135" dirty="0">
                <a:latin typeface="Times New Roman"/>
                <a:cs typeface="Times New Roman"/>
              </a:rPr>
              <a:t>T</a:t>
            </a:r>
            <a:r>
              <a:rPr sz="1400" b="1" dirty="0">
                <a:latin typeface="Times New Roman"/>
                <a:cs typeface="Times New Roman"/>
              </a:rPr>
              <a:t>a</a:t>
            </a:r>
            <a:r>
              <a:rPr sz="1400" b="1" spc="-5" dirty="0">
                <a:latin typeface="Times New Roman"/>
                <a:cs typeface="Times New Roman"/>
              </a:rPr>
              <a:t>b</a:t>
            </a:r>
            <a:r>
              <a:rPr sz="1400" b="1" dirty="0">
                <a:latin typeface="Times New Roman"/>
                <a:cs typeface="Times New Roman"/>
              </a:rPr>
              <a:t>le  </a:t>
            </a:r>
            <a:r>
              <a:rPr sz="1400" b="1" spc="-5" dirty="0">
                <a:latin typeface="Times New Roman"/>
                <a:cs typeface="Times New Roman"/>
              </a:rPr>
              <a:t>process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P1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4641850" y="2111375"/>
          <a:ext cx="1442720" cy="581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865">
                <a:tc>
                  <a:txBody>
                    <a:bodyPr/>
                    <a:lstStyle/>
                    <a:p>
                      <a:pPr marL="41910">
                        <a:lnSpc>
                          <a:spcPts val="1425"/>
                        </a:lnSpc>
                        <a:spcBef>
                          <a:spcPts val="10"/>
                        </a:spcBef>
                      </a:pPr>
                      <a:r>
                        <a:rPr sz="1200" b="1" spc="80" dirty="0">
                          <a:latin typeface="Arial"/>
                          <a:cs typeface="Arial"/>
                        </a:rPr>
                        <a:t>Limit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1425"/>
                        </a:lnSpc>
                        <a:spcBef>
                          <a:spcPts val="10"/>
                        </a:spcBef>
                      </a:pPr>
                      <a:r>
                        <a:rPr sz="1200" b="1" spc="140" dirty="0">
                          <a:latin typeface="Arial"/>
                          <a:cs typeface="Arial"/>
                        </a:rPr>
                        <a:t>Base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905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533">
                <a:tc>
                  <a:txBody>
                    <a:bodyPr/>
                    <a:lstStyle/>
                    <a:p>
                      <a:pPr marR="31115" algn="r">
                        <a:lnSpc>
                          <a:spcPts val="1410"/>
                        </a:lnSpc>
                      </a:pPr>
                      <a:r>
                        <a:rPr sz="1200" b="1" spc="120" dirty="0">
                          <a:latin typeface="Arial"/>
                          <a:cs typeface="Arial"/>
                        </a:rPr>
                        <a:t>25286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410"/>
                        </a:lnSpc>
                      </a:pPr>
                      <a:r>
                        <a:rPr sz="1200" b="1" spc="120" dirty="0">
                          <a:latin typeface="Arial"/>
                          <a:cs typeface="Arial"/>
                        </a:rPr>
                        <a:t>43602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867">
                <a:tc>
                  <a:txBody>
                    <a:bodyPr/>
                    <a:lstStyle/>
                    <a:p>
                      <a:pPr marR="31115" algn="r">
                        <a:lnSpc>
                          <a:spcPts val="1425"/>
                        </a:lnSpc>
                      </a:pPr>
                      <a:r>
                        <a:rPr sz="1200" b="1" spc="120" dirty="0">
                          <a:latin typeface="Arial"/>
                          <a:cs typeface="Arial"/>
                        </a:rPr>
                        <a:t>4425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425"/>
                        </a:lnSpc>
                      </a:pPr>
                      <a:r>
                        <a:rPr sz="1200" b="1" spc="120" dirty="0">
                          <a:latin typeface="Arial"/>
                          <a:cs typeface="Arial"/>
                        </a:rPr>
                        <a:t>68348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1F48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4422775" y="2312034"/>
            <a:ext cx="1397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80"/>
              </a:lnSpc>
            </a:pPr>
            <a:r>
              <a:rPr sz="1800" b="1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74939" y="2438400"/>
            <a:ext cx="855727" cy="1258678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6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 dirty="0">
                <a:latin typeface="Times New Roman"/>
                <a:cs typeface="Times New Roman"/>
              </a:rPr>
              <a:t>4306</a:t>
            </a:r>
            <a:r>
              <a:rPr lang="en-US" sz="1800" b="1" dirty="0">
                <a:latin typeface="Times New Roman"/>
                <a:cs typeface="Times New Roman"/>
              </a:rPr>
              <a:t>2</a:t>
            </a:r>
            <a:endParaRPr sz="1800" dirty="0">
              <a:latin typeface="Times New Roman"/>
              <a:cs typeface="Times New Roman"/>
            </a:endParaRPr>
          </a:p>
          <a:p>
            <a:pPr marL="36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 spc="-5" dirty="0">
                <a:latin typeface="Times New Roman"/>
                <a:cs typeface="Times New Roman"/>
              </a:rPr>
              <a:t>6834</a:t>
            </a:r>
            <a:r>
              <a:rPr lang="en-US" sz="1800" b="1" spc="-5" dirty="0">
                <a:latin typeface="Times New Roman"/>
                <a:cs typeface="Times New Roman"/>
              </a:rPr>
              <a:t>8</a:t>
            </a:r>
            <a:endParaRPr sz="1800" dirty="0">
              <a:latin typeface="Times New Roman"/>
              <a:cs typeface="Times New Roman"/>
            </a:endParaRPr>
          </a:p>
          <a:p>
            <a:pPr marL="36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b="1" dirty="0">
                <a:latin typeface="Times New Roman"/>
                <a:cs typeface="Times New Roman"/>
              </a:rPr>
              <a:t>7277</a:t>
            </a:r>
            <a:r>
              <a:rPr lang="en-US" sz="1800" b="1" dirty="0">
                <a:latin typeface="Times New Roman"/>
                <a:cs typeface="Times New Roman"/>
              </a:rPr>
              <a:t>3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61809" y="4598670"/>
            <a:ext cx="10067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800"/>
              </a:spcBef>
            </a:pPr>
            <a:r>
              <a:rPr sz="1800" b="1" dirty="0">
                <a:latin typeface="Times New Roman"/>
                <a:cs typeface="Times New Roman"/>
              </a:rPr>
              <a:t>90003</a:t>
            </a:r>
            <a:endParaRPr sz="1800" dirty="0">
              <a:latin typeface="Times New Roman"/>
              <a:cs typeface="Times New Roman"/>
            </a:endParaRPr>
          </a:p>
          <a:p>
            <a:pPr algn="r">
              <a:lnSpc>
                <a:spcPts val="1800"/>
              </a:lnSpc>
              <a:spcBef>
                <a:spcPts val="1800"/>
              </a:spcBef>
            </a:pPr>
            <a:r>
              <a:rPr sz="1800" b="1" dirty="0">
                <a:latin typeface="Times New Roman"/>
                <a:cs typeface="Times New Roman"/>
              </a:rPr>
              <a:t>98553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8340" y="3609213"/>
            <a:ext cx="12827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marR="5080" indent="-8699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Logic</a:t>
            </a:r>
            <a:r>
              <a:rPr sz="1400" b="1" spc="5" dirty="0">
                <a:latin typeface="Times New Roman"/>
                <a:cs typeface="Times New Roman"/>
              </a:rPr>
              <a:t>a</a:t>
            </a:r>
            <a:r>
              <a:rPr sz="1400" b="1" dirty="0">
                <a:latin typeface="Times New Roman"/>
                <a:cs typeface="Times New Roman"/>
              </a:rPr>
              <a:t>l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</a:t>
            </a:r>
            <a:r>
              <a:rPr sz="1400" b="1" dirty="0">
                <a:latin typeface="Times New Roman"/>
                <a:cs typeface="Times New Roman"/>
              </a:rPr>
              <a:t>e</a:t>
            </a:r>
            <a:r>
              <a:rPr sz="1400" b="1" spc="-20" dirty="0">
                <a:latin typeface="Times New Roman"/>
                <a:cs typeface="Times New Roman"/>
              </a:rPr>
              <a:t>m</a:t>
            </a:r>
            <a:r>
              <a:rPr sz="1400" b="1" dirty="0">
                <a:latin typeface="Times New Roman"/>
                <a:cs typeface="Times New Roman"/>
              </a:rPr>
              <a:t>ory  </a:t>
            </a:r>
            <a:r>
              <a:rPr sz="1400" b="1" spc="-5" dirty="0">
                <a:latin typeface="Times New Roman"/>
                <a:cs typeface="Times New Roman"/>
              </a:rPr>
              <a:t>process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P1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A5D2E872-36D3-4242-9A66-E18BF4FA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7469" y="549560"/>
            <a:ext cx="545465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5" dirty="0"/>
              <a:t>Paging</a:t>
            </a:r>
            <a:r>
              <a:rPr b="1" spc="-45" dirty="0"/>
              <a:t> </a:t>
            </a:r>
            <a:r>
              <a:rPr b="1" spc="-95" dirty="0"/>
              <a:t>Vs</a:t>
            </a:r>
            <a:r>
              <a:rPr b="1" spc="-40" dirty="0"/>
              <a:t> </a:t>
            </a:r>
            <a:r>
              <a:rPr b="1" spc="-5" dirty="0"/>
              <a:t>Segmentation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880" y="1590675"/>
            <a:ext cx="7887360" cy="458152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B3FA83-2246-44AB-9952-F45893FF3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580" y="549560"/>
            <a:ext cx="594423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Segmentation</a:t>
            </a:r>
            <a:r>
              <a:rPr b="1" spc="-65" dirty="0"/>
              <a:t> </a:t>
            </a:r>
            <a:r>
              <a:rPr b="1" dirty="0"/>
              <a:t>with</a:t>
            </a:r>
            <a:r>
              <a:rPr b="1" spc="-20" dirty="0"/>
              <a:t> </a:t>
            </a:r>
            <a:r>
              <a:rPr b="1" spc="-15" dirty="0"/>
              <a:t>Paging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9062"/>
            <a:ext cx="8072755" cy="443583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5080" indent="-342900" algn="just">
              <a:lnSpc>
                <a:spcPts val="2590"/>
              </a:lnSpc>
              <a:spcBef>
                <a:spcPts val="73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What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happen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when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segment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 are</a:t>
            </a:r>
            <a:r>
              <a:rPr sz="2700" spc="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00B050"/>
                </a:solidFill>
                <a:latin typeface="Times New Roman"/>
                <a:cs typeface="Times New Roman"/>
              </a:rPr>
              <a:t>larger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than</a:t>
            </a:r>
            <a:r>
              <a:rPr sz="2700" spc="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main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memory</a:t>
            </a:r>
            <a:r>
              <a:rPr sz="2700" spc="-5" dirty="0">
                <a:latin typeface="Times New Roman"/>
                <a:cs typeface="Times New Roman"/>
              </a:rPr>
              <a:t>?</a:t>
            </a:r>
            <a:endParaRPr sz="27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59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Times New Roman"/>
                <a:cs typeface="Times New Roman"/>
              </a:rPr>
              <a:t>Segmentation </a:t>
            </a:r>
            <a:r>
              <a:rPr sz="2700" dirty="0">
                <a:latin typeface="Times New Roman"/>
                <a:cs typeface="Times New Roman"/>
              </a:rPr>
              <a:t>can be </a:t>
            </a:r>
            <a:r>
              <a:rPr sz="2700" spc="-5" dirty="0">
                <a:latin typeface="Times New Roman"/>
                <a:cs typeface="Times New Roman"/>
              </a:rPr>
              <a:t>combined with </a:t>
            </a:r>
            <a:r>
              <a:rPr sz="2700" dirty="0">
                <a:latin typeface="Times New Roman"/>
                <a:cs typeface="Times New Roman"/>
              </a:rPr>
              <a:t>paging to provide 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10" dirty="0">
                <a:latin typeface="Times New Roman"/>
                <a:cs typeface="Times New Roman"/>
              </a:rPr>
              <a:t>efficiency </a:t>
            </a:r>
            <a:r>
              <a:rPr sz="2700" dirty="0">
                <a:latin typeface="Times New Roman"/>
                <a:cs typeface="Times New Roman"/>
              </a:rPr>
              <a:t>of paging </a:t>
            </a:r>
            <a:r>
              <a:rPr sz="2700" spc="-5" dirty="0">
                <a:latin typeface="Times New Roman"/>
                <a:cs typeface="Times New Roman"/>
              </a:rPr>
              <a:t>with </a:t>
            </a:r>
            <a:r>
              <a:rPr sz="2700" spc="-10" dirty="0">
                <a:latin typeface="Times New Roman"/>
                <a:cs typeface="Times New Roman"/>
              </a:rPr>
              <a:t>the </a:t>
            </a:r>
            <a:r>
              <a:rPr sz="2700" dirty="0">
                <a:latin typeface="Times New Roman"/>
                <a:cs typeface="Times New Roman"/>
              </a:rPr>
              <a:t>protection and </a:t>
            </a:r>
            <a:r>
              <a:rPr sz="2700" spc="-5" dirty="0">
                <a:latin typeface="Times New Roman"/>
                <a:cs typeface="Times New Roman"/>
              </a:rPr>
              <a:t>sharing </a:t>
            </a:r>
            <a:r>
              <a:rPr sz="2700" dirty="0">
                <a:latin typeface="Times New Roman"/>
                <a:cs typeface="Times New Roman"/>
              </a:rPr>
              <a:t> capabilities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segmentation.</a:t>
            </a:r>
          </a:p>
          <a:p>
            <a:pPr marL="355600" marR="5080" indent="-342900" algn="just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Times New Roman"/>
                <a:cs typeface="Times New Roman"/>
              </a:rPr>
              <a:t>As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with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simple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segmentation,</a:t>
            </a:r>
            <a:r>
              <a:rPr sz="2700" dirty="0">
                <a:latin typeface="Times New Roman"/>
                <a:cs typeface="Times New Roman"/>
              </a:rPr>
              <a:t> the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logical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address 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specifies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5" dirty="0">
                <a:latin typeface="Times New Roman"/>
                <a:cs typeface="Times New Roman"/>
              </a:rPr>
              <a:t>segment number </a:t>
            </a:r>
            <a:r>
              <a:rPr sz="2700" dirty="0">
                <a:latin typeface="Times New Roman"/>
                <a:cs typeface="Times New Roman"/>
              </a:rPr>
              <a:t>and the </a:t>
            </a:r>
            <a:r>
              <a:rPr sz="2700" spc="-10" dirty="0">
                <a:latin typeface="Times New Roman"/>
                <a:cs typeface="Times New Roman"/>
              </a:rPr>
              <a:t>offset </a:t>
            </a:r>
            <a:r>
              <a:rPr sz="2700" spc="-5" dirty="0">
                <a:latin typeface="Times New Roman"/>
                <a:cs typeface="Times New Roman"/>
              </a:rPr>
              <a:t>within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segment.</a:t>
            </a:r>
            <a:endParaRPr sz="27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When paging is 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added,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 the 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segment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spc="-15" dirty="0">
                <a:solidFill>
                  <a:srgbClr val="00B050"/>
                </a:solidFill>
                <a:latin typeface="Times New Roman"/>
                <a:cs typeface="Times New Roman"/>
              </a:rPr>
              <a:t>offset</a:t>
            </a:r>
            <a:r>
              <a:rPr sz="2700" spc="-1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is 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further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 divided</a:t>
            </a:r>
            <a:r>
              <a:rPr sz="2700" spc="-3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into</a:t>
            </a:r>
            <a:r>
              <a:rPr sz="2700" spc="-1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a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page</a:t>
            </a:r>
            <a:r>
              <a:rPr sz="2700" spc="-1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number</a:t>
            </a:r>
            <a:r>
              <a:rPr sz="2700" spc="1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and</a:t>
            </a:r>
            <a:r>
              <a:rPr sz="2700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page</a:t>
            </a:r>
            <a:r>
              <a:rPr sz="2700" spc="-1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00B050"/>
                </a:solidFill>
                <a:latin typeface="Times New Roman"/>
                <a:cs typeface="Times New Roman"/>
              </a:rPr>
              <a:t>offset</a:t>
            </a:r>
            <a:r>
              <a:rPr sz="2700" spc="-10" dirty="0">
                <a:latin typeface="Times New Roman"/>
                <a:cs typeface="Times New Roman"/>
              </a:rPr>
              <a:t>.</a:t>
            </a:r>
            <a:endParaRPr sz="27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259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65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segment</a:t>
            </a:r>
            <a:r>
              <a:rPr sz="2700" spc="6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table</a:t>
            </a:r>
            <a:r>
              <a:rPr sz="2700" spc="65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entry</a:t>
            </a:r>
            <a:r>
              <a:rPr sz="2700" spc="6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contains</a:t>
            </a:r>
            <a:r>
              <a:rPr sz="2700" spc="6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650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address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640" dirty="0">
                <a:latin typeface="Times New Roman"/>
                <a:cs typeface="Times New Roman"/>
              </a:rPr>
              <a:t> </a:t>
            </a:r>
            <a:r>
              <a:rPr sz="2700" spc="5" dirty="0">
                <a:latin typeface="Times New Roman"/>
                <a:cs typeface="Times New Roman"/>
              </a:rPr>
              <a:t>the </a:t>
            </a:r>
            <a:r>
              <a:rPr sz="2700" spc="-66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segment's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page table.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529CB-1192-48F0-8D1A-F7F877F7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580" y="549560"/>
            <a:ext cx="594423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Segmentation</a:t>
            </a:r>
            <a:r>
              <a:rPr b="1" spc="-65" dirty="0"/>
              <a:t> </a:t>
            </a:r>
            <a:r>
              <a:rPr b="1" dirty="0"/>
              <a:t>with</a:t>
            </a:r>
            <a:r>
              <a:rPr b="1" spc="-20" dirty="0"/>
              <a:t> </a:t>
            </a:r>
            <a:r>
              <a:rPr b="1" spc="-15" dirty="0"/>
              <a:t>Paging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517" y="1828800"/>
            <a:ext cx="7450814" cy="3614891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21A34-7783-4181-9A33-F845922B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6505" y="549560"/>
            <a:ext cx="257556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Que</a:t>
            </a:r>
            <a:r>
              <a:rPr b="1" spc="-35" dirty="0"/>
              <a:t>s</a:t>
            </a:r>
            <a:r>
              <a:rPr b="1" dirty="0"/>
              <a:t>tion</a:t>
            </a:r>
            <a:r>
              <a:rPr b="1" spc="15" dirty="0"/>
              <a:t>s</a:t>
            </a:r>
            <a:r>
              <a:rPr b="1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913370" cy="3584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3502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smaller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size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leads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smaller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tables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–</a:t>
            </a:r>
          </a:p>
          <a:p>
            <a:pPr marL="1841500">
              <a:lnSpc>
                <a:spcPct val="100000"/>
              </a:lnSpc>
              <a:spcBef>
                <a:spcPts val="550"/>
              </a:spcBef>
            </a:pPr>
            <a:r>
              <a:rPr sz="2000" dirty="0">
                <a:latin typeface="Arial MT"/>
                <a:cs typeface="Arial MT"/>
              </a:rPr>
              <a:t>»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Calibri"/>
                <a:cs typeface="Calibri"/>
              </a:rPr>
              <a:t>False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-&gt;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need </a:t>
            </a:r>
            <a:r>
              <a:rPr sz="2000" spc="-10" dirty="0">
                <a:latin typeface="Calibri"/>
                <a:cs typeface="Calibri"/>
              </a:rPr>
              <a:t>more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entries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because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 </a:t>
            </a:r>
            <a:r>
              <a:rPr sz="2000" spc="-20" dirty="0">
                <a:latin typeface="Calibri"/>
                <a:cs typeface="Calibri"/>
              </a:rPr>
              <a:t>have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pages</a:t>
            </a:r>
            <a:endParaRPr sz="2000" dirty="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smaller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size</a:t>
            </a:r>
            <a:r>
              <a:rPr sz="3200" dirty="0">
                <a:latin typeface="Calibri"/>
                <a:cs typeface="Calibri"/>
              </a:rPr>
              <a:t> leads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TLB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misses</a:t>
            </a:r>
            <a:endParaRPr sz="3200" dirty="0">
              <a:latin typeface="Calibri"/>
              <a:cs typeface="Calibri"/>
            </a:endParaRPr>
          </a:p>
          <a:p>
            <a:pPr marL="1612900" marR="163195" lvl="1" indent="-228600">
              <a:lnSpc>
                <a:spcPct val="100000"/>
              </a:lnSpc>
              <a:spcBef>
                <a:spcPts val="550"/>
              </a:spcBef>
              <a:buFont typeface="Arial MT"/>
              <a:buChar char="–"/>
              <a:tabLst>
                <a:tab pos="1667510" algn="l"/>
                <a:tab pos="1668145" algn="l"/>
              </a:tabLst>
            </a:pPr>
            <a:r>
              <a:rPr dirty="0"/>
              <a:t>	</a:t>
            </a:r>
            <a:r>
              <a:rPr sz="2000" spc="-30" dirty="0">
                <a:latin typeface="Calibri"/>
                <a:cs typeface="Calibri"/>
              </a:rPr>
              <a:t>True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–&gt;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likely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encompass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address </a:t>
            </a:r>
            <a:r>
              <a:rPr sz="2000" spc="-10" dirty="0">
                <a:latin typeface="Calibri"/>
                <a:cs typeface="Calibri"/>
              </a:rPr>
              <a:t>we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after.</a:t>
            </a:r>
            <a:endParaRPr sz="2000" dirty="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smaller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size</a:t>
            </a:r>
            <a:r>
              <a:rPr sz="3200" dirty="0">
                <a:latin typeface="Calibri"/>
                <a:cs typeface="Calibri"/>
              </a:rPr>
              <a:t> leads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fewer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faults</a:t>
            </a:r>
            <a:endParaRPr sz="3200" dirty="0">
              <a:latin typeface="Calibri"/>
              <a:cs typeface="Calibri"/>
            </a:endParaRPr>
          </a:p>
          <a:p>
            <a:pPr marL="1667510" lvl="1" indent="-283845">
              <a:lnSpc>
                <a:spcPct val="100000"/>
              </a:lnSpc>
              <a:spcBef>
                <a:spcPts val="555"/>
              </a:spcBef>
              <a:buFont typeface="Arial MT"/>
              <a:buChar char="–"/>
              <a:tabLst>
                <a:tab pos="1667510" algn="l"/>
                <a:tab pos="1668145" algn="l"/>
              </a:tabLst>
            </a:pPr>
            <a:r>
              <a:rPr sz="2000" spc="-30" dirty="0">
                <a:latin typeface="Calibri"/>
                <a:cs typeface="Calibri"/>
              </a:rPr>
              <a:t>True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B339DE-C57C-48FF-8B19-733B40D4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6234" y="549560"/>
            <a:ext cx="23520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Continue?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72755" cy="42176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b="1" spc="-5" dirty="0">
                <a:latin typeface="Times New Roman"/>
                <a:cs typeface="Times New Roman"/>
              </a:rPr>
              <a:t>What is swapping? Can </a:t>
            </a:r>
            <a:r>
              <a:rPr sz="2500" b="1" spc="-10" dirty="0">
                <a:latin typeface="Times New Roman"/>
                <a:cs typeface="Times New Roman"/>
              </a:rPr>
              <a:t>swapping </a:t>
            </a:r>
            <a:r>
              <a:rPr sz="2500" b="1" spc="-5" dirty="0">
                <a:latin typeface="Times New Roman"/>
                <a:cs typeface="Times New Roman"/>
              </a:rPr>
              <a:t>permit </a:t>
            </a:r>
            <a:r>
              <a:rPr sz="2500" b="1" dirty="0">
                <a:latin typeface="Times New Roman"/>
                <a:cs typeface="Times New Roman"/>
              </a:rPr>
              <a:t>an application </a:t>
            </a:r>
            <a:r>
              <a:rPr sz="2500" b="1" spc="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requiring </a:t>
            </a:r>
            <a:r>
              <a:rPr sz="2500" b="1" dirty="0">
                <a:latin typeface="Times New Roman"/>
                <a:cs typeface="Times New Roman"/>
              </a:rPr>
              <a:t>16M memory </a:t>
            </a:r>
            <a:r>
              <a:rPr sz="2500" b="1" spc="-5" dirty="0">
                <a:latin typeface="Times New Roman"/>
                <a:cs typeface="Times New Roman"/>
              </a:rPr>
              <a:t>to run on a </a:t>
            </a:r>
            <a:r>
              <a:rPr sz="2500" b="1" dirty="0">
                <a:latin typeface="Times New Roman"/>
                <a:cs typeface="Times New Roman"/>
              </a:rPr>
              <a:t>machine </a:t>
            </a:r>
            <a:r>
              <a:rPr sz="2500" b="1" spc="-10" dirty="0">
                <a:latin typeface="Times New Roman"/>
                <a:cs typeface="Times New Roman"/>
              </a:rPr>
              <a:t>with </a:t>
            </a:r>
            <a:r>
              <a:rPr sz="2500" b="1" dirty="0">
                <a:latin typeface="Times New Roman"/>
                <a:cs typeface="Times New Roman"/>
              </a:rPr>
              <a:t>8M </a:t>
            </a:r>
            <a:r>
              <a:rPr sz="2500" b="1" spc="5" dirty="0">
                <a:latin typeface="Times New Roman"/>
                <a:cs typeface="Times New Roman"/>
              </a:rPr>
              <a:t>of </a:t>
            </a:r>
            <a:r>
              <a:rPr sz="2500" b="1" spc="1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RAM?</a:t>
            </a:r>
            <a:endParaRPr sz="2500" dirty="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8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Times New Roman"/>
                <a:cs typeface="Times New Roman"/>
              </a:rPr>
              <a:t>Swapping </a:t>
            </a:r>
            <a:r>
              <a:rPr sz="2500" dirty="0">
                <a:latin typeface="Times New Roman"/>
                <a:cs typeface="Times New Roman"/>
              </a:rPr>
              <a:t>is the act of </a:t>
            </a:r>
            <a:r>
              <a:rPr sz="2500" spc="-5" dirty="0">
                <a:latin typeface="Times New Roman"/>
                <a:cs typeface="Times New Roman"/>
              </a:rPr>
              <a:t>running each whole </a:t>
            </a:r>
            <a:r>
              <a:rPr sz="2500" dirty="0">
                <a:latin typeface="Times New Roman"/>
                <a:cs typeface="Times New Roman"/>
              </a:rPr>
              <a:t>process </a:t>
            </a:r>
            <a:r>
              <a:rPr sz="2500" spc="-5" dirty="0">
                <a:latin typeface="Times New Roman"/>
                <a:cs typeface="Times New Roman"/>
              </a:rPr>
              <a:t>in main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memory for a </a:t>
            </a:r>
            <a:r>
              <a:rPr sz="2500" dirty="0">
                <a:latin typeface="Times New Roman"/>
                <a:cs typeface="Times New Roman"/>
              </a:rPr>
              <a:t>time then placing </a:t>
            </a:r>
            <a:r>
              <a:rPr sz="2500" spc="-5" dirty="0">
                <a:latin typeface="Times New Roman"/>
                <a:cs typeface="Times New Roman"/>
              </a:rPr>
              <a:t>back </a:t>
            </a:r>
            <a:r>
              <a:rPr sz="2500" dirty="0">
                <a:latin typeface="Times New Roman"/>
                <a:cs typeface="Times New Roman"/>
              </a:rPr>
              <a:t>onto </a:t>
            </a:r>
            <a:r>
              <a:rPr sz="2500" spc="-5" dirty="0">
                <a:latin typeface="Times New Roman"/>
                <a:cs typeface="Times New Roman"/>
              </a:rPr>
              <a:t>disk and </a:t>
            </a:r>
            <a:r>
              <a:rPr sz="2500" dirty="0">
                <a:latin typeface="Times New Roman"/>
                <a:cs typeface="Times New Roman"/>
              </a:rPr>
              <a:t>vice 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versa.</a:t>
            </a:r>
            <a:r>
              <a:rPr sz="2500" spc="5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</a:t>
            </a:r>
            <a:r>
              <a:rPr sz="2500" spc="5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5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used</a:t>
            </a:r>
            <a:r>
              <a:rPr sz="2500" spc="5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when</a:t>
            </a:r>
            <a:r>
              <a:rPr sz="2500" spc="5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5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system</a:t>
            </a:r>
            <a:r>
              <a:rPr sz="2500" spc="5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does</a:t>
            </a:r>
            <a:r>
              <a:rPr sz="2500" spc="5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not</a:t>
            </a:r>
            <a:r>
              <a:rPr sz="2500" spc="5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have</a:t>
            </a:r>
            <a:r>
              <a:rPr sz="2500" spc="5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enough </a:t>
            </a:r>
            <a:r>
              <a:rPr sz="2500" spc="-6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main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memory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hold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all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currently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active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processes.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6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80000"/>
              </a:lnSpc>
              <a:buFont typeface="Arial MT"/>
              <a:buChar char="•"/>
              <a:tabLst>
                <a:tab pos="355600" algn="l"/>
              </a:tabLst>
            </a:pPr>
            <a:r>
              <a:rPr sz="2500" spc="-5" dirty="0">
                <a:latin typeface="Times New Roman"/>
                <a:cs typeface="Times New Roman"/>
              </a:rPr>
              <a:t>Assuming </a:t>
            </a:r>
            <a:r>
              <a:rPr sz="2500" dirty="0">
                <a:latin typeface="Times New Roman"/>
                <a:cs typeface="Times New Roman"/>
              </a:rPr>
              <a:t>that </a:t>
            </a:r>
            <a:r>
              <a:rPr sz="2500" spc="-5" dirty="0">
                <a:latin typeface="Times New Roman"/>
                <a:cs typeface="Times New Roman"/>
              </a:rPr>
              <a:t>an </a:t>
            </a:r>
            <a:r>
              <a:rPr sz="2500" dirty="0">
                <a:latin typeface="Times New Roman"/>
                <a:cs typeface="Times New Roman"/>
              </a:rPr>
              <a:t>application is one program </a:t>
            </a:r>
            <a:r>
              <a:rPr sz="2500" spc="-5" dirty="0">
                <a:latin typeface="Times New Roman"/>
                <a:cs typeface="Times New Roman"/>
              </a:rPr>
              <a:t>and </a:t>
            </a:r>
            <a:r>
              <a:rPr sz="2500" dirty="0">
                <a:latin typeface="Times New Roman"/>
                <a:cs typeface="Times New Roman"/>
              </a:rPr>
              <a:t>hence </a:t>
            </a:r>
            <a:r>
              <a:rPr sz="2500" spc="-5" dirty="0">
                <a:latin typeface="Times New Roman"/>
                <a:cs typeface="Times New Roman"/>
              </a:rPr>
              <a:t>a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single</a:t>
            </a:r>
            <a:r>
              <a:rPr sz="2500" dirty="0">
                <a:latin typeface="Times New Roman"/>
                <a:cs typeface="Times New Roman"/>
              </a:rPr>
              <a:t> process,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swapping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will</a:t>
            </a:r>
            <a:r>
              <a:rPr sz="2500" spc="-5" dirty="0">
                <a:latin typeface="Times New Roman"/>
                <a:cs typeface="Times New Roman"/>
              </a:rPr>
              <a:t> not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permit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an 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application(process) requiring 16M </a:t>
            </a:r>
            <a:r>
              <a:rPr sz="2500" spc="-5" dirty="0">
                <a:latin typeface="Times New Roman"/>
                <a:cs typeface="Times New Roman"/>
              </a:rPr>
              <a:t>of memory to run on a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machine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with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8M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RAM</a:t>
            </a:r>
            <a:r>
              <a:rPr sz="2500" dirty="0">
                <a:latin typeface="Times New Roman"/>
                <a:cs typeface="Times New Roman"/>
              </a:rPr>
              <a:t> (main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memory)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as</a:t>
            </a:r>
            <a:r>
              <a:rPr sz="2500" dirty="0">
                <a:latin typeface="Times New Roman"/>
                <a:cs typeface="Times New Roman"/>
              </a:rPr>
              <a:t> the</a:t>
            </a:r>
            <a:r>
              <a:rPr sz="2500" spc="6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whole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process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too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Times New Roman"/>
                <a:cs typeface="Times New Roman"/>
              </a:rPr>
              <a:t>large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 fit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into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main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30" dirty="0">
                <a:latin typeface="Times New Roman"/>
                <a:cs typeface="Times New Roman"/>
              </a:rPr>
              <a:t>memory.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BFB13-66BC-4C73-96D6-21F3F1EF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6234" y="549560"/>
            <a:ext cx="23520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Continue?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7838440" cy="42989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264160" indent="-342900">
              <a:lnSpc>
                <a:spcPts val="2590"/>
              </a:lnSpc>
              <a:spcBef>
                <a:spcPts val="7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5" dirty="0">
                <a:latin typeface="Times New Roman"/>
                <a:cs typeface="Times New Roman"/>
              </a:rPr>
              <a:t>Enumerate</a:t>
            </a:r>
            <a:r>
              <a:rPr sz="2700" b="1" spc="-1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some</a:t>
            </a:r>
            <a:r>
              <a:rPr sz="2700" b="1" spc="-20" dirty="0">
                <a:latin typeface="Times New Roman"/>
                <a:cs typeface="Times New Roman"/>
              </a:rPr>
              <a:t> </a:t>
            </a:r>
            <a:r>
              <a:rPr sz="2700" b="1" spc="-15" dirty="0">
                <a:latin typeface="Times New Roman"/>
                <a:cs typeface="Times New Roman"/>
              </a:rPr>
              <a:t>pros</a:t>
            </a:r>
            <a:r>
              <a:rPr sz="2700" b="1" spc="-1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and</a:t>
            </a:r>
            <a:r>
              <a:rPr sz="2700" b="1" spc="-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cons</a:t>
            </a:r>
            <a:r>
              <a:rPr sz="2700" b="1" spc="-1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for</a:t>
            </a:r>
            <a:r>
              <a:rPr sz="2700" b="1" spc="-50" dirty="0">
                <a:latin typeface="Times New Roman"/>
                <a:cs typeface="Times New Roman"/>
              </a:rPr>
              <a:t> </a:t>
            </a:r>
            <a:r>
              <a:rPr sz="2700" b="1" spc="-5" dirty="0">
                <a:latin typeface="Times New Roman"/>
                <a:cs typeface="Times New Roman"/>
              </a:rPr>
              <a:t>increasing</a:t>
            </a:r>
            <a:r>
              <a:rPr sz="2700" b="1" spc="-2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the </a:t>
            </a:r>
            <a:r>
              <a:rPr sz="2700" b="1" spc="-660" dirty="0">
                <a:latin typeface="Times New Roman"/>
                <a:cs typeface="Times New Roman"/>
              </a:rPr>
              <a:t> </a:t>
            </a:r>
            <a:r>
              <a:rPr sz="2700" b="1" spc="-5" dirty="0">
                <a:latin typeface="Times New Roman"/>
                <a:cs typeface="Times New Roman"/>
              </a:rPr>
              <a:t>page</a:t>
            </a:r>
            <a:r>
              <a:rPr sz="2700" b="1" spc="-35" dirty="0">
                <a:latin typeface="Times New Roman"/>
                <a:cs typeface="Times New Roman"/>
              </a:rPr>
              <a:t> </a:t>
            </a:r>
            <a:r>
              <a:rPr sz="2700" b="1" spc="-5" dirty="0">
                <a:latin typeface="Times New Roman"/>
                <a:cs typeface="Times New Roman"/>
              </a:rPr>
              <a:t>size.</a:t>
            </a:r>
            <a:endParaRPr sz="27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pros:</a:t>
            </a: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reduces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size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increases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TLB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coverage</a:t>
            </a: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increases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swapping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I/O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throughput,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small disk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2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cons:</a:t>
            </a:r>
          </a:p>
          <a:p>
            <a:pPr marL="756285" marR="595630" lvl="1" indent="-287020">
              <a:lnSpc>
                <a:spcPct val="80000"/>
              </a:lnSpc>
              <a:spcBef>
                <a:spcPts val="59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increases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fault</a:t>
            </a:r>
            <a:r>
              <a:rPr sz="2400" spc="-20" dirty="0">
                <a:latin typeface="Times New Roman"/>
                <a:cs typeface="Times New Roman"/>
              </a:rPr>
              <a:t> latency,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swap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slower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due 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more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data.</a:t>
            </a:r>
          </a:p>
          <a:p>
            <a:pPr marL="756285" marR="5080" lvl="1" indent="-287020">
              <a:lnSpc>
                <a:spcPts val="2310"/>
              </a:lnSpc>
              <a:spcBef>
                <a:spcPts val="55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increases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fragmentation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pages,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 there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more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'wasted </a:t>
            </a:r>
            <a:r>
              <a:rPr sz="2400" dirty="0">
                <a:latin typeface="Times New Roman"/>
                <a:cs typeface="Times New Roman"/>
              </a:rPr>
              <a:t>page'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working </a:t>
            </a:r>
            <a:r>
              <a:rPr sz="2400" dirty="0">
                <a:latin typeface="Times New Roman"/>
                <a:cs typeface="Times New Roman"/>
              </a:rPr>
              <a:t>set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5E324-301E-4647-910D-958604F5E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4646" y="549560"/>
            <a:ext cx="185547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25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753350" cy="964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2375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Why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segmentation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paging </a:t>
            </a:r>
            <a:r>
              <a:rPr sz="2200" spc="-10" dirty="0">
                <a:latin typeface="Calibri"/>
                <a:cs typeface="Calibri"/>
              </a:rPr>
              <a:t>sometimes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combined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into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one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spc="-10" dirty="0">
                <a:latin typeface="Calibri"/>
                <a:cs typeface="Calibri"/>
              </a:rPr>
              <a:t>scheme?</a:t>
            </a:r>
            <a:endParaRPr sz="2200" dirty="0">
              <a:latin typeface="Calibri"/>
              <a:cs typeface="Calibri"/>
            </a:endParaRPr>
          </a:p>
          <a:p>
            <a:pPr marL="417830" indent="-405765">
              <a:lnSpc>
                <a:spcPct val="100000"/>
              </a:lnSpc>
              <a:buFont typeface="Arial MT"/>
              <a:buChar char="•"/>
              <a:tabLst>
                <a:tab pos="417830" algn="l"/>
                <a:tab pos="418465" algn="l"/>
              </a:tabLst>
            </a:pPr>
            <a:r>
              <a:rPr sz="2200" spc="-5" dirty="0">
                <a:latin typeface="Calibri"/>
                <a:cs typeface="Calibri"/>
              </a:rPr>
              <a:t>Consider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following segment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table:</a:t>
            </a:r>
            <a:endParaRPr sz="22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774773"/>
              </p:ext>
            </p:extLst>
          </p:nvPr>
        </p:nvGraphicFramePr>
        <p:xfrm>
          <a:off x="974089" y="2362200"/>
          <a:ext cx="3752850" cy="19011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2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653">
                <a:tc>
                  <a:txBody>
                    <a:bodyPr/>
                    <a:lstStyle/>
                    <a:p>
                      <a:pPr marL="31750">
                        <a:lnSpc>
                          <a:spcPts val="1905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Segment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1905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base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1905"/>
                        </a:lnSpc>
                      </a:pPr>
                      <a:r>
                        <a:rPr sz="2000" spc="-15" dirty="0">
                          <a:latin typeface="Calibri"/>
                          <a:cs typeface="Calibri"/>
                        </a:rPr>
                        <a:t>size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21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219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9440">
                        <a:lnSpc>
                          <a:spcPts val="21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600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06">
                <a:tc>
                  <a:txBody>
                    <a:bodyPr/>
                    <a:lstStyle/>
                    <a:p>
                      <a:pPr marL="41910">
                        <a:lnSpc>
                          <a:spcPts val="2310"/>
                        </a:lnSpc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1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2310"/>
                        </a:lnSpc>
                      </a:pPr>
                      <a:r>
                        <a:rPr sz="2200" spc="-5" dirty="0">
                          <a:latin typeface="Calibri"/>
                          <a:cs typeface="Calibri"/>
                        </a:rPr>
                        <a:t>2300</a:t>
                      </a:r>
                      <a:endParaRPr sz="2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9440">
                        <a:lnSpc>
                          <a:spcPts val="2310"/>
                        </a:lnSpc>
                      </a:pPr>
                      <a:r>
                        <a:rPr sz="2200" spc="-5" dirty="0">
                          <a:latin typeface="Calibri"/>
                          <a:cs typeface="Calibri"/>
                        </a:rPr>
                        <a:t>14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41910">
                        <a:lnSpc>
                          <a:spcPts val="2310"/>
                        </a:lnSpc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2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ts val="2310"/>
                        </a:lnSpc>
                      </a:pPr>
                      <a:r>
                        <a:rPr sz="2200" spc="-5" dirty="0">
                          <a:latin typeface="Calibri"/>
                          <a:cs typeface="Calibri"/>
                        </a:rPr>
                        <a:t>90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360" algn="r">
                        <a:lnSpc>
                          <a:spcPts val="2310"/>
                        </a:lnSpc>
                      </a:pPr>
                      <a:r>
                        <a:rPr sz="2200" spc="-5" dirty="0">
                          <a:latin typeface="Calibri"/>
                          <a:cs typeface="Calibri"/>
                        </a:rPr>
                        <a:t>100</a:t>
                      </a:r>
                      <a:endParaRPr sz="2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6">
                <a:tc>
                  <a:txBody>
                    <a:bodyPr/>
                    <a:lstStyle/>
                    <a:p>
                      <a:pPr marL="41910">
                        <a:lnSpc>
                          <a:spcPts val="2310"/>
                        </a:lnSpc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3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ts val="2310"/>
                        </a:lnSpc>
                      </a:pPr>
                      <a:r>
                        <a:rPr sz="2200" spc="-5" dirty="0">
                          <a:latin typeface="Calibri"/>
                          <a:cs typeface="Calibri"/>
                        </a:rPr>
                        <a:t>1327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10"/>
                        </a:lnSpc>
                      </a:pPr>
                      <a:r>
                        <a:rPr sz="2200" spc="-5" dirty="0">
                          <a:latin typeface="Calibri"/>
                          <a:cs typeface="Calibri"/>
                        </a:rPr>
                        <a:t>580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467">
                <a:tc>
                  <a:txBody>
                    <a:bodyPr/>
                    <a:lstStyle/>
                    <a:p>
                      <a:pPr marL="80645">
                        <a:lnSpc>
                          <a:spcPts val="2310"/>
                        </a:lnSpc>
                      </a:pPr>
                      <a:r>
                        <a:rPr sz="2200" dirty="0">
                          <a:latin typeface="Calibri"/>
                          <a:cs typeface="Calibri"/>
                        </a:rPr>
                        <a:t>4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2310"/>
                        </a:lnSpc>
                      </a:pPr>
                      <a:r>
                        <a:rPr sz="2200" spc="-5" dirty="0">
                          <a:latin typeface="Calibri"/>
                          <a:cs typeface="Calibri"/>
                        </a:rPr>
                        <a:t>1952</a:t>
                      </a:r>
                      <a:endParaRPr sz="2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9440">
                        <a:lnSpc>
                          <a:spcPts val="2310"/>
                        </a:lnSpc>
                      </a:pPr>
                      <a:r>
                        <a:rPr sz="2200" spc="-5" dirty="0">
                          <a:latin typeface="Calibri"/>
                          <a:cs typeface="Calibri"/>
                        </a:rPr>
                        <a:t>96</a:t>
                      </a:r>
                      <a:endParaRPr sz="22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35940" y="4495800"/>
            <a:ext cx="755015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What are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physical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address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following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logical</a:t>
            </a:r>
            <a:r>
              <a:rPr sz="2200" spc="-5" dirty="0">
                <a:latin typeface="Calibri"/>
                <a:cs typeface="Calibri"/>
              </a:rPr>
              <a:t> address?</a:t>
            </a:r>
            <a:endParaRPr sz="22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–	</a:t>
            </a:r>
            <a:r>
              <a:rPr sz="2000" dirty="0">
                <a:latin typeface="Calibri"/>
                <a:cs typeface="Calibri"/>
              </a:rPr>
              <a:t>a)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0430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b)110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c)2500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d) </a:t>
            </a:r>
            <a:r>
              <a:rPr sz="2000" dirty="0">
                <a:latin typeface="Calibri"/>
                <a:cs typeface="Calibri"/>
              </a:rPr>
              <a:t>3400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e) 4112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 dirty="0">
              <a:latin typeface="Calibri"/>
              <a:cs typeface="Calibri"/>
            </a:endParaRPr>
          </a:p>
          <a:p>
            <a:pPr marL="417830" indent="-405765">
              <a:lnSpc>
                <a:spcPct val="100000"/>
              </a:lnSpc>
              <a:buFont typeface="Arial MT"/>
              <a:buChar char="•"/>
              <a:tabLst>
                <a:tab pos="417830" algn="l"/>
                <a:tab pos="418465" algn="l"/>
              </a:tabLst>
            </a:pPr>
            <a:r>
              <a:rPr sz="2200" spc="-10" dirty="0">
                <a:latin typeface="Calibri"/>
                <a:cs typeface="Calibri"/>
              </a:rPr>
              <a:t>Distinguish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paging</a:t>
            </a:r>
            <a:r>
              <a:rPr sz="2200" spc="-5" dirty="0">
                <a:latin typeface="Calibri"/>
                <a:cs typeface="Calibri"/>
              </a:rPr>
              <a:t> 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segmentation.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DC1819D-47EF-4890-B05F-E915A7F8E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549560"/>
            <a:ext cx="673925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Paging/Segmentation</a:t>
            </a:r>
            <a:r>
              <a:rPr b="1" spc="-100" dirty="0"/>
              <a:t> </a:t>
            </a:r>
            <a:r>
              <a:rPr b="1" spc="-15" dirty="0"/>
              <a:t>Policies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2674"/>
            <a:ext cx="8041640" cy="4246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37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Fetch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Strategies</a:t>
            </a:r>
          </a:p>
          <a:p>
            <a:pPr marL="1155700" marR="5080" lvl="1" indent="-228600">
              <a:lnSpc>
                <a:spcPct val="70000"/>
              </a:lnSpc>
              <a:spcBef>
                <a:spcPts val="72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Times New Roman"/>
                <a:cs typeface="Times New Roman"/>
              </a:rPr>
              <a:t>When</a:t>
            </a:r>
            <a:r>
              <a:rPr sz="2400" spc="-5" dirty="0">
                <a:latin typeface="Times New Roman"/>
                <a:cs typeface="Times New Roman"/>
              </a:rPr>
              <a:t> should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page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segment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brought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primary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secondary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(disk)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storage?</a:t>
            </a:r>
            <a:endParaRPr sz="2400" dirty="0">
              <a:latin typeface="Times New Roman"/>
              <a:cs typeface="Times New Roman"/>
            </a:endParaRPr>
          </a:p>
          <a:p>
            <a:pPr marL="1612900" lvl="2" indent="-229235">
              <a:lnSpc>
                <a:spcPts val="2045"/>
              </a:lnSpc>
              <a:buFont typeface="Arial MT"/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Demand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Fetch</a:t>
            </a:r>
            <a:endParaRPr sz="2000" dirty="0">
              <a:latin typeface="Times New Roman"/>
              <a:cs typeface="Times New Roman"/>
            </a:endParaRPr>
          </a:p>
          <a:p>
            <a:pPr marL="1612900" lvl="2" indent="-229235">
              <a:lnSpc>
                <a:spcPts val="2085"/>
              </a:lnSpc>
              <a:buFont typeface="Arial MT"/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Anticipatory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Fetch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3504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Placement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Strategies</a:t>
            </a:r>
            <a:endParaRPr sz="3200" dirty="0">
              <a:latin typeface="Times New Roman"/>
              <a:cs typeface="Times New Roman"/>
            </a:endParaRPr>
          </a:p>
          <a:p>
            <a:pPr marL="1155700" marR="50165" lvl="1" indent="-228600">
              <a:lnSpc>
                <a:spcPct val="70000"/>
              </a:lnSpc>
              <a:spcBef>
                <a:spcPts val="72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Times New Roman"/>
                <a:cs typeface="Times New Roman"/>
              </a:rPr>
              <a:t>When </a:t>
            </a:r>
            <a:r>
              <a:rPr sz="2400" dirty="0">
                <a:latin typeface="Times New Roman"/>
                <a:cs typeface="Times New Roman"/>
              </a:rPr>
              <a:t>a page or </a:t>
            </a:r>
            <a:r>
              <a:rPr sz="2400" spc="-5" dirty="0">
                <a:latin typeface="Times New Roman"/>
                <a:cs typeface="Times New Roman"/>
              </a:rPr>
              <a:t>segment </a:t>
            </a:r>
            <a:r>
              <a:rPr sz="2400" dirty="0">
                <a:latin typeface="Times New Roman"/>
                <a:cs typeface="Times New Roman"/>
              </a:rPr>
              <a:t>is brought into </a:t>
            </a:r>
            <a:r>
              <a:rPr sz="2400" spc="-30" dirty="0">
                <a:latin typeface="Times New Roman"/>
                <a:cs typeface="Times New Roman"/>
              </a:rPr>
              <a:t>memory, </a:t>
            </a:r>
            <a:r>
              <a:rPr sz="2400" spc="-5" dirty="0">
                <a:latin typeface="Times New Roman"/>
                <a:cs typeface="Times New Roman"/>
              </a:rPr>
              <a:t>where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put?</a:t>
            </a:r>
          </a:p>
          <a:p>
            <a:pPr marL="1612900" lvl="2" indent="-229235">
              <a:lnSpc>
                <a:spcPts val="2045"/>
              </a:lnSpc>
              <a:buFont typeface="Arial MT"/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Paging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trivial</a:t>
            </a:r>
          </a:p>
          <a:p>
            <a:pPr marL="1612900" lvl="2" indent="-229235">
              <a:lnSpc>
                <a:spcPts val="2080"/>
              </a:lnSpc>
              <a:buFont typeface="Arial MT"/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Segmentation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5" dirty="0">
                <a:latin typeface="Times New Roman"/>
                <a:cs typeface="Times New Roman"/>
              </a:rPr>
              <a:t> significant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</a:t>
            </a:r>
          </a:p>
          <a:p>
            <a:pPr marL="355600" indent="-342900">
              <a:lnSpc>
                <a:spcPts val="35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Replacement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Strategies</a:t>
            </a:r>
            <a:endParaRPr sz="3200" dirty="0">
              <a:latin typeface="Times New Roman"/>
              <a:cs typeface="Times New Roman"/>
            </a:endParaRPr>
          </a:p>
          <a:p>
            <a:pPr marL="1155700" marR="269875" lvl="1" indent="-228600">
              <a:lnSpc>
                <a:spcPct val="70100"/>
              </a:lnSpc>
              <a:spcBef>
                <a:spcPts val="7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page/segment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should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replaced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enough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page/segment?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070C2B-3E32-486F-B9CE-BCFDF509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633" y="549560"/>
            <a:ext cx="3570604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Demand</a:t>
            </a:r>
            <a:r>
              <a:rPr b="1" spc="-95" dirty="0"/>
              <a:t> </a:t>
            </a:r>
            <a:r>
              <a:rPr b="1" spc="-15" dirty="0"/>
              <a:t>Paging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7441565" cy="451866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5600" marR="305435" indent="-342900">
              <a:lnSpc>
                <a:spcPts val="3070"/>
              </a:lnSpc>
              <a:spcBef>
                <a:spcPts val="8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Bring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page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memory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B050"/>
                </a:solidFill>
                <a:latin typeface="Times New Roman"/>
                <a:cs typeface="Times New Roman"/>
              </a:rPr>
              <a:t>only</a:t>
            </a:r>
            <a:r>
              <a:rPr sz="3200" spc="-2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B050"/>
                </a:solidFill>
                <a:latin typeface="Times New Roman"/>
                <a:cs typeface="Times New Roman"/>
              </a:rPr>
              <a:t>when</a:t>
            </a:r>
            <a:r>
              <a:rPr sz="3200" spc="-2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B050"/>
                </a:solidFill>
                <a:latin typeface="Times New Roman"/>
                <a:cs typeface="Times New Roman"/>
              </a:rPr>
              <a:t>it is </a:t>
            </a:r>
            <a:r>
              <a:rPr sz="3200" spc="-78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00B050"/>
                </a:solidFill>
                <a:latin typeface="Times New Roman"/>
                <a:cs typeface="Times New Roman"/>
              </a:rPr>
              <a:t>needed.</a:t>
            </a:r>
            <a:endParaRPr sz="320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612900" lvl="1" indent="-229235">
              <a:lnSpc>
                <a:spcPct val="100000"/>
              </a:lnSpc>
              <a:spcBef>
                <a:spcPts val="65"/>
              </a:spcBef>
              <a:buFont typeface="Arial MT"/>
              <a:buChar char="–"/>
              <a:tabLst>
                <a:tab pos="1613535" algn="l"/>
              </a:tabLst>
            </a:pPr>
            <a:r>
              <a:rPr sz="2000" dirty="0">
                <a:latin typeface="Times New Roman"/>
                <a:cs typeface="Times New Roman"/>
              </a:rPr>
              <a:t>Less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</a:p>
          <a:p>
            <a:pPr marL="1612900" lvl="1" indent="-229235">
              <a:lnSpc>
                <a:spcPct val="100000"/>
              </a:lnSpc>
              <a:buFont typeface="Arial MT"/>
              <a:buChar char="–"/>
              <a:tabLst>
                <a:tab pos="1613535" algn="l"/>
              </a:tabLst>
            </a:pPr>
            <a:r>
              <a:rPr sz="2000" dirty="0">
                <a:latin typeface="Times New Roman"/>
                <a:cs typeface="Times New Roman"/>
              </a:rPr>
              <a:t>Less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</a:p>
          <a:p>
            <a:pPr marL="1612900" lvl="1" indent="-229235">
              <a:lnSpc>
                <a:spcPct val="100000"/>
              </a:lnSpc>
              <a:buFont typeface="Arial MT"/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Faster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response</a:t>
            </a:r>
          </a:p>
          <a:p>
            <a:pPr marL="1612900" lvl="1" indent="-229235">
              <a:lnSpc>
                <a:spcPct val="100000"/>
              </a:lnSpc>
              <a:buFont typeface="Arial MT"/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More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</a:p>
          <a:p>
            <a:pPr marL="355600" marR="5080" indent="-342900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first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reference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page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trap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</a:t>
            </a:r>
            <a:r>
              <a:rPr sz="3200" spc="-5" dirty="0">
                <a:latin typeface="Times New Roman"/>
                <a:cs typeface="Times New Roman"/>
              </a:rPr>
              <a:t>OS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page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fault.</a:t>
            </a: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OS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looks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another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decide</a:t>
            </a:r>
          </a:p>
          <a:p>
            <a:pPr marL="1612900" lvl="1" indent="-229235">
              <a:lnSpc>
                <a:spcPct val="100000"/>
              </a:lnSpc>
              <a:spcBef>
                <a:spcPts val="515"/>
              </a:spcBef>
              <a:buFont typeface="Arial MT"/>
              <a:buChar char="–"/>
              <a:tabLst>
                <a:tab pos="1613535" algn="l"/>
              </a:tabLst>
            </a:pPr>
            <a:r>
              <a:rPr sz="2000" dirty="0">
                <a:latin typeface="Times New Roman"/>
                <a:cs typeface="Times New Roman"/>
              </a:rPr>
              <a:t>Invalid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reference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abort</a:t>
            </a:r>
          </a:p>
          <a:p>
            <a:pPr marL="1612900" lvl="1" indent="-22923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1613535" algn="l"/>
              </a:tabLst>
            </a:pPr>
            <a:r>
              <a:rPr sz="2000" spc="-5" dirty="0">
                <a:latin typeface="Times New Roman"/>
                <a:cs typeface="Times New Roman"/>
              </a:rPr>
              <a:t>Just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memory.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9D470E-179B-4C7F-AC52-C850A892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3398" y="549560"/>
            <a:ext cx="353822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30" dirty="0"/>
              <a:t>Valid-Invalid</a:t>
            </a:r>
            <a:r>
              <a:rPr b="1" spc="-55" dirty="0"/>
              <a:t> </a:t>
            </a:r>
            <a:r>
              <a:rPr b="1" dirty="0"/>
              <a:t>Bit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492500" y="4446587"/>
          <a:ext cx="1216660" cy="1788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175"/>
                        </a:lnSpc>
                        <a:spcBef>
                          <a:spcPts val="2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170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175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170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175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1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175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: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170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175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9525">
                      <a:solidFill>
                        <a:srgbClr val="C0C0C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1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C0C0C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200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0C0C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93139" y="1371600"/>
            <a:ext cx="7419975" cy="28962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9085" marR="5080" indent="-287020">
              <a:lnSpc>
                <a:spcPct val="100400"/>
              </a:lnSpc>
              <a:spcBef>
                <a:spcPts val="85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i="1" spc="-30" dirty="0">
                <a:solidFill>
                  <a:srgbClr val="00B050"/>
                </a:solidFill>
                <a:latin typeface="Times New Roman"/>
                <a:cs typeface="Times New Roman"/>
              </a:rPr>
              <a:t>With </a:t>
            </a:r>
            <a:r>
              <a:rPr sz="2800" i="1" spc="-5" dirty="0">
                <a:solidFill>
                  <a:srgbClr val="00B050"/>
                </a:solidFill>
                <a:latin typeface="Times New Roman"/>
                <a:cs typeface="Times New Roman"/>
              </a:rPr>
              <a:t>each page table entry a </a:t>
            </a:r>
            <a:r>
              <a:rPr sz="2800" i="1" dirty="0">
                <a:solidFill>
                  <a:srgbClr val="00B050"/>
                </a:solidFill>
                <a:latin typeface="Times New Roman"/>
                <a:cs typeface="Times New Roman"/>
              </a:rPr>
              <a:t>valid-invalid </a:t>
            </a:r>
            <a:r>
              <a:rPr sz="2800" i="1" spc="-5" dirty="0">
                <a:solidFill>
                  <a:srgbClr val="00B050"/>
                </a:solidFill>
                <a:latin typeface="Times New Roman"/>
                <a:cs typeface="Times New Roman"/>
              </a:rPr>
              <a:t>bit is </a:t>
            </a:r>
            <a:r>
              <a:rPr sz="2800" i="1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B050"/>
                </a:solidFill>
                <a:latin typeface="Times New Roman"/>
                <a:cs typeface="Times New Roman"/>
              </a:rPr>
              <a:t>associated</a:t>
            </a:r>
            <a:r>
              <a:rPr sz="2800" i="1" spc="-2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B050"/>
                </a:solidFill>
                <a:latin typeface="Times New Roman"/>
                <a:cs typeface="Times New Roman"/>
              </a:rPr>
              <a:t>(1</a:t>
            </a:r>
            <a:r>
              <a:rPr sz="2800" i="1" spc="1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B050"/>
                </a:solidFill>
                <a:latin typeface="Symbol"/>
                <a:cs typeface="Symbol"/>
              </a:rPr>
              <a:t></a:t>
            </a:r>
            <a:r>
              <a:rPr sz="2800" i="1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i="1" spc="-25" dirty="0">
                <a:solidFill>
                  <a:srgbClr val="00B050"/>
                </a:solidFill>
                <a:latin typeface="Times New Roman"/>
                <a:cs typeface="Times New Roman"/>
              </a:rPr>
              <a:t>in-memory,</a:t>
            </a:r>
            <a:r>
              <a:rPr sz="2800" i="1" spc="1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B050"/>
                </a:solidFill>
                <a:latin typeface="Times New Roman"/>
                <a:cs typeface="Times New Roman"/>
              </a:rPr>
              <a:t>0</a:t>
            </a:r>
            <a:r>
              <a:rPr sz="2800" i="1" spc="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B050"/>
                </a:solidFill>
                <a:latin typeface="Symbol"/>
                <a:cs typeface="Symbol"/>
              </a:rPr>
              <a:t></a:t>
            </a:r>
            <a:r>
              <a:rPr sz="2800" i="1" spc="1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B050"/>
                </a:solidFill>
                <a:latin typeface="Times New Roman"/>
                <a:cs typeface="Times New Roman"/>
              </a:rPr>
              <a:t>not</a:t>
            </a:r>
            <a:r>
              <a:rPr sz="2800" i="1" spc="-1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B050"/>
                </a:solidFill>
                <a:latin typeface="Times New Roman"/>
                <a:cs typeface="Times New Roman"/>
              </a:rPr>
              <a:t>in</a:t>
            </a:r>
            <a:r>
              <a:rPr sz="2800" i="1" spc="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00B050"/>
                </a:solidFill>
                <a:latin typeface="Times New Roman"/>
                <a:cs typeface="Times New Roman"/>
              </a:rPr>
              <a:t>memory).</a:t>
            </a:r>
            <a:endParaRPr sz="2800" i="1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299085" marR="106045" indent="-299720" algn="r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20" dirty="0">
                <a:latin typeface="Times New Roman"/>
                <a:cs typeface="Times New Roman"/>
              </a:rPr>
              <a:t>Initially,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valid-invalid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set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0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all entries.</a:t>
            </a:r>
            <a:endParaRPr sz="2800" dirty="0">
              <a:latin typeface="Times New Roman"/>
              <a:cs typeface="Times New Roman"/>
            </a:endParaRPr>
          </a:p>
          <a:p>
            <a:pPr marL="228600" marR="168275" lvl="1" indent="-228600" algn="r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28600" algn="l"/>
              </a:tabLst>
            </a:pPr>
            <a:r>
              <a:rPr sz="2400" spc="-5" dirty="0">
                <a:latin typeface="Times New Roman"/>
                <a:cs typeface="Times New Roman"/>
              </a:rPr>
              <a:t>During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 translation,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if valid-invalid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bit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 page</a:t>
            </a:r>
          </a:p>
          <a:p>
            <a:pPr marL="698500">
              <a:lnSpc>
                <a:spcPct val="100000"/>
              </a:lnSpc>
              <a:tabLst>
                <a:tab pos="264922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table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entry is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0	---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page</a:t>
            </a:r>
            <a:r>
              <a:rPr sz="2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fault</a:t>
            </a:r>
            <a:r>
              <a:rPr sz="240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occurs.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698500" lvl="1" indent="-229235">
              <a:lnSpc>
                <a:spcPts val="2820"/>
              </a:lnSpc>
              <a:spcBef>
                <a:spcPts val="58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Times New Roman"/>
                <a:cs typeface="Times New Roman"/>
              </a:rPr>
              <a:t>Example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page-table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snapshot</a:t>
            </a:r>
            <a:endParaRPr sz="2400" dirty="0">
              <a:latin typeface="Times New Roman"/>
              <a:cs typeface="Times New Roman"/>
            </a:endParaRPr>
          </a:p>
          <a:p>
            <a:pPr marR="163195" algn="ctr">
              <a:lnSpc>
                <a:spcPts val="2100"/>
              </a:lnSpc>
            </a:pPr>
            <a:r>
              <a:rPr sz="1800" b="1" dirty="0">
                <a:latin typeface="Times New Roman"/>
                <a:cs typeface="Times New Roman"/>
              </a:rPr>
              <a:t>Frame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#</a:t>
            </a:r>
            <a:r>
              <a:rPr sz="1800" b="1" spc="29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Valid-invalid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bit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7428" y="5208270"/>
            <a:ext cx="1083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Page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70" dirty="0">
                <a:latin typeface="Times New Roman"/>
                <a:cs typeface="Times New Roman"/>
              </a:rPr>
              <a:t>T</a:t>
            </a:r>
            <a:r>
              <a:rPr sz="1800" b="1" dirty="0">
                <a:latin typeface="Times New Roman"/>
                <a:cs typeface="Times New Roman"/>
              </a:rPr>
              <a:t>able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F83F3B-BC41-4AF5-A75D-D1B8CDCE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5118" y="549560"/>
            <a:ext cx="6893559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Handling</a:t>
            </a:r>
            <a:r>
              <a:rPr b="1" spc="-35" dirty="0"/>
              <a:t> </a:t>
            </a:r>
            <a:r>
              <a:rPr b="1" dirty="0"/>
              <a:t>a</a:t>
            </a:r>
            <a:r>
              <a:rPr b="1" spc="-5" dirty="0"/>
              <a:t> </a:t>
            </a:r>
            <a:r>
              <a:rPr b="1" spc="-30" dirty="0"/>
              <a:t>Page</a:t>
            </a:r>
            <a:r>
              <a:rPr b="1" spc="-5" dirty="0"/>
              <a:t> </a:t>
            </a:r>
            <a:r>
              <a:rPr b="1" spc="-20" dirty="0"/>
              <a:t>Fault:</a:t>
            </a:r>
            <a:r>
              <a:rPr b="1" spc="-10" dirty="0"/>
              <a:t> 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502105"/>
            <a:ext cx="7411084" cy="4288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ts val="3340"/>
              </a:lnSpc>
              <a:spcBef>
                <a:spcPts val="95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-5" dirty="0">
                <a:latin typeface="Times New Roman"/>
                <a:cs typeface="Times New Roman"/>
              </a:rPr>
              <a:t>Page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needed -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reference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page</a:t>
            </a:r>
            <a:endParaRPr sz="2800" dirty="0">
              <a:latin typeface="Times New Roman"/>
              <a:cs typeface="Times New Roman"/>
            </a:endParaRPr>
          </a:p>
          <a:p>
            <a:pPr marL="1155700" lvl="1" indent="-229235">
              <a:lnSpc>
                <a:spcPts val="2380"/>
              </a:lnSpc>
              <a:buFont typeface="Arial MT"/>
              <a:buChar char="–"/>
              <a:tabLst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Step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1:</a:t>
            </a:r>
            <a:r>
              <a:rPr sz="2000" spc="-5" dirty="0">
                <a:latin typeface="Times New Roman"/>
                <a:cs typeface="Times New Roman"/>
              </a:rPr>
              <a:t> Page</a:t>
            </a:r>
            <a:r>
              <a:rPr sz="2000" dirty="0">
                <a:latin typeface="Times New Roman"/>
                <a:cs typeface="Times New Roman"/>
              </a:rPr>
              <a:t> fault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 trap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OS (process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suspends).</a:t>
            </a:r>
            <a:endParaRPr sz="20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 MT"/>
              <a:buChar char="–"/>
            </a:pPr>
            <a:endParaRPr sz="2450" dirty="0">
              <a:latin typeface="Times New Roman"/>
              <a:cs typeface="Times New Roman"/>
            </a:endParaRPr>
          </a:p>
          <a:p>
            <a:pPr marL="1155700" marR="5080" lvl="1" indent="-228600">
              <a:lnSpc>
                <a:spcPts val="1920"/>
              </a:lnSpc>
              <a:buFont typeface="Arial MT"/>
              <a:buChar char="–"/>
              <a:tabLst>
                <a:tab pos="1156335" algn="l"/>
                <a:tab pos="3335020" algn="l"/>
              </a:tabLst>
            </a:pPr>
            <a:r>
              <a:rPr sz="2000" spc="-5" dirty="0">
                <a:latin typeface="Times New Roman"/>
                <a:cs typeface="Times New Roman"/>
              </a:rPr>
              <a:t>Step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 </a:t>
            </a: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virtual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</a:t>
            </a:r>
            <a:r>
              <a:rPr sz="2000" dirty="0">
                <a:latin typeface="Times New Roman"/>
                <a:cs typeface="Times New Roman"/>
              </a:rPr>
              <a:t> address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valid.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Kill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invalid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reference.	If valid reference, and page not in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memory,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continue.</a:t>
            </a:r>
          </a:p>
          <a:p>
            <a:pPr lvl="1">
              <a:lnSpc>
                <a:spcPct val="100000"/>
              </a:lnSpc>
              <a:spcBef>
                <a:spcPts val="20"/>
              </a:spcBef>
              <a:buFont typeface="Arial MT"/>
              <a:buChar char="–"/>
            </a:pPr>
            <a:endParaRPr sz="2500" dirty="0">
              <a:latin typeface="Times New Roman"/>
              <a:cs typeface="Times New Roman"/>
            </a:endParaRPr>
          </a:p>
          <a:p>
            <a:pPr marL="1155700" marR="58419" lvl="1" indent="-228600">
              <a:lnSpc>
                <a:spcPct val="80000"/>
              </a:lnSpc>
              <a:buFont typeface="Arial MT"/>
              <a:buChar char="–"/>
              <a:tabLst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Step </a:t>
            </a:r>
            <a:r>
              <a:rPr sz="2000" dirty="0">
                <a:latin typeface="Times New Roman"/>
                <a:cs typeface="Times New Roman"/>
              </a:rPr>
              <a:t>3: Bring into </a:t>
            </a:r>
            <a:r>
              <a:rPr sz="2000" spc="-10" dirty="0">
                <a:latin typeface="Times New Roman"/>
                <a:cs typeface="Times New Roman"/>
              </a:rPr>
              <a:t>memory </a:t>
            </a:r>
            <a:r>
              <a:rPr sz="2000" dirty="0">
                <a:latin typeface="Times New Roman"/>
                <a:cs typeface="Times New Roman"/>
              </a:rPr>
              <a:t>- </a:t>
            </a:r>
            <a:r>
              <a:rPr sz="2000" spc="-5" dirty="0">
                <a:latin typeface="Times New Roman"/>
                <a:cs typeface="Times New Roman"/>
              </a:rPr>
              <a:t>Find </a:t>
            </a:r>
            <a:r>
              <a:rPr sz="2000" dirty="0">
                <a:latin typeface="Times New Roman"/>
                <a:cs typeface="Times New Roman"/>
              </a:rPr>
              <a:t>a free page </a:t>
            </a:r>
            <a:r>
              <a:rPr sz="2000" spc="-5" dirty="0">
                <a:latin typeface="Times New Roman"/>
                <a:cs typeface="Times New Roman"/>
              </a:rPr>
              <a:t>frame, </a:t>
            </a:r>
            <a:r>
              <a:rPr sz="2000" spc="-10" dirty="0">
                <a:latin typeface="Times New Roman"/>
                <a:cs typeface="Times New Roman"/>
              </a:rPr>
              <a:t>map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 to disk block and fetch disk block into page </a:t>
            </a:r>
            <a:r>
              <a:rPr sz="2000" spc="-5" dirty="0">
                <a:latin typeface="Times New Roman"/>
                <a:cs typeface="Times New Roman"/>
              </a:rPr>
              <a:t>frame.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When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5" dirty="0">
                <a:latin typeface="Times New Roman"/>
                <a:cs typeface="Times New Roman"/>
              </a:rPr>
              <a:t> completed,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mapping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indicate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memory.</a:t>
            </a:r>
            <a:endParaRPr sz="20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 MT"/>
              <a:buChar char="–"/>
            </a:pPr>
            <a:endParaRPr sz="2500" dirty="0">
              <a:latin typeface="Times New Roman"/>
              <a:cs typeface="Times New Roman"/>
            </a:endParaRPr>
          </a:p>
          <a:p>
            <a:pPr marL="1155700" marR="75565" lvl="1" indent="-228600">
              <a:lnSpc>
                <a:spcPct val="80000"/>
              </a:lnSpc>
              <a:buFont typeface="Arial MT"/>
              <a:buChar char="–"/>
              <a:tabLst>
                <a:tab pos="1156335" algn="l"/>
              </a:tabLst>
            </a:pPr>
            <a:r>
              <a:rPr sz="2000" spc="-5" dirty="0">
                <a:latin typeface="Times New Roman"/>
                <a:cs typeface="Times New Roman"/>
              </a:rPr>
              <a:t>Step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Restart </a:t>
            </a:r>
            <a:r>
              <a:rPr sz="2000" dirty="0">
                <a:latin typeface="Times New Roman"/>
                <a:cs typeface="Times New Roman"/>
              </a:rPr>
              <a:t>instruction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interrupted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5" dirty="0">
                <a:latin typeface="Times New Roman"/>
                <a:cs typeface="Times New Roman"/>
              </a:rPr>
              <a:t> illegal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trap.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process </a:t>
            </a:r>
            <a:r>
              <a:rPr sz="2000" spc="-5" dirty="0">
                <a:latin typeface="Times New Roman"/>
                <a:cs typeface="Times New Roman"/>
              </a:rPr>
              <a:t>will </a:t>
            </a:r>
            <a:r>
              <a:rPr sz="2000" dirty="0">
                <a:latin typeface="Times New Roman"/>
                <a:cs typeface="Times New Roman"/>
              </a:rPr>
              <a:t>continue as if page had </a:t>
            </a:r>
            <a:r>
              <a:rPr sz="2000" spc="-5" dirty="0">
                <a:latin typeface="Times New Roman"/>
                <a:cs typeface="Times New Roman"/>
              </a:rPr>
              <a:t>always </a:t>
            </a:r>
            <a:r>
              <a:rPr sz="2000" dirty="0">
                <a:latin typeface="Times New Roman"/>
                <a:cs typeface="Times New Roman"/>
              </a:rPr>
              <a:t>been in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memory.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DBEE25-D5A6-42B8-A806-A950C6EB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531055"/>
            <a:ext cx="779716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2230" marR="5080" indent="-2590165" algn="ctr">
              <a:lnSpc>
                <a:spcPct val="100000"/>
              </a:lnSpc>
              <a:spcBef>
                <a:spcPts val="95"/>
              </a:spcBef>
            </a:pPr>
            <a:r>
              <a:rPr sz="3600" b="1" spc="-10" dirty="0"/>
              <a:t>What </a:t>
            </a:r>
            <a:r>
              <a:rPr sz="3600" b="1" spc="-5" dirty="0"/>
              <a:t>happens if </a:t>
            </a:r>
            <a:r>
              <a:rPr sz="3600" b="1" spc="-10" dirty="0"/>
              <a:t>there </a:t>
            </a:r>
            <a:r>
              <a:rPr sz="3600" b="1" spc="-5" dirty="0"/>
              <a:t>is no </a:t>
            </a:r>
            <a:r>
              <a:rPr sz="3600" b="1" spc="-15" dirty="0"/>
              <a:t>free </a:t>
            </a:r>
            <a:r>
              <a:rPr sz="3600" b="1" spc="-890" dirty="0"/>
              <a:t> </a:t>
            </a:r>
            <a:r>
              <a:rPr sz="3600" b="1" spc="-15" dirty="0"/>
              <a:t>frame?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7947025" cy="3185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Page </a:t>
            </a:r>
            <a:r>
              <a:rPr sz="3200" dirty="0">
                <a:latin typeface="Times New Roman"/>
                <a:cs typeface="Times New Roman"/>
              </a:rPr>
              <a:t>replacement - </a:t>
            </a:r>
            <a:r>
              <a:rPr sz="3200" spc="-5" dirty="0">
                <a:latin typeface="Times New Roman"/>
                <a:cs typeface="Times New Roman"/>
              </a:rPr>
              <a:t>find some </a:t>
            </a:r>
            <a:r>
              <a:rPr sz="3200" dirty="0">
                <a:latin typeface="Times New Roman"/>
                <a:cs typeface="Times New Roman"/>
              </a:rPr>
              <a:t>page in memory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really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 use and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swap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it.</a:t>
            </a:r>
          </a:p>
          <a:p>
            <a:pPr marL="1155700" lvl="1" indent="-22923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b="1" spc="-5" dirty="0">
                <a:solidFill>
                  <a:srgbClr val="00B050"/>
                </a:solidFill>
                <a:latin typeface="Times New Roman"/>
                <a:cs typeface="Times New Roman"/>
              </a:rPr>
              <a:t>Need</a:t>
            </a:r>
            <a:r>
              <a:rPr sz="2400" b="1" spc="-3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B050"/>
                </a:solidFill>
                <a:latin typeface="Times New Roman"/>
                <a:cs typeface="Times New Roman"/>
              </a:rPr>
              <a:t>page</a:t>
            </a:r>
            <a:r>
              <a:rPr sz="2400" b="1" spc="-2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B050"/>
                </a:solidFill>
                <a:latin typeface="Times New Roman"/>
                <a:cs typeface="Times New Roman"/>
              </a:rPr>
              <a:t>replacement</a:t>
            </a:r>
            <a:r>
              <a:rPr sz="2400" b="1" spc="-4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B050"/>
                </a:solidFill>
                <a:latin typeface="Times New Roman"/>
                <a:cs typeface="Times New Roman"/>
              </a:rPr>
              <a:t>algorithm</a:t>
            </a:r>
          </a:p>
          <a:p>
            <a:pPr marL="1155700" marR="628015" lvl="1" indent="-2286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  <a:tab pos="3565525" algn="l"/>
              </a:tabLst>
            </a:pPr>
            <a:r>
              <a:rPr sz="2400" spc="-5" dirty="0">
                <a:latin typeface="Times New Roman"/>
                <a:cs typeface="Times New Roman"/>
              </a:rPr>
              <a:t>Performance Issue	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will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result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B050"/>
                </a:solidFill>
                <a:latin typeface="Times New Roman"/>
                <a:cs typeface="Times New Roman"/>
              </a:rPr>
              <a:t>minimum</a:t>
            </a:r>
            <a:r>
              <a:rPr sz="2400" spc="-5" dirty="0">
                <a:latin typeface="Times New Roman"/>
                <a:cs typeface="Times New Roman"/>
              </a:rPr>
              <a:t> number</a:t>
            </a:r>
            <a:r>
              <a:rPr sz="2400" dirty="0">
                <a:latin typeface="Times New Roman"/>
                <a:cs typeface="Times New Roman"/>
              </a:rPr>
              <a:t> 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faults.</a:t>
            </a:r>
          </a:p>
          <a:p>
            <a:pPr marL="756285" marR="527685" indent="-287020">
              <a:lnSpc>
                <a:spcPct val="100000"/>
              </a:lnSpc>
              <a:spcBef>
                <a:spcPts val="655"/>
              </a:spcBef>
            </a:pPr>
            <a:r>
              <a:rPr sz="2800" spc="-5" dirty="0">
                <a:latin typeface="Arial MT"/>
                <a:cs typeface="Arial MT"/>
              </a:rPr>
              <a:t>– </a:t>
            </a:r>
            <a:r>
              <a:rPr sz="2800" spc="-10" dirty="0">
                <a:latin typeface="Times New Roman"/>
                <a:cs typeface="Times New Roman"/>
              </a:rPr>
              <a:t>Same </a:t>
            </a:r>
            <a:r>
              <a:rPr sz="2800" spc="-5" dirty="0">
                <a:latin typeface="Times New Roman"/>
                <a:cs typeface="Times New Roman"/>
              </a:rPr>
              <a:t>page </a:t>
            </a:r>
            <a:r>
              <a:rPr sz="2800" spc="-15" dirty="0">
                <a:latin typeface="Times New Roman"/>
                <a:cs typeface="Times New Roman"/>
              </a:rPr>
              <a:t>may </a:t>
            </a:r>
            <a:r>
              <a:rPr sz="2800" spc="-5" dirty="0">
                <a:latin typeface="Times New Roman"/>
                <a:cs typeface="Times New Roman"/>
              </a:rPr>
              <a:t>be </a:t>
            </a:r>
            <a:r>
              <a:rPr sz="2800" dirty="0">
                <a:latin typeface="Times New Roman"/>
                <a:cs typeface="Times New Roman"/>
              </a:rPr>
              <a:t>brought </a:t>
            </a:r>
            <a:r>
              <a:rPr sz="2800" spc="-5" dirty="0">
                <a:latin typeface="Times New Roman"/>
                <a:cs typeface="Times New Roman"/>
              </a:rPr>
              <a:t>into </a:t>
            </a:r>
            <a:r>
              <a:rPr sz="2800" spc="-10" dirty="0">
                <a:latin typeface="Times New Roman"/>
                <a:cs typeface="Times New Roman"/>
              </a:rPr>
              <a:t>memory many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times?????.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24ED97-A9C7-459A-B376-ED491BAA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4689" y="549560"/>
            <a:ext cx="421830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30" dirty="0"/>
              <a:t>Page</a:t>
            </a:r>
            <a:r>
              <a:rPr b="1" spc="-65" dirty="0"/>
              <a:t> </a:t>
            </a:r>
            <a:r>
              <a:rPr b="1" spc="-10" dirty="0"/>
              <a:t>Replacement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8000365" cy="4443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Prevent over-allocation </a:t>
            </a:r>
            <a:r>
              <a:rPr sz="3200" dirty="0">
                <a:latin typeface="Times New Roman"/>
                <a:cs typeface="Times New Roman"/>
              </a:rPr>
              <a:t>of memory by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modifying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page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fault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service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routine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include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page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replacement.</a:t>
            </a:r>
            <a:endParaRPr sz="3200">
              <a:latin typeface="Times New Roman"/>
              <a:cs typeface="Times New Roman"/>
            </a:endParaRPr>
          </a:p>
          <a:p>
            <a:pPr marL="355600" marR="52832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modify(dirty)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bit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reduce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overhead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page </a:t>
            </a:r>
            <a:r>
              <a:rPr sz="3200" spc="-5" dirty="0">
                <a:latin typeface="Times New Roman"/>
                <a:cs typeface="Times New Roman"/>
              </a:rPr>
              <a:t>transfers </a:t>
            </a:r>
            <a:r>
              <a:rPr sz="3200" dirty="0">
                <a:latin typeface="Times New Roman"/>
                <a:cs typeface="Times New Roman"/>
              </a:rPr>
              <a:t>- only modified pages are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written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disk.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Page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replacement</a:t>
            </a:r>
            <a:endParaRPr sz="3200">
              <a:latin typeface="Times New Roman"/>
              <a:cs typeface="Times New Roman"/>
            </a:endParaRPr>
          </a:p>
          <a:p>
            <a:pPr marL="1155700" marR="690880" lvl="1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Times New Roman"/>
                <a:cs typeface="Times New Roman"/>
              </a:rPr>
              <a:t>large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virtual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smaller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memory.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611CD2-6132-4968-A40E-ECCD3226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531055"/>
            <a:ext cx="84582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1645" marR="5080" indent="-1719580" algn="ctr">
              <a:lnSpc>
                <a:spcPct val="100000"/>
              </a:lnSpc>
              <a:spcBef>
                <a:spcPts val="95"/>
              </a:spcBef>
            </a:pPr>
            <a:r>
              <a:rPr sz="3600" b="1" spc="-30" dirty="0"/>
              <a:t>Page </a:t>
            </a:r>
            <a:r>
              <a:rPr sz="3600" b="1" spc="-10" dirty="0"/>
              <a:t>Replacement </a:t>
            </a:r>
            <a:r>
              <a:rPr sz="3600" b="1" spc="-20" dirty="0"/>
              <a:t>Strategies </a:t>
            </a:r>
            <a:r>
              <a:rPr sz="3600" b="1" spc="-890" dirty="0"/>
              <a:t> </a:t>
            </a:r>
            <a:r>
              <a:rPr sz="3600" b="1" spc="-10" dirty="0"/>
              <a:t>(algorithms)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1450594" y="1561541"/>
            <a:ext cx="6849745" cy="4302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Principle 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Optimality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445"/>
              </a:spcBef>
              <a:buFont typeface="Arial MT"/>
              <a:buChar char="–"/>
              <a:tabLst>
                <a:tab pos="698500" algn="l"/>
              </a:tabLst>
            </a:pPr>
            <a:r>
              <a:rPr sz="1800" spc="-10" dirty="0">
                <a:latin typeface="Calibri"/>
                <a:cs typeface="Calibri"/>
              </a:rPr>
              <a:t>Replace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will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farthest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future.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ts val="239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Random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Page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Replacement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ts val="2155"/>
              </a:lnSpc>
              <a:spcBef>
                <a:spcPts val="5"/>
              </a:spcBef>
              <a:buFont typeface="Arial MT"/>
              <a:buChar char="–"/>
              <a:tabLst>
                <a:tab pos="698500" algn="l"/>
              </a:tabLst>
            </a:pPr>
            <a:r>
              <a:rPr sz="1800" spc="-5" dirty="0">
                <a:latin typeface="Calibri"/>
                <a:cs typeface="Calibri"/>
              </a:rPr>
              <a:t>Choose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page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randomly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ts val="2395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FIFO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First</a:t>
            </a:r>
            <a:r>
              <a:rPr sz="2000" dirty="0">
                <a:latin typeface="Calibri"/>
                <a:cs typeface="Calibri"/>
              </a:rPr>
              <a:t> in</a:t>
            </a:r>
            <a:r>
              <a:rPr sz="2000" spc="-15" dirty="0">
                <a:latin typeface="Calibri"/>
                <a:cs typeface="Calibri"/>
              </a:rPr>
              <a:t> First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</a:p>
          <a:p>
            <a:pPr marL="698500" lvl="1" indent="-228600">
              <a:lnSpc>
                <a:spcPts val="2155"/>
              </a:lnSpc>
              <a:spcBef>
                <a:spcPts val="10"/>
              </a:spcBef>
              <a:buFont typeface="Arial MT"/>
              <a:buChar char="–"/>
              <a:tabLst>
                <a:tab pos="698500" algn="l"/>
              </a:tabLst>
            </a:pPr>
            <a:r>
              <a:rPr sz="1800" spc="-10" dirty="0">
                <a:latin typeface="Calibri"/>
                <a:cs typeface="Calibri"/>
              </a:rPr>
              <a:t>Replace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memory the </a:t>
            </a:r>
            <a:r>
              <a:rPr sz="1800" spc="-10" dirty="0">
                <a:latin typeface="Calibri"/>
                <a:cs typeface="Calibri"/>
              </a:rPr>
              <a:t>longest.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ts val="2395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LRU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Recently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ts val="2160"/>
              </a:lnSpc>
              <a:spcBef>
                <a:spcPts val="5"/>
              </a:spcBef>
              <a:buFont typeface="Arial MT"/>
              <a:buChar char="–"/>
              <a:tabLst>
                <a:tab pos="698500" algn="l"/>
              </a:tabLst>
            </a:pPr>
            <a:r>
              <a:rPr sz="1800" spc="-10" dirty="0">
                <a:latin typeface="Calibri"/>
                <a:cs typeface="Calibri"/>
              </a:rPr>
              <a:t>Replace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longest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time.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ts val="24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LFU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Least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Frequently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</a:p>
          <a:p>
            <a:pPr marL="698500" lvl="1" indent="-228600">
              <a:lnSpc>
                <a:spcPts val="2155"/>
              </a:lnSpc>
              <a:spcBef>
                <a:spcPts val="10"/>
              </a:spcBef>
              <a:buFont typeface="Arial MT"/>
              <a:buChar char="–"/>
              <a:tabLst>
                <a:tab pos="698500" algn="l"/>
              </a:tabLst>
            </a:pPr>
            <a:r>
              <a:rPr sz="1800" spc="-10" dirty="0">
                <a:latin typeface="Calibri"/>
                <a:cs typeface="Calibri"/>
              </a:rPr>
              <a:t>Replace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least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often.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ts val="2395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NUR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Recently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ts val="2155"/>
              </a:lnSpc>
              <a:spcBef>
                <a:spcPts val="10"/>
              </a:spcBef>
              <a:buFont typeface="Arial MT"/>
              <a:buChar char="–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approximation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LRU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ts val="2395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5" dirty="0">
                <a:latin typeface="Calibri"/>
                <a:cs typeface="Calibri"/>
              </a:rPr>
              <a:t>Working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Set</a:t>
            </a:r>
            <a:endParaRPr sz="2000" dirty="0">
              <a:latin typeface="Calibri"/>
              <a:cs typeface="Calibri"/>
            </a:endParaRPr>
          </a:p>
          <a:p>
            <a:pPr marL="748665" lvl="1" indent="-279400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48665" algn="l"/>
                <a:tab pos="749300" algn="l"/>
              </a:tabLst>
            </a:pPr>
            <a:r>
              <a:rPr sz="1800" spc="-10" dirty="0">
                <a:latin typeface="Calibri"/>
                <a:cs typeface="Calibri"/>
              </a:rPr>
              <a:t>Keep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memory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 </a:t>
            </a:r>
            <a:r>
              <a:rPr sz="1800" spc="-5" dirty="0">
                <a:latin typeface="Calibri"/>
                <a:cs typeface="Calibri"/>
              </a:rPr>
              <a:t>pages that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actively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using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CF771-A414-4A22-A213-C6C6B84C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8865" y="549560"/>
            <a:ext cx="759142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Optimal </a:t>
            </a:r>
            <a:r>
              <a:rPr b="1" spc="-35" dirty="0"/>
              <a:t>Page</a:t>
            </a:r>
            <a:r>
              <a:rPr b="1" spc="5" dirty="0"/>
              <a:t> </a:t>
            </a:r>
            <a:r>
              <a:rPr b="1" spc="-10" dirty="0"/>
              <a:t>Replacement</a:t>
            </a:r>
            <a:r>
              <a:rPr b="1" spc="-35" dirty="0"/>
              <a:t> </a:t>
            </a:r>
            <a:r>
              <a:rPr b="1" spc="-5" dirty="0"/>
              <a:t>(OPR)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5445"/>
            <a:ext cx="7976234" cy="1903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Replace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-5" dirty="0">
                <a:latin typeface="Calibri"/>
                <a:cs typeface="Calibri"/>
              </a:rPr>
              <a:t> will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not be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used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longest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period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time.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00" dirty="0">
              <a:latin typeface="Calibri"/>
              <a:cs typeface="Calibri"/>
            </a:endParaRPr>
          </a:p>
          <a:p>
            <a:pPr marL="355600" marR="223520" indent="-342900">
              <a:lnSpc>
                <a:spcPct val="8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Each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 labeled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 </a:t>
            </a:r>
            <a:r>
              <a:rPr sz="2200" spc="-10" dirty="0">
                <a:latin typeface="Calibri"/>
                <a:cs typeface="Calibri"/>
              </a:rPr>
              <a:t>number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instructions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will </a:t>
            </a:r>
            <a:r>
              <a:rPr sz="2200" spc="-10" dirty="0">
                <a:latin typeface="Calibri"/>
                <a:cs typeface="Calibri"/>
              </a:rPr>
              <a:t>be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executed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before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first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referenced.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ts val="237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Ex: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For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three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frames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8</a:t>
            </a:r>
            <a:r>
              <a:rPr sz="2200" spc="-10" dirty="0">
                <a:latin typeface="Calibri"/>
                <a:cs typeface="Calibri"/>
              </a:rPr>
              <a:t> pages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system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optimal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spc="-10" dirty="0">
                <a:latin typeface="Calibri"/>
                <a:cs typeface="Calibri"/>
              </a:rPr>
              <a:t>replacement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578157"/>
            <a:ext cx="7685757" cy="2495144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D0696C7-0CA5-480C-9E18-6E7568702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0992" y="549560"/>
            <a:ext cx="392493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No</a:t>
            </a:r>
            <a:r>
              <a:rPr b="1" spc="-20" dirty="0"/>
              <a:t> </a:t>
            </a:r>
            <a:r>
              <a:rPr b="1" dirty="0"/>
              <a:t>of</a:t>
            </a:r>
            <a:r>
              <a:rPr b="1" spc="-25" dirty="0"/>
              <a:t> </a:t>
            </a:r>
            <a:r>
              <a:rPr b="1" spc="-10" dirty="0"/>
              <a:t>page</a:t>
            </a:r>
            <a:r>
              <a:rPr b="1" spc="-15" dirty="0"/>
              <a:t> fault?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7378"/>
            <a:ext cx="8066405" cy="883919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2700" b="1" dirty="0">
                <a:latin typeface="Times New Roman"/>
                <a:cs typeface="Times New Roman"/>
              </a:rPr>
              <a:t>For</a:t>
            </a:r>
            <a:r>
              <a:rPr sz="2700" b="1" spc="-75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three</a:t>
            </a:r>
            <a:r>
              <a:rPr sz="2700" b="1" spc="-5" dirty="0">
                <a:latin typeface="Times New Roman"/>
                <a:cs typeface="Times New Roman"/>
              </a:rPr>
              <a:t> page</a:t>
            </a:r>
            <a:r>
              <a:rPr sz="2700" b="1" spc="-1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frames</a:t>
            </a:r>
            <a:r>
              <a:rPr sz="2700" b="1" spc="-2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and</a:t>
            </a:r>
            <a:r>
              <a:rPr sz="2700" b="1" spc="-5" dirty="0">
                <a:latin typeface="Times New Roman"/>
                <a:cs typeface="Times New Roman"/>
              </a:rPr>
              <a:t> page</a:t>
            </a:r>
            <a:r>
              <a:rPr sz="2700" b="1" spc="-20" dirty="0">
                <a:latin typeface="Times New Roman"/>
                <a:cs typeface="Times New Roman"/>
              </a:rPr>
              <a:t> </a:t>
            </a:r>
            <a:r>
              <a:rPr sz="2700" b="1" spc="-10" dirty="0">
                <a:latin typeface="Times New Roman"/>
                <a:cs typeface="Times New Roman"/>
              </a:rPr>
              <a:t>references</a:t>
            </a:r>
            <a:r>
              <a:rPr sz="2700" b="1" spc="-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in</a:t>
            </a:r>
            <a:r>
              <a:rPr sz="2700" b="1" spc="-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the</a:t>
            </a:r>
            <a:r>
              <a:rPr sz="2700" b="1" spc="-15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order</a:t>
            </a:r>
            <a:endParaRPr sz="27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  <a:tabLst>
                <a:tab pos="1136015" algn="l"/>
                <a:tab pos="1593215" algn="l"/>
                <a:tab pos="2050414" algn="l"/>
                <a:tab pos="2507615" algn="l"/>
                <a:tab pos="2964815" algn="l"/>
                <a:tab pos="3422015" algn="l"/>
                <a:tab pos="3879215" algn="l"/>
                <a:tab pos="4336415" algn="l"/>
                <a:tab pos="4793615" algn="l"/>
              </a:tabLst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	1	2	3	2	1	0	3	2	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4042409"/>
            <a:ext cx="7386955" cy="14522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5080" indent="-287020">
              <a:lnSpc>
                <a:spcPts val="2590"/>
              </a:lnSpc>
              <a:spcBef>
                <a:spcPts val="425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5" dirty="0">
                <a:latin typeface="Times New Roman"/>
                <a:cs typeface="Times New Roman"/>
              </a:rPr>
              <a:t>Note: Not Implementable </a:t>
            </a:r>
            <a:r>
              <a:rPr sz="2400" dirty="0">
                <a:latin typeface="Times New Roman"/>
                <a:cs typeface="Times New Roman"/>
              </a:rPr>
              <a:t>“Future reference can not be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determined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exactly”.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15" dirty="0">
                <a:latin typeface="Times New Roman"/>
                <a:cs typeface="Times New Roman"/>
              </a:rPr>
              <a:t> behavior.</a:t>
            </a:r>
            <a:endParaRPr sz="2400">
              <a:latin typeface="Times New Roman"/>
              <a:cs typeface="Times New Roman"/>
            </a:endParaRPr>
          </a:p>
          <a:p>
            <a:pPr marL="299085" marR="37465" indent="-287020">
              <a:lnSpc>
                <a:spcPts val="2590"/>
              </a:lnSpc>
              <a:spcBef>
                <a:spcPts val="580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5" dirty="0">
                <a:latin typeface="Times New Roman"/>
                <a:cs typeface="Times New Roman"/>
              </a:rPr>
              <a:t>Used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compare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efficiency </a:t>
            </a:r>
            <a:r>
              <a:rPr sz="2400" dirty="0">
                <a:latin typeface="Times New Roman"/>
                <a:cs typeface="Times New Roman"/>
              </a:rPr>
              <a:t>of other page </a:t>
            </a:r>
            <a:r>
              <a:rPr sz="2400" spc="-5" dirty="0">
                <a:latin typeface="Times New Roman"/>
                <a:cs typeface="Times New Roman"/>
              </a:rPr>
              <a:t>replacement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algorithms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F604C6F-E109-4298-9254-B1D616E1F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1582" y="549560"/>
            <a:ext cx="3640454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OPR:</a:t>
            </a:r>
            <a:r>
              <a:rPr b="1" spc="-100" dirty="0"/>
              <a:t> </a:t>
            </a:r>
            <a:r>
              <a:rPr b="1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0984"/>
            <a:ext cx="7813040" cy="4129977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Advantages:</a:t>
            </a:r>
          </a:p>
          <a:p>
            <a:pPr marL="756285" marR="534670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Times New Roman"/>
                <a:cs typeface="Times New Roman"/>
              </a:rPr>
              <a:t>An optimal page-replacement algorithm; it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guarantees</a:t>
            </a:r>
            <a:r>
              <a:rPr sz="2800" spc="-3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the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 lowest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possible</a:t>
            </a:r>
            <a:r>
              <a:rPr sz="2800" spc="-4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page</a:t>
            </a: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fault</a:t>
            </a:r>
            <a:r>
              <a:rPr sz="2800" spc="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rate.</a:t>
            </a:r>
            <a:endParaRPr sz="280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Problems:</a:t>
            </a:r>
            <a:endParaRPr sz="3200" dirty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Times New Roman"/>
                <a:cs typeface="Times New Roman"/>
              </a:rPr>
              <a:t>Unrealizable, </a:t>
            </a:r>
            <a:r>
              <a:rPr sz="2800" spc="-5" dirty="0">
                <a:latin typeface="Times New Roman"/>
                <a:cs typeface="Times New Roman"/>
              </a:rPr>
              <a:t>at the </a:t>
            </a:r>
            <a:r>
              <a:rPr sz="2800" spc="-10" dirty="0">
                <a:latin typeface="Times New Roman"/>
                <a:cs typeface="Times New Roman"/>
              </a:rPr>
              <a:t>time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page fault,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OS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no</a:t>
            </a:r>
            <a:r>
              <a:rPr sz="2800" spc="-1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Times New Roman"/>
                <a:cs typeface="Times New Roman"/>
              </a:rPr>
              <a:t>way</a:t>
            </a:r>
            <a:r>
              <a:rPr sz="2800" spc="1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of</a:t>
            </a:r>
            <a:r>
              <a:rPr sz="2800" spc="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B050"/>
                </a:solidFill>
                <a:latin typeface="Times New Roman"/>
                <a:cs typeface="Times New Roman"/>
              </a:rPr>
              <a:t>knowing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when each 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pages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will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 referenced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next.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B050"/>
                </a:solidFill>
                <a:latin typeface="Times New Roman"/>
                <a:cs typeface="Times New Roman"/>
              </a:rPr>
              <a:t>not</a:t>
            </a:r>
            <a:r>
              <a:rPr sz="3200" spc="-2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B050"/>
                </a:solidFill>
                <a:latin typeface="Times New Roman"/>
                <a:cs typeface="Times New Roman"/>
              </a:rPr>
              <a:t>used</a:t>
            </a:r>
            <a:r>
              <a:rPr sz="3200" spc="-1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B050"/>
                </a:solidFill>
                <a:latin typeface="Times New Roman"/>
                <a:cs typeface="Times New Roman"/>
              </a:rPr>
              <a:t>in practical</a:t>
            </a:r>
            <a:r>
              <a:rPr sz="3200" spc="-3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B050"/>
                </a:solidFill>
                <a:latin typeface="Times New Roman"/>
                <a:cs typeface="Times New Roman"/>
              </a:rPr>
              <a:t>system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4AB45-FF99-4574-B186-B71076A9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5004" y="549560"/>
            <a:ext cx="525780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5" dirty="0"/>
              <a:t>First-In-First-Out</a:t>
            </a:r>
            <a:r>
              <a:rPr b="1" spc="-65" dirty="0"/>
              <a:t> </a:t>
            </a:r>
            <a:r>
              <a:rPr b="1" spc="-5" dirty="0"/>
              <a:t>(FIFO)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6301"/>
            <a:ext cx="8070850" cy="20834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5" dirty="0">
                <a:latin typeface="Times New Roman"/>
                <a:cs typeface="Times New Roman"/>
              </a:rPr>
              <a:t>This </a:t>
            </a:r>
            <a:r>
              <a:rPr sz="2500" dirty="0">
                <a:latin typeface="Times New Roman"/>
                <a:cs typeface="Times New Roman"/>
              </a:rPr>
              <a:t>associates </a:t>
            </a:r>
            <a:r>
              <a:rPr sz="2500" spc="-5" dirty="0">
                <a:latin typeface="Times New Roman"/>
                <a:cs typeface="Times New Roman"/>
              </a:rPr>
              <a:t>with </a:t>
            </a:r>
            <a:r>
              <a:rPr sz="2500" dirty="0">
                <a:latin typeface="Times New Roman"/>
                <a:cs typeface="Times New Roman"/>
              </a:rPr>
              <a:t>each page the </a:t>
            </a:r>
            <a:r>
              <a:rPr sz="2500" spc="-5" dirty="0">
                <a:latin typeface="Times New Roman"/>
                <a:cs typeface="Times New Roman"/>
              </a:rPr>
              <a:t>time when </a:t>
            </a:r>
            <a:r>
              <a:rPr sz="2500" dirty="0">
                <a:latin typeface="Times New Roman"/>
                <a:cs typeface="Times New Roman"/>
              </a:rPr>
              <a:t>that </a:t>
            </a:r>
            <a:r>
              <a:rPr sz="2500" spc="-5" dirty="0">
                <a:latin typeface="Times New Roman"/>
                <a:cs typeface="Times New Roman"/>
              </a:rPr>
              <a:t>page was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brought </a:t>
            </a:r>
            <a:r>
              <a:rPr sz="2500" dirty="0">
                <a:latin typeface="Times New Roman"/>
                <a:cs typeface="Times New Roman"/>
              </a:rPr>
              <a:t>into the </a:t>
            </a:r>
            <a:r>
              <a:rPr sz="2500" spc="-25" dirty="0">
                <a:latin typeface="Times New Roman"/>
                <a:cs typeface="Times New Roman"/>
              </a:rPr>
              <a:t>memory.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dirty="0">
                <a:latin typeface="Times New Roman"/>
                <a:cs typeface="Times New Roman"/>
              </a:rPr>
              <a:t>page </a:t>
            </a:r>
            <a:r>
              <a:rPr sz="2500" spc="-10" dirty="0">
                <a:latin typeface="Times New Roman"/>
                <a:cs typeface="Times New Roman"/>
              </a:rPr>
              <a:t>with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highest </a:t>
            </a:r>
            <a:r>
              <a:rPr sz="2500" spc="-5" dirty="0">
                <a:latin typeface="Times New Roman"/>
                <a:cs typeface="Times New Roman"/>
              </a:rPr>
              <a:t>time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chosen to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replace.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400"/>
              </a:lnSpc>
              <a:buFont typeface="Arial MT"/>
              <a:buChar char="•"/>
              <a:tabLst>
                <a:tab pos="355600" algn="l"/>
              </a:tabLst>
            </a:pPr>
            <a:r>
              <a:rPr sz="2500" spc="-5" dirty="0">
                <a:latin typeface="Times New Roman"/>
                <a:cs typeface="Times New Roman"/>
              </a:rPr>
              <a:t>This can </a:t>
            </a:r>
            <a:r>
              <a:rPr sz="2500" dirty="0">
                <a:latin typeface="Times New Roman"/>
                <a:cs typeface="Times New Roman"/>
              </a:rPr>
              <a:t>also </a:t>
            </a:r>
            <a:r>
              <a:rPr sz="2500" spc="-5" dirty="0">
                <a:latin typeface="Times New Roman"/>
                <a:cs typeface="Times New Roman"/>
              </a:rPr>
              <a:t>be </a:t>
            </a:r>
            <a:r>
              <a:rPr sz="2500" dirty="0">
                <a:latin typeface="Times New Roman"/>
                <a:cs typeface="Times New Roman"/>
              </a:rPr>
              <a:t>implemented </a:t>
            </a:r>
            <a:r>
              <a:rPr sz="2500" spc="-5" dirty="0">
                <a:latin typeface="Times New Roman"/>
                <a:cs typeface="Times New Roman"/>
              </a:rPr>
              <a:t>by using </a:t>
            </a:r>
            <a:r>
              <a:rPr sz="2500" dirty="0">
                <a:latin typeface="Times New Roman"/>
                <a:cs typeface="Times New Roman"/>
              </a:rPr>
              <a:t>queue </a:t>
            </a:r>
            <a:r>
              <a:rPr sz="2500" spc="-5" dirty="0">
                <a:latin typeface="Times New Roman"/>
                <a:cs typeface="Times New Roman"/>
              </a:rPr>
              <a:t>of </a:t>
            </a:r>
            <a:r>
              <a:rPr sz="2500" dirty="0">
                <a:latin typeface="Times New Roman"/>
                <a:cs typeface="Times New Roman"/>
              </a:rPr>
              <a:t>all </a:t>
            </a:r>
            <a:r>
              <a:rPr sz="2500" spc="-5" dirty="0">
                <a:latin typeface="Times New Roman"/>
                <a:cs typeface="Times New Roman"/>
              </a:rPr>
              <a:t>pages in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35" dirty="0">
                <a:latin typeface="Times New Roman"/>
                <a:cs typeface="Times New Roman"/>
              </a:rPr>
              <a:t>memory.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433" y="4067175"/>
            <a:ext cx="7584358" cy="168592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B62EFD-7F21-4554-8E58-452B1F26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773" y="549560"/>
            <a:ext cx="516064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How</a:t>
            </a:r>
            <a:r>
              <a:rPr b="1" spc="-55" dirty="0"/>
              <a:t> </a:t>
            </a:r>
            <a:r>
              <a:rPr b="1" spc="-20" dirty="0"/>
              <a:t>many</a:t>
            </a:r>
            <a:r>
              <a:rPr b="1" spc="-25" dirty="0"/>
              <a:t> </a:t>
            </a:r>
            <a:r>
              <a:rPr b="1" spc="-30" dirty="0"/>
              <a:t>Page</a:t>
            </a:r>
            <a:r>
              <a:rPr b="1" spc="-20" dirty="0"/>
              <a:t> Fault?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16240" cy="25603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latin typeface="Calibri"/>
                <a:cs typeface="Calibri"/>
              </a:rPr>
              <a:t>for </a:t>
            </a:r>
            <a:r>
              <a:rPr sz="3200" b="1" spc="-15" dirty="0">
                <a:latin typeface="Calibri"/>
                <a:cs typeface="Calibri"/>
              </a:rPr>
              <a:t>four </a:t>
            </a:r>
            <a:r>
              <a:rPr sz="3200" b="1" spc="-10" dirty="0">
                <a:latin typeface="Calibri"/>
                <a:cs typeface="Calibri"/>
              </a:rPr>
              <a:t>page </a:t>
            </a:r>
            <a:r>
              <a:rPr sz="3200" b="1" spc="-15" dirty="0">
                <a:latin typeface="Calibri"/>
                <a:cs typeface="Calibri"/>
              </a:rPr>
              <a:t>frames </a:t>
            </a:r>
            <a:r>
              <a:rPr sz="3200" b="1" dirty="0">
                <a:latin typeface="Calibri"/>
                <a:cs typeface="Calibri"/>
              </a:rPr>
              <a:t>and </a:t>
            </a:r>
            <a:r>
              <a:rPr sz="3200" b="1" spc="-10" dirty="0">
                <a:latin typeface="Calibri"/>
                <a:cs typeface="Calibri"/>
              </a:rPr>
              <a:t>page </a:t>
            </a:r>
            <a:r>
              <a:rPr sz="3200" b="1" spc="-20" dirty="0">
                <a:latin typeface="Calibri"/>
                <a:cs typeface="Calibri"/>
              </a:rPr>
              <a:t>references </a:t>
            </a:r>
            <a:r>
              <a:rPr sz="3200" b="1" dirty="0">
                <a:latin typeface="Calibri"/>
                <a:cs typeface="Calibri"/>
              </a:rPr>
              <a:t>in </a:t>
            </a:r>
            <a:r>
              <a:rPr sz="3200" b="1" spc="-5" dirty="0">
                <a:latin typeface="Calibri"/>
                <a:cs typeface="Calibri"/>
              </a:rPr>
              <a:t>the </a:t>
            </a:r>
            <a:r>
              <a:rPr sz="3200" b="1" spc="-71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order</a:t>
            </a:r>
            <a:endParaRPr sz="32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  <a:tabLst>
                <a:tab pos="1177925" algn="l"/>
                <a:tab pos="1681480" algn="l"/>
                <a:tab pos="2186940" algn="l"/>
                <a:tab pos="2690495" algn="l"/>
                <a:tab pos="3194050" algn="l"/>
                <a:tab pos="3697604" algn="l"/>
                <a:tab pos="4202430" algn="l"/>
                <a:tab pos="4706620" algn="l"/>
                <a:tab pos="5210175" algn="l"/>
              </a:tabLst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5" dirty="0">
                <a:latin typeface="Calibri"/>
                <a:cs typeface="Calibri"/>
              </a:rPr>
              <a:t>0	1	2	3	2	1	0	3	2	3</a:t>
            </a:r>
            <a:endParaRPr lang="en-US" sz="2800" spc="-5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  <a:tabLst>
                <a:tab pos="1177925" algn="l"/>
                <a:tab pos="1681480" algn="l"/>
                <a:tab pos="2186940" algn="l"/>
                <a:tab pos="2690495" algn="l"/>
                <a:tab pos="3194050" algn="l"/>
                <a:tab pos="3697604" algn="l"/>
                <a:tab pos="4202430" algn="l"/>
                <a:tab pos="4706620" algn="l"/>
                <a:tab pos="5210175" algn="l"/>
              </a:tabLst>
            </a:pPr>
            <a:endParaRPr lang="en-US" sz="2800" spc="-5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  <a:tabLst>
                <a:tab pos="1177925" algn="l"/>
                <a:tab pos="1681480" algn="l"/>
                <a:tab pos="2186940" algn="l"/>
                <a:tab pos="2690495" algn="l"/>
                <a:tab pos="3194050" algn="l"/>
                <a:tab pos="3697604" algn="l"/>
                <a:tab pos="4202430" algn="l"/>
                <a:tab pos="4706620" algn="l"/>
                <a:tab pos="5210175" algn="l"/>
              </a:tabLst>
            </a:pPr>
            <a:r>
              <a:rPr lang="en-US" sz="2800" b="1" spc="-5" dirty="0">
                <a:solidFill>
                  <a:srgbClr val="00B050"/>
                </a:solidFill>
                <a:latin typeface="Calibri"/>
                <a:cs typeface="Calibri"/>
              </a:rPr>
              <a:t>4 Page fault occurs</a:t>
            </a:r>
            <a:endParaRPr sz="2800" b="1" dirty="0">
              <a:solidFill>
                <a:srgbClr val="00B050"/>
              </a:solidFill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94AE17-0807-4730-9554-79F53559D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8505" y="549560"/>
            <a:ext cx="104711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5" dirty="0"/>
              <a:t>FI</a:t>
            </a:r>
            <a:r>
              <a:rPr b="1" spc="-30" dirty="0"/>
              <a:t>F</a:t>
            </a:r>
            <a:r>
              <a:rPr b="1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315200" cy="410400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Advantages: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30" dirty="0">
                <a:latin typeface="Calibri"/>
                <a:cs typeface="Calibri"/>
              </a:rPr>
              <a:t>Easy</a:t>
            </a:r>
            <a:r>
              <a:rPr sz="2800" spc="-20" dirty="0">
                <a:latin typeface="Calibri"/>
                <a:cs typeface="Calibri"/>
              </a:rPr>
              <a:t> 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understand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program.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Distributes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fair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chance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all.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Problems:</a:t>
            </a:r>
            <a:endParaRPr sz="32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FIFO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likely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replace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heavily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constantly)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endParaRPr sz="2800">
              <a:latin typeface="Calibri"/>
              <a:cs typeface="Calibri"/>
            </a:endParaRPr>
          </a:p>
          <a:p>
            <a:pPr marL="756285" marR="47561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pages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still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needed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further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processing.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20D34-EFCC-4808-8D20-69B658DA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5821" y="549560"/>
            <a:ext cx="591820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Least</a:t>
            </a:r>
            <a:r>
              <a:rPr b="1" spc="-50" dirty="0"/>
              <a:t> </a:t>
            </a:r>
            <a:r>
              <a:rPr b="1" spc="-10" dirty="0"/>
              <a:t>Recently</a:t>
            </a:r>
            <a:r>
              <a:rPr b="1" spc="-50" dirty="0"/>
              <a:t> </a:t>
            </a:r>
            <a:r>
              <a:rPr b="1" dirty="0"/>
              <a:t>Used</a:t>
            </a:r>
            <a:r>
              <a:rPr b="1" spc="-20" dirty="0"/>
              <a:t> </a:t>
            </a:r>
            <a:r>
              <a:rPr b="1" spc="-5" dirty="0"/>
              <a:t>(LRU)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7538"/>
            <a:ext cx="8072755" cy="225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4995">
              <a:lnSpc>
                <a:spcPct val="100000"/>
              </a:lnSpc>
              <a:spcBef>
                <a:spcPts val="100"/>
              </a:spcBef>
            </a:pPr>
            <a:r>
              <a:rPr sz="2700" spc="-15" dirty="0">
                <a:solidFill>
                  <a:srgbClr val="FF0000"/>
                </a:solidFill>
                <a:latin typeface="Calibri"/>
                <a:cs typeface="Calibri"/>
              </a:rPr>
              <a:t>Recent</a:t>
            </a:r>
            <a:r>
              <a:rPr sz="27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FF0000"/>
                </a:solidFill>
                <a:latin typeface="Calibri"/>
                <a:cs typeface="Calibri"/>
              </a:rPr>
              <a:t>past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is a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good </a:t>
            </a:r>
            <a:r>
              <a:rPr sz="2700" spc="-15" dirty="0">
                <a:solidFill>
                  <a:srgbClr val="FF0000"/>
                </a:solidFill>
                <a:latin typeface="Calibri"/>
                <a:cs typeface="Calibri"/>
              </a:rPr>
              <a:t>indicator </a:t>
            </a: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of the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Calibri"/>
                <a:cs typeface="Calibri"/>
              </a:rPr>
              <a:t>near</a:t>
            </a:r>
            <a:r>
              <a:rPr sz="27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future.</a:t>
            </a:r>
            <a:endParaRPr sz="2700" dirty="0">
              <a:latin typeface="Calibri"/>
              <a:cs typeface="Calibri"/>
            </a:endParaRPr>
          </a:p>
          <a:p>
            <a:pPr marL="355600" marR="6985" indent="-342900" algn="just">
              <a:lnSpc>
                <a:spcPct val="8000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When a </a:t>
            </a:r>
            <a:r>
              <a:rPr sz="2200" spc="-10" dirty="0">
                <a:latin typeface="Calibri"/>
                <a:cs typeface="Calibri"/>
              </a:rPr>
              <a:t>page </a:t>
            </a:r>
            <a:r>
              <a:rPr sz="2200" spc="-15" dirty="0">
                <a:latin typeface="Calibri"/>
                <a:cs typeface="Calibri"/>
              </a:rPr>
              <a:t>fault occurs, throw </a:t>
            </a:r>
            <a:r>
              <a:rPr sz="2200" spc="-5" dirty="0">
                <a:latin typeface="Calibri"/>
                <a:cs typeface="Calibri"/>
              </a:rPr>
              <a:t>out the </a:t>
            </a:r>
            <a:r>
              <a:rPr sz="2200" spc="-15" dirty="0">
                <a:latin typeface="Calibri"/>
                <a:cs typeface="Calibri"/>
              </a:rPr>
              <a:t>page </a:t>
            </a:r>
            <a:r>
              <a:rPr sz="2200" spc="-10" dirty="0">
                <a:latin typeface="Calibri"/>
                <a:cs typeface="Calibri"/>
              </a:rPr>
              <a:t>that has </a:t>
            </a:r>
            <a:r>
              <a:rPr sz="2200" spc="-5" dirty="0">
                <a:latin typeface="Calibri"/>
                <a:cs typeface="Calibri"/>
              </a:rPr>
              <a:t>been </a:t>
            </a:r>
            <a:r>
              <a:rPr sz="2200" spc="-10" dirty="0">
                <a:latin typeface="Calibri"/>
                <a:cs typeface="Calibri"/>
              </a:rPr>
              <a:t>unused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longest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time.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55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80000"/>
              </a:lnSpc>
              <a:buFont typeface="Arial MT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It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maintain</a:t>
            </a:r>
            <a:r>
              <a:rPr sz="2200" spc="-5" dirty="0">
                <a:latin typeface="Calibri"/>
                <a:cs typeface="Calibri"/>
              </a:rPr>
              <a:t> 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linked</a:t>
            </a:r>
            <a:r>
              <a:rPr sz="2200" spc="-10" dirty="0">
                <a:latin typeface="Calibri"/>
                <a:cs typeface="Calibri"/>
              </a:rPr>
              <a:t> list</a:t>
            </a:r>
            <a:r>
              <a:rPr sz="2200" spc="-5" dirty="0">
                <a:latin typeface="Calibri"/>
                <a:cs typeface="Calibri"/>
              </a:rPr>
              <a:t> of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all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</a:t>
            </a:r>
            <a:r>
              <a:rPr sz="2200" spc="-5" dirty="0">
                <a:latin typeface="Calibri"/>
                <a:cs typeface="Calibri"/>
              </a:rPr>
              <a:t> in</a:t>
            </a:r>
            <a:r>
              <a:rPr sz="2200" dirty="0">
                <a:latin typeface="Calibri"/>
                <a:cs typeface="Calibri"/>
              </a:rPr>
              <a:t> memory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most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recently </a:t>
            </a:r>
            <a:r>
              <a:rPr sz="2200" spc="-5" dirty="0">
                <a:latin typeface="Calibri"/>
                <a:cs typeface="Calibri"/>
              </a:rPr>
              <a:t>used </a:t>
            </a:r>
            <a:r>
              <a:rPr sz="2200" spc="-15" dirty="0">
                <a:latin typeface="Calibri"/>
                <a:cs typeface="Calibri"/>
              </a:rPr>
              <a:t>page </a:t>
            </a:r>
            <a:r>
              <a:rPr sz="2200" spc="-10" dirty="0">
                <a:latin typeface="Calibri"/>
                <a:cs typeface="Calibri"/>
              </a:rPr>
              <a:t>at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front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least recently </a:t>
            </a:r>
            <a:r>
              <a:rPr sz="2200" spc="-5" dirty="0">
                <a:latin typeface="Calibri"/>
                <a:cs typeface="Calibri"/>
              </a:rPr>
              <a:t>used </a:t>
            </a:r>
            <a:r>
              <a:rPr sz="2200" spc="-10" dirty="0">
                <a:latin typeface="Calibri"/>
                <a:cs typeface="Calibri"/>
              </a:rPr>
              <a:t>page </a:t>
            </a:r>
            <a:r>
              <a:rPr sz="2200" spc="-15" dirty="0">
                <a:latin typeface="Calibri"/>
                <a:cs typeface="Calibri"/>
              </a:rPr>
              <a:t>at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rare.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list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must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updated</a:t>
            </a:r>
            <a:r>
              <a:rPr sz="2200" dirty="0">
                <a:latin typeface="Calibri"/>
                <a:cs typeface="Calibri"/>
              </a:rPr>
              <a:t> on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every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memory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reference.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962400"/>
            <a:ext cx="7826522" cy="21336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6C1B533-C69E-4343-86ED-A92181D0A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1352" y="549560"/>
            <a:ext cx="578358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5" dirty="0"/>
              <a:t>Calculate</a:t>
            </a:r>
            <a:r>
              <a:rPr b="1" dirty="0"/>
              <a:t> no</a:t>
            </a:r>
            <a:r>
              <a:rPr b="1" spc="-10" dirty="0"/>
              <a:t> </a:t>
            </a:r>
            <a:r>
              <a:rPr b="1" spc="5" dirty="0"/>
              <a:t>of</a:t>
            </a:r>
            <a:r>
              <a:rPr b="1" spc="-10" dirty="0"/>
              <a:t> </a:t>
            </a:r>
            <a:r>
              <a:rPr b="1" spc="-35" dirty="0"/>
              <a:t>Page</a:t>
            </a:r>
            <a:r>
              <a:rPr b="1" dirty="0"/>
              <a:t> </a:t>
            </a:r>
            <a:r>
              <a:rPr b="1" spc="-20" dirty="0"/>
              <a:t>fault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21955" cy="24731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For </a:t>
            </a:r>
            <a:r>
              <a:rPr sz="3200" dirty="0">
                <a:latin typeface="Calibri"/>
                <a:cs typeface="Calibri"/>
              </a:rPr>
              <a:t>3 </a:t>
            </a:r>
            <a:r>
              <a:rPr sz="3200" spc="-15" dirty="0">
                <a:latin typeface="Calibri"/>
                <a:cs typeface="Calibri"/>
              </a:rPr>
              <a:t>frame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page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reference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order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3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1177925" algn="l"/>
                <a:tab pos="1681480" algn="l"/>
                <a:tab pos="2186940" algn="l"/>
                <a:tab pos="2690495" algn="l"/>
                <a:tab pos="3194050" algn="l"/>
                <a:tab pos="3697604" algn="l"/>
                <a:tab pos="4202430" algn="l"/>
                <a:tab pos="4706620" algn="l"/>
                <a:tab pos="5210175" algn="l"/>
              </a:tabLst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5" dirty="0">
                <a:latin typeface="Calibri"/>
                <a:cs typeface="Calibri"/>
              </a:rPr>
              <a:t>0	1	2	3	2	1	0	3	2	3</a:t>
            </a:r>
            <a:endParaRPr lang="en-US" sz="2800" spc="-5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1177925" algn="l"/>
                <a:tab pos="1681480" algn="l"/>
                <a:tab pos="2186940" algn="l"/>
                <a:tab pos="2690495" algn="l"/>
                <a:tab pos="3194050" algn="l"/>
                <a:tab pos="3697604" algn="l"/>
                <a:tab pos="4202430" algn="l"/>
                <a:tab pos="4706620" algn="l"/>
                <a:tab pos="5210175" algn="l"/>
              </a:tabLst>
            </a:pPr>
            <a:endParaRPr lang="en-US" sz="2800" spc="-5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1177925" algn="l"/>
                <a:tab pos="1681480" algn="l"/>
                <a:tab pos="2186940" algn="l"/>
                <a:tab pos="2690495" algn="l"/>
                <a:tab pos="3194050" algn="l"/>
                <a:tab pos="3697604" algn="l"/>
                <a:tab pos="4202430" algn="l"/>
                <a:tab pos="4706620" algn="l"/>
                <a:tab pos="5210175" algn="l"/>
              </a:tabLst>
            </a:pPr>
            <a:r>
              <a:rPr lang="en-US" sz="2800" b="1" spc="-5" dirty="0">
                <a:solidFill>
                  <a:srgbClr val="00B050"/>
                </a:solidFill>
                <a:latin typeface="Calibri"/>
                <a:cs typeface="Calibri"/>
              </a:rPr>
              <a:t>5 page fault</a:t>
            </a:r>
            <a:endParaRPr sz="2800" b="1" dirty="0">
              <a:solidFill>
                <a:srgbClr val="00B050"/>
              </a:solidFill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556D1-AC04-413E-912E-18D4DC4D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101" y="549560"/>
            <a:ext cx="7620634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Implementation</a:t>
            </a:r>
            <a:r>
              <a:rPr b="1" spc="-45" dirty="0"/>
              <a:t> </a:t>
            </a:r>
            <a:r>
              <a:rPr b="1" dirty="0"/>
              <a:t>of</a:t>
            </a:r>
            <a:r>
              <a:rPr b="1" spc="-10" dirty="0"/>
              <a:t> </a:t>
            </a:r>
            <a:r>
              <a:rPr b="1" dirty="0"/>
              <a:t>LRU</a:t>
            </a:r>
            <a:r>
              <a:rPr b="1" spc="-10" dirty="0"/>
              <a:t> </a:t>
            </a:r>
            <a:r>
              <a:rPr b="1"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4915"/>
            <a:ext cx="8034020" cy="39535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spc="-10" dirty="0">
                <a:latin typeface="Calibri"/>
                <a:cs typeface="Calibri"/>
              </a:rPr>
              <a:t>Counter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Implementation</a:t>
            </a:r>
            <a:endParaRPr sz="2600" dirty="0">
              <a:latin typeface="Calibri"/>
              <a:cs typeface="Calibri"/>
            </a:endParaRPr>
          </a:p>
          <a:p>
            <a:pPr marL="1612900" marR="694690" lvl="1" indent="-22860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1613535" algn="l"/>
              </a:tabLst>
            </a:pPr>
            <a:r>
              <a:rPr sz="1800" spc="-10" dirty="0">
                <a:latin typeface="Calibri"/>
                <a:cs typeface="Calibri"/>
              </a:rPr>
              <a:t>Every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page entry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counter;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every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page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15" dirty="0">
                <a:latin typeface="Calibri"/>
                <a:cs typeface="Calibri"/>
              </a:rPr>
              <a:t>referenced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 </a:t>
            </a:r>
            <a:r>
              <a:rPr sz="1800" spc="-25" dirty="0">
                <a:latin typeface="Calibri"/>
                <a:cs typeface="Calibri"/>
              </a:rPr>
              <a:t>entry,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copy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clock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35" dirty="0">
                <a:latin typeface="Calibri"/>
                <a:cs typeface="Calibri"/>
              </a:rPr>
              <a:t>counter.</a:t>
            </a:r>
            <a:endParaRPr sz="1800" dirty="0">
              <a:latin typeface="Calibri"/>
              <a:cs typeface="Calibri"/>
            </a:endParaRPr>
          </a:p>
          <a:p>
            <a:pPr marL="1612900" lvl="1" indent="-22923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1613535" algn="l"/>
              </a:tabLst>
            </a:pPr>
            <a:r>
              <a:rPr sz="1800" spc="-5" dirty="0">
                <a:latin typeface="Calibri"/>
                <a:cs typeface="Calibri"/>
              </a:rPr>
              <a:t>When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page</a:t>
            </a:r>
            <a:r>
              <a:rPr sz="1800" dirty="0">
                <a:latin typeface="Calibri"/>
                <a:cs typeface="Calibri"/>
              </a:rPr>
              <a:t> needs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be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changes,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look</a:t>
            </a:r>
            <a:r>
              <a:rPr sz="1800" spc="-10" dirty="0">
                <a:latin typeface="Calibri"/>
                <a:cs typeface="Calibri"/>
              </a:rPr>
              <a:t> at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counters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determine</a:t>
            </a:r>
            <a:endParaRPr sz="1800" dirty="0">
              <a:latin typeface="Calibri"/>
              <a:cs typeface="Calibri"/>
            </a:endParaRPr>
          </a:p>
          <a:p>
            <a:pPr marL="16129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page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change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(page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smallest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value).</a:t>
            </a:r>
            <a:endParaRPr sz="1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spc="-10" dirty="0">
                <a:latin typeface="Calibri"/>
                <a:cs typeface="Calibri"/>
              </a:rPr>
              <a:t>Stack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Implementation</a:t>
            </a:r>
            <a:endParaRPr sz="2600" dirty="0">
              <a:latin typeface="Calibri"/>
              <a:cs typeface="Calibri"/>
            </a:endParaRPr>
          </a:p>
          <a:p>
            <a:pPr marL="1155700" indent="-22923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Keeps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stack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page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numbers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doubly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linked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form</a:t>
            </a:r>
            <a:endParaRPr sz="2000" dirty="0">
              <a:latin typeface="Calibri"/>
              <a:cs typeface="Calibri"/>
            </a:endParaRPr>
          </a:p>
          <a:p>
            <a:pPr marL="1155700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5" dirty="0">
                <a:latin typeface="Calibri"/>
                <a:cs typeface="Calibri"/>
              </a:rPr>
              <a:t>Page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referenced</a:t>
            </a:r>
            <a:endParaRPr sz="2000" dirty="0">
              <a:latin typeface="Calibri"/>
              <a:cs typeface="Calibri"/>
            </a:endParaRPr>
          </a:p>
          <a:p>
            <a:pPr marL="1612900" lvl="1" indent="-229235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1613535" algn="l"/>
              </a:tabLst>
            </a:pPr>
            <a:r>
              <a:rPr sz="1800" spc="-10" dirty="0">
                <a:latin typeface="Calibri"/>
                <a:cs typeface="Calibri"/>
              </a:rPr>
              <a:t>move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top</a:t>
            </a:r>
            <a:endParaRPr sz="1800" dirty="0">
              <a:latin typeface="Calibri"/>
              <a:cs typeface="Calibri"/>
            </a:endParaRPr>
          </a:p>
          <a:p>
            <a:pPr marL="1612900" lvl="1" indent="-229235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1613535" algn="l"/>
              </a:tabLst>
            </a:pPr>
            <a:r>
              <a:rPr sz="1800" spc="-10" dirty="0">
                <a:latin typeface="Calibri"/>
                <a:cs typeface="Calibri"/>
              </a:rPr>
              <a:t>requires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pointers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changed</a:t>
            </a:r>
            <a:endParaRPr sz="1800" dirty="0">
              <a:latin typeface="Calibri"/>
              <a:cs typeface="Calibri"/>
            </a:endParaRPr>
          </a:p>
          <a:p>
            <a:pPr marL="1155700" indent="-22923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search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replacement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0EB0E3-D024-4CF6-83B6-DF69EBCE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7221" y="549560"/>
            <a:ext cx="63779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Least</a:t>
            </a:r>
            <a:r>
              <a:rPr b="1" spc="-40" dirty="0"/>
              <a:t> </a:t>
            </a:r>
            <a:r>
              <a:rPr b="1" spc="-5" dirty="0"/>
              <a:t>Frequently</a:t>
            </a:r>
            <a:r>
              <a:rPr b="1" spc="-45" dirty="0"/>
              <a:t> </a:t>
            </a:r>
            <a:r>
              <a:rPr b="1" dirty="0"/>
              <a:t>Used</a:t>
            </a:r>
            <a:r>
              <a:rPr b="1" spc="-15" dirty="0"/>
              <a:t> </a:t>
            </a:r>
            <a:r>
              <a:rPr b="1" spc="-5" dirty="0"/>
              <a:t>(LFU)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5445"/>
            <a:ext cx="8027670" cy="3714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948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Calibri"/>
                <a:cs typeface="Calibri"/>
              </a:rPr>
              <a:t>One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approximation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to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LRU,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software</a:t>
            </a:r>
            <a:r>
              <a:rPr sz="2200" b="1" spc="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implementation.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LFU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requires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 the smallest </a:t>
            </a:r>
            <a:r>
              <a:rPr sz="2200" spc="-15" dirty="0">
                <a:latin typeface="Calibri"/>
                <a:cs typeface="Calibri"/>
              </a:rPr>
              <a:t>count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be replaced.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ts val="237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-5" dirty="0">
                <a:latin typeface="Calibri"/>
                <a:cs typeface="Calibri"/>
              </a:rPr>
              <a:t> reason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this selection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dirty="0">
                <a:latin typeface="Calibri"/>
                <a:cs typeface="Calibri"/>
              </a:rPr>
              <a:t> an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actively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used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should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spc="-20" dirty="0">
                <a:latin typeface="Calibri"/>
                <a:cs typeface="Calibri"/>
              </a:rPr>
              <a:t>have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large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reference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count.</a:t>
            </a:r>
            <a:endParaRPr sz="2200" dirty="0">
              <a:latin typeface="Calibri"/>
              <a:cs typeface="Calibri"/>
            </a:endParaRPr>
          </a:p>
          <a:p>
            <a:pPr marL="355600" marR="461009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It</a:t>
            </a:r>
            <a:r>
              <a:rPr sz="2200" spc="-10" dirty="0">
                <a:latin typeface="Calibri"/>
                <a:cs typeface="Calibri"/>
              </a:rPr>
              <a:t> requires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software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counter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associated </a:t>
            </a:r>
            <a:r>
              <a:rPr sz="2200" spc="-5" dirty="0">
                <a:latin typeface="Calibri"/>
                <a:cs typeface="Calibri"/>
              </a:rPr>
              <a:t>with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each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page.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When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fault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occur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page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 </a:t>
            </a:r>
            <a:r>
              <a:rPr sz="2200" spc="-10" dirty="0">
                <a:latin typeface="Calibri"/>
                <a:cs typeface="Calibri"/>
              </a:rPr>
              <a:t>lowest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counter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chosen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replacement.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55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b="1" spc="-10" dirty="0">
                <a:latin typeface="Calibri"/>
                <a:cs typeface="Calibri"/>
              </a:rPr>
              <a:t>Problem</a:t>
            </a:r>
            <a:r>
              <a:rPr sz="2200" spc="-10" dirty="0">
                <a:latin typeface="Calibri"/>
                <a:cs typeface="Calibri"/>
              </a:rPr>
              <a:t>: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likely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replace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highly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active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pages.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algorithm </a:t>
            </a:r>
            <a:r>
              <a:rPr sz="2200" spc="-25" dirty="0">
                <a:latin typeface="Calibri"/>
                <a:cs typeface="Calibri"/>
              </a:rPr>
              <a:t>suffers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</a:t>
            </a:r>
            <a:r>
              <a:rPr sz="2200" spc="-5" dirty="0">
                <a:latin typeface="Calibri"/>
                <a:cs typeface="Calibri"/>
              </a:rPr>
              <a:t> 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situation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 which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page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2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used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heavily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during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the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initial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process,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but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then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never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used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again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999D2-B4D3-4418-97D3-9EE42C14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0976" y="549560"/>
            <a:ext cx="571055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Not</a:t>
            </a:r>
            <a:r>
              <a:rPr b="1" spc="-5" dirty="0"/>
              <a:t> </a:t>
            </a:r>
            <a:r>
              <a:rPr b="1" spc="-15" dirty="0"/>
              <a:t>Recently</a:t>
            </a:r>
            <a:r>
              <a:rPr b="1" spc="-35" dirty="0"/>
              <a:t> </a:t>
            </a:r>
            <a:r>
              <a:rPr b="1" dirty="0"/>
              <a:t>Used</a:t>
            </a:r>
            <a:r>
              <a:rPr b="1" spc="-10" dirty="0"/>
              <a:t> </a:t>
            </a:r>
            <a:r>
              <a:rPr b="1" spc="-5" dirty="0"/>
              <a:t>(NRU)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6301"/>
            <a:ext cx="8024495" cy="397224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92455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10" dirty="0">
                <a:latin typeface="Times New Roman"/>
                <a:cs typeface="Times New Roman"/>
              </a:rPr>
              <a:t>Pages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not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recently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used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are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not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likely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be used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near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future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and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they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must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be replaced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with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incoming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pages.</a:t>
            </a:r>
            <a:endParaRPr sz="2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150" dirty="0">
              <a:latin typeface="Times New Roman"/>
              <a:cs typeface="Times New Roman"/>
            </a:endParaRPr>
          </a:p>
          <a:p>
            <a:pPr marL="355600" marR="262255" indent="-342900">
              <a:lnSpc>
                <a:spcPct val="8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95" dirty="0">
                <a:latin typeface="Times New Roman"/>
                <a:cs typeface="Times New Roman"/>
              </a:rPr>
              <a:t>To</a:t>
            </a:r>
            <a:r>
              <a:rPr sz="2500" spc="-5" dirty="0">
                <a:latin typeface="Times New Roman"/>
                <a:cs typeface="Times New Roman"/>
              </a:rPr>
              <a:t> keep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useful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statistics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about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which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pages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are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being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used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and</a:t>
            </a:r>
            <a:r>
              <a:rPr sz="2500" spc="-10" dirty="0">
                <a:latin typeface="Times New Roman"/>
                <a:cs typeface="Times New Roman"/>
              </a:rPr>
              <a:t> which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pages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are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not,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most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computers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have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two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status 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bits associated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with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each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page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.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00B050"/>
                </a:solidFill>
                <a:latin typeface="Times New Roman"/>
                <a:cs typeface="Times New Roman"/>
              </a:rPr>
              <a:t>referenced</a:t>
            </a:r>
            <a:r>
              <a:rPr sz="2500" spc="4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00B050"/>
                </a:solidFill>
                <a:latin typeface="Times New Roman"/>
                <a:cs typeface="Times New Roman"/>
              </a:rPr>
              <a:t>and</a:t>
            </a:r>
            <a:r>
              <a:rPr sz="250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500" spc="-5" dirty="0">
                <a:solidFill>
                  <a:srgbClr val="00B050"/>
                </a:solidFill>
                <a:latin typeface="Times New Roman"/>
                <a:cs typeface="Times New Roman"/>
              </a:rPr>
              <a:t>modified.</a:t>
            </a:r>
            <a:endParaRPr sz="250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2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Times New Roman"/>
                <a:cs typeface="Times New Roman"/>
              </a:rPr>
              <a:t>These </a:t>
            </a:r>
            <a:r>
              <a:rPr sz="2500" dirty="0">
                <a:latin typeface="Times New Roman"/>
                <a:cs typeface="Times New Roman"/>
              </a:rPr>
              <a:t>bits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must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be updated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 every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memory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reference.</a:t>
            </a:r>
            <a:endParaRPr sz="2500" dirty="0">
              <a:latin typeface="Times New Roman"/>
              <a:cs typeface="Times New Roman"/>
            </a:endParaRPr>
          </a:p>
          <a:p>
            <a:pPr marL="354965" indent="-354965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latin typeface="Times New Roman"/>
                <a:cs typeface="Times New Roman"/>
              </a:rPr>
              <a:t>When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page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fault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occurs,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OS</a:t>
            </a:r>
            <a:r>
              <a:rPr sz="2500" spc="-5" dirty="0">
                <a:latin typeface="Times New Roman"/>
                <a:cs typeface="Times New Roman"/>
              </a:rPr>
              <a:t> inspects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all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pages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and</a:t>
            </a:r>
            <a:endParaRPr sz="2500" dirty="0">
              <a:latin typeface="Times New Roman"/>
              <a:cs typeface="Times New Roman"/>
            </a:endParaRPr>
          </a:p>
          <a:p>
            <a:pPr marL="355600" marR="5080" indent="51435">
              <a:lnSpc>
                <a:spcPct val="80000"/>
              </a:lnSpc>
              <a:spcBef>
                <a:spcPts val="600"/>
              </a:spcBef>
            </a:pPr>
            <a:r>
              <a:rPr sz="2500" spc="-5" dirty="0">
                <a:latin typeface="Times New Roman"/>
                <a:cs typeface="Times New Roman"/>
              </a:rPr>
              <a:t>divides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them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into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four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categories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based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current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value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 their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referenced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and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modified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bits.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19341-D998-4487-816D-48CCB17B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2894" y="549560"/>
            <a:ext cx="246253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NRU(Co</a:t>
            </a:r>
            <a:r>
              <a:rPr b="1" spc="-25" dirty="0"/>
              <a:t>n</a:t>
            </a:r>
            <a:r>
              <a:rPr b="1" dirty="0"/>
              <a:t>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57251" y="1828800"/>
            <a:ext cx="7404653" cy="403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2066289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Class</a:t>
            </a:r>
            <a:r>
              <a:rPr spc="-15" dirty="0"/>
              <a:t> </a:t>
            </a:r>
            <a:r>
              <a:rPr dirty="0"/>
              <a:t>0: not</a:t>
            </a:r>
            <a:r>
              <a:rPr spc="-20" dirty="0"/>
              <a:t> </a:t>
            </a:r>
            <a:r>
              <a:rPr spc="-5" dirty="0"/>
              <a:t>referenced,</a:t>
            </a:r>
            <a:r>
              <a:rPr spc="-25" dirty="0"/>
              <a:t> </a:t>
            </a:r>
            <a:r>
              <a:rPr spc="5" dirty="0"/>
              <a:t>not</a:t>
            </a:r>
            <a:r>
              <a:rPr spc="-20" dirty="0"/>
              <a:t> </a:t>
            </a:r>
            <a:r>
              <a:rPr dirty="0"/>
              <a:t>modified(00). </a:t>
            </a:r>
            <a:r>
              <a:rPr spc="-635" dirty="0"/>
              <a:t> </a:t>
            </a:r>
            <a:r>
              <a:rPr spc="-5" dirty="0"/>
              <a:t>Class</a:t>
            </a:r>
            <a:r>
              <a:rPr spc="-15" dirty="0"/>
              <a:t> </a:t>
            </a:r>
            <a:r>
              <a:rPr dirty="0"/>
              <a:t>1: not</a:t>
            </a:r>
            <a:r>
              <a:rPr spc="-20" dirty="0"/>
              <a:t> </a:t>
            </a:r>
            <a:r>
              <a:rPr spc="-5" dirty="0"/>
              <a:t>referenced,</a:t>
            </a:r>
            <a:r>
              <a:rPr spc="-25" dirty="0"/>
              <a:t> </a:t>
            </a:r>
            <a:r>
              <a:rPr dirty="0"/>
              <a:t>modified(01).</a:t>
            </a:r>
          </a:p>
          <a:p>
            <a:pPr marL="469900" marR="2571115">
              <a:lnSpc>
                <a:spcPct val="100000"/>
              </a:lnSpc>
            </a:pPr>
            <a:r>
              <a:rPr spc="-5" dirty="0"/>
              <a:t>Class</a:t>
            </a:r>
            <a:r>
              <a:rPr spc="-20" dirty="0"/>
              <a:t> </a:t>
            </a:r>
            <a:r>
              <a:rPr dirty="0"/>
              <a:t>2: </a:t>
            </a:r>
            <a:r>
              <a:rPr spc="-5" dirty="0"/>
              <a:t>referenced,</a:t>
            </a:r>
            <a:r>
              <a:rPr spc="-30" dirty="0"/>
              <a:t> </a:t>
            </a:r>
            <a:r>
              <a:rPr dirty="0"/>
              <a:t>not</a:t>
            </a:r>
            <a:r>
              <a:rPr spc="-20" dirty="0"/>
              <a:t> </a:t>
            </a:r>
            <a:r>
              <a:rPr dirty="0"/>
              <a:t>modified(10). </a:t>
            </a:r>
            <a:r>
              <a:rPr spc="-635" dirty="0"/>
              <a:t> </a:t>
            </a:r>
            <a:r>
              <a:rPr spc="-5" dirty="0"/>
              <a:t>Class</a:t>
            </a:r>
            <a:r>
              <a:rPr spc="-10" dirty="0"/>
              <a:t> </a:t>
            </a:r>
            <a:r>
              <a:rPr dirty="0"/>
              <a:t>3: </a:t>
            </a:r>
            <a:r>
              <a:rPr spc="-5" dirty="0"/>
              <a:t>referenced,</a:t>
            </a:r>
            <a:r>
              <a:rPr spc="-25" dirty="0"/>
              <a:t> </a:t>
            </a:r>
            <a:r>
              <a:rPr spc="-10" dirty="0"/>
              <a:t>modified(11).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00" dirty="0"/>
          </a:p>
          <a:p>
            <a:pPr marL="355600" marR="5080" indent="-342900" algn="just">
              <a:lnSpc>
                <a:spcPct val="80000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spc="-5" dirty="0"/>
              <a:t>Pages</a:t>
            </a:r>
            <a:r>
              <a:rPr sz="3000" dirty="0"/>
              <a:t> </a:t>
            </a:r>
            <a:r>
              <a:rPr sz="3000" spc="-5" dirty="0"/>
              <a:t>in</a:t>
            </a:r>
            <a:r>
              <a:rPr sz="3000" dirty="0"/>
              <a:t> the</a:t>
            </a:r>
            <a:r>
              <a:rPr sz="3000" spc="5" dirty="0"/>
              <a:t> </a:t>
            </a:r>
            <a:r>
              <a:rPr sz="3000" dirty="0"/>
              <a:t>lowest</a:t>
            </a:r>
            <a:r>
              <a:rPr sz="3000" spc="5" dirty="0"/>
              <a:t> </a:t>
            </a:r>
            <a:r>
              <a:rPr sz="3000" dirty="0"/>
              <a:t>numbered</a:t>
            </a:r>
            <a:r>
              <a:rPr sz="3000" spc="5" dirty="0"/>
              <a:t> </a:t>
            </a:r>
            <a:r>
              <a:rPr sz="3000" dirty="0"/>
              <a:t>class</a:t>
            </a:r>
            <a:r>
              <a:rPr sz="3000" spc="5" dirty="0"/>
              <a:t> </a:t>
            </a:r>
            <a:r>
              <a:rPr sz="3000" spc="-10" dirty="0"/>
              <a:t>should</a:t>
            </a:r>
            <a:r>
              <a:rPr sz="3000" spc="-5" dirty="0"/>
              <a:t> be </a:t>
            </a:r>
            <a:r>
              <a:rPr sz="3000" spc="-735" dirty="0"/>
              <a:t> </a:t>
            </a:r>
            <a:r>
              <a:rPr sz="3000" dirty="0"/>
              <a:t>replaced first, and </a:t>
            </a:r>
            <a:r>
              <a:rPr sz="3000" spc="-5" dirty="0"/>
              <a:t>those in </a:t>
            </a:r>
            <a:r>
              <a:rPr sz="3000" dirty="0"/>
              <a:t>the highest numbered </a:t>
            </a:r>
            <a:r>
              <a:rPr sz="3000" spc="5" dirty="0"/>
              <a:t> </a:t>
            </a:r>
            <a:r>
              <a:rPr sz="3000" dirty="0"/>
              <a:t>groups</a:t>
            </a:r>
            <a:r>
              <a:rPr sz="3000" spc="-20" dirty="0"/>
              <a:t> </a:t>
            </a:r>
            <a:r>
              <a:rPr sz="3000" spc="-5" dirty="0"/>
              <a:t>should</a:t>
            </a:r>
            <a:r>
              <a:rPr sz="3000" dirty="0"/>
              <a:t> be replaced</a:t>
            </a:r>
            <a:r>
              <a:rPr sz="3000" spc="20" dirty="0"/>
              <a:t> </a:t>
            </a:r>
            <a:r>
              <a:rPr sz="3000" spc="-5" dirty="0"/>
              <a:t>last.</a:t>
            </a:r>
            <a:endParaRPr sz="3000" dirty="0"/>
          </a:p>
          <a:p>
            <a:pPr marL="355600" marR="6985" indent="-342900" algn="just">
              <a:lnSpc>
                <a:spcPts val="2880"/>
              </a:lnSpc>
              <a:spcBef>
                <a:spcPts val="70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5" dirty="0"/>
              <a:t>Pages</a:t>
            </a:r>
            <a:r>
              <a:rPr sz="3000" dirty="0"/>
              <a:t> </a:t>
            </a:r>
            <a:r>
              <a:rPr sz="3000" spc="-10" dirty="0"/>
              <a:t>within</a:t>
            </a:r>
            <a:r>
              <a:rPr sz="3000" spc="-5" dirty="0"/>
              <a:t> </a:t>
            </a:r>
            <a:r>
              <a:rPr sz="3000" dirty="0"/>
              <a:t>the</a:t>
            </a:r>
            <a:r>
              <a:rPr sz="3000" spc="5" dirty="0"/>
              <a:t> </a:t>
            </a:r>
            <a:r>
              <a:rPr sz="3000" spc="-5" dirty="0"/>
              <a:t>same</a:t>
            </a:r>
            <a:r>
              <a:rPr sz="3000" dirty="0"/>
              <a:t> class</a:t>
            </a:r>
            <a:r>
              <a:rPr sz="3000" spc="5" dirty="0"/>
              <a:t> </a:t>
            </a:r>
            <a:r>
              <a:rPr sz="3000" dirty="0"/>
              <a:t>are</a:t>
            </a:r>
            <a:r>
              <a:rPr sz="3000" spc="755" dirty="0"/>
              <a:t> </a:t>
            </a:r>
            <a:r>
              <a:rPr sz="3000" dirty="0"/>
              <a:t>randomly </a:t>
            </a:r>
            <a:r>
              <a:rPr sz="3000" spc="5" dirty="0"/>
              <a:t> </a:t>
            </a:r>
            <a:r>
              <a:rPr sz="3000" spc="-5" dirty="0"/>
              <a:t>selected.</a:t>
            </a:r>
            <a:endParaRPr sz="30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9A481-615F-407E-BDBE-004AF9C3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506" y="531359"/>
            <a:ext cx="753999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600" b="1" spc="-35" dirty="0"/>
              <a:t>Working</a:t>
            </a:r>
            <a:r>
              <a:rPr sz="3600" b="1" dirty="0"/>
              <a:t> </a:t>
            </a:r>
            <a:r>
              <a:rPr sz="3600" b="1" spc="-10" dirty="0"/>
              <a:t>Set</a:t>
            </a:r>
            <a:r>
              <a:rPr sz="3600" b="1" spc="-20" dirty="0"/>
              <a:t> </a:t>
            </a:r>
            <a:r>
              <a:rPr sz="3600" b="1" spc="-15" dirty="0"/>
              <a:t>(WS)</a:t>
            </a:r>
            <a:r>
              <a:rPr sz="3600" b="1" spc="20" dirty="0"/>
              <a:t> </a:t>
            </a:r>
            <a:r>
              <a:rPr sz="3600" b="1" spc="-35" dirty="0"/>
              <a:t>Page</a:t>
            </a:r>
            <a:r>
              <a:rPr sz="3600" b="1" spc="5" dirty="0"/>
              <a:t> </a:t>
            </a:r>
            <a:r>
              <a:rPr sz="3600" b="1" spc="-15" dirty="0"/>
              <a:t>Replacement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770445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/>
                <a:cs typeface="Calibri"/>
              </a:rPr>
              <a:t>What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5" dirty="0">
                <a:latin typeface="Calibri"/>
                <a:cs typeface="Calibri"/>
              </a:rPr>
              <a:t> when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just</a:t>
            </a:r>
            <a:r>
              <a:rPr sz="2000" spc="-5" dirty="0">
                <a:latin typeface="Calibri"/>
                <a:cs typeface="Calibri"/>
              </a:rPr>
              <a:t> swapped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another</a:t>
            </a:r>
            <a:r>
              <a:rPr sz="2000" spc="-10" dirty="0">
                <a:latin typeface="Calibri"/>
                <a:cs typeface="Calibri"/>
              </a:rPr>
              <a:t> process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 </a:t>
            </a:r>
            <a:r>
              <a:rPr sz="2000" spc="-10" dirty="0">
                <a:latin typeface="Calibri"/>
                <a:cs typeface="Calibri"/>
              </a:rPr>
              <a:t>to</a:t>
            </a:r>
            <a:endParaRPr sz="20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load?</a:t>
            </a:r>
          </a:p>
          <a:p>
            <a:pPr>
              <a:lnSpc>
                <a:spcPct val="100000"/>
              </a:lnSpc>
            </a:pPr>
            <a:endParaRPr sz="2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set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pages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that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process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currently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using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called</a:t>
            </a:r>
            <a:r>
              <a:rPr sz="2000" b="1" dirty="0">
                <a:latin typeface="Calibri"/>
                <a:cs typeface="Calibri"/>
              </a:rPr>
              <a:t> its</a:t>
            </a:r>
            <a:r>
              <a:rPr sz="2000" b="1" spc="-5" dirty="0">
                <a:latin typeface="Calibri"/>
                <a:cs typeface="Calibri"/>
              </a:rPr>
              <a:t> working set.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Calibri"/>
              <a:cs typeface="Calibri"/>
            </a:endParaRPr>
          </a:p>
          <a:p>
            <a:pPr marL="12700" marR="5080">
              <a:lnSpc>
                <a:spcPct val="120000"/>
              </a:lnSpc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entire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working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</a:t>
            </a:r>
            <a:r>
              <a:rPr sz="2000" dirty="0">
                <a:latin typeface="Calibri"/>
                <a:cs typeface="Calibri"/>
              </a:rPr>
              <a:t> 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memory,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causing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faults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until</a:t>
            </a:r>
            <a:r>
              <a:rPr sz="2000" dirty="0">
                <a:latin typeface="Calibri"/>
                <a:cs typeface="Calibri"/>
              </a:rPr>
              <a:t> it </a:t>
            </a:r>
            <a:r>
              <a:rPr sz="2000" spc="-10" dirty="0">
                <a:latin typeface="Calibri"/>
                <a:cs typeface="Calibri"/>
              </a:rPr>
              <a:t>moves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-5" dirty="0">
                <a:latin typeface="Calibri"/>
                <a:cs typeface="Calibri"/>
              </a:rPr>
              <a:t> another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execution.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000" spc="-5" dirty="0">
                <a:latin typeface="Calibri"/>
                <a:cs typeface="Calibri"/>
              </a:rPr>
              <a:t>Otherwise, </a:t>
            </a:r>
            <a:r>
              <a:rPr sz="2000" spc="-15" dirty="0">
                <a:latin typeface="Calibri"/>
                <a:cs typeface="Calibri"/>
              </a:rPr>
              <a:t>excessive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page </a:t>
            </a:r>
            <a:r>
              <a:rPr sz="2000" spc="-10" dirty="0">
                <a:latin typeface="Calibri"/>
                <a:cs typeface="Calibri"/>
              </a:rPr>
              <a:t>fault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might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called thrashing.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Calibri"/>
              <a:cs typeface="Calibri"/>
            </a:endParaRPr>
          </a:p>
          <a:p>
            <a:pPr marL="12700" marR="193675" algn="just">
              <a:lnSpc>
                <a:spcPct val="120000"/>
              </a:lnSpc>
            </a:pPr>
            <a:r>
              <a:rPr sz="2000" spc="-10" dirty="0">
                <a:latin typeface="Calibri"/>
                <a:cs typeface="Calibri"/>
              </a:rPr>
              <a:t>Many </a:t>
            </a:r>
            <a:r>
              <a:rPr sz="2000" dirty="0">
                <a:latin typeface="Calibri"/>
                <a:cs typeface="Calibri"/>
              </a:rPr>
              <a:t>paging </a:t>
            </a:r>
            <a:r>
              <a:rPr sz="2000" spc="-20" dirty="0">
                <a:latin typeface="Calibri"/>
                <a:cs typeface="Calibri"/>
              </a:rPr>
              <a:t>systems </a:t>
            </a:r>
            <a:r>
              <a:rPr sz="2000" dirty="0">
                <a:latin typeface="Calibri"/>
                <a:cs typeface="Calibri"/>
              </a:rPr>
              <a:t>try </a:t>
            </a:r>
            <a:r>
              <a:rPr sz="2000" spc="-15" dirty="0">
                <a:latin typeface="Calibri"/>
                <a:cs typeface="Calibri"/>
              </a:rPr>
              <a:t>to keep </a:t>
            </a:r>
            <a:r>
              <a:rPr sz="2000" spc="-10" dirty="0">
                <a:latin typeface="Calibri"/>
                <a:cs typeface="Calibri"/>
              </a:rPr>
              <a:t>track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each </a:t>
            </a:r>
            <a:r>
              <a:rPr sz="2000" spc="-10" dirty="0">
                <a:latin typeface="Calibri"/>
                <a:cs typeface="Calibri"/>
              </a:rPr>
              <a:t>process' working set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make </a:t>
            </a:r>
            <a:r>
              <a:rPr sz="2000" spc="-10" dirty="0">
                <a:latin typeface="Calibri"/>
                <a:cs typeface="Calibri"/>
              </a:rPr>
              <a:t>sure </a:t>
            </a:r>
            <a:r>
              <a:rPr sz="2000" spc="-5" dirty="0">
                <a:latin typeface="Calibri"/>
                <a:cs typeface="Calibri"/>
              </a:rPr>
              <a:t>that it in </a:t>
            </a:r>
            <a:r>
              <a:rPr sz="2000" dirty="0">
                <a:latin typeface="Calibri"/>
                <a:cs typeface="Calibri"/>
              </a:rPr>
              <a:t>memory </a:t>
            </a:r>
            <a:r>
              <a:rPr sz="2000" spc="-15" dirty="0">
                <a:latin typeface="Calibri"/>
                <a:cs typeface="Calibri"/>
              </a:rPr>
              <a:t>before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sz="2000" spc="-5" dirty="0">
                <a:latin typeface="Calibri"/>
                <a:cs typeface="Calibri"/>
              </a:rPr>
              <a:t>Run--working </a:t>
            </a:r>
            <a:r>
              <a:rPr sz="2000" spc="-10" dirty="0">
                <a:latin typeface="Calibri"/>
                <a:cs typeface="Calibri"/>
              </a:rPr>
              <a:t>set </a:t>
            </a:r>
            <a:r>
              <a:rPr sz="2000" dirty="0">
                <a:latin typeface="Calibri"/>
                <a:cs typeface="Calibri"/>
              </a:rPr>
              <a:t>model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pre-paging.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DA9C5-BCB0-4CA7-8AE1-36A7A53F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506" y="531359"/>
            <a:ext cx="753999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600" b="1" spc="-35" dirty="0"/>
              <a:t>Working</a:t>
            </a:r>
            <a:r>
              <a:rPr sz="3600" b="1" dirty="0"/>
              <a:t> </a:t>
            </a:r>
            <a:r>
              <a:rPr sz="3600" b="1" spc="-10" dirty="0"/>
              <a:t>Set</a:t>
            </a:r>
            <a:r>
              <a:rPr sz="3600" b="1" spc="-20" dirty="0"/>
              <a:t> </a:t>
            </a:r>
            <a:r>
              <a:rPr sz="3600" b="1" spc="-15" dirty="0"/>
              <a:t>(WS)</a:t>
            </a:r>
            <a:r>
              <a:rPr sz="3600" b="1" spc="20" dirty="0"/>
              <a:t> </a:t>
            </a:r>
            <a:r>
              <a:rPr sz="3600" b="1" spc="-35" dirty="0"/>
              <a:t>Page</a:t>
            </a:r>
            <a:r>
              <a:rPr sz="3600" b="1" spc="5" dirty="0"/>
              <a:t> </a:t>
            </a:r>
            <a:r>
              <a:rPr sz="3600" b="1" spc="-15" dirty="0"/>
              <a:t>Replacement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4777"/>
            <a:ext cx="8067040" cy="20834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The </a:t>
            </a:r>
            <a:r>
              <a:rPr sz="2500" spc="-5" dirty="0">
                <a:latin typeface="Calibri"/>
                <a:cs typeface="Calibri"/>
              </a:rPr>
              <a:t>working </a:t>
            </a:r>
            <a:r>
              <a:rPr sz="2500" spc="-10" dirty="0">
                <a:latin typeface="Calibri"/>
                <a:cs typeface="Calibri"/>
              </a:rPr>
              <a:t>set </a:t>
            </a:r>
            <a:r>
              <a:rPr sz="2500" spc="-5" dirty="0">
                <a:latin typeface="Calibri"/>
                <a:cs typeface="Calibri"/>
              </a:rPr>
              <a:t>of </a:t>
            </a:r>
            <a:r>
              <a:rPr sz="2500" spc="-10" dirty="0">
                <a:latin typeface="Calibri"/>
                <a:cs typeface="Calibri"/>
              </a:rPr>
              <a:t>pages </a:t>
            </a:r>
            <a:r>
              <a:rPr sz="2500" spc="-5" dirty="0">
                <a:latin typeface="Calibri"/>
                <a:cs typeface="Calibri"/>
              </a:rPr>
              <a:t>of </a:t>
            </a:r>
            <a:r>
              <a:rPr sz="2500" spc="-10" dirty="0">
                <a:latin typeface="Calibri"/>
                <a:cs typeface="Calibri"/>
              </a:rPr>
              <a:t>process, ws(t, </a:t>
            </a:r>
            <a:r>
              <a:rPr sz="2500" spc="-5" dirty="0">
                <a:latin typeface="Calibri"/>
                <a:cs typeface="Calibri"/>
              </a:rPr>
              <a:t>k) </a:t>
            </a:r>
            <a:r>
              <a:rPr sz="2500" spc="-15" dirty="0">
                <a:latin typeface="Calibri"/>
                <a:cs typeface="Calibri"/>
              </a:rPr>
              <a:t>at </a:t>
            </a:r>
            <a:r>
              <a:rPr sz="2500" spc="-5" dirty="0">
                <a:latin typeface="Calibri"/>
                <a:cs typeface="Calibri"/>
              </a:rPr>
              <a:t>time t, is the </a:t>
            </a:r>
            <a:r>
              <a:rPr sz="2500" spc="-5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set </a:t>
            </a:r>
            <a:r>
              <a:rPr sz="2500" spc="-5" dirty="0">
                <a:latin typeface="Calibri"/>
                <a:cs typeface="Calibri"/>
              </a:rPr>
              <a:t>of </a:t>
            </a:r>
            <a:r>
              <a:rPr sz="2500" spc="-10" dirty="0">
                <a:latin typeface="Calibri"/>
                <a:cs typeface="Calibri"/>
              </a:rPr>
              <a:t>pages </a:t>
            </a:r>
            <a:r>
              <a:rPr sz="2500" spc="-20" dirty="0">
                <a:latin typeface="Calibri"/>
                <a:cs typeface="Calibri"/>
              </a:rPr>
              <a:t>referenced </a:t>
            </a:r>
            <a:r>
              <a:rPr sz="2500" spc="-15" dirty="0">
                <a:latin typeface="Calibri"/>
                <a:cs typeface="Calibri"/>
              </a:rPr>
              <a:t>by </a:t>
            </a:r>
            <a:r>
              <a:rPr sz="2500" spc="-5" dirty="0">
                <a:latin typeface="Calibri"/>
                <a:cs typeface="Calibri"/>
              </a:rPr>
              <a:t>the </a:t>
            </a:r>
            <a:r>
              <a:rPr sz="2500" spc="-10" dirty="0">
                <a:latin typeface="Calibri"/>
                <a:cs typeface="Calibri"/>
              </a:rPr>
              <a:t>processes </a:t>
            </a:r>
            <a:r>
              <a:rPr sz="2500" spc="-5" dirty="0">
                <a:latin typeface="Calibri"/>
                <a:cs typeface="Calibri"/>
              </a:rPr>
              <a:t>in time </a:t>
            </a:r>
            <a:r>
              <a:rPr sz="2500" spc="-10" dirty="0">
                <a:latin typeface="Calibri"/>
                <a:cs typeface="Calibri"/>
              </a:rPr>
              <a:t>interval </a:t>
            </a:r>
            <a:r>
              <a:rPr sz="2500" dirty="0">
                <a:latin typeface="Calibri"/>
                <a:cs typeface="Calibri"/>
              </a:rPr>
              <a:t>t-k </a:t>
            </a:r>
            <a:r>
              <a:rPr sz="2500" spc="-55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to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t.</a:t>
            </a:r>
            <a:endParaRPr sz="2500" dirty="0">
              <a:latin typeface="Calibri"/>
              <a:cs typeface="Calibri"/>
            </a:endParaRPr>
          </a:p>
          <a:p>
            <a:pPr marL="355600" marR="111125" indent="-342900" algn="just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10" dirty="0">
                <a:latin typeface="Calibri"/>
                <a:cs typeface="Calibri"/>
              </a:rPr>
              <a:t>The variable </a:t>
            </a:r>
            <a:r>
              <a:rPr sz="2500" spc="-5" dirty="0">
                <a:latin typeface="Calibri"/>
                <a:cs typeface="Calibri"/>
              </a:rPr>
              <a:t>k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is called </a:t>
            </a:r>
            <a:r>
              <a:rPr sz="2500" spc="-15" dirty="0">
                <a:latin typeface="Calibri"/>
                <a:cs typeface="Calibri"/>
              </a:rPr>
              <a:t>working-set-window, </a:t>
            </a:r>
            <a:r>
              <a:rPr sz="2500" spc="-5" dirty="0">
                <a:latin typeface="Calibri"/>
                <a:cs typeface="Calibri"/>
              </a:rPr>
              <a:t>the </a:t>
            </a:r>
            <a:r>
              <a:rPr sz="2500" spc="-20" dirty="0">
                <a:latin typeface="Calibri"/>
                <a:cs typeface="Calibri"/>
              </a:rPr>
              <a:t>size </a:t>
            </a:r>
            <a:r>
              <a:rPr sz="2500" spc="-5" dirty="0">
                <a:latin typeface="Calibri"/>
                <a:cs typeface="Calibri"/>
              </a:rPr>
              <a:t>of k is </a:t>
            </a:r>
            <a:r>
              <a:rPr sz="2500" spc="-5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central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issue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in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this model.</a:t>
            </a:r>
            <a:endParaRPr sz="25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spc="-20" dirty="0">
                <a:latin typeface="Calibri"/>
                <a:cs typeface="Calibri"/>
              </a:rPr>
              <a:t>For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example: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working set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with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k=10</a:t>
            </a:r>
            <a:endParaRPr sz="25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3886200"/>
            <a:ext cx="7721839" cy="202311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32AB3CC-3697-4C25-93CF-CFE3746B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9573" y="549560"/>
            <a:ext cx="224599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Thrashing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780655" cy="45015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  <a:tab pos="355600" algn="l"/>
                <a:tab pos="5022850" algn="l"/>
              </a:tabLst>
            </a:pPr>
            <a:r>
              <a:rPr sz="3200" dirty="0">
                <a:latin typeface="Calibri"/>
                <a:cs typeface="Calibri"/>
              </a:rPr>
              <a:t>If a </a:t>
            </a:r>
            <a:r>
              <a:rPr sz="3200" spc="-10" dirty="0">
                <a:latin typeface="Calibri"/>
                <a:cs typeface="Calibri"/>
              </a:rPr>
              <a:t>process </a:t>
            </a:r>
            <a:r>
              <a:rPr sz="3200" spc="-5" dirty="0">
                <a:latin typeface="Calibri"/>
                <a:cs typeface="Calibri"/>
              </a:rPr>
              <a:t>does not </a:t>
            </a:r>
            <a:r>
              <a:rPr sz="3200" spc="-25" dirty="0">
                <a:latin typeface="Calibri"/>
                <a:cs typeface="Calibri"/>
              </a:rPr>
              <a:t>have </a:t>
            </a:r>
            <a:r>
              <a:rPr sz="3200" dirty="0">
                <a:latin typeface="Calibri"/>
                <a:cs typeface="Calibri"/>
              </a:rPr>
              <a:t>enough </a:t>
            </a:r>
            <a:r>
              <a:rPr sz="3200" spc="-5" dirty="0">
                <a:latin typeface="Calibri"/>
                <a:cs typeface="Calibri"/>
              </a:rPr>
              <a:t>pages, </a:t>
            </a:r>
            <a:r>
              <a:rPr sz="3200" spc="-10" dirty="0">
                <a:latin typeface="Calibri"/>
                <a:cs typeface="Calibri"/>
              </a:rPr>
              <a:t>the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page-fault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rate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very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high.	This</a:t>
            </a:r>
            <a:r>
              <a:rPr sz="3200" dirty="0">
                <a:latin typeface="Calibri"/>
                <a:cs typeface="Calibri"/>
              </a:rPr>
              <a:t> leads</a:t>
            </a:r>
            <a:r>
              <a:rPr sz="3200" spc="-15" dirty="0">
                <a:latin typeface="Calibri"/>
                <a:cs typeface="Calibri"/>
              </a:rPr>
              <a:t> to: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low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CPU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utilization.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ts val="2735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thinks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needs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increase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degree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of</a:t>
            </a:r>
            <a:endParaRPr sz="2400" dirty="0">
              <a:latin typeface="Calibri"/>
              <a:cs typeface="Calibri"/>
            </a:endParaRPr>
          </a:p>
          <a:p>
            <a:pPr marL="11557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multiprogramming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added</a:t>
            </a:r>
            <a:r>
              <a:rPr sz="2400" spc="-15" dirty="0">
                <a:latin typeface="Calibri"/>
                <a:cs typeface="Calibri"/>
              </a:rPr>
              <a:t> 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system.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0" dirty="0">
                <a:latin typeface="Calibri"/>
                <a:cs typeface="Calibri"/>
              </a:rPr>
              <a:t>System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throughput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plunges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falls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down...</a:t>
            </a:r>
            <a:endParaRPr sz="2400" dirty="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spcBef>
                <a:spcPts val="31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5" dirty="0">
                <a:latin typeface="Calibri"/>
                <a:cs typeface="Calibri"/>
              </a:rPr>
              <a:t>Thrashing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busy</a:t>
            </a:r>
            <a:r>
              <a:rPr sz="2400" spc="-5" dirty="0">
                <a:latin typeface="Calibri"/>
                <a:cs typeface="Calibri"/>
              </a:rPr>
              <a:t> swapping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pages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out.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ts val="2735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  <a:tab pos="7211059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words,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2400" b="1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B050"/>
                </a:solidFill>
                <a:latin typeface="Calibri"/>
                <a:cs typeface="Calibri"/>
              </a:rPr>
              <a:t>process</a:t>
            </a:r>
            <a:r>
              <a:rPr sz="2400" b="1" spc="-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B050"/>
                </a:solidFill>
                <a:latin typeface="Calibri"/>
                <a:cs typeface="Calibri"/>
              </a:rPr>
              <a:t>is</a:t>
            </a:r>
            <a:r>
              <a:rPr sz="2400" b="1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B050"/>
                </a:solidFill>
                <a:latin typeface="Calibri"/>
                <a:cs typeface="Calibri"/>
              </a:rPr>
              <a:t>spending </a:t>
            </a:r>
            <a:r>
              <a:rPr sz="2400" b="1" spc="-10" dirty="0">
                <a:solidFill>
                  <a:srgbClr val="00B050"/>
                </a:solidFill>
                <a:latin typeface="Calibri"/>
                <a:cs typeface="Calibri"/>
              </a:rPr>
              <a:t>more</a:t>
            </a:r>
            <a:r>
              <a:rPr sz="2400" b="1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B050"/>
                </a:solidFill>
                <a:latin typeface="Calibri"/>
                <a:cs typeface="Calibri"/>
              </a:rPr>
              <a:t>time	in</a:t>
            </a:r>
          </a:p>
          <a:p>
            <a:pPr marL="1155700">
              <a:lnSpc>
                <a:spcPts val="2735"/>
              </a:lnSpc>
            </a:pPr>
            <a:r>
              <a:rPr sz="2400" b="1" spc="-5" dirty="0">
                <a:solidFill>
                  <a:srgbClr val="00B050"/>
                </a:solidFill>
                <a:latin typeface="Calibri"/>
                <a:cs typeface="Calibri"/>
              </a:rPr>
              <a:t>paging</a:t>
            </a:r>
            <a:r>
              <a:rPr sz="2400" b="1" spc="-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B050"/>
                </a:solidFill>
                <a:latin typeface="Calibri"/>
                <a:cs typeface="Calibri"/>
              </a:rPr>
              <a:t>than</a:t>
            </a:r>
            <a:r>
              <a:rPr sz="2400" b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B050"/>
                </a:solidFill>
                <a:latin typeface="Calibri"/>
                <a:cs typeface="Calibri"/>
              </a:rPr>
              <a:t>in</a:t>
            </a:r>
            <a:r>
              <a:rPr sz="2400" b="1" spc="-15" dirty="0">
                <a:solidFill>
                  <a:srgbClr val="00B050"/>
                </a:solidFill>
                <a:latin typeface="Calibri"/>
                <a:cs typeface="Calibri"/>
              </a:rPr>
              <a:t> executing</a:t>
            </a:r>
            <a:r>
              <a:rPr sz="2400" spc="-15" dirty="0">
                <a:solidFill>
                  <a:srgbClr val="00B050"/>
                </a:solidFill>
                <a:latin typeface="Calibri"/>
                <a:cs typeface="Calibri"/>
              </a:rPr>
              <a:t>.</a:t>
            </a:r>
            <a:endParaRPr sz="2400" dirty="0">
              <a:solidFill>
                <a:srgbClr val="00B050"/>
              </a:solidFill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379755-6B14-4A0B-835E-D9495F8C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9573" y="549560"/>
            <a:ext cx="224599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Thrashing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10690"/>
            <a:ext cx="4218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Calibri"/>
                <a:cs typeface="Calibri"/>
              </a:rPr>
              <a:t>Why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thrashing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occur?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2971800"/>
            <a:ext cx="5562600" cy="30988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439D79-C63F-4DCD-B384-1BEDEEB4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8217" y="549560"/>
            <a:ext cx="415036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5" dirty="0">
                <a:latin typeface="Calibri"/>
                <a:cs typeface="Calibri"/>
              </a:rPr>
              <a:t>Belady’s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Anomaly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834"/>
            <a:ext cx="8032750" cy="432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57834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20" dirty="0">
                <a:latin typeface="Times New Roman"/>
                <a:cs typeface="Times New Roman"/>
              </a:rPr>
              <a:t>Intuitively,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5" dirty="0">
                <a:latin typeface="Times New Roman"/>
                <a:cs typeface="Times New Roman"/>
              </a:rPr>
              <a:t> might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seem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 the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more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page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frames</a:t>
            </a:r>
            <a:r>
              <a:rPr sz="3000" dirty="0">
                <a:latin typeface="Times New Roman"/>
                <a:cs typeface="Times New Roman"/>
              </a:rPr>
              <a:t> the </a:t>
            </a:r>
            <a:r>
              <a:rPr sz="3000" spc="-5" dirty="0">
                <a:latin typeface="Times New Roman"/>
                <a:cs typeface="Times New Roman"/>
              </a:rPr>
              <a:t>memory</a:t>
            </a:r>
            <a:r>
              <a:rPr sz="3000" dirty="0">
                <a:latin typeface="Times New Roman"/>
                <a:cs typeface="Times New Roman"/>
              </a:rPr>
              <a:t> has, the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fewer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page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faults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program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will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get.</a:t>
            </a:r>
          </a:p>
          <a:p>
            <a:pPr marL="355600" marR="508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Times New Roman"/>
                <a:cs typeface="Times New Roman"/>
              </a:rPr>
              <a:t>Surprisingly </a:t>
            </a:r>
            <a:r>
              <a:rPr sz="3000" dirty="0">
                <a:latin typeface="Times New Roman"/>
                <a:cs typeface="Times New Roman"/>
              </a:rPr>
              <a:t>enough, </a:t>
            </a:r>
            <a:r>
              <a:rPr sz="3000" spc="-5" dirty="0">
                <a:latin typeface="Times New Roman"/>
                <a:cs typeface="Times New Roman"/>
              </a:rPr>
              <a:t>this </a:t>
            </a:r>
            <a:r>
              <a:rPr sz="3000" dirty="0">
                <a:latin typeface="Times New Roman"/>
                <a:cs typeface="Times New Roman"/>
              </a:rPr>
              <a:t>is not always the case.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Belady et al. (1969) discovered a </a:t>
            </a:r>
            <a:r>
              <a:rPr sz="3000" spc="-5" dirty="0">
                <a:latin typeface="Times New Roman"/>
                <a:cs typeface="Times New Roman"/>
              </a:rPr>
              <a:t>counterexample,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 </a:t>
            </a:r>
            <a:r>
              <a:rPr sz="3000" spc="-5" dirty="0">
                <a:latin typeface="Times New Roman"/>
                <a:cs typeface="Times New Roman"/>
              </a:rPr>
              <a:t>which FIFO </a:t>
            </a:r>
            <a:r>
              <a:rPr sz="3000" dirty="0">
                <a:latin typeface="Times New Roman"/>
                <a:cs typeface="Times New Roman"/>
              </a:rPr>
              <a:t>caused </a:t>
            </a:r>
            <a:r>
              <a:rPr sz="3000" spc="-5" dirty="0">
                <a:latin typeface="Times New Roman"/>
                <a:cs typeface="Times New Roman"/>
              </a:rPr>
              <a:t>more </a:t>
            </a:r>
            <a:r>
              <a:rPr sz="3000" dirty="0">
                <a:latin typeface="Times New Roman"/>
                <a:cs typeface="Times New Roman"/>
              </a:rPr>
              <a:t>page </a:t>
            </a:r>
            <a:r>
              <a:rPr sz="3000" spc="-5" dirty="0">
                <a:latin typeface="Times New Roman"/>
                <a:cs typeface="Times New Roman"/>
              </a:rPr>
              <a:t>faults with </a:t>
            </a:r>
            <a:r>
              <a:rPr sz="3000" dirty="0">
                <a:latin typeface="Times New Roman"/>
                <a:cs typeface="Times New Roman"/>
              </a:rPr>
              <a:t>four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page</a:t>
            </a:r>
            <a:r>
              <a:rPr sz="3000" spc="-5" dirty="0">
                <a:latin typeface="Times New Roman"/>
                <a:cs typeface="Times New Roman"/>
              </a:rPr>
              <a:t> frames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than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with </a:t>
            </a:r>
            <a:r>
              <a:rPr sz="3000" dirty="0">
                <a:latin typeface="Times New Roman"/>
                <a:cs typeface="Times New Roman"/>
              </a:rPr>
              <a:t>three.</a:t>
            </a: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strange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situation</a:t>
            </a:r>
            <a:r>
              <a:rPr sz="3000" spc="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become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known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000" b="1" spc="-15" dirty="0">
                <a:latin typeface="Times New Roman"/>
                <a:cs typeface="Times New Roman"/>
              </a:rPr>
              <a:t>Belady’s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anomaly</a:t>
            </a:r>
            <a:r>
              <a:rPr sz="3000" spc="-5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F85C2-677D-4AE1-8B0E-2483DD98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3777" y="549560"/>
            <a:ext cx="661797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Example</a:t>
            </a:r>
            <a:r>
              <a:rPr b="1" spc="-40" dirty="0"/>
              <a:t> </a:t>
            </a:r>
            <a:r>
              <a:rPr b="1" spc="-20" dirty="0"/>
              <a:t>from</a:t>
            </a:r>
            <a:r>
              <a:rPr b="1" spc="-35" dirty="0"/>
              <a:t> </a:t>
            </a:r>
            <a:r>
              <a:rPr b="1" spc="-15" dirty="0"/>
              <a:t>Belady’s</a:t>
            </a:r>
            <a:r>
              <a:rPr b="1" spc="-60" dirty="0"/>
              <a:t> </a:t>
            </a:r>
            <a:r>
              <a:rPr b="1" dirty="0"/>
              <a:t>paper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895"/>
            <a:ext cx="7824470" cy="387921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pages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 referenced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order</a:t>
            </a: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0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0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4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0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4</a:t>
            </a: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Now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Calculate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Page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faults</a:t>
            </a:r>
            <a:endParaRPr sz="3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Times New Roman"/>
                <a:cs typeface="Times New Roman"/>
              </a:rPr>
              <a:t>Case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3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frame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Times New Roman"/>
                <a:cs typeface="Times New Roman"/>
              </a:rPr>
              <a:t>Case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4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frame</a:t>
            </a:r>
            <a:endParaRPr sz="28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Now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will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more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page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fault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case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4 fram</a:t>
            </a:r>
            <a:r>
              <a:rPr sz="3200" spc="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Bela</a:t>
            </a:r>
            <a:r>
              <a:rPr sz="3200" spc="5" dirty="0">
                <a:latin typeface="Times New Roman"/>
                <a:cs typeface="Times New Roman"/>
              </a:rPr>
              <a:t>d</a:t>
            </a:r>
            <a:r>
              <a:rPr sz="3200" dirty="0">
                <a:latin typeface="Times New Roman"/>
                <a:cs typeface="Times New Roman"/>
              </a:rPr>
              <a:t>y</a:t>
            </a:r>
            <a:r>
              <a:rPr sz="3200" spc="-175" dirty="0">
                <a:latin typeface="Times New Roman"/>
                <a:cs typeface="Times New Roman"/>
              </a:rPr>
              <a:t>’</a:t>
            </a:r>
            <a:r>
              <a:rPr sz="3200" dirty="0">
                <a:latin typeface="Times New Roman"/>
                <a:cs typeface="Times New Roman"/>
              </a:rPr>
              <a:t>s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spc="5" dirty="0">
                <a:latin typeface="Times New Roman"/>
                <a:cs typeface="Times New Roman"/>
              </a:rPr>
              <a:t>m</a:t>
            </a:r>
            <a:r>
              <a:rPr sz="3200" dirty="0">
                <a:latin typeface="Times New Roman"/>
                <a:cs typeface="Times New Roman"/>
              </a:rPr>
              <a:t>oly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FE8623-5FBE-4E46-8342-8DBAFD0A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DA5A42-191F-4B3F-A01A-D859B530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IN"/>
              <a:t>Prepared by: Dr. Binod Kr. Adhikari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D1C9E-9EC9-40B5-B634-A54F306D73C0}"/>
              </a:ext>
            </a:extLst>
          </p:cNvPr>
          <p:cNvSpPr/>
          <p:nvPr/>
        </p:nvSpPr>
        <p:spPr>
          <a:xfrm>
            <a:off x="2319260" y="2875002"/>
            <a:ext cx="4152835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- E Gov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- E Gov" id="{F0594E8B-07B8-4864-81FE-446790DE4468}" vid="{84FB6834-C922-4356-B0D6-460974B3DE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Theme1- E Gov</Template>
  <TotalTime>12443</TotalTime>
  <Words>5339</Words>
  <Application>Microsoft Office PowerPoint</Application>
  <PresentationFormat>On-screen Show (4:3)</PresentationFormat>
  <Paragraphs>627</Paragraphs>
  <Slides>79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7" baseType="lpstr">
      <vt:lpstr>Arial</vt:lpstr>
      <vt:lpstr>Arial MT</vt:lpstr>
      <vt:lpstr>Calibri</vt:lpstr>
      <vt:lpstr>Corbel</vt:lpstr>
      <vt:lpstr>Helvetica</vt:lpstr>
      <vt:lpstr>Symbol</vt:lpstr>
      <vt:lpstr>Times New Roman</vt:lpstr>
      <vt:lpstr>Theme1- E Gov</vt:lpstr>
      <vt:lpstr>Memory Management</vt:lpstr>
      <vt:lpstr>PowerPoint Presentation</vt:lpstr>
      <vt:lpstr>Memory Manager</vt:lpstr>
      <vt:lpstr>Memory Management System</vt:lpstr>
      <vt:lpstr>Memory Addresses</vt:lpstr>
      <vt:lpstr>Base and Limit Registers</vt:lpstr>
      <vt:lpstr>Address Translation</vt:lpstr>
      <vt:lpstr>Virtual Memory</vt:lpstr>
      <vt:lpstr>Review: Swapping</vt:lpstr>
      <vt:lpstr>Schematic view of swapping</vt:lpstr>
      <vt:lpstr>Review: Overlays</vt:lpstr>
      <vt:lpstr>Overlaying</vt:lpstr>
      <vt:lpstr>Virtual Memory</vt:lpstr>
      <vt:lpstr>Background  MMU</vt:lpstr>
      <vt:lpstr>Paging</vt:lpstr>
      <vt:lpstr>PowerPoint Presentation</vt:lpstr>
      <vt:lpstr>Paging</vt:lpstr>
      <vt:lpstr>Paging</vt:lpstr>
      <vt:lpstr>Paging</vt:lpstr>
      <vt:lpstr>Paging</vt:lpstr>
      <vt:lpstr>Example of Paging</vt:lpstr>
      <vt:lpstr>Example</vt:lpstr>
      <vt:lpstr>Page Tables</vt:lpstr>
      <vt:lpstr>Page Table Structure</vt:lpstr>
      <vt:lpstr>PowerPoint Presentation</vt:lpstr>
      <vt:lpstr>Page Tables Issues</vt:lpstr>
      <vt:lpstr>Multilevel Page Tables</vt:lpstr>
      <vt:lpstr>PowerPoint Presentation</vt:lpstr>
      <vt:lpstr>Multilevel Page tables</vt:lpstr>
      <vt:lpstr>Multilevel Page tables</vt:lpstr>
      <vt:lpstr>Translation Look aside Buffers (TLBs)</vt:lpstr>
      <vt:lpstr>PowerPoint Presentation</vt:lpstr>
      <vt:lpstr>PowerPoint Presentation</vt:lpstr>
      <vt:lpstr>TLB</vt:lpstr>
      <vt:lpstr>Advantages/Disadvantages of Paging</vt:lpstr>
      <vt:lpstr>Inverted Page Table</vt:lpstr>
      <vt:lpstr>Inverted Paging</vt:lpstr>
      <vt:lpstr>Exercises</vt:lpstr>
      <vt:lpstr>Segmentation</vt:lpstr>
      <vt:lpstr>Logical view of segmentation</vt:lpstr>
      <vt:lpstr>Segmentation Architecture</vt:lpstr>
      <vt:lpstr>Address Translation in segmentation</vt:lpstr>
      <vt:lpstr>Segmentation Architecture (cont.)</vt:lpstr>
      <vt:lpstr>PowerPoint Presentation</vt:lpstr>
      <vt:lpstr>Example - Address translation in segmentation</vt:lpstr>
      <vt:lpstr>Shared segments</vt:lpstr>
      <vt:lpstr>Paging Vs Segmentation</vt:lpstr>
      <vt:lpstr>Segmentation with Paging</vt:lpstr>
      <vt:lpstr>Segmentation with Paging</vt:lpstr>
      <vt:lpstr>Questions?</vt:lpstr>
      <vt:lpstr>Continue?</vt:lpstr>
      <vt:lpstr>Continue?</vt:lpstr>
      <vt:lpstr>Exercise</vt:lpstr>
      <vt:lpstr>Paging/Segmentation Policies</vt:lpstr>
      <vt:lpstr>Demand Paging</vt:lpstr>
      <vt:lpstr>Valid-Invalid Bit</vt:lpstr>
      <vt:lpstr>Handling a Page Fault: Process</vt:lpstr>
      <vt:lpstr>What happens if there is no free  frame?</vt:lpstr>
      <vt:lpstr>Page Replacement</vt:lpstr>
      <vt:lpstr>Page Replacement Strategies  (algorithms)</vt:lpstr>
      <vt:lpstr>Optimal Page Replacement (OPR)</vt:lpstr>
      <vt:lpstr>No of page fault?</vt:lpstr>
      <vt:lpstr>OPR: Discussion</vt:lpstr>
      <vt:lpstr>First-In-First-Out (FIFO)</vt:lpstr>
      <vt:lpstr>How many Page Fault?</vt:lpstr>
      <vt:lpstr>FIFO</vt:lpstr>
      <vt:lpstr>Least Recently Used (LRU)</vt:lpstr>
      <vt:lpstr>Calculate no of Page fault</vt:lpstr>
      <vt:lpstr>Implementation of LRU algorithm</vt:lpstr>
      <vt:lpstr>Least Frequently Used (LFU)</vt:lpstr>
      <vt:lpstr>Not Recently Used (NRU)</vt:lpstr>
      <vt:lpstr>NRU(Cont)</vt:lpstr>
      <vt:lpstr>Working Set (WS) Page Replacement</vt:lpstr>
      <vt:lpstr>Working Set (WS) Page Replacement</vt:lpstr>
      <vt:lpstr>Thrashing</vt:lpstr>
      <vt:lpstr>Thrashing</vt:lpstr>
      <vt:lpstr>Belady’s Anomaly</vt:lpstr>
      <vt:lpstr>Example from Belady’s paper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Management</dc:title>
  <dc:creator>bishal</dc:creator>
  <cp:lastModifiedBy>Yujan Basnet</cp:lastModifiedBy>
  <cp:revision>24</cp:revision>
  <dcterms:created xsi:type="dcterms:W3CDTF">2024-03-08T16:19:16Z</dcterms:created>
  <dcterms:modified xsi:type="dcterms:W3CDTF">2025-06-19T04:06:59Z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</Properties>
</file>