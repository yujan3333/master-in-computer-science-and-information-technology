
<file path=[Content_Types].xml><?xml version="1.0" encoding="utf-8"?>
<Types xmlns="http://schemas.openxmlformats.org/package/2006/content-types">
  <Default Extension="jpg" ContentType="image/jp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theme/theme2.xml" ContentType="application/vnd.openxmlformats-officedocument.theme+xml"/>
  <Override PartName="/ppt/changesInfos/changesInfo1.xml" ContentType="application/vnd.ms-powerpoint.changesinfo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66" r:id="rId1"/>
  </p:sldMasterIdLst>
  <p:notesMasterIdLst>
    <p:notesMasterId r:id="rId64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  <p:sldId id="302" r:id="rId48"/>
    <p:sldId id="303" r:id="rId49"/>
    <p:sldId id="304" r:id="rId50"/>
    <p:sldId id="305" r:id="rId51"/>
    <p:sldId id="306" r:id="rId52"/>
    <p:sldId id="307" r:id="rId53"/>
    <p:sldId id="308" r:id="rId54"/>
    <p:sldId id="309" r:id="rId55"/>
    <p:sldId id="310" r:id="rId56"/>
    <p:sldId id="311" r:id="rId57"/>
    <p:sldId id="312" r:id="rId58"/>
    <p:sldId id="313" r:id="rId59"/>
    <p:sldId id="314" r:id="rId60"/>
    <p:sldId id="315" r:id="rId61"/>
    <p:sldId id="316" r:id="rId62"/>
    <p:sldId id="317" r:id="rId63"/>
  </p:sldIdLst>
  <p:sldSz cx="9144000" cy="6858000" type="screen4x3"/>
  <p:notesSz cx="9144000" cy="6858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880">
          <p15:clr>
            <a:srgbClr val="A4A3A4"/>
          </p15:clr>
        </p15:guide>
        <p15:guide id="2" pos="216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68" d="100"/>
          <a:sy n="68" d="100"/>
        </p:scale>
        <p:origin x="1446" y="54"/>
      </p:cViewPr>
      <p:guideLst>
        <p:guide orient="horz" pos="2880"/>
        <p:guide pos="216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slide" Target="slides/slide38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slide" Target="slides/slide41.xml"/><Relationship Id="rId47" Type="http://schemas.openxmlformats.org/officeDocument/2006/relationships/slide" Target="slides/slide46.xml"/><Relationship Id="rId50" Type="http://schemas.openxmlformats.org/officeDocument/2006/relationships/slide" Target="slides/slide49.xml"/><Relationship Id="rId55" Type="http://schemas.openxmlformats.org/officeDocument/2006/relationships/slide" Target="slides/slide54.xml"/><Relationship Id="rId63" Type="http://schemas.openxmlformats.org/officeDocument/2006/relationships/slide" Target="slides/slide62.xml"/><Relationship Id="rId68" Type="http://schemas.openxmlformats.org/officeDocument/2006/relationships/tableStyles" Target="tableStyles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53" Type="http://schemas.openxmlformats.org/officeDocument/2006/relationships/slide" Target="slides/slide52.xml"/><Relationship Id="rId58" Type="http://schemas.openxmlformats.org/officeDocument/2006/relationships/slide" Target="slides/slide57.xml"/><Relationship Id="rId66" Type="http://schemas.openxmlformats.org/officeDocument/2006/relationships/viewProps" Target="view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slide" Target="slides/slide48.xml"/><Relationship Id="rId57" Type="http://schemas.openxmlformats.org/officeDocument/2006/relationships/slide" Target="slides/slide56.xml"/><Relationship Id="rId61" Type="http://schemas.openxmlformats.org/officeDocument/2006/relationships/slide" Target="slides/slide60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52" Type="http://schemas.openxmlformats.org/officeDocument/2006/relationships/slide" Target="slides/slide51.xml"/><Relationship Id="rId60" Type="http://schemas.openxmlformats.org/officeDocument/2006/relationships/slide" Target="slides/slide59.xml"/><Relationship Id="rId65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slide" Target="slides/slide47.xml"/><Relationship Id="rId56" Type="http://schemas.openxmlformats.org/officeDocument/2006/relationships/slide" Target="slides/slide55.xml"/><Relationship Id="rId64" Type="http://schemas.openxmlformats.org/officeDocument/2006/relationships/notesMaster" Target="notesMasters/notesMaster1.xml"/><Relationship Id="rId69" Type="http://schemas.microsoft.com/office/2016/11/relationships/changesInfo" Target="changesInfos/changesInfo1.xml"/><Relationship Id="rId8" Type="http://schemas.openxmlformats.org/officeDocument/2006/relationships/slide" Target="slides/slide7.xml"/><Relationship Id="rId51" Type="http://schemas.openxmlformats.org/officeDocument/2006/relationships/slide" Target="slides/slide50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slide" Target="slides/slide45.xml"/><Relationship Id="rId59" Type="http://schemas.openxmlformats.org/officeDocument/2006/relationships/slide" Target="slides/slide58.xml"/><Relationship Id="rId67" Type="http://schemas.openxmlformats.org/officeDocument/2006/relationships/theme" Target="theme/theme1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54" Type="http://schemas.openxmlformats.org/officeDocument/2006/relationships/slide" Target="slides/slide53.xml"/><Relationship Id="rId62" Type="http://schemas.openxmlformats.org/officeDocument/2006/relationships/slide" Target="slides/slide61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Yujan Basnet" userId="495fd8277ebfbaef" providerId="LiveId" clId="{B0018F36-3B29-46F9-A2F7-0D15B6B9845E}"/>
    <pc:docChg chg="custSel modSld">
      <pc:chgData name="Yujan Basnet" userId="495fd8277ebfbaef" providerId="LiveId" clId="{B0018F36-3B29-46F9-A2F7-0D15B6B9845E}" dt="2025-04-08T00:48:03.794" v="68" actId="207"/>
      <pc:docMkLst>
        <pc:docMk/>
      </pc:docMkLst>
      <pc:sldChg chg="modSp mod">
        <pc:chgData name="Yujan Basnet" userId="495fd8277ebfbaef" providerId="LiveId" clId="{B0018F36-3B29-46F9-A2F7-0D15B6B9845E}" dt="2025-04-06T11:29:13.401" v="2" actId="207"/>
        <pc:sldMkLst>
          <pc:docMk/>
          <pc:sldMk cId="0" sldId="269"/>
        </pc:sldMkLst>
        <pc:spChg chg="mod">
          <ac:chgData name="Yujan Basnet" userId="495fd8277ebfbaef" providerId="LiveId" clId="{B0018F36-3B29-46F9-A2F7-0D15B6B9845E}" dt="2025-04-06T11:29:13.401" v="2" actId="207"/>
          <ac:spMkLst>
            <pc:docMk/>
            <pc:sldMk cId="0" sldId="269"/>
            <ac:spMk id="5" creationId="{00000000-0000-0000-0000-000000000000}"/>
          </ac:spMkLst>
        </pc:spChg>
      </pc:sldChg>
      <pc:sldChg chg="modSp mod">
        <pc:chgData name="Yujan Basnet" userId="495fd8277ebfbaef" providerId="LiveId" clId="{B0018F36-3B29-46F9-A2F7-0D15B6B9845E}" dt="2025-04-06T11:32:02.234" v="7" actId="207"/>
        <pc:sldMkLst>
          <pc:docMk/>
          <pc:sldMk cId="0" sldId="270"/>
        </pc:sldMkLst>
        <pc:spChg chg="mod">
          <ac:chgData name="Yujan Basnet" userId="495fd8277ebfbaef" providerId="LiveId" clId="{B0018F36-3B29-46F9-A2F7-0D15B6B9845E}" dt="2025-04-06T11:32:02.234" v="7" actId="207"/>
          <ac:spMkLst>
            <pc:docMk/>
            <pc:sldMk cId="0" sldId="270"/>
            <ac:spMk id="3" creationId="{00000000-0000-0000-0000-000000000000}"/>
          </ac:spMkLst>
        </pc:spChg>
      </pc:sldChg>
      <pc:sldChg chg="modSp mod">
        <pc:chgData name="Yujan Basnet" userId="495fd8277ebfbaef" providerId="LiveId" clId="{B0018F36-3B29-46F9-A2F7-0D15B6B9845E}" dt="2025-04-06T11:32:58.051" v="12" actId="207"/>
        <pc:sldMkLst>
          <pc:docMk/>
          <pc:sldMk cId="0" sldId="271"/>
        </pc:sldMkLst>
        <pc:spChg chg="mod">
          <ac:chgData name="Yujan Basnet" userId="495fd8277ebfbaef" providerId="LiveId" clId="{B0018F36-3B29-46F9-A2F7-0D15B6B9845E}" dt="2025-04-06T11:32:58.051" v="12" actId="207"/>
          <ac:spMkLst>
            <pc:docMk/>
            <pc:sldMk cId="0" sldId="271"/>
            <ac:spMk id="3" creationId="{00000000-0000-0000-0000-000000000000}"/>
          </ac:spMkLst>
        </pc:spChg>
      </pc:sldChg>
      <pc:sldChg chg="modSp mod">
        <pc:chgData name="Yujan Basnet" userId="495fd8277ebfbaef" providerId="LiveId" clId="{B0018F36-3B29-46F9-A2F7-0D15B6B9845E}" dt="2025-04-06T13:27:23.062" v="21" actId="207"/>
        <pc:sldMkLst>
          <pc:docMk/>
          <pc:sldMk cId="0" sldId="272"/>
        </pc:sldMkLst>
        <pc:spChg chg="mod">
          <ac:chgData name="Yujan Basnet" userId="495fd8277ebfbaef" providerId="LiveId" clId="{B0018F36-3B29-46F9-A2F7-0D15B6B9845E}" dt="2025-04-06T13:27:23.062" v="21" actId="207"/>
          <ac:spMkLst>
            <pc:docMk/>
            <pc:sldMk cId="0" sldId="272"/>
            <ac:spMk id="3" creationId="{00000000-0000-0000-0000-000000000000}"/>
          </ac:spMkLst>
        </pc:spChg>
      </pc:sldChg>
      <pc:sldChg chg="modSp mod">
        <pc:chgData name="Yujan Basnet" userId="495fd8277ebfbaef" providerId="LiveId" clId="{B0018F36-3B29-46F9-A2F7-0D15B6B9845E}" dt="2025-04-06T14:07:00.687" v="23" actId="207"/>
        <pc:sldMkLst>
          <pc:docMk/>
          <pc:sldMk cId="0" sldId="275"/>
        </pc:sldMkLst>
        <pc:spChg chg="mod">
          <ac:chgData name="Yujan Basnet" userId="495fd8277ebfbaef" providerId="LiveId" clId="{B0018F36-3B29-46F9-A2F7-0D15B6B9845E}" dt="2025-04-06T14:07:00.687" v="23" actId="207"/>
          <ac:spMkLst>
            <pc:docMk/>
            <pc:sldMk cId="0" sldId="275"/>
            <ac:spMk id="3" creationId="{00000000-0000-0000-0000-000000000000}"/>
          </ac:spMkLst>
        </pc:spChg>
      </pc:sldChg>
      <pc:sldChg chg="modSp mod">
        <pc:chgData name="Yujan Basnet" userId="495fd8277ebfbaef" providerId="LiveId" clId="{B0018F36-3B29-46F9-A2F7-0D15B6B9845E}" dt="2025-04-06T15:11:04.296" v="30" actId="207"/>
        <pc:sldMkLst>
          <pc:docMk/>
          <pc:sldMk cId="0" sldId="277"/>
        </pc:sldMkLst>
        <pc:spChg chg="mod">
          <ac:chgData name="Yujan Basnet" userId="495fd8277ebfbaef" providerId="LiveId" clId="{B0018F36-3B29-46F9-A2F7-0D15B6B9845E}" dt="2025-04-06T15:11:04.296" v="30" actId="207"/>
          <ac:spMkLst>
            <pc:docMk/>
            <pc:sldMk cId="0" sldId="277"/>
            <ac:spMk id="3" creationId="{00000000-0000-0000-0000-000000000000}"/>
          </ac:spMkLst>
        </pc:spChg>
      </pc:sldChg>
      <pc:sldChg chg="modSp mod">
        <pc:chgData name="Yujan Basnet" userId="495fd8277ebfbaef" providerId="LiveId" clId="{B0018F36-3B29-46F9-A2F7-0D15B6B9845E}" dt="2025-04-06T15:11:54.895" v="33" actId="207"/>
        <pc:sldMkLst>
          <pc:docMk/>
          <pc:sldMk cId="0" sldId="278"/>
        </pc:sldMkLst>
        <pc:spChg chg="mod">
          <ac:chgData name="Yujan Basnet" userId="495fd8277ebfbaef" providerId="LiveId" clId="{B0018F36-3B29-46F9-A2F7-0D15B6B9845E}" dt="2025-04-06T15:11:54.895" v="33" actId="207"/>
          <ac:spMkLst>
            <pc:docMk/>
            <pc:sldMk cId="0" sldId="278"/>
            <ac:spMk id="3" creationId="{00000000-0000-0000-0000-000000000000}"/>
          </ac:spMkLst>
        </pc:spChg>
      </pc:sldChg>
      <pc:sldChg chg="modSp mod">
        <pc:chgData name="Yujan Basnet" userId="495fd8277ebfbaef" providerId="LiveId" clId="{B0018F36-3B29-46F9-A2F7-0D15B6B9845E}" dt="2025-04-06T15:12:20.749" v="35" actId="207"/>
        <pc:sldMkLst>
          <pc:docMk/>
          <pc:sldMk cId="0" sldId="279"/>
        </pc:sldMkLst>
        <pc:spChg chg="mod">
          <ac:chgData name="Yujan Basnet" userId="495fd8277ebfbaef" providerId="LiveId" clId="{B0018F36-3B29-46F9-A2F7-0D15B6B9845E}" dt="2025-04-06T15:12:20.749" v="35" actId="207"/>
          <ac:spMkLst>
            <pc:docMk/>
            <pc:sldMk cId="0" sldId="279"/>
            <ac:spMk id="3" creationId="{00000000-0000-0000-0000-000000000000}"/>
          </ac:spMkLst>
        </pc:spChg>
      </pc:sldChg>
      <pc:sldChg chg="modSp mod">
        <pc:chgData name="Yujan Basnet" userId="495fd8277ebfbaef" providerId="LiveId" clId="{B0018F36-3B29-46F9-A2F7-0D15B6B9845E}" dt="2025-04-07T03:36:27.366" v="36" actId="207"/>
        <pc:sldMkLst>
          <pc:docMk/>
          <pc:sldMk cId="0" sldId="280"/>
        </pc:sldMkLst>
        <pc:spChg chg="mod">
          <ac:chgData name="Yujan Basnet" userId="495fd8277ebfbaef" providerId="LiveId" clId="{B0018F36-3B29-46F9-A2F7-0D15B6B9845E}" dt="2025-04-07T03:36:27.366" v="36" actId="207"/>
          <ac:spMkLst>
            <pc:docMk/>
            <pc:sldMk cId="0" sldId="280"/>
            <ac:spMk id="3" creationId="{00000000-0000-0000-0000-000000000000}"/>
          </ac:spMkLst>
        </pc:spChg>
      </pc:sldChg>
      <pc:sldChg chg="modSp mod">
        <pc:chgData name="Yujan Basnet" userId="495fd8277ebfbaef" providerId="LiveId" clId="{B0018F36-3B29-46F9-A2F7-0D15B6B9845E}" dt="2025-04-07T03:37:57.687" v="37" actId="207"/>
        <pc:sldMkLst>
          <pc:docMk/>
          <pc:sldMk cId="0" sldId="281"/>
        </pc:sldMkLst>
        <pc:spChg chg="mod">
          <ac:chgData name="Yujan Basnet" userId="495fd8277ebfbaef" providerId="LiveId" clId="{B0018F36-3B29-46F9-A2F7-0D15B6B9845E}" dt="2025-04-07T03:37:57.687" v="37" actId="207"/>
          <ac:spMkLst>
            <pc:docMk/>
            <pc:sldMk cId="0" sldId="281"/>
            <ac:spMk id="3" creationId="{00000000-0000-0000-0000-000000000000}"/>
          </ac:spMkLst>
        </pc:spChg>
      </pc:sldChg>
      <pc:sldChg chg="modSp mod">
        <pc:chgData name="Yujan Basnet" userId="495fd8277ebfbaef" providerId="LiveId" clId="{B0018F36-3B29-46F9-A2F7-0D15B6B9845E}" dt="2025-04-07T04:35:11.347" v="38" actId="1038"/>
        <pc:sldMkLst>
          <pc:docMk/>
          <pc:sldMk cId="0" sldId="283"/>
        </pc:sldMkLst>
        <pc:spChg chg="mod">
          <ac:chgData name="Yujan Basnet" userId="495fd8277ebfbaef" providerId="LiveId" clId="{B0018F36-3B29-46F9-A2F7-0D15B6B9845E}" dt="2025-04-07T04:35:11.347" v="38" actId="1038"/>
          <ac:spMkLst>
            <pc:docMk/>
            <pc:sldMk cId="0" sldId="283"/>
            <ac:spMk id="3" creationId="{00000000-0000-0000-0000-000000000000}"/>
          </ac:spMkLst>
        </pc:spChg>
      </pc:sldChg>
      <pc:sldChg chg="modSp mod">
        <pc:chgData name="Yujan Basnet" userId="495fd8277ebfbaef" providerId="LiveId" clId="{B0018F36-3B29-46F9-A2F7-0D15B6B9845E}" dt="2025-04-07T05:00:46.742" v="40" actId="114"/>
        <pc:sldMkLst>
          <pc:docMk/>
          <pc:sldMk cId="0" sldId="291"/>
        </pc:sldMkLst>
        <pc:spChg chg="mod">
          <ac:chgData name="Yujan Basnet" userId="495fd8277ebfbaef" providerId="LiveId" clId="{B0018F36-3B29-46F9-A2F7-0D15B6B9845E}" dt="2025-04-07T05:00:46.742" v="40" actId="114"/>
          <ac:spMkLst>
            <pc:docMk/>
            <pc:sldMk cId="0" sldId="291"/>
            <ac:spMk id="3" creationId="{00000000-0000-0000-0000-000000000000}"/>
          </ac:spMkLst>
        </pc:spChg>
      </pc:sldChg>
      <pc:sldChg chg="modSp mod">
        <pc:chgData name="Yujan Basnet" userId="495fd8277ebfbaef" providerId="LiveId" clId="{B0018F36-3B29-46F9-A2F7-0D15B6B9845E}" dt="2025-04-07T05:30:32.581" v="41" actId="1038"/>
        <pc:sldMkLst>
          <pc:docMk/>
          <pc:sldMk cId="0" sldId="296"/>
        </pc:sldMkLst>
        <pc:picChg chg="mod">
          <ac:chgData name="Yujan Basnet" userId="495fd8277ebfbaef" providerId="LiveId" clId="{B0018F36-3B29-46F9-A2F7-0D15B6B9845E}" dt="2025-04-07T05:30:32.581" v="41" actId="1038"/>
          <ac:picMkLst>
            <pc:docMk/>
            <pc:sldMk cId="0" sldId="296"/>
            <ac:picMk id="3" creationId="{00000000-0000-0000-0000-000000000000}"/>
          </ac:picMkLst>
        </pc:picChg>
      </pc:sldChg>
      <pc:sldChg chg="modSp mod">
        <pc:chgData name="Yujan Basnet" userId="495fd8277ebfbaef" providerId="LiveId" clId="{B0018F36-3B29-46F9-A2F7-0D15B6B9845E}" dt="2025-04-07T05:33:48.537" v="45" actId="33524"/>
        <pc:sldMkLst>
          <pc:docMk/>
          <pc:sldMk cId="0" sldId="298"/>
        </pc:sldMkLst>
        <pc:spChg chg="mod">
          <ac:chgData name="Yujan Basnet" userId="495fd8277ebfbaef" providerId="LiveId" clId="{B0018F36-3B29-46F9-A2F7-0D15B6B9845E}" dt="2025-04-07T05:33:48.537" v="45" actId="33524"/>
          <ac:spMkLst>
            <pc:docMk/>
            <pc:sldMk cId="0" sldId="298"/>
            <ac:spMk id="3" creationId="{00000000-0000-0000-0000-000000000000}"/>
          </ac:spMkLst>
        </pc:spChg>
      </pc:sldChg>
      <pc:sldChg chg="modSp mod">
        <pc:chgData name="Yujan Basnet" userId="495fd8277ebfbaef" providerId="LiveId" clId="{B0018F36-3B29-46F9-A2F7-0D15B6B9845E}" dt="2025-04-08T00:48:03.794" v="68" actId="207"/>
        <pc:sldMkLst>
          <pc:docMk/>
          <pc:sldMk cId="0" sldId="301"/>
        </pc:sldMkLst>
        <pc:spChg chg="mod">
          <ac:chgData name="Yujan Basnet" userId="495fd8277ebfbaef" providerId="LiveId" clId="{B0018F36-3B29-46F9-A2F7-0D15B6B9845E}" dt="2025-04-08T00:48:03.794" v="68" actId="207"/>
          <ac:spMkLst>
            <pc:docMk/>
            <pc:sldMk cId="0" sldId="301"/>
            <ac:spMk id="3" creationId="{00000000-0000-0000-0000-000000000000}"/>
          </ac:spMkLst>
        </pc:spChg>
      </pc:sldChg>
      <pc:sldChg chg="modSp mod">
        <pc:chgData name="Yujan Basnet" userId="495fd8277ebfbaef" providerId="LiveId" clId="{B0018F36-3B29-46F9-A2F7-0D15B6B9845E}" dt="2025-04-07T08:41:28.139" v="46" actId="207"/>
        <pc:sldMkLst>
          <pc:docMk/>
          <pc:sldMk cId="0" sldId="305"/>
        </pc:sldMkLst>
        <pc:spChg chg="mod">
          <ac:chgData name="Yujan Basnet" userId="495fd8277ebfbaef" providerId="LiveId" clId="{B0018F36-3B29-46F9-A2F7-0D15B6B9845E}" dt="2025-04-07T08:41:28.139" v="46" actId="207"/>
          <ac:spMkLst>
            <pc:docMk/>
            <pc:sldMk cId="0" sldId="305"/>
            <ac:spMk id="3" creationId="{00000000-0000-0000-0000-000000000000}"/>
          </ac:spMkLst>
        </pc:spChg>
      </pc:sldChg>
      <pc:sldChg chg="modSp mod">
        <pc:chgData name="Yujan Basnet" userId="495fd8277ebfbaef" providerId="LiveId" clId="{B0018F36-3B29-46F9-A2F7-0D15B6B9845E}" dt="2025-04-07T08:48:52.915" v="53" actId="207"/>
        <pc:sldMkLst>
          <pc:docMk/>
          <pc:sldMk cId="0" sldId="310"/>
        </pc:sldMkLst>
        <pc:spChg chg="mod">
          <ac:chgData name="Yujan Basnet" userId="495fd8277ebfbaef" providerId="LiveId" clId="{B0018F36-3B29-46F9-A2F7-0D15B6B9845E}" dt="2025-04-07T08:48:52.915" v="53" actId="207"/>
          <ac:spMkLst>
            <pc:docMk/>
            <pc:sldMk cId="0" sldId="310"/>
            <ac:spMk id="3" creationId="{00000000-0000-0000-0000-000000000000}"/>
          </ac:spMkLst>
        </pc:spChg>
      </pc:sldChg>
      <pc:sldChg chg="modSp mod">
        <pc:chgData name="Yujan Basnet" userId="495fd8277ebfbaef" providerId="LiveId" clId="{B0018F36-3B29-46F9-A2F7-0D15B6B9845E}" dt="2025-04-07T08:51:46.505" v="57" actId="113"/>
        <pc:sldMkLst>
          <pc:docMk/>
          <pc:sldMk cId="0" sldId="311"/>
        </pc:sldMkLst>
        <pc:spChg chg="mod">
          <ac:chgData name="Yujan Basnet" userId="495fd8277ebfbaef" providerId="LiveId" clId="{B0018F36-3B29-46F9-A2F7-0D15B6B9845E}" dt="2025-04-07T08:51:46.505" v="57" actId="113"/>
          <ac:spMkLst>
            <pc:docMk/>
            <pc:sldMk cId="0" sldId="311"/>
            <ac:spMk id="3" creationId="{00000000-0000-0000-0000-000000000000}"/>
          </ac:spMkLst>
        </pc:spChg>
      </pc:sldChg>
      <pc:sldChg chg="modSp mod">
        <pc:chgData name="Yujan Basnet" userId="495fd8277ebfbaef" providerId="LiveId" clId="{B0018F36-3B29-46F9-A2F7-0D15B6B9845E}" dt="2025-04-07T08:57:40.117" v="61" actId="207"/>
        <pc:sldMkLst>
          <pc:docMk/>
          <pc:sldMk cId="0" sldId="314"/>
        </pc:sldMkLst>
        <pc:spChg chg="mod">
          <ac:chgData name="Yujan Basnet" userId="495fd8277ebfbaef" providerId="LiveId" clId="{B0018F36-3B29-46F9-A2F7-0D15B6B9845E}" dt="2025-04-07T08:57:40.117" v="61" actId="207"/>
          <ac:spMkLst>
            <pc:docMk/>
            <pc:sldMk cId="0" sldId="314"/>
            <ac:spMk id="3" creationId="{00000000-0000-0000-0000-000000000000}"/>
          </ac:spMkLst>
        </pc:spChg>
      </pc:sldChg>
    </pc:docChg>
  </pc:docChgLst>
  <pc:docChgLst>
    <pc:chgData name="Yujan Basnet" userId="495fd8277ebfbaef" providerId="LiveId" clId="{6ADDB40C-2293-4884-812F-4CFDF77500C5}"/>
    <pc:docChg chg="modSld">
      <pc:chgData name="Yujan Basnet" userId="495fd8277ebfbaef" providerId="LiveId" clId="{6ADDB40C-2293-4884-812F-4CFDF77500C5}" dt="2025-06-19T22:02:37.982" v="1" actId="207"/>
      <pc:docMkLst>
        <pc:docMk/>
      </pc:docMkLst>
      <pc:sldChg chg="modSp mod">
        <pc:chgData name="Yujan Basnet" userId="495fd8277ebfbaef" providerId="LiveId" clId="{6ADDB40C-2293-4884-812F-4CFDF77500C5}" dt="2025-06-19T21:12:40.689" v="0" actId="207"/>
        <pc:sldMkLst>
          <pc:docMk/>
          <pc:sldMk cId="0" sldId="258"/>
        </pc:sldMkLst>
        <pc:spChg chg="mod">
          <ac:chgData name="Yujan Basnet" userId="495fd8277ebfbaef" providerId="LiveId" clId="{6ADDB40C-2293-4884-812F-4CFDF77500C5}" dt="2025-06-19T21:12:40.689" v="0" actId="207"/>
          <ac:spMkLst>
            <pc:docMk/>
            <pc:sldMk cId="0" sldId="258"/>
            <ac:spMk id="3" creationId="{00000000-0000-0000-0000-000000000000}"/>
          </ac:spMkLst>
        </pc:spChg>
      </pc:sldChg>
      <pc:sldChg chg="modSp mod">
        <pc:chgData name="Yujan Basnet" userId="495fd8277ebfbaef" providerId="LiveId" clId="{6ADDB40C-2293-4884-812F-4CFDF77500C5}" dt="2025-06-19T22:02:37.982" v="1" actId="207"/>
        <pc:sldMkLst>
          <pc:docMk/>
          <pc:sldMk cId="0" sldId="292"/>
        </pc:sldMkLst>
        <pc:spChg chg="mod">
          <ac:chgData name="Yujan Basnet" userId="495fd8277ebfbaef" providerId="LiveId" clId="{6ADDB40C-2293-4884-812F-4CFDF77500C5}" dt="2025-06-19T22:02:37.982" v="1" actId="207"/>
          <ac:spMkLst>
            <pc:docMk/>
            <pc:sldMk cId="0" sldId="292"/>
            <ac:spMk id="3" creationId="{00000000-0000-0000-0000-000000000000}"/>
          </ac:spMkLst>
        </pc:spChg>
      </pc:sldChg>
    </pc:docChg>
  </pc:docChgLst>
  <pc:docChgLst>
    <pc:chgData name="Binod Kumar Adhikari" userId="256f5a90-d823-4e8d-9a41-a3da19f4a0ad" providerId="ADAL" clId="{72B1E5E2-E1DF-40A3-807A-F3CEA4DFC89E}"/>
    <pc:docChg chg="undo custSel modSld modMainMaster">
      <pc:chgData name="Binod Kumar Adhikari" userId="256f5a90-d823-4e8d-9a41-a3da19f4a0ad" providerId="ADAL" clId="{72B1E5E2-E1DF-40A3-807A-F3CEA4DFC89E}" dt="2024-03-19T04:27:37.384" v="231" actId="14100"/>
      <pc:docMkLst>
        <pc:docMk/>
      </pc:docMkLst>
      <pc:sldChg chg="modSp">
        <pc:chgData name="Binod Kumar Adhikari" userId="256f5a90-d823-4e8d-9a41-a3da19f4a0ad" providerId="ADAL" clId="{72B1E5E2-E1DF-40A3-807A-F3CEA4DFC89E}" dt="2024-03-18T02:25:18.746" v="2" actId="207"/>
        <pc:sldMkLst>
          <pc:docMk/>
          <pc:sldMk cId="0" sldId="267"/>
        </pc:sldMkLst>
      </pc:sldChg>
      <pc:sldChg chg="modSp">
        <pc:chgData name="Binod Kumar Adhikari" userId="256f5a90-d823-4e8d-9a41-a3da19f4a0ad" providerId="ADAL" clId="{72B1E5E2-E1DF-40A3-807A-F3CEA4DFC89E}" dt="2024-03-18T02:29:18.829" v="11" actId="1035"/>
        <pc:sldMkLst>
          <pc:docMk/>
          <pc:sldMk cId="0" sldId="270"/>
        </pc:sldMkLst>
      </pc:sldChg>
      <pc:sldChg chg="modSp">
        <pc:chgData name="Binod Kumar Adhikari" userId="256f5a90-d823-4e8d-9a41-a3da19f4a0ad" providerId="ADAL" clId="{72B1E5E2-E1DF-40A3-807A-F3CEA4DFC89E}" dt="2024-03-18T02:55:40.195" v="13" actId="1035"/>
        <pc:sldMkLst>
          <pc:docMk/>
          <pc:sldMk cId="0" sldId="271"/>
        </pc:sldMkLst>
      </pc:sldChg>
      <pc:sldChg chg="modSp">
        <pc:chgData name="Binod Kumar Adhikari" userId="256f5a90-d823-4e8d-9a41-a3da19f4a0ad" providerId="ADAL" clId="{72B1E5E2-E1DF-40A3-807A-F3CEA4DFC89E}" dt="2024-03-18T02:59:05.576" v="18" actId="114"/>
        <pc:sldMkLst>
          <pc:docMk/>
          <pc:sldMk cId="0" sldId="277"/>
        </pc:sldMkLst>
      </pc:sldChg>
      <pc:sldChg chg="modSp">
        <pc:chgData name="Binod Kumar Adhikari" userId="256f5a90-d823-4e8d-9a41-a3da19f4a0ad" providerId="ADAL" clId="{72B1E5E2-E1DF-40A3-807A-F3CEA4DFC89E}" dt="2024-03-18T03:06:08.139" v="19" actId="113"/>
        <pc:sldMkLst>
          <pc:docMk/>
          <pc:sldMk cId="0" sldId="280"/>
        </pc:sldMkLst>
      </pc:sldChg>
      <pc:sldChg chg="modSp">
        <pc:chgData name="Binod Kumar Adhikari" userId="256f5a90-d823-4e8d-9a41-a3da19f4a0ad" providerId="ADAL" clId="{72B1E5E2-E1DF-40A3-807A-F3CEA4DFC89E}" dt="2024-03-18T03:06:49.366" v="20" actId="12789"/>
        <pc:sldMkLst>
          <pc:docMk/>
          <pc:sldMk cId="0" sldId="281"/>
        </pc:sldMkLst>
      </pc:sldChg>
      <pc:sldChg chg="modSp">
        <pc:chgData name="Binod Kumar Adhikari" userId="256f5a90-d823-4e8d-9a41-a3da19f4a0ad" providerId="ADAL" clId="{72B1E5E2-E1DF-40A3-807A-F3CEA4DFC89E}" dt="2024-03-18T03:09:35.418" v="22" actId="6549"/>
        <pc:sldMkLst>
          <pc:docMk/>
          <pc:sldMk cId="0" sldId="282"/>
        </pc:sldMkLst>
      </pc:sldChg>
      <pc:sldChg chg="modSp">
        <pc:chgData name="Binod Kumar Adhikari" userId="256f5a90-d823-4e8d-9a41-a3da19f4a0ad" providerId="ADAL" clId="{72B1E5E2-E1DF-40A3-807A-F3CEA4DFC89E}" dt="2024-03-18T03:11:41.492" v="24" actId="113"/>
        <pc:sldMkLst>
          <pc:docMk/>
          <pc:sldMk cId="0" sldId="283"/>
        </pc:sldMkLst>
      </pc:sldChg>
      <pc:sldChg chg="modSp">
        <pc:chgData name="Binod Kumar Adhikari" userId="256f5a90-d823-4e8d-9a41-a3da19f4a0ad" providerId="ADAL" clId="{72B1E5E2-E1DF-40A3-807A-F3CEA4DFC89E}" dt="2024-03-19T02:25:19.110" v="227" actId="113"/>
        <pc:sldMkLst>
          <pc:docMk/>
          <pc:sldMk cId="0" sldId="285"/>
        </pc:sldMkLst>
      </pc:sldChg>
      <pc:sldChg chg="modSp">
        <pc:chgData name="Binod Kumar Adhikari" userId="256f5a90-d823-4e8d-9a41-a3da19f4a0ad" providerId="ADAL" clId="{72B1E5E2-E1DF-40A3-807A-F3CEA4DFC89E}" dt="2024-03-18T03:24:07.871" v="25" actId="113"/>
        <pc:sldMkLst>
          <pc:docMk/>
          <pc:sldMk cId="0" sldId="290"/>
        </pc:sldMkLst>
      </pc:sldChg>
      <pc:sldChg chg="modSp">
        <pc:chgData name="Binod Kumar Adhikari" userId="256f5a90-d823-4e8d-9a41-a3da19f4a0ad" providerId="ADAL" clId="{72B1E5E2-E1DF-40A3-807A-F3CEA4DFC89E}" dt="2024-03-18T03:24:48.615" v="28" actId="1035"/>
        <pc:sldMkLst>
          <pc:docMk/>
          <pc:sldMk cId="0" sldId="291"/>
        </pc:sldMkLst>
      </pc:sldChg>
      <pc:sldChg chg="modSp">
        <pc:chgData name="Binod Kumar Adhikari" userId="256f5a90-d823-4e8d-9a41-a3da19f4a0ad" providerId="ADAL" clId="{72B1E5E2-E1DF-40A3-807A-F3CEA4DFC89E}" dt="2024-03-18T04:12:30.024" v="32" actId="1035"/>
        <pc:sldMkLst>
          <pc:docMk/>
          <pc:sldMk cId="0" sldId="297"/>
        </pc:sldMkLst>
      </pc:sldChg>
      <pc:sldChg chg="modSp">
        <pc:chgData name="Binod Kumar Adhikari" userId="256f5a90-d823-4e8d-9a41-a3da19f4a0ad" providerId="ADAL" clId="{72B1E5E2-E1DF-40A3-807A-F3CEA4DFC89E}" dt="2024-03-18T05:24:31.595" v="35" actId="1036"/>
        <pc:sldMkLst>
          <pc:docMk/>
          <pc:sldMk cId="0" sldId="299"/>
        </pc:sldMkLst>
      </pc:sldChg>
      <pc:sldChg chg="modSp">
        <pc:chgData name="Binod Kumar Adhikari" userId="256f5a90-d823-4e8d-9a41-a3da19f4a0ad" providerId="ADAL" clId="{72B1E5E2-E1DF-40A3-807A-F3CEA4DFC89E}" dt="2024-03-19T03:53:34.762" v="228" actId="1035"/>
        <pc:sldMkLst>
          <pc:docMk/>
          <pc:sldMk cId="0" sldId="301"/>
        </pc:sldMkLst>
      </pc:sldChg>
      <pc:sldChg chg="addSp delSp modSp">
        <pc:chgData name="Binod Kumar Adhikari" userId="256f5a90-d823-4e8d-9a41-a3da19f4a0ad" providerId="ADAL" clId="{72B1E5E2-E1DF-40A3-807A-F3CEA4DFC89E}" dt="2024-03-19T03:55:43.866" v="229" actId="478"/>
        <pc:sldMkLst>
          <pc:docMk/>
          <pc:sldMk cId="0" sldId="302"/>
        </pc:sldMkLst>
      </pc:sldChg>
      <pc:sldChg chg="modSp">
        <pc:chgData name="Binod Kumar Adhikari" userId="256f5a90-d823-4e8d-9a41-a3da19f4a0ad" providerId="ADAL" clId="{72B1E5E2-E1DF-40A3-807A-F3CEA4DFC89E}" dt="2024-03-18T05:45:56.850" v="60" actId="20577"/>
        <pc:sldMkLst>
          <pc:docMk/>
          <pc:sldMk cId="0" sldId="305"/>
        </pc:sldMkLst>
      </pc:sldChg>
      <pc:sldChg chg="modSp">
        <pc:chgData name="Binod Kumar Adhikari" userId="256f5a90-d823-4e8d-9a41-a3da19f4a0ad" providerId="ADAL" clId="{72B1E5E2-E1DF-40A3-807A-F3CEA4DFC89E}" dt="2024-03-18T05:50:51.626" v="212" actId="14100"/>
        <pc:sldMkLst>
          <pc:docMk/>
          <pc:sldMk cId="0" sldId="308"/>
        </pc:sldMkLst>
      </pc:sldChg>
      <pc:sldChg chg="modSp">
        <pc:chgData name="Binod Kumar Adhikari" userId="256f5a90-d823-4e8d-9a41-a3da19f4a0ad" providerId="ADAL" clId="{72B1E5E2-E1DF-40A3-807A-F3CEA4DFC89E}" dt="2024-03-18T05:51:11.424" v="215" actId="20577"/>
        <pc:sldMkLst>
          <pc:docMk/>
          <pc:sldMk cId="0" sldId="310"/>
        </pc:sldMkLst>
      </pc:sldChg>
      <pc:sldChg chg="modSp">
        <pc:chgData name="Binod Kumar Adhikari" userId="256f5a90-d823-4e8d-9a41-a3da19f4a0ad" providerId="ADAL" clId="{72B1E5E2-E1DF-40A3-807A-F3CEA4DFC89E}" dt="2024-03-18T05:52:02.326" v="221" actId="1035"/>
        <pc:sldMkLst>
          <pc:docMk/>
          <pc:sldMk cId="0" sldId="312"/>
        </pc:sldMkLst>
      </pc:sldChg>
      <pc:sldChg chg="modSp">
        <pc:chgData name="Binod Kumar Adhikari" userId="256f5a90-d823-4e8d-9a41-a3da19f4a0ad" providerId="ADAL" clId="{72B1E5E2-E1DF-40A3-807A-F3CEA4DFC89E}" dt="2024-03-19T04:27:37.384" v="231" actId="14100"/>
        <pc:sldMkLst>
          <pc:docMk/>
          <pc:sldMk cId="0" sldId="315"/>
        </pc:sldMkLst>
      </pc:sldChg>
      <pc:sldMasterChg chg="modSp modSldLayout">
        <pc:chgData name="Binod Kumar Adhikari" userId="256f5a90-d823-4e8d-9a41-a3da19f4a0ad" providerId="ADAL" clId="{72B1E5E2-E1DF-40A3-807A-F3CEA4DFC89E}" dt="2024-03-18T02:26:11.610" v="9" actId="207"/>
        <pc:sldMasterMkLst>
          <pc:docMk/>
          <pc:sldMasterMk cId="1814775170" sldId="2147483666"/>
        </pc:sldMasterMkLst>
        <pc:sldLayoutChg chg="modSp">
          <pc:chgData name="Binod Kumar Adhikari" userId="256f5a90-d823-4e8d-9a41-a3da19f4a0ad" providerId="ADAL" clId="{72B1E5E2-E1DF-40A3-807A-F3CEA4DFC89E}" dt="2024-03-18T02:26:01.346" v="7" actId="207"/>
          <pc:sldLayoutMkLst>
            <pc:docMk/>
            <pc:sldMasterMk cId="1814775170" sldId="2147483666"/>
            <pc:sldLayoutMk cId="24519619" sldId="2147483667"/>
          </pc:sldLayoutMkLst>
        </pc:sldLayoutChg>
        <pc:sldLayoutChg chg="modSp">
          <pc:chgData name="Binod Kumar Adhikari" userId="256f5a90-d823-4e8d-9a41-a3da19f4a0ad" providerId="ADAL" clId="{72B1E5E2-E1DF-40A3-807A-F3CEA4DFC89E}" dt="2024-03-18T02:25:47.909" v="4" actId="122"/>
          <pc:sldLayoutMkLst>
            <pc:docMk/>
            <pc:sldMasterMk cId="1814775170" sldId="2147483666"/>
            <pc:sldLayoutMk cId="3935864954" sldId="2147483668"/>
          </pc:sldLayoutMkLst>
        </pc:sldLayoutChg>
        <pc:sldLayoutChg chg="modSp">
          <pc:chgData name="Binod Kumar Adhikari" userId="256f5a90-d823-4e8d-9a41-a3da19f4a0ad" providerId="ADAL" clId="{72B1E5E2-E1DF-40A3-807A-F3CEA4DFC89E}" dt="2024-03-18T02:26:07.317" v="8" actId="207"/>
          <pc:sldLayoutMkLst>
            <pc:docMk/>
            <pc:sldMasterMk cId="1814775170" sldId="2147483666"/>
            <pc:sldLayoutMk cId="2248144811" sldId="2147483670"/>
          </pc:sldLayoutMkLst>
        </pc:sldLayoutChg>
        <pc:sldLayoutChg chg="modSp">
          <pc:chgData name="Binod Kumar Adhikari" userId="256f5a90-d823-4e8d-9a41-a3da19f4a0ad" providerId="ADAL" clId="{72B1E5E2-E1DF-40A3-807A-F3CEA4DFC89E}" dt="2024-03-18T02:26:11.610" v="9" actId="207"/>
          <pc:sldLayoutMkLst>
            <pc:docMk/>
            <pc:sldMasterMk cId="1814775170" sldId="2147483666"/>
            <pc:sldLayoutMk cId="4274042638" sldId="2147483671"/>
          </pc:sldLayoutMkLst>
        </pc:sldLayoutChg>
      </pc:sldMaster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44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IN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44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EA01768-F6DF-414D-A051-E1E997691150}" type="datetimeFigureOut">
              <a:rPr lang="en-IN" smtClean="0"/>
              <a:t>20-06-2025</a:t>
            </a:fld>
            <a:endParaRPr lang="en-IN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3028950" y="857250"/>
            <a:ext cx="3086100" cy="2314575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IN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300413"/>
            <a:ext cx="7315200" cy="2700337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13513"/>
            <a:ext cx="3962400" cy="3444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IN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13513"/>
            <a:ext cx="3962400" cy="3444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DA0C75BC-0B5D-41FA-9F65-A884399A1511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76312635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ctrTitle"/>
          </p:nvPr>
        </p:nvSpPr>
        <p:spPr>
          <a:xfrm>
            <a:off x="1842642" y="1862150"/>
            <a:ext cx="5458714" cy="1489075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sz="4800" b="1" i="0">
                <a:solidFill>
                  <a:schemeClr val="tx1"/>
                </a:solidFill>
                <a:latin typeface="Times New Roman"/>
                <a:cs typeface="Times New Roman"/>
              </a:defRPr>
            </a:lvl1pPr>
          </a:lstStyle>
          <a:p>
            <a:r>
              <a:rPr lang="en-US"/>
              <a:t>Click to edit Master title style</a:t>
            </a:r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subTitle" idx="4"/>
          </p:nvPr>
        </p:nvSpPr>
        <p:spPr>
          <a:xfrm>
            <a:off x="2982975" y="4067936"/>
            <a:ext cx="3178048" cy="757554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sz="2400" b="1" i="0">
                <a:solidFill>
                  <a:schemeClr val="tx1"/>
                </a:solidFill>
                <a:latin typeface="Times New Roman"/>
                <a:cs typeface="Times New Roman"/>
              </a:defRPr>
            </a:lvl1pPr>
          </a:lstStyle>
          <a:p>
            <a:r>
              <a:rPr lang="en-US"/>
              <a:t>Click to edit Master subtitle style</a:t>
            </a:r>
            <a:endParaRPr/>
          </a:p>
        </p:txBody>
      </p:sp>
      <p:sp>
        <p:nvSpPr>
          <p:cNvPr id="9" name="Holder 4">
            <a:extLst>
              <a:ext uri="{FF2B5EF4-FFF2-40B4-BE49-F238E27FC236}">
                <a16:creationId xmlns:a16="http://schemas.microsoft.com/office/drawing/2014/main" id="{AC8A869B-5E0E-48D5-8125-A8242806C987}"/>
              </a:ext>
            </a:extLst>
          </p:cNvPr>
          <p:cNvSpPr>
            <a:spLocks noGrp="1"/>
          </p:cNvSpPr>
          <p:nvPr>
            <p:ph type="ftr" sz="quarter" idx="5"/>
          </p:nvPr>
        </p:nvSpPr>
        <p:spPr>
          <a:xfrm>
            <a:off x="3429000" y="6465214"/>
            <a:ext cx="2413254" cy="156068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sz="1200" b="0" i="0">
                <a:solidFill>
                  <a:schemeClr val="accent1"/>
                </a:solidFill>
                <a:latin typeface="Calibri"/>
                <a:cs typeface="Calibri"/>
              </a:defRPr>
            </a:lvl1pPr>
          </a:lstStyle>
          <a:p>
            <a:pPr marL="12700">
              <a:lnSpc>
                <a:spcPts val="1240"/>
              </a:lnSpc>
            </a:pPr>
            <a:r>
              <a:rPr lang="pl-PL"/>
              <a:t>By Dr. Binod Kr. Adhikari</a:t>
            </a:r>
            <a:endParaRPr lang="en-US" spc="-10" dirty="0"/>
          </a:p>
        </p:txBody>
      </p:sp>
    </p:spTree>
    <p:extLst>
      <p:ext uri="{BB962C8B-B14F-4D97-AF65-F5344CB8AC3E}">
        <p14:creationId xmlns:p14="http://schemas.microsoft.com/office/powerpoint/2010/main" val="24519619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/>
        <p:txBody>
          <a:bodyPr lIns="0" tIns="0" rIns="0" bIns="0"/>
          <a:lstStyle>
            <a:lvl1pPr>
              <a:defRPr sz="4400" b="0" i="0">
                <a:solidFill>
                  <a:schemeClr val="tx1"/>
                </a:solidFill>
                <a:latin typeface="Times New Roman"/>
                <a:cs typeface="Times New Roman"/>
              </a:defRPr>
            </a:lvl1pPr>
          </a:lstStyle>
          <a:p>
            <a:r>
              <a:rPr lang="en-US"/>
              <a:t>Click to edit Master title style</a:t>
            </a:r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body" idx="1"/>
          </p:nvPr>
        </p:nvSpPr>
        <p:spPr/>
        <p:txBody>
          <a:bodyPr lIns="0" tIns="0" rIns="0" bIns="0"/>
          <a:lstStyle>
            <a:lvl1pPr>
              <a:defRPr sz="2800" b="0" i="0">
                <a:solidFill>
                  <a:srgbClr val="FF0000"/>
                </a:solidFill>
                <a:latin typeface="Calibri"/>
                <a:cs typeface="Calibri"/>
              </a:defRPr>
            </a:lvl1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4" name="Holder 4"/>
          <p:cNvSpPr>
            <a:spLocks noGrp="1"/>
          </p:cNvSpPr>
          <p:nvPr>
            <p:ph type="ftr" sz="quarter" idx="5"/>
          </p:nvPr>
        </p:nvSpPr>
        <p:spPr>
          <a:xfrm>
            <a:off x="3301935" y="6465214"/>
            <a:ext cx="2540127" cy="156068"/>
          </a:xfrm>
        </p:spPr>
        <p:txBody>
          <a:bodyPr lIns="0" tIns="0" rIns="0" bIns="0"/>
          <a:lstStyle>
            <a:lvl1pPr algn="ctr">
              <a:defRPr sz="1200" b="0" i="0">
                <a:solidFill>
                  <a:schemeClr val="accent1"/>
                </a:solidFill>
                <a:latin typeface="Calibri"/>
                <a:cs typeface="Calibri"/>
              </a:defRPr>
            </a:lvl1pPr>
          </a:lstStyle>
          <a:p>
            <a:pPr marL="12700">
              <a:lnSpc>
                <a:spcPts val="1240"/>
              </a:lnSpc>
            </a:pPr>
            <a:r>
              <a:rPr lang="pl-PL"/>
              <a:t>By Dr. Binod Kr. Adhikari</a:t>
            </a:r>
            <a:endParaRPr lang="en-US" spc="-10" dirty="0"/>
          </a:p>
        </p:txBody>
      </p:sp>
    </p:spTree>
    <p:extLst>
      <p:ext uri="{BB962C8B-B14F-4D97-AF65-F5344CB8AC3E}">
        <p14:creationId xmlns:p14="http://schemas.microsoft.com/office/powerpoint/2010/main" val="393586495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/>
        <p:txBody>
          <a:bodyPr lIns="0" tIns="0" rIns="0" bIns="0"/>
          <a:lstStyle>
            <a:lvl1pPr>
              <a:defRPr sz="4400" b="0" i="0">
                <a:solidFill>
                  <a:schemeClr val="tx1"/>
                </a:solidFill>
                <a:latin typeface="Times New Roman"/>
                <a:cs typeface="Times New Roman"/>
              </a:defRPr>
            </a:lvl1pPr>
          </a:lstStyle>
          <a:p>
            <a:r>
              <a:rPr lang="en-US"/>
              <a:t>Click to edit Master title style</a:t>
            </a:r>
            <a:endParaRPr/>
          </a:p>
        </p:txBody>
      </p:sp>
      <p:sp>
        <p:nvSpPr>
          <p:cNvPr id="3" name="Holder 3"/>
          <p:cNvSpPr>
            <a:spLocks noGrp="1"/>
          </p:cNvSpPr>
          <p:nvPr>
            <p:ph sz="half" idx="2"/>
          </p:nvPr>
        </p:nvSpPr>
        <p:spPr>
          <a:xfrm>
            <a:off x="457200" y="1577340"/>
            <a:ext cx="3977640" cy="452628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4" name="Holder 4"/>
          <p:cNvSpPr>
            <a:spLocks noGrp="1"/>
          </p:cNvSpPr>
          <p:nvPr>
            <p:ph sz="half" idx="3"/>
          </p:nvPr>
        </p:nvSpPr>
        <p:spPr>
          <a:xfrm>
            <a:off x="4709160" y="1577340"/>
            <a:ext cx="3977640" cy="452628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8" name="Holder 4">
            <a:extLst>
              <a:ext uri="{FF2B5EF4-FFF2-40B4-BE49-F238E27FC236}">
                <a16:creationId xmlns:a16="http://schemas.microsoft.com/office/drawing/2014/main" id="{A189FF5E-932D-4B32-83A6-74649A1E9815}"/>
              </a:ext>
            </a:extLst>
          </p:cNvPr>
          <p:cNvSpPr>
            <a:spLocks noGrp="1"/>
          </p:cNvSpPr>
          <p:nvPr>
            <p:ph type="ftr" sz="quarter" idx="5"/>
          </p:nvPr>
        </p:nvSpPr>
        <p:spPr>
          <a:xfrm>
            <a:off x="3429000" y="6465214"/>
            <a:ext cx="2413254" cy="156068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sz="1200" b="0" i="0">
                <a:solidFill>
                  <a:srgbClr val="888888"/>
                </a:solidFill>
                <a:latin typeface="Calibri"/>
                <a:cs typeface="Calibri"/>
              </a:defRPr>
            </a:lvl1pPr>
          </a:lstStyle>
          <a:p>
            <a:pPr marL="12700">
              <a:lnSpc>
                <a:spcPts val="1240"/>
              </a:lnSpc>
            </a:pPr>
            <a:r>
              <a:rPr lang="pl-PL"/>
              <a:t>By Dr. Binod Kr. Adhikari</a:t>
            </a:r>
            <a:endParaRPr lang="en-US" spc="-10" dirty="0"/>
          </a:p>
        </p:txBody>
      </p:sp>
    </p:spTree>
    <p:extLst>
      <p:ext uri="{BB962C8B-B14F-4D97-AF65-F5344CB8AC3E}">
        <p14:creationId xmlns:p14="http://schemas.microsoft.com/office/powerpoint/2010/main" val="315369112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/>
        <p:txBody>
          <a:bodyPr lIns="0" tIns="0" rIns="0" bIns="0"/>
          <a:lstStyle>
            <a:lvl1pPr>
              <a:defRPr sz="4400" b="0" i="0">
                <a:solidFill>
                  <a:schemeClr val="tx1"/>
                </a:solidFill>
                <a:latin typeface="Times New Roman"/>
                <a:cs typeface="Times New Roman"/>
              </a:defRPr>
            </a:lvl1pPr>
          </a:lstStyle>
          <a:p>
            <a:r>
              <a:rPr lang="en-US"/>
              <a:t>Click to edit Master title style</a:t>
            </a:r>
            <a:endParaRPr/>
          </a:p>
        </p:txBody>
      </p:sp>
      <p:sp>
        <p:nvSpPr>
          <p:cNvPr id="6" name="Holder 4">
            <a:extLst>
              <a:ext uri="{FF2B5EF4-FFF2-40B4-BE49-F238E27FC236}">
                <a16:creationId xmlns:a16="http://schemas.microsoft.com/office/drawing/2014/main" id="{687C3015-70A5-4104-A364-47F262AAA99A}"/>
              </a:ext>
            </a:extLst>
          </p:cNvPr>
          <p:cNvSpPr>
            <a:spLocks noGrp="1"/>
          </p:cNvSpPr>
          <p:nvPr>
            <p:ph type="ftr" sz="quarter" idx="5"/>
          </p:nvPr>
        </p:nvSpPr>
        <p:spPr>
          <a:xfrm>
            <a:off x="3429000" y="6465214"/>
            <a:ext cx="2413254" cy="156068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sz="1200" b="0" i="0">
                <a:solidFill>
                  <a:schemeClr val="accent1"/>
                </a:solidFill>
                <a:latin typeface="Calibri"/>
                <a:cs typeface="Calibri"/>
              </a:defRPr>
            </a:lvl1pPr>
          </a:lstStyle>
          <a:p>
            <a:pPr marL="12700">
              <a:lnSpc>
                <a:spcPts val="1240"/>
              </a:lnSpc>
            </a:pPr>
            <a:r>
              <a:rPr lang="pl-PL"/>
              <a:t>By Dr. Binod Kr. Adhikari</a:t>
            </a:r>
            <a:endParaRPr lang="en-US" spc="-10" dirty="0"/>
          </a:p>
        </p:txBody>
      </p:sp>
    </p:spTree>
    <p:extLst>
      <p:ext uri="{BB962C8B-B14F-4D97-AF65-F5344CB8AC3E}">
        <p14:creationId xmlns:p14="http://schemas.microsoft.com/office/powerpoint/2010/main" val="2248144811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Holder 4">
            <a:extLst>
              <a:ext uri="{FF2B5EF4-FFF2-40B4-BE49-F238E27FC236}">
                <a16:creationId xmlns:a16="http://schemas.microsoft.com/office/drawing/2014/main" id="{00444188-FEAC-4CD9-9B42-C6265C7232A0}"/>
              </a:ext>
            </a:extLst>
          </p:cNvPr>
          <p:cNvSpPr>
            <a:spLocks noGrp="1"/>
          </p:cNvSpPr>
          <p:nvPr>
            <p:ph type="ftr" sz="quarter" idx="5"/>
          </p:nvPr>
        </p:nvSpPr>
        <p:spPr>
          <a:xfrm>
            <a:off x="3429000" y="6465214"/>
            <a:ext cx="2413254" cy="156068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sz="1200" b="0" i="0">
                <a:solidFill>
                  <a:schemeClr val="accent1"/>
                </a:solidFill>
                <a:latin typeface="Calibri"/>
                <a:cs typeface="Calibri"/>
              </a:defRPr>
            </a:lvl1pPr>
          </a:lstStyle>
          <a:p>
            <a:pPr marL="12700">
              <a:lnSpc>
                <a:spcPts val="1240"/>
              </a:lnSpc>
            </a:pPr>
            <a:r>
              <a:rPr lang="pl-PL"/>
              <a:t>By Dr. Binod Kr. Adhikari</a:t>
            </a:r>
            <a:endParaRPr lang="en-US" spc="-10" dirty="0"/>
          </a:p>
        </p:txBody>
      </p:sp>
    </p:spTree>
    <p:extLst>
      <p:ext uri="{BB962C8B-B14F-4D97-AF65-F5344CB8AC3E}">
        <p14:creationId xmlns:p14="http://schemas.microsoft.com/office/powerpoint/2010/main" val="4274042638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theme" Target="../theme/theme1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>
          <a:xfrm>
            <a:off x="2175002" y="228600"/>
            <a:ext cx="4793995" cy="69723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sz="4400" b="0" i="0">
                <a:solidFill>
                  <a:schemeClr val="tx1"/>
                </a:solidFill>
                <a:latin typeface="Times New Roman"/>
                <a:cs typeface="Times New Roman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body" idx="1"/>
          </p:nvPr>
        </p:nvSpPr>
        <p:spPr>
          <a:xfrm>
            <a:off x="737108" y="1610690"/>
            <a:ext cx="7669783" cy="3809365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sz="2800" b="0" i="0">
                <a:solidFill>
                  <a:srgbClr val="FF0000"/>
                </a:solidFill>
                <a:latin typeface="Calibri"/>
                <a:cs typeface="Calibri"/>
              </a:defRPr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ftr" sz="quarter" idx="5"/>
          </p:nvPr>
        </p:nvSpPr>
        <p:spPr>
          <a:xfrm>
            <a:off x="3429000" y="6465214"/>
            <a:ext cx="2413254" cy="156068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algn="ctr">
              <a:defRPr sz="1200" b="0" i="0">
                <a:solidFill>
                  <a:schemeClr val="accent1"/>
                </a:solidFill>
                <a:latin typeface="Calibri"/>
                <a:cs typeface="Calibri"/>
              </a:defRPr>
            </a:lvl1pPr>
          </a:lstStyle>
          <a:p>
            <a:pPr marL="12700">
              <a:lnSpc>
                <a:spcPts val="1240"/>
              </a:lnSpc>
            </a:pPr>
            <a:r>
              <a:rPr lang="pl-PL"/>
              <a:t>By Dr. Binod Kr. Adhikari</a:t>
            </a:r>
            <a:endParaRPr lang="en-US" spc="-10" dirty="0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F43AABA4-E50B-443F-A413-C9A6AC944C37}"/>
              </a:ext>
            </a:extLst>
          </p:cNvPr>
          <p:cNvSpPr/>
          <p:nvPr/>
        </p:nvSpPr>
        <p:spPr>
          <a:xfrm>
            <a:off x="0" y="990600"/>
            <a:ext cx="9144000" cy="76200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8908907F-6A2F-4FE4-A88D-C3DE27E73F59}"/>
              </a:ext>
            </a:extLst>
          </p:cNvPr>
          <p:cNvSpPr/>
          <p:nvPr/>
        </p:nvSpPr>
        <p:spPr>
          <a:xfrm>
            <a:off x="8686800" y="6495143"/>
            <a:ext cx="457200" cy="369214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fld id="{81D60167-4931-47E6-BA6A-407CBD079E47}" type="slidenum">
              <a:rPr lang="en-IN" smtClean="0"/>
              <a:pPr/>
              <a:t>‹#›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181477517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7" r:id="rId1"/>
    <p:sldLayoutId id="2147483668" r:id="rId2"/>
    <p:sldLayoutId id="2147483669" r:id="rId3"/>
    <p:sldLayoutId id="2147483670" r:id="rId4"/>
    <p:sldLayoutId id="2147483671" r:id="rId5"/>
  </p:sldLayoutIdLst>
  <p:hf sldNum="0" hdr="0" dt="0"/>
  <p:txStyles>
    <p:titleStyle>
      <a:lvl1pPr eaLnBrk="1" hangingPunct="1">
        <a:defRPr>
          <a:latin typeface="+mj-lt"/>
          <a:ea typeface="+mj-ea"/>
          <a:cs typeface="+mj-cs"/>
        </a:defRPr>
      </a:lvl1pPr>
    </p:titleStyle>
    <p:bodyStyle>
      <a:lvl1pPr marL="0" eaLnBrk="1" hangingPunct="1">
        <a:defRPr>
          <a:latin typeface="+mn-lt"/>
          <a:ea typeface="+mn-ea"/>
          <a:cs typeface="+mn-cs"/>
        </a:defRPr>
      </a:lvl1pPr>
      <a:lvl2pPr marL="457200" eaLnBrk="1" hangingPunct="1">
        <a:defRPr>
          <a:latin typeface="+mn-lt"/>
          <a:ea typeface="+mn-ea"/>
          <a:cs typeface="+mn-cs"/>
        </a:defRPr>
      </a:lvl2pPr>
      <a:lvl3pPr marL="914400" eaLnBrk="1" hangingPunct="1">
        <a:defRPr>
          <a:latin typeface="+mn-lt"/>
          <a:ea typeface="+mn-ea"/>
          <a:cs typeface="+mn-cs"/>
        </a:defRPr>
      </a:lvl3pPr>
      <a:lvl4pPr marL="1371600" eaLnBrk="1" hangingPunct="1">
        <a:defRPr>
          <a:latin typeface="+mn-lt"/>
          <a:ea typeface="+mn-ea"/>
          <a:cs typeface="+mn-cs"/>
        </a:defRPr>
      </a:lvl4pPr>
      <a:lvl5pPr marL="1828800" eaLnBrk="1" hangingPunct="1">
        <a:defRPr>
          <a:latin typeface="+mn-lt"/>
          <a:ea typeface="+mn-ea"/>
          <a:cs typeface="+mn-cs"/>
        </a:defRPr>
      </a:lvl5pPr>
      <a:lvl6pPr marL="2286000" eaLnBrk="1" hangingPunct="1">
        <a:defRPr>
          <a:latin typeface="+mn-lt"/>
          <a:ea typeface="+mn-ea"/>
          <a:cs typeface="+mn-cs"/>
        </a:defRPr>
      </a:lvl6pPr>
      <a:lvl7pPr marL="2743200" eaLnBrk="1" hangingPunct="1">
        <a:defRPr>
          <a:latin typeface="+mn-lt"/>
          <a:ea typeface="+mn-ea"/>
          <a:cs typeface="+mn-cs"/>
        </a:defRPr>
      </a:lvl7pPr>
      <a:lvl8pPr marL="3200400" eaLnBrk="1" hangingPunct="1">
        <a:defRPr>
          <a:latin typeface="+mn-lt"/>
          <a:ea typeface="+mn-ea"/>
          <a:cs typeface="+mn-cs"/>
        </a:defRPr>
      </a:lvl8pPr>
      <a:lvl9pPr marL="3657600" eaLnBrk="1" hangingPunct="1">
        <a:defRPr>
          <a:latin typeface="+mn-lt"/>
          <a:ea typeface="+mn-ea"/>
          <a:cs typeface="+mn-cs"/>
        </a:defRPr>
      </a:lvl9pPr>
    </p:bodyStyle>
    <p:otherStyle>
      <a:lvl1pPr marL="0" eaLnBrk="1" hangingPunct="1">
        <a:defRPr>
          <a:latin typeface="+mn-lt"/>
          <a:ea typeface="+mn-ea"/>
          <a:cs typeface="+mn-cs"/>
        </a:defRPr>
      </a:lvl1pPr>
      <a:lvl2pPr marL="457200" eaLnBrk="1" hangingPunct="1">
        <a:defRPr>
          <a:latin typeface="+mn-lt"/>
          <a:ea typeface="+mn-ea"/>
          <a:cs typeface="+mn-cs"/>
        </a:defRPr>
      </a:lvl2pPr>
      <a:lvl3pPr marL="914400" eaLnBrk="1" hangingPunct="1">
        <a:defRPr>
          <a:latin typeface="+mn-lt"/>
          <a:ea typeface="+mn-ea"/>
          <a:cs typeface="+mn-cs"/>
        </a:defRPr>
      </a:lvl3pPr>
      <a:lvl4pPr marL="1371600" eaLnBrk="1" hangingPunct="1">
        <a:defRPr>
          <a:latin typeface="+mn-lt"/>
          <a:ea typeface="+mn-ea"/>
          <a:cs typeface="+mn-cs"/>
        </a:defRPr>
      </a:lvl4pPr>
      <a:lvl5pPr marL="1828800" eaLnBrk="1" hangingPunct="1">
        <a:defRPr>
          <a:latin typeface="+mn-lt"/>
          <a:ea typeface="+mn-ea"/>
          <a:cs typeface="+mn-cs"/>
        </a:defRPr>
      </a:lvl5pPr>
      <a:lvl6pPr marL="2286000" eaLnBrk="1" hangingPunct="1">
        <a:defRPr>
          <a:latin typeface="+mn-lt"/>
          <a:ea typeface="+mn-ea"/>
          <a:cs typeface="+mn-cs"/>
        </a:defRPr>
      </a:lvl6pPr>
      <a:lvl7pPr marL="2743200" eaLnBrk="1" hangingPunct="1">
        <a:defRPr>
          <a:latin typeface="+mn-lt"/>
          <a:ea typeface="+mn-ea"/>
          <a:cs typeface="+mn-cs"/>
        </a:defRPr>
      </a:lvl7pPr>
      <a:lvl8pPr marL="3200400" eaLnBrk="1" hangingPunct="1">
        <a:defRPr>
          <a:latin typeface="+mn-lt"/>
          <a:ea typeface="+mn-ea"/>
          <a:cs typeface="+mn-cs"/>
        </a:defRPr>
      </a:lvl8pPr>
      <a:lvl9pPr marL="3657600" eaLnBrk="1" hangingPunct="1">
        <a:defRPr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jpg"/><Relationship Id="rId1" Type="http://schemas.openxmlformats.org/officeDocument/2006/relationships/slideLayout" Target="../slideLayouts/slideLayout4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3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jpg"/><Relationship Id="rId1" Type="http://schemas.openxmlformats.org/officeDocument/2006/relationships/slideLayout" Target="../slideLayouts/slideLayout4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1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jpg"/><Relationship Id="rId1" Type="http://schemas.openxmlformats.org/officeDocument/2006/relationships/slideLayout" Target="../slideLayouts/slideLayout4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ctrTitle"/>
          </p:nvPr>
        </p:nvSpPr>
        <p:spPr>
          <a:xfrm>
            <a:off x="0" y="2209800"/>
            <a:ext cx="9139237" cy="629018"/>
          </a:xfrm>
          <a:prstGeom prst="rect">
            <a:avLst/>
          </a:prstGeom>
        </p:spPr>
        <p:txBody>
          <a:bodyPr vert="horz" wrap="square" lIns="0" tIns="13335" rIns="0" bIns="0" rtlCol="0">
            <a:spAutoFit/>
          </a:bodyPr>
          <a:lstStyle/>
          <a:p>
            <a:pPr marR="5080" algn="ctr">
              <a:lnSpc>
                <a:spcPct val="100000"/>
              </a:lnSpc>
            </a:pPr>
            <a:r>
              <a:rPr sz="4000" dirty="0"/>
              <a:t>Unit </a:t>
            </a:r>
            <a:r>
              <a:rPr sz="4000" spc="-25" dirty="0"/>
              <a:t>1.1 </a:t>
            </a:r>
            <a:r>
              <a:rPr sz="4000" dirty="0"/>
              <a:t>Process</a:t>
            </a:r>
            <a:r>
              <a:rPr lang="en-US" sz="4000" dirty="0"/>
              <a:t> </a:t>
            </a:r>
            <a:r>
              <a:rPr sz="4000" spc="-10" dirty="0"/>
              <a:t>Management</a:t>
            </a:r>
          </a:p>
        </p:txBody>
      </p:sp>
      <p:sp>
        <p:nvSpPr>
          <p:cNvPr id="4" name="object 4"/>
          <p:cNvSpPr txBox="1">
            <a:spLocks noGrp="1"/>
          </p:cNvSpPr>
          <p:nvPr>
            <p:ph type="ftr" sz="quarter" idx="5"/>
          </p:nvPr>
        </p:nvSpPr>
        <p:spPr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12700">
              <a:lnSpc>
                <a:spcPts val="1240"/>
              </a:lnSpc>
            </a:pPr>
            <a:r>
              <a:rPr lang="pl-PL"/>
              <a:t>By Dr. Binod Kr. Adhikari</a:t>
            </a:r>
            <a:endParaRPr spc="-10" dirty="0"/>
          </a:p>
        </p:txBody>
      </p:sp>
      <p:sp>
        <p:nvSpPr>
          <p:cNvPr id="3" name="object 3"/>
          <p:cNvSpPr txBox="1"/>
          <p:nvPr/>
        </p:nvSpPr>
        <p:spPr>
          <a:xfrm>
            <a:off x="2755709" y="3762008"/>
            <a:ext cx="3759835" cy="514350"/>
          </a:xfrm>
          <a:prstGeom prst="rect">
            <a:avLst/>
          </a:prstGeom>
        </p:spPr>
        <p:txBody>
          <a:bodyPr vert="horz" wrap="square" lIns="0" tIns="1333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5"/>
              </a:spcBef>
            </a:pPr>
            <a:r>
              <a:rPr sz="3200" dirty="0">
                <a:solidFill>
                  <a:srgbClr val="888888"/>
                </a:solidFill>
                <a:latin typeface="Calibri"/>
                <a:cs typeface="Calibri"/>
              </a:rPr>
              <a:t>Chapter</a:t>
            </a:r>
            <a:r>
              <a:rPr sz="3200" spc="-70" dirty="0">
                <a:solidFill>
                  <a:srgbClr val="888888"/>
                </a:solidFill>
                <a:latin typeface="Calibri"/>
                <a:cs typeface="Calibri"/>
              </a:rPr>
              <a:t> </a:t>
            </a:r>
            <a:r>
              <a:rPr sz="3200" dirty="0">
                <a:solidFill>
                  <a:srgbClr val="888888"/>
                </a:solidFill>
                <a:latin typeface="Calibri"/>
                <a:cs typeface="Calibri"/>
              </a:rPr>
              <a:t>2</a:t>
            </a:r>
            <a:r>
              <a:rPr sz="3200" spc="-70" dirty="0">
                <a:solidFill>
                  <a:srgbClr val="888888"/>
                </a:solidFill>
                <a:latin typeface="Calibri"/>
                <a:cs typeface="Calibri"/>
              </a:rPr>
              <a:t> </a:t>
            </a:r>
            <a:r>
              <a:rPr sz="3200" dirty="0">
                <a:solidFill>
                  <a:srgbClr val="888888"/>
                </a:solidFill>
                <a:latin typeface="Calibri"/>
                <a:cs typeface="Calibri"/>
              </a:rPr>
              <a:t>of</a:t>
            </a:r>
            <a:r>
              <a:rPr sz="3200" spc="-70" dirty="0">
                <a:solidFill>
                  <a:srgbClr val="888888"/>
                </a:solidFill>
                <a:latin typeface="Calibri"/>
                <a:cs typeface="Calibri"/>
              </a:rPr>
              <a:t> </a:t>
            </a:r>
            <a:r>
              <a:rPr sz="3200" spc="-60" dirty="0">
                <a:solidFill>
                  <a:srgbClr val="888888"/>
                </a:solidFill>
                <a:latin typeface="Calibri"/>
                <a:cs typeface="Calibri"/>
              </a:rPr>
              <a:t>Text</a:t>
            </a:r>
            <a:r>
              <a:rPr sz="3200" spc="-75" dirty="0">
                <a:solidFill>
                  <a:srgbClr val="888888"/>
                </a:solidFill>
                <a:latin typeface="Calibri"/>
                <a:cs typeface="Calibri"/>
              </a:rPr>
              <a:t> </a:t>
            </a:r>
            <a:r>
              <a:rPr sz="3200" spc="-20" dirty="0">
                <a:solidFill>
                  <a:srgbClr val="888888"/>
                </a:solidFill>
                <a:latin typeface="Calibri"/>
                <a:cs typeface="Calibri"/>
              </a:rPr>
              <a:t>Book</a:t>
            </a:r>
            <a:endParaRPr sz="3200" dirty="0">
              <a:latin typeface="Calibri"/>
              <a:cs typeface="Calibri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xfrm>
            <a:off x="1600198" y="152400"/>
            <a:ext cx="5943600" cy="690574"/>
          </a:xfrm>
          <a:prstGeom prst="rect">
            <a:avLst/>
          </a:prstGeom>
        </p:spPr>
        <p:txBody>
          <a:bodyPr vert="horz" wrap="square" lIns="0" tIns="13335" rIns="0" bIns="0" rtlCol="0">
            <a:spAutoFit/>
          </a:bodyPr>
          <a:lstStyle/>
          <a:p>
            <a:pPr marL="12700" algn="ctr">
              <a:spcBef>
                <a:spcPts val="105"/>
              </a:spcBef>
            </a:pPr>
            <a:r>
              <a:rPr dirty="0"/>
              <a:t>Objectives</a:t>
            </a:r>
          </a:p>
        </p:txBody>
      </p:sp>
      <p:sp>
        <p:nvSpPr>
          <p:cNvPr id="4" name="object 4"/>
          <p:cNvSpPr txBox="1">
            <a:spLocks noGrp="1"/>
          </p:cNvSpPr>
          <p:nvPr>
            <p:ph type="ftr" sz="quarter" idx="5"/>
          </p:nvPr>
        </p:nvSpPr>
        <p:spPr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12700">
              <a:lnSpc>
                <a:spcPts val="1240"/>
              </a:lnSpc>
            </a:pPr>
            <a:r>
              <a:rPr lang="pl-PL"/>
              <a:t>By Dr. Binod Kr. Adhikari</a:t>
            </a:r>
            <a:endParaRPr spc="-10" dirty="0"/>
          </a:p>
        </p:txBody>
      </p:sp>
      <p:sp>
        <p:nvSpPr>
          <p:cNvPr id="3" name="object 3"/>
          <p:cNvSpPr txBox="1"/>
          <p:nvPr/>
        </p:nvSpPr>
        <p:spPr>
          <a:xfrm>
            <a:off x="535940" y="1507044"/>
            <a:ext cx="8058150" cy="2665095"/>
          </a:xfrm>
          <a:prstGeom prst="rect">
            <a:avLst/>
          </a:prstGeom>
        </p:spPr>
        <p:txBody>
          <a:bodyPr vert="horz" wrap="square" lIns="0" tIns="113664" rIns="0" bIns="0" rtlCol="0">
            <a:spAutoFit/>
          </a:bodyPr>
          <a:lstStyle/>
          <a:p>
            <a:pPr marL="354965" indent="-342265">
              <a:lnSpc>
                <a:spcPct val="100000"/>
              </a:lnSpc>
              <a:spcBef>
                <a:spcPts val="894"/>
              </a:spcBef>
              <a:buFont typeface="Arial"/>
              <a:buChar char="•"/>
              <a:tabLst>
                <a:tab pos="354965" algn="l"/>
              </a:tabLst>
            </a:pPr>
            <a:r>
              <a:rPr sz="3200" b="1" dirty="0">
                <a:latin typeface="Calibri"/>
                <a:cs typeface="Calibri"/>
              </a:rPr>
              <a:t>After</a:t>
            </a:r>
            <a:r>
              <a:rPr sz="3200" b="1" spc="-50" dirty="0">
                <a:latin typeface="Calibri"/>
                <a:cs typeface="Calibri"/>
              </a:rPr>
              <a:t> </a:t>
            </a:r>
            <a:r>
              <a:rPr sz="3200" b="1" dirty="0">
                <a:latin typeface="Calibri"/>
                <a:cs typeface="Calibri"/>
              </a:rPr>
              <a:t>studying</a:t>
            </a:r>
            <a:r>
              <a:rPr sz="3200" b="1" spc="-65" dirty="0">
                <a:latin typeface="Calibri"/>
                <a:cs typeface="Calibri"/>
              </a:rPr>
              <a:t> </a:t>
            </a:r>
            <a:r>
              <a:rPr sz="3200" b="1" dirty="0">
                <a:latin typeface="Calibri"/>
                <a:cs typeface="Calibri"/>
              </a:rPr>
              <a:t>this</a:t>
            </a:r>
            <a:r>
              <a:rPr sz="3200" b="1" spc="-40" dirty="0">
                <a:latin typeface="Calibri"/>
                <a:cs typeface="Calibri"/>
              </a:rPr>
              <a:t> </a:t>
            </a:r>
            <a:r>
              <a:rPr sz="3200" b="1" dirty="0">
                <a:latin typeface="Calibri"/>
                <a:cs typeface="Calibri"/>
              </a:rPr>
              <a:t>unit,</a:t>
            </a:r>
            <a:r>
              <a:rPr sz="3200" b="1" spc="-25" dirty="0">
                <a:latin typeface="Calibri"/>
                <a:cs typeface="Calibri"/>
              </a:rPr>
              <a:t> </a:t>
            </a:r>
            <a:r>
              <a:rPr sz="3200" b="1" dirty="0">
                <a:latin typeface="Calibri"/>
                <a:cs typeface="Calibri"/>
              </a:rPr>
              <a:t>you</a:t>
            </a:r>
            <a:r>
              <a:rPr sz="3200" b="1" spc="-30" dirty="0">
                <a:latin typeface="Calibri"/>
                <a:cs typeface="Calibri"/>
              </a:rPr>
              <a:t> </a:t>
            </a:r>
            <a:r>
              <a:rPr sz="3200" b="1" dirty="0">
                <a:latin typeface="Calibri"/>
                <a:cs typeface="Calibri"/>
              </a:rPr>
              <a:t>should</a:t>
            </a:r>
            <a:r>
              <a:rPr sz="3200" b="1" spc="-55" dirty="0">
                <a:latin typeface="Calibri"/>
                <a:cs typeface="Calibri"/>
              </a:rPr>
              <a:t> </a:t>
            </a:r>
            <a:r>
              <a:rPr sz="3200" b="1" dirty="0">
                <a:latin typeface="Calibri"/>
                <a:cs typeface="Calibri"/>
              </a:rPr>
              <a:t>be</a:t>
            </a:r>
            <a:r>
              <a:rPr sz="3200" b="1" spc="-35" dirty="0">
                <a:latin typeface="Calibri"/>
                <a:cs typeface="Calibri"/>
              </a:rPr>
              <a:t> </a:t>
            </a:r>
            <a:r>
              <a:rPr sz="3200" b="1" dirty="0">
                <a:latin typeface="Calibri"/>
                <a:cs typeface="Calibri"/>
              </a:rPr>
              <a:t>able</a:t>
            </a:r>
            <a:r>
              <a:rPr sz="3200" b="1" spc="-30" dirty="0">
                <a:latin typeface="Calibri"/>
                <a:cs typeface="Calibri"/>
              </a:rPr>
              <a:t> </a:t>
            </a:r>
            <a:r>
              <a:rPr sz="3200" b="1" spc="-25" dirty="0">
                <a:latin typeface="Calibri"/>
                <a:cs typeface="Calibri"/>
              </a:rPr>
              <a:t>to</a:t>
            </a:r>
            <a:endParaRPr sz="3200" dirty="0">
              <a:latin typeface="Calibri"/>
              <a:cs typeface="Calibri"/>
            </a:endParaRPr>
          </a:p>
          <a:p>
            <a:pPr marL="756285" lvl="1" indent="-286385">
              <a:lnSpc>
                <a:spcPct val="100000"/>
              </a:lnSpc>
              <a:spcBef>
                <a:spcPts val="690"/>
              </a:spcBef>
              <a:buFont typeface="Arial"/>
              <a:buChar char="–"/>
              <a:tabLst>
                <a:tab pos="756285" algn="l"/>
              </a:tabLst>
            </a:pPr>
            <a:r>
              <a:rPr sz="2800" dirty="0">
                <a:latin typeface="Calibri"/>
                <a:cs typeface="Calibri"/>
              </a:rPr>
              <a:t>Explain</a:t>
            </a:r>
            <a:r>
              <a:rPr sz="2800" spc="-100" dirty="0">
                <a:latin typeface="Calibri"/>
                <a:cs typeface="Calibri"/>
              </a:rPr>
              <a:t> </a:t>
            </a:r>
            <a:r>
              <a:rPr sz="2800" dirty="0">
                <a:latin typeface="Calibri"/>
                <a:cs typeface="Calibri"/>
              </a:rPr>
              <a:t>process</a:t>
            </a:r>
            <a:r>
              <a:rPr sz="2800" spc="-55" dirty="0">
                <a:latin typeface="Calibri"/>
                <a:cs typeface="Calibri"/>
              </a:rPr>
              <a:t> </a:t>
            </a:r>
            <a:r>
              <a:rPr sz="2800" spc="-20" dirty="0">
                <a:latin typeface="Calibri"/>
                <a:cs typeface="Calibri"/>
              </a:rPr>
              <a:t>state</a:t>
            </a:r>
            <a:endParaRPr sz="2800" dirty="0">
              <a:latin typeface="Calibri"/>
              <a:cs typeface="Calibri"/>
            </a:endParaRPr>
          </a:p>
          <a:p>
            <a:pPr marL="756285" lvl="1" indent="-286385">
              <a:lnSpc>
                <a:spcPct val="100000"/>
              </a:lnSpc>
              <a:spcBef>
                <a:spcPts val="670"/>
              </a:spcBef>
              <a:buFont typeface="Arial"/>
              <a:buChar char="–"/>
              <a:tabLst>
                <a:tab pos="756285" algn="l"/>
              </a:tabLst>
            </a:pPr>
            <a:r>
              <a:rPr sz="2800" dirty="0">
                <a:latin typeface="Calibri"/>
                <a:cs typeface="Calibri"/>
              </a:rPr>
              <a:t>Describe</a:t>
            </a:r>
            <a:r>
              <a:rPr sz="2800" spc="-114" dirty="0">
                <a:latin typeface="Calibri"/>
                <a:cs typeface="Calibri"/>
              </a:rPr>
              <a:t> </a:t>
            </a:r>
            <a:r>
              <a:rPr sz="2800" dirty="0">
                <a:latin typeface="Calibri"/>
                <a:cs typeface="Calibri"/>
              </a:rPr>
              <a:t>the</a:t>
            </a:r>
            <a:r>
              <a:rPr sz="2800" spc="-114" dirty="0">
                <a:latin typeface="Calibri"/>
                <a:cs typeface="Calibri"/>
              </a:rPr>
              <a:t> </a:t>
            </a:r>
            <a:r>
              <a:rPr sz="2800" dirty="0">
                <a:latin typeface="Calibri"/>
                <a:cs typeface="Calibri"/>
              </a:rPr>
              <a:t>process</a:t>
            </a:r>
            <a:r>
              <a:rPr sz="2800" spc="-95" dirty="0">
                <a:latin typeface="Calibri"/>
                <a:cs typeface="Calibri"/>
              </a:rPr>
              <a:t> </a:t>
            </a:r>
            <a:r>
              <a:rPr sz="2800" dirty="0">
                <a:latin typeface="Calibri"/>
                <a:cs typeface="Calibri"/>
              </a:rPr>
              <a:t>control</a:t>
            </a:r>
            <a:r>
              <a:rPr sz="2800" spc="-105" dirty="0">
                <a:latin typeface="Calibri"/>
                <a:cs typeface="Calibri"/>
              </a:rPr>
              <a:t> </a:t>
            </a:r>
            <a:r>
              <a:rPr sz="2800" spc="-10" dirty="0">
                <a:latin typeface="Calibri"/>
                <a:cs typeface="Calibri"/>
              </a:rPr>
              <a:t>block(PCB)</a:t>
            </a:r>
            <a:endParaRPr sz="2800" dirty="0">
              <a:latin typeface="Calibri"/>
              <a:cs typeface="Calibri"/>
            </a:endParaRPr>
          </a:p>
          <a:p>
            <a:pPr marL="756285" lvl="1" indent="-286385">
              <a:lnSpc>
                <a:spcPct val="100000"/>
              </a:lnSpc>
              <a:spcBef>
                <a:spcPts val="675"/>
              </a:spcBef>
              <a:buFont typeface="Arial"/>
              <a:buChar char="–"/>
              <a:tabLst>
                <a:tab pos="756285" algn="l"/>
              </a:tabLst>
            </a:pPr>
            <a:r>
              <a:rPr sz="2800" dirty="0">
                <a:latin typeface="Calibri"/>
                <a:cs typeface="Calibri"/>
              </a:rPr>
              <a:t>Discuss</a:t>
            </a:r>
            <a:r>
              <a:rPr sz="2800" spc="-80" dirty="0">
                <a:latin typeface="Calibri"/>
                <a:cs typeface="Calibri"/>
              </a:rPr>
              <a:t> </a:t>
            </a:r>
            <a:r>
              <a:rPr sz="2800" dirty="0">
                <a:latin typeface="Calibri"/>
                <a:cs typeface="Calibri"/>
              </a:rPr>
              <a:t>the</a:t>
            </a:r>
            <a:r>
              <a:rPr sz="2800" spc="-95" dirty="0">
                <a:latin typeface="Calibri"/>
                <a:cs typeface="Calibri"/>
              </a:rPr>
              <a:t> </a:t>
            </a:r>
            <a:r>
              <a:rPr sz="2800" dirty="0">
                <a:latin typeface="Calibri"/>
                <a:cs typeface="Calibri"/>
              </a:rPr>
              <a:t>process</a:t>
            </a:r>
            <a:r>
              <a:rPr sz="2800" spc="-80" dirty="0">
                <a:latin typeface="Calibri"/>
                <a:cs typeface="Calibri"/>
              </a:rPr>
              <a:t> </a:t>
            </a:r>
            <a:r>
              <a:rPr sz="2800" spc="-10" dirty="0">
                <a:latin typeface="Calibri"/>
                <a:cs typeface="Calibri"/>
              </a:rPr>
              <a:t>scheduling</a:t>
            </a:r>
            <a:endParaRPr sz="2800" dirty="0">
              <a:latin typeface="Calibri"/>
              <a:cs typeface="Calibri"/>
            </a:endParaRPr>
          </a:p>
          <a:p>
            <a:pPr marL="756285" lvl="1" indent="-286385">
              <a:lnSpc>
                <a:spcPct val="100000"/>
              </a:lnSpc>
              <a:spcBef>
                <a:spcPts val="675"/>
              </a:spcBef>
              <a:buFont typeface="Arial"/>
              <a:buChar char="–"/>
              <a:tabLst>
                <a:tab pos="756285" algn="l"/>
              </a:tabLst>
            </a:pPr>
            <a:r>
              <a:rPr sz="2800" dirty="0">
                <a:latin typeface="Calibri"/>
                <a:cs typeface="Calibri"/>
              </a:rPr>
              <a:t>Describe</a:t>
            </a:r>
            <a:r>
              <a:rPr sz="2800" spc="-95" dirty="0">
                <a:latin typeface="Calibri"/>
                <a:cs typeface="Calibri"/>
              </a:rPr>
              <a:t> </a:t>
            </a:r>
            <a:r>
              <a:rPr sz="2800" dirty="0">
                <a:latin typeface="Calibri"/>
                <a:cs typeface="Calibri"/>
              </a:rPr>
              <a:t>threads</a:t>
            </a:r>
            <a:r>
              <a:rPr sz="2800" spc="-80" dirty="0">
                <a:latin typeface="Calibri"/>
                <a:cs typeface="Calibri"/>
              </a:rPr>
              <a:t> </a:t>
            </a:r>
            <a:r>
              <a:rPr sz="2800" dirty="0">
                <a:latin typeface="Calibri"/>
                <a:cs typeface="Calibri"/>
              </a:rPr>
              <a:t>in</a:t>
            </a:r>
            <a:r>
              <a:rPr sz="2800" spc="-95" dirty="0">
                <a:latin typeface="Calibri"/>
                <a:cs typeface="Calibri"/>
              </a:rPr>
              <a:t> </a:t>
            </a:r>
            <a:r>
              <a:rPr sz="2800" spc="-10" dirty="0">
                <a:latin typeface="Calibri"/>
                <a:cs typeface="Calibri"/>
              </a:rPr>
              <a:t>Operating</a:t>
            </a:r>
            <a:r>
              <a:rPr sz="2800" spc="-85" dirty="0">
                <a:latin typeface="Calibri"/>
                <a:cs typeface="Calibri"/>
              </a:rPr>
              <a:t> </a:t>
            </a:r>
            <a:r>
              <a:rPr sz="2800" spc="-10" dirty="0">
                <a:latin typeface="Calibri"/>
                <a:cs typeface="Calibri"/>
              </a:rPr>
              <a:t>system</a:t>
            </a:r>
            <a:endParaRPr sz="2800" dirty="0">
              <a:latin typeface="Calibri"/>
              <a:cs typeface="Calibri"/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13335" rIns="0" bIns="0" rtlCol="0">
            <a:spAutoFit/>
          </a:bodyPr>
          <a:lstStyle/>
          <a:p>
            <a:pPr marL="12700" algn="ctr">
              <a:spcBef>
                <a:spcPts val="105"/>
              </a:spcBef>
            </a:pPr>
            <a:r>
              <a:rPr dirty="0"/>
              <a:t>Process Concept</a:t>
            </a:r>
          </a:p>
        </p:txBody>
      </p:sp>
      <p:sp>
        <p:nvSpPr>
          <p:cNvPr id="4" name="object 4"/>
          <p:cNvSpPr txBox="1">
            <a:spLocks noGrp="1"/>
          </p:cNvSpPr>
          <p:nvPr>
            <p:ph type="ftr" sz="quarter" idx="5"/>
          </p:nvPr>
        </p:nvSpPr>
        <p:spPr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12700">
              <a:lnSpc>
                <a:spcPts val="1240"/>
              </a:lnSpc>
            </a:pPr>
            <a:r>
              <a:rPr lang="pl-PL"/>
              <a:t>By Dr. Binod Kr. Adhikari</a:t>
            </a:r>
            <a:endParaRPr spc="-10" dirty="0"/>
          </a:p>
        </p:txBody>
      </p:sp>
      <p:sp>
        <p:nvSpPr>
          <p:cNvPr id="3" name="object 3"/>
          <p:cNvSpPr txBox="1"/>
          <p:nvPr/>
        </p:nvSpPr>
        <p:spPr>
          <a:xfrm>
            <a:off x="803910" y="1371600"/>
            <a:ext cx="7425690" cy="4416425"/>
          </a:xfrm>
          <a:prstGeom prst="rect">
            <a:avLst/>
          </a:prstGeom>
        </p:spPr>
        <p:txBody>
          <a:bodyPr vert="horz" wrap="square" lIns="0" tIns="13335" rIns="0" bIns="0" rtlCol="0">
            <a:spAutoFit/>
          </a:bodyPr>
          <a:lstStyle/>
          <a:p>
            <a:pPr marL="355600" marR="221615" indent="-342900">
              <a:lnSpc>
                <a:spcPct val="100000"/>
              </a:lnSpc>
              <a:spcBef>
                <a:spcPts val="105"/>
              </a:spcBef>
              <a:buFont typeface="Arial"/>
              <a:buChar char="•"/>
              <a:tabLst>
                <a:tab pos="355600" algn="l"/>
              </a:tabLst>
            </a:pPr>
            <a:r>
              <a:rPr sz="3200" dirty="0">
                <a:latin typeface="Calibri"/>
                <a:cs typeface="Calibri"/>
              </a:rPr>
              <a:t>An</a:t>
            </a:r>
            <a:r>
              <a:rPr sz="3200" spc="-105" dirty="0">
                <a:latin typeface="Calibri"/>
                <a:cs typeface="Calibri"/>
              </a:rPr>
              <a:t> </a:t>
            </a:r>
            <a:r>
              <a:rPr sz="3200" dirty="0">
                <a:latin typeface="Calibri"/>
                <a:cs typeface="Calibri"/>
              </a:rPr>
              <a:t>operating</a:t>
            </a:r>
            <a:r>
              <a:rPr sz="3200" spc="-85" dirty="0">
                <a:latin typeface="Calibri"/>
                <a:cs typeface="Calibri"/>
              </a:rPr>
              <a:t> </a:t>
            </a:r>
            <a:r>
              <a:rPr sz="3200" spc="-10" dirty="0">
                <a:latin typeface="Calibri"/>
                <a:cs typeface="Calibri"/>
              </a:rPr>
              <a:t>system</a:t>
            </a:r>
            <a:r>
              <a:rPr sz="3200" spc="-90" dirty="0">
                <a:latin typeface="Calibri"/>
                <a:cs typeface="Calibri"/>
              </a:rPr>
              <a:t> </a:t>
            </a:r>
            <a:r>
              <a:rPr sz="3200" spc="-10" dirty="0">
                <a:latin typeface="Calibri"/>
                <a:cs typeface="Calibri"/>
              </a:rPr>
              <a:t>executes</a:t>
            </a:r>
            <a:r>
              <a:rPr sz="3200" spc="-114" dirty="0">
                <a:latin typeface="Calibri"/>
                <a:cs typeface="Calibri"/>
              </a:rPr>
              <a:t> </a:t>
            </a:r>
            <a:r>
              <a:rPr sz="3200" dirty="0">
                <a:latin typeface="Calibri"/>
                <a:cs typeface="Calibri"/>
              </a:rPr>
              <a:t>a</a:t>
            </a:r>
            <a:r>
              <a:rPr sz="3200" spc="-90" dirty="0">
                <a:latin typeface="Calibri"/>
                <a:cs typeface="Calibri"/>
              </a:rPr>
              <a:t> </a:t>
            </a:r>
            <a:r>
              <a:rPr sz="3200" dirty="0">
                <a:latin typeface="Calibri"/>
                <a:cs typeface="Calibri"/>
              </a:rPr>
              <a:t>variety</a:t>
            </a:r>
            <a:r>
              <a:rPr sz="3200" spc="-100" dirty="0">
                <a:latin typeface="Calibri"/>
                <a:cs typeface="Calibri"/>
              </a:rPr>
              <a:t> </a:t>
            </a:r>
            <a:r>
              <a:rPr sz="3200" spc="-25" dirty="0">
                <a:latin typeface="Calibri"/>
                <a:cs typeface="Calibri"/>
              </a:rPr>
              <a:t>of </a:t>
            </a:r>
            <a:r>
              <a:rPr sz="3200" spc="-10" dirty="0">
                <a:latin typeface="Calibri"/>
                <a:cs typeface="Calibri"/>
              </a:rPr>
              <a:t>programs</a:t>
            </a:r>
            <a:endParaRPr sz="3200" dirty="0">
              <a:latin typeface="Calibri"/>
              <a:cs typeface="Calibri"/>
            </a:endParaRPr>
          </a:p>
          <a:p>
            <a:pPr marL="1154430" lvl="1" indent="-227329">
              <a:lnSpc>
                <a:spcPct val="100000"/>
              </a:lnSpc>
              <a:spcBef>
                <a:spcPts val="620"/>
              </a:spcBef>
              <a:buFont typeface="Arial"/>
              <a:buChar char="•"/>
              <a:tabLst>
                <a:tab pos="1154430" algn="l"/>
              </a:tabLst>
            </a:pPr>
            <a:r>
              <a:rPr sz="2400" dirty="0">
                <a:latin typeface="Calibri"/>
                <a:cs typeface="Calibri"/>
              </a:rPr>
              <a:t>batch</a:t>
            </a:r>
            <a:r>
              <a:rPr sz="2400" spc="-90" dirty="0">
                <a:latin typeface="Calibri"/>
                <a:cs typeface="Calibri"/>
              </a:rPr>
              <a:t> </a:t>
            </a:r>
            <a:r>
              <a:rPr sz="2400" spc="-10" dirty="0">
                <a:latin typeface="Calibri"/>
                <a:cs typeface="Calibri"/>
              </a:rPr>
              <a:t>systems</a:t>
            </a:r>
            <a:r>
              <a:rPr sz="2400" spc="-75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-</a:t>
            </a:r>
            <a:r>
              <a:rPr sz="2400" spc="-70" dirty="0">
                <a:latin typeface="Calibri"/>
                <a:cs typeface="Calibri"/>
              </a:rPr>
              <a:t> </a:t>
            </a:r>
            <a:r>
              <a:rPr sz="2400" spc="-20" dirty="0">
                <a:latin typeface="Calibri"/>
                <a:cs typeface="Calibri"/>
              </a:rPr>
              <a:t>jobs</a:t>
            </a:r>
            <a:endParaRPr sz="2400" dirty="0">
              <a:latin typeface="Calibri"/>
              <a:cs typeface="Calibri"/>
            </a:endParaRPr>
          </a:p>
          <a:p>
            <a:pPr marL="1154430" lvl="1" indent="-227329">
              <a:lnSpc>
                <a:spcPct val="100000"/>
              </a:lnSpc>
              <a:spcBef>
                <a:spcPts val="580"/>
              </a:spcBef>
              <a:buFont typeface="Arial"/>
              <a:buChar char="•"/>
              <a:tabLst>
                <a:tab pos="1154430" algn="l"/>
              </a:tabLst>
            </a:pPr>
            <a:r>
              <a:rPr sz="2400" spc="-10" dirty="0">
                <a:latin typeface="Calibri"/>
                <a:cs typeface="Calibri"/>
              </a:rPr>
              <a:t>time-</a:t>
            </a:r>
            <a:r>
              <a:rPr sz="2400" dirty="0">
                <a:latin typeface="Calibri"/>
                <a:cs typeface="Calibri"/>
              </a:rPr>
              <a:t>shared</a:t>
            </a:r>
            <a:r>
              <a:rPr sz="2400" spc="-70" dirty="0">
                <a:latin typeface="Calibri"/>
                <a:cs typeface="Calibri"/>
              </a:rPr>
              <a:t> </a:t>
            </a:r>
            <a:r>
              <a:rPr sz="2400" spc="-10" dirty="0">
                <a:latin typeface="Calibri"/>
                <a:cs typeface="Calibri"/>
              </a:rPr>
              <a:t>systems</a:t>
            </a:r>
            <a:r>
              <a:rPr sz="2400" spc="-60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-</a:t>
            </a:r>
            <a:r>
              <a:rPr sz="2400" spc="-50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user</a:t>
            </a:r>
            <a:r>
              <a:rPr sz="2400" spc="-45" dirty="0">
                <a:latin typeface="Calibri"/>
                <a:cs typeface="Calibri"/>
              </a:rPr>
              <a:t> </a:t>
            </a:r>
            <a:r>
              <a:rPr sz="2400" spc="-10" dirty="0">
                <a:latin typeface="Calibri"/>
                <a:cs typeface="Calibri"/>
              </a:rPr>
              <a:t>programs</a:t>
            </a:r>
            <a:r>
              <a:rPr sz="2400" spc="-70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or</a:t>
            </a:r>
            <a:r>
              <a:rPr sz="2400" spc="-40" dirty="0">
                <a:latin typeface="Calibri"/>
                <a:cs typeface="Calibri"/>
              </a:rPr>
              <a:t> </a:t>
            </a:r>
            <a:r>
              <a:rPr sz="2400" spc="-10" dirty="0">
                <a:latin typeface="Calibri"/>
                <a:cs typeface="Calibri"/>
              </a:rPr>
              <a:t>tasks</a:t>
            </a:r>
            <a:endParaRPr sz="2400" dirty="0">
              <a:latin typeface="Calibri"/>
              <a:cs typeface="Calibri"/>
            </a:endParaRPr>
          </a:p>
          <a:p>
            <a:pPr marL="1154430" lvl="1" indent="-227329">
              <a:lnSpc>
                <a:spcPct val="100000"/>
              </a:lnSpc>
              <a:spcBef>
                <a:spcPts val="575"/>
              </a:spcBef>
              <a:buFont typeface="Arial"/>
              <a:buChar char="•"/>
              <a:tabLst>
                <a:tab pos="1154430" algn="l"/>
              </a:tabLst>
            </a:pPr>
            <a:r>
              <a:rPr sz="2400" dirty="0">
                <a:latin typeface="Calibri"/>
                <a:cs typeface="Calibri"/>
              </a:rPr>
              <a:t>job</a:t>
            </a:r>
            <a:r>
              <a:rPr sz="2400" spc="-80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and</a:t>
            </a:r>
            <a:r>
              <a:rPr sz="2400" spc="-65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program</a:t>
            </a:r>
            <a:r>
              <a:rPr sz="2400" spc="-70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used</a:t>
            </a:r>
            <a:r>
              <a:rPr sz="2400" spc="-65" dirty="0">
                <a:latin typeface="Calibri"/>
                <a:cs typeface="Calibri"/>
              </a:rPr>
              <a:t> </a:t>
            </a:r>
            <a:r>
              <a:rPr sz="2400" spc="-10" dirty="0">
                <a:latin typeface="Calibri"/>
                <a:cs typeface="Calibri"/>
              </a:rPr>
              <a:t>interchangeably</a:t>
            </a:r>
            <a:endParaRPr sz="2400" dirty="0">
              <a:latin typeface="Calibri"/>
              <a:cs typeface="Calibri"/>
            </a:endParaRPr>
          </a:p>
          <a:p>
            <a:pPr marL="354965" indent="-342265">
              <a:lnSpc>
                <a:spcPct val="100000"/>
              </a:lnSpc>
              <a:spcBef>
                <a:spcPts val="725"/>
              </a:spcBef>
              <a:buFont typeface="Arial"/>
              <a:buChar char="•"/>
              <a:tabLst>
                <a:tab pos="354965" algn="l"/>
              </a:tabLst>
            </a:pPr>
            <a:r>
              <a:rPr sz="3200" dirty="0">
                <a:solidFill>
                  <a:srgbClr val="00B050"/>
                </a:solidFill>
                <a:latin typeface="Calibri"/>
                <a:cs typeface="Calibri"/>
              </a:rPr>
              <a:t>Process</a:t>
            </a:r>
            <a:r>
              <a:rPr sz="3200" spc="-105" dirty="0">
                <a:solidFill>
                  <a:srgbClr val="00B050"/>
                </a:solidFill>
                <a:latin typeface="Calibri"/>
                <a:cs typeface="Calibri"/>
              </a:rPr>
              <a:t> </a:t>
            </a:r>
            <a:r>
              <a:rPr sz="3200" dirty="0">
                <a:solidFill>
                  <a:srgbClr val="00B050"/>
                </a:solidFill>
                <a:latin typeface="Calibri"/>
                <a:cs typeface="Calibri"/>
              </a:rPr>
              <a:t>-</a:t>
            </a:r>
            <a:r>
              <a:rPr sz="3200" spc="-60" dirty="0">
                <a:solidFill>
                  <a:srgbClr val="00B050"/>
                </a:solidFill>
                <a:latin typeface="Calibri"/>
                <a:cs typeface="Calibri"/>
              </a:rPr>
              <a:t> </a:t>
            </a:r>
            <a:r>
              <a:rPr sz="3200" dirty="0">
                <a:solidFill>
                  <a:srgbClr val="00B050"/>
                </a:solidFill>
                <a:latin typeface="Calibri"/>
                <a:cs typeface="Calibri"/>
              </a:rPr>
              <a:t>a</a:t>
            </a:r>
            <a:r>
              <a:rPr sz="3200" spc="-60" dirty="0">
                <a:solidFill>
                  <a:srgbClr val="00B050"/>
                </a:solidFill>
                <a:latin typeface="Calibri"/>
                <a:cs typeface="Calibri"/>
              </a:rPr>
              <a:t> </a:t>
            </a:r>
            <a:r>
              <a:rPr sz="3200" dirty="0">
                <a:solidFill>
                  <a:srgbClr val="00B050"/>
                </a:solidFill>
                <a:latin typeface="Calibri"/>
                <a:cs typeface="Calibri"/>
              </a:rPr>
              <a:t>program</a:t>
            </a:r>
            <a:r>
              <a:rPr sz="3200" spc="-65" dirty="0">
                <a:solidFill>
                  <a:srgbClr val="00B050"/>
                </a:solidFill>
                <a:latin typeface="Calibri"/>
                <a:cs typeface="Calibri"/>
              </a:rPr>
              <a:t> </a:t>
            </a:r>
            <a:r>
              <a:rPr sz="3200" dirty="0">
                <a:solidFill>
                  <a:srgbClr val="00B050"/>
                </a:solidFill>
                <a:latin typeface="Calibri"/>
                <a:cs typeface="Calibri"/>
              </a:rPr>
              <a:t>in</a:t>
            </a:r>
            <a:r>
              <a:rPr sz="3200" spc="-55" dirty="0">
                <a:solidFill>
                  <a:srgbClr val="00B050"/>
                </a:solidFill>
                <a:latin typeface="Calibri"/>
                <a:cs typeface="Calibri"/>
              </a:rPr>
              <a:t> </a:t>
            </a:r>
            <a:r>
              <a:rPr sz="3200" spc="-10" dirty="0">
                <a:solidFill>
                  <a:srgbClr val="00B050"/>
                </a:solidFill>
                <a:latin typeface="Calibri"/>
                <a:cs typeface="Calibri"/>
              </a:rPr>
              <a:t>execution</a:t>
            </a:r>
            <a:endParaRPr sz="3200" dirty="0">
              <a:solidFill>
                <a:srgbClr val="00B050"/>
              </a:solidFill>
              <a:latin typeface="Calibri"/>
              <a:cs typeface="Calibri"/>
            </a:endParaRPr>
          </a:p>
          <a:p>
            <a:pPr marL="1154430" lvl="1" indent="-227329">
              <a:lnSpc>
                <a:spcPct val="100000"/>
              </a:lnSpc>
              <a:spcBef>
                <a:spcPts val="620"/>
              </a:spcBef>
              <a:buFont typeface="Arial"/>
              <a:buChar char="•"/>
              <a:tabLst>
                <a:tab pos="1154430" algn="l"/>
              </a:tabLst>
            </a:pPr>
            <a:r>
              <a:rPr sz="2400" dirty="0">
                <a:latin typeface="Calibri"/>
                <a:cs typeface="Calibri"/>
              </a:rPr>
              <a:t>process</a:t>
            </a:r>
            <a:r>
              <a:rPr sz="2400" spc="-85" dirty="0">
                <a:latin typeface="Calibri"/>
                <a:cs typeface="Calibri"/>
              </a:rPr>
              <a:t> </a:t>
            </a:r>
            <a:r>
              <a:rPr sz="2400" spc="-10" dirty="0">
                <a:latin typeface="Calibri"/>
                <a:cs typeface="Calibri"/>
              </a:rPr>
              <a:t>execution</a:t>
            </a:r>
            <a:r>
              <a:rPr sz="2400" spc="-80" dirty="0">
                <a:latin typeface="Calibri"/>
                <a:cs typeface="Calibri"/>
              </a:rPr>
              <a:t> </a:t>
            </a:r>
            <a:r>
              <a:rPr sz="2400" spc="-10" dirty="0">
                <a:latin typeface="Calibri"/>
                <a:cs typeface="Calibri"/>
              </a:rPr>
              <a:t>proceeds</a:t>
            </a:r>
            <a:r>
              <a:rPr sz="2400" spc="-75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in</a:t>
            </a:r>
            <a:r>
              <a:rPr sz="2400" spc="-60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a</a:t>
            </a:r>
            <a:r>
              <a:rPr sz="2400" spc="-60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sequential</a:t>
            </a:r>
            <a:r>
              <a:rPr sz="2400" spc="-60" dirty="0">
                <a:latin typeface="Calibri"/>
                <a:cs typeface="Calibri"/>
              </a:rPr>
              <a:t> </a:t>
            </a:r>
            <a:r>
              <a:rPr sz="2400" spc="-10" dirty="0">
                <a:latin typeface="Calibri"/>
                <a:cs typeface="Calibri"/>
              </a:rPr>
              <a:t>fashion</a:t>
            </a:r>
            <a:endParaRPr sz="2400" dirty="0">
              <a:latin typeface="Calibri"/>
              <a:cs typeface="Calibri"/>
            </a:endParaRPr>
          </a:p>
          <a:p>
            <a:pPr marL="355600" marR="46990" indent="-342900">
              <a:lnSpc>
                <a:spcPct val="100000"/>
              </a:lnSpc>
              <a:spcBef>
                <a:spcPts val="725"/>
              </a:spcBef>
              <a:buFont typeface="Arial"/>
              <a:buChar char="•"/>
              <a:tabLst>
                <a:tab pos="355600" algn="l"/>
              </a:tabLst>
            </a:pPr>
            <a:r>
              <a:rPr sz="3200" dirty="0">
                <a:latin typeface="Calibri"/>
                <a:cs typeface="Calibri"/>
              </a:rPr>
              <a:t>A</a:t>
            </a:r>
            <a:r>
              <a:rPr sz="3200" spc="-50" dirty="0">
                <a:latin typeface="Calibri"/>
                <a:cs typeface="Calibri"/>
              </a:rPr>
              <a:t> </a:t>
            </a:r>
            <a:r>
              <a:rPr sz="3200" dirty="0">
                <a:latin typeface="Calibri"/>
                <a:cs typeface="Calibri"/>
              </a:rPr>
              <a:t>process</a:t>
            </a:r>
            <a:r>
              <a:rPr sz="3200" spc="-60" dirty="0">
                <a:latin typeface="Calibri"/>
                <a:cs typeface="Calibri"/>
              </a:rPr>
              <a:t> </a:t>
            </a:r>
            <a:r>
              <a:rPr sz="3200" dirty="0">
                <a:latin typeface="Calibri"/>
                <a:cs typeface="Calibri"/>
              </a:rPr>
              <a:t>is</a:t>
            </a:r>
            <a:r>
              <a:rPr sz="3200" spc="-45" dirty="0">
                <a:latin typeface="Calibri"/>
                <a:cs typeface="Calibri"/>
              </a:rPr>
              <a:t> </a:t>
            </a:r>
            <a:r>
              <a:rPr sz="3200" dirty="0">
                <a:latin typeface="Calibri"/>
                <a:cs typeface="Calibri"/>
              </a:rPr>
              <a:t>an</a:t>
            </a:r>
            <a:r>
              <a:rPr sz="3200" spc="-25" dirty="0">
                <a:latin typeface="Calibri"/>
                <a:cs typeface="Calibri"/>
              </a:rPr>
              <a:t> </a:t>
            </a:r>
            <a:r>
              <a:rPr sz="3200" dirty="0">
                <a:latin typeface="Calibri"/>
                <a:cs typeface="Calibri"/>
              </a:rPr>
              <a:t>activity</a:t>
            </a:r>
            <a:r>
              <a:rPr sz="3200" spc="-20" dirty="0">
                <a:latin typeface="Calibri"/>
                <a:cs typeface="Calibri"/>
              </a:rPr>
              <a:t> </a:t>
            </a:r>
            <a:r>
              <a:rPr sz="3200" dirty="0">
                <a:latin typeface="Calibri"/>
                <a:cs typeface="Calibri"/>
              </a:rPr>
              <a:t>of</a:t>
            </a:r>
            <a:r>
              <a:rPr sz="3200" spc="-35" dirty="0">
                <a:latin typeface="Calibri"/>
                <a:cs typeface="Calibri"/>
              </a:rPr>
              <a:t> </a:t>
            </a:r>
            <a:r>
              <a:rPr sz="3200" dirty="0">
                <a:latin typeface="Calibri"/>
                <a:cs typeface="Calibri"/>
              </a:rPr>
              <a:t>some</a:t>
            </a:r>
            <a:r>
              <a:rPr sz="3200" spc="-35" dirty="0">
                <a:latin typeface="Calibri"/>
                <a:cs typeface="Calibri"/>
              </a:rPr>
              <a:t> </a:t>
            </a:r>
            <a:r>
              <a:rPr sz="3200" dirty="0">
                <a:latin typeface="Calibri"/>
                <a:cs typeface="Calibri"/>
              </a:rPr>
              <a:t>kind,</a:t>
            </a:r>
            <a:r>
              <a:rPr sz="3200" spc="-25" dirty="0">
                <a:latin typeface="Calibri"/>
                <a:cs typeface="Calibri"/>
              </a:rPr>
              <a:t> </a:t>
            </a:r>
            <a:r>
              <a:rPr sz="3200" dirty="0">
                <a:latin typeface="Calibri"/>
                <a:cs typeface="Calibri"/>
              </a:rPr>
              <a:t>it</a:t>
            </a:r>
            <a:r>
              <a:rPr sz="3200" spc="-40" dirty="0">
                <a:latin typeface="Calibri"/>
                <a:cs typeface="Calibri"/>
              </a:rPr>
              <a:t> </a:t>
            </a:r>
            <a:r>
              <a:rPr sz="3200" spc="-25" dirty="0">
                <a:latin typeface="Calibri"/>
                <a:cs typeface="Calibri"/>
              </a:rPr>
              <a:t>has </a:t>
            </a:r>
            <a:r>
              <a:rPr sz="3200" dirty="0">
                <a:latin typeface="Calibri"/>
                <a:cs typeface="Calibri"/>
              </a:rPr>
              <a:t>program,</a:t>
            </a:r>
            <a:r>
              <a:rPr sz="3200" spc="-120" dirty="0">
                <a:latin typeface="Calibri"/>
                <a:cs typeface="Calibri"/>
              </a:rPr>
              <a:t> </a:t>
            </a:r>
            <a:r>
              <a:rPr sz="3200" dirty="0">
                <a:latin typeface="Calibri"/>
                <a:cs typeface="Calibri"/>
              </a:rPr>
              <a:t>input,</a:t>
            </a:r>
            <a:r>
              <a:rPr sz="3200" spc="-80" dirty="0">
                <a:latin typeface="Calibri"/>
                <a:cs typeface="Calibri"/>
              </a:rPr>
              <a:t> </a:t>
            </a:r>
            <a:r>
              <a:rPr sz="3200" dirty="0">
                <a:latin typeface="Calibri"/>
                <a:cs typeface="Calibri"/>
              </a:rPr>
              <a:t>output</a:t>
            </a:r>
            <a:r>
              <a:rPr sz="3200" spc="-90" dirty="0">
                <a:latin typeface="Calibri"/>
                <a:cs typeface="Calibri"/>
              </a:rPr>
              <a:t> </a:t>
            </a:r>
            <a:r>
              <a:rPr sz="3200" dirty="0">
                <a:latin typeface="Calibri"/>
                <a:cs typeface="Calibri"/>
              </a:rPr>
              <a:t>and</a:t>
            </a:r>
            <a:r>
              <a:rPr sz="3200" spc="-90" dirty="0">
                <a:latin typeface="Calibri"/>
                <a:cs typeface="Calibri"/>
              </a:rPr>
              <a:t> </a:t>
            </a:r>
            <a:r>
              <a:rPr sz="3200" spc="-10" dirty="0">
                <a:latin typeface="Calibri"/>
                <a:cs typeface="Calibri"/>
              </a:rPr>
              <a:t>state.</a:t>
            </a:r>
            <a:endParaRPr sz="3200" dirty="0">
              <a:latin typeface="Calibri"/>
              <a:cs typeface="Calibri"/>
            </a:endParaRP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13335" rIns="0" bIns="0" rtlCol="0">
            <a:spAutoFit/>
          </a:bodyPr>
          <a:lstStyle/>
          <a:p>
            <a:pPr marL="12700" algn="ctr">
              <a:spcBef>
                <a:spcPts val="105"/>
              </a:spcBef>
            </a:pPr>
            <a:r>
              <a:rPr dirty="0"/>
              <a:t>Process Model</a:t>
            </a:r>
          </a:p>
        </p:txBody>
      </p:sp>
      <p:sp>
        <p:nvSpPr>
          <p:cNvPr id="4" name="object 4"/>
          <p:cNvSpPr txBox="1">
            <a:spLocks noGrp="1"/>
          </p:cNvSpPr>
          <p:nvPr>
            <p:ph type="ftr" sz="quarter" idx="5"/>
          </p:nvPr>
        </p:nvSpPr>
        <p:spPr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12700">
              <a:lnSpc>
                <a:spcPts val="1240"/>
              </a:lnSpc>
            </a:pPr>
            <a:r>
              <a:rPr lang="pl-PL"/>
              <a:t>By Dr. Binod Kr. Adhikari</a:t>
            </a:r>
            <a:endParaRPr spc="-10" dirty="0"/>
          </a:p>
        </p:txBody>
      </p:sp>
      <p:sp>
        <p:nvSpPr>
          <p:cNvPr id="3" name="object 3"/>
          <p:cNvSpPr txBox="1"/>
          <p:nvPr/>
        </p:nvSpPr>
        <p:spPr>
          <a:xfrm>
            <a:off x="1450594" y="2210965"/>
            <a:ext cx="4146550" cy="2220595"/>
          </a:xfrm>
          <a:prstGeom prst="rect">
            <a:avLst/>
          </a:prstGeom>
        </p:spPr>
        <p:txBody>
          <a:bodyPr vert="horz" wrap="square" lIns="0" tIns="134620" rIns="0" bIns="0" rtlCol="0">
            <a:spAutoFit/>
          </a:bodyPr>
          <a:lstStyle/>
          <a:p>
            <a:pPr marL="240665" indent="-227965">
              <a:lnSpc>
                <a:spcPct val="100000"/>
              </a:lnSpc>
              <a:spcBef>
                <a:spcPts val="1060"/>
              </a:spcBef>
              <a:buFont typeface="Arial"/>
              <a:buChar char="•"/>
              <a:tabLst>
                <a:tab pos="240665" algn="l"/>
              </a:tabLst>
            </a:pPr>
            <a:r>
              <a:rPr sz="4000" spc="-10" dirty="0">
                <a:latin typeface="Calibri"/>
                <a:cs typeface="Calibri"/>
              </a:rPr>
              <a:t>Uni-programming</a:t>
            </a:r>
            <a:endParaRPr sz="4000">
              <a:latin typeface="Calibri"/>
              <a:cs typeface="Calibri"/>
            </a:endParaRPr>
          </a:p>
          <a:p>
            <a:pPr marL="240665" indent="-227965">
              <a:lnSpc>
                <a:spcPct val="100000"/>
              </a:lnSpc>
              <a:spcBef>
                <a:spcPts val="960"/>
              </a:spcBef>
              <a:buFont typeface="Arial"/>
              <a:buChar char="•"/>
              <a:tabLst>
                <a:tab pos="240665" algn="l"/>
              </a:tabLst>
            </a:pPr>
            <a:r>
              <a:rPr sz="4000" spc="-10" dirty="0">
                <a:latin typeface="Calibri"/>
                <a:cs typeface="Calibri"/>
              </a:rPr>
              <a:t>Multiprogramming</a:t>
            </a:r>
            <a:endParaRPr sz="4000">
              <a:latin typeface="Calibri"/>
              <a:cs typeface="Calibri"/>
            </a:endParaRPr>
          </a:p>
          <a:p>
            <a:pPr marL="240665" indent="-227965">
              <a:lnSpc>
                <a:spcPct val="100000"/>
              </a:lnSpc>
              <a:spcBef>
                <a:spcPts val="960"/>
              </a:spcBef>
              <a:buFont typeface="Arial"/>
              <a:buChar char="•"/>
              <a:tabLst>
                <a:tab pos="240665" algn="l"/>
              </a:tabLst>
            </a:pPr>
            <a:r>
              <a:rPr sz="4000" spc="-10" dirty="0">
                <a:latin typeface="Calibri"/>
                <a:cs typeface="Calibri"/>
              </a:rPr>
              <a:t>Multiprocessing</a:t>
            </a:r>
            <a:endParaRPr sz="4000">
              <a:latin typeface="Calibri"/>
              <a:cs typeface="Calibri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xfrm>
            <a:off x="762000" y="228600"/>
            <a:ext cx="7467600" cy="690574"/>
          </a:xfrm>
          <a:prstGeom prst="rect">
            <a:avLst/>
          </a:prstGeom>
        </p:spPr>
        <p:txBody>
          <a:bodyPr vert="horz" wrap="square" lIns="0" tIns="13335" rIns="0" bIns="0" rtlCol="0">
            <a:spAutoFit/>
          </a:bodyPr>
          <a:lstStyle/>
          <a:p>
            <a:pPr marL="12700" algn="ctr">
              <a:spcBef>
                <a:spcPts val="105"/>
              </a:spcBef>
            </a:pPr>
            <a:r>
              <a:rPr dirty="0"/>
              <a:t>Uni-programming Model</a:t>
            </a:r>
          </a:p>
        </p:txBody>
      </p:sp>
      <p:sp>
        <p:nvSpPr>
          <p:cNvPr id="5" name="object 5"/>
          <p:cNvSpPr txBox="1">
            <a:spLocks noGrp="1"/>
          </p:cNvSpPr>
          <p:nvPr>
            <p:ph type="ftr" sz="quarter" idx="5"/>
          </p:nvPr>
        </p:nvSpPr>
        <p:spPr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12700">
              <a:lnSpc>
                <a:spcPts val="1240"/>
              </a:lnSpc>
            </a:pPr>
            <a:r>
              <a:rPr lang="pl-PL"/>
              <a:t>By Dr. Binod Kr. Adhikari</a:t>
            </a:r>
            <a:endParaRPr spc="-10" dirty="0"/>
          </a:p>
        </p:txBody>
      </p:sp>
      <p:sp>
        <p:nvSpPr>
          <p:cNvPr id="3" name="object 3"/>
          <p:cNvSpPr txBox="1"/>
          <p:nvPr/>
        </p:nvSpPr>
        <p:spPr>
          <a:xfrm>
            <a:off x="535940" y="4419600"/>
            <a:ext cx="6408420" cy="1708150"/>
          </a:xfrm>
          <a:prstGeom prst="rect">
            <a:avLst/>
          </a:prstGeom>
        </p:spPr>
        <p:txBody>
          <a:bodyPr vert="horz" wrap="square" lIns="0" tIns="85725" rIns="0" bIns="0" rtlCol="0">
            <a:spAutoFit/>
          </a:bodyPr>
          <a:lstStyle/>
          <a:p>
            <a:pPr marL="354965" indent="-342265">
              <a:lnSpc>
                <a:spcPct val="100000"/>
              </a:lnSpc>
              <a:spcBef>
                <a:spcPts val="675"/>
              </a:spcBef>
              <a:buFont typeface="Arial"/>
              <a:buChar char="•"/>
              <a:tabLst>
                <a:tab pos="354965" algn="l"/>
              </a:tabLst>
            </a:pPr>
            <a:r>
              <a:rPr sz="2400" spc="-10" dirty="0">
                <a:latin typeface="Calibri"/>
                <a:cs typeface="Calibri"/>
              </a:rPr>
              <a:t>Examples:</a:t>
            </a:r>
            <a:r>
              <a:rPr sz="2400" spc="-85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Older</a:t>
            </a:r>
            <a:r>
              <a:rPr sz="2400" spc="-45" dirty="0">
                <a:latin typeface="Calibri"/>
                <a:cs typeface="Calibri"/>
              </a:rPr>
              <a:t> </a:t>
            </a:r>
            <a:r>
              <a:rPr sz="2400" spc="-10" dirty="0">
                <a:latin typeface="Calibri"/>
                <a:cs typeface="Calibri"/>
              </a:rPr>
              <a:t>systems</a:t>
            </a:r>
            <a:endParaRPr sz="2400" dirty="0">
              <a:latin typeface="Calibri"/>
              <a:cs typeface="Calibri"/>
            </a:endParaRPr>
          </a:p>
          <a:p>
            <a:pPr marL="354965" indent="-342265">
              <a:lnSpc>
                <a:spcPct val="100000"/>
              </a:lnSpc>
              <a:spcBef>
                <a:spcPts val="575"/>
              </a:spcBef>
              <a:buFont typeface="Arial"/>
              <a:buChar char="•"/>
              <a:tabLst>
                <a:tab pos="354965" algn="l"/>
              </a:tabLst>
            </a:pPr>
            <a:r>
              <a:rPr sz="2400" spc="-10" dirty="0">
                <a:latin typeface="Calibri"/>
                <a:cs typeface="Calibri"/>
              </a:rPr>
              <a:t>Advantages:</a:t>
            </a:r>
            <a:r>
              <a:rPr sz="2400" spc="-80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Easier</a:t>
            </a:r>
            <a:r>
              <a:rPr sz="2400" spc="-65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for</a:t>
            </a:r>
            <a:r>
              <a:rPr sz="2400" spc="-60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OS</a:t>
            </a:r>
            <a:r>
              <a:rPr sz="2400" spc="-65" dirty="0">
                <a:latin typeface="Calibri"/>
                <a:cs typeface="Calibri"/>
              </a:rPr>
              <a:t> </a:t>
            </a:r>
            <a:r>
              <a:rPr sz="2400" spc="-10" dirty="0">
                <a:latin typeface="Calibri"/>
                <a:cs typeface="Calibri"/>
              </a:rPr>
              <a:t>designer</a:t>
            </a:r>
            <a:endParaRPr sz="2400" dirty="0">
              <a:latin typeface="Calibri"/>
              <a:cs typeface="Calibri"/>
            </a:endParaRPr>
          </a:p>
          <a:p>
            <a:pPr marL="354965" indent="-342265">
              <a:lnSpc>
                <a:spcPct val="100000"/>
              </a:lnSpc>
              <a:spcBef>
                <a:spcPts val="580"/>
              </a:spcBef>
              <a:buFont typeface="Arial"/>
              <a:buChar char="•"/>
              <a:tabLst>
                <a:tab pos="354965" algn="l"/>
              </a:tabLst>
            </a:pPr>
            <a:r>
              <a:rPr sz="2400" spc="-10" dirty="0">
                <a:latin typeface="Calibri"/>
                <a:cs typeface="Calibri"/>
              </a:rPr>
              <a:t>Disadvantages:</a:t>
            </a:r>
            <a:r>
              <a:rPr sz="2400" spc="-65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Not</a:t>
            </a:r>
            <a:r>
              <a:rPr sz="2400" spc="-45" dirty="0">
                <a:latin typeface="Calibri"/>
                <a:cs typeface="Calibri"/>
              </a:rPr>
              <a:t> </a:t>
            </a:r>
            <a:r>
              <a:rPr sz="2400" spc="-10" dirty="0">
                <a:latin typeface="Calibri"/>
                <a:cs typeface="Calibri"/>
              </a:rPr>
              <a:t>convenient</a:t>
            </a:r>
            <a:r>
              <a:rPr sz="2400" spc="-40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for</a:t>
            </a:r>
            <a:r>
              <a:rPr sz="2400" spc="-50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user</a:t>
            </a:r>
            <a:r>
              <a:rPr sz="2400" spc="-40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and</a:t>
            </a:r>
            <a:r>
              <a:rPr sz="2400" spc="-50" dirty="0">
                <a:latin typeface="Calibri"/>
                <a:cs typeface="Calibri"/>
              </a:rPr>
              <a:t> </a:t>
            </a:r>
            <a:r>
              <a:rPr sz="2400" spc="-20" dirty="0">
                <a:latin typeface="Calibri"/>
                <a:cs typeface="Calibri"/>
              </a:rPr>
              <a:t>poor</a:t>
            </a:r>
            <a:endParaRPr sz="2400" dirty="0">
              <a:latin typeface="Calibri"/>
              <a:cs typeface="Calibri"/>
            </a:endParaRPr>
          </a:p>
          <a:p>
            <a:pPr marL="355600">
              <a:lnSpc>
                <a:spcPct val="100000"/>
              </a:lnSpc>
            </a:pPr>
            <a:r>
              <a:rPr sz="2400" spc="-10" dirty="0">
                <a:latin typeface="Calibri"/>
                <a:cs typeface="Calibri"/>
              </a:rPr>
              <a:t>performance</a:t>
            </a:r>
            <a:endParaRPr sz="2400" dirty="0">
              <a:latin typeface="Calibri"/>
              <a:cs typeface="Calibri"/>
            </a:endParaRPr>
          </a:p>
        </p:txBody>
      </p:sp>
      <p:pic>
        <p:nvPicPr>
          <p:cNvPr id="4" name="object 4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3052826" y="2209800"/>
            <a:ext cx="3009900" cy="1926009"/>
          </a:xfrm>
          <a:prstGeom prst="rect">
            <a:avLst/>
          </a:prstGeom>
        </p:spPr>
      </p:pic>
      <p:sp>
        <p:nvSpPr>
          <p:cNvPr id="7" name="Rectangle 6">
            <a:extLst>
              <a:ext uri="{FF2B5EF4-FFF2-40B4-BE49-F238E27FC236}">
                <a16:creationId xmlns:a16="http://schemas.microsoft.com/office/drawing/2014/main" id="{2B417FD2-D4BE-41E3-B1B7-82E6EA7ACD71}"/>
              </a:ext>
            </a:extLst>
          </p:cNvPr>
          <p:cNvSpPr/>
          <p:nvPr/>
        </p:nvSpPr>
        <p:spPr>
          <a:xfrm>
            <a:off x="762000" y="1217922"/>
            <a:ext cx="3573158" cy="461665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sz="2400" b="1" dirty="0"/>
              <a:t>Only one process at a time</a:t>
            </a:r>
            <a:endParaRPr lang="en-IN" sz="2400" b="1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xfrm>
            <a:off x="1676715" y="171676"/>
            <a:ext cx="5790565" cy="697230"/>
          </a:xfrm>
          <a:prstGeom prst="rect">
            <a:avLst/>
          </a:prstGeom>
        </p:spPr>
        <p:txBody>
          <a:bodyPr vert="horz" wrap="square" lIns="0" tIns="13335" rIns="0" bIns="0" rtlCol="0">
            <a:spAutoFit/>
          </a:bodyPr>
          <a:lstStyle/>
          <a:p>
            <a:pPr marL="12700" algn="ctr">
              <a:spcBef>
                <a:spcPts val="105"/>
              </a:spcBef>
            </a:pPr>
            <a:r>
              <a:rPr dirty="0"/>
              <a:t>Multiprogramming Mode</a:t>
            </a:r>
          </a:p>
        </p:txBody>
      </p:sp>
      <p:sp>
        <p:nvSpPr>
          <p:cNvPr id="6" name="object 6"/>
          <p:cNvSpPr txBox="1">
            <a:spLocks noGrp="1"/>
          </p:cNvSpPr>
          <p:nvPr>
            <p:ph type="ftr" sz="quarter" idx="5"/>
          </p:nvPr>
        </p:nvSpPr>
        <p:spPr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12700">
              <a:lnSpc>
                <a:spcPts val="1240"/>
              </a:lnSpc>
            </a:pPr>
            <a:r>
              <a:rPr lang="pl-PL"/>
              <a:t>By Dr. Binod Kr. Adhikari</a:t>
            </a:r>
            <a:endParaRPr spc="-10" dirty="0"/>
          </a:p>
        </p:txBody>
      </p:sp>
      <p:sp>
        <p:nvSpPr>
          <p:cNvPr id="3" name="object 3"/>
          <p:cNvSpPr txBox="1"/>
          <p:nvPr/>
        </p:nvSpPr>
        <p:spPr>
          <a:xfrm>
            <a:off x="535940" y="1086485"/>
            <a:ext cx="5387975" cy="1418590"/>
          </a:xfrm>
          <a:prstGeom prst="rect">
            <a:avLst/>
          </a:prstGeom>
        </p:spPr>
        <p:txBody>
          <a:bodyPr vert="horz" wrap="square" lIns="0" tIns="13335" rIns="0" bIns="0" rtlCol="0">
            <a:spAutoFit/>
          </a:bodyPr>
          <a:lstStyle/>
          <a:p>
            <a:pPr marL="2698750">
              <a:lnSpc>
                <a:spcPct val="100000"/>
              </a:lnSpc>
              <a:spcBef>
                <a:spcPts val="105"/>
              </a:spcBef>
            </a:pPr>
            <a:r>
              <a:rPr sz="2000" dirty="0">
                <a:solidFill>
                  <a:srgbClr val="FF0000"/>
                </a:solidFill>
                <a:latin typeface="Calibri"/>
                <a:cs typeface="Calibri"/>
              </a:rPr>
              <a:t>multiple</a:t>
            </a:r>
            <a:r>
              <a:rPr sz="2000" spc="-50" dirty="0">
                <a:solidFill>
                  <a:srgbClr val="FF0000"/>
                </a:solidFill>
                <a:latin typeface="Calibri"/>
                <a:cs typeface="Calibri"/>
              </a:rPr>
              <a:t> </a:t>
            </a:r>
            <a:r>
              <a:rPr sz="2000" dirty="0">
                <a:solidFill>
                  <a:srgbClr val="FF0000"/>
                </a:solidFill>
                <a:latin typeface="Calibri"/>
                <a:cs typeface="Calibri"/>
              </a:rPr>
              <a:t>process</a:t>
            </a:r>
            <a:r>
              <a:rPr sz="2000" spc="-40" dirty="0">
                <a:solidFill>
                  <a:srgbClr val="FF0000"/>
                </a:solidFill>
                <a:latin typeface="Calibri"/>
                <a:cs typeface="Calibri"/>
              </a:rPr>
              <a:t> </a:t>
            </a:r>
            <a:r>
              <a:rPr sz="2000" dirty="0">
                <a:solidFill>
                  <a:srgbClr val="FF0000"/>
                </a:solidFill>
                <a:latin typeface="Calibri"/>
                <a:cs typeface="Calibri"/>
              </a:rPr>
              <a:t>at</a:t>
            </a:r>
            <a:r>
              <a:rPr sz="2000" spc="-50" dirty="0">
                <a:solidFill>
                  <a:srgbClr val="FF0000"/>
                </a:solidFill>
                <a:latin typeface="Calibri"/>
                <a:cs typeface="Calibri"/>
              </a:rPr>
              <a:t> </a:t>
            </a:r>
            <a:r>
              <a:rPr sz="2000" dirty="0">
                <a:solidFill>
                  <a:srgbClr val="FF0000"/>
                </a:solidFill>
                <a:latin typeface="Calibri"/>
                <a:cs typeface="Calibri"/>
              </a:rPr>
              <a:t>a</a:t>
            </a:r>
            <a:r>
              <a:rPr sz="2000" spc="-45" dirty="0">
                <a:solidFill>
                  <a:srgbClr val="FF0000"/>
                </a:solidFill>
                <a:latin typeface="Calibri"/>
                <a:cs typeface="Calibri"/>
              </a:rPr>
              <a:t> </a:t>
            </a:r>
            <a:r>
              <a:rPr sz="2000" spc="-20" dirty="0">
                <a:solidFill>
                  <a:srgbClr val="FF0000"/>
                </a:solidFill>
                <a:latin typeface="Calibri"/>
                <a:cs typeface="Calibri"/>
              </a:rPr>
              <a:t>time</a:t>
            </a:r>
            <a:endParaRPr sz="2000" dirty="0">
              <a:latin typeface="Calibri"/>
              <a:cs typeface="Calibri"/>
            </a:endParaRPr>
          </a:p>
          <a:p>
            <a:pPr marL="354965" indent="-342265">
              <a:lnSpc>
                <a:spcPct val="100000"/>
              </a:lnSpc>
              <a:spcBef>
                <a:spcPts val="2080"/>
              </a:spcBef>
              <a:buFont typeface="Arial"/>
              <a:buChar char="•"/>
              <a:tabLst>
                <a:tab pos="354965" algn="l"/>
              </a:tabLst>
            </a:pPr>
            <a:r>
              <a:rPr sz="1800" dirty="0">
                <a:latin typeface="Calibri"/>
                <a:cs typeface="Calibri"/>
              </a:rPr>
              <a:t>OS</a:t>
            </a:r>
            <a:r>
              <a:rPr sz="1800" spc="-45" dirty="0">
                <a:latin typeface="Calibri"/>
                <a:cs typeface="Calibri"/>
              </a:rPr>
              <a:t> </a:t>
            </a:r>
            <a:r>
              <a:rPr sz="1800" spc="-10" dirty="0">
                <a:latin typeface="Calibri"/>
                <a:cs typeface="Calibri"/>
              </a:rPr>
              <a:t>requirements</a:t>
            </a:r>
            <a:r>
              <a:rPr sz="1800" spc="-30" dirty="0">
                <a:latin typeface="Calibri"/>
                <a:cs typeface="Calibri"/>
              </a:rPr>
              <a:t> </a:t>
            </a:r>
            <a:r>
              <a:rPr sz="1800" dirty="0">
                <a:latin typeface="Calibri"/>
                <a:cs typeface="Calibri"/>
              </a:rPr>
              <a:t>for</a:t>
            </a:r>
            <a:r>
              <a:rPr sz="1800" spc="-25" dirty="0">
                <a:latin typeface="Calibri"/>
                <a:cs typeface="Calibri"/>
              </a:rPr>
              <a:t> </a:t>
            </a:r>
            <a:r>
              <a:rPr sz="1800" spc="-10" dirty="0">
                <a:latin typeface="Calibri"/>
                <a:cs typeface="Calibri"/>
              </a:rPr>
              <a:t>multiprogramming:</a:t>
            </a:r>
            <a:endParaRPr sz="1800" dirty="0">
              <a:latin typeface="Calibri"/>
              <a:cs typeface="Calibri"/>
            </a:endParaRPr>
          </a:p>
          <a:p>
            <a:pPr marL="354965" indent="-342265">
              <a:lnSpc>
                <a:spcPct val="100000"/>
              </a:lnSpc>
              <a:buFont typeface="Arial"/>
              <a:buChar char="•"/>
              <a:tabLst>
                <a:tab pos="354965" algn="l"/>
              </a:tabLst>
            </a:pPr>
            <a:r>
              <a:rPr sz="1800" dirty="0">
                <a:latin typeface="Calibri"/>
                <a:cs typeface="Calibri"/>
              </a:rPr>
              <a:t>Policy:</a:t>
            </a:r>
            <a:r>
              <a:rPr sz="1800" spc="-55" dirty="0">
                <a:latin typeface="Calibri"/>
                <a:cs typeface="Calibri"/>
              </a:rPr>
              <a:t> </a:t>
            </a:r>
            <a:r>
              <a:rPr sz="1800" dirty="0">
                <a:latin typeface="Calibri"/>
                <a:cs typeface="Calibri"/>
              </a:rPr>
              <a:t>to</a:t>
            </a:r>
            <a:r>
              <a:rPr sz="1800" spc="-65" dirty="0">
                <a:latin typeface="Calibri"/>
                <a:cs typeface="Calibri"/>
              </a:rPr>
              <a:t> </a:t>
            </a:r>
            <a:r>
              <a:rPr sz="1800" dirty="0">
                <a:latin typeface="Calibri"/>
                <a:cs typeface="Calibri"/>
              </a:rPr>
              <a:t>determine</a:t>
            </a:r>
            <a:r>
              <a:rPr sz="1800" spc="-35" dirty="0">
                <a:latin typeface="Calibri"/>
                <a:cs typeface="Calibri"/>
              </a:rPr>
              <a:t> </a:t>
            </a:r>
            <a:r>
              <a:rPr sz="1800" dirty="0">
                <a:latin typeface="Calibri"/>
                <a:cs typeface="Calibri"/>
              </a:rPr>
              <a:t>which</a:t>
            </a:r>
            <a:r>
              <a:rPr sz="1800" spc="-35" dirty="0">
                <a:latin typeface="Calibri"/>
                <a:cs typeface="Calibri"/>
              </a:rPr>
              <a:t> </a:t>
            </a:r>
            <a:r>
              <a:rPr sz="1800" dirty="0">
                <a:latin typeface="Calibri"/>
                <a:cs typeface="Calibri"/>
              </a:rPr>
              <a:t>process</a:t>
            </a:r>
            <a:r>
              <a:rPr sz="1800" spc="-70" dirty="0">
                <a:latin typeface="Calibri"/>
                <a:cs typeface="Calibri"/>
              </a:rPr>
              <a:t> </a:t>
            </a:r>
            <a:r>
              <a:rPr sz="1800" dirty="0">
                <a:latin typeface="Calibri"/>
                <a:cs typeface="Calibri"/>
              </a:rPr>
              <a:t>is</a:t>
            </a:r>
            <a:r>
              <a:rPr sz="1800" spc="-55" dirty="0">
                <a:latin typeface="Calibri"/>
                <a:cs typeface="Calibri"/>
              </a:rPr>
              <a:t> </a:t>
            </a:r>
            <a:r>
              <a:rPr sz="1800" dirty="0">
                <a:latin typeface="Calibri"/>
                <a:cs typeface="Calibri"/>
              </a:rPr>
              <a:t>to</a:t>
            </a:r>
            <a:r>
              <a:rPr sz="1800" spc="-50" dirty="0">
                <a:latin typeface="Calibri"/>
                <a:cs typeface="Calibri"/>
              </a:rPr>
              <a:t> </a:t>
            </a:r>
            <a:r>
              <a:rPr sz="1800" spc="-10" dirty="0">
                <a:latin typeface="Calibri"/>
                <a:cs typeface="Calibri"/>
              </a:rPr>
              <a:t>schedule.</a:t>
            </a:r>
            <a:endParaRPr sz="1800" dirty="0">
              <a:latin typeface="Calibri"/>
              <a:cs typeface="Calibri"/>
            </a:endParaRPr>
          </a:p>
          <a:p>
            <a:pPr marL="354965" indent="-342265">
              <a:lnSpc>
                <a:spcPct val="100000"/>
              </a:lnSpc>
              <a:buFont typeface="Arial"/>
              <a:buChar char="•"/>
              <a:tabLst>
                <a:tab pos="354965" algn="l"/>
              </a:tabLst>
            </a:pPr>
            <a:r>
              <a:rPr sz="1800" dirty="0">
                <a:latin typeface="Calibri"/>
                <a:cs typeface="Calibri"/>
              </a:rPr>
              <a:t>Mechanism:</a:t>
            </a:r>
            <a:r>
              <a:rPr sz="1800" spc="-60" dirty="0">
                <a:latin typeface="Calibri"/>
                <a:cs typeface="Calibri"/>
              </a:rPr>
              <a:t> </a:t>
            </a:r>
            <a:r>
              <a:rPr sz="1800" dirty="0">
                <a:latin typeface="Calibri"/>
                <a:cs typeface="Calibri"/>
              </a:rPr>
              <a:t>to</a:t>
            </a:r>
            <a:r>
              <a:rPr sz="1800" spc="-65" dirty="0">
                <a:latin typeface="Calibri"/>
                <a:cs typeface="Calibri"/>
              </a:rPr>
              <a:t> </a:t>
            </a:r>
            <a:r>
              <a:rPr sz="1800" dirty="0">
                <a:latin typeface="Calibri"/>
                <a:cs typeface="Calibri"/>
              </a:rPr>
              <a:t>switch</a:t>
            </a:r>
            <a:r>
              <a:rPr sz="1800" spc="-35" dirty="0">
                <a:latin typeface="Calibri"/>
                <a:cs typeface="Calibri"/>
              </a:rPr>
              <a:t> </a:t>
            </a:r>
            <a:r>
              <a:rPr sz="1800" dirty="0">
                <a:latin typeface="Calibri"/>
                <a:cs typeface="Calibri"/>
              </a:rPr>
              <a:t>between</a:t>
            </a:r>
            <a:r>
              <a:rPr sz="1800" spc="-55" dirty="0">
                <a:latin typeface="Calibri"/>
                <a:cs typeface="Calibri"/>
              </a:rPr>
              <a:t> </a:t>
            </a:r>
            <a:r>
              <a:rPr sz="1800" dirty="0">
                <a:latin typeface="Calibri"/>
                <a:cs typeface="Calibri"/>
              </a:rPr>
              <a:t>the</a:t>
            </a:r>
            <a:r>
              <a:rPr sz="1800" spc="-55" dirty="0">
                <a:latin typeface="Calibri"/>
                <a:cs typeface="Calibri"/>
              </a:rPr>
              <a:t> </a:t>
            </a:r>
            <a:r>
              <a:rPr sz="1800" spc="-10" dirty="0">
                <a:latin typeface="Calibri"/>
                <a:cs typeface="Calibri"/>
              </a:rPr>
              <a:t>processes.</a:t>
            </a:r>
            <a:endParaRPr sz="1800" dirty="0">
              <a:latin typeface="Calibri"/>
              <a:cs typeface="Calibri"/>
            </a:endParaRPr>
          </a:p>
        </p:txBody>
      </p:sp>
      <p:sp>
        <p:nvSpPr>
          <p:cNvPr id="4" name="object 4"/>
          <p:cNvSpPr txBox="1"/>
          <p:nvPr/>
        </p:nvSpPr>
        <p:spPr>
          <a:xfrm>
            <a:off x="535940" y="5136641"/>
            <a:ext cx="6216650" cy="848994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354965" indent="-342265">
              <a:lnSpc>
                <a:spcPct val="100000"/>
              </a:lnSpc>
              <a:spcBef>
                <a:spcPts val="100"/>
              </a:spcBef>
              <a:buFont typeface="Arial"/>
              <a:buChar char="•"/>
              <a:tabLst>
                <a:tab pos="354965" algn="l"/>
              </a:tabLst>
            </a:pPr>
            <a:r>
              <a:rPr sz="1800" spc="-10" dirty="0">
                <a:latin typeface="Calibri"/>
                <a:cs typeface="Calibri"/>
              </a:rPr>
              <a:t>Examples:</a:t>
            </a:r>
            <a:r>
              <a:rPr sz="1800" spc="-35" dirty="0">
                <a:latin typeface="Calibri"/>
                <a:cs typeface="Calibri"/>
              </a:rPr>
              <a:t> </a:t>
            </a:r>
            <a:r>
              <a:rPr sz="1800" dirty="0">
                <a:latin typeface="Calibri"/>
                <a:cs typeface="Calibri"/>
              </a:rPr>
              <a:t>Unix,</a:t>
            </a:r>
            <a:r>
              <a:rPr sz="1800" spc="-10" dirty="0">
                <a:latin typeface="Calibri"/>
                <a:cs typeface="Calibri"/>
              </a:rPr>
              <a:t> WindowsNT</a:t>
            </a:r>
            <a:endParaRPr sz="1800">
              <a:latin typeface="Calibri"/>
              <a:cs typeface="Calibri"/>
            </a:endParaRPr>
          </a:p>
          <a:p>
            <a:pPr marL="354965" indent="-342265">
              <a:lnSpc>
                <a:spcPct val="100000"/>
              </a:lnSpc>
              <a:buFont typeface="Arial"/>
              <a:buChar char="•"/>
              <a:tabLst>
                <a:tab pos="354965" algn="l"/>
              </a:tabLst>
            </a:pPr>
            <a:r>
              <a:rPr sz="1800" spc="-10" dirty="0">
                <a:latin typeface="Calibri"/>
                <a:cs typeface="Calibri"/>
              </a:rPr>
              <a:t>Advantages:</a:t>
            </a:r>
            <a:r>
              <a:rPr sz="1800" spc="-70" dirty="0">
                <a:latin typeface="Calibri"/>
                <a:cs typeface="Calibri"/>
              </a:rPr>
              <a:t> </a:t>
            </a:r>
            <a:r>
              <a:rPr sz="1800" dirty="0">
                <a:latin typeface="Calibri"/>
                <a:cs typeface="Calibri"/>
              </a:rPr>
              <a:t>Better</a:t>
            </a:r>
            <a:r>
              <a:rPr sz="1800" spc="-40" dirty="0">
                <a:latin typeface="Calibri"/>
                <a:cs typeface="Calibri"/>
              </a:rPr>
              <a:t> </a:t>
            </a:r>
            <a:r>
              <a:rPr sz="1800" spc="-10" dirty="0">
                <a:latin typeface="Calibri"/>
                <a:cs typeface="Calibri"/>
              </a:rPr>
              <a:t>system</a:t>
            </a:r>
            <a:r>
              <a:rPr sz="1800" spc="-50" dirty="0">
                <a:latin typeface="Calibri"/>
                <a:cs typeface="Calibri"/>
              </a:rPr>
              <a:t> </a:t>
            </a:r>
            <a:r>
              <a:rPr sz="1800" spc="-10" dirty="0">
                <a:latin typeface="Calibri"/>
                <a:cs typeface="Calibri"/>
              </a:rPr>
              <a:t>performance</a:t>
            </a:r>
            <a:r>
              <a:rPr sz="1800" spc="-30" dirty="0">
                <a:latin typeface="Calibri"/>
                <a:cs typeface="Calibri"/>
              </a:rPr>
              <a:t> </a:t>
            </a:r>
            <a:r>
              <a:rPr sz="1800" dirty="0">
                <a:latin typeface="Calibri"/>
                <a:cs typeface="Calibri"/>
              </a:rPr>
              <a:t>and</a:t>
            </a:r>
            <a:r>
              <a:rPr sz="1800" spc="-30" dirty="0">
                <a:latin typeface="Calibri"/>
                <a:cs typeface="Calibri"/>
              </a:rPr>
              <a:t> </a:t>
            </a:r>
            <a:r>
              <a:rPr sz="1800" dirty="0">
                <a:latin typeface="Calibri"/>
                <a:cs typeface="Calibri"/>
              </a:rPr>
              <a:t>user</a:t>
            </a:r>
            <a:r>
              <a:rPr sz="1800" spc="-40" dirty="0">
                <a:latin typeface="Calibri"/>
                <a:cs typeface="Calibri"/>
              </a:rPr>
              <a:t> </a:t>
            </a:r>
            <a:r>
              <a:rPr sz="1800" spc="-10" dirty="0">
                <a:latin typeface="Calibri"/>
                <a:cs typeface="Calibri"/>
              </a:rPr>
              <a:t>convenience.</a:t>
            </a:r>
            <a:endParaRPr sz="1800">
              <a:latin typeface="Calibri"/>
              <a:cs typeface="Calibri"/>
            </a:endParaRPr>
          </a:p>
          <a:p>
            <a:pPr marL="405765" indent="-393065">
              <a:lnSpc>
                <a:spcPct val="100000"/>
              </a:lnSpc>
              <a:buFont typeface="Arial"/>
              <a:buChar char="•"/>
              <a:tabLst>
                <a:tab pos="405765" algn="l"/>
              </a:tabLst>
            </a:pPr>
            <a:r>
              <a:rPr sz="1800" spc="-10" dirty="0">
                <a:latin typeface="Calibri"/>
                <a:cs typeface="Calibri"/>
              </a:rPr>
              <a:t>Disadvantages:</a:t>
            </a:r>
            <a:r>
              <a:rPr sz="1800" spc="-50" dirty="0">
                <a:latin typeface="Calibri"/>
                <a:cs typeface="Calibri"/>
              </a:rPr>
              <a:t> </a:t>
            </a:r>
            <a:r>
              <a:rPr sz="1800" dirty="0">
                <a:latin typeface="Calibri"/>
                <a:cs typeface="Calibri"/>
              </a:rPr>
              <a:t>Complexity</a:t>
            </a:r>
            <a:r>
              <a:rPr sz="1800" spc="-45" dirty="0">
                <a:latin typeface="Calibri"/>
                <a:cs typeface="Calibri"/>
              </a:rPr>
              <a:t> </a:t>
            </a:r>
            <a:r>
              <a:rPr sz="1800" dirty="0">
                <a:latin typeface="Calibri"/>
                <a:cs typeface="Calibri"/>
              </a:rPr>
              <a:t>in</a:t>
            </a:r>
            <a:r>
              <a:rPr sz="1800" spc="-40" dirty="0">
                <a:latin typeface="Calibri"/>
                <a:cs typeface="Calibri"/>
              </a:rPr>
              <a:t> </a:t>
            </a:r>
            <a:r>
              <a:rPr sz="1800" spc="-25" dirty="0">
                <a:latin typeface="Calibri"/>
                <a:cs typeface="Calibri"/>
              </a:rPr>
              <a:t>OS</a:t>
            </a:r>
            <a:endParaRPr sz="1800">
              <a:latin typeface="Calibri"/>
              <a:cs typeface="Calibri"/>
            </a:endParaRPr>
          </a:p>
        </p:txBody>
      </p:sp>
      <p:pic>
        <p:nvPicPr>
          <p:cNvPr id="5" name="object 5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1521207" y="2657475"/>
            <a:ext cx="5565393" cy="2219325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xfrm>
            <a:off x="1143000" y="147626"/>
            <a:ext cx="7197598" cy="690574"/>
          </a:xfrm>
          <a:prstGeom prst="rect">
            <a:avLst/>
          </a:prstGeom>
        </p:spPr>
        <p:txBody>
          <a:bodyPr vert="horz" wrap="square" lIns="0" tIns="13335" rIns="0" bIns="0" rtlCol="0">
            <a:spAutoFit/>
          </a:bodyPr>
          <a:lstStyle/>
          <a:p>
            <a:pPr marL="12700" algn="ctr">
              <a:spcBef>
                <a:spcPts val="105"/>
              </a:spcBef>
            </a:pPr>
            <a:r>
              <a:rPr dirty="0"/>
              <a:t>Multiprocessing Model</a:t>
            </a:r>
          </a:p>
        </p:txBody>
      </p:sp>
      <p:sp>
        <p:nvSpPr>
          <p:cNvPr id="5" name="object 5"/>
          <p:cNvSpPr txBox="1">
            <a:spLocks noGrp="1"/>
          </p:cNvSpPr>
          <p:nvPr>
            <p:ph type="ftr" sz="quarter" idx="5"/>
          </p:nvPr>
        </p:nvSpPr>
        <p:spPr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12700">
              <a:lnSpc>
                <a:spcPts val="1240"/>
              </a:lnSpc>
            </a:pPr>
            <a:r>
              <a:rPr lang="pl-PL"/>
              <a:t>By Dr. Binod Kr. Adhikari</a:t>
            </a:r>
            <a:endParaRPr spc="-10" dirty="0"/>
          </a:p>
        </p:txBody>
      </p:sp>
      <p:sp>
        <p:nvSpPr>
          <p:cNvPr id="3" name="object 3"/>
          <p:cNvSpPr txBox="1"/>
          <p:nvPr/>
        </p:nvSpPr>
        <p:spPr>
          <a:xfrm>
            <a:off x="535940" y="1771650"/>
            <a:ext cx="5543550" cy="514350"/>
          </a:xfrm>
          <a:prstGeom prst="rect">
            <a:avLst/>
          </a:prstGeom>
        </p:spPr>
        <p:txBody>
          <a:bodyPr vert="horz" wrap="square" lIns="0" tIns="13335" rIns="0" bIns="0" rtlCol="0">
            <a:spAutoFit/>
          </a:bodyPr>
          <a:lstStyle/>
          <a:p>
            <a:pPr marL="354965" indent="-342265">
              <a:lnSpc>
                <a:spcPct val="100000"/>
              </a:lnSpc>
              <a:spcBef>
                <a:spcPts val="105"/>
              </a:spcBef>
              <a:buFont typeface="Arial"/>
              <a:buChar char="•"/>
              <a:tabLst>
                <a:tab pos="354965" algn="l"/>
              </a:tabLst>
            </a:pPr>
            <a:r>
              <a:rPr sz="3200" dirty="0">
                <a:latin typeface="Calibri"/>
                <a:cs typeface="Calibri"/>
              </a:rPr>
              <a:t>Distributed</a:t>
            </a:r>
            <a:r>
              <a:rPr sz="3200" spc="-70" dirty="0">
                <a:latin typeface="Calibri"/>
                <a:cs typeface="Calibri"/>
              </a:rPr>
              <a:t> </a:t>
            </a:r>
            <a:r>
              <a:rPr sz="3200" dirty="0">
                <a:latin typeface="Calibri"/>
                <a:cs typeface="Calibri"/>
              </a:rPr>
              <a:t>OS</a:t>
            </a:r>
            <a:r>
              <a:rPr sz="3200" spc="-80" dirty="0">
                <a:latin typeface="Calibri"/>
                <a:cs typeface="Calibri"/>
              </a:rPr>
              <a:t> </a:t>
            </a:r>
            <a:r>
              <a:rPr sz="3200" dirty="0">
                <a:latin typeface="Calibri"/>
                <a:cs typeface="Calibri"/>
              </a:rPr>
              <a:t>and</a:t>
            </a:r>
            <a:r>
              <a:rPr sz="3200" spc="-80" dirty="0">
                <a:latin typeface="Calibri"/>
                <a:cs typeface="Calibri"/>
              </a:rPr>
              <a:t> </a:t>
            </a:r>
            <a:r>
              <a:rPr sz="3200" dirty="0">
                <a:latin typeface="Calibri"/>
                <a:cs typeface="Calibri"/>
              </a:rPr>
              <a:t>Network</a:t>
            </a:r>
            <a:r>
              <a:rPr sz="3200" spc="-105" dirty="0">
                <a:latin typeface="Calibri"/>
                <a:cs typeface="Calibri"/>
              </a:rPr>
              <a:t> </a:t>
            </a:r>
            <a:r>
              <a:rPr sz="3200" spc="-25" dirty="0">
                <a:latin typeface="Calibri"/>
                <a:cs typeface="Calibri"/>
              </a:rPr>
              <a:t>OS</a:t>
            </a:r>
            <a:endParaRPr sz="3200" dirty="0">
              <a:latin typeface="Calibri"/>
              <a:cs typeface="Calibri"/>
            </a:endParaRPr>
          </a:p>
        </p:txBody>
      </p:sp>
      <p:pic>
        <p:nvPicPr>
          <p:cNvPr id="4" name="object 4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2867024" y="2828925"/>
            <a:ext cx="3914775" cy="1907084"/>
          </a:xfrm>
          <a:prstGeom prst="rect">
            <a:avLst/>
          </a:prstGeom>
        </p:spPr>
      </p:pic>
      <p:sp>
        <p:nvSpPr>
          <p:cNvPr id="7" name="Rectangle 6">
            <a:extLst>
              <a:ext uri="{FF2B5EF4-FFF2-40B4-BE49-F238E27FC236}">
                <a16:creationId xmlns:a16="http://schemas.microsoft.com/office/drawing/2014/main" id="{457EB6B0-1237-4B15-BA5A-62FDA118377B}"/>
              </a:ext>
            </a:extLst>
          </p:cNvPr>
          <p:cNvSpPr/>
          <p:nvPr/>
        </p:nvSpPr>
        <p:spPr>
          <a:xfrm>
            <a:off x="2209800" y="1069510"/>
            <a:ext cx="3146567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IN" b="1" spc="-10" dirty="0">
                <a:solidFill>
                  <a:srgbClr val="FF0000"/>
                </a:solidFill>
                <a:cs typeface="Calibri"/>
              </a:rPr>
              <a:t>System</a:t>
            </a:r>
            <a:r>
              <a:rPr lang="en-IN" b="1" spc="-40" dirty="0">
                <a:solidFill>
                  <a:srgbClr val="FF0000"/>
                </a:solidFill>
                <a:cs typeface="Calibri"/>
              </a:rPr>
              <a:t> </a:t>
            </a:r>
            <a:r>
              <a:rPr lang="en-IN" b="1" dirty="0">
                <a:solidFill>
                  <a:srgbClr val="FF0000"/>
                </a:solidFill>
                <a:cs typeface="Calibri"/>
              </a:rPr>
              <a:t>with</a:t>
            </a:r>
            <a:r>
              <a:rPr lang="en-IN" b="1" spc="-30" dirty="0">
                <a:solidFill>
                  <a:srgbClr val="FF0000"/>
                </a:solidFill>
                <a:cs typeface="Calibri"/>
              </a:rPr>
              <a:t> </a:t>
            </a:r>
            <a:r>
              <a:rPr lang="en-IN" b="1" dirty="0">
                <a:solidFill>
                  <a:srgbClr val="FF0000"/>
                </a:solidFill>
                <a:cs typeface="Calibri"/>
              </a:rPr>
              <a:t>multiple</a:t>
            </a:r>
            <a:r>
              <a:rPr lang="en-IN" b="1" spc="-45" dirty="0">
                <a:solidFill>
                  <a:srgbClr val="FF0000"/>
                </a:solidFill>
                <a:cs typeface="Calibri"/>
              </a:rPr>
              <a:t> </a:t>
            </a:r>
            <a:r>
              <a:rPr lang="en-IN" b="1" spc="-10" dirty="0">
                <a:solidFill>
                  <a:srgbClr val="FF0000"/>
                </a:solidFill>
                <a:cs typeface="Calibri"/>
              </a:rPr>
              <a:t>processor</a:t>
            </a:r>
            <a:endParaRPr lang="en-IN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/>
          <p:nvPr/>
        </p:nvSpPr>
        <p:spPr>
          <a:xfrm>
            <a:off x="1980945" y="5154676"/>
            <a:ext cx="917575" cy="228600"/>
          </a:xfrm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>
              <a:lnSpc>
                <a:spcPts val="1710"/>
              </a:lnSpc>
            </a:pPr>
            <a:r>
              <a:rPr sz="1800" dirty="0">
                <a:latin typeface="Calibri"/>
                <a:cs typeface="Calibri"/>
              </a:rPr>
              <a:t>Figure</a:t>
            </a:r>
            <a:r>
              <a:rPr sz="1800" spc="-75" dirty="0">
                <a:latin typeface="Calibri"/>
                <a:cs typeface="Calibri"/>
              </a:rPr>
              <a:t> </a:t>
            </a:r>
            <a:r>
              <a:rPr sz="1800" spc="-25" dirty="0">
                <a:latin typeface="Calibri"/>
                <a:cs typeface="Calibri"/>
              </a:rPr>
              <a:t>3.2</a:t>
            </a:r>
            <a:endParaRPr sz="1800">
              <a:latin typeface="Calibri"/>
              <a:cs typeface="Calibri"/>
            </a:endParaRPr>
          </a:p>
        </p:txBody>
      </p:sp>
      <p:pic>
        <p:nvPicPr>
          <p:cNvPr id="3" name="object 3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546273" y="1905000"/>
            <a:ext cx="7878019" cy="3612791"/>
          </a:xfrm>
          <a:prstGeom prst="rect">
            <a:avLst/>
          </a:prstGeom>
        </p:spPr>
      </p:pic>
      <p:sp>
        <p:nvSpPr>
          <p:cNvPr id="4" name="object 4"/>
          <p:cNvSpPr txBox="1">
            <a:spLocks noGrp="1"/>
          </p:cNvSpPr>
          <p:nvPr>
            <p:ph type="title"/>
          </p:nvPr>
        </p:nvSpPr>
        <p:spPr>
          <a:xfrm>
            <a:off x="1295400" y="152400"/>
            <a:ext cx="6934200" cy="697230"/>
          </a:xfrm>
          <a:prstGeom prst="rect">
            <a:avLst/>
          </a:prstGeom>
        </p:spPr>
        <p:txBody>
          <a:bodyPr vert="horz" wrap="square" lIns="0" tIns="13335" rIns="0" bIns="0" rtlCol="0">
            <a:spAutoFit/>
          </a:bodyPr>
          <a:lstStyle/>
          <a:p>
            <a:pPr marL="12700" algn="ctr">
              <a:spcBef>
                <a:spcPts val="105"/>
              </a:spcBef>
            </a:pPr>
            <a:r>
              <a:rPr dirty="0"/>
              <a:t>Process States diagram</a:t>
            </a:r>
          </a:p>
        </p:txBody>
      </p:sp>
      <p:sp>
        <p:nvSpPr>
          <p:cNvPr id="5" name="object 5"/>
          <p:cNvSpPr txBox="1">
            <a:spLocks noGrp="1"/>
          </p:cNvSpPr>
          <p:nvPr>
            <p:ph type="ftr" sz="quarter" idx="5"/>
          </p:nvPr>
        </p:nvSpPr>
        <p:spPr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12700">
              <a:lnSpc>
                <a:spcPts val="1240"/>
              </a:lnSpc>
            </a:pPr>
            <a:r>
              <a:rPr lang="pl-PL"/>
              <a:t>By Dr. Binod Kr. Adhikari</a:t>
            </a:r>
            <a:endParaRPr spc="-1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xfrm>
            <a:off x="2942588" y="161208"/>
            <a:ext cx="3258820" cy="697230"/>
          </a:xfrm>
          <a:prstGeom prst="rect">
            <a:avLst/>
          </a:prstGeom>
        </p:spPr>
        <p:txBody>
          <a:bodyPr vert="horz" wrap="square" lIns="0" tIns="13335" rIns="0" bIns="0" rtlCol="0">
            <a:spAutoFit/>
          </a:bodyPr>
          <a:lstStyle/>
          <a:p>
            <a:pPr marL="12700" algn="ctr">
              <a:spcBef>
                <a:spcPts val="105"/>
              </a:spcBef>
            </a:pPr>
            <a:r>
              <a:rPr dirty="0"/>
              <a:t>Process States</a:t>
            </a:r>
          </a:p>
        </p:txBody>
      </p:sp>
      <p:sp>
        <p:nvSpPr>
          <p:cNvPr id="4" name="object 4"/>
          <p:cNvSpPr txBox="1">
            <a:spLocks noGrp="1"/>
          </p:cNvSpPr>
          <p:nvPr>
            <p:ph type="ftr" sz="quarter" idx="5"/>
          </p:nvPr>
        </p:nvSpPr>
        <p:spPr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12700">
              <a:lnSpc>
                <a:spcPts val="1240"/>
              </a:lnSpc>
            </a:pPr>
            <a:r>
              <a:rPr lang="pl-PL"/>
              <a:t>By Dr. Binod Kr. Adhikari</a:t>
            </a:r>
            <a:endParaRPr spc="-10" dirty="0"/>
          </a:p>
        </p:txBody>
      </p:sp>
      <p:sp>
        <p:nvSpPr>
          <p:cNvPr id="3" name="object 3"/>
          <p:cNvSpPr txBox="1"/>
          <p:nvPr/>
        </p:nvSpPr>
        <p:spPr>
          <a:xfrm>
            <a:off x="535940" y="1510703"/>
            <a:ext cx="7918450" cy="2952750"/>
          </a:xfrm>
          <a:prstGeom prst="rect">
            <a:avLst/>
          </a:prstGeom>
        </p:spPr>
        <p:txBody>
          <a:bodyPr vert="horz" wrap="square" lIns="0" tIns="110490" rIns="0" bIns="0" rtlCol="0">
            <a:spAutoFit/>
          </a:bodyPr>
          <a:lstStyle/>
          <a:p>
            <a:pPr marL="354965" indent="-342265">
              <a:lnSpc>
                <a:spcPct val="100000"/>
              </a:lnSpc>
              <a:spcBef>
                <a:spcPts val="870"/>
              </a:spcBef>
              <a:buFont typeface="Arial"/>
              <a:buChar char="•"/>
              <a:tabLst>
                <a:tab pos="354965" algn="l"/>
              </a:tabLst>
            </a:pPr>
            <a:r>
              <a:rPr sz="3200" dirty="0">
                <a:latin typeface="Calibri"/>
                <a:cs typeface="Calibri"/>
              </a:rPr>
              <a:t>New</a:t>
            </a:r>
            <a:r>
              <a:rPr sz="3200" spc="-60" dirty="0">
                <a:latin typeface="Calibri"/>
                <a:cs typeface="Calibri"/>
              </a:rPr>
              <a:t> </a:t>
            </a:r>
            <a:r>
              <a:rPr sz="3200" dirty="0">
                <a:latin typeface="Calibri"/>
                <a:cs typeface="Calibri"/>
              </a:rPr>
              <a:t>-</a:t>
            </a:r>
            <a:r>
              <a:rPr sz="3200" spc="-35" dirty="0">
                <a:latin typeface="Calibri"/>
                <a:cs typeface="Calibri"/>
              </a:rPr>
              <a:t> </a:t>
            </a:r>
            <a:r>
              <a:rPr sz="3200" dirty="0">
                <a:latin typeface="Calibri"/>
                <a:cs typeface="Calibri"/>
              </a:rPr>
              <a:t>The</a:t>
            </a:r>
            <a:r>
              <a:rPr sz="3200" spc="-40" dirty="0">
                <a:latin typeface="Calibri"/>
                <a:cs typeface="Calibri"/>
              </a:rPr>
              <a:t> </a:t>
            </a:r>
            <a:r>
              <a:rPr sz="3200" dirty="0">
                <a:latin typeface="Calibri"/>
                <a:cs typeface="Calibri"/>
              </a:rPr>
              <a:t>process</a:t>
            </a:r>
            <a:r>
              <a:rPr sz="3200" spc="-50" dirty="0">
                <a:latin typeface="Calibri"/>
                <a:cs typeface="Calibri"/>
              </a:rPr>
              <a:t> </a:t>
            </a:r>
            <a:r>
              <a:rPr sz="3200" dirty="0">
                <a:latin typeface="Calibri"/>
                <a:cs typeface="Calibri"/>
              </a:rPr>
              <a:t>is</a:t>
            </a:r>
            <a:r>
              <a:rPr sz="3200" spc="-40" dirty="0">
                <a:latin typeface="Calibri"/>
                <a:cs typeface="Calibri"/>
              </a:rPr>
              <a:t> </a:t>
            </a:r>
            <a:r>
              <a:rPr sz="3200" dirty="0">
                <a:latin typeface="Calibri"/>
                <a:cs typeface="Calibri"/>
              </a:rPr>
              <a:t>being</a:t>
            </a:r>
            <a:r>
              <a:rPr sz="3200" spc="-15" dirty="0">
                <a:latin typeface="Calibri"/>
                <a:cs typeface="Calibri"/>
              </a:rPr>
              <a:t> </a:t>
            </a:r>
            <a:r>
              <a:rPr sz="3200" spc="-10" dirty="0">
                <a:latin typeface="Calibri"/>
                <a:cs typeface="Calibri"/>
              </a:rPr>
              <a:t>created.</a:t>
            </a:r>
            <a:endParaRPr sz="3200">
              <a:latin typeface="Calibri"/>
              <a:cs typeface="Calibri"/>
            </a:endParaRPr>
          </a:p>
          <a:p>
            <a:pPr marL="354965" indent="-342265">
              <a:lnSpc>
                <a:spcPct val="100000"/>
              </a:lnSpc>
              <a:spcBef>
                <a:spcPts val="765"/>
              </a:spcBef>
              <a:buFont typeface="Arial"/>
              <a:buChar char="•"/>
              <a:tabLst>
                <a:tab pos="354965" algn="l"/>
              </a:tabLst>
            </a:pPr>
            <a:r>
              <a:rPr sz="3200" dirty="0">
                <a:latin typeface="Calibri"/>
                <a:cs typeface="Calibri"/>
              </a:rPr>
              <a:t>Running</a:t>
            </a:r>
            <a:r>
              <a:rPr sz="3200" spc="-75" dirty="0">
                <a:latin typeface="Calibri"/>
                <a:cs typeface="Calibri"/>
              </a:rPr>
              <a:t> </a:t>
            </a:r>
            <a:r>
              <a:rPr sz="3200" dirty="0">
                <a:latin typeface="Calibri"/>
                <a:cs typeface="Calibri"/>
              </a:rPr>
              <a:t>-</a:t>
            </a:r>
            <a:r>
              <a:rPr sz="3200" spc="-90" dirty="0">
                <a:latin typeface="Calibri"/>
                <a:cs typeface="Calibri"/>
              </a:rPr>
              <a:t> </a:t>
            </a:r>
            <a:r>
              <a:rPr sz="3200" dirty="0">
                <a:latin typeface="Calibri"/>
                <a:cs typeface="Calibri"/>
              </a:rPr>
              <a:t>Instructions</a:t>
            </a:r>
            <a:r>
              <a:rPr sz="3200" spc="-60" dirty="0">
                <a:latin typeface="Calibri"/>
                <a:cs typeface="Calibri"/>
              </a:rPr>
              <a:t> </a:t>
            </a:r>
            <a:r>
              <a:rPr sz="3200" dirty="0">
                <a:latin typeface="Calibri"/>
                <a:cs typeface="Calibri"/>
              </a:rPr>
              <a:t>are</a:t>
            </a:r>
            <a:r>
              <a:rPr sz="3200" spc="-95" dirty="0">
                <a:latin typeface="Calibri"/>
                <a:cs typeface="Calibri"/>
              </a:rPr>
              <a:t> </a:t>
            </a:r>
            <a:r>
              <a:rPr sz="3200" dirty="0">
                <a:latin typeface="Calibri"/>
                <a:cs typeface="Calibri"/>
              </a:rPr>
              <a:t>being</a:t>
            </a:r>
            <a:r>
              <a:rPr sz="3200" spc="-85" dirty="0">
                <a:latin typeface="Calibri"/>
                <a:cs typeface="Calibri"/>
              </a:rPr>
              <a:t> </a:t>
            </a:r>
            <a:r>
              <a:rPr sz="3200" spc="-10" dirty="0">
                <a:latin typeface="Calibri"/>
                <a:cs typeface="Calibri"/>
              </a:rPr>
              <a:t>executed.</a:t>
            </a:r>
            <a:endParaRPr sz="3200">
              <a:latin typeface="Calibri"/>
              <a:cs typeface="Calibri"/>
            </a:endParaRPr>
          </a:p>
          <a:p>
            <a:pPr marL="354965" indent="-342265">
              <a:lnSpc>
                <a:spcPct val="100000"/>
              </a:lnSpc>
              <a:spcBef>
                <a:spcPts val="770"/>
              </a:spcBef>
              <a:buFont typeface="Arial"/>
              <a:buChar char="•"/>
              <a:tabLst>
                <a:tab pos="354965" algn="l"/>
              </a:tabLst>
            </a:pPr>
            <a:r>
              <a:rPr sz="3200" spc="-10" dirty="0">
                <a:latin typeface="Calibri"/>
                <a:cs typeface="Calibri"/>
              </a:rPr>
              <a:t>Waiting</a:t>
            </a:r>
            <a:r>
              <a:rPr sz="3200" spc="-70" dirty="0">
                <a:latin typeface="Calibri"/>
                <a:cs typeface="Calibri"/>
              </a:rPr>
              <a:t> </a:t>
            </a:r>
            <a:r>
              <a:rPr sz="3200" dirty="0">
                <a:latin typeface="Calibri"/>
                <a:cs typeface="Calibri"/>
              </a:rPr>
              <a:t>-</a:t>
            </a:r>
            <a:r>
              <a:rPr sz="3200" spc="-80" dirty="0">
                <a:latin typeface="Calibri"/>
                <a:cs typeface="Calibri"/>
              </a:rPr>
              <a:t> </a:t>
            </a:r>
            <a:r>
              <a:rPr sz="3200" spc="-10" dirty="0">
                <a:latin typeface="Calibri"/>
                <a:cs typeface="Calibri"/>
              </a:rPr>
              <a:t>Waiting</a:t>
            </a:r>
            <a:r>
              <a:rPr sz="3200" spc="-65" dirty="0">
                <a:latin typeface="Calibri"/>
                <a:cs typeface="Calibri"/>
              </a:rPr>
              <a:t> </a:t>
            </a:r>
            <a:r>
              <a:rPr sz="3200" dirty="0">
                <a:latin typeface="Calibri"/>
                <a:cs typeface="Calibri"/>
              </a:rPr>
              <a:t>for</a:t>
            </a:r>
            <a:r>
              <a:rPr sz="3200" spc="-75" dirty="0">
                <a:latin typeface="Calibri"/>
                <a:cs typeface="Calibri"/>
              </a:rPr>
              <a:t> </a:t>
            </a:r>
            <a:r>
              <a:rPr sz="3200" dirty="0">
                <a:latin typeface="Calibri"/>
                <a:cs typeface="Calibri"/>
              </a:rPr>
              <a:t>some</a:t>
            </a:r>
            <a:r>
              <a:rPr sz="3200" spc="-75" dirty="0">
                <a:latin typeface="Calibri"/>
                <a:cs typeface="Calibri"/>
              </a:rPr>
              <a:t> </a:t>
            </a:r>
            <a:r>
              <a:rPr sz="3200" dirty="0">
                <a:latin typeface="Calibri"/>
                <a:cs typeface="Calibri"/>
              </a:rPr>
              <a:t>event</a:t>
            </a:r>
            <a:r>
              <a:rPr sz="3200" spc="-80" dirty="0">
                <a:latin typeface="Calibri"/>
                <a:cs typeface="Calibri"/>
              </a:rPr>
              <a:t> </a:t>
            </a:r>
            <a:r>
              <a:rPr sz="3200" dirty="0">
                <a:latin typeface="Calibri"/>
                <a:cs typeface="Calibri"/>
              </a:rPr>
              <a:t>to</a:t>
            </a:r>
            <a:r>
              <a:rPr sz="3200" spc="-75" dirty="0">
                <a:latin typeface="Calibri"/>
                <a:cs typeface="Calibri"/>
              </a:rPr>
              <a:t> </a:t>
            </a:r>
            <a:r>
              <a:rPr sz="3200" spc="-10" dirty="0">
                <a:latin typeface="Calibri"/>
                <a:cs typeface="Calibri"/>
              </a:rPr>
              <a:t>occur.</a:t>
            </a:r>
            <a:endParaRPr sz="3200">
              <a:latin typeface="Calibri"/>
              <a:cs typeface="Calibri"/>
            </a:endParaRPr>
          </a:p>
          <a:p>
            <a:pPr marL="354965" indent="-342265">
              <a:lnSpc>
                <a:spcPct val="100000"/>
              </a:lnSpc>
              <a:spcBef>
                <a:spcPts val="770"/>
              </a:spcBef>
              <a:buFont typeface="Arial"/>
              <a:buChar char="•"/>
              <a:tabLst>
                <a:tab pos="354965" algn="l"/>
              </a:tabLst>
            </a:pPr>
            <a:r>
              <a:rPr sz="3200" dirty="0">
                <a:latin typeface="Calibri"/>
                <a:cs typeface="Calibri"/>
              </a:rPr>
              <a:t>Ready</a:t>
            </a:r>
            <a:r>
              <a:rPr sz="3200" spc="-80" dirty="0">
                <a:latin typeface="Calibri"/>
                <a:cs typeface="Calibri"/>
              </a:rPr>
              <a:t> </a:t>
            </a:r>
            <a:r>
              <a:rPr sz="3200" dirty="0">
                <a:latin typeface="Calibri"/>
                <a:cs typeface="Calibri"/>
              </a:rPr>
              <a:t>-</a:t>
            </a:r>
            <a:r>
              <a:rPr sz="3200" spc="-65" dirty="0">
                <a:latin typeface="Calibri"/>
                <a:cs typeface="Calibri"/>
              </a:rPr>
              <a:t> </a:t>
            </a:r>
            <a:r>
              <a:rPr sz="3200" dirty="0">
                <a:latin typeface="Calibri"/>
                <a:cs typeface="Calibri"/>
              </a:rPr>
              <a:t>Waiting</a:t>
            </a:r>
            <a:r>
              <a:rPr sz="3200" spc="-50" dirty="0">
                <a:latin typeface="Calibri"/>
                <a:cs typeface="Calibri"/>
              </a:rPr>
              <a:t> </a:t>
            </a:r>
            <a:r>
              <a:rPr sz="3200" dirty="0">
                <a:latin typeface="Calibri"/>
                <a:cs typeface="Calibri"/>
              </a:rPr>
              <a:t>to</a:t>
            </a:r>
            <a:r>
              <a:rPr sz="3200" spc="-60" dirty="0">
                <a:latin typeface="Calibri"/>
                <a:cs typeface="Calibri"/>
              </a:rPr>
              <a:t> </a:t>
            </a:r>
            <a:r>
              <a:rPr sz="3200" dirty="0">
                <a:latin typeface="Calibri"/>
                <a:cs typeface="Calibri"/>
              </a:rPr>
              <a:t>be</a:t>
            </a:r>
            <a:r>
              <a:rPr sz="3200" spc="-60" dirty="0">
                <a:latin typeface="Calibri"/>
                <a:cs typeface="Calibri"/>
              </a:rPr>
              <a:t> </a:t>
            </a:r>
            <a:r>
              <a:rPr sz="3200" dirty="0">
                <a:latin typeface="Calibri"/>
                <a:cs typeface="Calibri"/>
              </a:rPr>
              <a:t>assigned</a:t>
            </a:r>
            <a:r>
              <a:rPr sz="3200" spc="-60" dirty="0">
                <a:latin typeface="Calibri"/>
                <a:cs typeface="Calibri"/>
              </a:rPr>
              <a:t> </a:t>
            </a:r>
            <a:r>
              <a:rPr sz="3200" dirty="0">
                <a:latin typeface="Calibri"/>
                <a:cs typeface="Calibri"/>
              </a:rPr>
              <a:t>to</a:t>
            </a:r>
            <a:r>
              <a:rPr sz="3200" spc="-55" dirty="0">
                <a:latin typeface="Calibri"/>
                <a:cs typeface="Calibri"/>
              </a:rPr>
              <a:t> </a:t>
            </a:r>
            <a:r>
              <a:rPr sz="3200" dirty="0">
                <a:latin typeface="Calibri"/>
                <a:cs typeface="Calibri"/>
              </a:rPr>
              <a:t>a</a:t>
            </a:r>
            <a:r>
              <a:rPr sz="3200" spc="-65" dirty="0">
                <a:latin typeface="Calibri"/>
                <a:cs typeface="Calibri"/>
              </a:rPr>
              <a:t> </a:t>
            </a:r>
            <a:r>
              <a:rPr sz="3200" spc="-10" dirty="0">
                <a:latin typeface="Calibri"/>
                <a:cs typeface="Calibri"/>
              </a:rPr>
              <a:t>processor.</a:t>
            </a:r>
            <a:endParaRPr sz="3200">
              <a:latin typeface="Calibri"/>
              <a:cs typeface="Calibri"/>
            </a:endParaRPr>
          </a:p>
          <a:p>
            <a:pPr marL="354965" indent="-342265">
              <a:lnSpc>
                <a:spcPct val="100000"/>
              </a:lnSpc>
              <a:spcBef>
                <a:spcPts val="770"/>
              </a:spcBef>
              <a:buFont typeface="Arial"/>
              <a:buChar char="•"/>
              <a:tabLst>
                <a:tab pos="354965" algn="l"/>
              </a:tabLst>
            </a:pPr>
            <a:r>
              <a:rPr sz="3200" spc="-35" dirty="0">
                <a:latin typeface="Calibri"/>
                <a:cs typeface="Calibri"/>
              </a:rPr>
              <a:t>Terminated</a:t>
            </a:r>
            <a:r>
              <a:rPr sz="3200" spc="-70" dirty="0">
                <a:latin typeface="Calibri"/>
                <a:cs typeface="Calibri"/>
              </a:rPr>
              <a:t> </a:t>
            </a:r>
            <a:r>
              <a:rPr sz="3200" dirty="0">
                <a:latin typeface="Calibri"/>
                <a:cs typeface="Calibri"/>
              </a:rPr>
              <a:t>-</a:t>
            </a:r>
            <a:r>
              <a:rPr sz="3200" spc="-70" dirty="0">
                <a:latin typeface="Calibri"/>
                <a:cs typeface="Calibri"/>
              </a:rPr>
              <a:t> </a:t>
            </a:r>
            <a:r>
              <a:rPr sz="3200" dirty="0">
                <a:latin typeface="Calibri"/>
                <a:cs typeface="Calibri"/>
              </a:rPr>
              <a:t>Process</a:t>
            </a:r>
            <a:r>
              <a:rPr sz="3200" spc="-100" dirty="0">
                <a:latin typeface="Calibri"/>
                <a:cs typeface="Calibri"/>
              </a:rPr>
              <a:t> </a:t>
            </a:r>
            <a:r>
              <a:rPr sz="3200" dirty="0">
                <a:latin typeface="Calibri"/>
                <a:cs typeface="Calibri"/>
              </a:rPr>
              <a:t>has</a:t>
            </a:r>
            <a:r>
              <a:rPr sz="3200" spc="-70" dirty="0">
                <a:latin typeface="Calibri"/>
                <a:cs typeface="Calibri"/>
              </a:rPr>
              <a:t> </a:t>
            </a:r>
            <a:r>
              <a:rPr sz="3200" dirty="0">
                <a:latin typeface="Calibri"/>
                <a:cs typeface="Calibri"/>
              </a:rPr>
              <a:t>finished</a:t>
            </a:r>
            <a:r>
              <a:rPr sz="3200" spc="-50" dirty="0">
                <a:latin typeface="Calibri"/>
                <a:cs typeface="Calibri"/>
              </a:rPr>
              <a:t> </a:t>
            </a:r>
            <a:r>
              <a:rPr sz="3200" spc="-10" dirty="0">
                <a:latin typeface="Calibri"/>
                <a:cs typeface="Calibri"/>
              </a:rPr>
              <a:t>execution.</a:t>
            </a:r>
            <a:endParaRPr sz="3200">
              <a:latin typeface="Calibri"/>
              <a:cs typeface="Calibri"/>
            </a:endParaRP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xfrm>
            <a:off x="1066800" y="228600"/>
            <a:ext cx="7340091" cy="697230"/>
          </a:xfrm>
          <a:prstGeom prst="rect">
            <a:avLst/>
          </a:prstGeom>
        </p:spPr>
        <p:txBody>
          <a:bodyPr vert="horz" wrap="square" lIns="0" tIns="13335" rIns="0" bIns="0" rtlCol="0">
            <a:spAutoFit/>
          </a:bodyPr>
          <a:lstStyle/>
          <a:p>
            <a:pPr marL="12700" algn="ctr">
              <a:spcBef>
                <a:spcPts val="105"/>
              </a:spcBef>
            </a:pPr>
            <a:r>
              <a:rPr dirty="0"/>
              <a:t>Process Control Block</a:t>
            </a:r>
          </a:p>
        </p:txBody>
      </p:sp>
      <p:sp>
        <p:nvSpPr>
          <p:cNvPr id="3" name="object 3"/>
          <p:cNvSpPr txBox="1">
            <a:spLocks noGrp="1"/>
          </p:cNvSpPr>
          <p:nvPr>
            <p:ph type="body" idx="1"/>
          </p:nvPr>
        </p:nvSpPr>
        <p:spPr>
          <a:xfrm>
            <a:off x="737108" y="1295400"/>
            <a:ext cx="7669783" cy="4428392"/>
          </a:xfrm>
          <a:prstGeom prst="rect">
            <a:avLst/>
          </a:prstGeom>
        </p:spPr>
        <p:txBody>
          <a:bodyPr vert="horz" wrap="square" lIns="0" tIns="78740" rIns="0" bIns="0" rtlCol="0">
            <a:spAutoFit/>
          </a:bodyPr>
          <a:lstStyle/>
          <a:p>
            <a:pPr marL="355600" marR="6350" indent="-342900" algn="just">
              <a:lnSpc>
                <a:spcPct val="80100"/>
              </a:lnSpc>
              <a:spcBef>
                <a:spcPts val="620"/>
              </a:spcBef>
              <a:buFont typeface="Arial"/>
              <a:buChar char="•"/>
              <a:tabLst>
                <a:tab pos="355600" algn="l"/>
              </a:tabLst>
            </a:pPr>
            <a:r>
              <a:rPr sz="2200" dirty="0"/>
              <a:t>Process</a:t>
            </a:r>
            <a:r>
              <a:rPr sz="2200" spc="-30" dirty="0"/>
              <a:t> </a:t>
            </a:r>
            <a:r>
              <a:rPr sz="2200" dirty="0"/>
              <a:t>must</a:t>
            </a:r>
            <a:r>
              <a:rPr sz="2200" spc="-30" dirty="0"/>
              <a:t> </a:t>
            </a:r>
            <a:r>
              <a:rPr sz="2200" dirty="0"/>
              <a:t>be</a:t>
            </a:r>
            <a:r>
              <a:rPr sz="2200" spc="-35" dirty="0"/>
              <a:t> </a:t>
            </a:r>
            <a:r>
              <a:rPr sz="2200" dirty="0"/>
              <a:t>saved</a:t>
            </a:r>
            <a:r>
              <a:rPr sz="2200" spc="-35" dirty="0"/>
              <a:t> </a:t>
            </a:r>
            <a:r>
              <a:rPr sz="2200" dirty="0"/>
              <a:t>when</a:t>
            </a:r>
            <a:r>
              <a:rPr sz="2200" spc="-35" dirty="0"/>
              <a:t> </a:t>
            </a:r>
            <a:r>
              <a:rPr sz="2200" dirty="0"/>
              <a:t>the</a:t>
            </a:r>
            <a:r>
              <a:rPr sz="2200" spc="-30" dirty="0"/>
              <a:t> </a:t>
            </a:r>
            <a:r>
              <a:rPr sz="2200" dirty="0"/>
              <a:t>process</a:t>
            </a:r>
            <a:r>
              <a:rPr sz="2200" spc="-25" dirty="0"/>
              <a:t> </a:t>
            </a:r>
            <a:r>
              <a:rPr sz="2200" dirty="0"/>
              <a:t>is</a:t>
            </a:r>
            <a:r>
              <a:rPr sz="2200" spc="-25" dirty="0"/>
              <a:t> </a:t>
            </a:r>
            <a:r>
              <a:rPr sz="2200" dirty="0"/>
              <a:t>switched</a:t>
            </a:r>
            <a:r>
              <a:rPr sz="2200" spc="-20" dirty="0"/>
              <a:t> </a:t>
            </a:r>
            <a:r>
              <a:rPr sz="2200" dirty="0"/>
              <a:t>from</a:t>
            </a:r>
            <a:r>
              <a:rPr sz="2200" spc="-30" dirty="0"/>
              <a:t> </a:t>
            </a:r>
            <a:r>
              <a:rPr sz="2200" dirty="0"/>
              <a:t>one</a:t>
            </a:r>
            <a:r>
              <a:rPr sz="2200" spc="-35" dirty="0"/>
              <a:t> </a:t>
            </a:r>
            <a:r>
              <a:rPr sz="2200" spc="-10" dirty="0"/>
              <a:t>state </a:t>
            </a:r>
            <a:r>
              <a:rPr sz="2200" dirty="0"/>
              <a:t>to</a:t>
            </a:r>
            <a:r>
              <a:rPr sz="2200" spc="310" dirty="0"/>
              <a:t> </a:t>
            </a:r>
            <a:r>
              <a:rPr sz="2200" dirty="0"/>
              <a:t>another</a:t>
            </a:r>
            <a:r>
              <a:rPr sz="2200" spc="310" dirty="0"/>
              <a:t> </a:t>
            </a:r>
            <a:r>
              <a:rPr sz="2200" dirty="0"/>
              <a:t>so</a:t>
            </a:r>
            <a:r>
              <a:rPr sz="2200" spc="310" dirty="0"/>
              <a:t> </a:t>
            </a:r>
            <a:r>
              <a:rPr sz="2200" dirty="0"/>
              <a:t>that</a:t>
            </a:r>
            <a:r>
              <a:rPr sz="2200" spc="315" dirty="0"/>
              <a:t> </a:t>
            </a:r>
            <a:r>
              <a:rPr sz="2200" dirty="0"/>
              <a:t>it</a:t>
            </a:r>
            <a:r>
              <a:rPr sz="2200" spc="325" dirty="0"/>
              <a:t> </a:t>
            </a:r>
            <a:r>
              <a:rPr sz="2200" dirty="0"/>
              <a:t>can</a:t>
            </a:r>
            <a:r>
              <a:rPr sz="2200" spc="305" dirty="0"/>
              <a:t> </a:t>
            </a:r>
            <a:r>
              <a:rPr sz="2200" dirty="0"/>
              <a:t>be</a:t>
            </a:r>
            <a:r>
              <a:rPr sz="2200" spc="310" dirty="0"/>
              <a:t> </a:t>
            </a:r>
            <a:r>
              <a:rPr sz="2200" dirty="0"/>
              <a:t>restarted</a:t>
            </a:r>
            <a:r>
              <a:rPr sz="2200" spc="315" dirty="0"/>
              <a:t> </a:t>
            </a:r>
            <a:r>
              <a:rPr sz="2200" dirty="0"/>
              <a:t>later</a:t>
            </a:r>
            <a:r>
              <a:rPr sz="2200" spc="320" dirty="0"/>
              <a:t> </a:t>
            </a:r>
            <a:r>
              <a:rPr sz="2200" dirty="0"/>
              <a:t>as</a:t>
            </a:r>
            <a:r>
              <a:rPr sz="2200" spc="310" dirty="0"/>
              <a:t> </a:t>
            </a:r>
            <a:r>
              <a:rPr sz="2200" dirty="0"/>
              <a:t>it</a:t>
            </a:r>
            <a:r>
              <a:rPr sz="2200" spc="310" dirty="0"/>
              <a:t> </a:t>
            </a:r>
            <a:r>
              <a:rPr sz="2200" dirty="0"/>
              <a:t>had</a:t>
            </a:r>
            <a:r>
              <a:rPr sz="2200" spc="310" dirty="0"/>
              <a:t> </a:t>
            </a:r>
            <a:r>
              <a:rPr sz="2200" dirty="0"/>
              <a:t>never</a:t>
            </a:r>
            <a:r>
              <a:rPr sz="2200" spc="300" dirty="0"/>
              <a:t> </a:t>
            </a:r>
            <a:r>
              <a:rPr sz="2200" spc="-20" dirty="0"/>
              <a:t>been </a:t>
            </a:r>
            <a:r>
              <a:rPr sz="2200" spc="-10" dirty="0"/>
              <a:t>stopped.</a:t>
            </a:r>
            <a:endParaRPr sz="2200" dirty="0"/>
          </a:p>
          <a:p>
            <a:pPr marL="355600" marR="5715" indent="-342900" algn="just">
              <a:lnSpc>
                <a:spcPct val="80000"/>
              </a:lnSpc>
              <a:spcBef>
                <a:spcPts val="530"/>
              </a:spcBef>
              <a:buFont typeface="Arial"/>
              <a:buChar char="•"/>
              <a:tabLst>
                <a:tab pos="355600" algn="l"/>
              </a:tabLst>
            </a:pPr>
            <a:r>
              <a:rPr sz="2200" dirty="0"/>
              <a:t>The</a:t>
            </a:r>
            <a:r>
              <a:rPr sz="2200" spc="285" dirty="0"/>
              <a:t>  </a:t>
            </a:r>
            <a:r>
              <a:rPr sz="2200" dirty="0"/>
              <a:t>PCB</a:t>
            </a:r>
            <a:r>
              <a:rPr sz="2200" spc="285" dirty="0"/>
              <a:t>  </a:t>
            </a:r>
            <a:r>
              <a:rPr sz="2200" dirty="0"/>
              <a:t>is</a:t>
            </a:r>
            <a:r>
              <a:rPr sz="2200" spc="290" dirty="0"/>
              <a:t>  </a:t>
            </a:r>
            <a:r>
              <a:rPr sz="2200" dirty="0"/>
              <a:t>the</a:t>
            </a:r>
            <a:r>
              <a:rPr sz="2200" spc="285" dirty="0"/>
              <a:t>  </a:t>
            </a:r>
            <a:r>
              <a:rPr sz="2200" dirty="0"/>
              <a:t>data</a:t>
            </a:r>
            <a:r>
              <a:rPr sz="2200" spc="290" dirty="0"/>
              <a:t>  </a:t>
            </a:r>
            <a:r>
              <a:rPr sz="2200" dirty="0"/>
              <a:t>structure</a:t>
            </a:r>
            <a:r>
              <a:rPr sz="2200" spc="280" dirty="0"/>
              <a:t>  </a:t>
            </a:r>
            <a:r>
              <a:rPr sz="2200" dirty="0"/>
              <a:t>containing</a:t>
            </a:r>
            <a:r>
              <a:rPr sz="2200" spc="280" dirty="0"/>
              <a:t>  </a:t>
            </a:r>
            <a:r>
              <a:rPr sz="2200" dirty="0"/>
              <a:t>certain</a:t>
            </a:r>
            <a:r>
              <a:rPr sz="2200" spc="285" dirty="0"/>
              <a:t>  </a:t>
            </a:r>
            <a:r>
              <a:rPr sz="2200" spc="-10" dirty="0"/>
              <a:t>important </a:t>
            </a:r>
            <a:r>
              <a:rPr sz="2200" dirty="0"/>
              <a:t>information</a:t>
            </a:r>
            <a:r>
              <a:rPr sz="2200" spc="245" dirty="0"/>
              <a:t>  </a:t>
            </a:r>
            <a:r>
              <a:rPr sz="2200" dirty="0"/>
              <a:t>about</a:t>
            </a:r>
            <a:r>
              <a:rPr sz="2200" spc="245" dirty="0"/>
              <a:t>  </a:t>
            </a:r>
            <a:r>
              <a:rPr sz="2200" dirty="0"/>
              <a:t>the</a:t>
            </a:r>
            <a:r>
              <a:rPr sz="2200" spc="250" dirty="0"/>
              <a:t>  </a:t>
            </a:r>
            <a:r>
              <a:rPr sz="2200" dirty="0"/>
              <a:t>process</a:t>
            </a:r>
            <a:r>
              <a:rPr sz="2200" spc="245" dirty="0"/>
              <a:t>  </a:t>
            </a:r>
            <a:r>
              <a:rPr sz="2200" spc="-10" dirty="0"/>
              <a:t>-</a:t>
            </a:r>
            <a:r>
              <a:rPr sz="2200" dirty="0"/>
              <a:t>also</a:t>
            </a:r>
            <a:r>
              <a:rPr sz="2200" spc="245" dirty="0"/>
              <a:t>  </a:t>
            </a:r>
            <a:r>
              <a:rPr sz="2200" dirty="0"/>
              <a:t>called</a:t>
            </a:r>
            <a:r>
              <a:rPr sz="2200" spc="250" dirty="0"/>
              <a:t>  </a:t>
            </a:r>
            <a:r>
              <a:rPr sz="2200" dirty="0"/>
              <a:t>process</a:t>
            </a:r>
            <a:r>
              <a:rPr sz="2200" spc="245" dirty="0"/>
              <a:t>  </a:t>
            </a:r>
            <a:r>
              <a:rPr sz="2200" dirty="0"/>
              <a:t>table</a:t>
            </a:r>
            <a:r>
              <a:rPr sz="2200" spc="245" dirty="0"/>
              <a:t>  </a:t>
            </a:r>
            <a:r>
              <a:rPr sz="2200" spc="-25" dirty="0"/>
              <a:t>or </a:t>
            </a:r>
            <a:r>
              <a:rPr sz="2200" spc="-10" dirty="0"/>
              <a:t>processor</a:t>
            </a:r>
            <a:r>
              <a:rPr sz="2200" spc="-45" dirty="0"/>
              <a:t> </a:t>
            </a:r>
            <a:r>
              <a:rPr sz="2200" spc="-10" dirty="0"/>
              <a:t>descriptor.</a:t>
            </a:r>
            <a:endParaRPr sz="2200" dirty="0"/>
          </a:p>
          <a:p>
            <a:pPr marL="756285" lvl="1" indent="-286385">
              <a:lnSpc>
                <a:spcPct val="100000"/>
              </a:lnSpc>
              <a:spcBef>
                <a:spcPts val="10"/>
              </a:spcBef>
              <a:buFont typeface="Arial"/>
              <a:buChar char="–"/>
              <a:tabLst>
                <a:tab pos="756285" algn="l"/>
              </a:tabLst>
            </a:pPr>
            <a:r>
              <a:rPr sz="2000" spc="-10" dirty="0">
                <a:latin typeface="Calibri"/>
                <a:cs typeface="Calibri"/>
              </a:rPr>
              <a:t>Process</a:t>
            </a:r>
            <a:r>
              <a:rPr sz="2000" spc="-40" dirty="0">
                <a:latin typeface="Calibri"/>
                <a:cs typeface="Calibri"/>
              </a:rPr>
              <a:t> </a:t>
            </a:r>
            <a:r>
              <a:rPr sz="2000" spc="-10" dirty="0">
                <a:latin typeface="Calibri"/>
                <a:cs typeface="Calibri"/>
              </a:rPr>
              <a:t>state:</a:t>
            </a:r>
            <a:r>
              <a:rPr sz="2000" spc="-35" dirty="0">
                <a:latin typeface="Calibri"/>
                <a:cs typeface="Calibri"/>
              </a:rPr>
              <a:t> </a:t>
            </a:r>
            <a:r>
              <a:rPr sz="2000" dirty="0">
                <a:latin typeface="Calibri"/>
                <a:cs typeface="Calibri"/>
              </a:rPr>
              <a:t>running,</a:t>
            </a:r>
            <a:r>
              <a:rPr sz="2000" spc="-70" dirty="0">
                <a:latin typeface="Calibri"/>
                <a:cs typeface="Calibri"/>
              </a:rPr>
              <a:t> </a:t>
            </a:r>
            <a:r>
              <a:rPr sz="2000" spc="-25" dirty="0">
                <a:latin typeface="Calibri"/>
                <a:cs typeface="Calibri"/>
              </a:rPr>
              <a:t>ready,</a:t>
            </a:r>
            <a:r>
              <a:rPr sz="2000" spc="-60" dirty="0">
                <a:latin typeface="Calibri"/>
                <a:cs typeface="Calibri"/>
              </a:rPr>
              <a:t> </a:t>
            </a:r>
            <a:r>
              <a:rPr sz="2000" spc="-10" dirty="0">
                <a:latin typeface="Calibri"/>
                <a:cs typeface="Calibri"/>
              </a:rPr>
              <a:t>blocked.</a:t>
            </a:r>
            <a:endParaRPr sz="2000" dirty="0">
              <a:latin typeface="Calibri"/>
              <a:cs typeface="Calibri"/>
            </a:endParaRPr>
          </a:p>
          <a:p>
            <a:pPr marL="756285" lvl="1" indent="-286385">
              <a:lnSpc>
                <a:spcPct val="100000"/>
              </a:lnSpc>
              <a:buFont typeface="Arial"/>
              <a:buChar char="–"/>
              <a:tabLst>
                <a:tab pos="756285" algn="l"/>
              </a:tabLst>
            </a:pPr>
            <a:r>
              <a:rPr sz="2000" spc="-10" dirty="0">
                <a:latin typeface="Calibri"/>
                <a:cs typeface="Calibri"/>
              </a:rPr>
              <a:t>Program</a:t>
            </a:r>
            <a:r>
              <a:rPr sz="2000" spc="-65" dirty="0">
                <a:latin typeface="Calibri"/>
                <a:cs typeface="Calibri"/>
              </a:rPr>
              <a:t> </a:t>
            </a:r>
            <a:r>
              <a:rPr sz="2000" spc="-10" dirty="0">
                <a:latin typeface="Calibri"/>
                <a:cs typeface="Calibri"/>
              </a:rPr>
              <a:t>counter:</a:t>
            </a:r>
            <a:r>
              <a:rPr sz="2000" spc="-50" dirty="0">
                <a:latin typeface="Calibri"/>
                <a:cs typeface="Calibri"/>
              </a:rPr>
              <a:t> </a:t>
            </a:r>
            <a:r>
              <a:rPr sz="2000" dirty="0">
                <a:latin typeface="Calibri"/>
                <a:cs typeface="Calibri"/>
              </a:rPr>
              <a:t>Address</a:t>
            </a:r>
            <a:r>
              <a:rPr sz="2000" spc="-50" dirty="0">
                <a:latin typeface="Calibri"/>
                <a:cs typeface="Calibri"/>
              </a:rPr>
              <a:t> </a:t>
            </a:r>
            <a:r>
              <a:rPr sz="2000" dirty="0">
                <a:latin typeface="Calibri"/>
                <a:cs typeface="Calibri"/>
              </a:rPr>
              <a:t>of</a:t>
            </a:r>
            <a:r>
              <a:rPr sz="2000" spc="-60" dirty="0">
                <a:latin typeface="Calibri"/>
                <a:cs typeface="Calibri"/>
              </a:rPr>
              <a:t> </a:t>
            </a:r>
            <a:r>
              <a:rPr sz="2000" dirty="0">
                <a:latin typeface="Calibri"/>
                <a:cs typeface="Calibri"/>
              </a:rPr>
              <a:t>next</a:t>
            </a:r>
            <a:r>
              <a:rPr sz="2000" spc="-50" dirty="0">
                <a:latin typeface="Calibri"/>
                <a:cs typeface="Calibri"/>
              </a:rPr>
              <a:t> </a:t>
            </a:r>
            <a:r>
              <a:rPr sz="2000" dirty="0">
                <a:latin typeface="Calibri"/>
                <a:cs typeface="Calibri"/>
              </a:rPr>
              <a:t>instruction</a:t>
            </a:r>
            <a:r>
              <a:rPr sz="2000" spc="-40" dirty="0">
                <a:latin typeface="Calibri"/>
                <a:cs typeface="Calibri"/>
              </a:rPr>
              <a:t> </a:t>
            </a:r>
            <a:r>
              <a:rPr sz="2000" dirty="0">
                <a:latin typeface="Calibri"/>
                <a:cs typeface="Calibri"/>
              </a:rPr>
              <a:t>for</a:t>
            </a:r>
            <a:r>
              <a:rPr sz="2000" spc="-65" dirty="0">
                <a:latin typeface="Calibri"/>
                <a:cs typeface="Calibri"/>
              </a:rPr>
              <a:t> </a:t>
            </a:r>
            <a:r>
              <a:rPr sz="2000" dirty="0">
                <a:latin typeface="Calibri"/>
                <a:cs typeface="Calibri"/>
              </a:rPr>
              <a:t>the</a:t>
            </a:r>
            <a:r>
              <a:rPr sz="2000" spc="-45" dirty="0">
                <a:latin typeface="Calibri"/>
                <a:cs typeface="Calibri"/>
              </a:rPr>
              <a:t> </a:t>
            </a:r>
            <a:r>
              <a:rPr sz="2000" spc="-10" dirty="0">
                <a:latin typeface="Calibri"/>
                <a:cs typeface="Calibri"/>
              </a:rPr>
              <a:t>process.</a:t>
            </a:r>
            <a:endParaRPr sz="2000" dirty="0">
              <a:latin typeface="Calibri"/>
              <a:cs typeface="Calibri"/>
            </a:endParaRPr>
          </a:p>
          <a:p>
            <a:pPr marL="756285" lvl="1" indent="-286385">
              <a:lnSpc>
                <a:spcPct val="100000"/>
              </a:lnSpc>
              <a:buFont typeface="Arial"/>
              <a:buChar char="–"/>
              <a:tabLst>
                <a:tab pos="756285" algn="l"/>
              </a:tabLst>
            </a:pPr>
            <a:r>
              <a:rPr sz="2000" spc="-20" dirty="0">
                <a:latin typeface="Calibri"/>
                <a:cs typeface="Calibri"/>
              </a:rPr>
              <a:t>Registers:</a:t>
            </a:r>
            <a:r>
              <a:rPr sz="2000" spc="-30" dirty="0">
                <a:latin typeface="Calibri"/>
                <a:cs typeface="Calibri"/>
              </a:rPr>
              <a:t> </a:t>
            </a:r>
            <a:r>
              <a:rPr sz="2000" dirty="0">
                <a:latin typeface="Calibri"/>
                <a:cs typeface="Calibri"/>
              </a:rPr>
              <a:t>Stack</a:t>
            </a:r>
            <a:r>
              <a:rPr sz="2000" spc="-40" dirty="0">
                <a:latin typeface="Calibri"/>
                <a:cs typeface="Calibri"/>
              </a:rPr>
              <a:t> </a:t>
            </a:r>
            <a:r>
              <a:rPr sz="2000" spc="-25" dirty="0">
                <a:latin typeface="Calibri"/>
                <a:cs typeface="Calibri"/>
              </a:rPr>
              <a:t>pointer,</a:t>
            </a:r>
            <a:r>
              <a:rPr sz="2000" spc="-45" dirty="0">
                <a:latin typeface="Calibri"/>
                <a:cs typeface="Calibri"/>
              </a:rPr>
              <a:t> </a:t>
            </a:r>
            <a:r>
              <a:rPr sz="2000" spc="-20" dirty="0">
                <a:latin typeface="Calibri"/>
                <a:cs typeface="Calibri"/>
              </a:rPr>
              <a:t>accumulator,</a:t>
            </a:r>
            <a:r>
              <a:rPr sz="2000" spc="-30" dirty="0">
                <a:latin typeface="Calibri"/>
                <a:cs typeface="Calibri"/>
              </a:rPr>
              <a:t> </a:t>
            </a:r>
            <a:r>
              <a:rPr sz="2000" dirty="0">
                <a:latin typeface="Calibri"/>
                <a:cs typeface="Calibri"/>
              </a:rPr>
              <a:t>PSW</a:t>
            </a:r>
            <a:r>
              <a:rPr sz="2000" spc="-60" dirty="0">
                <a:latin typeface="Calibri"/>
                <a:cs typeface="Calibri"/>
              </a:rPr>
              <a:t> </a:t>
            </a:r>
            <a:r>
              <a:rPr sz="2000" spc="-20" dirty="0">
                <a:latin typeface="Calibri"/>
                <a:cs typeface="Calibri"/>
              </a:rPr>
              <a:t>etc.</a:t>
            </a:r>
            <a:endParaRPr sz="2000" dirty="0">
              <a:latin typeface="Calibri"/>
              <a:cs typeface="Calibri"/>
            </a:endParaRPr>
          </a:p>
          <a:p>
            <a:pPr marL="756285" lvl="1" indent="-286385">
              <a:lnSpc>
                <a:spcPts val="2160"/>
              </a:lnSpc>
              <a:buFont typeface="Arial"/>
              <a:buChar char="–"/>
              <a:tabLst>
                <a:tab pos="756285" algn="l"/>
              </a:tabLst>
            </a:pPr>
            <a:r>
              <a:rPr sz="2000" dirty="0">
                <a:latin typeface="Calibri"/>
                <a:cs typeface="Calibri"/>
              </a:rPr>
              <a:t>Scheduling</a:t>
            </a:r>
            <a:r>
              <a:rPr sz="2000" spc="105" dirty="0">
                <a:latin typeface="Calibri"/>
                <a:cs typeface="Calibri"/>
              </a:rPr>
              <a:t> </a:t>
            </a:r>
            <a:r>
              <a:rPr sz="2000" dirty="0">
                <a:latin typeface="Calibri"/>
                <a:cs typeface="Calibri"/>
              </a:rPr>
              <a:t>information:</a:t>
            </a:r>
            <a:r>
              <a:rPr sz="2000" spc="110" dirty="0">
                <a:latin typeface="Calibri"/>
                <a:cs typeface="Calibri"/>
              </a:rPr>
              <a:t> </a:t>
            </a:r>
            <a:r>
              <a:rPr sz="2000" dirty="0">
                <a:latin typeface="Calibri"/>
                <a:cs typeface="Calibri"/>
              </a:rPr>
              <a:t>Process</a:t>
            </a:r>
            <a:r>
              <a:rPr sz="2000" spc="100" dirty="0">
                <a:latin typeface="Calibri"/>
                <a:cs typeface="Calibri"/>
              </a:rPr>
              <a:t> </a:t>
            </a:r>
            <a:r>
              <a:rPr sz="2000" dirty="0">
                <a:latin typeface="Calibri"/>
                <a:cs typeface="Calibri"/>
              </a:rPr>
              <a:t>priority,</a:t>
            </a:r>
            <a:r>
              <a:rPr sz="2000" spc="100" dirty="0">
                <a:latin typeface="Calibri"/>
                <a:cs typeface="Calibri"/>
              </a:rPr>
              <a:t> </a:t>
            </a:r>
            <a:r>
              <a:rPr sz="2000" dirty="0">
                <a:latin typeface="Calibri"/>
                <a:cs typeface="Calibri"/>
              </a:rPr>
              <a:t>pointer</a:t>
            </a:r>
            <a:r>
              <a:rPr sz="2000" spc="95" dirty="0">
                <a:latin typeface="Calibri"/>
                <a:cs typeface="Calibri"/>
              </a:rPr>
              <a:t> </a:t>
            </a:r>
            <a:r>
              <a:rPr sz="2000" dirty="0">
                <a:latin typeface="Calibri"/>
                <a:cs typeface="Calibri"/>
              </a:rPr>
              <a:t>to</a:t>
            </a:r>
            <a:r>
              <a:rPr sz="2000" spc="105" dirty="0">
                <a:latin typeface="Calibri"/>
                <a:cs typeface="Calibri"/>
              </a:rPr>
              <a:t> </a:t>
            </a:r>
            <a:r>
              <a:rPr sz="2000" dirty="0">
                <a:latin typeface="Calibri"/>
                <a:cs typeface="Calibri"/>
              </a:rPr>
              <a:t>scheduling</a:t>
            </a:r>
            <a:r>
              <a:rPr sz="2000" spc="95" dirty="0">
                <a:latin typeface="Calibri"/>
                <a:cs typeface="Calibri"/>
              </a:rPr>
              <a:t> </a:t>
            </a:r>
            <a:r>
              <a:rPr sz="2000" spc="-10" dirty="0">
                <a:latin typeface="Calibri"/>
                <a:cs typeface="Calibri"/>
              </a:rPr>
              <a:t>queue</a:t>
            </a:r>
            <a:r>
              <a:rPr lang="en-US" sz="2000" spc="-10" dirty="0">
                <a:latin typeface="Calibri"/>
                <a:cs typeface="Calibri"/>
              </a:rPr>
              <a:t> </a:t>
            </a:r>
            <a:r>
              <a:rPr sz="2000" spc="-20" dirty="0"/>
              <a:t>etc.</a:t>
            </a:r>
            <a:endParaRPr sz="2000" dirty="0"/>
          </a:p>
          <a:p>
            <a:pPr marL="756285" marR="5080" lvl="1" indent="-287020">
              <a:lnSpc>
                <a:spcPct val="80000"/>
              </a:lnSpc>
              <a:spcBef>
                <a:spcPts val="480"/>
              </a:spcBef>
              <a:buFont typeface="Arial"/>
              <a:buChar char="–"/>
              <a:tabLst>
                <a:tab pos="756285" algn="l"/>
                <a:tab pos="2954020" algn="l"/>
                <a:tab pos="3661410" algn="l"/>
                <a:tab pos="4028440" algn="l"/>
                <a:tab pos="4667250" algn="l"/>
                <a:tab pos="5211445" algn="l"/>
                <a:tab pos="5831840" algn="l"/>
                <a:tab pos="6817995" algn="l"/>
                <a:tab pos="7473315" algn="l"/>
              </a:tabLst>
            </a:pPr>
            <a:r>
              <a:rPr sz="2000" dirty="0">
                <a:latin typeface="Calibri"/>
                <a:cs typeface="Calibri"/>
              </a:rPr>
              <a:t>Memory-</a:t>
            </a:r>
            <a:r>
              <a:rPr sz="2000" spc="-10" dirty="0">
                <a:latin typeface="Calibri"/>
                <a:cs typeface="Calibri"/>
              </a:rPr>
              <a:t>allocation:</a:t>
            </a:r>
            <a:r>
              <a:rPr sz="2000" dirty="0">
                <a:latin typeface="Calibri"/>
                <a:cs typeface="Calibri"/>
              </a:rPr>
              <a:t>	</a:t>
            </a:r>
            <a:r>
              <a:rPr sz="2000" spc="-10" dirty="0">
                <a:latin typeface="Calibri"/>
                <a:cs typeface="Calibri"/>
              </a:rPr>
              <a:t>value</a:t>
            </a:r>
            <a:r>
              <a:rPr sz="2000" dirty="0">
                <a:latin typeface="Calibri"/>
                <a:cs typeface="Calibri"/>
              </a:rPr>
              <a:t>	</a:t>
            </a:r>
            <a:r>
              <a:rPr sz="2000" spc="-25" dirty="0">
                <a:latin typeface="Calibri"/>
                <a:cs typeface="Calibri"/>
              </a:rPr>
              <a:t>of</a:t>
            </a:r>
            <a:r>
              <a:rPr sz="2000" dirty="0">
                <a:latin typeface="Calibri"/>
                <a:cs typeface="Calibri"/>
              </a:rPr>
              <a:t>	</a:t>
            </a:r>
            <a:r>
              <a:rPr sz="2000" spc="-20" dirty="0">
                <a:latin typeface="Calibri"/>
                <a:cs typeface="Calibri"/>
              </a:rPr>
              <a:t>base</a:t>
            </a:r>
            <a:r>
              <a:rPr sz="2000" dirty="0">
                <a:latin typeface="Calibri"/>
                <a:cs typeface="Calibri"/>
              </a:rPr>
              <a:t>	</a:t>
            </a:r>
            <a:r>
              <a:rPr sz="2000" spc="-25" dirty="0">
                <a:latin typeface="Calibri"/>
                <a:cs typeface="Calibri"/>
              </a:rPr>
              <a:t>and</a:t>
            </a:r>
            <a:r>
              <a:rPr sz="2000" dirty="0">
                <a:latin typeface="Calibri"/>
                <a:cs typeface="Calibri"/>
              </a:rPr>
              <a:t>	</a:t>
            </a:r>
            <a:r>
              <a:rPr sz="2000" spc="-10" dirty="0">
                <a:latin typeface="Calibri"/>
                <a:cs typeface="Calibri"/>
              </a:rPr>
              <a:t>limit</a:t>
            </a:r>
            <a:r>
              <a:rPr sz="2000" dirty="0">
                <a:latin typeface="Calibri"/>
                <a:cs typeface="Calibri"/>
              </a:rPr>
              <a:t>	</a:t>
            </a:r>
            <a:r>
              <a:rPr sz="2000" spc="-10" dirty="0">
                <a:latin typeface="Calibri"/>
                <a:cs typeface="Calibri"/>
              </a:rPr>
              <a:t>register,</a:t>
            </a:r>
            <a:r>
              <a:rPr sz="2000" dirty="0">
                <a:latin typeface="Calibri"/>
                <a:cs typeface="Calibri"/>
              </a:rPr>
              <a:t>	</a:t>
            </a:r>
            <a:r>
              <a:rPr sz="2000" spc="-20" dirty="0">
                <a:latin typeface="Calibri"/>
                <a:cs typeface="Calibri"/>
              </a:rPr>
              <a:t>page</a:t>
            </a:r>
            <a:r>
              <a:rPr sz="2000" dirty="0">
                <a:latin typeface="Calibri"/>
                <a:cs typeface="Calibri"/>
              </a:rPr>
              <a:t>	</a:t>
            </a:r>
            <a:r>
              <a:rPr sz="2000" spc="-10" dirty="0">
                <a:latin typeface="Calibri"/>
                <a:cs typeface="Calibri"/>
              </a:rPr>
              <a:t>table, </a:t>
            </a:r>
            <a:r>
              <a:rPr sz="2000" dirty="0">
                <a:latin typeface="Calibri"/>
                <a:cs typeface="Calibri"/>
              </a:rPr>
              <a:t>segment</a:t>
            </a:r>
            <a:r>
              <a:rPr sz="2000" spc="-70" dirty="0">
                <a:latin typeface="Calibri"/>
                <a:cs typeface="Calibri"/>
              </a:rPr>
              <a:t> </a:t>
            </a:r>
            <a:r>
              <a:rPr sz="2000" dirty="0">
                <a:latin typeface="Calibri"/>
                <a:cs typeface="Calibri"/>
              </a:rPr>
              <a:t>table</a:t>
            </a:r>
            <a:r>
              <a:rPr sz="2000" spc="-45" dirty="0">
                <a:latin typeface="Calibri"/>
                <a:cs typeface="Calibri"/>
              </a:rPr>
              <a:t> </a:t>
            </a:r>
            <a:r>
              <a:rPr sz="2000" spc="-20" dirty="0">
                <a:latin typeface="Calibri"/>
                <a:cs typeface="Calibri"/>
              </a:rPr>
              <a:t>etc.</a:t>
            </a:r>
            <a:endParaRPr sz="2000" dirty="0">
              <a:latin typeface="Calibri"/>
              <a:cs typeface="Calibri"/>
            </a:endParaRPr>
          </a:p>
          <a:p>
            <a:pPr marL="756285" lvl="1" indent="-286385">
              <a:lnSpc>
                <a:spcPct val="100000"/>
              </a:lnSpc>
              <a:spcBef>
                <a:spcPts val="5"/>
              </a:spcBef>
              <a:buFont typeface="Arial"/>
              <a:buChar char="–"/>
              <a:tabLst>
                <a:tab pos="756285" algn="l"/>
              </a:tabLst>
            </a:pPr>
            <a:r>
              <a:rPr sz="2000" dirty="0">
                <a:latin typeface="Calibri"/>
                <a:cs typeface="Calibri"/>
              </a:rPr>
              <a:t>Accounting</a:t>
            </a:r>
            <a:r>
              <a:rPr sz="2000" spc="-95" dirty="0">
                <a:latin typeface="Calibri"/>
                <a:cs typeface="Calibri"/>
              </a:rPr>
              <a:t> </a:t>
            </a:r>
            <a:r>
              <a:rPr sz="2000" spc="-10" dirty="0">
                <a:latin typeface="Calibri"/>
                <a:cs typeface="Calibri"/>
              </a:rPr>
              <a:t>information:</a:t>
            </a:r>
            <a:r>
              <a:rPr sz="2000" spc="-50" dirty="0">
                <a:latin typeface="Calibri"/>
                <a:cs typeface="Calibri"/>
              </a:rPr>
              <a:t> </a:t>
            </a:r>
            <a:r>
              <a:rPr sz="2000" dirty="0">
                <a:latin typeface="Calibri"/>
                <a:cs typeface="Calibri"/>
              </a:rPr>
              <a:t>time</a:t>
            </a:r>
            <a:r>
              <a:rPr sz="2000" spc="-45" dirty="0">
                <a:latin typeface="Calibri"/>
                <a:cs typeface="Calibri"/>
              </a:rPr>
              <a:t> </a:t>
            </a:r>
            <a:r>
              <a:rPr sz="2000" dirty="0">
                <a:latin typeface="Calibri"/>
                <a:cs typeface="Calibri"/>
              </a:rPr>
              <a:t>limit,</a:t>
            </a:r>
            <a:r>
              <a:rPr sz="2000" spc="-45" dirty="0">
                <a:latin typeface="Calibri"/>
                <a:cs typeface="Calibri"/>
              </a:rPr>
              <a:t> </a:t>
            </a:r>
            <a:r>
              <a:rPr sz="2000" dirty="0">
                <a:latin typeface="Calibri"/>
                <a:cs typeface="Calibri"/>
              </a:rPr>
              <a:t>process</a:t>
            </a:r>
            <a:r>
              <a:rPr sz="2000" spc="-50" dirty="0">
                <a:latin typeface="Calibri"/>
                <a:cs typeface="Calibri"/>
              </a:rPr>
              <a:t> </a:t>
            </a:r>
            <a:r>
              <a:rPr sz="2000" dirty="0">
                <a:latin typeface="Calibri"/>
                <a:cs typeface="Calibri"/>
              </a:rPr>
              <a:t>numbers</a:t>
            </a:r>
            <a:r>
              <a:rPr sz="2000" spc="-75" dirty="0">
                <a:latin typeface="Calibri"/>
                <a:cs typeface="Calibri"/>
              </a:rPr>
              <a:t> </a:t>
            </a:r>
            <a:r>
              <a:rPr sz="2000" spc="-20" dirty="0">
                <a:latin typeface="Calibri"/>
                <a:cs typeface="Calibri"/>
              </a:rPr>
              <a:t>etc.</a:t>
            </a:r>
            <a:endParaRPr sz="2000" dirty="0">
              <a:latin typeface="Calibri"/>
              <a:cs typeface="Calibri"/>
            </a:endParaRPr>
          </a:p>
          <a:p>
            <a:pPr marL="756285" lvl="1" indent="-286385">
              <a:lnSpc>
                <a:spcPct val="100000"/>
              </a:lnSpc>
              <a:buFont typeface="Arial"/>
              <a:buChar char="–"/>
              <a:tabLst>
                <a:tab pos="756285" algn="l"/>
              </a:tabLst>
            </a:pPr>
            <a:r>
              <a:rPr sz="2000" dirty="0">
                <a:latin typeface="Calibri"/>
                <a:cs typeface="Calibri"/>
              </a:rPr>
              <a:t>Status</a:t>
            </a:r>
            <a:r>
              <a:rPr sz="2000" spc="-40" dirty="0">
                <a:latin typeface="Calibri"/>
                <a:cs typeface="Calibri"/>
              </a:rPr>
              <a:t> </a:t>
            </a:r>
            <a:r>
              <a:rPr sz="2000" spc="-10" dirty="0">
                <a:latin typeface="Calibri"/>
                <a:cs typeface="Calibri"/>
              </a:rPr>
              <a:t>information:</a:t>
            </a:r>
            <a:r>
              <a:rPr sz="2000" spc="-40" dirty="0">
                <a:latin typeface="Calibri"/>
                <a:cs typeface="Calibri"/>
              </a:rPr>
              <a:t> </a:t>
            </a:r>
            <a:r>
              <a:rPr sz="2000" dirty="0">
                <a:latin typeface="Calibri"/>
                <a:cs typeface="Calibri"/>
              </a:rPr>
              <a:t>list</a:t>
            </a:r>
            <a:r>
              <a:rPr sz="2000" spc="-15" dirty="0">
                <a:latin typeface="Calibri"/>
                <a:cs typeface="Calibri"/>
              </a:rPr>
              <a:t> </a:t>
            </a:r>
            <a:r>
              <a:rPr sz="2000" dirty="0">
                <a:latin typeface="Calibri"/>
                <a:cs typeface="Calibri"/>
              </a:rPr>
              <a:t>of</a:t>
            </a:r>
            <a:r>
              <a:rPr sz="2000" spc="-45" dirty="0">
                <a:latin typeface="Calibri"/>
                <a:cs typeface="Calibri"/>
              </a:rPr>
              <a:t> </a:t>
            </a:r>
            <a:r>
              <a:rPr sz="2000" dirty="0">
                <a:latin typeface="Calibri"/>
                <a:cs typeface="Calibri"/>
              </a:rPr>
              <a:t>I/O</a:t>
            </a:r>
            <a:r>
              <a:rPr sz="2000" spc="-50" dirty="0">
                <a:latin typeface="Calibri"/>
                <a:cs typeface="Calibri"/>
              </a:rPr>
              <a:t> </a:t>
            </a:r>
            <a:r>
              <a:rPr sz="2000" dirty="0">
                <a:latin typeface="Calibri"/>
                <a:cs typeface="Calibri"/>
              </a:rPr>
              <a:t>devices,</a:t>
            </a:r>
            <a:r>
              <a:rPr sz="2000" spc="-20" dirty="0">
                <a:latin typeface="Calibri"/>
                <a:cs typeface="Calibri"/>
              </a:rPr>
              <a:t> </a:t>
            </a:r>
            <a:r>
              <a:rPr sz="2000" dirty="0">
                <a:latin typeface="Calibri"/>
                <a:cs typeface="Calibri"/>
              </a:rPr>
              <a:t>list</a:t>
            </a:r>
            <a:r>
              <a:rPr sz="2000" spc="-25" dirty="0">
                <a:latin typeface="Calibri"/>
                <a:cs typeface="Calibri"/>
              </a:rPr>
              <a:t> </a:t>
            </a:r>
            <a:r>
              <a:rPr sz="2000" dirty="0">
                <a:latin typeface="Calibri"/>
                <a:cs typeface="Calibri"/>
              </a:rPr>
              <a:t>of</a:t>
            </a:r>
            <a:r>
              <a:rPr sz="2000" spc="-45" dirty="0">
                <a:latin typeface="Calibri"/>
                <a:cs typeface="Calibri"/>
              </a:rPr>
              <a:t> </a:t>
            </a:r>
            <a:r>
              <a:rPr sz="2000" dirty="0">
                <a:latin typeface="Calibri"/>
                <a:cs typeface="Calibri"/>
              </a:rPr>
              <a:t>open</a:t>
            </a:r>
            <a:r>
              <a:rPr sz="2000" spc="-45" dirty="0">
                <a:latin typeface="Calibri"/>
                <a:cs typeface="Calibri"/>
              </a:rPr>
              <a:t> </a:t>
            </a:r>
            <a:r>
              <a:rPr sz="2000" dirty="0">
                <a:latin typeface="Calibri"/>
                <a:cs typeface="Calibri"/>
              </a:rPr>
              <a:t>files</a:t>
            </a:r>
            <a:r>
              <a:rPr sz="2000" spc="-25" dirty="0">
                <a:latin typeface="Calibri"/>
                <a:cs typeface="Calibri"/>
              </a:rPr>
              <a:t> </a:t>
            </a:r>
            <a:r>
              <a:rPr sz="2000" spc="-20" dirty="0">
                <a:latin typeface="Calibri"/>
                <a:cs typeface="Calibri"/>
              </a:rPr>
              <a:t>etc.</a:t>
            </a:r>
            <a:endParaRPr sz="2000" dirty="0">
              <a:latin typeface="Calibri"/>
              <a:cs typeface="Calibri"/>
            </a:endParaRPr>
          </a:p>
        </p:txBody>
      </p:sp>
      <p:sp>
        <p:nvSpPr>
          <p:cNvPr id="4" name="object 4"/>
          <p:cNvSpPr txBox="1">
            <a:spLocks noGrp="1"/>
          </p:cNvSpPr>
          <p:nvPr>
            <p:ph type="ftr" sz="quarter" idx="5"/>
          </p:nvPr>
        </p:nvSpPr>
        <p:spPr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12700">
              <a:lnSpc>
                <a:spcPts val="1240"/>
              </a:lnSpc>
            </a:pPr>
            <a:r>
              <a:rPr lang="pl-PL"/>
              <a:t>By Dr. Binod Kr. Adhikari</a:t>
            </a:r>
            <a:endParaRPr spc="-1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13335" rIns="0" bIns="0" rtlCol="0">
            <a:spAutoFit/>
          </a:bodyPr>
          <a:lstStyle/>
          <a:p>
            <a:pPr marL="12700" algn="ctr">
              <a:spcBef>
                <a:spcPts val="105"/>
              </a:spcBef>
            </a:pPr>
            <a:r>
              <a:rPr dirty="0"/>
              <a:t>PCB</a:t>
            </a:r>
          </a:p>
        </p:txBody>
      </p:sp>
      <p:sp>
        <p:nvSpPr>
          <p:cNvPr id="5" name="object 5"/>
          <p:cNvSpPr txBox="1">
            <a:spLocks noGrp="1"/>
          </p:cNvSpPr>
          <p:nvPr>
            <p:ph type="ftr" sz="quarter" idx="5"/>
          </p:nvPr>
        </p:nvSpPr>
        <p:spPr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12700">
              <a:lnSpc>
                <a:spcPts val="1240"/>
              </a:lnSpc>
            </a:pPr>
            <a:r>
              <a:rPr lang="pl-PL"/>
              <a:t>By Dr. Binod Kr. Adhikari</a:t>
            </a:r>
            <a:endParaRPr spc="-10" dirty="0"/>
          </a:p>
        </p:txBody>
      </p:sp>
      <p:sp>
        <p:nvSpPr>
          <p:cNvPr id="3" name="object 3"/>
          <p:cNvSpPr txBox="1"/>
          <p:nvPr/>
        </p:nvSpPr>
        <p:spPr>
          <a:xfrm>
            <a:off x="533400" y="1505585"/>
            <a:ext cx="7360284" cy="1489710"/>
          </a:xfrm>
          <a:prstGeom prst="rect">
            <a:avLst/>
          </a:prstGeom>
        </p:spPr>
        <p:txBody>
          <a:bodyPr vert="horz" wrap="square" lIns="0" tIns="13335" rIns="0" bIns="0" rtlCol="0">
            <a:spAutoFit/>
          </a:bodyPr>
          <a:lstStyle/>
          <a:p>
            <a:pPr marL="354330" marR="5080" indent="-341630" algn="just">
              <a:lnSpc>
                <a:spcPct val="100000"/>
              </a:lnSpc>
              <a:spcBef>
                <a:spcPts val="105"/>
              </a:spcBef>
              <a:buFont typeface="Arial"/>
              <a:buChar char="•"/>
              <a:tabLst>
                <a:tab pos="355600" algn="l"/>
              </a:tabLst>
            </a:pPr>
            <a:r>
              <a:rPr sz="3200" dirty="0">
                <a:latin typeface="Calibri"/>
                <a:cs typeface="Calibri"/>
              </a:rPr>
              <a:t>The</a:t>
            </a:r>
            <a:r>
              <a:rPr sz="3200" spc="-50" dirty="0">
                <a:latin typeface="Calibri"/>
                <a:cs typeface="Calibri"/>
              </a:rPr>
              <a:t> </a:t>
            </a:r>
            <a:r>
              <a:rPr sz="3200" dirty="0">
                <a:latin typeface="Calibri"/>
                <a:cs typeface="Calibri"/>
              </a:rPr>
              <a:t>PCB</a:t>
            </a:r>
            <a:r>
              <a:rPr sz="3200" spc="-45" dirty="0">
                <a:latin typeface="Calibri"/>
                <a:cs typeface="Calibri"/>
              </a:rPr>
              <a:t> </a:t>
            </a:r>
            <a:r>
              <a:rPr sz="3200" dirty="0">
                <a:latin typeface="Calibri"/>
                <a:cs typeface="Calibri"/>
              </a:rPr>
              <a:t>simply</a:t>
            </a:r>
            <a:r>
              <a:rPr sz="3200" spc="-35" dirty="0">
                <a:latin typeface="Calibri"/>
                <a:cs typeface="Calibri"/>
              </a:rPr>
              <a:t> </a:t>
            </a:r>
            <a:r>
              <a:rPr sz="3200" dirty="0">
                <a:latin typeface="Calibri"/>
                <a:cs typeface="Calibri"/>
              </a:rPr>
              <a:t>serves</a:t>
            </a:r>
            <a:r>
              <a:rPr sz="3200" spc="-45" dirty="0">
                <a:latin typeface="Calibri"/>
                <a:cs typeface="Calibri"/>
              </a:rPr>
              <a:t> </a:t>
            </a:r>
            <a:r>
              <a:rPr sz="3200" dirty="0">
                <a:latin typeface="Calibri"/>
                <a:cs typeface="Calibri"/>
              </a:rPr>
              <a:t>as</a:t>
            </a:r>
            <a:r>
              <a:rPr sz="3200" spc="-35" dirty="0">
                <a:latin typeface="Calibri"/>
                <a:cs typeface="Calibri"/>
              </a:rPr>
              <a:t> </a:t>
            </a:r>
            <a:r>
              <a:rPr sz="3200" dirty="0">
                <a:latin typeface="Calibri"/>
                <a:cs typeface="Calibri"/>
              </a:rPr>
              <a:t>repository</a:t>
            </a:r>
            <a:r>
              <a:rPr sz="3200" spc="-40" dirty="0">
                <a:latin typeface="Calibri"/>
                <a:cs typeface="Calibri"/>
              </a:rPr>
              <a:t> </a:t>
            </a:r>
            <a:r>
              <a:rPr sz="3200" dirty="0">
                <a:latin typeface="Calibri"/>
                <a:cs typeface="Calibri"/>
              </a:rPr>
              <a:t>of</a:t>
            </a:r>
            <a:r>
              <a:rPr sz="3200" spc="-50" dirty="0">
                <a:latin typeface="Calibri"/>
                <a:cs typeface="Calibri"/>
              </a:rPr>
              <a:t> </a:t>
            </a:r>
            <a:r>
              <a:rPr sz="3200" spc="-25" dirty="0">
                <a:latin typeface="Calibri"/>
                <a:cs typeface="Calibri"/>
              </a:rPr>
              <a:t>any 	</a:t>
            </a:r>
            <a:r>
              <a:rPr sz="3200" spc="-10" dirty="0">
                <a:latin typeface="Calibri"/>
                <a:cs typeface="Calibri"/>
              </a:rPr>
              <a:t>information</a:t>
            </a:r>
            <a:r>
              <a:rPr sz="3200" spc="-80" dirty="0">
                <a:latin typeface="Calibri"/>
                <a:cs typeface="Calibri"/>
              </a:rPr>
              <a:t> </a:t>
            </a:r>
            <a:r>
              <a:rPr sz="3200" dirty="0">
                <a:latin typeface="Calibri"/>
                <a:cs typeface="Calibri"/>
              </a:rPr>
              <a:t>that</a:t>
            </a:r>
            <a:r>
              <a:rPr sz="3200" spc="-80" dirty="0">
                <a:latin typeface="Calibri"/>
                <a:cs typeface="Calibri"/>
              </a:rPr>
              <a:t> </a:t>
            </a:r>
            <a:r>
              <a:rPr sz="3200" dirty="0">
                <a:latin typeface="Calibri"/>
                <a:cs typeface="Calibri"/>
              </a:rPr>
              <a:t>may</a:t>
            </a:r>
            <a:r>
              <a:rPr sz="3200" spc="-90" dirty="0">
                <a:latin typeface="Calibri"/>
                <a:cs typeface="Calibri"/>
              </a:rPr>
              <a:t> </a:t>
            </a:r>
            <a:r>
              <a:rPr sz="3200" dirty="0">
                <a:latin typeface="Calibri"/>
                <a:cs typeface="Calibri"/>
              </a:rPr>
              <a:t>vary</a:t>
            </a:r>
            <a:r>
              <a:rPr sz="3200" spc="-90" dirty="0">
                <a:latin typeface="Calibri"/>
                <a:cs typeface="Calibri"/>
              </a:rPr>
              <a:t> </a:t>
            </a:r>
            <a:r>
              <a:rPr sz="3200" dirty="0">
                <a:latin typeface="Calibri"/>
                <a:cs typeface="Calibri"/>
              </a:rPr>
              <a:t>from</a:t>
            </a:r>
            <a:r>
              <a:rPr sz="3200" spc="-90" dirty="0">
                <a:latin typeface="Calibri"/>
                <a:cs typeface="Calibri"/>
              </a:rPr>
              <a:t> </a:t>
            </a:r>
            <a:r>
              <a:rPr sz="3200" dirty="0">
                <a:latin typeface="Calibri"/>
                <a:cs typeface="Calibri"/>
              </a:rPr>
              <a:t>process</a:t>
            </a:r>
            <a:r>
              <a:rPr sz="3200" spc="-110" dirty="0">
                <a:latin typeface="Calibri"/>
                <a:cs typeface="Calibri"/>
              </a:rPr>
              <a:t> </a:t>
            </a:r>
            <a:r>
              <a:rPr sz="3200" spc="-25" dirty="0">
                <a:latin typeface="Calibri"/>
                <a:cs typeface="Calibri"/>
              </a:rPr>
              <a:t>to 	</a:t>
            </a:r>
            <a:r>
              <a:rPr sz="3200" spc="-10" dirty="0">
                <a:latin typeface="Calibri"/>
                <a:cs typeface="Calibri"/>
              </a:rPr>
              <a:t>process.</a:t>
            </a:r>
            <a:endParaRPr sz="3200" dirty="0">
              <a:latin typeface="Calibri"/>
              <a:cs typeface="Calibri"/>
            </a:endParaRPr>
          </a:p>
        </p:txBody>
      </p:sp>
      <p:graphicFrame>
        <p:nvGraphicFramePr>
          <p:cNvPr id="4" name="object 4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028271812"/>
              </p:ext>
            </p:extLst>
          </p:nvPr>
        </p:nvGraphicFramePr>
        <p:xfrm>
          <a:off x="2667000" y="3099079"/>
          <a:ext cx="3581400" cy="2593340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35814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</a:tblGrid>
              <a:tr h="370205">
                <a:tc>
                  <a:txBody>
                    <a:bodyPr/>
                    <a:lstStyle/>
                    <a:p>
                      <a:pPr marL="92075" algn="ctr">
                        <a:lnSpc>
                          <a:spcPct val="100000"/>
                        </a:lnSpc>
                        <a:spcBef>
                          <a:spcPts val="245"/>
                        </a:spcBef>
                      </a:pPr>
                      <a:r>
                        <a:rPr sz="1800" b="1" dirty="0">
                          <a:solidFill>
                            <a:srgbClr val="FFFFFF"/>
                          </a:solidFill>
                          <a:latin typeface="Calibri"/>
                          <a:cs typeface="Calibri"/>
                        </a:rPr>
                        <a:t>Process</a:t>
                      </a:r>
                      <a:r>
                        <a:rPr sz="1800" b="1" spc="-100" dirty="0">
                          <a:solidFill>
                            <a:srgbClr val="FFFFFF"/>
                          </a:solidFill>
                          <a:latin typeface="Calibri"/>
                          <a:cs typeface="Calibri"/>
                        </a:rPr>
                        <a:t> </a:t>
                      </a:r>
                      <a:r>
                        <a:rPr sz="1800" b="1" spc="-20" dirty="0">
                          <a:solidFill>
                            <a:srgbClr val="FFFFFF"/>
                          </a:solidFill>
                          <a:latin typeface="Calibri"/>
                          <a:cs typeface="Calibri"/>
                        </a:rPr>
                        <a:t>state</a:t>
                      </a:r>
                      <a:endParaRPr sz="1800" dirty="0">
                        <a:latin typeface="Calibri"/>
                        <a:cs typeface="Calibri"/>
                      </a:endParaRPr>
                    </a:p>
                  </a:txBody>
                  <a:tcPr marL="0" marR="0" marT="31115" marB="0">
                    <a:lnL w="12700">
                      <a:solidFill>
                        <a:srgbClr val="FFFFFF"/>
                      </a:solidFill>
                      <a:prstDash val="soli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>
                      <a:solidFill>
                        <a:srgbClr val="FFFFFF"/>
                      </a:solidFill>
                      <a:prstDash val="solid"/>
                    </a:lnT>
                    <a:lnB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F81B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245"/>
                        </a:spcBef>
                      </a:pPr>
                      <a:r>
                        <a:rPr sz="1800" dirty="0">
                          <a:latin typeface="Calibri"/>
                          <a:cs typeface="Calibri"/>
                        </a:rPr>
                        <a:t>Process</a:t>
                      </a:r>
                      <a:r>
                        <a:rPr sz="1800" spc="-105" dirty="0">
                          <a:latin typeface="Calibri"/>
                          <a:cs typeface="Calibri"/>
                        </a:rPr>
                        <a:t> </a:t>
                      </a:r>
                      <a:r>
                        <a:rPr sz="1800" spc="-10" dirty="0">
                          <a:latin typeface="Calibri"/>
                          <a:cs typeface="Calibri"/>
                        </a:rPr>
                        <a:t>number</a:t>
                      </a:r>
                      <a:endParaRPr sz="1800">
                        <a:latin typeface="Calibri"/>
                        <a:cs typeface="Calibri"/>
                      </a:endParaRPr>
                    </a:p>
                  </a:txBody>
                  <a:tcPr marL="0" marR="0" marT="31115" marB="0">
                    <a:lnL w="12700">
                      <a:solidFill>
                        <a:srgbClr val="FFFFFF"/>
                      </a:solidFill>
                      <a:prstDash val="solid"/>
                    </a:lnL>
                    <a:lnR w="12700">
                      <a:solidFill>
                        <a:srgbClr val="FFFFFF"/>
                      </a:solidFill>
                      <a:prstDash val="solid"/>
                    </a:lnR>
                    <a:lnT w="38100">
                      <a:solidFill>
                        <a:srgbClr val="FFFFFF"/>
                      </a:solidFill>
                      <a:prstDash val="solid"/>
                    </a:lnT>
                    <a:lnB w="12700">
                      <a:solidFill>
                        <a:srgbClr val="FFFFFF"/>
                      </a:solidFill>
                      <a:prstDash val="solid"/>
                    </a:lnB>
                    <a:solidFill>
                      <a:srgbClr val="D0D7E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70205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245"/>
                        </a:spcBef>
                      </a:pPr>
                      <a:r>
                        <a:rPr sz="1800" spc="-10" dirty="0">
                          <a:latin typeface="Calibri"/>
                          <a:cs typeface="Calibri"/>
                        </a:rPr>
                        <a:t>Program</a:t>
                      </a:r>
                      <a:r>
                        <a:rPr sz="1800" spc="-45" dirty="0">
                          <a:latin typeface="Calibri"/>
                          <a:cs typeface="Calibri"/>
                        </a:rPr>
                        <a:t> </a:t>
                      </a:r>
                      <a:r>
                        <a:rPr sz="1800" spc="-10" dirty="0">
                          <a:latin typeface="Calibri"/>
                          <a:cs typeface="Calibri"/>
                        </a:rPr>
                        <a:t>counter</a:t>
                      </a:r>
                      <a:endParaRPr sz="1800">
                        <a:latin typeface="Calibri"/>
                        <a:cs typeface="Calibri"/>
                      </a:endParaRPr>
                    </a:p>
                  </a:txBody>
                  <a:tcPr marL="0" marR="0" marT="31115" marB="0">
                    <a:lnL w="12700">
                      <a:solidFill>
                        <a:srgbClr val="FFFFFF"/>
                      </a:solidFill>
                      <a:prstDash val="solid"/>
                    </a:lnL>
                    <a:lnR w="12700">
                      <a:solidFill>
                        <a:srgbClr val="FFFFFF"/>
                      </a:solidFill>
                      <a:prstDash val="solid"/>
                    </a:lnR>
                    <a:lnT w="12700">
                      <a:solidFill>
                        <a:srgbClr val="FFFFFF"/>
                      </a:solidFill>
                      <a:prstDash val="solid"/>
                    </a:lnT>
                    <a:lnB w="12700">
                      <a:solidFill>
                        <a:srgbClr val="FFFFFF"/>
                      </a:solidFill>
                      <a:prstDash val="solid"/>
                    </a:lnB>
                    <a:solidFill>
                      <a:srgbClr val="E9ECF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250"/>
                        </a:spcBef>
                      </a:pPr>
                      <a:r>
                        <a:rPr sz="1800" spc="-10" dirty="0">
                          <a:latin typeface="Calibri"/>
                          <a:cs typeface="Calibri"/>
                        </a:rPr>
                        <a:t>Registers</a:t>
                      </a:r>
                      <a:endParaRPr sz="1800" dirty="0">
                        <a:latin typeface="Calibri"/>
                        <a:cs typeface="Calibri"/>
                      </a:endParaRPr>
                    </a:p>
                  </a:txBody>
                  <a:tcPr marL="0" marR="0" marT="31750" marB="0">
                    <a:lnL w="12700">
                      <a:solidFill>
                        <a:srgbClr val="FFFFFF"/>
                      </a:solidFill>
                      <a:prstDash val="solid"/>
                    </a:lnL>
                    <a:lnR w="12700">
                      <a:solidFill>
                        <a:srgbClr val="FFFFFF"/>
                      </a:solidFill>
                      <a:prstDash val="solid"/>
                    </a:lnR>
                    <a:lnT w="12700">
                      <a:solidFill>
                        <a:srgbClr val="FFFFFF"/>
                      </a:solidFill>
                      <a:prstDash val="solid"/>
                    </a:lnT>
                    <a:lnB w="12700">
                      <a:solidFill>
                        <a:srgbClr val="FFFFFF"/>
                      </a:solidFill>
                      <a:prstDash val="solid"/>
                    </a:lnB>
                    <a:solidFill>
                      <a:srgbClr val="D0D7E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70205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250"/>
                        </a:spcBef>
                      </a:pPr>
                      <a:r>
                        <a:rPr sz="1800" dirty="0">
                          <a:latin typeface="Calibri"/>
                          <a:cs typeface="Calibri"/>
                        </a:rPr>
                        <a:t>Memory</a:t>
                      </a:r>
                      <a:r>
                        <a:rPr sz="1800" spc="-65" dirty="0">
                          <a:latin typeface="Calibri"/>
                          <a:cs typeface="Calibri"/>
                        </a:rPr>
                        <a:t> </a:t>
                      </a:r>
                      <a:r>
                        <a:rPr sz="1800" spc="-10" dirty="0">
                          <a:latin typeface="Calibri"/>
                          <a:cs typeface="Calibri"/>
                        </a:rPr>
                        <a:t>Limits</a:t>
                      </a:r>
                      <a:endParaRPr sz="1800">
                        <a:latin typeface="Calibri"/>
                        <a:cs typeface="Calibri"/>
                      </a:endParaRPr>
                    </a:p>
                  </a:txBody>
                  <a:tcPr marL="0" marR="0" marT="31750" marB="0">
                    <a:lnL w="12700">
                      <a:solidFill>
                        <a:srgbClr val="FFFFFF"/>
                      </a:solidFill>
                      <a:prstDash val="solid"/>
                    </a:lnL>
                    <a:lnR w="12700">
                      <a:solidFill>
                        <a:srgbClr val="FFFFFF"/>
                      </a:solidFill>
                      <a:prstDash val="solid"/>
                    </a:lnR>
                    <a:lnT w="12700">
                      <a:solidFill>
                        <a:srgbClr val="FFFFFF"/>
                      </a:solidFill>
                      <a:prstDash val="solid"/>
                    </a:lnT>
                    <a:lnB w="12700">
                      <a:solidFill>
                        <a:srgbClr val="FFFFFF"/>
                      </a:solidFill>
                      <a:prstDash val="solid"/>
                    </a:lnB>
                    <a:solidFill>
                      <a:srgbClr val="E9ECF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250"/>
                        </a:spcBef>
                      </a:pPr>
                      <a:r>
                        <a:rPr sz="1800" dirty="0">
                          <a:latin typeface="Calibri"/>
                          <a:cs typeface="Calibri"/>
                        </a:rPr>
                        <a:t>List</a:t>
                      </a:r>
                      <a:r>
                        <a:rPr sz="1800" spc="-35" dirty="0">
                          <a:latin typeface="Calibri"/>
                          <a:cs typeface="Calibri"/>
                        </a:rPr>
                        <a:t> </a:t>
                      </a:r>
                      <a:r>
                        <a:rPr sz="1800" dirty="0">
                          <a:latin typeface="Calibri"/>
                          <a:cs typeface="Calibri"/>
                        </a:rPr>
                        <a:t>of</a:t>
                      </a:r>
                      <a:r>
                        <a:rPr sz="1800" spc="-35" dirty="0">
                          <a:latin typeface="Calibri"/>
                          <a:cs typeface="Calibri"/>
                        </a:rPr>
                        <a:t> </a:t>
                      </a:r>
                      <a:r>
                        <a:rPr sz="1800" dirty="0">
                          <a:latin typeface="Calibri"/>
                          <a:cs typeface="Calibri"/>
                        </a:rPr>
                        <a:t>open</a:t>
                      </a:r>
                      <a:r>
                        <a:rPr sz="1800" spc="-20" dirty="0">
                          <a:latin typeface="Calibri"/>
                          <a:cs typeface="Calibri"/>
                        </a:rPr>
                        <a:t> </a:t>
                      </a:r>
                      <a:r>
                        <a:rPr sz="1800" spc="-10" dirty="0">
                          <a:latin typeface="Calibri"/>
                          <a:cs typeface="Calibri"/>
                        </a:rPr>
                        <a:t>files</a:t>
                      </a:r>
                      <a:endParaRPr sz="1800">
                        <a:latin typeface="Calibri"/>
                        <a:cs typeface="Calibri"/>
                      </a:endParaRPr>
                    </a:p>
                  </a:txBody>
                  <a:tcPr marL="0" marR="0" marT="31750" marB="0">
                    <a:lnL w="12700">
                      <a:solidFill>
                        <a:srgbClr val="FFFFFF"/>
                      </a:solidFill>
                      <a:prstDash val="solid"/>
                    </a:lnL>
                    <a:lnR w="12700">
                      <a:solidFill>
                        <a:srgbClr val="FFFFFF"/>
                      </a:solidFill>
                      <a:prstDash val="solid"/>
                    </a:lnR>
                    <a:lnT w="12700">
                      <a:solidFill>
                        <a:srgbClr val="FFFFFF"/>
                      </a:solidFill>
                      <a:prstDash val="solid"/>
                    </a:lnT>
                    <a:lnB w="12700">
                      <a:solidFill>
                        <a:srgbClr val="FFFFFF"/>
                      </a:solidFill>
                      <a:prstDash val="solid"/>
                    </a:lnB>
                    <a:solidFill>
                      <a:srgbClr val="D0D7E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70205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250"/>
                        </a:spcBef>
                      </a:pPr>
                      <a:r>
                        <a:rPr sz="1800" spc="-25" dirty="0">
                          <a:latin typeface="Calibri"/>
                          <a:cs typeface="Calibri"/>
                        </a:rPr>
                        <a:t>…….</a:t>
                      </a:r>
                      <a:endParaRPr sz="1800" dirty="0">
                        <a:latin typeface="Calibri"/>
                        <a:cs typeface="Calibri"/>
                      </a:endParaRPr>
                    </a:p>
                  </a:txBody>
                  <a:tcPr marL="0" marR="0" marT="31750" marB="0">
                    <a:lnL w="12700">
                      <a:solidFill>
                        <a:srgbClr val="FFFFFF"/>
                      </a:solidFill>
                      <a:prstDash val="solid"/>
                    </a:lnL>
                    <a:lnR w="12700">
                      <a:solidFill>
                        <a:srgbClr val="FFFFFF"/>
                      </a:solidFill>
                      <a:prstDash val="solid"/>
                    </a:lnR>
                    <a:lnT w="12700">
                      <a:solidFill>
                        <a:srgbClr val="FFFFFF"/>
                      </a:solidFill>
                      <a:prstDash val="solid"/>
                    </a:lnT>
                    <a:lnB w="12700">
                      <a:solidFill>
                        <a:srgbClr val="FFFFFF"/>
                      </a:solidFill>
                      <a:prstDash val="solid"/>
                    </a:lnB>
                    <a:solidFill>
                      <a:srgbClr val="E9ECF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xfrm>
            <a:off x="2175002" y="152400"/>
            <a:ext cx="4793995" cy="697230"/>
          </a:xfrm>
          <a:prstGeom prst="rect">
            <a:avLst/>
          </a:prstGeom>
        </p:spPr>
        <p:txBody>
          <a:bodyPr vert="horz" wrap="square" lIns="0" tIns="13335" rIns="0" bIns="0" rtlCol="0">
            <a:spAutoFit/>
          </a:bodyPr>
          <a:lstStyle/>
          <a:p>
            <a:pPr marL="12700" algn="ctr">
              <a:spcBef>
                <a:spcPts val="105"/>
              </a:spcBef>
            </a:pPr>
            <a:r>
              <a:rPr dirty="0"/>
              <a:t>Operation on process</a:t>
            </a:r>
          </a:p>
        </p:txBody>
      </p:sp>
      <p:sp>
        <p:nvSpPr>
          <p:cNvPr id="8" name="object 8"/>
          <p:cNvSpPr txBox="1">
            <a:spLocks noGrp="1"/>
          </p:cNvSpPr>
          <p:nvPr>
            <p:ph type="ftr" sz="quarter" idx="5"/>
          </p:nvPr>
        </p:nvSpPr>
        <p:spPr>
          <a:xfrm>
            <a:off x="3301935" y="6465214"/>
            <a:ext cx="2540127" cy="156068"/>
          </a:xfrm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12700" algn="ctr">
              <a:lnSpc>
                <a:spcPts val="1240"/>
              </a:lnSpc>
            </a:pPr>
            <a:r>
              <a:rPr lang="pl-PL" dirty="0">
                <a:solidFill>
                  <a:schemeClr val="accent1"/>
                </a:solidFill>
              </a:rPr>
              <a:t>By Dr. Binod Kr. Adhikari</a:t>
            </a:r>
            <a:endParaRPr spc="-10" dirty="0">
              <a:solidFill>
                <a:schemeClr val="accent1"/>
              </a:solidFill>
            </a:endParaRPr>
          </a:p>
        </p:txBody>
      </p:sp>
      <p:sp>
        <p:nvSpPr>
          <p:cNvPr id="3" name="object 3"/>
          <p:cNvSpPr txBox="1"/>
          <p:nvPr/>
        </p:nvSpPr>
        <p:spPr>
          <a:xfrm>
            <a:off x="535940" y="1607642"/>
            <a:ext cx="8070850" cy="1002030"/>
          </a:xfrm>
          <a:prstGeom prst="rect">
            <a:avLst/>
          </a:prstGeom>
        </p:spPr>
        <p:txBody>
          <a:bodyPr vert="horz" wrap="square" lIns="0" tIns="13335" rIns="0" bIns="0" rtlCol="0">
            <a:spAutoFit/>
          </a:bodyPr>
          <a:lstStyle/>
          <a:p>
            <a:pPr marL="355600" marR="5080" indent="-342900">
              <a:lnSpc>
                <a:spcPct val="100000"/>
              </a:lnSpc>
              <a:spcBef>
                <a:spcPts val="105"/>
              </a:spcBef>
              <a:buFont typeface="Arial"/>
              <a:buChar char="•"/>
              <a:tabLst>
                <a:tab pos="355600" algn="l"/>
                <a:tab pos="1237615" algn="l"/>
                <a:tab pos="2690495" algn="l"/>
                <a:tab pos="3120390" algn="l"/>
                <a:tab pos="3493770" algn="l"/>
                <a:tab pos="3696335" algn="l"/>
                <a:tab pos="4404995" algn="l"/>
                <a:tab pos="4516755" algn="l"/>
                <a:tab pos="5414010" algn="l"/>
                <a:tab pos="5929630" algn="l"/>
                <a:tab pos="6007100" algn="l"/>
                <a:tab pos="6775450" algn="l"/>
                <a:tab pos="7433945" algn="l"/>
              </a:tabLst>
            </a:pPr>
            <a:r>
              <a:rPr sz="3200" spc="-25" dirty="0">
                <a:latin typeface="Calibri"/>
                <a:cs typeface="Calibri"/>
              </a:rPr>
              <a:t>The</a:t>
            </a:r>
            <a:r>
              <a:rPr sz="3200" dirty="0">
                <a:latin typeface="Calibri"/>
                <a:cs typeface="Calibri"/>
              </a:rPr>
              <a:t>	</a:t>
            </a:r>
            <a:r>
              <a:rPr sz="3200" spc="-10" dirty="0">
                <a:latin typeface="Calibri"/>
                <a:cs typeface="Calibri"/>
              </a:rPr>
              <a:t>processes</a:t>
            </a:r>
            <a:r>
              <a:rPr sz="3200" dirty="0">
                <a:latin typeface="Calibri"/>
                <a:cs typeface="Calibri"/>
              </a:rPr>
              <a:t>	</a:t>
            </a:r>
            <a:r>
              <a:rPr sz="3200" spc="-25" dirty="0">
                <a:latin typeface="Calibri"/>
                <a:cs typeface="Calibri"/>
              </a:rPr>
              <a:t>in</a:t>
            </a:r>
            <a:r>
              <a:rPr sz="3200" dirty="0">
                <a:latin typeface="Calibri"/>
                <a:cs typeface="Calibri"/>
              </a:rPr>
              <a:t>		</a:t>
            </a:r>
            <a:r>
              <a:rPr sz="3200" spc="-25" dirty="0">
                <a:latin typeface="Calibri"/>
                <a:cs typeface="Calibri"/>
              </a:rPr>
              <a:t>the</a:t>
            </a:r>
            <a:r>
              <a:rPr sz="3200" dirty="0">
                <a:latin typeface="Calibri"/>
                <a:cs typeface="Calibri"/>
              </a:rPr>
              <a:t>		</a:t>
            </a:r>
            <a:r>
              <a:rPr sz="3200" spc="-10" dirty="0">
                <a:latin typeface="Calibri"/>
                <a:cs typeface="Calibri"/>
              </a:rPr>
              <a:t>system</a:t>
            </a:r>
            <a:r>
              <a:rPr sz="3200" dirty="0">
                <a:latin typeface="Calibri"/>
                <a:cs typeface="Calibri"/>
              </a:rPr>
              <a:t>	</a:t>
            </a:r>
            <a:r>
              <a:rPr sz="3200" spc="-25" dirty="0">
                <a:latin typeface="Calibri"/>
                <a:cs typeface="Calibri"/>
              </a:rPr>
              <a:t>can</a:t>
            </a:r>
            <a:r>
              <a:rPr sz="3200" dirty="0">
                <a:latin typeface="Calibri"/>
                <a:cs typeface="Calibri"/>
              </a:rPr>
              <a:t>	</a:t>
            </a:r>
            <a:r>
              <a:rPr sz="3200" spc="-35" dirty="0">
                <a:latin typeface="Calibri"/>
                <a:cs typeface="Calibri"/>
              </a:rPr>
              <a:t>execute </a:t>
            </a:r>
            <a:r>
              <a:rPr sz="3200" i="1" spc="-10" dirty="0">
                <a:latin typeface="Calibri"/>
                <a:cs typeface="Calibri"/>
              </a:rPr>
              <a:t>concurrently</a:t>
            </a:r>
            <a:r>
              <a:rPr sz="3200" spc="-10" dirty="0">
                <a:latin typeface="Calibri"/>
                <a:cs typeface="Calibri"/>
              </a:rPr>
              <a:t>,</a:t>
            </a:r>
            <a:r>
              <a:rPr sz="3200" dirty="0">
                <a:latin typeface="Calibri"/>
                <a:cs typeface="Calibri"/>
              </a:rPr>
              <a:t>	</a:t>
            </a:r>
            <a:r>
              <a:rPr sz="3200" spc="-25" dirty="0">
                <a:latin typeface="Calibri"/>
                <a:cs typeface="Calibri"/>
              </a:rPr>
              <a:t>and</a:t>
            </a:r>
            <a:r>
              <a:rPr sz="3200" dirty="0">
                <a:latin typeface="Calibri"/>
                <a:cs typeface="Calibri"/>
              </a:rPr>
              <a:t>	</a:t>
            </a:r>
            <a:r>
              <a:rPr sz="3200" spc="-20" dirty="0">
                <a:latin typeface="Calibri"/>
                <a:cs typeface="Calibri"/>
              </a:rPr>
              <a:t>they</a:t>
            </a:r>
            <a:r>
              <a:rPr sz="3200" dirty="0">
                <a:latin typeface="Calibri"/>
                <a:cs typeface="Calibri"/>
              </a:rPr>
              <a:t>	</a:t>
            </a:r>
            <a:r>
              <a:rPr sz="3200" spc="-20" dirty="0">
                <a:latin typeface="Calibri"/>
                <a:cs typeface="Calibri"/>
              </a:rPr>
              <a:t>must</a:t>
            </a:r>
            <a:r>
              <a:rPr sz="3200" dirty="0">
                <a:latin typeface="Calibri"/>
                <a:cs typeface="Calibri"/>
              </a:rPr>
              <a:t>	</a:t>
            </a:r>
            <a:r>
              <a:rPr sz="3200" spc="-25" dirty="0">
                <a:latin typeface="Calibri"/>
                <a:cs typeface="Calibri"/>
              </a:rPr>
              <a:t>be</a:t>
            </a:r>
            <a:r>
              <a:rPr sz="3200" dirty="0">
                <a:latin typeface="Calibri"/>
                <a:cs typeface="Calibri"/>
              </a:rPr>
              <a:t>		</a:t>
            </a:r>
            <a:r>
              <a:rPr sz="3200" spc="-10" dirty="0">
                <a:latin typeface="Calibri"/>
                <a:cs typeface="Calibri"/>
              </a:rPr>
              <a:t>created</a:t>
            </a:r>
            <a:r>
              <a:rPr sz="3200" dirty="0">
                <a:latin typeface="Calibri"/>
                <a:cs typeface="Calibri"/>
              </a:rPr>
              <a:t>	</a:t>
            </a:r>
            <a:r>
              <a:rPr sz="3200" spc="-25" dirty="0">
                <a:latin typeface="Calibri"/>
                <a:cs typeface="Calibri"/>
              </a:rPr>
              <a:t>and</a:t>
            </a:r>
            <a:endParaRPr sz="3200" dirty="0">
              <a:latin typeface="Calibri"/>
              <a:cs typeface="Calibri"/>
            </a:endParaRPr>
          </a:p>
        </p:txBody>
      </p:sp>
      <p:sp>
        <p:nvSpPr>
          <p:cNvPr id="4" name="object 4"/>
          <p:cNvSpPr txBox="1"/>
          <p:nvPr/>
        </p:nvSpPr>
        <p:spPr>
          <a:xfrm>
            <a:off x="878839" y="2583307"/>
            <a:ext cx="4849495" cy="513715"/>
          </a:xfrm>
          <a:prstGeom prst="rect">
            <a:avLst/>
          </a:prstGeom>
        </p:spPr>
        <p:txBody>
          <a:bodyPr vert="horz" wrap="square" lIns="0" tIns="1333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5"/>
              </a:spcBef>
              <a:tabLst>
                <a:tab pos="1804670" algn="l"/>
                <a:tab pos="4379595" algn="l"/>
              </a:tabLst>
            </a:pPr>
            <a:r>
              <a:rPr sz="3200" spc="-10" dirty="0">
                <a:latin typeface="Calibri"/>
                <a:cs typeface="Calibri"/>
              </a:rPr>
              <a:t>deleted</a:t>
            </a:r>
            <a:r>
              <a:rPr sz="3200" dirty="0">
                <a:latin typeface="Calibri"/>
                <a:cs typeface="Calibri"/>
              </a:rPr>
              <a:t>	</a:t>
            </a:r>
            <a:r>
              <a:rPr sz="3200" spc="-10" dirty="0">
                <a:latin typeface="Calibri"/>
                <a:cs typeface="Calibri"/>
              </a:rPr>
              <a:t>dynamically.</a:t>
            </a:r>
            <a:r>
              <a:rPr sz="3200" dirty="0">
                <a:latin typeface="Calibri"/>
                <a:cs typeface="Calibri"/>
              </a:rPr>
              <a:t>	</a:t>
            </a:r>
            <a:r>
              <a:rPr sz="3200" spc="-25" dirty="0">
                <a:latin typeface="Calibri"/>
                <a:cs typeface="Calibri"/>
              </a:rPr>
              <a:t>OS</a:t>
            </a:r>
            <a:endParaRPr sz="3200">
              <a:latin typeface="Calibri"/>
              <a:cs typeface="Calibri"/>
            </a:endParaRPr>
          </a:p>
        </p:txBody>
      </p:sp>
      <p:sp>
        <p:nvSpPr>
          <p:cNvPr id="5" name="object 5"/>
          <p:cNvSpPr txBox="1"/>
          <p:nvPr/>
        </p:nvSpPr>
        <p:spPr>
          <a:xfrm>
            <a:off x="6073521" y="2583307"/>
            <a:ext cx="2536190" cy="1002030"/>
          </a:xfrm>
          <a:prstGeom prst="rect">
            <a:avLst/>
          </a:prstGeom>
        </p:spPr>
        <p:txBody>
          <a:bodyPr vert="horz" wrap="square" lIns="0" tIns="13335" rIns="0" bIns="0" rtlCol="0">
            <a:spAutoFit/>
          </a:bodyPr>
          <a:lstStyle/>
          <a:p>
            <a:pPr marL="178435">
              <a:lnSpc>
                <a:spcPct val="100000"/>
              </a:lnSpc>
              <a:spcBef>
                <a:spcPts val="105"/>
              </a:spcBef>
              <a:tabLst>
                <a:tab pos="1969770" algn="l"/>
              </a:tabLst>
            </a:pPr>
            <a:r>
              <a:rPr sz="3200" spc="-10" dirty="0">
                <a:latin typeface="Calibri"/>
                <a:cs typeface="Calibri"/>
              </a:rPr>
              <a:t>provide</a:t>
            </a:r>
            <a:r>
              <a:rPr sz="3200" dirty="0">
                <a:latin typeface="Calibri"/>
                <a:cs typeface="Calibri"/>
              </a:rPr>
              <a:t>	</a:t>
            </a:r>
            <a:r>
              <a:rPr sz="3200" spc="-25" dirty="0">
                <a:latin typeface="Calibri"/>
                <a:cs typeface="Calibri"/>
              </a:rPr>
              <a:t>the</a:t>
            </a:r>
            <a:endParaRPr sz="3200">
              <a:latin typeface="Calibri"/>
              <a:cs typeface="Calibri"/>
            </a:endParaRPr>
          </a:p>
          <a:p>
            <a:pPr marL="12700">
              <a:lnSpc>
                <a:spcPct val="100000"/>
              </a:lnSpc>
              <a:tabLst>
                <a:tab pos="1896110" algn="l"/>
              </a:tabLst>
            </a:pPr>
            <a:r>
              <a:rPr sz="3200" spc="-10" dirty="0">
                <a:latin typeface="Calibri"/>
                <a:cs typeface="Calibri"/>
              </a:rPr>
              <a:t>creation</a:t>
            </a:r>
            <a:r>
              <a:rPr sz="3200" dirty="0">
                <a:latin typeface="Calibri"/>
                <a:cs typeface="Calibri"/>
              </a:rPr>
              <a:t>	</a:t>
            </a:r>
            <a:r>
              <a:rPr sz="3200" spc="-25" dirty="0">
                <a:latin typeface="Calibri"/>
                <a:cs typeface="Calibri"/>
              </a:rPr>
              <a:t>and</a:t>
            </a:r>
            <a:endParaRPr sz="3200">
              <a:latin typeface="Calibri"/>
              <a:cs typeface="Calibri"/>
            </a:endParaRPr>
          </a:p>
        </p:txBody>
      </p:sp>
      <p:sp>
        <p:nvSpPr>
          <p:cNvPr id="6" name="object 6"/>
          <p:cNvSpPr txBox="1"/>
          <p:nvPr/>
        </p:nvSpPr>
        <p:spPr>
          <a:xfrm>
            <a:off x="878839" y="3071241"/>
            <a:ext cx="4698365" cy="1001394"/>
          </a:xfrm>
          <a:prstGeom prst="rect">
            <a:avLst/>
          </a:prstGeom>
        </p:spPr>
        <p:txBody>
          <a:bodyPr vert="horz" wrap="square" lIns="0" tIns="13335" rIns="0" bIns="0" rtlCol="0">
            <a:spAutoFit/>
          </a:bodyPr>
          <a:lstStyle/>
          <a:p>
            <a:pPr marL="12700" marR="5080">
              <a:lnSpc>
                <a:spcPct val="100000"/>
              </a:lnSpc>
              <a:spcBef>
                <a:spcPts val="105"/>
              </a:spcBef>
              <a:tabLst>
                <a:tab pos="2435860" algn="l"/>
                <a:tab pos="3429635" algn="l"/>
              </a:tabLst>
            </a:pPr>
            <a:r>
              <a:rPr sz="3200" spc="-10" dirty="0">
                <a:latin typeface="Calibri"/>
                <a:cs typeface="Calibri"/>
              </a:rPr>
              <a:t>mechanism</a:t>
            </a:r>
            <a:r>
              <a:rPr sz="3200" dirty="0">
                <a:latin typeface="Calibri"/>
                <a:cs typeface="Calibri"/>
              </a:rPr>
              <a:t>	</a:t>
            </a:r>
            <a:r>
              <a:rPr sz="3200" spc="-25" dirty="0">
                <a:latin typeface="Calibri"/>
                <a:cs typeface="Calibri"/>
              </a:rPr>
              <a:t>for</a:t>
            </a:r>
            <a:r>
              <a:rPr sz="3200" dirty="0">
                <a:latin typeface="Calibri"/>
                <a:cs typeface="Calibri"/>
              </a:rPr>
              <a:t>	</a:t>
            </a:r>
            <a:r>
              <a:rPr sz="3200" spc="-20" dirty="0">
                <a:latin typeface="Calibri"/>
                <a:cs typeface="Calibri"/>
              </a:rPr>
              <a:t>process </a:t>
            </a:r>
            <a:r>
              <a:rPr sz="3200" spc="-10" dirty="0">
                <a:latin typeface="Calibri"/>
                <a:cs typeface="Calibri"/>
              </a:rPr>
              <a:t>termination.</a:t>
            </a:r>
            <a:endParaRPr sz="3200">
              <a:latin typeface="Calibri"/>
              <a:cs typeface="Calibri"/>
            </a:endParaRPr>
          </a:p>
        </p:txBody>
      </p:sp>
      <p:sp>
        <p:nvSpPr>
          <p:cNvPr id="7" name="object 7"/>
          <p:cNvSpPr txBox="1"/>
          <p:nvPr/>
        </p:nvSpPr>
        <p:spPr>
          <a:xfrm>
            <a:off x="993139" y="4049102"/>
            <a:ext cx="3221355" cy="1050290"/>
          </a:xfrm>
          <a:prstGeom prst="rect">
            <a:avLst/>
          </a:prstGeom>
        </p:spPr>
        <p:txBody>
          <a:bodyPr vert="horz" wrap="square" lIns="0" tIns="98425" rIns="0" bIns="0" rtlCol="0">
            <a:spAutoFit/>
          </a:bodyPr>
          <a:lstStyle/>
          <a:p>
            <a:pPr marL="298450" indent="-285750">
              <a:lnSpc>
                <a:spcPct val="100000"/>
              </a:lnSpc>
              <a:spcBef>
                <a:spcPts val="775"/>
              </a:spcBef>
              <a:buFont typeface="Arial"/>
              <a:buChar char="–"/>
              <a:tabLst>
                <a:tab pos="298450" algn="l"/>
              </a:tabLst>
            </a:pPr>
            <a:r>
              <a:rPr sz="2800" dirty="0">
                <a:latin typeface="Calibri"/>
                <a:cs typeface="Calibri"/>
              </a:rPr>
              <a:t>Process</a:t>
            </a:r>
            <a:r>
              <a:rPr sz="2800" spc="-155" dirty="0">
                <a:latin typeface="Calibri"/>
                <a:cs typeface="Calibri"/>
              </a:rPr>
              <a:t> </a:t>
            </a:r>
            <a:r>
              <a:rPr sz="2800" spc="-10" dirty="0">
                <a:latin typeface="Calibri"/>
                <a:cs typeface="Calibri"/>
              </a:rPr>
              <a:t>Creation.</a:t>
            </a:r>
            <a:endParaRPr sz="2800">
              <a:latin typeface="Calibri"/>
              <a:cs typeface="Calibri"/>
            </a:endParaRPr>
          </a:p>
          <a:p>
            <a:pPr marL="299085" indent="-286385">
              <a:lnSpc>
                <a:spcPct val="100000"/>
              </a:lnSpc>
              <a:spcBef>
                <a:spcPts val="670"/>
              </a:spcBef>
              <a:buFont typeface="Arial"/>
              <a:buChar char="–"/>
              <a:tabLst>
                <a:tab pos="299085" algn="l"/>
              </a:tabLst>
            </a:pPr>
            <a:r>
              <a:rPr sz="2800" dirty="0">
                <a:latin typeface="Calibri"/>
                <a:cs typeface="Calibri"/>
              </a:rPr>
              <a:t>Process</a:t>
            </a:r>
            <a:r>
              <a:rPr sz="2800" spc="-150" dirty="0">
                <a:latin typeface="Calibri"/>
                <a:cs typeface="Calibri"/>
              </a:rPr>
              <a:t> </a:t>
            </a:r>
            <a:r>
              <a:rPr sz="2800" spc="-20" dirty="0">
                <a:latin typeface="Calibri"/>
                <a:cs typeface="Calibri"/>
              </a:rPr>
              <a:t>Termination</a:t>
            </a:r>
            <a:endParaRPr sz="2800">
              <a:latin typeface="Calibri"/>
              <a:cs typeface="Calibri"/>
            </a:endParaRP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xfrm>
            <a:off x="2175002" y="152400"/>
            <a:ext cx="4793995" cy="697230"/>
          </a:xfrm>
          <a:prstGeom prst="rect">
            <a:avLst/>
          </a:prstGeom>
        </p:spPr>
        <p:txBody>
          <a:bodyPr vert="horz" wrap="square" lIns="0" tIns="13335" rIns="0" bIns="0" rtlCol="0">
            <a:spAutoFit/>
          </a:bodyPr>
          <a:lstStyle/>
          <a:p>
            <a:pPr marL="12700" algn="ctr">
              <a:spcBef>
                <a:spcPts val="105"/>
              </a:spcBef>
            </a:pPr>
            <a:r>
              <a:rPr dirty="0"/>
              <a:t>Process Creation</a:t>
            </a:r>
          </a:p>
        </p:txBody>
      </p:sp>
      <p:sp>
        <p:nvSpPr>
          <p:cNvPr id="4" name="object 4"/>
          <p:cNvSpPr txBox="1">
            <a:spLocks noGrp="1"/>
          </p:cNvSpPr>
          <p:nvPr>
            <p:ph type="ftr" sz="quarter" idx="5"/>
          </p:nvPr>
        </p:nvSpPr>
        <p:spPr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12700">
              <a:lnSpc>
                <a:spcPts val="1240"/>
              </a:lnSpc>
            </a:pPr>
            <a:r>
              <a:rPr lang="pl-PL"/>
              <a:t>By Dr. Binod Kr. Adhikari</a:t>
            </a:r>
            <a:endParaRPr spc="-10" dirty="0"/>
          </a:p>
        </p:txBody>
      </p:sp>
      <p:sp>
        <p:nvSpPr>
          <p:cNvPr id="3" name="object 3"/>
          <p:cNvSpPr txBox="1"/>
          <p:nvPr/>
        </p:nvSpPr>
        <p:spPr>
          <a:xfrm>
            <a:off x="535940" y="1447800"/>
            <a:ext cx="8075295" cy="4376420"/>
          </a:xfrm>
          <a:prstGeom prst="rect">
            <a:avLst/>
          </a:prstGeom>
        </p:spPr>
        <p:txBody>
          <a:bodyPr vert="horz" wrap="square" lIns="0" tIns="64769" rIns="0" bIns="0" rtlCol="0">
            <a:spAutoFit/>
          </a:bodyPr>
          <a:lstStyle/>
          <a:p>
            <a:pPr marL="355600" marR="5080" indent="-342900">
              <a:lnSpc>
                <a:spcPts val="3240"/>
              </a:lnSpc>
              <a:spcBef>
                <a:spcPts val="509"/>
              </a:spcBef>
              <a:buFont typeface="Arial"/>
              <a:buChar char="•"/>
              <a:tabLst>
                <a:tab pos="355600" algn="l"/>
                <a:tab pos="1431290" algn="l"/>
                <a:tab pos="2115820" algn="l"/>
                <a:tab pos="2941955" algn="l"/>
                <a:tab pos="4464685" algn="l"/>
                <a:tab pos="5665470" algn="l"/>
                <a:tab pos="6482715" algn="l"/>
                <a:tab pos="7545070" algn="l"/>
              </a:tabLst>
            </a:pPr>
            <a:r>
              <a:rPr sz="3000" spc="-10" dirty="0">
                <a:latin typeface="Calibri"/>
                <a:cs typeface="Calibri"/>
              </a:rPr>
              <a:t>There</a:t>
            </a:r>
            <a:r>
              <a:rPr sz="3000" dirty="0">
                <a:latin typeface="Calibri"/>
                <a:cs typeface="Calibri"/>
              </a:rPr>
              <a:t>	</a:t>
            </a:r>
            <a:r>
              <a:rPr sz="3000" spc="-25" dirty="0">
                <a:latin typeface="Calibri"/>
                <a:cs typeface="Calibri"/>
              </a:rPr>
              <a:t>are</a:t>
            </a:r>
            <a:r>
              <a:rPr sz="3000" dirty="0">
                <a:latin typeface="Calibri"/>
                <a:cs typeface="Calibri"/>
              </a:rPr>
              <a:t>	</a:t>
            </a:r>
            <a:r>
              <a:rPr sz="3000" spc="-20" dirty="0">
                <a:latin typeface="Calibri"/>
                <a:cs typeface="Calibri"/>
              </a:rPr>
              <a:t>four</a:t>
            </a:r>
            <a:r>
              <a:rPr sz="3000" dirty="0">
                <a:latin typeface="Calibri"/>
                <a:cs typeface="Calibri"/>
              </a:rPr>
              <a:t>	</a:t>
            </a:r>
            <a:r>
              <a:rPr sz="3000" spc="-10" dirty="0">
                <a:latin typeface="Calibri"/>
                <a:cs typeface="Calibri"/>
              </a:rPr>
              <a:t>principal</a:t>
            </a:r>
            <a:r>
              <a:rPr sz="3000" dirty="0">
                <a:latin typeface="Calibri"/>
                <a:cs typeface="Calibri"/>
              </a:rPr>
              <a:t>	</a:t>
            </a:r>
            <a:r>
              <a:rPr sz="3000" spc="-10" dirty="0">
                <a:latin typeface="Calibri"/>
                <a:cs typeface="Calibri"/>
              </a:rPr>
              <a:t>events</a:t>
            </a:r>
            <a:r>
              <a:rPr sz="3000" dirty="0">
                <a:latin typeface="Calibri"/>
                <a:cs typeface="Calibri"/>
              </a:rPr>
              <a:t>	</a:t>
            </a:r>
            <a:r>
              <a:rPr sz="3000" spc="-20" dirty="0">
                <a:latin typeface="Calibri"/>
                <a:cs typeface="Calibri"/>
              </a:rPr>
              <a:t>that</a:t>
            </a:r>
            <a:r>
              <a:rPr sz="3000" dirty="0">
                <a:latin typeface="Calibri"/>
                <a:cs typeface="Calibri"/>
              </a:rPr>
              <a:t>	</a:t>
            </a:r>
            <a:r>
              <a:rPr sz="3000" spc="-10" dirty="0">
                <a:latin typeface="Calibri"/>
                <a:cs typeface="Calibri"/>
              </a:rPr>
              <a:t>cause</a:t>
            </a:r>
            <a:r>
              <a:rPr sz="3000" dirty="0">
                <a:latin typeface="Calibri"/>
                <a:cs typeface="Calibri"/>
              </a:rPr>
              <a:t>	</a:t>
            </a:r>
            <a:r>
              <a:rPr sz="3000" spc="-25" dirty="0">
                <a:latin typeface="Calibri"/>
                <a:cs typeface="Calibri"/>
              </a:rPr>
              <a:t>the </a:t>
            </a:r>
            <a:r>
              <a:rPr sz="3000" dirty="0">
                <a:latin typeface="Calibri"/>
                <a:cs typeface="Calibri"/>
              </a:rPr>
              <a:t>process</a:t>
            </a:r>
            <a:r>
              <a:rPr sz="3000" spc="-70" dirty="0">
                <a:latin typeface="Calibri"/>
                <a:cs typeface="Calibri"/>
              </a:rPr>
              <a:t> </a:t>
            </a:r>
            <a:r>
              <a:rPr sz="3000" dirty="0">
                <a:latin typeface="Calibri"/>
                <a:cs typeface="Calibri"/>
              </a:rPr>
              <a:t>to</a:t>
            </a:r>
            <a:r>
              <a:rPr sz="3000" spc="-55" dirty="0">
                <a:latin typeface="Calibri"/>
                <a:cs typeface="Calibri"/>
              </a:rPr>
              <a:t> </a:t>
            </a:r>
            <a:r>
              <a:rPr sz="3000" dirty="0">
                <a:latin typeface="Calibri"/>
                <a:cs typeface="Calibri"/>
              </a:rPr>
              <a:t>be</a:t>
            </a:r>
            <a:r>
              <a:rPr sz="3000" spc="-70" dirty="0">
                <a:latin typeface="Calibri"/>
                <a:cs typeface="Calibri"/>
              </a:rPr>
              <a:t> </a:t>
            </a:r>
            <a:r>
              <a:rPr sz="3000" spc="-10" dirty="0">
                <a:latin typeface="Calibri"/>
                <a:cs typeface="Calibri"/>
              </a:rPr>
              <a:t>created:</a:t>
            </a:r>
            <a:endParaRPr sz="3000" dirty="0">
              <a:latin typeface="Calibri"/>
              <a:cs typeface="Calibri"/>
            </a:endParaRPr>
          </a:p>
          <a:p>
            <a:pPr marL="756285" lvl="1" indent="-286385">
              <a:lnSpc>
                <a:spcPct val="100000"/>
              </a:lnSpc>
              <a:spcBef>
                <a:spcPts val="290"/>
              </a:spcBef>
              <a:buFont typeface="Arial"/>
              <a:buChar char="–"/>
              <a:tabLst>
                <a:tab pos="756285" algn="l"/>
              </a:tabLst>
            </a:pPr>
            <a:r>
              <a:rPr sz="2600" dirty="0">
                <a:latin typeface="Calibri"/>
                <a:cs typeface="Calibri"/>
              </a:rPr>
              <a:t>»</a:t>
            </a:r>
            <a:r>
              <a:rPr sz="2600" spc="-65" dirty="0">
                <a:latin typeface="Calibri"/>
                <a:cs typeface="Calibri"/>
              </a:rPr>
              <a:t> </a:t>
            </a:r>
            <a:r>
              <a:rPr sz="2600" spc="-10" dirty="0">
                <a:latin typeface="Calibri"/>
                <a:cs typeface="Calibri"/>
              </a:rPr>
              <a:t>System</a:t>
            </a:r>
            <a:r>
              <a:rPr sz="2600" spc="-70" dirty="0">
                <a:latin typeface="Calibri"/>
                <a:cs typeface="Calibri"/>
              </a:rPr>
              <a:t> </a:t>
            </a:r>
            <a:r>
              <a:rPr sz="2600" spc="-10" dirty="0">
                <a:latin typeface="Calibri"/>
                <a:cs typeface="Calibri"/>
              </a:rPr>
              <a:t>initialization.</a:t>
            </a:r>
            <a:endParaRPr sz="2600" dirty="0">
              <a:latin typeface="Calibri"/>
              <a:cs typeface="Calibri"/>
            </a:endParaRPr>
          </a:p>
          <a:p>
            <a:pPr marL="756285" lvl="1" indent="-286385">
              <a:lnSpc>
                <a:spcPct val="100000"/>
              </a:lnSpc>
              <a:spcBef>
                <a:spcPts val="315"/>
              </a:spcBef>
              <a:buFont typeface="Arial"/>
              <a:buChar char="–"/>
              <a:tabLst>
                <a:tab pos="756285" algn="l"/>
              </a:tabLst>
            </a:pPr>
            <a:r>
              <a:rPr sz="2600" dirty="0">
                <a:latin typeface="Calibri"/>
                <a:cs typeface="Calibri"/>
              </a:rPr>
              <a:t>»</a:t>
            </a:r>
            <a:r>
              <a:rPr sz="2600" spc="-70" dirty="0">
                <a:latin typeface="Calibri"/>
                <a:cs typeface="Calibri"/>
              </a:rPr>
              <a:t> </a:t>
            </a:r>
            <a:r>
              <a:rPr sz="2600" dirty="0">
                <a:latin typeface="Calibri"/>
                <a:cs typeface="Calibri"/>
              </a:rPr>
              <a:t>Execution</a:t>
            </a:r>
            <a:r>
              <a:rPr sz="2600" spc="-65" dirty="0">
                <a:latin typeface="Calibri"/>
                <a:cs typeface="Calibri"/>
              </a:rPr>
              <a:t> </a:t>
            </a:r>
            <a:r>
              <a:rPr sz="2600" dirty="0">
                <a:latin typeface="Calibri"/>
                <a:cs typeface="Calibri"/>
              </a:rPr>
              <a:t>of</a:t>
            </a:r>
            <a:r>
              <a:rPr sz="2600" spc="-60" dirty="0">
                <a:latin typeface="Calibri"/>
                <a:cs typeface="Calibri"/>
              </a:rPr>
              <a:t> </a:t>
            </a:r>
            <a:r>
              <a:rPr sz="2600" dirty="0">
                <a:latin typeface="Calibri"/>
                <a:cs typeface="Calibri"/>
              </a:rPr>
              <a:t>a</a:t>
            </a:r>
            <a:r>
              <a:rPr sz="2600" spc="-50" dirty="0">
                <a:latin typeface="Calibri"/>
                <a:cs typeface="Calibri"/>
              </a:rPr>
              <a:t> </a:t>
            </a:r>
            <a:r>
              <a:rPr sz="2600" dirty="0">
                <a:latin typeface="Calibri"/>
                <a:cs typeface="Calibri"/>
              </a:rPr>
              <a:t>process</a:t>
            </a:r>
            <a:r>
              <a:rPr sz="2600" spc="-95" dirty="0">
                <a:latin typeface="Calibri"/>
                <a:cs typeface="Calibri"/>
              </a:rPr>
              <a:t> </a:t>
            </a:r>
            <a:r>
              <a:rPr sz="2600" dirty="0">
                <a:latin typeface="Calibri"/>
                <a:cs typeface="Calibri"/>
              </a:rPr>
              <a:t>creation</a:t>
            </a:r>
            <a:r>
              <a:rPr sz="2600" spc="-70" dirty="0">
                <a:latin typeface="Calibri"/>
                <a:cs typeface="Calibri"/>
              </a:rPr>
              <a:t> </a:t>
            </a:r>
            <a:r>
              <a:rPr sz="2600" spc="-10" dirty="0">
                <a:latin typeface="Calibri"/>
                <a:cs typeface="Calibri"/>
              </a:rPr>
              <a:t>system</a:t>
            </a:r>
            <a:r>
              <a:rPr sz="2600" spc="-95" dirty="0">
                <a:latin typeface="Calibri"/>
                <a:cs typeface="Calibri"/>
              </a:rPr>
              <a:t> </a:t>
            </a:r>
            <a:r>
              <a:rPr sz="2600" spc="-10" dirty="0">
                <a:latin typeface="Calibri"/>
                <a:cs typeface="Calibri"/>
              </a:rPr>
              <a:t>call.</a:t>
            </a:r>
            <a:endParaRPr sz="2600" dirty="0">
              <a:latin typeface="Calibri"/>
              <a:cs typeface="Calibri"/>
            </a:endParaRPr>
          </a:p>
          <a:p>
            <a:pPr marL="756285" lvl="1" indent="-286385">
              <a:lnSpc>
                <a:spcPct val="100000"/>
              </a:lnSpc>
              <a:spcBef>
                <a:spcPts val="310"/>
              </a:spcBef>
              <a:buFont typeface="Arial"/>
              <a:buChar char="–"/>
              <a:tabLst>
                <a:tab pos="756285" algn="l"/>
              </a:tabLst>
            </a:pPr>
            <a:r>
              <a:rPr sz="2600" dirty="0">
                <a:latin typeface="Calibri"/>
                <a:cs typeface="Calibri"/>
              </a:rPr>
              <a:t>»</a:t>
            </a:r>
            <a:r>
              <a:rPr sz="2600" spc="-65" dirty="0">
                <a:latin typeface="Calibri"/>
                <a:cs typeface="Calibri"/>
              </a:rPr>
              <a:t> </a:t>
            </a:r>
            <a:r>
              <a:rPr sz="2600" dirty="0">
                <a:latin typeface="Calibri"/>
                <a:cs typeface="Calibri"/>
              </a:rPr>
              <a:t>User</a:t>
            </a:r>
            <a:r>
              <a:rPr sz="2600" spc="-60" dirty="0">
                <a:latin typeface="Calibri"/>
                <a:cs typeface="Calibri"/>
              </a:rPr>
              <a:t> </a:t>
            </a:r>
            <a:r>
              <a:rPr sz="2600" dirty="0">
                <a:latin typeface="Calibri"/>
                <a:cs typeface="Calibri"/>
              </a:rPr>
              <a:t>request</a:t>
            </a:r>
            <a:r>
              <a:rPr sz="2600" spc="-80" dirty="0">
                <a:latin typeface="Calibri"/>
                <a:cs typeface="Calibri"/>
              </a:rPr>
              <a:t> </a:t>
            </a:r>
            <a:r>
              <a:rPr sz="2600" dirty="0">
                <a:latin typeface="Calibri"/>
                <a:cs typeface="Calibri"/>
              </a:rPr>
              <a:t>to</a:t>
            </a:r>
            <a:r>
              <a:rPr sz="2600" spc="-45" dirty="0">
                <a:latin typeface="Calibri"/>
                <a:cs typeface="Calibri"/>
              </a:rPr>
              <a:t> </a:t>
            </a:r>
            <a:r>
              <a:rPr sz="2600" dirty="0">
                <a:latin typeface="Calibri"/>
                <a:cs typeface="Calibri"/>
              </a:rPr>
              <a:t>create</a:t>
            </a:r>
            <a:r>
              <a:rPr sz="2600" spc="-70" dirty="0">
                <a:latin typeface="Calibri"/>
                <a:cs typeface="Calibri"/>
              </a:rPr>
              <a:t> </a:t>
            </a:r>
            <a:r>
              <a:rPr sz="2600" dirty="0">
                <a:latin typeface="Calibri"/>
                <a:cs typeface="Calibri"/>
              </a:rPr>
              <a:t>a</a:t>
            </a:r>
            <a:r>
              <a:rPr sz="2600" spc="-45" dirty="0">
                <a:latin typeface="Calibri"/>
                <a:cs typeface="Calibri"/>
              </a:rPr>
              <a:t> </a:t>
            </a:r>
            <a:r>
              <a:rPr sz="2600" dirty="0">
                <a:latin typeface="Calibri"/>
                <a:cs typeface="Calibri"/>
              </a:rPr>
              <a:t>new</a:t>
            </a:r>
            <a:r>
              <a:rPr sz="2600" spc="-60" dirty="0">
                <a:latin typeface="Calibri"/>
                <a:cs typeface="Calibri"/>
              </a:rPr>
              <a:t> </a:t>
            </a:r>
            <a:r>
              <a:rPr sz="2600" spc="-10" dirty="0">
                <a:latin typeface="Calibri"/>
                <a:cs typeface="Calibri"/>
              </a:rPr>
              <a:t>process.</a:t>
            </a:r>
            <a:endParaRPr sz="2600" dirty="0">
              <a:latin typeface="Calibri"/>
              <a:cs typeface="Calibri"/>
            </a:endParaRPr>
          </a:p>
          <a:p>
            <a:pPr marL="756285" lvl="1" indent="-286385">
              <a:lnSpc>
                <a:spcPct val="100000"/>
              </a:lnSpc>
              <a:spcBef>
                <a:spcPts val="315"/>
              </a:spcBef>
              <a:buFont typeface="Arial"/>
              <a:buChar char="–"/>
              <a:tabLst>
                <a:tab pos="756285" algn="l"/>
              </a:tabLst>
            </a:pPr>
            <a:r>
              <a:rPr sz="2600" dirty="0">
                <a:latin typeface="Calibri"/>
                <a:cs typeface="Calibri"/>
              </a:rPr>
              <a:t>»</a:t>
            </a:r>
            <a:r>
              <a:rPr sz="2600" spc="-55" dirty="0">
                <a:latin typeface="Calibri"/>
                <a:cs typeface="Calibri"/>
              </a:rPr>
              <a:t> </a:t>
            </a:r>
            <a:r>
              <a:rPr sz="2600" dirty="0">
                <a:latin typeface="Calibri"/>
                <a:cs typeface="Calibri"/>
              </a:rPr>
              <a:t>Initiation</a:t>
            </a:r>
            <a:r>
              <a:rPr sz="2600" spc="-45" dirty="0">
                <a:latin typeface="Calibri"/>
                <a:cs typeface="Calibri"/>
              </a:rPr>
              <a:t> </a:t>
            </a:r>
            <a:r>
              <a:rPr sz="2600" dirty="0">
                <a:latin typeface="Calibri"/>
                <a:cs typeface="Calibri"/>
              </a:rPr>
              <a:t>of</a:t>
            </a:r>
            <a:r>
              <a:rPr sz="2600" spc="-40" dirty="0">
                <a:latin typeface="Calibri"/>
                <a:cs typeface="Calibri"/>
              </a:rPr>
              <a:t> </a:t>
            </a:r>
            <a:r>
              <a:rPr sz="2600" dirty="0">
                <a:latin typeface="Calibri"/>
                <a:cs typeface="Calibri"/>
              </a:rPr>
              <a:t>a</a:t>
            </a:r>
            <a:r>
              <a:rPr sz="2600" spc="-35" dirty="0">
                <a:latin typeface="Calibri"/>
                <a:cs typeface="Calibri"/>
              </a:rPr>
              <a:t> </a:t>
            </a:r>
            <a:r>
              <a:rPr sz="2600" dirty="0">
                <a:latin typeface="Calibri"/>
                <a:cs typeface="Calibri"/>
              </a:rPr>
              <a:t>batch</a:t>
            </a:r>
            <a:r>
              <a:rPr sz="2600" spc="-50" dirty="0">
                <a:latin typeface="Calibri"/>
                <a:cs typeface="Calibri"/>
              </a:rPr>
              <a:t> </a:t>
            </a:r>
            <a:r>
              <a:rPr sz="2600" spc="-20" dirty="0">
                <a:latin typeface="Calibri"/>
                <a:cs typeface="Calibri"/>
              </a:rPr>
              <a:t>job.</a:t>
            </a:r>
            <a:endParaRPr sz="2600" dirty="0">
              <a:latin typeface="Calibri"/>
              <a:cs typeface="Calibri"/>
            </a:endParaRPr>
          </a:p>
          <a:p>
            <a:pPr marL="355600" marR="6350" indent="-342900" algn="just">
              <a:lnSpc>
                <a:spcPct val="90000"/>
              </a:lnSpc>
              <a:spcBef>
                <a:spcPts val="695"/>
              </a:spcBef>
              <a:buFont typeface="Arial"/>
              <a:buChar char="•"/>
              <a:tabLst>
                <a:tab pos="355600" algn="l"/>
              </a:tabLst>
            </a:pPr>
            <a:r>
              <a:rPr sz="3000" dirty="0">
                <a:latin typeface="Calibri"/>
                <a:cs typeface="Calibri"/>
              </a:rPr>
              <a:t>A</a:t>
            </a:r>
            <a:r>
              <a:rPr sz="3000" spc="204" dirty="0">
                <a:latin typeface="Calibri"/>
                <a:cs typeface="Calibri"/>
              </a:rPr>
              <a:t>  </a:t>
            </a:r>
            <a:r>
              <a:rPr sz="3000" dirty="0">
                <a:latin typeface="Calibri"/>
                <a:cs typeface="Calibri"/>
              </a:rPr>
              <a:t>process</a:t>
            </a:r>
            <a:r>
              <a:rPr sz="3000" spc="210" dirty="0">
                <a:latin typeface="Calibri"/>
                <a:cs typeface="Calibri"/>
              </a:rPr>
              <a:t>  </a:t>
            </a:r>
            <a:r>
              <a:rPr sz="3000" dirty="0">
                <a:latin typeface="Calibri"/>
                <a:cs typeface="Calibri"/>
              </a:rPr>
              <a:t>may</a:t>
            </a:r>
            <a:r>
              <a:rPr sz="3000" spc="204" dirty="0">
                <a:latin typeface="Calibri"/>
                <a:cs typeface="Calibri"/>
              </a:rPr>
              <a:t>  </a:t>
            </a:r>
            <a:r>
              <a:rPr sz="3000" dirty="0">
                <a:latin typeface="Calibri"/>
                <a:cs typeface="Calibri"/>
              </a:rPr>
              <a:t>create</a:t>
            </a:r>
            <a:r>
              <a:rPr sz="3000" spc="195" dirty="0">
                <a:latin typeface="Calibri"/>
                <a:cs typeface="Calibri"/>
              </a:rPr>
              <a:t>  </a:t>
            </a:r>
            <a:r>
              <a:rPr sz="3000" dirty="0">
                <a:latin typeface="Calibri"/>
                <a:cs typeface="Calibri"/>
              </a:rPr>
              <a:t>several</a:t>
            </a:r>
            <a:r>
              <a:rPr sz="3000" spc="204" dirty="0">
                <a:latin typeface="Calibri"/>
                <a:cs typeface="Calibri"/>
              </a:rPr>
              <a:t>  </a:t>
            </a:r>
            <a:r>
              <a:rPr sz="3000" dirty="0">
                <a:latin typeface="Calibri"/>
                <a:cs typeface="Calibri"/>
              </a:rPr>
              <a:t>new</a:t>
            </a:r>
            <a:r>
              <a:rPr sz="3000" spc="210" dirty="0">
                <a:latin typeface="Calibri"/>
                <a:cs typeface="Calibri"/>
              </a:rPr>
              <a:t>  </a:t>
            </a:r>
            <a:r>
              <a:rPr sz="3000" spc="-10" dirty="0">
                <a:latin typeface="Calibri"/>
                <a:cs typeface="Calibri"/>
              </a:rPr>
              <a:t>processes </a:t>
            </a:r>
            <a:r>
              <a:rPr sz="3000" dirty="0">
                <a:latin typeface="Calibri"/>
                <a:cs typeface="Calibri"/>
              </a:rPr>
              <a:t>during</a:t>
            </a:r>
            <a:r>
              <a:rPr sz="3000" spc="220" dirty="0">
                <a:latin typeface="Calibri"/>
                <a:cs typeface="Calibri"/>
              </a:rPr>
              <a:t>  </a:t>
            </a:r>
            <a:r>
              <a:rPr sz="3000" dirty="0">
                <a:latin typeface="Calibri"/>
                <a:cs typeface="Calibri"/>
              </a:rPr>
              <a:t>the</a:t>
            </a:r>
            <a:r>
              <a:rPr sz="3000" spc="210" dirty="0">
                <a:latin typeface="Calibri"/>
                <a:cs typeface="Calibri"/>
              </a:rPr>
              <a:t>  </a:t>
            </a:r>
            <a:r>
              <a:rPr sz="3000" dirty="0">
                <a:latin typeface="Calibri"/>
                <a:cs typeface="Calibri"/>
              </a:rPr>
              <a:t>course</a:t>
            </a:r>
            <a:r>
              <a:rPr sz="3000" spc="210" dirty="0">
                <a:latin typeface="Calibri"/>
                <a:cs typeface="Calibri"/>
              </a:rPr>
              <a:t>  </a:t>
            </a:r>
            <a:r>
              <a:rPr sz="3000" dirty="0">
                <a:latin typeface="Calibri"/>
                <a:cs typeface="Calibri"/>
              </a:rPr>
              <a:t>of</a:t>
            </a:r>
            <a:r>
              <a:rPr sz="3000" spc="220" dirty="0">
                <a:latin typeface="Calibri"/>
                <a:cs typeface="Calibri"/>
              </a:rPr>
              <a:t>  </a:t>
            </a:r>
            <a:r>
              <a:rPr sz="3000" dirty="0">
                <a:latin typeface="Calibri"/>
                <a:cs typeface="Calibri"/>
              </a:rPr>
              <a:t>execution.</a:t>
            </a:r>
            <a:r>
              <a:rPr sz="3000" spc="215" dirty="0">
                <a:latin typeface="Calibri"/>
                <a:cs typeface="Calibri"/>
              </a:rPr>
              <a:t>  </a:t>
            </a:r>
            <a:r>
              <a:rPr sz="3000" dirty="0">
                <a:latin typeface="Calibri"/>
                <a:cs typeface="Calibri"/>
              </a:rPr>
              <a:t>The</a:t>
            </a:r>
            <a:r>
              <a:rPr sz="3000" spc="220" dirty="0">
                <a:latin typeface="Calibri"/>
                <a:cs typeface="Calibri"/>
              </a:rPr>
              <a:t>  </a:t>
            </a:r>
            <a:r>
              <a:rPr sz="3000" spc="-10" dirty="0">
                <a:latin typeface="Calibri"/>
                <a:cs typeface="Calibri"/>
              </a:rPr>
              <a:t>creating </a:t>
            </a:r>
            <a:r>
              <a:rPr sz="3000" dirty="0">
                <a:latin typeface="Calibri"/>
                <a:cs typeface="Calibri"/>
              </a:rPr>
              <a:t>process</a:t>
            </a:r>
            <a:r>
              <a:rPr sz="3000" spc="320" dirty="0">
                <a:latin typeface="Calibri"/>
                <a:cs typeface="Calibri"/>
              </a:rPr>
              <a:t> </a:t>
            </a:r>
            <a:r>
              <a:rPr sz="3000" dirty="0">
                <a:latin typeface="Calibri"/>
                <a:cs typeface="Calibri"/>
              </a:rPr>
              <a:t>is</a:t>
            </a:r>
            <a:r>
              <a:rPr sz="3000" spc="325" dirty="0">
                <a:latin typeface="Calibri"/>
                <a:cs typeface="Calibri"/>
              </a:rPr>
              <a:t> </a:t>
            </a:r>
            <a:r>
              <a:rPr sz="3000" dirty="0">
                <a:latin typeface="Calibri"/>
                <a:cs typeface="Calibri"/>
              </a:rPr>
              <a:t>called</a:t>
            </a:r>
            <a:r>
              <a:rPr sz="3000" spc="315" dirty="0">
                <a:latin typeface="Calibri"/>
                <a:cs typeface="Calibri"/>
              </a:rPr>
              <a:t> </a:t>
            </a:r>
            <a:r>
              <a:rPr sz="3000" dirty="0">
                <a:latin typeface="Calibri"/>
                <a:cs typeface="Calibri"/>
              </a:rPr>
              <a:t>a</a:t>
            </a:r>
            <a:r>
              <a:rPr sz="3000" spc="310" dirty="0">
                <a:latin typeface="Calibri"/>
                <a:cs typeface="Calibri"/>
              </a:rPr>
              <a:t> </a:t>
            </a:r>
            <a:r>
              <a:rPr sz="3000" b="1" i="1" dirty="0">
                <a:latin typeface="Calibri"/>
                <a:cs typeface="Calibri"/>
              </a:rPr>
              <a:t>parent</a:t>
            </a:r>
            <a:r>
              <a:rPr sz="3000" b="1" i="1" spc="325" dirty="0">
                <a:latin typeface="Calibri"/>
                <a:cs typeface="Calibri"/>
              </a:rPr>
              <a:t> </a:t>
            </a:r>
            <a:r>
              <a:rPr sz="3000" b="1" i="1" dirty="0">
                <a:latin typeface="Calibri"/>
                <a:cs typeface="Calibri"/>
              </a:rPr>
              <a:t>process</a:t>
            </a:r>
            <a:r>
              <a:rPr sz="3000" dirty="0">
                <a:latin typeface="Calibri"/>
                <a:cs typeface="Calibri"/>
              </a:rPr>
              <a:t>,</a:t>
            </a:r>
            <a:r>
              <a:rPr sz="3000" spc="315" dirty="0">
                <a:latin typeface="Calibri"/>
                <a:cs typeface="Calibri"/>
              </a:rPr>
              <a:t> </a:t>
            </a:r>
            <a:r>
              <a:rPr sz="3000" dirty="0">
                <a:latin typeface="Calibri"/>
                <a:cs typeface="Calibri"/>
              </a:rPr>
              <a:t>where</a:t>
            </a:r>
            <a:r>
              <a:rPr sz="3000" spc="315" dirty="0">
                <a:latin typeface="Calibri"/>
                <a:cs typeface="Calibri"/>
              </a:rPr>
              <a:t> </a:t>
            </a:r>
            <a:r>
              <a:rPr sz="3000" dirty="0">
                <a:latin typeface="Calibri"/>
                <a:cs typeface="Calibri"/>
              </a:rPr>
              <a:t>as</a:t>
            </a:r>
            <a:r>
              <a:rPr sz="3000" spc="320" dirty="0">
                <a:latin typeface="Calibri"/>
                <a:cs typeface="Calibri"/>
              </a:rPr>
              <a:t> </a:t>
            </a:r>
            <a:r>
              <a:rPr sz="3000" spc="-25" dirty="0">
                <a:latin typeface="Calibri"/>
                <a:cs typeface="Calibri"/>
              </a:rPr>
              <a:t>the </a:t>
            </a:r>
            <a:r>
              <a:rPr sz="3000" dirty="0">
                <a:latin typeface="Calibri"/>
                <a:cs typeface="Calibri"/>
              </a:rPr>
              <a:t>new</a:t>
            </a:r>
            <a:r>
              <a:rPr sz="3000" spc="-80" dirty="0">
                <a:latin typeface="Calibri"/>
                <a:cs typeface="Calibri"/>
              </a:rPr>
              <a:t> </a:t>
            </a:r>
            <a:r>
              <a:rPr sz="3000" dirty="0">
                <a:latin typeface="Calibri"/>
                <a:cs typeface="Calibri"/>
              </a:rPr>
              <a:t>processes</a:t>
            </a:r>
            <a:r>
              <a:rPr sz="3000" spc="-45" dirty="0">
                <a:latin typeface="Calibri"/>
                <a:cs typeface="Calibri"/>
              </a:rPr>
              <a:t> </a:t>
            </a:r>
            <a:r>
              <a:rPr sz="3000" dirty="0">
                <a:latin typeface="Calibri"/>
                <a:cs typeface="Calibri"/>
              </a:rPr>
              <a:t>are</a:t>
            </a:r>
            <a:r>
              <a:rPr sz="3000" spc="-70" dirty="0">
                <a:latin typeface="Calibri"/>
                <a:cs typeface="Calibri"/>
              </a:rPr>
              <a:t> </a:t>
            </a:r>
            <a:r>
              <a:rPr sz="3000" dirty="0">
                <a:latin typeface="Calibri"/>
                <a:cs typeface="Calibri"/>
              </a:rPr>
              <a:t>called</a:t>
            </a:r>
            <a:r>
              <a:rPr sz="3000" spc="-80" dirty="0">
                <a:latin typeface="Calibri"/>
                <a:cs typeface="Calibri"/>
              </a:rPr>
              <a:t> </a:t>
            </a:r>
            <a:r>
              <a:rPr sz="3000" dirty="0">
                <a:latin typeface="Calibri"/>
                <a:cs typeface="Calibri"/>
              </a:rPr>
              <a:t>children</a:t>
            </a:r>
            <a:r>
              <a:rPr sz="3000" spc="-65" dirty="0">
                <a:latin typeface="Calibri"/>
                <a:cs typeface="Calibri"/>
              </a:rPr>
              <a:t> </a:t>
            </a:r>
            <a:r>
              <a:rPr sz="3000" dirty="0">
                <a:latin typeface="Calibri"/>
                <a:cs typeface="Calibri"/>
              </a:rPr>
              <a:t>of</a:t>
            </a:r>
            <a:r>
              <a:rPr sz="3000" spc="-70" dirty="0">
                <a:latin typeface="Calibri"/>
                <a:cs typeface="Calibri"/>
              </a:rPr>
              <a:t> </a:t>
            </a:r>
            <a:r>
              <a:rPr sz="3000" dirty="0">
                <a:latin typeface="Calibri"/>
                <a:cs typeface="Calibri"/>
              </a:rPr>
              <a:t>that</a:t>
            </a:r>
            <a:r>
              <a:rPr sz="3000" spc="-70" dirty="0">
                <a:latin typeface="Calibri"/>
                <a:cs typeface="Calibri"/>
              </a:rPr>
              <a:t> </a:t>
            </a:r>
            <a:r>
              <a:rPr sz="3000" spc="-10" dirty="0">
                <a:latin typeface="Calibri"/>
                <a:cs typeface="Calibri"/>
              </a:rPr>
              <a:t>process.</a:t>
            </a:r>
            <a:endParaRPr sz="3000" dirty="0">
              <a:latin typeface="Calibri"/>
              <a:cs typeface="Calibri"/>
            </a:endParaRP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xfrm>
            <a:off x="2175002" y="152400"/>
            <a:ext cx="4793995" cy="697230"/>
          </a:xfrm>
          <a:prstGeom prst="rect">
            <a:avLst/>
          </a:prstGeom>
        </p:spPr>
        <p:txBody>
          <a:bodyPr vert="horz" wrap="square" lIns="0" tIns="13335" rIns="0" bIns="0" rtlCol="0">
            <a:spAutoFit/>
          </a:bodyPr>
          <a:lstStyle/>
          <a:p>
            <a:pPr marL="12700" algn="ctr">
              <a:spcBef>
                <a:spcPts val="105"/>
              </a:spcBef>
            </a:pPr>
            <a:r>
              <a:rPr dirty="0"/>
              <a:t>Process Termination</a:t>
            </a:r>
          </a:p>
        </p:txBody>
      </p:sp>
      <p:sp>
        <p:nvSpPr>
          <p:cNvPr id="6" name="object 6"/>
          <p:cNvSpPr txBox="1">
            <a:spLocks noGrp="1"/>
          </p:cNvSpPr>
          <p:nvPr>
            <p:ph type="ftr" sz="quarter" idx="5"/>
          </p:nvPr>
        </p:nvSpPr>
        <p:spPr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12700">
              <a:lnSpc>
                <a:spcPts val="1240"/>
              </a:lnSpc>
            </a:pPr>
            <a:r>
              <a:rPr lang="pl-PL"/>
              <a:t>By Dr. Binod Kr. Adhikari</a:t>
            </a:r>
            <a:endParaRPr spc="-10" dirty="0"/>
          </a:p>
        </p:txBody>
      </p:sp>
      <p:sp>
        <p:nvSpPr>
          <p:cNvPr id="3" name="object 3"/>
          <p:cNvSpPr txBox="1"/>
          <p:nvPr/>
        </p:nvSpPr>
        <p:spPr>
          <a:xfrm>
            <a:off x="535939" y="1371600"/>
            <a:ext cx="8074025" cy="848994"/>
          </a:xfrm>
          <a:prstGeom prst="rect">
            <a:avLst/>
          </a:prstGeom>
        </p:spPr>
        <p:txBody>
          <a:bodyPr vert="horz" wrap="square" lIns="0" tIns="104139" rIns="0" bIns="0" rtlCol="0">
            <a:spAutoFit/>
          </a:bodyPr>
          <a:lstStyle/>
          <a:p>
            <a:pPr marL="355600" marR="5080" indent="-342900">
              <a:lnSpc>
                <a:spcPct val="80000"/>
              </a:lnSpc>
              <a:spcBef>
                <a:spcPts val="819"/>
              </a:spcBef>
              <a:buFont typeface="Arial"/>
              <a:buChar char="•"/>
              <a:tabLst>
                <a:tab pos="355600" algn="l"/>
                <a:tab pos="1922145" algn="l"/>
                <a:tab pos="2814320" algn="l"/>
                <a:tab pos="4933950" algn="l"/>
                <a:tab pos="5726430" algn="l"/>
              </a:tabLst>
            </a:pPr>
            <a:r>
              <a:rPr sz="3000" spc="-10" dirty="0">
                <a:latin typeface="Calibri"/>
                <a:cs typeface="Calibri"/>
              </a:rPr>
              <a:t>Process</a:t>
            </a:r>
            <a:r>
              <a:rPr sz="3000" dirty="0">
                <a:latin typeface="Calibri"/>
                <a:cs typeface="Calibri"/>
              </a:rPr>
              <a:t>	</a:t>
            </a:r>
            <a:r>
              <a:rPr sz="3000" spc="-25" dirty="0">
                <a:latin typeface="Calibri"/>
                <a:cs typeface="Calibri"/>
              </a:rPr>
              <a:t>are</a:t>
            </a:r>
            <a:r>
              <a:rPr sz="3000" dirty="0">
                <a:latin typeface="Calibri"/>
                <a:cs typeface="Calibri"/>
              </a:rPr>
              <a:t>	</a:t>
            </a:r>
            <a:r>
              <a:rPr sz="3000" spc="-10" dirty="0">
                <a:latin typeface="Calibri"/>
                <a:cs typeface="Calibri"/>
              </a:rPr>
              <a:t>terminated</a:t>
            </a:r>
            <a:r>
              <a:rPr sz="3000" dirty="0">
                <a:latin typeface="Calibri"/>
                <a:cs typeface="Calibri"/>
              </a:rPr>
              <a:t>	</a:t>
            </a:r>
            <a:r>
              <a:rPr sz="3000" spc="-25" dirty="0">
                <a:latin typeface="Calibri"/>
                <a:cs typeface="Calibri"/>
              </a:rPr>
              <a:t>on</a:t>
            </a:r>
            <a:r>
              <a:rPr sz="3000" dirty="0">
                <a:latin typeface="Calibri"/>
                <a:cs typeface="Calibri"/>
              </a:rPr>
              <a:t>	</a:t>
            </a:r>
            <a:r>
              <a:rPr sz="3000" spc="-25" dirty="0">
                <a:latin typeface="Calibri"/>
                <a:cs typeface="Calibri"/>
              </a:rPr>
              <a:t>the</a:t>
            </a:r>
            <a:r>
              <a:rPr lang="en-US" sz="3000" spc="-25" dirty="0">
                <a:latin typeface="Calibri"/>
                <a:cs typeface="Calibri"/>
              </a:rPr>
              <a:t> following </a:t>
            </a:r>
            <a:r>
              <a:rPr sz="3000" spc="-25" dirty="0">
                <a:latin typeface="Calibri"/>
                <a:cs typeface="Calibri"/>
              </a:rPr>
              <a:t> </a:t>
            </a:r>
            <a:r>
              <a:rPr sz="3000" spc="-10" dirty="0">
                <a:latin typeface="Calibri"/>
                <a:cs typeface="Calibri"/>
              </a:rPr>
              <a:t>conditions</a:t>
            </a:r>
            <a:endParaRPr sz="3000" dirty="0">
              <a:latin typeface="Calibri"/>
              <a:cs typeface="Calibri"/>
            </a:endParaRPr>
          </a:p>
        </p:txBody>
      </p:sp>
      <p:sp>
        <p:nvSpPr>
          <p:cNvPr id="5" name="object 5"/>
          <p:cNvSpPr txBox="1"/>
          <p:nvPr/>
        </p:nvSpPr>
        <p:spPr>
          <a:xfrm>
            <a:off x="535940" y="2351658"/>
            <a:ext cx="8074025" cy="3495675"/>
          </a:xfrm>
          <a:prstGeom prst="rect">
            <a:avLst/>
          </a:prstGeom>
        </p:spPr>
        <p:txBody>
          <a:bodyPr vert="horz" wrap="square" lIns="0" tIns="13335" rIns="0" bIns="0" rtlCol="0">
            <a:spAutoFit/>
          </a:bodyPr>
          <a:lstStyle/>
          <a:p>
            <a:pPr marL="756285" indent="-286385">
              <a:lnSpc>
                <a:spcPct val="100000"/>
              </a:lnSpc>
              <a:spcBef>
                <a:spcPts val="105"/>
              </a:spcBef>
              <a:buFont typeface="Arial"/>
              <a:buChar char="–"/>
              <a:tabLst>
                <a:tab pos="756285" algn="l"/>
              </a:tabLst>
            </a:pPr>
            <a:r>
              <a:rPr sz="2600" dirty="0">
                <a:latin typeface="Calibri"/>
                <a:cs typeface="Calibri"/>
              </a:rPr>
              <a:t>Normal</a:t>
            </a:r>
            <a:r>
              <a:rPr sz="2600" spc="-45" dirty="0">
                <a:latin typeface="Calibri"/>
                <a:cs typeface="Calibri"/>
              </a:rPr>
              <a:t> </a:t>
            </a:r>
            <a:r>
              <a:rPr sz="2600" spc="-10" dirty="0">
                <a:latin typeface="Calibri"/>
                <a:cs typeface="Calibri"/>
              </a:rPr>
              <a:t>exit.</a:t>
            </a:r>
            <a:endParaRPr sz="2600" dirty="0">
              <a:latin typeface="Calibri"/>
              <a:cs typeface="Calibri"/>
            </a:endParaRPr>
          </a:p>
          <a:p>
            <a:pPr marL="756285" indent="-286385">
              <a:lnSpc>
                <a:spcPct val="100000"/>
              </a:lnSpc>
              <a:buFont typeface="Arial"/>
              <a:buChar char="–"/>
              <a:tabLst>
                <a:tab pos="756285" algn="l"/>
              </a:tabLst>
            </a:pPr>
            <a:r>
              <a:rPr sz="2600" dirty="0">
                <a:latin typeface="Calibri"/>
                <a:cs typeface="Calibri"/>
              </a:rPr>
              <a:t>Error</a:t>
            </a:r>
            <a:r>
              <a:rPr sz="2600" spc="-110" dirty="0">
                <a:latin typeface="Calibri"/>
                <a:cs typeface="Calibri"/>
              </a:rPr>
              <a:t> </a:t>
            </a:r>
            <a:r>
              <a:rPr sz="2600" spc="-20" dirty="0">
                <a:latin typeface="Calibri"/>
                <a:cs typeface="Calibri"/>
              </a:rPr>
              <a:t>exit.</a:t>
            </a:r>
            <a:endParaRPr sz="2600" dirty="0">
              <a:latin typeface="Calibri"/>
              <a:cs typeface="Calibri"/>
            </a:endParaRPr>
          </a:p>
          <a:p>
            <a:pPr marL="756285" indent="-286385">
              <a:lnSpc>
                <a:spcPct val="100000"/>
              </a:lnSpc>
              <a:buFont typeface="Arial"/>
              <a:buChar char="–"/>
              <a:tabLst>
                <a:tab pos="756285" algn="l"/>
              </a:tabLst>
            </a:pPr>
            <a:r>
              <a:rPr sz="2600" spc="-10" dirty="0">
                <a:latin typeface="Calibri"/>
                <a:cs typeface="Calibri"/>
              </a:rPr>
              <a:t>Fatal</a:t>
            </a:r>
            <a:r>
              <a:rPr sz="2600" spc="-135" dirty="0">
                <a:latin typeface="Calibri"/>
                <a:cs typeface="Calibri"/>
              </a:rPr>
              <a:t> </a:t>
            </a:r>
            <a:r>
              <a:rPr sz="2600" spc="-10" dirty="0">
                <a:latin typeface="Calibri"/>
                <a:cs typeface="Calibri"/>
              </a:rPr>
              <a:t>error.</a:t>
            </a:r>
            <a:endParaRPr sz="2600" dirty="0">
              <a:latin typeface="Calibri"/>
              <a:cs typeface="Calibri"/>
            </a:endParaRPr>
          </a:p>
          <a:p>
            <a:pPr marL="756285" indent="-286385">
              <a:lnSpc>
                <a:spcPts val="3110"/>
              </a:lnSpc>
              <a:buFont typeface="Arial"/>
              <a:buChar char="–"/>
              <a:tabLst>
                <a:tab pos="756285" algn="l"/>
              </a:tabLst>
            </a:pPr>
            <a:r>
              <a:rPr sz="2600" dirty="0">
                <a:latin typeface="Calibri"/>
                <a:cs typeface="Calibri"/>
              </a:rPr>
              <a:t>Killed</a:t>
            </a:r>
            <a:r>
              <a:rPr sz="2600" spc="-40" dirty="0">
                <a:latin typeface="Calibri"/>
                <a:cs typeface="Calibri"/>
              </a:rPr>
              <a:t> </a:t>
            </a:r>
            <a:r>
              <a:rPr sz="2600" dirty="0">
                <a:latin typeface="Calibri"/>
                <a:cs typeface="Calibri"/>
              </a:rPr>
              <a:t>by</a:t>
            </a:r>
            <a:r>
              <a:rPr sz="2600" spc="-20" dirty="0">
                <a:latin typeface="Calibri"/>
                <a:cs typeface="Calibri"/>
              </a:rPr>
              <a:t> </a:t>
            </a:r>
            <a:r>
              <a:rPr sz="2600" dirty="0">
                <a:latin typeface="Calibri"/>
                <a:cs typeface="Calibri"/>
              </a:rPr>
              <a:t>another</a:t>
            </a:r>
            <a:r>
              <a:rPr sz="2600" spc="-25" dirty="0">
                <a:latin typeface="Calibri"/>
                <a:cs typeface="Calibri"/>
              </a:rPr>
              <a:t> </a:t>
            </a:r>
            <a:r>
              <a:rPr sz="2600" spc="-10" dirty="0">
                <a:latin typeface="Calibri"/>
                <a:cs typeface="Calibri"/>
              </a:rPr>
              <a:t>process.</a:t>
            </a:r>
            <a:endParaRPr sz="2600" dirty="0">
              <a:latin typeface="Calibri"/>
              <a:cs typeface="Calibri"/>
            </a:endParaRPr>
          </a:p>
          <a:p>
            <a:pPr marL="526415" indent="-513715">
              <a:lnSpc>
                <a:spcPts val="3590"/>
              </a:lnSpc>
              <a:buFont typeface="Arial"/>
              <a:buChar char="•"/>
              <a:tabLst>
                <a:tab pos="526415" algn="l"/>
              </a:tabLst>
            </a:pPr>
            <a:r>
              <a:rPr sz="3000" spc="-10" dirty="0">
                <a:latin typeface="Calibri"/>
                <a:cs typeface="Calibri"/>
              </a:rPr>
              <a:t>Example:</a:t>
            </a:r>
            <a:endParaRPr sz="3000" dirty="0">
              <a:latin typeface="Calibri"/>
              <a:cs typeface="Calibri"/>
            </a:endParaRPr>
          </a:p>
          <a:p>
            <a:pPr marL="756285" marR="5080" lvl="1" indent="-287020" algn="just">
              <a:lnSpc>
                <a:spcPts val="2500"/>
              </a:lnSpc>
              <a:spcBef>
                <a:spcPts val="620"/>
              </a:spcBef>
              <a:buFont typeface="Arial"/>
              <a:buChar char="–"/>
              <a:tabLst>
                <a:tab pos="756285" algn="l"/>
              </a:tabLst>
            </a:pPr>
            <a:r>
              <a:rPr sz="2600" dirty="0">
                <a:latin typeface="Calibri"/>
                <a:cs typeface="Calibri"/>
              </a:rPr>
              <a:t>In</a:t>
            </a:r>
            <a:r>
              <a:rPr sz="2600" spc="10" dirty="0">
                <a:latin typeface="Calibri"/>
                <a:cs typeface="Calibri"/>
              </a:rPr>
              <a:t> </a:t>
            </a:r>
            <a:r>
              <a:rPr sz="2600" dirty="0">
                <a:latin typeface="Calibri"/>
                <a:cs typeface="Calibri"/>
              </a:rPr>
              <a:t>Unix</a:t>
            </a:r>
            <a:r>
              <a:rPr sz="2600" spc="20" dirty="0">
                <a:latin typeface="Calibri"/>
                <a:cs typeface="Calibri"/>
              </a:rPr>
              <a:t> </a:t>
            </a:r>
            <a:r>
              <a:rPr sz="2600" dirty="0">
                <a:latin typeface="Calibri"/>
                <a:cs typeface="Calibri"/>
              </a:rPr>
              <a:t>the</a:t>
            </a:r>
            <a:r>
              <a:rPr sz="2600" spc="20" dirty="0">
                <a:latin typeface="Calibri"/>
                <a:cs typeface="Calibri"/>
              </a:rPr>
              <a:t> </a:t>
            </a:r>
            <a:r>
              <a:rPr sz="2600" dirty="0">
                <a:latin typeface="Calibri"/>
                <a:cs typeface="Calibri"/>
              </a:rPr>
              <a:t>normal</a:t>
            </a:r>
            <a:r>
              <a:rPr sz="2600" spc="15" dirty="0">
                <a:latin typeface="Calibri"/>
                <a:cs typeface="Calibri"/>
              </a:rPr>
              <a:t> </a:t>
            </a:r>
            <a:r>
              <a:rPr sz="2600" dirty="0">
                <a:latin typeface="Calibri"/>
                <a:cs typeface="Calibri"/>
              </a:rPr>
              <a:t>exit</a:t>
            </a:r>
            <a:r>
              <a:rPr sz="2600" spc="15" dirty="0">
                <a:latin typeface="Calibri"/>
                <a:cs typeface="Calibri"/>
              </a:rPr>
              <a:t> </a:t>
            </a:r>
            <a:r>
              <a:rPr sz="2600" dirty="0">
                <a:latin typeface="Calibri"/>
                <a:cs typeface="Calibri"/>
              </a:rPr>
              <a:t>is</a:t>
            </a:r>
            <a:r>
              <a:rPr sz="2600" spc="25" dirty="0">
                <a:latin typeface="Calibri"/>
                <a:cs typeface="Calibri"/>
              </a:rPr>
              <a:t> </a:t>
            </a:r>
            <a:r>
              <a:rPr sz="2600" dirty="0">
                <a:latin typeface="Calibri"/>
                <a:cs typeface="Calibri"/>
              </a:rPr>
              <a:t>done</a:t>
            </a:r>
            <a:r>
              <a:rPr sz="2600" spc="25" dirty="0">
                <a:latin typeface="Calibri"/>
                <a:cs typeface="Calibri"/>
              </a:rPr>
              <a:t> </a:t>
            </a:r>
            <a:r>
              <a:rPr sz="2600" dirty="0">
                <a:latin typeface="Calibri"/>
                <a:cs typeface="Calibri"/>
              </a:rPr>
              <a:t>by</a:t>
            </a:r>
            <a:r>
              <a:rPr sz="2600" spc="5" dirty="0">
                <a:latin typeface="Calibri"/>
                <a:cs typeface="Calibri"/>
              </a:rPr>
              <a:t> </a:t>
            </a:r>
            <a:r>
              <a:rPr sz="2600" dirty="0">
                <a:latin typeface="Calibri"/>
                <a:cs typeface="Calibri"/>
              </a:rPr>
              <a:t>calling</a:t>
            </a:r>
            <a:r>
              <a:rPr sz="2600" spc="25" dirty="0">
                <a:latin typeface="Calibri"/>
                <a:cs typeface="Calibri"/>
              </a:rPr>
              <a:t> </a:t>
            </a:r>
            <a:r>
              <a:rPr sz="2600" dirty="0">
                <a:solidFill>
                  <a:srgbClr val="00B050"/>
                </a:solidFill>
                <a:latin typeface="Calibri"/>
                <a:cs typeface="Calibri"/>
              </a:rPr>
              <a:t>a</a:t>
            </a:r>
            <a:r>
              <a:rPr sz="2600" spc="25" dirty="0">
                <a:solidFill>
                  <a:srgbClr val="00B050"/>
                </a:solidFill>
                <a:latin typeface="Calibri"/>
                <a:cs typeface="Calibri"/>
              </a:rPr>
              <a:t> </a:t>
            </a:r>
            <a:r>
              <a:rPr sz="2600" dirty="0">
                <a:solidFill>
                  <a:srgbClr val="00B050"/>
                </a:solidFill>
                <a:latin typeface="Calibri"/>
                <a:cs typeface="Calibri"/>
              </a:rPr>
              <a:t>exit</a:t>
            </a:r>
            <a:r>
              <a:rPr sz="2600" spc="25" dirty="0">
                <a:solidFill>
                  <a:srgbClr val="00B050"/>
                </a:solidFill>
                <a:latin typeface="Calibri"/>
                <a:cs typeface="Calibri"/>
              </a:rPr>
              <a:t> </a:t>
            </a:r>
            <a:r>
              <a:rPr sz="2600" spc="-10" dirty="0">
                <a:solidFill>
                  <a:srgbClr val="00B050"/>
                </a:solidFill>
                <a:latin typeface="Calibri"/>
                <a:cs typeface="Calibri"/>
              </a:rPr>
              <a:t>system </a:t>
            </a:r>
            <a:r>
              <a:rPr sz="2600" dirty="0">
                <a:latin typeface="Calibri"/>
                <a:cs typeface="Calibri"/>
              </a:rPr>
              <a:t>call.</a:t>
            </a:r>
            <a:r>
              <a:rPr sz="2600" spc="550" dirty="0">
                <a:latin typeface="Calibri"/>
                <a:cs typeface="Calibri"/>
              </a:rPr>
              <a:t> </a:t>
            </a:r>
            <a:r>
              <a:rPr sz="2600" dirty="0">
                <a:latin typeface="Calibri"/>
                <a:cs typeface="Calibri"/>
              </a:rPr>
              <a:t>The</a:t>
            </a:r>
            <a:r>
              <a:rPr sz="2600" spc="540" dirty="0">
                <a:latin typeface="Calibri"/>
                <a:cs typeface="Calibri"/>
              </a:rPr>
              <a:t> </a:t>
            </a:r>
            <a:r>
              <a:rPr sz="2600" dirty="0">
                <a:latin typeface="Calibri"/>
                <a:cs typeface="Calibri"/>
              </a:rPr>
              <a:t>process</a:t>
            </a:r>
            <a:r>
              <a:rPr sz="2600" spc="550" dirty="0">
                <a:latin typeface="Calibri"/>
                <a:cs typeface="Calibri"/>
              </a:rPr>
              <a:t> </a:t>
            </a:r>
            <a:r>
              <a:rPr sz="2600" dirty="0">
                <a:latin typeface="Calibri"/>
                <a:cs typeface="Calibri"/>
              </a:rPr>
              <a:t>return</a:t>
            </a:r>
            <a:r>
              <a:rPr lang="en-US" sz="2600" dirty="0">
                <a:latin typeface="Calibri"/>
                <a:cs typeface="Calibri"/>
              </a:rPr>
              <a:t>s</a:t>
            </a:r>
            <a:r>
              <a:rPr sz="2600" spc="550" dirty="0">
                <a:latin typeface="Calibri"/>
                <a:cs typeface="Calibri"/>
              </a:rPr>
              <a:t> </a:t>
            </a:r>
            <a:r>
              <a:rPr sz="2600" dirty="0">
                <a:latin typeface="Calibri"/>
                <a:cs typeface="Calibri"/>
              </a:rPr>
              <a:t>data</a:t>
            </a:r>
            <a:r>
              <a:rPr sz="2600" spc="545" dirty="0">
                <a:latin typeface="Calibri"/>
                <a:cs typeface="Calibri"/>
              </a:rPr>
              <a:t> </a:t>
            </a:r>
            <a:r>
              <a:rPr sz="2600" dirty="0">
                <a:latin typeface="Calibri"/>
                <a:cs typeface="Calibri"/>
              </a:rPr>
              <a:t>(output)</a:t>
            </a:r>
            <a:r>
              <a:rPr sz="2600" spc="555" dirty="0">
                <a:latin typeface="Calibri"/>
                <a:cs typeface="Calibri"/>
              </a:rPr>
              <a:t> </a:t>
            </a:r>
            <a:r>
              <a:rPr sz="2600" dirty="0">
                <a:latin typeface="Calibri"/>
                <a:cs typeface="Calibri"/>
              </a:rPr>
              <a:t>to</a:t>
            </a:r>
            <a:r>
              <a:rPr sz="2600" spc="545" dirty="0">
                <a:latin typeface="Calibri"/>
                <a:cs typeface="Calibri"/>
              </a:rPr>
              <a:t> </a:t>
            </a:r>
            <a:r>
              <a:rPr sz="2600" dirty="0">
                <a:latin typeface="Calibri"/>
                <a:cs typeface="Calibri"/>
              </a:rPr>
              <a:t>its</a:t>
            </a:r>
            <a:r>
              <a:rPr sz="2600" spc="555" dirty="0">
                <a:latin typeface="Calibri"/>
                <a:cs typeface="Calibri"/>
              </a:rPr>
              <a:t> </a:t>
            </a:r>
            <a:r>
              <a:rPr sz="2600" spc="-10" dirty="0">
                <a:latin typeface="Calibri"/>
                <a:cs typeface="Calibri"/>
              </a:rPr>
              <a:t>parent </a:t>
            </a:r>
            <a:r>
              <a:rPr sz="2600" dirty="0">
                <a:latin typeface="Calibri"/>
                <a:cs typeface="Calibri"/>
              </a:rPr>
              <a:t>process</a:t>
            </a:r>
            <a:r>
              <a:rPr sz="2600" spc="-100" dirty="0">
                <a:latin typeface="Calibri"/>
                <a:cs typeface="Calibri"/>
              </a:rPr>
              <a:t> </a:t>
            </a:r>
            <a:r>
              <a:rPr sz="2600" dirty="0">
                <a:latin typeface="Calibri"/>
                <a:cs typeface="Calibri"/>
              </a:rPr>
              <a:t>via</a:t>
            </a:r>
            <a:r>
              <a:rPr sz="2600" spc="-45" dirty="0">
                <a:latin typeface="Calibri"/>
                <a:cs typeface="Calibri"/>
              </a:rPr>
              <a:t> </a:t>
            </a:r>
            <a:r>
              <a:rPr sz="2600" dirty="0">
                <a:solidFill>
                  <a:srgbClr val="00B050"/>
                </a:solidFill>
                <a:latin typeface="Calibri"/>
                <a:cs typeface="Calibri"/>
              </a:rPr>
              <a:t>the</a:t>
            </a:r>
            <a:r>
              <a:rPr sz="2600" spc="-60" dirty="0">
                <a:solidFill>
                  <a:srgbClr val="00B050"/>
                </a:solidFill>
                <a:latin typeface="Calibri"/>
                <a:cs typeface="Calibri"/>
              </a:rPr>
              <a:t> </a:t>
            </a:r>
            <a:r>
              <a:rPr sz="2600" dirty="0">
                <a:solidFill>
                  <a:srgbClr val="00B050"/>
                </a:solidFill>
                <a:latin typeface="Calibri"/>
                <a:cs typeface="Calibri"/>
              </a:rPr>
              <a:t>wait</a:t>
            </a:r>
            <a:r>
              <a:rPr sz="2600" spc="-45" dirty="0">
                <a:solidFill>
                  <a:srgbClr val="00B050"/>
                </a:solidFill>
                <a:latin typeface="Calibri"/>
                <a:cs typeface="Calibri"/>
              </a:rPr>
              <a:t> </a:t>
            </a:r>
            <a:r>
              <a:rPr sz="2600" spc="-10" dirty="0">
                <a:solidFill>
                  <a:srgbClr val="00B050"/>
                </a:solidFill>
                <a:latin typeface="Calibri"/>
                <a:cs typeface="Calibri"/>
              </a:rPr>
              <a:t>system</a:t>
            </a:r>
            <a:r>
              <a:rPr sz="2600" spc="-80" dirty="0">
                <a:solidFill>
                  <a:srgbClr val="00B050"/>
                </a:solidFill>
                <a:latin typeface="Calibri"/>
                <a:cs typeface="Calibri"/>
              </a:rPr>
              <a:t> </a:t>
            </a:r>
            <a:r>
              <a:rPr sz="2600" spc="-10" dirty="0">
                <a:solidFill>
                  <a:srgbClr val="00B050"/>
                </a:solidFill>
                <a:latin typeface="Calibri"/>
                <a:cs typeface="Calibri"/>
              </a:rPr>
              <a:t>call</a:t>
            </a:r>
            <a:r>
              <a:rPr sz="2600" spc="-10" dirty="0">
                <a:latin typeface="Calibri"/>
                <a:cs typeface="Calibri"/>
              </a:rPr>
              <a:t>.</a:t>
            </a:r>
            <a:endParaRPr sz="2600" dirty="0">
              <a:latin typeface="Calibri"/>
              <a:cs typeface="Calibri"/>
            </a:endParaRPr>
          </a:p>
          <a:p>
            <a:pPr marL="756285" lvl="1" indent="-286385" algn="just">
              <a:lnSpc>
                <a:spcPct val="100000"/>
              </a:lnSpc>
              <a:spcBef>
                <a:spcPts val="15"/>
              </a:spcBef>
              <a:buFont typeface="Arial"/>
              <a:buChar char="–"/>
              <a:tabLst>
                <a:tab pos="756285" algn="l"/>
              </a:tabLst>
            </a:pPr>
            <a:r>
              <a:rPr sz="2600" dirty="0">
                <a:solidFill>
                  <a:srgbClr val="FF0000"/>
                </a:solidFill>
                <a:latin typeface="Calibri"/>
                <a:cs typeface="Calibri"/>
              </a:rPr>
              <a:t>kill</a:t>
            </a:r>
            <a:r>
              <a:rPr sz="2600" spc="-45" dirty="0">
                <a:solidFill>
                  <a:srgbClr val="FF0000"/>
                </a:solidFill>
                <a:latin typeface="Calibri"/>
                <a:cs typeface="Calibri"/>
              </a:rPr>
              <a:t> </a:t>
            </a:r>
            <a:r>
              <a:rPr sz="2600" spc="-10" dirty="0">
                <a:solidFill>
                  <a:srgbClr val="FF0000"/>
                </a:solidFill>
                <a:latin typeface="Calibri"/>
                <a:cs typeface="Calibri"/>
              </a:rPr>
              <a:t>system</a:t>
            </a:r>
            <a:r>
              <a:rPr sz="2600" spc="-75" dirty="0">
                <a:solidFill>
                  <a:srgbClr val="FF0000"/>
                </a:solidFill>
                <a:latin typeface="Calibri"/>
                <a:cs typeface="Calibri"/>
              </a:rPr>
              <a:t> </a:t>
            </a:r>
            <a:r>
              <a:rPr sz="2600" dirty="0">
                <a:solidFill>
                  <a:srgbClr val="FF0000"/>
                </a:solidFill>
                <a:latin typeface="Calibri"/>
                <a:cs typeface="Calibri"/>
              </a:rPr>
              <a:t>call</a:t>
            </a:r>
            <a:r>
              <a:rPr sz="2600" spc="-30" dirty="0">
                <a:solidFill>
                  <a:srgbClr val="FF0000"/>
                </a:solidFill>
                <a:latin typeface="Calibri"/>
                <a:cs typeface="Calibri"/>
              </a:rPr>
              <a:t> </a:t>
            </a:r>
            <a:r>
              <a:rPr sz="2600" dirty="0">
                <a:latin typeface="Calibri"/>
                <a:cs typeface="Calibri"/>
              </a:rPr>
              <a:t>is</a:t>
            </a:r>
            <a:r>
              <a:rPr sz="2600" spc="-40" dirty="0">
                <a:latin typeface="Calibri"/>
                <a:cs typeface="Calibri"/>
              </a:rPr>
              <a:t> </a:t>
            </a:r>
            <a:r>
              <a:rPr sz="2600" dirty="0">
                <a:latin typeface="Calibri"/>
                <a:cs typeface="Calibri"/>
              </a:rPr>
              <a:t>used</a:t>
            </a:r>
            <a:r>
              <a:rPr sz="2600" spc="-60" dirty="0">
                <a:latin typeface="Calibri"/>
                <a:cs typeface="Calibri"/>
              </a:rPr>
              <a:t> </a:t>
            </a:r>
            <a:r>
              <a:rPr sz="2600" dirty="0">
                <a:latin typeface="Calibri"/>
                <a:cs typeface="Calibri"/>
              </a:rPr>
              <a:t>to</a:t>
            </a:r>
            <a:r>
              <a:rPr sz="2600" spc="-40" dirty="0">
                <a:latin typeface="Calibri"/>
                <a:cs typeface="Calibri"/>
              </a:rPr>
              <a:t> </a:t>
            </a:r>
            <a:r>
              <a:rPr sz="2600" dirty="0">
                <a:latin typeface="Calibri"/>
                <a:cs typeface="Calibri"/>
              </a:rPr>
              <a:t>kill</a:t>
            </a:r>
            <a:r>
              <a:rPr sz="2600" spc="-25" dirty="0">
                <a:latin typeface="Calibri"/>
                <a:cs typeface="Calibri"/>
              </a:rPr>
              <a:t> </a:t>
            </a:r>
            <a:r>
              <a:rPr sz="2600" dirty="0">
                <a:latin typeface="Calibri"/>
                <a:cs typeface="Calibri"/>
              </a:rPr>
              <a:t>other</a:t>
            </a:r>
            <a:r>
              <a:rPr sz="2600" spc="-45" dirty="0">
                <a:latin typeface="Calibri"/>
                <a:cs typeface="Calibri"/>
              </a:rPr>
              <a:t> </a:t>
            </a:r>
            <a:r>
              <a:rPr sz="2600" spc="-10" dirty="0">
                <a:latin typeface="Calibri"/>
                <a:cs typeface="Calibri"/>
              </a:rPr>
              <a:t>process.</a:t>
            </a:r>
            <a:endParaRPr sz="2600" dirty="0">
              <a:latin typeface="Calibri"/>
              <a:cs typeface="Calibri"/>
            </a:endParaRP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13335" rIns="0" bIns="0" rtlCol="0">
            <a:spAutoFit/>
          </a:bodyPr>
          <a:lstStyle/>
          <a:p>
            <a:pPr marL="12700" algn="ctr">
              <a:spcBef>
                <a:spcPts val="105"/>
              </a:spcBef>
            </a:pPr>
            <a:r>
              <a:rPr dirty="0"/>
              <a:t>Process Scheduling</a:t>
            </a:r>
          </a:p>
        </p:txBody>
      </p:sp>
      <p:sp>
        <p:nvSpPr>
          <p:cNvPr id="4" name="object 4"/>
          <p:cNvSpPr txBox="1">
            <a:spLocks noGrp="1"/>
          </p:cNvSpPr>
          <p:nvPr>
            <p:ph type="ftr" sz="quarter" idx="5"/>
          </p:nvPr>
        </p:nvSpPr>
        <p:spPr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12700">
              <a:lnSpc>
                <a:spcPts val="1240"/>
              </a:lnSpc>
            </a:pPr>
            <a:r>
              <a:rPr lang="pl-PL"/>
              <a:t>By Dr. Binod Kr. Adhikari</a:t>
            </a:r>
            <a:endParaRPr spc="-10" dirty="0"/>
          </a:p>
        </p:txBody>
      </p:sp>
      <p:sp>
        <p:nvSpPr>
          <p:cNvPr id="3" name="object 3"/>
          <p:cNvSpPr txBox="1"/>
          <p:nvPr/>
        </p:nvSpPr>
        <p:spPr>
          <a:xfrm>
            <a:off x="535940" y="1447800"/>
            <a:ext cx="8072755" cy="4141470"/>
          </a:xfrm>
          <a:prstGeom prst="rect">
            <a:avLst/>
          </a:prstGeom>
        </p:spPr>
        <p:txBody>
          <a:bodyPr vert="horz" wrap="square" lIns="0" tIns="64769" rIns="0" bIns="0" rtlCol="0">
            <a:spAutoFit/>
          </a:bodyPr>
          <a:lstStyle/>
          <a:p>
            <a:pPr marL="355600" marR="8890" indent="-342900">
              <a:lnSpc>
                <a:spcPts val="3240"/>
              </a:lnSpc>
              <a:spcBef>
                <a:spcPts val="509"/>
              </a:spcBef>
              <a:buFont typeface="Arial"/>
              <a:buChar char="•"/>
              <a:tabLst>
                <a:tab pos="355600" algn="l"/>
                <a:tab pos="1495425" algn="l"/>
                <a:tab pos="3251200" algn="l"/>
                <a:tab pos="3912870" algn="l"/>
                <a:tab pos="7156450" algn="l"/>
                <a:tab pos="7735570" algn="l"/>
              </a:tabLst>
            </a:pPr>
            <a:r>
              <a:rPr sz="3000" spc="-20" dirty="0">
                <a:latin typeface="Calibri"/>
                <a:cs typeface="Calibri"/>
              </a:rPr>
              <a:t>Main</a:t>
            </a:r>
            <a:r>
              <a:rPr sz="3000" dirty="0">
                <a:latin typeface="Calibri"/>
                <a:cs typeface="Calibri"/>
              </a:rPr>
              <a:t>	</a:t>
            </a:r>
            <a:r>
              <a:rPr sz="3000" spc="-10" dirty="0">
                <a:latin typeface="Calibri"/>
                <a:cs typeface="Calibri"/>
              </a:rPr>
              <a:t>objective</a:t>
            </a:r>
            <a:r>
              <a:rPr sz="3000" dirty="0">
                <a:latin typeface="Calibri"/>
                <a:cs typeface="Calibri"/>
              </a:rPr>
              <a:t>	</a:t>
            </a:r>
            <a:r>
              <a:rPr sz="3000" spc="-25" dirty="0">
                <a:latin typeface="Calibri"/>
                <a:cs typeface="Calibri"/>
              </a:rPr>
              <a:t>of</a:t>
            </a:r>
            <a:r>
              <a:rPr sz="3000" dirty="0">
                <a:latin typeface="Calibri"/>
                <a:cs typeface="Calibri"/>
              </a:rPr>
              <a:t>	</a:t>
            </a:r>
            <a:r>
              <a:rPr sz="3000" spc="-10" dirty="0">
                <a:latin typeface="Calibri"/>
                <a:cs typeface="Calibri"/>
              </a:rPr>
              <a:t>multiprogramming</a:t>
            </a:r>
            <a:r>
              <a:rPr sz="3000" dirty="0">
                <a:latin typeface="Calibri"/>
                <a:cs typeface="Calibri"/>
              </a:rPr>
              <a:t>	</a:t>
            </a:r>
            <a:r>
              <a:rPr sz="3000" spc="-25" dirty="0">
                <a:latin typeface="Calibri"/>
                <a:cs typeface="Calibri"/>
              </a:rPr>
              <a:t>is</a:t>
            </a:r>
            <a:r>
              <a:rPr sz="3000" dirty="0">
                <a:latin typeface="Calibri"/>
                <a:cs typeface="Calibri"/>
              </a:rPr>
              <a:t>	</a:t>
            </a:r>
            <a:r>
              <a:rPr sz="3000" spc="-60" dirty="0">
                <a:latin typeface="Calibri"/>
                <a:cs typeface="Calibri"/>
              </a:rPr>
              <a:t>to </a:t>
            </a:r>
            <a:r>
              <a:rPr sz="3000" b="1" spc="-10" dirty="0">
                <a:solidFill>
                  <a:srgbClr val="00B050"/>
                </a:solidFill>
                <a:latin typeface="Calibri"/>
                <a:cs typeface="Calibri"/>
              </a:rPr>
              <a:t>maximize</a:t>
            </a:r>
            <a:r>
              <a:rPr sz="3000" b="1" spc="-80" dirty="0">
                <a:solidFill>
                  <a:srgbClr val="00B050"/>
                </a:solidFill>
                <a:latin typeface="Calibri"/>
                <a:cs typeface="Calibri"/>
              </a:rPr>
              <a:t> </a:t>
            </a:r>
            <a:r>
              <a:rPr sz="3000" b="1" dirty="0">
                <a:solidFill>
                  <a:srgbClr val="00B050"/>
                </a:solidFill>
                <a:latin typeface="Calibri"/>
                <a:cs typeface="Calibri"/>
              </a:rPr>
              <a:t>the</a:t>
            </a:r>
            <a:r>
              <a:rPr sz="3000" b="1" spc="-75" dirty="0">
                <a:solidFill>
                  <a:srgbClr val="00B050"/>
                </a:solidFill>
                <a:latin typeface="Calibri"/>
                <a:cs typeface="Calibri"/>
              </a:rPr>
              <a:t> </a:t>
            </a:r>
            <a:r>
              <a:rPr sz="3000" b="1" dirty="0">
                <a:solidFill>
                  <a:srgbClr val="00B050"/>
                </a:solidFill>
                <a:latin typeface="Calibri"/>
                <a:cs typeface="Calibri"/>
              </a:rPr>
              <a:t>CPU</a:t>
            </a:r>
            <a:r>
              <a:rPr sz="3000" b="1" spc="-70" dirty="0">
                <a:solidFill>
                  <a:srgbClr val="00B050"/>
                </a:solidFill>
                <a:latin typeface="Calibri"/>
                <a:cs typeface="Calibri"/>
              </a:rPr>
              <a:t> </a:t>
            </a:r>
            <a:r>
              <a:rPr sz="3000" b="1" spc="-10" dirty="0">
                <a:solidFill>
                  <a:srgbClr val="00B050"/>
                </a:solidFill>
                <a:latin typeface="Calibri"/>
                <a:cs typeface="Calibri"/>
              </a:rPr>
              <a:t>utilization</a:t>
            </a:r>
            <a:r>
              <a:rPr lang="en-US" sz="3000" b="1" spc="-10" dirty="0">
                <a:solidFill>
                  <a:srgbClr val="00B050"/>
                </a:solidFill>
                <a:latin typeface="Calibri"/>
                <a:cs typeface="Calibri"/>
              </a:rPr>
              <a:t>.</a:t>
            </a:r>
            <a:endParaRPr sz="3000" b="1" dirty="0">
              <a:solidFill>
                <a:srgbClr val="00B050"/>
              </a:solidFill>
              <a:latin typeface="Calibri"/>
              <a:cs typeface="Calibri"/>
            </a:endParaRPr>
          </a:p>
          <a:p>
            <a:pPr marL="355600" marR="5080" indent="-342900">
              <a:lnSpc>
                <a:spcPts val="3240"/>
              </a:lnSpc>
              <a:spcBef>
                <a:spcPts val="720"/>
              </a:spcBef>
              <a:buFont typeface="Arial"/>
              <a:buChar char="•"/>
              <a:tabLst>
                <a:tab pos="355600" algn="l"/>
                <a:tab pos="824865" algn="l"/>
                <a:tab pos="1503045" algn="l"/>
                <a:tab pos="2435860" algn="l"/>
                <a:tab pos="2750185" algn="l"/>
                <a:tab pos="4057650" algn="l"/>
                <a:tab pos="4425315" algn="l"/>
                <a:tab pos="4841240" algn="l"/>
                <a:tab pos="5519420" algn="l"/>
                <a:tab pos="6242050" algn="l"/>
                <a:tab pos="6690359" algn="l"/>
              </a:tabLst>
            </a:pPr>
            <a:r>
              <a:rPr sz="3000" spc="-25" dirty="0">
                <a:latin typeface="Calibri"/>
                <a:cs typeface="Calibri"/>
              </a:rPr>
              <a:t>At</a:t>
            </a:r>
            <a:r>
              <a:rPr sz="3000" dirty="0">
                <a:latin typeface="Calibri"/>
                <a:cs typeface="Calibri"/>
              </a:rPr>
              <a:t>	</a:t>
            </a:r>
            <a:r>
              <a:rPr sz="3000" spc="-25" dirty="0">
                <a:latin typeface="Calibri"/>
                <a:cs typeface="Calibri"/>
              </a:rPr>
              <a:t>any</a:t>
            </a:r>
            <a:r>
              <a:rPr sz="3000" dirty="0">
                <a:latin typeface="Calibri"/>
                <a:cs typeface="Calibri"/>
              </a:rPr>
              <a:t>	</a:t>
            </a:r>
            <a:r>
              <a:rPr sz="3000" spc="-20" dirty="0">
                <a:latin typeface="Calibri"/>
                <a:cs typeface="Calibri"/>
              </a:rPr>
              <a:t>time,</a:t>
            </a:r>
            <a:r>
              <a:rPr sz="3000" dirty="0">
                <a:latin typeface="Calibri"/>
                <a:cs typeface="Calibri"/>
              </a:rPr>
              <a:t>	</a:t>
            </a:r>
            <a:r>
              <a:rPr sz="3000" spc="-50" dirty="0">
                <a:latin typeface="Calibri"/>
                <a:cs typeface="Calibri"/>
              </a:rPr>
              <a:t>a</a:t>
            </a:r>
            <a:r>
              <a:rPr sz="3000" dirty="0">
                <a:latin typeface="Calibri"/>
                <a:cs typeface="Calibri"/>
              </a:rPr>
              <a:t>	</a:t>
            </a:r>
            <a:r>
              <a:rPr sz="3000" spc="-10" dirty="0">
                <a:latin typeface="Calibri"/>
                <a:cs typeface="Calibri"/>
              </a:rPr>
              <a:t>process</a:t>
            </a:r>
            <a:r>
              <a:rPr sz="3000" dirty="0">
                <a:latin typeface="Calibri"/>
                <a:cs typeface="Calibri"/>
              </a:rPr>
              <a:t>	</a:t>
            </a:r>
            <a:r>
              <a:rPr sz="3000" spc="-25" dirty="0">
                <a:latin typeface="Calibri"/>
                <a:cs typeface="Calibri"/>
              </a:rPr>
              <a:t>is</a:t>
            </a:r>
            <a:r>
              <a:rPr sz="3000" dirty="0">
                <a:latin typeface="Calibri"/>
                <a:cs typeface="Calibri"/>
              </a:rPr>
              <a:t>	</a:t>
            </a:r>
            <a:r>
              <a:rPr sz="3000" spc="-25" dirty="0">
                <a:latin typeface="Calibri"/>
                <a:cs typeface="Calibri"/>
              </a:rPr>
              <a:t>in</a:t>
            </a:r>
            <a:r>
              <a:rPr sz="3000" dirty="0">
                <a:latin typeface="Calibri"/>
                <a:cs typeface="Calibri"/>
              </a:rPr>
              <a:t>	</a:t>
            </a:r>
            <a:r>
              <a:rPr sz="3000" spc="-25" dirty="0">
                <a:latin typeface="Calibri"/>
                <a:cs typeface="Calibri"/>
              </a:rPr>
              <a:t>any</a:t>
            </a:r>
            <a:r>
              <a:rPr sz="3000" dirty="0">
                <a:latin typeface="Calibri"/>
                <a:cs typeface="Calibri"/>
              </a:rPr>
              <a:t>	</a:t>
            </a:r>
            <a:r>
              <a:rPr sz="3000" spc="-25" dirty="0">
                <a:latin typeface="Calibri"/>
                <a:cs typeface="Calibri"/>
              </a:rPr>
              <a:t>one</a:t>
            </a:r>
            <a:r>
              <a:rPr sz="3000" dirty="0">
                <a:latin typeface="Calibri"/>
                <a:cs typeface="Calibri"/>
              </a:rPr>
              <a:t>	</a:t>
            </a:r>
            <a:r>
              <a:rPr sz="3000" spc="-25" dirty="0">
                <a:latin typeface="Calibri"/>
                <a:cs typeface="Calibri"/>
              </a:rPr>
              <a:t>of</a:t>
            </a:r>
            <a:r>
              <a:rPr sz="3000" dirty="0">
                <a:latin typeface="Calibri"/>
                <a:cs typeface="Calibri"/>
              </a:rPr>
              <a:t>	the</a:t>
            </a:r>
            <a:r>
              <a:rPr sz="3000" spc="330" dirty="0">
                <a:latin typeface="Calibri"/>
                <a:cs typeface="Calibri"/>
              </a:rPr>
              <a:t> </a:t>
            </a:r>
            <a:r>
              <a:rPr sz="3000" spc="-80" dirty="0">
                <a:latin typeface="Calibri"/>
                <a:cs typeface="Calibri"/>
              </a:rPr>
              <a:t>new, </a:t>
            </a:r>
            <a:r>
              <a:rPr sz="3000" spc="-30" dirty="0">
                <a:solidFill>
                  <a:schemeClr val="accent6">
                    <a:lumMod val="75000"/>
                  </a:schemeClr>
                </a:solidFill>
                <a:latin typeface="Calibri"/>
                <a:cs typeface="Calibri"/>
              </a:rPr>
              <a:t>ready,</a:t>
            </a:r>
            <a:r>
              <a:rPr sz="3000" spc="-70" dirty="0">
                <a:solidFill>
                  <a:schemeClr val="accent6">
                    <a:lumMod val="75000"/>
                  </a:schemeClr>
                </a:solidFill>
                <a:latin typeface="Calibri"/>
                <a:cs typeface="Calibri"/>
              </a:rPr>
              <a:t> </a:t>
            </a:r>
            <a:r>
              <a:rPr sz="3000" dirty="0">
                <a:solidFill>
                  <a:schemeClr val="accent6">
                    <a:lumMod val="75000"/>
                  </a:schemeClr>
                </a:solidFill>
                <a:latin typeface="Calibri"/>
                <a:cs typeface="Calibri"/>
              </a:rPr>
              <a:t>running</a:t>
            </a:r>
            <a:r>
              <a:rPr sz="3000" spc="-65" dirty="0">
                <a:solidFill>
                  <a:schemeClr val="accent6">
                    <a:lumMod val="75000"/>
                  </a:schemeClr>
                </a:solidFill>
                <a:latin typeface="Calibri"/>
                <a:cs typeface="Calibri"/>
              </a:rPr>
              <a:t> </a:t>
            </a:r>
            <a:r>
              <a:rPr sz="3000" dirty="0">
                <a:solidFill>
                  <a:schemeClr val="accent6">
                    <a:lumMod val="75000"/>
                  </a:schemeClr>
                </a:solidFill>
                <a:latin typeface="Calibri"/>
                <a:cs typeface="Calibri"/>
              </a:rPr>
              <a:t>or</a:t>
            </a:r>
            <a:r>
              <a:rPr sz="3000" spc="-70" dirty="0">
                <a:solidFill>
                  <a:schemeClr val="accent6">
                    <a:lumMod val="75000"/>
                  </a:schemeClr>
                </a:solidFill>
                <a:latin typeface="Calibri"/>
                <a:cs typeface="Calibri"/>
              </a:rPr>
              <a:t> </a:t>
            </a:r>
            <a:r>
              <a:rPr sz="3000" dirty="0">
                <a:solidFill>
                  <a:schemeClr val="accent6">
                    <a:lumMod val="75000"/>
                  </a:schemeClr>
                </a:solidFill>
                <a:latin typeface="Calibri"/>
                <a:cs typeface="Calibri"/>
              </a:rPr>
              <a:t>waiting</a:t>
            </a:r>
            <a:r>
              <a:rPr sz="3000" spc="-65" dirty="0">
                <a:solidFill>
                  <a:schemeClr val="accent6">
                    <a:lumMod val="75000"/>
                  </a:schemeClr>
                </a:solidFill>
                <a:latin typeface="Calibri"/>
                <a:cs typeface="Calibri"/>
              </a:rPr>
              <a:t> </a:t>
            </a:r>
            <a:r>
              <a:rPr sz="3000" spc="-10" dirty="0">
                <a:solidFill>
                  <a:schemeClr val="accent6">
                    <a:lumMod val="75000"/>
                  </a:schemeClr>
                </a:solidFill>
                <a:latin typeface="Calibri"/>
                <a:cs typeface="Calibri"/>
              </a:rPr>
              <a:t>state.</a:t>
            </a:r>
            <a:endParaRPr sz="3000" dirty="0">
              <a:solidFill>
                <a:schemeClr val="accent6">
                  <a:lumMod val="75000"/>
                </a:schemeClr>
              </a:solidFill>
              <a:latin typeface="Calibri"/>
              <a:cs typeface="Calibri"/>
            </a:endParaRPr>
          </a:p>
          <a:p>
            <a:pPr marL="355600" marR="5080" indent="-342900">
              <a:lnSpc>
                <a:spcPts val="3240"/>
              </a:lnSpc>
              <a:spcBef>
                <a:spcPts val="720"/>
              </a:spcBef>
              <a:buFont typeface="Arial"/>
              <a:buChar char="•"/>
              <a:tabLst>
                <a:tab pos="355600" algn="l"/>
                <a:tab pos="1115695" algn="l"/>
                <a:tab pos="1727200" algn="l"/>
                <a:tab pos="3094355" algn="l"/>
                <a:tab pos="4325620" algn="l"/>
                <a:tab pos="4844415" algn="l"/>
                <a:tab pos="6536055" algn="l"/>
              </a:tabLst>
            </a:pPr>
            <a:r>
              <a:rPr sz="3000" spc="-25" dirty="0">
                <a:latin typeface="Calibri"/>
                <a:cs typeface="Calibri"/>
              </a:rPr>
              <a:t>The</a:t>
            </a:r>
            <a:r>
              <a:rPr sz="3000" dirty="0">
                <a:latin typeface="Calibri"/>
                <a:cs typeface="Calibri"/>
              </a:rPr>
              <a:t>	</a:t>
            </a:r>
            <a:r>
              <a:rPr sz="3000" spc="-25" dirty="0">
                <a:latin typeface="Calibri"/>
                <a:cs typeface="Calibri"/>
              </a:rPr>
              <a:t>OS</a:t>
            </a:r>
            <a:r>
              <a:rPr sz="3000" dirty="0">
                <a:latin typeface="Calibri"/>
                <a:cs typeface="Calibri"/>
              </a:rPr>
              <a:t>	</a:t>
            </a:r>
            <a:r>
              <a:rPr sz="3000" spc="-10" dirty="0">
                <a:latin typeface="Calibri"/>
                <a:cs typeface="Calibri"/>
              </a:rPr>
              <a:t>module</a:t>
            </a:r>
            <a:r>
              <a:rPr sz="3000" dirty="0">
                <a:latin typeface="Calibri"/>
                <a:cs typeface="Calibri"/>
              </a:rPr>
              <a:t>	</a:t>
            </a:r>
            <a:r>
              <a:rPr sz="3000" spc="-10" dirty="0">
                <a:latin typeface="Calibri"/>
                <a:cs typeface="Calibri"/>
              </a:rPr>
              <a:t>known</a:t>
            </a:r>
            <a:r>
              <a:rPr sz="3000" dirty="0">
                <a:latin typeface="Calibri"/>
                <a:cs typeface="Calibri"/>
              </a:rPr>
              <a:t>	</a:t>
            </a:r>
            <a:r>
              <a:rPr sz="3000" spc="-25" dirty="0">
                <a:latin typeface="Calibri"/>
                <a:cs typeface="Calibri"/>
              </a:rPr>
              <a:t>as</a:t>
            </a:r>
            <a:r>
              <a:rPr sz="3000" dirty="0">
                <a:latin typeface="Calibri"/>
                <a:cs typeface="Calibri"/>
              </a:rPr>
              <a:t>	</a:t>
            </a:r>
            <a:r>
              <a:rPr sz="3000" spc="-10" dirty="0">
                <a:latin typeface="Calibri"/>
                <a:cs typeface="Calibri"/>
              </a:rPr>
              <a:t>scheduler</a:t>
            </a:r>
            <a:r>
              <a:rPr lang="en-US" sz="3000" spc="-10" dirty="0">
                <a:latin typeface="Calibri"/>
                <a:cs typeface="Calibri"/>
              </a:rPr>
              <a:t>,</a:t>
            </a:r>
            <a:r>
              <a:rPr sz="3000" dirty="0">
                <a:latin typeface="Calibri"/>
                <a:cs typeface="Calibri"/>
              </a:rPr>
              <a:t>	</a:t>
            </a:r>
            <a:r>
              <a:rPr sz="3000" spc="-10" dirty="0">
                <a:latin typeface="Calibri"/>
                <a:cs typeface="Calibri"/>
              </a:rPr>
              <a:t>schedules </a:t>
            </a:r>
            <a:r>
              <a:rPr sz="3000" dirty="0">
                <a:latin typeface="Calibri"/>
                <a:cs typeface="Calibri"/>
              </a:rPr>
              <a:t>processes</a:t>
            </a:r>
            <a:r>
              <a:rPr sz="3000" spc="-95" dirty="0">
                <a:latin typeface="Calibri"/>
                <a:cs typeface="Calibri"/>
              </a:rPr>
              <a:t> </a:t>
            </a:r>
            <a:r>
              <a:rPr sz="3000" dirty="0">
                <a:latin typeface="Calibri"/>
                <a:cs typeface="Calibri"/>
              </a:rPr>
              <a:t>from</a:t>
            </a:r>
            <a:r>
              <a:rPr sz="3000" spc="-65" dirty="0">
                <a:latin typeface="Calibri"/>
                <a:cs typeface="Calibri"/>
              </a:rPr>
              <a:t> </a:t>
            </a:r>
            <a:r>
              <a:rPr sz="3000" dirty="0">
                <a:latin typeface="Calibri"/>
                <a:cs typeface="Calibri"/>
              </a:rPr>
              <a:t>ready</a:t>
            </a:r>
            <a:r>
              <a:rPr sz="3000" spc="-90" dirty="0">
                <a:latin typeface="Calibri"/>
                <a:cs typeface="Calibri"/>
              </a:rPr>
              <a:t> </a:t>
            </a:r>
            <a:r>
              <a:rPr sz="3000" dirty="0">
                <a:latin typeface="Calibri"/>
                <a:cs typeface="Calibri"/>
              </a:rPr>
              <a:t>queue</a:t>
            </a:r>
            <a:r>
              <a:rPr sz="3000" spc="-85" dirty="0">
                <a:latin typeface="Calibri"/>
                <a:cs typeface="Calibri"/>
              </a:rPr>
              <a:t> </a:t>
            </a:r>
            <a:r>
              <a:rPr sz="3000" dirty="0">
                <a:latin typeface="Calibri"/>
                <a:cs typeface="Calibri"/>
              </a:rPr>
              <a:t>for</a:t>
            </a:r>
            <a:r>
              <a:rPr sz="3000" spc="-80" dirty="0">
                <a:latin typeface="Calibri"/>
                <a:cs typeface="Calibri"/>
              </a:rPr>
              <a:t> </a:t>
            </a:r>
            <a:r>
              <a:rPr sz="3000" spc="-10" dirty="0">
                <a:solidFill>
                  <a:schemeClr val="accent6">
                    <a:lumMod val="75000"/>
                  </a:schemeClr>
                </a:solidFill>
                <a:latin typeface="Calibri"/>
                <a:cs typeface="Calibri"/>
              </a:rPr>
              <a:t>execution</a:t>
            </a:r>
            <a:r>
              <a:rPr sz="3000" spc="-75" dirty="0">
                <a:solidFill>
                  <a:schemeClr val="accent6">
                    <a:lumMod val="75000"/>
                  </a:schemeClr>
                </a:solidFill>
                <a:latin typeface="Calibri"/>
                <a:cs typeface="Calibri"/>
              </a:rPr>
              <a:t> </a:t>
            </a:r>
            <a:r>
              <a:rPr sz="3000" dirty="0">
                <a:solidFill>
                  <a:schemeClr val="accent6">
                    <a:lumMod val="75000"/>
                  </a:schemeClr>
                </a:solidFill>
                <a:latin typeface="Calibri"/>
                <a:cs typeface="Calibri"/>
              </a:rPr>
              <a:t>by</a:t>
            </a:r>
            <a:r>
              <a:rPr sz="3000" spc="-80" dirty="0">
                <a:solidFill>
                  <a:schemeClr val="accent6">
                    <a:lumMod val="75000"/>
                  </a:schemeClr>
                </a:solidFill>
                <a:latin typeface="Calibri"/>
                <a:cs typeface="Calibri"/>
              </a:rPr>
              <a:t> </a:t>
            </a:r>
            <a:r>
              <a:rPr sz="3000" spc="-25" dirty="0">
                <a:solidFill>
                  <a:schemeClr val="accent6">
                    <a:lumMod val="75000"/>
                  </a:schemeClr>
                </a:solidFill>
                <a:latin typeface="Calibri"/>
                <a:cs typeface="Calibri"/>
              </a:rPr>
              <a:t>CPU</a:t>
            </a:r>
            <a:endParaRPr sz="3000" dirty="0">
              <a:solidFill>
                <a:schemeClr val="accent6">
                  <a:lumMod val="75000"/>
                </a:schemeClr>
              </a:solidFill>
              <a:latin typeface="Calibri"/>
              <a:cs typeface="Calibri"/>
            </a:endParaRPr>
          </a:p>
          <a:p>
            <a:pPr marL="355600" marR="5715" indent="-342900">
              <a:lnSpc>
                <a:spcPts val="3240"/>
              </a:lnSpc>
              <a:spcBef>
                <a:spcPts val="725"/>
              </a:spcBef>
              <a:buFont typeface="Arial"/>
              <a:buChar char="•"/>
              <a:tabLst>
                <a:tab pos="355600" algn="l"/>
                <a:tab pos="2040889" algn="l"/>
                <a:tab pos="3096260" algn="l"/>
                <a:tab pos="3836670" algn="l"/>
                <a:tab pos="4305935" algn="l"/>
                <a:tab pos="4975225" algn="l"/>
                <a:tab pos="5979795" algn="l"/>
                <a:tab pos="7310755" algn="l"/>
              </a:tabLst>
            </a:pPr>
            <a:r>
              <a:rPr sz="3000" spc="-10" dirty="0">
                <a:latin typeface="Calibri"/>
                <a:cs typeface="Calibri"/>
              </a:rPr>
              <a:t>Scheduler</a:t>
            </a:r>
            <a:r>
              <a:rPr sz="3000" dirty="0">
                <a:latin typeface="Calibri"/>
                <a:cs typeface="Calibri"/>
              </a:rPr>
              <a:t>	</a:t>
            </a:r>
            <a:r>
              <a:rPr sz="3000" spc="-10" dirty="0">
                <a:latin typeface="Calibri"/>
                <a:cs typeface="Calibri"/>
              </a:rPr>
              <a:t>select</a:t>
            </a:r>
            <a:r>
              <a:rPr sz="3000" dirty="0">
                <a:latin typeface="Calibri"/>
                <a:cs typeface="Calibri"/>
              </a:rPr>
              <a:t>	</a:t>
            </a:r>
            <a:r>
              <a:rPr sz="3000" spc="-25" dirty="0">
                <a:latin typeface="Calibri"/>
                <a:cs typeface="Calibri"/>
              </a:rPr>
              <a:t>one</a:t>
            </a:r>
            <a:r>
              <a:rPr sz="3000" dirty="0">
                <a:latin typeface="Calibri"/>
                <a:cs typeface="Calibri"/>
              </a:rPr>
              <a:t>	</a:t>
            </a:r>
            <a:r>
              <a:rPr sz="3000" spc="-25" dirty="0">
                <a:latin typeface="Calibri"/>
                <a:cs typeface="Calibri"/>
              </a:rPr>
              <a:t>of</a:t>
            </a:r>
            <a:r>
              <a:rPr sz="3000" dirty="0">
                <a:latin typeface="Calibri"/>
                <a:cs typeface="Calibri"/>
              </a:rPr>
              <a:t>	</a:t>
            </a:r>
            <a:r>
              <a:rPr sz="3000" spc="-25" dirty="0">
                <a:latin typeface="Calibri"/>
                <a:cs typeface="Calibri"/>
              </a:rPr>
              <a:t>the</a:t>
            </a:r>
            <a:r>
              <a:rPr sz="3000" dirty="0">
                <a:latin typeface="Calibri"/>
                <a:cs typeface="Calibri"/>
              </a:rPr>
              <a:t>	</a:t>
            </a:r>
            <a:r>
              <a:rPr sz="3000" spc="-20" dirty="0">
                <a:latin typeface="Calibri"/>
                <a:cs typeface="Calibri"/>
              </a:rPr>
              <a:t>many</a:t>
            </a:r>
            <a:r>
              <a:rPr sz="3000" dirty="0">
                <a:latin typeface="Calibri"/>
                <a:cs typeface="Calibri"/>
              </a:rPr>
              <a:t>	</a:t>
            </a:r>
            <a:r>
              <a:rPr sz="3000" spc="-10" dirty="0">
                <a:latin typeface="Calibri"/>
                <a:cs typeface="Calibri"/>
              </a:rPr>
              <a:t>process</a:t>
            </a:r>
            <a:r>
              <a:rPr sz="3000" dirty="0">
                <a:latin typeface="Calibri"/>
                <a:cs typeface="Calibri"/>
              </a:rPr>
              <a:t>	</a:t>
            </a:r>
            <a:r>
              <a:rPr sz="3000" spc="-30" dirty="0">
                <a:latin typeface="Calibri"/>
                <a:cs typeface="Calibri"/>
              </a:rPr>
              <a:t>from </a:t>
            </a:r>
            <a:r>
              <a:rPr sz="3000" dirty="0">
                <a:solidFill>
                  <a:schemeClr val="accent6">
                    <a:lumMod val="75000"/>
                  </a:schemeClr>
                </a:solidFill>
                <a:latin typeface="Calibri"/>
                <a:cs typeface="Calibri"/>
              </a:rPr>
              <a:t>ready</a:t>
            </a:r>
            <a:r>
              <a:rPr sz="3000" spc="-60" dirty="0">
                <a:solidFill>
                  <a:schemeClr val="accent6">
                    <a:lumMod val="75000"/>
                  </a:schemeClr>
                </a:solidFill>
                <a:latin typeface="Calibri"/>
                <a:cs typeface="Calibri"/>
              </a:rPr>
              <a:t> </a:t>
            </a:r>
            <a:r>
              <a:rPr sz="3000" dirty="0">
                <a:solidFill>
                  <a:schemeClr val="accent6">
                    <a:lumMod val="75000"/>
                  </a:schemeClr>
                </a:solidFill>
                <a:latin typeface="Calibri"/>
                <a:cs typeface="Calibri"/>
              </a:rPr>
              <a:t>queue</a:t>
            </a:r>
            <a:r>
              <a:rPr sz="3000" spc="-45" dirty="0">
                <a:solidFill>
                  <a:schemeClr val="accent6">
                    <a:lumMod val="75000"/>
                  </a:schemeClr>
                </a:solidFill>
                <a:latin typeface="Calibri"/>
                <a:cs typeface="Calibri"/>
              </a:rPr>
              <a:t> </a:t>
            </a:r>
            <a:r>
              <a:rPr sz="3000" dirty="0">
                <a:latin typeface="Calibri"/>
                <a:cs typeface="Calibri"/>
              </a:rPr>
              <a:t>on</a:t>
            </a:r>
            <a:r>
              <a:rPr sz="3000" spc="-40" dirty="0">
                <a:latin typeface="Calibri"/>
                <a:cs typeface="Calibri"/>
              </a:rPr>
              <a:t> </a:t>
            </a:r>
            <a:r>
              <a:rPr sz="3000" dirty="0">
                <a:latin typeface="Calibri"/>
                <a:cs typeface="Calibri"/>
              </a:rPr>
              <a:t>certain</a:t>
            </a:r>
            <a:r>
              <a:rPr sz="3000" spc="-55" dirty="0">
                <a:latin typeface="Calibri"/>
                <a:cs typeface="Calibri"/>
              </a:rPr>
              <a:t> </a:t>
            </a:r>
            <a:r>
              <a:rPr sz="3000" spc="-10" dirty="0">
                <a:latin typeface="Calibri"/>
                <a:cs typeface="Calibri"/>
              </a:rPr>
              <a:t>criteria.</a:t>
            </a:r>
            <a:endParaRPr sz="3000" dirty="0">
              <a:latin typeface="Calibri"/>
              <a:cs typeface="Calibri"/>
            </a:endParaRPr>
          </a:p>
          <a:p>
            <a:pPr marL="354965" indent="-342265">
              <a:lnSpc>
                <a:spcPct val="100000"/>
              </a:lnSpc>
              <a:spcBef>
                <a:spcPts val="315"/>
              </a:spcBef>
              <a:buFont typeface="Arial"/>
              <a:buChar char="•"/>
              <a:tabLst>
                <a:tab pos="354965" algn="l"/>
              </a:tabLst>
            </a:pPr>
            <a:r>
              <a:rPr sz="3000" dirty="0">
                <a:latin typeface="Calibri"/>
                <a:cs typeface="Calibri"/>
              </a:rPr>
              <a:t>(Will</a:t>
            </a:r>
            <a:r>
              <a:rPr sz="3000" spc="-45" dirty="0">
                <a:latin typeface="Calibri"/>
                <a:cs typeface="Calibri"/>
              </a:rPr>
              <a:t> </a:t>
            </a:r>
            <a:r>
              <a:rPr sz="3000" dirty="0">
                <a:latin typeface="Calibri"/>
                <a:cs typeface="Calibri"/>
              </a:rPr>
              <a:t>discuss</a:t>
            </a:r>
            <a:r>
              <a:rPr sz="3000" spc="-35" dirty="0">
                <a:latin typeface="Calibri"/>
                <a:cs typeface="Calibri"/>
              </a:rPr>
              <a:t> </a:t>
            </a:r>
            <a:r>
              <a:rPr sz="3000" dirty="0">
                <a:latin typeface="Calibri"/>
                <a:cs typeface="Calibri"/>
              </a:rPr>
              <a:t>it</a:t>
            </a:r>
            <a:r>
              <a:rPr sz="3000" spc="-35" dirty="0">
                <a:latin typeface="Calibri"/>
                <a:cs typeface="Calibri"/>
              </a:rPr>
              <a:t> </a:t>
            </a:r>
            <a:r>
              <a:rPr sz="3000" dirty="0">
                <a:latin typeface="Calibri"/>
                <a:cs typeface="Calibri"/>
              </a:rPr>
              <a:t>in</a:t>
            </a:r>
            <a:r>
              <a:rPr sz="3000" spc="-35" dirty="0">
                <a:latin typeface="Calibri"/>
                <a:cs typeface="Calibri"/>
              </a:rPr>
              <a:t> </a:t>
            </a:r>
            <a:r>
              <a:rPr sz="3000" dirty="0">
                <a:latin typeface="Calibri"/>
                <a:cs typeface="Calibri"/>
              </a:rPr>
              <a:t>detail</a:t>
            </a:r>
            <a:r>
              <a:rPr sz="3000" spc="-50" dirty="0">
                <a:latin typeface="Calibri"/>
                <a:cs typeface="Calibri"/>
              </a:rPr>
              <a:t> </a:t>
            </a:r>
            <a:r>
              <a:rPr sz="3000" dirty="0">
                <a:latin typeface="Calibri"/>
                <a:cs typeface="Calibri"/>
              </a:rPr>
              <a:t>in</a:t>
            </a:r>
            <a:r>
              <a:rPr sz="3000" spc="-40" dirty="0">
                <a:latin typeface="Calibri"/>
                <a:cs typeface="Calibri"/>
              </a:rPr>
              <a:t> </a:t>
            </a:r>
            <a:r>
              <a:rPr sz="3000" dirty="0">
                <a:latin typeface="Calibri"/>
                <a:cs typeface="Calibri"/>
              </a:rPr>
              <a:t>next</a:t>
            </a:r>
            <a:r>
              <a:rPr sz="3000" spc="-30" dirty="0">
                <a:latin typeface="Calibri"/>
                <a:cs typeface="Calibri"/>
              </a:rPr>
              <a:t> </a:t>
            </a:r>
            <a:r>
              <a:rPr sz="3000" spc="-10" dirty="0">
                <a:latin typeface="Calibri"/>
                <a:cs typeface="Calibri"/>
              </a:rPr>
              <a:t>chapter)</a:t>
            </a:r>
            <a:endParaRPr sz="3000" dirty="0">
              <a:latin typeface="Calibri"/>
              <a:cs typeface="Calibri"/>
            </a:endParaRP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13335" rIns="0" bIns="0" rtlCol="0">
            <a:spAutoFit/>
          </a:bodyPr>
          <a:lstStyle/>
          <a:p>
            <a:pPr marL="12700" algn="ctr">
              <a:spcBef>
                <a:spcPts val="105"/>
              </a:spcBef>
            </a:pPr>
            <a:r>
              <a:rPr dirty="0"/>
              <a:t>Context Switch</a:t>
            </a:r>
          </a:p>
        </p:txBody>
      </p:sp>
      <p:sp>
        <p:nvSpPr>
          <p:cNvPr id="4" name="object 4"/>
          <p:cNvSpPr txBox="1">
            <a:spLocks noGrp="1"/>
          </p:cNvSpPr>
          <p:nvPr>
            <p:ph type="ftr" sz="quarter" idx="5"/>
          </p:nvPr>
        </p:nvSpPr>
        <p:spPr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12700">
              <a:lnSpc>
                <a:spcPts val="1240"/>
              </a:lnSpc>
            </a:pPr>
            <a:r>
              <a:rPr lang="pl-PL"/>
              <a:t>By Dr. Binod Kr. Adhikari</a:t>
            </a:r>
            <a:endParaRPr spc="-10" dirty="0"/>
          </a:p>
        </p:txBody>
      </p:sp>
      <p:sp>
        <p:nvSpPr>
          <p:cNvPr id="3" name="object 3"/>
          <p:cNvSpPr txBox="1"/>
          <p:nvPr/>
        </p:nvSpPr>
        <p:spPr>
          <a:xfrm>
            <a:off x="535940" y="1447800"/>
            <a:ext cx="8076565" cy="4124325"/>
          </a:xfrm>
          <a:prstGeom prst="rect">
            <a:avLst/>
          </a:prstGeom>
        </p:spPr>
        <p:txBody>
          <a:bodyPr vert="horz" wrap="square" lIns="0" tIns="13335" rIns="0" bIns="0" rtlCol="0">
            <a:spAutoFit/>
          </a:bodyPr>
          <a:lstStyle/>
          <a:p>
            <a:pPr marL="354330" marR="8255" indent="-341630" algn="just">
              <a:lnSpc>
                <a:spcPct val="100000"/>
              </a:lnSpc>
              <a:spcBef>
                <a:spcPts val="105"/>
              </a:spcBef>
              <a:buFont typeface="Arial"/>
              <a:buChar char="•"/>
              <a:tabLst>
                <a:tab pos="355600" algn="l"/>
              </a:tabLst>
            </a:pPr>
            <a:r>
              <a:rPr sz="3200" dirty="0">
                <a:latin typeface="Calibri"/>
                <a:cs typeface="Calibri"/>
              </a:rPr>
              <a:t>CPU</a:t>
            </a:r>
            <a:r>
              <a:rPr sz="3200" spc="655" dirty="0">
                <a:latin typeface="Calibri"/>
                <a:cs typeface="Calibri"/>
              </a:rPr>
              <a:t> </a:t>
            </a:r>
            <a:r>
              <a:rPr sz="3200" dirty="0">
                <a:latin typeface="Calibri"/>
                <a:cs typeface="Calibri"/>
              </a:rPr>
              <a:t>switching</a:t>
            </a:r>
            <a:r>
              <a:rPr sz="3200" spc="690" dirty="0">
                <a:latin typeface="Calibri"/>
                <a:cs typeface="Calibri"/>
              </a:rPr>
              <a:t> </a:t>
            </a:r>
            <a:r>
              <a:rPr sz="3200" dirty="0">
                <a:latin typeface="Calibri"/>
                <a:cs typeface="Calibri"/>
              </a:rPr>
              <a:t>form</a:t>
            </a:r>
            <a:r>
              <a:rPr sz="3200" spc="665" dirty="0">
                <a:latin typeface="Calibri"/>
                <a:cs typeface="Calibri"/>
              </a:rPr>
              <a:t> </a:t>
            </a:r>
            <a:r>
              <a:rPr sz="3200" dirty="0">
                <a:latin typeface="Calibri"/>
                <a:cs typeface="Calibri"/>
              </a:rPr>
              <a:t>one</a:t>
            </a:r>
            <a:r>
              <a:rPr sz="3200" spc="675" dirty="0">
                <a:latin typeface="Calibri"/>
                <a:cs typeface="Calibri"/>
              </a:rPr>
              <a:t> </a:t>
            </a:r>
            <a:r>
              <a:rPr sz="3200" dirty="0">
                <a:latin typeface="Calibri"/>
                <a:cs typeface="Calibri"/>
              </a:rPr>
              <a:t>process</a:t>
            </a:r>
            <a:r>
              <a:rPr sz="3200" spc="650" dirty="0">
                <a:latin typeface="Calibri"/>
                <a:cs typeface="Calibri"/>
              </a:rPr>
              <a:t> </a:t>
            </a:r>
            <a:r>
              <a:rPr sz="3200" dirty="0">
                <a:latin typeface="Calibri"/>
                <a:cs typeface="Calibri"/>
              </a:rPr>
              <a:t>to</a:t>
            </a:r>
            <a:r>
              <a:rPr sz="3200" spc="675" dirty="0">
                <a:latin typeface="Calibri"/>
                <a:cs typeface="Calibri"/>
              </a:rPr>
              <a:t> </a:t>
            </a:r>
            <a:r>
              <a:rPr sz="3200" spc="-10" dirty="0">
                <a:latin typeface="Calibri"/>
                <a:cs typeface="Calibri"/>
              </a:rPr>
              <a:t>another 	</a:t>
            </a:r>
            <a:r>
              <a:rPr sz="3200" dirty="0">
                <a:latin typeface="Calibri"/>
                <a:cs typeface="Calibri"/>
              </a:rPr>
              <a:t>requires</a:t>
            </a:r>
            <a:r>
              <a:rPr sz="3200" spc="450" dirty="0">
                <a:latin typeface="Calibri"/>
                <a:cs typeface="Calibri"/>
              </a:rPr>
              <a:t>  </a:t>
            </a:r>
            <a:r>
              <a:rPr sz="3200" b="1" dirty="0">
                <a:solidFill>
                  <a:srgbClr val="00B050"/>
                </a:solidFill>
                <a:latin typeface="Calibri"/>
                <a:cs typeface="Calibri"/>
              </a:rPr>
              <a:t>saving</a:t>
            </a:r>
            <a:r>
              <a:rPr sz="3200" b="1" spc="465" dirty="0">
                <a:solidFill>
                  <a:srgbClr val="00B050"/>
                </a:solidFill>
                <a:latin typeface="Calibri"/>
                <a:cs typeface="Calibri"/>
              </a:rPr>
              <a:t>  </a:t>
            </a:r>
            <a:r>
              <a:rPr sz="3200" b="1" dirty="0">
                <a:solidFill>
                  <a:srgbClr val="00B050"/>
                </a:solidFill>
                <a:latin typeface="Calibri"/>
                <a:cs typeface="Calibri"/>
              </a:rPr>
              <a:t>the</a:t>
            </a:r>
            <a:r>
              <a:rPr sz="3200" b="1" spc="445" dirty="0">
                <a:solidFill>
                  <a:srgbClr val="00B050"/>
                </a:solidFill>
                <a:latin typeface="Calibri"/>
                <a:cs typeface="Calibri"/>
              </a:rPr>
              <a:t>  </a:t>
            </a:r>
            <a:r>
              <a:rPr sz="3200" b="1" dirty="0">
                <a:solidFill>
                  <a:srgbClr val="00B050"/>
                </a:solidFill>
                <a:latin typeface="Calibri"/>
                <a:cs typeface="Calibri"/>
              </a:rPr>
              <a:t>state</a:t>
            </a:r>
            <a:r>
              <a:rPr sz="3200" b="1" spc="459" dirty="0">
                <a:latin typeface="Calibri"/>
                <a:cs typeface="Calibri"/>
              </a:rPr>
              <a:t>  </a:t>
            </a:r>
            <a:r>
              <a:rPr sz="3200" dirty="0">
                <a:latin typeface="Calibri"/>
                <a:cs typeface="Calibri"/>
              </a:rPr>
              <a:t>of</a:t>
            </a:r>
            <a:r>
              <a:rPr sz="3200" spc="450" dirty="0">
                <a:latin typeface="Calibri"/>
                <a:cs typeface="Calibri"/>
              </a:rPr>
              <a:t>  </a:t>
            </a:r>
            <a:r>
              <a:rPr sz="3200" dirty="0">
                <a:latin typeface="Calibri"/>
                <a:cs typeface="Calibri"/>
              </a:rPr>
              <a:t>the</a:t>
            </a:r>
            <a:r>
              <a:rPr sz="3200" spc="450" dirty="0">
                <a:latin typeface="Calibri"/>
                <a:cs typeface="Calibri"/>
              </a:rPr>
              <a:t>  </a:t>
            </a:r>
            <a:r>
              <a:rPr sz="3200" spc="-10" dirty="0">
                <a:latin typeface="Calibri"/>
                <a:cs typeface="Calibri"/>
              </a:rPr>
              <a:t>current 	</a:t>
            </a:r>
            <a:r>
              <a:rPr sz="3200" dirty="0">
                <a:latin typeface="Calibri"/>
                <a:cs typeface="Calibri"/>
              </a:rPr>
              <a:t>process</a:t>
            </a:r>
            <a:r>
              <a:rPr sz="3200" spc="615" dirty="0">
                <a:latin typeface="Calibri"/>
                <a:cs typeface="Calibri"/>
              </a:rPr>
              <a:t> </a:t>
            </a:r>
            <a:r>
              <a:rPr sz="3200" dirty="0">
                <a:latin typeface="Calibri"/>
                <a:cs typeface="Calibri"/>
              </a:rPr>
              <a:t>and</a:t>
            </a:r>
            <a:r>
              <a:rPr sz="3200" spc="630" dirty="0">
                <a:latin typeface="Calibri"/>
                <a:cs typeface="Calibri"/>
              </a:rPr>
              <a:t> </a:t>
            </a:r>
            <a:r>
              <a:rPr sz="3200" dirty="0">
                <a:solidFill>
                  <a:srgbClr val="00B050"/>
                </a:solidFill>
                <a:latin typeface="Calibri"/>
                <a:cs typeface="Calibri"/>
              </a:rPr>
              <a:t>loading</a:t>
            </a:r>
            <a:r>
              <a:rPr sz="3200" spc="635" dirty="0">
                <a:solidFill>
                  <a:srgbClr val="00B050"/>
                </a:solidFill>
                <a:latin typeface="Calibri"/>
                <a:cs typeface="Calibri"/>
              </a:rPr>
              <a:t> </a:t>
            </a:r>
            <a:r>
              <a:rPr sz="3200" dirty="0">
                <a:solidFill>
                  <a:srgbClr val="00B050"/>
                </a:solidFill>
                <a:latin typeface="Calibri"/>
                <a:cs typeface="Calibri"/>
              </a:rPr>
              <a:t>the</a:t>
            </a:r>
            <a:r>
              <a:rPr sz="3200" spc="625" dirty="0">
                <a:solidFill>
                  <a:srgbClr val="00B050"/>
                </a:solidFill>
                <a:latin typeface="Calibri"/>
                <a:cs typeface="Calibri"/>
              </a:rPr>
              <a:t> </a:t>
            </a:r>
            <a:r>
              <a:rPr sz="3200" dirty="0">
                <a:solidFill>
                  <a:srgbClr val="00B050"/>
                </a:solidFill>
                <a:latin typeface="Calibri"/>
                <a:cs typeface="Calibri"/>
              </a:rPr>
              <a:t>latest</a:t>
            </a:r>
            <a:r>
              <a:rPr sz="3200" spc="620" dirty="0">
                <a:solidFill>
                  <a:srgbClr val="00B050"/>
                </a:solidFill>
                <a:latin typeface="Calibri"/>
                <a:cs typeface="Calibri"/>
              </a:rPr>
              <a:t> </a:t>
            </a:r>
            <a:r>
              <a:rPr sz="3200" dirty="0">
                <a:solidFill>
                  <a:srgbClr val="00B050"/>
                </a:solidFill>
                <a:latin typeface="Calibri"/>
                <a:cs typeface="Calibri"/>
              </a:rPr>
              <a:t>state</a:t>
            </a:r>
            <a:r>
              <a:rPr sz="3200" spc="625" dirty="0">
                <a:solidFill>
                  <a:srgbClr val="00B050"/>
                </a:solidFill>
                <a:latin typeface="Calibri"/>
                <a:cs typeface="Calibri"/>
              </a:rPr>
              <a:t> </a:t>
            </a:r>
            <a:r>
              <a:rPr sz="3200" dirty="0">
                <a:latin typeface="Calibri"/>
                <a:cs typeface="Calibri"/>
              </a:rPr>
              <a:t>of</a:t>
            </a:r>
            <a:r>
              <a:rPr sz="3200" spc="610" dirty="0">
                <a:latin typeface="Calibri"/>
                <a:cs typeface="Calibri"/>
              </a:rPr>
              <a:t> </a:t>
            </a:r>
            <a:r>
              <a:rPr sz="3200" spc="-20" dirty="0">
                <a:latin typeface="Calibri"/>
                <a:cs typeface="Calibri"/>
              </a:rPr>
              <a:t>next 	</a:t>
            </a:r>
            <a:r>
              <a:rPr sz="3200" spc="-10" dirty="0">
                <a:latin typeface="Calibri"/>
                <a:cs typeface="Calibri"/>
              </a:rPr>
              <a:t>process.</a:t>
            </a:r>
            <a:endParaRPr sz="3200" dirty="0">
              <a:latin typeface="Calibri"/>
              <a:cs typeface="Calibri"/>
            </a:endParaRPr>
          </a:p>
          <a:p>
            <a:pPr marL="354965" indent="-342265" algn="just">
              <a:lnSpc>
                <a:spcPct val="100000"/>
              </a:lnSpc>
              <a:spcBef>
                <a:spcPts val="770"/>
              </a:spcBef>
              <a:buFont typeface="Arial"/>
              <a:buChar char="•"/>
              <a:tabLst>
                <a:tab pos="354965" algn="l"/>
              </a:tabLst>
            </a:pPr>
            <a:r>
              <a:rPr sz="3200" dirty="0">
                <a:latin typeface="Calibri"/>
                <a:cs typeface="Calibri"/>
              </a:rPr>
              <a:t>This</a:t>
            </a:r>
            <a:r>
              <a:rPr sz="3200" spc="-65" dirty="0">
                <a:latin typeface="Calibri"/>
                <a:cs typeface="Calibri"/>
              </a:rPr>
              <a:t> </a:t>
            </a:r>
            <a:r>
              <a:rPr sz="3200" dirty="0">
                <a:latin typeface="Calibri"/>
                <a:cs typeface="Calibri"/>
              </a:rPr>
              <a:t>is</a:t>
            </a:r>
            <a:r>
              <a:rPr sz="3200" spc="-50" dirty="0">
                <a:latin typeface="Calibri"/>
                <a:cs typeface="Calibri"/>
              </a:rPr>
              <a:t> </a:t>
            </a:r>
            <a:r>
              <a:rPr sz="3200" dirty="0">
                <a:latin typeface="Calibri"/>
                <a:cs typeface="Calibri"/>
              </a:rPr>
              <a:t>known</a:t>
            </a:r>
            <a:r>
              <a:rPr sz="3200" spc="-45" dirty="0">
                <a:latin typeface="Calibri"/>
                <a:cs typeface="Calibri"/>
              </a:rPr>
              <a:t> </a:t>
            </a:r>
            <a:r>
              <a:rPr sz="3200" dirty="0">
                <a:latin typeface="Calibri"/>
                <a:cs typeface="Calibri"/>
              </a:rPr>
              <a:t>as</a:t>
            </a:r>
            <a:r>
              <a:rPr sz="3200" spc="-65" dirty="0">
                <a:latin typeface="Calibri"/>
                <a:cs typeface="Calibri"/>
              </a:rPr>
              <a:t> </a:t>
            </a:r>
            <a:r>
              <a:rPr sz="3200" b="1" spc="-10" dirty="0">
                <a:solidFill>
                  <a:srgbClr val="FF0000"/>
                </a:solidFill>
                <a:latin typeface="Calibri"/>
                <a:cs typeface="Calibri"/>
              </a:rPr>
              <a:t>context</a:t>
            </a:r>
            <a:r>
              <a:rPr sz="3200" b="1" spc="-60" dirty="0">
                <a:solidFill>
                  <a:srgbClr val="FF0000"/>
                </a:solidFill>
                <a:latin typeface="Calibri"/>
                <a:cs typeface="Calibri"/>
              </a:rPr>
              <a:t> </a:t>
            </a:r>
            <a:r>
              <a:rPr sz="3200" b="1" spc="-10" dirty="0">
                <a:solidFill>
                  <a:srgbClr val="FF0000"/>
                </a:solidFill>
                <a:latin typeface="Calibri"/>
                <a:cs typeface="Calibri"/>
              </a:rPr>
              <a:t>switch</a:t>
            </a:r>
            <a:r>
              <a:rPr sz="3200" spc="-10" dirty="0">
                <a:solidFill>
                  <a:srgbClr val="FF0000"/>
                </a:solidFill>
                <a:latin typeface="Calibri"/>
                <a:cs typeface="Calibri"/>
              </a:rPr>
              <a:t>.</a:t>
            </a:r>
            <a:endParaRPr sz="3200" dirty="0">
              <a:solidFill>
                <a:srgbClr val="FF0000"/>
              </a:solidFill>
              <a:latin typeface="Calibri"/>
              <a:cs typeface="Calibri"/>
            </a:endParaRPr>
          </a:p>
          <a:p>
            <a:pPr marL="354330" marR="5080" indent="-341630" algn="just">
              <a:lnSpc>
                <a:spcPct val="100000"/>
              </a:lnSpc>
              <a:spcBef>
                <a:spcPts val="770"/>
              </a:spcBef>
              <a:buFont typeface="Arial"/>
              <a:buChar char="•"/>
              <a:tabLst>
                <a:tab pos="355600" algn="l"/>
              </a:tabLst>
            </a:pPr>
            <a:r>
              <a:rPr sz="3200" dirty="0">
                <a:latin typeface="Calibri"/>
                <a:cs typeface="Calibri"/>
              </a:rPr>
              <a:t>The</a:t>
            </a:r>
            <a:r>
              <a:rPr sz="3200" spc="395" dirty="0">
                <a:latin typeface="Calibri"/>
                <a:cs typeface="Calibri"/>
              </a:rPr>
              <a:t>  </a:t>
            </a:r>
            <a:r>
              <a:rPr sz="3200" dirty="0">
                <a:solidFill>
                  <a:srgbClr val="FF0000"/>
                </a:solidFill>
                <a:latin typeface="Calibri"/>
                <a:cs typeface="Calibri"/>
              </a:rPr>
              <a:t>time</a:t>
            </a:r>
            <a:r>
              <a:rPr sz="3200" spc="395" dirty="0">
                <a:solidFill>
                  <a:srgbClr val="FF0000"/>
                </a:solidFill>
                <a:latin typeface="Calibri"/>
                <a:cs typeface="Calibri"/>
              </a:rPr>
              <a:t>  </a:t>
            </a:r>
            <a:r>
              <a:rPr sz="3200" dirty="0">
                <a:solidFill>
                  <a:srgbClr val="FF0000"/>
                </a:solidFill>
                <a:latin typeface="Calibri"/>
                <a:cs typeface="Calibri"/>
              </a:rPr>
              <a:t>require</a:t>
            </a:r>
            <a:r>
              <a:rPr sz="3200" spc="390" dirty="0">
                <a:latin typeface="Calibri"/>
                <a:cs typeface="Calibri"/>
              </a:rPr>
              <a:t>  </a:t>
            </a:r>
            <a:r>
              <a:rPr sz="3200" dirty="0">
                <a:latin typeface="Calibri"/>
                <a:cs typeface="Calibri"/>
              </a:rPr>
              <a:t>to</a:t>
            </a:r>
            <a:r>
              <a:rPr sz="3200" spc="400" dirty="0">
                <a:latin typeface="Calibri"/>
                <a:cs typeface="Calibri"/>
              </a:rPr>
              <a:t>  </a:t>
            </a:r>
            <a:r>
              <a:rPr sz="3200" dirty="0">
                <a:latin typeface="Calibri"/>
                <a:cs typeface="Calibri"/>
              </a:rPr>
              <a:t>context</a:t>
            </a:r>
            <a:r>
              <a:rPr sz="3200" spc="390" dirty="0">
                <a:latin typeface="Calibri"/>
                <a:cs typeface="Calibri"/>
              </a:rPr>
              <a:t>  </a:t>
            </a:r>
            <a:r>
              <a:rPr sz="3200" dirty="0">
                <a:latin typeface="Calibri"/>
                <a:cs typeface="Calibri"/>
              </a:rPr>
              <a:t>switch</a:t>
            </a:r>
            <a:r>
              <a:rPr sz="3200" spc="400" dirty="0">
                <a:latin typeface="Calibri"/>
                <a:cs typeface="Calibri"/>
              </a:rPr>
              <a:t>  </a:t>
            </a:r>
            <a:r>
              <a:rPr sz="3200" dirty="0">
                <a:latin typeface="Calibri"/>
                <a:cs typeface="Calibri"/>
              </a:rPr>
              <a:t>is</a:t>
            </a:r>
            <a:r>
              <a:rPr sz="3200" spc="395" dirty="0">
                <a:latin typeface="Calibri"/>
                <a:cs typeface="Calibri"/>
              </a:rPr>
              <a:t>  </a:t>
            </a:r>
            <a:r>
              <a:rPr sz="3200" spc="-50" dirty="0">
                <a:latin typeface="Calibri"/>
                <a:cs typeface="Calibri"/>
              </a:rPr>
              <a:t>a 	</a:t>
            </a:r>
            <a:r>
              <a:rPr sz="3200" dirty="0">
                <a:solidFill>
                  <a:srgbClr val="FF0000"/>
                </a:solidFill>
                <a:latin typeface="Calibri"/>
                <a:cs typeface="Calibri"/>
              </a:rPr>
              <a:t>overhead</a:t>
            </a:r>
            <a:r>
              <a:rPr sz="3200" spc="65" dirty="0">
                <a:latin typeface="Calibri"/>
                <a:cs typeface="Calibri"/>
              </a:rPr>
              <a:t> </a:t>
            </a:r>
            <a:r>
              <a:rPr sz="3200" dirty="0">
                <a:latin typeface="Calibri"/>
                <a:cs typeface="Calibri"/>
              </a:rPr>
              <a:t>since</a:t>
            </a:r>
            <a:r>
              <a:rPr sz="3200" spc="70" dirty="0">
                <a:latin typeface="Calibri"/>
                <a:cs typeface="Calibri"/>
              </a:rPr>
              <a:t> </a:t>
            </a:r>
            <a:r>
              <a:rPr sz="3200" dirty="0">
                <a:latin typeface="Calibri"/>
                <a:cs typeface="Calibri"/>
              </a:rPr>
              <a:t>it</a:t>
            </a:r>
            <a:r>
              <a:rPr sz="3200" spc="80" dirty="0">
                <a:latin typeface="Calibri"/>
                <a:cs typeface="Calibri"/>
              </a:rPr>
              <a:t> </a:t>
            </a:r>
            <a:r>
              <a:rPr sz="3200" dirty="0">
                <a:latin typeface="Calibri"/>
                <a:cs typeface="Calibri"/>
              </a:rPr>
              <a:t>does</a:t>
            </a:r>
            <a:r>
              <a:rPr sz="3200" spc="70" dirty="0">
                <a:latin typeface="Calibri"/>
                <a:cs typeface="Calibri"/>
              </a:rPr>
              <a:t> </a:t>
            </a:r>
            <a:r>
              <a:rPr sz="3200" dirty="0">
                <a:latin typeface="Calibri"/>
                <a:cs typeface="Calibri"/>
              </a:rPr>
              <a:t>not</a:t>
            </a:r>
            <a:r>
              <a:rPr sz="3200" spc="85" dirty="0">
                <a:latin typeface="Calibri"/>
                <a:cs typeface="Calibri"/>
              </a:rPr>
              <a:t> </a:t>
            </a:r>
            <a:r>
              <a:rPr sz="3200" dirty="0">
                <a:latin typeface="Calibri"/>
                <a:cs typeface="Calibri"/>
              </a:rPr>
              <a:t>produce</a:t>
            </a:r>
            <a:r>
              <a:rPr sz="3200" spc="60" dirty="0">
                <a:latin typeface="Calibri"/>
                <a:cs typeface="Calibri"/>
              </a:rPr>
              <a:t> </a:t>
            </a:r>
            <a:r>
              <a:rPr sz="3200" dirty="0">
                <a:latin typeface="Calibri"/>
                <a:cs typeface="Calibri"/>
              </a:rPr>
              <a:t>any</a:t>
            </a:r>
            <a:r>
              <a:rPr sz="3200" spc="90" dirty="0">
                <a:latin typeface="Calibri"/>
                <a:cs typeface="Calibri"/>
              </a:rPr>
              <a:t> </a:t>
            </a:r>
            <a:r>
              <a:rPr sz="3200" spc="-10" dirty="0">
                <a:latin typeface="Calibri"/>
                <a:cs typeface="Calibri"/>
              </a:rPr>
              <a:t>useful 	</a:t>
            </a:r>
            <a:r>
              <a:rPr sz="3200" dirty="0">
                <a:latin typeface="Calibri"/>
                <a:cs typeface="Calibri"/>
              </a:rPr>
              <a:t>work</a:t>
            </a:r>
            <a:r>
              <a:rPr sz="3200" spc="-80" dirty="0">
                <a:latin typeface="Calibri"/>
                <a:cs typeface="Calibri"/>
              </a:rPr>
              <a:t> </a:t>
            </a:r>
            <a:r>
              <a:rPr sz="3200" dirty="0">
                <a:latin typeface="Calibri"/>
                <a:cs typeface="Calibri"/>
              </a:rPr>
              <a:t>in</a:t>
            </a:r>
            <a:r>
              <a:rPr sz="3200" spc="-35" dirty="0">
                <a:latin typeface="Calibri"/>
                <a:cs typeface="Calibri"/>
              </a:rPr>
              <a:t> </a:t>
            </a:r>
            <a:r>
              <a:rPr sz="3200" dirty="0">
                <a:latin typeface="Calibri"/>
                <a:cs typeface="Calibri"/>
              </a:rPr>
              <a:t>aspect</a:t>
            </a:r>
            <a:r>
              <a:rPr sz="3200" spc="-50" dirty="0">
                <a:latin typeface="Calibri"/>
                <a:cs typeface="Calibri"/>
              </a:rPr>
              <a:t> </a:t>
            </a:r>
            <a:r>
              <a:rPr sz="3200" dirty="0">
                <a:latin typeface="Calibri"/>
                <a:cs typeface="Calibri"/>
              </a:rPr>
              <a:t>of</a:t>
            </a:r>
            <a:r>
              <a:rPr sz="3200" spc="-60" dirty="0">
                <a:latin typeface="Calibri"/>
                <a:cs typeface="Calibri"/>
              </a:rPr>
              <a:t> </a:t>
            </a:r>
            <a:r>
              <a:rPr sz="3200" dirty="0">
                <a:latin typeface="Calibri"/>
                <a:cs typeface="Calibri"/>
              </a:rPr>
              <a:t>process</a:t>
            </a:r>
            <a:r>
              <a:rPr sz="3200" spc="-65" dirty="0">
                <a:latin typeface="Calibri"/>
                <a:cs typeface="Calibri"/>
              </a:rPr>
              <a:t> </a:t>
            </a:r>
            <a:r>
              <a:rPr sz="3200" spc="-10" dirty="0">
                <a:latin typeface="Calibri"/>
                <a:cs typeface="Calibri"/>
              </a:rPr>
              <a:t>execution</a:t>
            </a:r>
            <a:r>
              <a:rPr sz="3200" spc="-55" dirty="0">
                <a:latin typeface="Calibri"/>
                <a:cs typeface="Calibri"/>
              </a:rPr>
              <a:t> </a:t>
            </a:r>
            <a:r>
              <a:rPr sz="3200" spc="-10" dirty="0">
                <a:latin typeface="Calibri"/>
                <a:cs typeface="Calibri"/>
              </a:rPr>
              <a:t>time.</a:t>
            </a:r>
            <a:endParaRPr sz="3200" dirty="0">
              <a:latin typeface="Calibri"/>
              <a:cs typeface="Calibri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13335" rIns="0" bIns="0" rtlCol="0">
            <a:spAutoFit/>
          </a:bodyPr>
          <a:lstStyle/>
          <a:p>
            <a:pPr marL="12700" algn="ctr">
              <a:spcBef>
                <a:spcPts val="105"/>
              </a:spcBef>
            </a:pPr>
            <a:r>
              <a:rPr dirty="0"/>
              <a:t>Thread</a:t>
            </a:r>
          </a:p>
        </p:txBody>
      </p:sp>
      <p:sp>
        <p:nvSpPr>
          <p:cNvPr id="4" name="object 4"/>
          <p:cNvSpPr txBox="1">
            <a:spLocks noGrp="1"/>
          </p:cNvSpPr>
          <p:nvPr>
            <p:ph type="ftr" sz="quarter" idx="5"/>
          </p:nvPr>
        </p:nvSpPr>
        <p:spPr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12700">
              <a:lnSpc>
                <a:spcPts val="1240"/>
              </a:lnSpc>
            </a:pPr>
            <a:r>
              <a:rPr lang="pl-PL"/>
              <a:t>By Dr. Binod Kr. Adhikari</a:t>
            </a:r>
            <a:endParaRPr spc="-10" dirty="0"/>
          </a:p>
        </p:txBody>
      </p:sp>
      <p:sp>
        <p:nvSpPr>
          <p:cNvPr id="3" name="object 3"/>
          <p:cNvSpPr txBox="1"/>
          <p:nvPr/>
        </p:nvSpPr>
        <p:spPr>
          <a:xfrm>
            <a:off x="535940" y="1607642"/>
            <a:ext cx="7971155" cy="3636010"/>
          </a:xfrm>
          <a:prstGeom prst="rect">
            <a:avLst/>
          </a:prstGeom>
        </p:spPr>
        <p:txBody>
          <a:bodyPr vert="horz" wrap="square" lIns="0" tIns="13335" rIns="0" bIns="0" rtlCol="0">
            <a:spAutoFit/>
          </a:bodyPr>
          <a:lstStyle/>
          <a:p>
            <a:pPr marL="355600" marR="283210" indent="-342900">
              <a:lnSpc>
                <a:spcPct val="100000"/>
              </a:lnSpc>
              <a:spcBef>
                <a:spcPts val="105"/>
              </a:spcBef>
              <a:buFont typeface="Arial"/>
              <a:buChar char="•"/>
              <a:tabLst>
                <a:tab pos="355600" algn="l"/>
              </a:tabLst>
            </a:pPr>
            <a:r>
              <a:rPr sz="3200" dirty="0">
                <a:latin typeface="Calibri"/>
                <a:cs typeface="Calibri"/>
              </a:rPr>
              <a:t>It</a:t>
            </a:r>
            <a:r>
              <a:rPr sz="3200" spc="-50" dirty="0">
                <a:latin typeface="Calibri"/>
                <a:cs typeface="Calibri"/>
              </a:rPr>
              <a:t> </a:t>
            </a:r>
            <a:r>
              <a:rPr sz="3200" dirty="0">
                <a:latin typeface="Calibri"/>
                <a:cs typeface="Calibri"/>
              </a:rPr>
              <a:t>is</a:t>
            </a:r>
            <a:r>
              <a:rPr sz="3200" spc="-40" dirty="0">
                <a:latin typeface="Calibri"/>
                <a:cs typeface="Calibri"/>
              </a:rPr>
              <a:t> </a:t>
            </a:r>
            <a:r>
              <a:rPr sz="3200" dirty="0">
                <a:latin typeface="Calibri"/>
                <a:cs typeface="Calibri"/>
              </a:rPr>
              <a:t>a</a:t>
            </a:r>
            <a:r>
              <a:rPr sz="3200" spc="-40" dirty="0">
                <a:latin typeface="Calibri"/>
                <a:cs typeface="Calibri"/>
              </a:rPr>
              <a:t> </a:t>
            </a:r>
            <a:r>
              <a:rPr sz="3200" dirty="0">
                <a:solidFill>
                  <a:schemeClr val="accent6">
                    <a:lumMod val="75000"/>
                  </a:schemeClr>
                </a:solidFill>
                <a:latin typeface="Calibri"/>
                <a:cs typeface="Calibri"/>
              </a:rPr>
              <a:t>single</a:t>
            </a:r>
            <a:r>
              <a:rPr sz="3200" spc="-25" dirty="0">
                <a:solidFill>
                  <a:schemeClr val="accent6">
                    <a:lumMod val="75000"/>
                  </a:schemeClr>
                </a:solidFill>
                <a:latin typeface="Calibri"/>
                <a:cs typeface="Calibri"/>
              </a:rPr>
              <a:t> </a:t>
            </a:r>
            <a:r>
              <a:rPr sz="3200" dirty="0">
                <a:solidFill>
                  <a:schemeClr val="accent6">
                    <a:lumMod val="75000"/>
                  </a:schemeClr>
                </a:solidFill>
                <a:latin typeface="Calibri"/>
                <a:cs typeface="Calibri"/>
              </a:rPr>
              <a:t>sequence</a:t>
            </a:r>
            <a:r>
              <a:rPr sz="3200" spc="-55" dirty="0">
                <a:solidFill>
                  <a:schemeClr val="accent6">
                    <a:lumMod val="75000"/>
                  </a:schemeClr>
                </a:solidFill>
                <a:latin typeface="Calibri"/>
                <a:cs typeface="Calibri"/>
              </a:rPr>
              <a:t> </a:t>
            </a:r>
            <a:r>
              <a:rPr sz="3200" dirty="0">
                <a:solidFill>
                  <a:schemeClr val="accent6">
                    <a:lumMod val="75000"/>
                  </a:schemeClr>
                </a:solidFill>
                <a:latin typeface="Calibri"/>
                <a:cs typeface="Calibri"/>
              </a:rPr>
              <a:t>stream</a:t>
            </a:r>
            <a:r>
              <a:rPr sz="3200" spc="-50" dirty="0">
                <a:latin typeface="Calibri"/>
                <a:cs typeface="Calibri"/>
              </a:rPr>
              <a:t> </a:t>
            </a:r>
            <a:r>
              <a:rPr sz="3200" dirty="0">
                <a:latin typeface="Calibri"/>
                <a:cs typeface="Calibri"/>
              </a:rPr>
              <a:t>which</a:t>
            </a:r>
            <a:r>
              <a:rPr sz="3200" spc="-35" dirty="0">
                <a:latin typeface="Calibri"/>
                <a:cs typeface="Calibri"/>
              </a:rPr>
              <a:t> </a:t>
            </a:r>
            <a:r>
              <a:rPr sz="3200" dirty="0">
                <a:latin typeface="Calibri"/>
                <a:cs typeface="Calibri"/>
              </a:rPr>
              <a:t>allows</a:t>
            </a:r>
            <a:r>
              <a:rPr sz="3200" spc="-40" dirty="0">
                <a:latin typeface="Calibri"/>
                <a:cs typeface="Calibri"/>
              </a:rPr>
              <a:t> </a:t>
            </a:r>
            <a:r>
              <a:rPr sz="3200" spc="-50" dirty="0">
                <a:latin typeface="Calibri"/>
                <a:cs typeface="Calibri"/>
              </a:rPr>
              <a:t>a </a:t>
            </a:r>
            <a:r>
              <a:rPr sz="3200" dirty="0">
                <a:latin typeface="Calibri"/>
                <a:cs typeface="Calibri"/>
              </a:rPr>
              <a:t>program</a:t>
            </a:r>
            <a:r>
              <a:rPr sz="3200" spc="-85" dirty="0">
                <a:latin typeface="Calibri"/>
                <a:cs typeface="Calibri"/>
              </a:rPr>
              <a:t> </a:t>
            </a:r>
            <a:r>
              <a:rPr sz="3200" dirty="0">
                <a:latin typeface="Calibri"/>
                <a:cs typeface="Calibri"/>
              </a:rPr>
              <a:t>to</a:t>
            </a:r>
            <a:r>
              <a:rPr sz="3200" spc="-65" dirty="0">
                <a:latin typeface="Calibri"/>
                <a:cs typeface="Calibri"/>
              </a:rPr>
              <a:t> </a:t>
            </a:r>
            <a:r>
              <a:rPr sz="3200" dirty="0">
                <a:solidFill>
                  <a:schemeClr val="accent6">
                    <a:lumMod val="75000"/>
                  </a:schemeClr>
                </a:solidFill>
                <a:latin typeface="Calibri"/>
                <a:cs typeface="Calibri"/>
              </a:rPr>
              <a:t>split</a:t>
            </a:r>
            <a:r>
              <a:rPr sz="3200" spc="-45" dirty="0">
                <a:latin typeface="Calibri"/>
                <a:cs typeface="Calibri"/>
              </a:rPr>
              <a:t> </a:t>
            </a:r>
            <a:r>
              <a:rPr sz="3200" dirty="0">
                <a:latin typeface="Calibri"/>
                <a:cs typeface="Calibri"/>
              </a:rPr>
              <a:t>itself</a:t>
            </a:r>
            <a:r>
              <a:rPr sz="3200" spc="-85" dirty="0">
                <a:latin typeface="Calibri"/>
                <a:cs typeface="Calibri"/>
              </a:rPr>
              <a:t> </a:t>
            </a:r>
            <a:r>
              <a:rPr sz="3200" dirty="0">
                <a:latin typeface="Calibri"/>
                <a:cs typeface="Calibri"/>
              </a:rPr>
              <a:t>into</a:t>
            </a:r>
            <a:r>
              <a:rPr sz="3200" spc="-50" dirty="0">
                <a:latin typeface="Calibri"/>
                <a:cs typeface="Calibri"/>
              </a:rPr>
              <a:t> </a:t>
            </a:r>
            <a:r>
              <a:rPr sz="3200" dirty="0">
                <a:latin typeface="Calibri"/>
                <a:cs typeface="Calibri"/>
              </a:rPr>
              <a:t>two</a:t>
            </a:r>
            <a:r>
              <a:rPr sz="3200" spc="-70" dirty="0">
                <a:latin typeface="Calibri"/>
                <a:cs typeface="Calibri"/>
              </a:rPr>
              <a:t> </a:t>
            </a:r>
            <a:r>
              <a:rPr sz="3200" dirty="0">
                <a:latin typeface="Calibri"/>
                <a:cs typeface="Calibri"/>
              </a:rPr>
              <a:t>or</a:t>
            </a:r>
            <a:r>
              <a:rPr sz="3200" spc="-65" dirty="0">
                <a:latin typeface="Calibri"/>
                <a:cs typeface="Calibri"/>
              </a:rPr>
              <a:t> </a:t>
            </a:r>
            <a:r>
              <a:rPr sz="3200" spc="-20" dirty="0">
                <a:latin typeface="Calibri"/>
                <a:cs typeface="Calibri"/>
              </a:rPr>
              <a:t>more </a:t>
            </a:r>
            <a:r>
              <a:rPr sz="3200" spc="-10" dirty="0">
                <a:solidFill>
                  <a:schemeClr val="accent6">
                    <a:lumMod val="75000"/>
                  </a:schemeClr>
                </a:solidFill>
                <a:latin typeface="Calibri"/>
                <a:cs typeface="Calibri"/>
              </a:rPr>
              <a:t>simultaneously</a:t>
            </a:r>
            <a:r>
              <a:rPr sz="3200" spc="-90" dirty="0">
                <a:latin typeface="Calibri"/>
                <a:cs typeface="Calibri"/>
              </a:rPr>
              <a:t> </a:t>
            </a:r>
            <a:r>
              <a:rPr sz="3200" dirty="0">
                <a:latin typeface="Calibri"/>
                <a:cs typeface="Calibri"/>
              </a:rPr>
              <a:t>running</a:t>
            </a:r>
            <a:r>
              <a:rPr sz="3200" spc="-80" dirty="0">
                <a:latin typeface="Calibri"/>
                <a:cs typeface="Calibri"/>
              </a:rPr>
              <a:t> </a:t>
            </a:r>
            <a:r>
              <a:rPr sz="3200" spc="-10" dirty="0">
                <a:latin typeface="Calibri"/>
                <a:cs typeface="Calibri"/>
              </a:rPr>
              <a:t>task.</a:t>
            </a:r>
            <a:endParaRPr sz="3200" dirty="0">
              <a:latin typeface="Calibri"/>
              <a:cs typeface="Calibri"/>
            </a:endParaRPr>
          </a:p>
          <a:p>
            <a:pPr marL="355600" marR="5080" indent="-342900">
              <a:lnSpc>
                <a:spcPct val="100000"/>
              </a:lnSpc>
              <a:spcBef>
                <a:spcPts val="770"/>
              </a:spcBef>
              <a:buFont typeface="Arial"/>
              <a:buChar char="•"/>
              <a:tabLst>
                <a:tab pos="355600" algn="l"/>
              </a:tabLst>
            </a:pPr>
            <a:r>
              <a:rPr sz="3200" dirty="0">
                <a:latin typeface="Calibri"/>
                <a:cs typeface="Calibri"/>
              </a:rPr>
              <a:t>It</a:t>
            </a:r>
            <a:r>
              <a:rPr sz="3200" spc="-40" dirty="0">
                <a:latin typeface="Calibri"/>
                <a:cs typeface="Calibri"/>
              </a:rPr>
              <a:t> </a:t>
            </a:r>
            <a:r>
              <a:rPr sz="3200" dirty="0">
                <a:latin typeface="Calibri"/>
                <a:cs typeface="Calibri"/>
              </a:rPr>
              <a:t>is</a:t>
            </a:r>
            <a:r>
              <a:rPr sz="3200" spc="-45" dirty="0">
                <a:latin typeface="Calibri"/>
                <a:cs typeface="Calibri"/>
              </a:rPr>
              <a:t> </a:t>
            </a:r>
            <a:r>
              <a:rPr sz="3200" dirty="0">
                <a:latin typeface="Calibri"/>
                <a:cs typeface="Calibri"/>
              </a:rPr>
              <a:t>the</a:t>
            </a:r>
            <a:r>
              <a:rPr sz="3200" spc="-35" dirty="0">
                <a:latin typeface="Calibri"/>
                <a:cs typeface="Calibri"/>
              </a:rPr>
              <a:t> </a:t>
            </a:r>
            <a:r>
              <a:rPr sz="3200" dirty="0">
                <a:latin typeface="Calibri"/>
                <a:cs typeface="Calibri"/>
              </a:rPr>
              <a:t>basic</a:t>
            </a:r>
            <a:r>
              <a:rPr sz="3200" spc="-35" dirty="0">
                <a:latin typeface="Calibri"/>
                <a:cs typeface="Calibri"/>
              </a:rPr>
              <a:t> </a:t>
            </a:r>
            <a:r>
              <a:rPr sz="3200" dirty="0">
                <a:latin typeface="Calibri"/>
                <a:cs typeface="Calibri"/>
              </a:rPr>
              <a:t>unit</a:t>
            </a:r>
            <a:r>
              <a:rPr sz="3200" spc="-20" dirty="0">
                <a:latin typeface="Calibri"/>
                <a:cs typeface="Calibri"/>
              </a:rPr>
              <a:t> </a:t>
            </a:r>
            <a:r>
              <a:rPr sz="3200" dirty="0">
                <a:latin typeface="Calibri"/>
                <a:cs typeface="Calibri"/>
              </a:rPr>
              <a:t>of</a:t>
            </a:r>
            <a:r>
              <a:rPr sz="3200" spc="-35" dirty="0">
                <a:latin typeface="Calibri"/>
                <a:cs typeface="Calibri"/>
              </a:rPr>
              <a:t> </a:t>
            </a:r>
            <a:r>
              <a:rPr sz="3200" dirty="0">
                <a:solidFill>
                  <a:srgbClr val="00B050"/>
                </a:solidFill>
                <a:latin typeface="Calibri"/>
                <a:cs typeface="Calibri"/>
              </a:rPr>
              <a:t>CPU</a:t>
            </a:r>
            <a:r>
              <a:rPr sz="3200" spc="-35" dirty="0">
                <a:solidFill>
                  <a:srgbClr val="00B050"/>
                </a:solidFill>
                <a:latin typeface="Calibri"/>
                <a:cs typeface="Calibri"/>
              </a:rPr>
              <a:t> </a:t>
            </a:r>
            <a:r>
              <a:rPr sz="3200" spc="-10" dirty="0">
                <a:solidFill>
                  <a:srgbClr val="00B050"/>
                </a:solidFill>
                <a:latin typeface="Calibri"/>
                <a:cs typeface="Calibri"/>
              </a:rPr>
              <a:t>utilization</a:t>
            </a:r>
            <a:r>
              <a:rPr sz="3200" dirty="0">
                <a:solidFill>
                  <a:srgbClr val="00B050"/>
                </a:solidFill>
                <a:latin typeface="Calibri"/>
                <a:cs typeface="Calibri"/>
              </a:rPr>
              <a:t> </a:t>
            </a:r>
            <a:r>
              <a:rPr sz="3200" spc="-25" dirty="0">
                <a:latin typeface="Calibri"/>
                <a:cs typeface="Calibri"/>
              </a:rPr>
              <a:t>and </a:t>
            </a:r>
            <a:r>
              <a:rPr sz="3200" dirty="0">
                <a:latin typeface="Calibri"/>
                <a:cs typeface="Calibri"/>
              </a:rPr>
              <a:t>consists</a:t>
            </a:r>
            <a:r>
              <a:rPr sz="3200" spc="-90" dirty="0">
                <a:latin typeface="Calibri"/>
                <a:cs typeface="Calibri"/>
              </a:rPr>
              <a:t> </a:t>
            </a:r>
            <a:r>
              <a:rPr sz="3200" dirty="0">
                <a:latin typeface="Calibri"/>
                <a:cs typeface="Calibri"/>
              </a:rPr>
              <a:t>of</a:t>
            </a:r>
            <a:r>
              <a:rPr sz="3200" spc="-80" dirty="0">
                <a:latin typeface="Calibri"/>
                <a:cs typeface="Calibri"/>
              </a:rPr>
              <a:t> </a:t>
            </a:r>
            <a:r>
              <a:rPr sz="3200" dirty="0">
                <a:solidFill>
                  <a:srgbClr val="00B050"/>
                </a:solidFill>
                <a:latin typeface="Calibri"/>
                <a:cs typeface="Calibri"/>
              </a:rPr>
              <a:t>program</a:t>
            </a:r>
            <a:r>
              <a:rPr sz="3200" spc="-80" dirty="0">
                <a:solidFill>
                  <a:srgbClr val="00B050"/>
                </a:solidFill>
                <a:latin typeface="Calibri"/>
                <a:cs typeface="Calibri"/>
              </a:rPr>
              <a:t> </a:t>
            </a:r>
            <a:r>
              <a:rPr sz="3200" spc="-45" dirty="0">
                <a:solidFill>
                  <a:srgbClr val="00B050"/>
                </a:solidFill>
                <a:latin typeface="Calibri"/>
                <a:cs typeface="Calibri"/>
              </a:rPr>
              <a:t>counter,</a:t>
            </a:r>
            <a:r>
              <a:rPr sz="3200" spc="-90" dirty="0">
                <a:solidFill>
                  <a:srgbClr val="00B050"/>
                </a:solidFill>
                <a:latin typeface="Calibri"/>
                <a:cs typeface="Calibri"/>
              </a:rPr>
              <a:t> </a:t>
            </a:r>
            <a:r>
              <a:rPr sz="3200" dirty="0">
                <a:solidFill>
                  <a:srgbClr val="00B050"/>
                </a:solidFill>
                <a:latin typeface="Calibri"/>
                <a:cs typeface="Calibri"/>
              </a:rPr>
              <a:t>a</a:t>
            </a:r>
            <a:r>
              <a:rPr sz="3200" spc="-80" dirty="0">
                <a:solidFill>
                  <a:srgbClr val="00B050"/>
                </a:solidFill>
                <a:latin typeface="Calibri"/>
                <a:cs typeface="Calibri"/>
              </a:rPr>
              <a:t> </a:t>
            </a:r>
            <a:r>
              <a:rPr sz="3200" dirty="0">
                <a:solidFill>
                  <a:srgbClr val="00B050"/>
                </a:solidFill>
                <a:latin typeface="Calibri"/>
                <a:cs typeface="Calibri"/>
              </a:rPr>
              <a:t>register</a:t>
            </a:r>
            <a:r>
              <a:rPr sz="3200" spc="-95" dirty="0">
                <a:solidFill>
                  <a:srgbClr val="00B050"/>
                </a:solidFill>
                <a:latin typeface="Calibri"/>
                <a:cs typeface="Calibri"/>
              </a:rPr>
              <a:t> </a:t>
            </a:r>
            <a:r>
              <a:rPr sz="3200" dirty="0">
                <a:solidFill>
                  <a:srgbClr val="00B050"/>
                </a:solidFill>
                <a:latin typeface="Calibri"/>
                <a:cs typeface="Calibri"/>
              </a:rPr>
              <a:t>set</a:t>
            </a:r>
            <a:r>
              <a:rPr sz="3200" spc="-80" dirty="0">
                <a:solidFill>
                  <a:srgbClr val="00B050"/>
                </a:solidFill>
                <a:latin typeface="Calibri"/>
                <a:cs typeface="Calibri"/>
              </a:rPr>
              <a:t> </a:t>
            </a:r>
            <a:r>
              <a:rPr sz="3200" spc="-25" dirty="0">
                <a:solidFill>
                  <a:srgbClr val="00B050"/>
                </a:solidFill>
                <a:latin typeface="Calibri"/>
                <a:cs typeface="Calibri"/>
              </a:rPr>
              <a:t>and </a:t>
            </a:r>
            <a:r>
              <a:rPr sz="3200" dirty="0">
                <a:solidFill>
                  <a:srgbClr val="00B050"/>
                </a:solidFill>
                <a:latin typeface="Calibri"/>
                <a:cs typeface="Calibri"/>
              </a:rPr>
              <a:t>a</a:t>
            </a:r>
            <a:r>
              <a:rPr sz="3200" spc="-65" dirty="0">
                <a:solidFill>
                  <a:srgbClr val="00B050"/>
                </a:solidFill>
                <a:latin typeface="Calibri"/>
                <a:cs typeface="Calibri"/>
              </a:rPr>
              <a:t> </a:t>
            </a:r>
            <a:r>
              <a:rPr sz="3200" dirty="0">
                <a:solidFill>
                  <a:srgbClr val="00B050"/>
                </a:solidFill>
                <a:latin typeface="Calibri"/>
                <a:cs typeface="Calibri"/>
              </a:rPr>
              <a:t>stack</a:t>
            </a:r>
            <a:r>
              <a:rPr sz="3200" spc="-75" dirty="0">
                <a:solidFill>
                  <a:srgbClr val="00B050"/>
                </a:solidFill>
                <a:latin typeface="Calibri"/>
                <a:cs typeface="Calibri"/>
              </a:rPr>
              <a:t> </a:t>
            </a:r>
            <a:r>
              <a:rPr sz="3200" spc="-10" dirty="0">
                <a:solidFill>
                  <a:srgbClr val="00B050"/>
                </a:solidFill>
                <a:latin typeface="Calibri"/>
                <a:cs typeface="Calibri"/>
              </a:rPr>
              <a:t>space</a:t>
            </a:r>
            <a:r>
              <a:rPr sz="3200" spc="-10" dirty="0">
                <a:latin typeface="Calibri"/>
                <a:cs typeface="Calibri"/>
              </a:rPr>
              <a:t>.</a:t>
            </a:r>
            <a:endParaRPr sz="3200" dirty="0">
              <a:latin typeface="Calibri"/>
              <a:cs typeface="Calibri"/>
            </a:endParaRPr>
          </a:p>
          <a:p>
            <a:pPr marL="354965" indent="-342265">
              <a:lnSpc>
                <a:spcPct val="100000"/>
              </a:lnSpc>
              <a:spcBef>
                <a:spcPts val="770"/>
              </a:spcBef>
              <a:buFont typeface="Arial"/>
              <a:buChar char="•"/>
              <a:tabLst>
                <a:tab pos="354965" algn="l"/>
              </a:tabLst>
            </a:pPr>
            <a:r>
              <a:rPr sz="3200" dirty="0">
                <a:latin typeface="Calibri"/>
                <a:cs typeface="Calibri"/>
              </a:rPr>
              <a:t>Sometime</a:t>
            </a:r>
            <a:r>
              <a:rPr sz="3200" spc="-114" dirty="0">
                <a:latin typeface="Calibri"/>
                <a:cs typeface="Calibri"/>
              </a:rPr>
              <a:t> </a:t>
            </a:r>
            <a:r>
              <a:rPr sz="3200" dirty="0">
                <a:latin typeface="Calibri"/>
                <a:cs typeface="Calibri"/>
              </a:rPr>
              <a:t>called</a:t>
            </a:r>
            <a:r>
              <a:rPr sz="3200" spc="-105" dirty="0">
                <a:latin typeface="Calibri"/>
                <a:cs typeface="Calibri"/>
              </a:rPr>
              <a:t> </a:t>
            </a:r>
            <a:r>
              <a:rPr sz="3200" dirty="0">
                <a:solidFill>
                  <a:schemeClr val="accent5">
                    <a:lumMod val="75000"/>
                  </a:schemeClr>
                </a:solidFill>
                <a:latin typeface="Calibri"/>
                <a:cs typeface="Calibri"/>
              </a:rPr>
              <a:t>light</a:t>
            </a:r>
            <a:r>
              <a:rPr sz="3200" spc="-85" dirty="0">
                <a:solidFill>
                  <a:schemeClr val="accent5">
                    <a:lumMod val="75000"/>
                  </a:schemeClr>
                </a:solidFill>
                <a:latin typeface="Calibri"/>
                <a:cs typeface="Calibri"/>
              </a:rPr>
              <a:t> </a:t>
            </a:r>
            <a:r>
              <a:rPr sz="3200" dirty="0">
                <a:solidFill>
                  <a:schemeClr val="accent5">
                    <a:lumMod val="75000"/>
                  </a:schemeClr>
                </a:solidFill>
                <a:latin typeface="Calibri"/>
                <a:cs typeface="Calibri"/>
              </a:rPr>
              <a:t>weight</a:t>
            </a:r>
            <a:r>
              <a:rPr sz="3200" spc="-95" dirty="0">
                <a:solidFill>
                  <a:schemeClr val="accent5">
                    <a:lumMod val="75000"/>
                  </a:schemeClr>
                </a:solidFill>
                <a:latin typeface="Calibri"/>
                <a:cs typeface="Calibri"/>
              </a:rPr>
              <a:t> </a:t>
            </a:r>
            <a:r>
              <a:rPr sz="3200" spc="-10" dirty="0">
                <a:solidFill>
                  <a:schemeClr val="accent5">
                    <a:lumMod val="75000"/>
                  </a:schemeClr>
                </a:solidFill>
                <a:latin typeface="Calibri"/>
                <a:cs typeface="Calibri"/>
              </a:rPr>
              <a:t>process</a:t>
            </a:r>
            <a:r>
              <a:rPr sz="3200" spc="-10" dirty="0">
                <a:latin typeface="Calibri"/>
                <a:cs typeface="Calibri"/>
              </a:rPr>
              <a:t>.</a:t>
            </a:r>
            <a:endParaRPr sz="3200" dirty="0">
              <a:latin typeface="Calibri"/>
              <a:cs typeface="Calibri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13335" rIns="0" bIns="0" rtlCol="0">
            <a:spAutoFit/>
          </a:bodyPr>
          <a:lstStyle/>
          <a:p>
            <a:pPr marL="12700" algn="ctr">
              <a:spcBef>
                <a:spcPts val="105"/>
              </a:spcBef>
            </a:pPr>
            <a:r>
              <a:rPr dirty="0"/>
              <a:t>Thread and Process</a:t>
            </a:r>
          </a:p>
        </p:txBody>
      </p:sp>
      <p:sp>
        <p:nvSpPr>
          <p:cNvPr id="4" name="object 4"/>
          <p:cNvSpPr txBox="1">
            <a:spLocks noGrp="1"/>
          </p:cNvSpPr>
          <p:nvPr>
            <p:ph type="ftr" sz="quarter" idx="5"/>
          </p:nvPr>
        </p:nvSpPr>
        <p:spPr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12700">
              <a:lnSpc>
                <a:spcPts val="1240"/>
              </a:lnSpc>
            </a:pPr>
            <a:r>
              <a:rPr lang="pl-PL"/>
              <a:t>By Dr. Binod Kr. Adhikari</a:t>
            </a:r>
            <a:endParaRPr spc="-10" dirty="0"/>
          </a:p>
        </p:txBody>
      </p:sp>
      <p:sp>
        <p:nvSpPr>
          <p:cNvPr id="3" name="object 3"/>
          <p:cNvSpPr txBox="1"/>
          <p:nvPr/>
        </p:nvSpPr>
        <p:spPr>
          <a:xfrm>
            <a:off x="535940" y="1447800"/>
            <a:ext cx="7969250" cy="4352925"/>
          </a:xfrm>
          <a:prstGeom prst="rect">
            <a:avLst/>
          </a:prstGeom>
        </p:spPr>
        <p:txBody>
          <a:bodyPr vert="horz" wrap="square" lIns="0" tIns="104139" rIns="0" bIns="0" rtlCol="0">
            <a:spAutoFit/>
          </a:bodyPr>
          <a:lstStyle/>
          <a:p>
            <a:pPr marL="354965" indent="-342265">
              <a:lnSpc>
                <a:spcPct val="100000"/>
              </a:lnSpc>
              <a:spcBef>
                <a:spcPts val="819"/>
              </a:spcBef>
              <a:buFont typeface="Arial"/>
              <a:buChar char="•"/>
              <a:tabLst>
                <a:tab pos="354965" algn="l"/>
              </a:tabLst>
            </a:pPr>
            <a:r>
              <a:rPr sz="3000" dirty="0">
                <a:latin typeface="Calibri"/>
                <a:cs typeface="Calibri"/>
              </a:rPr>
              <a:t>Threads</a:t>
            </a:r>
            <a:r>
              <a:rPr sz="3000" spc="-65" dirty="0">
                <a:latin typeface="Calibri"/>
                <a:cs typeface="Calibri"/>
              </a:rPr>
              <a:t> </a:t>
            </a:r>
            <a:r>
              <a:rPr sz="3000" dirty="0">
                <a:latin typeface="Calibri"/>
                <a:cs typeface="Calibri"/>
              </a:rPr>
              <a:t>are</a:t>
            </a:r>
            <a:r>
              <a:rPr sz="3000" spc="-50" dirty="0">
                <a:latin typeface="Calibri"/>
                <a:cs typeface="Calibri"/>
              </a:rPr>
              <a:t> </a:t>
            </a:r>
            <a:r>
              <a:rPr sz="3000" dirty="0">
                <a:latin typeface="Calibri"/>
                <a:cs typeface="Calibri"/>
              </a:rPr>
              <a:t>not</a:t>
            </a:r>
            <a:r>
              <a:rPr sz="3000" spc="-50" dirty="0">
                <a:latin typeface="Calibri"/>
                <a:cs typeface="Calibri"/>
              </a:rPr>
              <a:t> </a:t>
            </a:r>
            <a:r>
              <a:rPr sz="3000" dirty="0">
                <a:latin typeface="Calibri"/>
                <a:cs typeface="Calibri"/>
              </a:rPr>
              <a:t>independent</a:t>
            </a:r>
            <a:r>
              <a:rPr sz="3000" spc="-45" dirty="0">
                <a:latin typeface="Calibri"/>
                <a:cs typeface="Calibri"/>
              </a:rPr>
              <a:t> </a:t>
            </a:r>
            <a:r>
              <a:rPr sz="3000" dirty="0">
                <a:latin typeface="Calibri"/>
                <a:cs typeface="Calibri"/>
              </a:rPr>
              <a:t>as</a:t>
            </a:r>
            <a:r>
              <a:rPr sz="3000" spc="-50" dirty="0">
                <a:latin typeface="Calibri"/>
                <a:cs typeface="Calibri"/>
              </a:rPr>
              <a:t> </a:t>
            </a:r>
            <a:r>
              <a:rPr sz="3000" spc="-10" dirty="0">
                <a:latin typeface="Calibri"/>
                <a:cs typeface="Calibri"/>
              </a:rPr>
              <a:t>process.</a:t>
            </a:r>
            <a:endParaRPr sz="3000" dirty="0">
              <a:latin typeface="Calibri"/>
              <a:cs typeface="Calibri"/>
            </a:endParaRPr>
          </a:p>
          <a:p>
            <a:pPr marL="355600" marR="157480" indent="-342900">
              <a:lnSpc>
                <a:spcPct val="100000"/>
              </a:lnSpc>
              <a:spcBef>
                <a:spcPts val="720"/>
              </a:spcBef>
              <a:buFont typeface="Arial"/>
              <a:buChar char="•"/>
              <a:tabLst>
                <a:tab pos="355600" algn="l"/>
              </a:tabLst>
            </a:pPr>
            <a:r>
              <a:rPr sz="3000" dirty="0">
                <a:latin typeface="Calibri"/>
                <a:cs typeface="Calibri"/>
              </a:rPr>
              <a:t>Thread</a:t>
            </a:r>
            <a:r>
              <a:rPr sz="3000" spc="-65" dirty="0">
                <a:latin typeface="Calibri"/>
                <a:cs typeface="Calibri"/>
              </a:rPr>
              <a:t> </a:t>
            </a:r>
            <a:r>
              <a:rPr sz="3000" dirty="0">
                <a:latin typeface="Calibri"/>
                <a:cs typeface="Calibri"/>
              </a:rPr>
              <a:t>shares</a:t>
            </a:r>
            <a:r>
              <a:rPr sz="3000" spc="-55" dirty="0">
                <a:latin typeface="Calibri"/>
                <a:cs typeface="Calibri"/>
              </a:rPr>
              <a:t> </a:t>
            </a:r>
            <a:r>
              <a:rPr sz="3000" dirty="0">
                <a:latin typeface="Calibri"/>
                <a:cs typeface="Calibri"/>
              </a:rPr>
              <a:t>with</a:t>
            </a:r>
            <a:r>
              <a:rPr sz="3000" spc="-55" dirty="0">
                <a:latin typeface="Calibri"/>
                <a:cs typeface="Calibri"/>
              </a:rPr>
              <a:t> </a:t>
            </a:r>
            <a:r>
              <a:rPr sz="3000" dirty="0">
                <a:latin typeface="Calibri"/>
                <a:cs typeface="Calibri"/>
              </a:rPr>
              <a:t>other</a:t>
            </a:r>
            <a:r>
              <a:rPr sz="3000" spc="-50" dirty="0">
                <a:latin typeface="Calibri"/>
                <a:cs typeface="Calibri"/>
              </a:rPr>
              <a:t> </a:t>
            </a:r>
            <a:r>
              <a:rPr sz="3000" dirty="0">
                <a:latin typeface="Calibri"/>
                <a:cs typeface="Calibri"/>
              </a:rPr>
              <a:t>thread:</a:t>
            </a:r>
            <a:r>
              <a:rPr sz="3000" spc="-70" dirty="0">
                <a:latin typeface="Calibri"/>
                <a:cs typeface="Calibri"/>
              </a:rPr>
              <a:t> </a:t>
            </a:r>
            <a:r>
              <a:rPr sz="3000" dirty="0">
                <a:latin typeface="Calibri"/>
                <a:cs typeface="Calibri"/>
              </a:rPr>
              <a:t>code</a:t>
            </a:r>
            <a:r>
              <a:rPr sz="3000" spc="-60" dirty="0">
                <a:latin typeface="Calibri"/>
                <a:cs typeface="Calibri"/>
              </a:rPr>
              <a:t> </a:t>
            </a:r>
            <a:r>
              <a:rPr sz="3000" spc="-10" dirty="0">
                <a:latin typeface="Calibri"/>
                <a:cs typeface="Calibri"/>
              </a:rPr>
              <a:t>section, </a:t>
            </a:r>
            <a:r>
              <a:rPr sz="3000" dirty="0">
                <a:latin typeface="Calibri"/>
                <a:cs typeface="Calibri"/>
              </a:rPr>
              <a:t>data</a:t>
            </a:r>
            <a:r>
              <a:rPr sz="3000" spc="-70" dirty="0">
                <a:latin typeface="Calibri"/>
                <a:cs typeface="Calibri"/>
              </a:rPr>
              <a:t> </a:t>
            </a:r>
            <a:r>
              <a:rPr sz="3000" dirty="0">
                <a:latin typeface="Calibri"/>
                <a:cs typeface="Calibri"/>
              </a:rPr>
              <a:t>section,</a:t>
            </a:r>
            <a:r>
              <a:rPr sz="3000" spc="-45" dirty="0">
                <a:latin typeface="Calibri"/>
                <a:cs typeface="Calibri"/>
              </a:rPr>
              <a:t> </a:t>
            </a:r>
            <a:r>
              <a:rPr sz="3000" dirty="0">
                <a:latin typeface="Calibri"/>
                <a:cs typeface="Calibri"/>
              </a:rPr>
              <a:t>Other</a:t>
            </a:r>
            <a:r>
              <a:rPr sz="3000" spc="-50" dirty="0">
                <a:latin typeface="Calibri"/>
                <a:cs typeface="Calibri"/>
              </a:rPr>
              <a:t> </a:t>
            </a:r>
            <a:r>
              <a:rPr sz="3000" spc="-10" dirty="0">
                <a:latin typeface="Calibri"/>
                <a:cs typeface="Calibri"/>
              </a:rPr>
              <a:t>resource</a:t>
            </a:r>
            <a:r>
              <a:rPr sz="3000" spc="-35" dirty="0">
                <a:latin typeface="Calibri"/>
                <a:cs typeface="Calibri"/>
              </a:rPr>
              <a:t> </a:t>
            </a:r>
            <a:r>
              <a:rPr sz="3000" dirty="0">
                <a:latin typeface="Calibri"/>
                <a:cs typeface="Calibri"/>
              </a:rPr>
              <a:t>such</a:t>
            </a:r>
            <a:r>
              <a:rPr sz="3000" spc="-45" dirty="0">
                <a:latin typeface="Calibri"/>
                <a:cs typeface="Calibri"/>
              </a:rPr>
              <a:t> </a:t>
            </a:r>
            <a:r>
              <a:rPr sz="3000" dirty="0">
                <a:latin typeface="Calibri"/>
                <a:cs typeface="Calibri"/>
              </a:rPr>
              <a:t>as</a:t>
            </a:r>
            <a:r>
              <a:rPr sz="3000" spc="-40" dirty="0">
                <a:latin typeface="Calibri"/>
                <a:cs typeface="Calibri"/>
              </a:rPr>
              <a:t> </a:t>
            </a:r>
            <a:r>
              <a:rPr sz="3000" dirty="0">
                <a:latin typeface="Calibri"/>
                <a:cs typeface="Calibri"/>
              </a:rPr>
              <a:t>opens</a:t>
            </a:r>
            <a:r>
              <a:rPr sz="3000" spc="-45" dirty="0">
                <a:latin typeface="Calibri"/>
                <a:cs typeface="Calibri"/>
              </a:rPr>
              <a:t> </a:t>
            </a:r>
            <a:r>
              <a:rPr sz="3000" spc="-10" dirty="0">
                <a:latin typeface="Calibri"/>
                <a:cs typeface="Calibri"/>
              </a:rPr>
              <a:t>files.</a:t>
            </a:r>
            <a:endParaRPr sz="3000" dirty="0">
              <a:latin typeface="Calibri"/>
              <a:cs typeface="Calibri"/>
            </a:endParaRPr>
          </a:p>
          <a:p>
            <a:pPr marL="354965" indent="-342265">
              <a:lnSpc>
                <a:spcPct val="100000"/>
              </a:lnSpc>
              <a:spcBef>
                <a:spcPts val="725"/>
              </a:spcBef>
              <a:buFont typeface="Arial"/>
              <a:buChar char="•"/>
              <a:tabLst>
                <a:tab pos="354965" algn="l"/>
              </a:tabLst>
            </a:pPr>
            <a:r>
              <a:rPr sz="3000" spc="-10" dirty="0">
                <a:latin typeface="Calibri"/>
                <a:cs typeface="Calibri"/>
              </a:rPr>
              <a:t>Similarities:</a:t>
            </a:r>
            <a:endParaRPr sz="3000" dirty="0">
              <a:latin typeface="Calibri"/>
              <a:cs typeface="Calibri"/>
            </a:endParaRPr>
          </a:p>
          <a:p>
            <a:pPr marL="756285" marR="43815" lvl="1" indent="-287020">
              <a:lnSpc>
                <a:spcPct val="100000"/>
              </a:lnSpc>
              <a:spcBef>
                <a:spcPts val="650"/>
              </a:spcBef>
              <a:buFont typeface="Arial"/>
              <a:buChar char="–"/>
              <a:tabLst>
                <a:tab pos="756285" algn="l"/>
              </a:tabLst>
            </a:pPr>
            <a:r>
              <a:rPr sz="2600" dirty="0">
                <a:latin typeface="Calibri"/>
                <a:cs typeface="Calibri"/>
              </a:rPr>
              <a:t>Like</a:t>
            </a:r>
            <a:r>
              <a:rPr sz="2600" spc="-65" dirty="0">
                <a:latin typeface="Calibri"/>
                <a:cs typeface="Calibri"/>
              </a:rPr>
              <a:t> </a:t>
            </a:r>
            <a:r>
              <a:rPr sz="2600" dirty="0">
                <a:latin typeface="Calibri"/>
                <a:cs typeface="Calibri"/>
              </a:rPr>
              <a:t>process,</a:t>
            </a:r>
            <a:r>
              <a:rPr sz="2600" spc="-75" dirty="0">
                <a:latin typeface="Calibri"/>
                <a:cs typeface="Calibri"/>
              </a:rPr>
              <a:t> </a:t>
            </a:r>
            <a:r>
              <a:rPr sz="2600" dirty="0">
                <a:latin typeface="Calibri"/>
                <a:cs typeface="Calibri"/>
              </a:rPr>
              <a:t>thread</a:t>
            </a:r>
            <a:r>
              <a:rPr sz="2600" spc="-50" dirty="0">
                <a:latin typeface="Calibri"/>
                <a:cs typeface="Calibri"/>
              </a:rPr>
              <a:t> </a:t>
            </a:r>
            <a:r>
              <a:rPr sz="2600" dirty="0">
                <a:latin typeface="Calibri"/>
                <a:cs typeface="Calibri"/>
              </a:rPr>
              <a:t>share</a:t>
            </a:r>
            <a:r>
              <a:rPr sz="2600" spc="-60" dirty="0">
                <a:latin typeface="Calibri"/>
                <a:cs typeface="Calibri"/>
              </a:rPr>
              <a:t> </a:t>
            </a:r>
            <a:r>
              <a:rPr sz="2600" dirty="0">
                <a:latin typeface="Calibri"/>
                <a:cs typeface="Calibri"/>
              </a:rPr>
              <a:t>CPU</a:t>
            </a:r>
            <a:r>
              <a:rPr sz="2600" spc="-50" dirty="0">
                <a:latin typeface="Calibri"/>
                <a:cs typeface="Calibri"/>
              </a:rPr>
              <a:t> </a:t>
            </a:r>
            <a:r>
              <a:rPr sz="2600" dirty="0">
                <a:latin typeface="Calibri"/>
                <a:cs typeface="Calibri"/>
              </a:rPr>
              <a:t>and</a:t>
            </a:r>
            <a:r>
              <a:rPr sz="2600" spc="-55" dirty="0">
                <a:latin typeface="Calibri"/>
                <a:cs typeface="Calibri"/>
              </a:rPr>
              <a:t> </a:t>
            </a:r>
            <a:r>
              <a:rPr sz="2600" dirty="0">
                <a:latin typeface="Calibri"/>
                <a:cs typeface="Calibri"/>
              </a:rPr>
              <a:t>only</a:t>
            </a:r>
            <a:r>
              <a:rPr sz="2600" spc="-35" dirty="0">
                <a:latin typeface="Calibri"/>
                <a:cs typeface="Calibri"/>
              </a:rPr>
              <a:t> </a:t>
            </a:r>
            <a:r>
              <a:rPr sz="2600" dirty="0">
                <a:latin typeface="Calibri"/>
                <a:cs typeface="Calibri"/>
              </a:rPr>
              <a:t>one</a:t>
            </a:r>
            <a:r>
              <a:rPr sz="2600" spc="-40" dirty="0">
                <a:latin typeface="Calibri"/>
                <a:cs typeface="Calibri"/>
              </a:rPr>
              <a:t> </a:t>
            </a:r>
            <a:r>
              <a:rPr sz="2600" dirty="0">
                <a:latin typeface="Calibri"/>
                <a:cs typeface="Calibri"/>
              </a:rPr>
              <a:t>thread</a:t>
            </a:r>
            <a:r>
              <a:rPr sz="2600" spc="-60" dirty="0">
                <a:latin typeface="Calibri"/>
                <a:cs typeface="Calibri"/>
              </a:rPr>
              <a:t> </a:t>
            </a:r>
            <a:r>
              <a:rPr sz="2600" spc="-25" dirty="0">
                <a:latin typeface="Calibri"/>
                <a:cs typeface="Calibri"/>
              </a:rPr>
              <a:t>is </a:t>
            </a:r>
            <a:r>
              <a:rPr sz="2600" dirty="0">
                <a:latin typeface="Calibri"/>
                <a:cs typeface="Calibri"/>
              </a:rPr>
              <a:t>running</a:t>
            </a:r>
            <a:r>
              <a:rPr sz="2600" spc="-60" dirty="0">
                <a:latin typeface="Calibri"/>
                <a:cs typeface="Calibri"/>
              </a:rPr>
              <a:t> </a:t>
            </a:r>
            <a:r>
              <a:rPr sz="2600" dirty="0">
                <a:latin typeface="Calibri"/>
                <a:cs typeface="Calibri"/>
              </a:rPr>
              <a:t>at</a:t>
            </a:r>
            <a:r>
              <a:rPr sz="2600" spc="-20" dirty="0">
                <a:latin typeface="Calibri"/>
                <a:cs typeface="Calibri"/>
              </a:rPr>
              <a:t> </a:t>
            </a:r>
            <a:r>
              <a:rPr sz="2600" dirty="0">
                <a:latin typeface="Calibri"/>
                <a:cs typeface="Calibri"/>
              </a:rPr>
              <a:t>a</a:t>
            </a:r>
            <a:r>
              <a:rPr sz="2600" spc="-20" dirty="0">
                <a:latin typeface="Calibri"/>
                <a:cs typeface="Calibri"/>
              </a:rPr>
              <a:t> </a:t>
            </a:r>
            <a:r>
              <a:rPr sz="2600" spc="-10" dirty="0">
                <a:latin typeface="Calibri"/>
                <a:cs typeface="Calibri"/>
              </a:rPr>
              <a:t>time.</a:t>
            </a:r>
            <a:endParaRPr sz="2600" dirty="0">
              <a:latin typeface="Calibri"/>
              <a:cs typeface="Calibri"/>
            </a:endParaRPr>
          </a:p>
          <a:p>
            <a:pPr marL="756285" marR="1120140" lvl="1" indent="-287020">
              <a:lnSpc>
                <a:spcPct val="100000"/>
              </a:lnSpc>
              <a:spcBef>
                <a:spcPts val="625"/>
              </a:spcBef>
              <a:buFont typeface="Arial"/>
              <a:buChar char="–"/>
              <a:tabLst>
                <a:tab pos="756285" algn="l"/>
              </a:tabLst>
            </a:pPr>
            <a:r>
              <a:rPr sz="2600" dirty="0">
                <a:latin typeface="Calibri"/>
                <a:cs typeface="Calibri"/>
              </a:rPr>
              <a:t>Like</a:t>
            </a:r>
            <a:r>
              <a:rPr sz="2600" spc="-85" dirty="0">
                <a:latin typeface="Calibri"/>
                <a:cs typeface="Calibri"/>
              </a:rPr>
              <a:t> </a:t>
            </a:r>
            <a:r>
              <a:rPr sz="2600" dirty="0">
                <a:latin typeface="Calibri"/>
                <a:cs typeface="Calibri"/>
              </a:rPr>
              <a:t>process,</a:t>
            </a:r>
            <a:r>
              <a:rPr sz="2600" spc="-95" dirty="0">
                <a:latin typeface="Calibri"/>
                <a:cs typeface="Calibri"/>
              </a:rPr>
              <a:t> </a:t>
            </a:r>
            <a:r>
              <a:rPr sz="2600" dirty="0">
                <a:latin typeface="Calibri"/>
                <a:cs typeface="Calibri"/>
              </a:rPr>
              <a:t>thread</a:t>
            </a:r>
            <a:r>
              <a:rPr sz="2600" spc="-70" dirty="0">
                <a:latin typeface="Calibri"/>
                <a:cs typeface="Calibri"/>
              </a:rPr>
              <a:t> </a:t>
            </a:r>
            <a:r>
              <a:rPr sz="2600" dirty="0">
                <a:latin typeface="Calibri"/>
                <a:cs typeface="Calibri"/>
              </a:rPr>
              <a:t>within</a:t>
            </a:r>
            <a:r>
              <a:rPr sz="2600" spc="-65" dirty="0">
                <a:latin typeface="Calibri"/>
                <a:cs typeface="Calibri"/>
              </a:rPr>
              <a:t> </a:t>
            </a:r>
            <a:r>
              <a:rPr sz="2600" dirty="0">
                <a:latin typeface="Calibri"/>
                <a:cs typeface="Calibri"/>
              </a:rPr>
              <a:t>processes</a:t>
            </a:r>
            <a:r>
              <a:rPr sz="2600" spc="-105" dirty="0">
                <a:latin typeface="Calibri"/>
                <a:cs typeface="Calibri"/>
              </a:rPr>
              <a:t> </a:t>
            </a:r>
            <a:r>
              <a:rPr sz="2600" spc="-10" dirty="0">
                <a:latin typeface="Calibri"/>
                <a:cs typeface="Calibri"/>
              </a:rPr>
              <a:t>execute sequentially</a:t>
            </a:r>
            <a:endParaRPr sz="2600" dirty="0">
              <a:latin typeface="Calibri"/>
              <a:cs typeface="Calibri"/>
            </a:endParaRPr>
          </a:p>
          <a:p>
            <a:pPr marL="756285" lvl="1" indent="-286385">
              <a:lnSpc>
                <a:spcPct val="100000"/>
              </a:lnSpc>
              <a:spcBef>
                <a:spcPts val="630"/>
              </a:spcBef>
              <a:buFont typeface="Arial"/>
              <a:buChar char="–"/>
              <a:tabLst>
                <a:tab pos="756285" algn="l"/>
              </a:tabLst>
            </a:pPr>
            <a:r>
              <a:rPr sz="2600" dirty="0">
                <a:latin typeface="Calibri"/>
                <a:cs typeface="Calibri"/>
              </a:rPr>
              <a:t>Like</a:t>
            </a:r>
            <a:r>
              <a:rPr sz="2600" spc="-65" dirty="0">
                <a:latin typeface="Calibri"/>
                <a:cs typeface="Calibri"/>
              </a:rPr>
              <a:t> </a:t>
            </a:r>
            <a:r>
              <a:rPr sz="2600" dirty="0">
                <a:latin typeface="Calibri"/>
                <a:cs typeface="Calibri"/>
              </a:rPr>
              <a:t>process</a:t>
            </a:r>
            <a:r>
              <a:rPr sz="2600" spc="-80" dirty="0">
                <a:latin typeface="Calibri"/>
                <a:cs typeface="Calibri"/>
              </a:rPr>
              <a:t> </a:t>
            </a:r>
            <a:r>
              <a:rPr sz="2600" dirty="0">
                <a:latin typeface="Calibri"/>
                <a:cs typeface="Calibri"/>
              </a:rPr>
              <a:t>if</a:t>
            </a:r>
            <a:r>
              <a:rPr sz="2600" spc="-40" dirty="0">
                <a:latin typeface="Calibri"/>
                <a:cs typeface="Calibri"/>
              </a:rPr>
              <a:t> </a:t>
            </a:r>
            <a:r>
              <a:rPr sz="2600" dirty="0">
                <a:latin typeface="Calibri"/>
                <a:cs typeface="Calibri"/>
              </a:rPr>
              <a:t>one</a:t>
            </a:r>
            <a:r>
              <a:rPr sz="2600" spc="-50" dirty="0">
                <a:latin typeface="Calibri"/>
                <a:cs typeface="Calibri"/>
              </a:rPr>
              <a:t> </a:t>
            </a:r>
            <a:r>
              <a:rPr sz="2600" dirty="0">
                <a:latin typeface="Calibri"/>
                <a:cs typeface="Calibri"/>
              </a:rPr>
              <a:t>thread</a:t>
            </a:r>
            <a:r>
              <a:rPr sz="2600" spc="-55" dirty="0">
                <a:latin typeface="Calibri"/>
                <a:cs typeface="Calibri"/>
              </a:rPr>
              <a:t> </a:t>
            </a:r>
            <a:r>
              <a:rPr sz="2600" dirty="0">
                <a:latin typeface="Calibri"/>
                <a:cs typeface="Calibri"/>
              </a:rPr>
              <a:t>is</a:t>
            </a:r>
            <a:r>
              <a:rPr sz="2600" spc="-50" dirty="0">
                <a:latin typeface="Calibri"/>
                <a:cs typeface="Calibri"/>
              </a:rPr>
              <a:t> </a:t>
            </a:r>
            <a:r>
              <a:rPr sz="2600" dirty="0">
                <a:latin typeface="Calibri"/>
                <a:cs typeface="Calibri"/>
              </a:rPr>
              <a:t>blocked,</a:t>
            </a:r>
            <a:r>
              <a:rPr sz="2600" spc="-55" dirty="0">
                <a:latin typeface="Calibri"/>
                <a:cs typeface="Calibri"/>
              </a:rPr>
              <a:t> </a:t>
            </a:r>
            <a:r>
              <a:rPr sz="2600" dirty="0">
                <a:latin typeface="Calibri"/>
                <a:cs typeface="Calibri"/>
              </a:rPr>
              <a:t>another</a:t>
            </a:r>
            <a:r>
              <a:rPr sz="2600" spc="-55" dirty="0">
                <a:latin typeface="Calibri"/>
                <a:cs typeface="Calibri"/>
              </a:rPr>
              <a:t> </a:t>
            </a:r>
            <a:r>
              <a:rPr sz="2600" dirty="0">
                <a:latin typeface="Calibri"/>
                <a:cs typeface="Calibri"/>
              </a:rPr>
              <a:t>can</a:t>
            </a:r>
            <a:r>
              <a:rPr sz="2600" spc="-50" dirty="0">
                <a:latin typeface="Calibri"/>
                <a:cs typeface="Calibri"/>
              </a:rPr>
              <a:t> </a:t>
            </a:r>
            <a:r>
              <a:rPr sz="2600" spc="-20" dirty="0">
                <a:latin typeface="Calibri"/>
                <a:cs typeface="Calibri"/>
              </a:rPr>
              <a:t>run.</a:t>
            </a:r>
            <a:endParaRPr sz="2600" dirty="0">
              <a:latin typeface="Calibri"/>
              <a:cs typeface="Calibri"/>
            </a:endParaRP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13335" rIns="0" bIns="0" rtlCol="0">
            <a:spAutoFit/>
          </a:bodyPr>
          <a:lstStyle/>
          <a:p>
            <a:pPr marL="12700" algn="ctr">
              <a:spcBef>
                <a:spcPts val="105"/>
              </a:spcBef>
            </a:pPr>
            <a:r>
              <a:rPr dirty="0"/>
              <a:t>Thread and process</a:t>
            </a:r>
          </a:p>
        </p:txBody>
      </p:sp>
      <p:sp>
        <p:nvSpPr>
          <p:cNvPr id="4" name="object 4"/>
          <p:cNvSpPr txBox="1">
            <a:spLocks noGrp="1"/>
          </p:cNvSpPr>
          <p:nvPr>
            <p:ph type="ftr" sz="quarter" idx="5"/>
          </p:nvPr>
        </p:nvSpPr>
        <p:spPr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12700">
              <a:lnSpc>
                <a:spcPts val="1240"/>
              </a:lnSpc>
            </a:pPr>
            <a:r>
              <a:rPr lang="pl-PL"/>
              <a:t>By Dr. Binod Kr. Adhikari</a:t>
            </a:r>
            <a:endParaRPr spc="-10" dirty="0"/>
          </a:p>
        </p:txBody>
      </p:sp>
      <p:sp>
        <p:nvSpPr>
          <p:cNvPr id="3" name="object 3"/>
          <p:cNvSpPr txBox="1"/>
          <p:nvPr/>
        </p:nvSpPr>
        <p:spPr>
          <a:xfrm>
            <a:off x="535940" y="1507044"/>
            <a:ext cx="7932420" cy="3433445"/>
          </a:xfrm>
          <a:prstGeom prst="rect">
            <a:avLst/>
          </a:prstGeom>
        </p:spPr>
        <p:txBody>
          <a:bodyPr vert="horz" wrap="square" lIns="0" tIns="113664" rIns="0" bIns="0" rtlCol="0">
            <a:spAutoFit/>
          </a:bodyPr>
          <a:lstStyle/>
          <a:p>
            <a:pPr marL="354965" indent="-342265">
              <a:lnSpc>
                <a:spcPct val="100000"/>
              </a:lnSpc>
              <a:spcBef>
                <a:spcPts val="894"/>
              </a:spcBef>
              <a:buFont typeface="Arial"/>
              <a:buChar char="•"/>
              <a:tabLst>
                <a:tab pos="354965" algn="l"/>
              </a:tabLst>
            </a:pPr>
            <a:r>
              <a:rPr sz="3200" spc="-10" dirty="0">
                <a:latin typeface="Calibri"/>
                <a:cs typeface="Calibri"/>
              </a:rPr>
              <a:t>Dissimilarities</a:t>
            </a:r>
            <a:endParaRPr sz="3200">
              <a:latin typeface="Calibri"/>
              <a:cs typeface="Calibri"/>
            </a:endParaRPr>
          </a:p>
          <a:p>
            <a:pPr marL="756285" marR="388620" lvl="1" indent="-287020">
              <a:lnSpc>
                <a:spcPct val="100000"/>
              </a:lnSpc>
              <a:spcBef>
                <a:spcPts val="690"/>
              </a:spcBef>
              <a:buFont typeface="Arial"/>
              <a:buChar char="–"/>
              <a:tabLst>
                <a:tab pos="756285" algn="l"/>
              </a:tabLst>
            </a:pPr>
            <a:r>
              <a:rPr sz="2800" dirty="0">
                <a:latin typeface="Calibri"/>
                <a:cs typeface="Calibri"/>
              </a:rPr>
              <a:t>Unlike</a:t>
            </a:r>
            <a:r>
              <a:rPr sz="2800" spc="-110" dirty="0">
                <a:latin typeface="Calibri"/>
                <a:cs typeface="Calibri"/>
              </a:rPr>
              <a:t> </a:t>
            </a:r>
            <a:r>
              <a:rPr sz="2800" dirty="0">
                <a:latin typeface="Calibri"/>
                <a:cs typeface="Calibri"/>
              </a:rPr>
              <a:t>process,</a:t>
            </a:r>
            <a:r>
              <a:rPr sz="2800" spc="-85" dirty="0">
                <a:latin typeface="Calibri"/>
                <a:cs typeface="Calibri"/>
              </a:rPr>
              <a:t> </a:t>
            </a:r>
            <a:r>
              <a:rPr sz="2800" dirty="0">
                <a:latin typeface="Calibri"/>
                <a:cs typeface="Calibri"/>
              </a:rPr>
              <a:t>threads</a:t>
            </a:r>
            <a:r>
              <a:rPr sz="2800" spc="-90" dirty="0">
                <a:latin typeface="Calibri"/>
                <a:cs typeface="Calibri"/>
              </a:rPr>
              <a:t> </a:t>
            </a:r>
            <a:r>
              <a:rPr sz="2800" dirty="0">
                <a:latin typeface="Calibri"/>
                <a:cs typeface="Calibri"/>
              </a:rPr>
              <a:t>are</a:t>
            </a:r>
            <a:r>
              <a:rPr sz="2800" spc="-105" dirty="0">
                <a:latin typeface="Calibri"/>
                <a:cs typeface="Calibri"/>
              </a:rPr>
              <a:t> </a:t>
            </a:r>
            <a:r>
              <a:rPr sz="2800" dirty="0">
                <a:latin typeface="Calibri"/>
                <a:cs typeface="Calibri"/>
              </a:rPr>
              <a:t>not</a:t>
            </a:r>
            <a:r>
              <a:rPr sz="2800" spc="-100" dirty="0">
                <a:latin typeface="Calibri"/>
                <a:cs typeface="Calibri"/>
              </a:rPr>
              <a:t> </a:t>
            </a:r>
            <a:r>
              <a:rPr sz="2800" spc="-10" dirty="0">
                <a:latin typeface="Calibri"/>
                <a:cs typeface="Calibri"/>
              </a:rPr>
              <a:t>independent</a:t>
            </a:r>
            <a:r>
              <a:rPr sz="2800" spc="-65" dirty="0">
                <a:latin typeface="Calibri"/>
                <a:cs typeface="Calibri"/>
              </a:rPr>
              <a:t> </a:t>
            </a:r>
            <a:r>
              <a:rPr sz="2800" spc="-25" dirty="0">
                <a:latin typeface="Calibri"/>
                <a:cs typeface="Calibri"/>
              </a:rPr>
              <a:t>of </a:t>
            </a:r>
            <a:r>
              <a:rPr sz="2800" dirty="0">
                <a:latin typeface="Calibri"/>
                <a:cs typeface="Calibri"/>
              </a:rPr>
              <a:t>each</a:t>
            </a:r>
            <a:r>
              <a:rPr sz="2800" spc="-25" dirty="0">
                <a:latin typeface="Calibri"/>
                <a:cs typeface="Calibri"/>
              </a:rPr>
              <a:t> </a:t>
            </a:r>
            <a:r>
              <a:rPr sz="2800" spc="-10" dirty="0">
                <a:latin typeface="Calibri"/>
                <a:cs typeface="Calibri"/>
              </a:rPr>
              <a:t>other.</a:t>
            </a:r>
            <a:endParaRPr sz="2800">
              <a:latin typeface="Calibri"/>
              <a:cs typeface="Calibri"/>
            </a:endParaRPr>
          </a:p>
          <a:p>
            <a:pPr marL="756285" marR="934085" lvl="1" indent="-287020">
              <a:lnSpc>
                <a:spcPct val="100000"/>
              </a:lnSpc>
              <a:spcBef>
                <a:spcPts val="675"/>
              </a:spcBef>
              <a:buFont typeface="Arial"/>
              <a:buChar char="–"/>
              <a:tabLst>
                <a:tab pos="756285" algn="l"/>
              </a:tabLst>
            </a:pPr>
            <a:r>
              <a:rPr sz="2800" dirty="0">
                <a:latin typeface="Calibri"/>
                <a:cs typeface="Calibri"/>
              </a:rPr>
              <a:t>Unlike</a:t>
            </a:r>
            <a:r>
              <a:rPr sz="2800" spc="-100" dirty="0">
                <a:latin typeface="Calibri"/>
                <a:cs typeface="Calibri"/>
              </a:rPr>
              <a:t> </a:t>
            </a:r>
            <a:r>
              <a:rPr sz="2800" dirty="0">
                <a:latin typeface="Calibri"/>
                <a:cs typeface="Calibri"/>
              </a:rPr>
              <a:t>process,</a:t>
            </a:r>
            <a:r>
              <a:rPr sz="2800" spc="-80" dirty="0">
                <a:latin typeface="Calibri"/>
                <a:cs typeface="Calibri"/>
              </a:rPr>
              <a:t> </a:t>
            </a:r>
            <a:r>
              <a:rPr sz="2800" dirty="0">
                <a:latin typeface="Calibri"/>
                <a:cs typeface="Calibri"/>
              </a:rPr>
              <a:t>all</a:t>
            </a:r>
            <a:r>
              <a:rPr sz="2800" spc="-105" dirty="0">
                <a:latin typeface="Calibri"/>
                <a:cs typeface="Calibri"/>
              </a:rPr>
              <a:t> </a:t>
            </a:r>
            <a:r>
              <a:rPr sz="2800" dirty="0">
                <a:latin typeface="Calibri"/>
                <a:cs typeface="Calibri"/>
              </a:rPr>
              <a:t>threads</a:t>
            </a:r>
            <a:r>
              <a:rPr sz="2800" spc="-80" dirty="0">
                <a:latin typeface="Calibri"/>
                <a:cs typeface="Calibri"/>
              </a:rPr>
              <a:t> </a:t>
            </a:r>
            <a:r>
              <a:rPr sz="2800" dirty="0">
                <a:latin typeface="Calibri"/>
                <a:cs typeface="Calibri"/>
              </a:rPr>
              <a:t>can</a:t>
            </a:r>
            <a:r>
              <a:rPr sz="2800" spc="-90" dirty="0">
                <a:latin typeface="Calibri"/>
                <a:cs typeface="Calibri"/>
              </a:rPr>
              <a:t> </a:t>
            </a:r>
            <a:r>
              <a:rPr sz="2800" dirty="0">
                <a:latin typeface="Calibri"/>
                <a:cs typeface="Calibri"/>
              </a:rPr>
              <a:t>access</a:t>
            </a:r>
            <a:r>
              <a:rPr sz="2800" spc="-105" dirty="0">
                <a:latin typeface="Calibri"/>
                <a:cs typeface="Calibri"/>
              </a:rPr>
              <a:t> </a:t>
            </a:r>
            <a:r>
              <a:rPr sz="2800" spc="-10" dirty="0">
                <a:latin typeface="Calibri"/>
                <a:cs typeface="Calibri"/>
              </a:rPr>
              <a:t>every </a:t>
            </a:r>
            <a:r>
              <a:rPr sz="2800" dirty="0">
                <a:latin typeface="Calibri"/>
                <a:cs typeface="Calibri"/>
              </a:rPr>
              <a:t>address</a:t>
            </a:r>
            <a:r>
              <a:rPr sz="2800" spc="-125" dirty="0">
                <a:latin typeface="Calibri"/>
                <a:cs typeface="Calibri"/>
              </a:rPr>
              <a:t> </a:t>
            </a:r>
            <a:r>
              <a:rPr sz="2800" spc="-10" dirty="0">
                <a:latin typeface="Calibri"/>
                <a:cs typeface="Calibri"/>
              </a:rPr>
              <a:t>space.</a:t>
            </a:r>
            <a:endParaRPr sz="2800">
              <a:latin typeface="Calibri"/>
              <a:cs typeface="Calibri"/>
            </a:endParaRPr>
          </a:p>
          <a:p>
            <a:pPr marL="755015" marR="5080" lvl="1" indent="-285750">
              <a:lnSpc>
                <a:spcPct val="100000"/>
              </a:lnSpc>
              <a:spcBef>
                <a:spcPts val="675"/>
              </a:spcBef>
              <a:buFont typeface="Arial"/>
              <a:buChar char="–"/>
              <a:tabLst>
                <a:tab pos="756285" algn="l"/>
              </a:tabLst>
            </a:pPr>
            <a:r>
              <a:rPr sz="2800" dirty="0">
                <a:latin typeface="Calibri"/>
                <a:cs typeface="Calibri"/>
              </a:rPr>
              <a:t>Unlike</a:t>
            </a:r>
            <a:r>
              <a:rPr sz="2800" spc="-105" dirty="0">
                <a:latin typeface="Calibri"/>
                <a:cs typeface="Calibri"/>
              </a:rPr>
              <a:t> </a:t>
            </a:r>
            <a:r>
              <a:rPr sz="2800" dirty="0">
                <a:latin typeface="Calibri"/>
                <a:cs typeface="Calibri"/>
              </a:rPr>
              <a:t>process,</a:t>
            </a:r>
            <a:r>
              <a:rPr sz="2800" spc="-85" dirty="0">
                <a:latin typeface="Calibri"/>
                <a:cs typeface="Calibri"/>
              </a:rPr>
              <a:t> </a:t>
            </a:r>
            <a:r>
              <a:rPr sz="2800" dirty="0">
                <a:latin typeface="Calibri"/>
                <a:cs typeface="Calibri"/>
              </a:rPr>
              <a:t>threads</a:t>
            </a:r>
            <a:r>
              <a:rPr sz="2800" spc="-90" dirty="0">
                <a:latin typeface="Calibri"/>
                <a:cs typeface="Calibri"/>
              </a:rPr>
              <a:t> </a:t>
            </a:r>
            <a:r>
              <a:rPr sz="2800" dirty="0">
                <a:latin typeface="Calibri"/>
                <a:cs typeface="Calibri"/>
              </a:rPr>
              <a:t>are</a:t>
            </a:r>
            <a:r>
              <a:rPr sz="2800" spc="-105" dirty="0">
                <a:latin typeface="Calibri"/>
                <a:cs typeface="Calibri"/>
              </a:rPr>
              <a:t> </a:t>
            </a:r>
            <a:r>
              <a:rPr sz="2800" dirty="0">
                <a:latin typeface="Calibri"/>
                <a:cs typeface="Calibri"/>
              </a:rPr>
              <a:t>designed</a:t>
            </a:r>
            <a:r>
              <a:rPr sz="2800" spc="-90" dirty="0">
                <a:latin typeface="Calibri"/>
                <a:cs typeface="Calibri"/>
              </a:rPr>
              <a:t> </a:t>
            </a:r>
            <a:r>
              <a:rPr sz="2800" dirty="0">
                <a:latin typeface="Calibri"/>
                <a:cs typeface="Calibri"/>
              </a:rPr>
              <a:t>to</a:t>
            </a:r>
            <a:r>
              <a:rPr sz="2800" spc="-110" dirty="0">
                <a:latin typeface="Calibri"/>
                <a:cs typeface="Calibri"/>
              </a:rPr>
              <a:t> </a:t>
            </a:r>
            <a:r>
              <a:rPr sz="2800" dirty="0">
                <a:latin typeface="Calibri"/>
                <a:cs typeface="Calibri"/>
              </a:rPr>
              <a:t>assist</a:t>
            </a:r>
            <a:r>
              <a:rPr sz="2800" spc="-85" dirty="0">
                <a:latin typeface="Calibri"/>
                <a:cs typeface="Calibri"/>
              </a:rPr>
              <a:t> </a:t>
            </a:r>
            <a:r>
              <a:rPr sz="2800" spc="-25" dirty="0">
                <a:latin typeface="Calibri"/>
                <a:cs typeface="Calibri"/>
              </a:rPr>
              <a:t>one 	</a:t>
            </a:r>
            <a:r>
              <a:rPr sz="2800" spc="-10" dirty="0">
                <a:latin typeface="Calibri"/>
                <a:cs typeface="Calibri"/>
              </a:rPr>
              <a:t>other.</a:t>
            </a:r>
            <a:endParaRPr sz="2800">
              <a:latin typeface="Calibri"/>
              <a:cs typeface="Calibri"/>
            </a:endParaRP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xfrm>
            <a:off x="737108" y="152400"/>
            <a:ext cx="8025892" cy="690574"/>
          </a:xfrm>
          <a:prstGeom prst="rect">
            <a:avLst/>
          </a:prstGeom>
        </p:spPr>
        <p:txBody>
          <a:bodyPr vert="horz" wrap="square" lIns="0" tIns="13335" rIns="0" bIns="0" rtlCol="0">
            <a:spAutoFit/>
          </a:bodyPr>
          <a:lstStyle/>
          <a:p>
            <a:pPr marL="12700" algn="ctr">
              <a:spcBef>
                <a:spcPts val="105"/>
              </a:spcBef>
            </a:pPr>
            <a:r>
              <a:rPr dirty="0"/>
              <a:t>IPC(Inter Process Communication)</a:t>
            </a:r>
          </a:p>
        </p:txBody>
      </p:sp>
      <p:sp>
        <p:nvSpPr>
          <p:cNvPr id="3" name="object 3"/>
          <p:cNvSpPr txBox="1">
            <a:spLocks noGrp="1"/>
          </p:cNvSpPr>
          <p:nvPr>
            <p:ph type="body" idx="1"/>
          </p:nvPr>
        </p:nvSpPr>
        <p:spPr>
          <a:xfrm>
            <a:off x="737108" y="1447800"/>
            <a:ext cx="7669783" cy="4274247"/>
          </a:xfrm>
          <a:prstGeom prst="rect">
            <a:avLst/>
          </a:prstGeom>
        </p:spPr>
        <p:txBody>
          <a:bodyPr vert="horz" wrap="square" lIns="0" tIns="92710" rIns="0" bIns="0" rtlCol="0">
            <a:spAutoFit/>
          </a:bodyPr>
          <a:lstStyle/>
          <a:p>
            <a:pPr marL="355600" marR="5080" indent="-342900" algn="just">
              <a:lnSpc>
                <a:spcPts val="2590"/>
              </a:lnSpc>
              <a:spcBef>
                <a:spcPts val="730"/>
              </a:spcBef>
              <a:buFont typeface="Arial"/>
              <a:buChar char="•"/>
              <a:tabLst>
                <a:tab pos="355600" algn="l"/>
              </a:tabLst>
            </a:pPr>
            <a:r>
              <a:rPr sz="2400" dirty="0">
                <a:latin typeface="Times New Roman"/>
                <a:cs typeface="Times New Roman"/>
              </a:rPr>
              <a:t>How</a:t>
            </a:r>
            <a:r>
              <a:rPr sz="2400" spc="160" dirty="0">
                <a:latin typeface="Times New Roman"/>
                <a:cs typeface="Times New Roman"/>
              </a:rPr>
              <a:t>  </a:t>
            </a:r>
            <a:r>
              <a:rPr sz="2400" dirty="0">
                <a:latin typeface="Times New Roman"/>
                <a:cs typeface="Times New Roman"/>
              </a:rPr>
              <a:t>one</a:t>
            </a:r>
            <a:r>
              <a:rPr sz="2400" spc="165" dirty="0">
                <a:latin typeface="Times New Roman"/>
                <a:cs typeface="Times New Roman"/>
              </a:rPr>
              <a:t>  </a:t>
            </a:r>
            <a:r>
              <a:rPr sz="2400" dirty="0">
                <a:latin typeface="Times New Roman"/>
                <a:cs typeface="Times New Roman"/>
              </a:rPr>
              <a:t>process</a:t>
            </a:r>
            <a:r>
              <a:rPr sz="2400" spc="165" dirty="0">
                <a:latin typeface="Times New Roman"/>
                <a:cs typeface="Times New Roman"/>
              </a:rPr>
              <a:t>  </a:t>
            </a:r>
            <a:r>
              <a:rPr sz="2400" dirty="0">
                <a:latin typeface="Times New Roman"/>
                <a:cs typeface="Times New Roman"/>
              </a:rPr>
              <a:t>can</a:t>
            </a:r>
            <a:r>
              <a:rPr sz="2400" spc="170" dirty="0">
                <a:latin typeface="Times New Roman"/>
                <a:cs typeface="Times New Roman"/>
              </a:rPr>
              <a:t>  </a:t>
            </a:r>
            <a:r>
              <a:rPr sz="2400" dirty="0">
                <a:latin typeface="Times New Roman"/>
                <a:cs typeface="Times New Roman"/>
              </a:rPr>
              <a:t>pass</a:t>
            </a:r>
            <a:r>
              <a:rPr sz="2400" spc="160" dirty="0">
                <a:latin typeface="Times New Roman"/>
                <a:cs typeface="Times New Roman"/>
              </a:rPr>
              <a:t>  </a:t>
            </a:r>
            <a:r>
              <a:rPr sz="2400" dirty="0">
                <a:latin typeface="Times New Roman"/>
                <a:cs typeface="Times New Roman"/>
              </a:rPr>
              <a:t>the</a:t>
            </a:r>
            <a:r>
              <a:rPr sz="2400" spc="170" dirty="0">
                <a:latin typeface="Times New Roman"/>
                <a:cs typeface="Times New Roman"/>
              </a:rPr>
              <a:t>  </a:t>
            </a:r>
            <a:r>
              <a:rPr sz="2400" dirty="0">
                <a:latin typeface="Times New Roman"/>
                <a:cs typeface="Times New Roman"/>
              </a:rPr>
              <a:t>information</a:t>
            </a:r>
            <a:r>
              <a:rPr sz="2400" spc="175" dirty="0">
                <a:latin typeface="Times New Roman"/>
                <a:cs typeface="Times New Roman"/>
              </a:rPr>
              <a:t>  </a:t>
            </a:r>
            <a:r>
              <a:rPr sz="2400" dirty="0">
                <a:latin typeface="Times New Roman"/>
                <a:cs typeface="Times New Roman"/>
              </a:rPr>
              <a:t>to</a:t>
            </a:r>
            <a:r>
              <a:rPr sz="2400" spc="165" dirty="0">
                <a:latin typeface="Times New Roman"/>
                <a:cs typeface="Times New Roman"/>
              </a:rPr>
              <a:t>  </a:t>
            </a:r>
            <a:r>
              <a:rPr sz="2400" spc="-25" dirty="0">
                <a:latin typeface="Times New Roman"/>
                <a:cs typeface="Times New Roman"/>
              </a:rPr>
              <a:t>the </a:t>
            </a:r>
            <a:r>
              <a:rPr sz="2400" spc="-10" dirty="0">
                <a:latin typeface="Times New Roman"/>
                <a:cs typeface="Times New Roman"/>
              </a:rPr>
              <a:t>another?</a:t>
            </a:r>
            <a:endParaRPr sz="2400" dirty="0">
              <a:latin typeface="Times New Roman"/>
              <a:cs typeface="Times New Roman"/>
            </a:endParaRPr>
          </a:p>
          <a:p>
            <a:pPr marL="355600" marR="5715" indent="-342900" algn="just">
              <a:lnSpc>
                <a:spcPts val="2590"/>
              </a:lnSpc>
              <a:spcBef>
                <a:spcPts val="650"/>
              </a:spcBef>
              <a:buFont typeface="Arial"/>
              <a:buChar char="•"/>
              <a:tabLst>
                <a:tab pos="355600" algn="l"/>
              </a:tabLst>
            </a:pPr>
            <a:r>
              <a:rPr sz="2400" dirty="0">
                <a:latin typeface="Times New Roman"/>
                <a:cs typeface="Times New Roman"/>
              </a:rPr>
              <a:t>How</a:t>
            </a:r>
            <a:r>
              <a:rPr sz="2400" spc="420" dirty="0">
                <a:latin typeface="Times New Roman"/>
                <a:cs typeface="Times New Roman"/>
              </a:rPr>
              <a:t> </a:t>
            </a:r>
            <a:r>
              <a:rPr sz="2400" dirty="0">
                <a:latin typeface="Times New Roman"/>
                <a:cs typeface="Times New Roman"/>
              </a:rPr>
              <a:t>to</a:t>
            </a:r>
            <a:r>
              <a:rPr sz="2400" spc="430" dirty="0">
                <a:latin typeface="Times New Roman"/>
                <a:cs typeface="Times New Roman"/>
              </a:rPr>
              <a:t> </a:t>
            </a:r>
            <a:r>
              <a:rPr sz="2400" dirty="0">
                <a:latin typeface="Times New Roman"/>
                <a:cs typeface="Times New Roman"/>
              </a:rPr>
              <a:t>make</a:t>
            </a:r>
            <a:r>
              <a:rPr sz="2400" spc="434" dirty="0">
                <a:latin typeface="Times New Roman"/>
                <a:cs typeface="Times New Roman"/>
              </a:rPr>
              <a:t> </a:t>
            </a:r>
            <a:r>
              <a:rPr sz="2400" dirty="0">
                <a:latin typeface="Times New Roman"/>
                <a:cs typeface="Times New Roman"/>
              </a:rPr>
              <a:t>sure</a:t>
            </a:r>
            <a:r>
              <a:rPr sz="2400" spc="420" dirty="0">
                <a:latin typeface="Times New Roman"/>
                <a:cs typeface="Times New Roman"/>
              </a:rPr>
              <a:t> </a:t>
            </a:r>
            <a:r>
              <a:rPr sz="2400" dirty="0">
                <a:latin typeface="Times New Roman"/>
                <a:cs typeface="Times New Roman"/>
              </a:rPr>
              <a:t>two</a:t>
            </a:r>
            <a:r>
              <a:rPr sz="2400" spc="430" dirty="0">
                <a:latin typeface="Times New Roman"/>
                <a:cs typeface="Times New Roman"/>
              </a:rPr>
              <a:t> </a:t>
            </a:r>
            <a:r>
              <a:rPr sz="2400" dirty="0">
                <a:latin typeface="Times New Roman"/>
                <a:cs typeface="Times New Roman"/>
              </a:rPr>
              <a:t>or</a:t>
            </a:r>
            <a:r>
              <a:rPr sz="2400" spc="425" dirty="0">
                <a:latin typeface="Times New Roman"/>
                <a:cs typeface="Times New Roman"/>
              </a:rPr>
              <a:t> </a:t>
            </a:r>
            <a:r>
              <a:rPr sz="2400" dirty="0">
                <a:latin typeface="Times New Roman"/>
                <a:cs typeface="Times New Roman"/>
              </a:rPr>
              <a:t>more</a:t>
            </a:r>
            <a:r>
              <a:rPr sz="2400" spc="434" dirty="0">
                <a:latin typeface="Times New Roman"/>
                <a:cs typeface="Times New Roman"/>
              </a:rPr>
              <a:t> </a:t>
            </a:r>
            <a:r>
              <a:rPr sz="2400" dirty="0">
                <a:latin typeface="Times New Roman"/>
                <a:cs typeface="Times New Roman"/>
              </a:rPr>
              <a:t>processes</a:t>
            </a:r>
            <a:r>
              <a:rPr sz="2400" spc="434" dirty="0">
                <a:latin typeface="Times New Roman"/>
                <a:cs typeface="Times New Roman"/>
              </a:rPr>
              <a:t> </a:t>
            </a:r>
            <a:r>
              <a:rPr sz="2400" dirty="0">
                <a:latin typeface="Times New Roman"/>
                <a:cs typeface="Times New Roman"/>
              </a:rPr>
              <a:t>do</a:t>
            </a:r>
            <a:r>
              <a:rPr sz="2400" spc="420" dirty="0">
                <a:latin typeface="Times New Roman"/>
                <a:cs typeface="Times New Roman"/>
              </a:rPr>
              <a:t> </a:t>
            </a:r>
            <a:r>
              <a:rPr sz="2400" dirty="0">
                <a:latin typeface="Times New Roman"/>
                <a:cs typeface="Times New Roman"/>
              </a:rPr>
              <a:t>not</a:t>
            </a:r>
            <a:r>
              <a:rPr sz="2400" spc="430" dirty="0">
                <a:latin typeface="Times New Roman"/>
                <a:cs typeface="Times New Roman"/>
              </a:rPr>
              <a:t> </a:t>
            </a:r>
            <a:r>
              <a:rPr sz="2400" spc="-25" dirty="0">
                <a:latin typeface="Times New Roman"/>
                <a:cs typeface="Times New Roman"/>
              </a:rPr>
              <a:t>get </a:t>
            </a:r>
            <a:r>
              <a:rPr sz="2400" dirty="0">
                <a:latin typeface="Times New Roman"/>
                <a:cs typeface="Times New Roman"/>
              </a:rPr>
              <a:t>into</a:t>
            </a:r>
            <a:r>
              <a:rPr sz="2400" spc="320" dirty="0">
                <a:latin typeface="Times New Roman"/>
                <a:cs typeface="Times New Roman"/>
              </a:rPr>
              <a:t>  </a:t>
            </a:r>
            <a:r>
              <a:rPr sz="2400" dirty="0">
                <a:latin typeface="Times New Roman"/>
                <a:cs typeface="Times New Roman"/>
              </a:rPr>
              <a:t>each</a:t>
            </a:r>
            <a:r>
              <a:rPr sz="2400" spc="315" dirty="0">
                <a:latin typeface="Times New Roman"/>
                <a:cs typeface="Times New Roman"/>
              </a:rPr>
              <a:t>  </a:t>
            </a:r>
            <a:r>
              <a:rPr sz="2400" dirty="0">
                <a:latin typeface="Times New Roman"/>
                <a:cs typeface="Times New Roman"/>
              </a:rPr>
              <a:t>other’s</a:t>
            </a:r>
            <a:r>
              <a:rPr sz="2400" spc="320" dirty="0">
                <a:latin typeface="Times New Roman"/>
                <a:cs typeface="Times New Roman"/>
              </a:rPr>
              <a:t>  </a:t>
            </a:r>
            <a:r>
              <a:rPr sz="2400" dirty="0">
                <a:latin typeface="Times New Roman"/>
                <a:cs typeface="Times New Roman"/>
              </a:rPr>
              <a:t>way</a:t>
            </a:r>
            <a:r>
              <a:rPr sz="2400" spc="315" dirty="0">
                <a:latin typeface="Times New Roman"/>
                <a:cs typeface="Times New Roman"/>
              </a:rPr>
              <a:t>  </a:t>
            </a:r>
            <a:r>
              <a:rPr sz="2400" dirty="0">
                <a:latin typeface="Times New Roman"/>
                <a:cs typeface="Times New Roman"/>
              </a:rPr>
              <a:t>when</a:t>
            </a:r>
            <a:r>
              <a:rPr sz="2400" spc="320" dirty="0">
                <a:latin typeface="Times New Roman"/>
                <a:cs typeface="Times New Roman"/>
              </a:rPr>
              <a:t>  </a:t>
            </a:r>
            <a:r>
              <a:rPr sz="2400" dirty="0">
                <a:latin typeface="Times New Roman"/>
                <a:cs typeface="Times New Roman"/>
              </a:rPr>
              <a:t>engaging</a:t>
            </a:r>
            <a:r>
              <a:rPr sz="2400" spc="320" dirty="0">
                <a:latin typeface="Times New Roman"/>
                <a:cs typeface="Times New Roman"/>
              </a:rPr>
              <a:t>  </a:t>
            </a:r>
            <a:r>
              <a:rPr sz="2400" dirty="0">
                <a:latin typeface="Times New Roman"/>
                <a:cs typeface="Times New Roman"/>
              </a:rPr>
              <a:t>in</a:t>
            </a:r>
            <a:r>
              <a:rPr sz="2400" spc="315" dirty="0">
                <a:latin typeface="Times New Roman"/>
                <a:cs typeface="Times New Roman"/>
              </a:rPr>
              <a:t>  </a:t>
            </a:r>
            <a:r>
              <a:rPr sz="2400" spc="-10" dirty="0">
                <a:latin typeface="Times New Roman"/>
                <a:cs typeface="Times New Roman"/>
              </a:rPr>
              <a:t>critical activities?</a:t>
            </a:r>
            <a:endParaRPr sz="2400" dirty="0">
              <a:latin typeface="Times New Roman"/>
              <a:cs typeface="Times New Roman"/>
            </a:endParaRPr>
          </a:p>
          <a:p>
            <a:pPr marL="355600" marR="6350" indent="-342900" algn="just">
              <a:lnSpc>
                <a:spcPts val="2590"/>
              </a:lnSpc>
              <a:spcBef>
                <a:spcPts val="655"/>
              </a:spcBef>
              <a:buFont typeface="Arial"/>
              <a:buChar char="•"/>
              <a:tabLst>
                <a:tab pos="355600" algn="l"/>
              </a:tabLst>
            </a:pPr>
            <a:r>
              <a:rPr sz="2400" dirty="0">
                <a:latin typeface="Times New Roman"/>
                <a:cs typeface="Times New Roman"/>
              </a:rPr>
              <a:t>How</a:t>
            </a:r>
            <a:r>
              <a:rPr sz="2400" spc="290" dirty="0">
                <a:latin typeface="Times New Roman"/>
                <a:cs typeface="Times New Roman"/>
              </a:rPr>
              <a:t>   </a:t>
            </a:r>
            <a:r>
              <a:rPr sz="2400" dirty="0">
                <a:latin typeface="Times New Roman"/>
                <a:cs typeface="Times New Roman"/>
              </a:rPr>
              <a:t>to</a:t>
            </a:r>
            <a:r>
              <a:rPr sz="2400" spc="300" dirty="0">
                <a:latin typeface="Times New Roman"/>
                <a:cs typeface="Times New Roman"/>
              </a:rPr>
              <a:t>   </a:t>
            </a:r>
            <a:r>
              <a:rPr sz="2400" dirty="0">
                <a:latin typeface="Times New Roman"/>
                <a:cs typeface="Times New Roman"/>
              </a:rPr>
              <a:t>maintain</a:t>
            </a:r>
            <a:r>
              <a:rPr sz="2400" spc="295" dirty="0">
                <a:latin typeface="Times New Roman"/>
                <a:cs typeface="Times New Roman"/>
              </a:rPr>
              <a:t>   </a:t>
            </a:r>
            <a:r>
              <a:rPr sz="2400" dirty="0">
                <a:latin typeface="Times New Roman"/>
                <a:cs typeface="Times New Roman"/>
              </a:rPr>
              <a:t>the</a:t>
            </a:r>
            <a:r>
              <a:rPr sz="2400" spc="295" dirty="0">
                <a:latin typeface="Times New Roman"/>
                <a:cs typeface="Times New Roman"/>
              </a:rPr>
              <a:t>   </a:t>
            </a:r>
            <a:r>
              <a:rPr sz="2400" dirty="0">
                <a:latin typeface="Times New Roman"/>
                <a:cs typeface="Times New Roman"/>
              </a:rPr>
              <a:t>proper</a:t>
            </a:r>
            <a:r>
              <a:rPr sz="2400" spc="295" dirty="0">
                <a:latin typeface="Times New Roman"/>
                <a:cs typeface="Times New Roman"/>
              </a:rPr>
              <a:t>   </a:t>
            </a:r>
            <a:r>
              <a:rPr sz="2400" dirty="0">
                <a:latin typeface="Times New Roman"/>
                <a:cs typeface="Times New Roman"/>
              </a:rPr>
              <a:t>sequence</a:t>
            </a:r>
            <a:r>
              <a:rPr sz="2400" spc="295" dirty="0">
                <a:latin typeface="Times New Roman"/>
                <a:cs typeface="Times New Roman"/>
              </a:rPr>
              <a:t>   </a:t>
            </a:r>
            <a:r>
              <a:rPr sz="2400" spc="-20" dirty="0">
                <a:latin typeface="Times New Roman"/>
                <a:cs typeface="Times New Roman"/>
              </a:rPr>
              <a:t>when </a:t>
            </a:r>
            <a:r>
              <a:rPr sz="2400" dirty="0">
                <a:latin typeface="Times New Roman"/>
                <a:cs typeface="Times New Roman"/>
              </a:rPr>
              <a:t>dependencies</a:t>
            </a:r>
            <a:r>
              <a:rPr sz="2400" spc="-110" dirty="0">
                <a:latin typeface="Times New Roman"/>
                <a:cs typeface="Times New Roman"/>
              </a:rPr>
              <a:t> </a:t>
            </a:r>
            <a:r>
              <a:rPr sz="2400" dirty="0">
                <a:latin typeface="Times New Roman"/>
                <a:cs typeface="Times New Roman"/>
              </a:rPr>
              <a:t>are</a:t>
            </a:r>
            <a:r>
              <a:rPr sz="2400" spc="-85" dirty="0">
                <a:latin typeface="Times New Roman"/>
                <a:cs typeface="Times New Roman"/>
              </a:rPr>
              <a:t> </a:t>
            </a:r>
            <a:r>
              <a:rPr sz="2400" spc="-10" dirty="0">
                <a:latin typeface="Times New Roman"/>
                <a:cs typeface="Times New Roman"/>
              </a:rPr>
              <a:t>presents?</a:t>
            </a:r>
            <a:endParaRPr sz="2400" dirty="0">
              <a:latin typeface="Times New Roman"/>
              <a:cs typeface="Times New Roman"/>
            </a:endParaRPr>
          </a:p>
          <a:p>
            <a:pPr marL="355600" marR="8890" indent="-342900" algn="just">
              <a:lnSpc>
                <a:spcPts val="2590"/>
              </a:lnSpc>
              <a:buFont typeface="Arial"/>
              <a:buChar char="•"/>
              <a:tabLst>
                <a:tab pos="355600" algn="l"/>
              </a:tabLst>
            </a:pPr>
            <a:r>
              <a:rPr sz="2400" dirty="0">
                <a:latin typeface="Times New Roman"/>
                <a:cs typeface="Times New Roman"/>
              </a:rPr>
              <a:t>Thus,</a:t>
            </a:r>
            <a:r>
              <a:rPr sz="2400" spc="235" dirty="0">
                <a:latin typeface="Times New Roman"/>
                <a:cs typeface="Times New Roman"/>
              </a:rPr>
              <a:t>   </a:t>
            </a:r>
            <a:r>
              <a:rPr sz="2400" dirty="0">
                <a:solidFill>
                  <a:srgbClr val="00B050"/>
                </a:solidFill>
                <a:latin typeface="Times New Roman"/>
                <a:cs typeface="Times New Roman"/>
              </a:rPr>
              <a:t>Inter</a:t>
            </a:r>
            <a:r>
              <a:rPr sz="2400" spc="235" dirty="0">
                <a:solidFill>
                  <a:srgbClr val="00B050"/>
                </a:solidFill>
                <a:latin typeface="Times New Roman"/>
                <a:cs typeface="Times New Roman"/>
              </a:rPr>
              <a:t>   </a:t>
            </a:r>
            <a:r>
              <a:rPr sz="2400" dirty="0">
                <a:solidFill>
                  <a:srgbClr val="00B050"/>
                </a:solidFill>
                <a:latin typeface="Times New Roman"/>
                <a:cs typeface="Times New Roman"/>
              </a:rPr>
              <a:t>Process</a:t>
            </a:r>
            <a:r>
              <a:rPr sz="2400" spc="235" dirty="0">
                <a:solidFill>
                  <a:srgbClr val="00B050"/>
                </a:solidFill>
                <a:latin typeface="Times New Roman"/>
                <a:cs typeface="Times New Roman"/>
              </a:rPr>
              <a:t>   </a:t>
            </a:r>
            <a:r>
              <a:rPr sz="2400" dirty="0">
                <a:solidFill>
                  <a:srgbClr val="00B050"/>
                </a:solidFill>
                <a:latin typeface="Times New Roman"/>
                <a:cs typeface="Times New Roman"/>
              </a:rPr>
              <a:t>Communication</a:t>
            </a:r>
            <a:r>
              <a:rPr sz="2400" spc="235" dirty="0">
                <a:solidFill>
                  <a:srgbClr val="00B050"/>
                </a:solidFill>
                <a:latin typeface="Times New Roman"/>
                <a:cs typeface="Times New Roman"/>
              </a:rPr>
              <a:t>   </a:t>
            </a:r>
            <a:r>
              <a:rPr sz="2400" dirty="0">
                <a:solidFill>
                  <a:srgbClr val="00B050"/>
                </a:solidFill>
                <a:latin typeface="Times New Roman"/>
                <a:cs typeface="Times New Roman"/>
              </a:rPr>
              <a:t>(IPC)</a:t>
            </a:r>
            <a:r>
              <a:rPr sz="2400" spc="235" dirty="0">
                <a:solidFill>
                  <a:srgbClr val="00B050"/>
                </a:solidFill>
                <a:latin typeface="Times New Roman"/>
                <a:cs typeface="Times New Roman"/>
              </a:rPr>
              <a:t>   </a:t>
            </a:r>
            <a:r>
              <a:rPr sz="2400" spc="-25" dirty="0">
                <a:solidFill>
                  <a:srgbClr val="00B050"/>
                </a:solidFill>
                <a:latin typeface="Times New Roman"/>
                <a:cs typeface="Times New Roman"/>
              </a:rPr>
              <a:t>and </a:t>
            </a:r>
            <a:r>
              <a:rPr sz="2400" spc="-10" dirty="0">
                <a:solidFill>
                  <a:srgbClr val="00B050"/>
                </a:solidFill>
                <a:latin typeface="Times New Roman"/>
                <a:cs typeface="Times New Roman"/>
              </a:rPr>
              <a:t>synchronization</a:t>
            </a:r>
            <a:r>
              <a:rPr lang="en-US" sz="2400" spc="-10" dirty="0">
                <a:solidFill>
                  <a:srgbClr val="00B050"/>
                </a:solidFill>
                <a:latin typeface="Times New Roman"/>
                <a:cs typeface="Times New Roman"/>
              </a:rPr>
              <a:t> </a:t>
            </a:r>
            <a:r>
              <a:rPr lang="en-US" sz="2400" spc="-10" dirty="0">
                <a:latin typeface="Times New Roman"/>
                <a:cs typeface="Times New Roman"/>
              </a:rPr>
              <a:t>are needed.</a:t>
            </a:r>
            <a:endParaRPr lang="en-US" sz="2400" dirty="0">
              <a:latin typeface="Times New Roman"/>
              <a:cs typeface="Times New Roman"/>
            </a:endParaRPr>
          </a:p>
          <a:p>
            <a:pPr marL="355600" marR="8890" indent="-342900" algn="just">
              <a:lnSpc>
                <a:spcPts val="2590"/>
              </a:lnSpc>
              <a:buFont typeface="Arial"/>
              <a:buChar char="•"/>
              <a:tabLst>
                <a:tab pos="355600" algn="l"/>
              </a:tabLst>
            </a:pPr>
            <a:r>
              <a:rPr sz="2400" spc="-25" dirty="0">
                <a:latin typeface="Times New Roman"/>
                <a:cs typeface="Times New Roman"/>
              </a:rPr>
              <a:t>IPC</a:t>
            </a:r>
            <a:r>
              <a:rPr sz="2400" dirty="0">
                <a:latin typeface="Times New Roman"/>
                <a:cs typeface="Times New Roman"/>
              </a:rPr>
              <a:t>	</a:t>
            </a:r>
            <a:r>
              <a:rPr sz="2400" spc="-10" dirty="0">
                <a:latin typeface="Times New Roman"/>
                <a:cs typeface="Times New Roman"/>
              </a:rPr>
              <a:t>provide</a:t>
            </a:r>
            <a:r>
              <a:rPr sz="2400" dirty="0">
                <a:latin typeface="Times New Roman"/>
                <a:cs typeface="Times New Roman"/>
              </a:rPr>
              <a:t>	</a:t>
            </a:r>
            <a:r>
              <a:rPr sz="2400" spc="-25" dirty="0">
                <a:latin typeface="Times New Roman"/>
                <a:cs typeface="Times New Roman"/>
              </a:rPr>
              <a:t>the</a:t>
            </a:r>
            <a:r>
              <a:rPr sz="2400" dirty="0">
                <a:latin typeface="Times New Roman"/>
                <a:cs typeface="Times New Roman"/>
              </a:rPr>
              <a:t>	</a:t>
            </a:r>
            <a:r>
              <a:rPr sz="2400" spc="-10" dirty="0">
                <a:latin typeface="Times New Roman"/>
                <a:cs typeface="Times New Roman"/>
              </a:rPr>
              <a:t>mechanism</a:t>
            </a:r>
            <a:r>
              <a:rPr sz="2400" dirty="0">
                <a:latin typeface="Times New Roman"/>
                <a:cs typeface="Times New Roman"/>
              </a:rPr>
              <a:t>	</a:t>
            </a:r>
            <a:r>
              <a:rPr sz="2400" spc="-25" dirty="0">
                <a:latin typeface="Times New Roman"/>
                <a:cs typeface="Times New Roman"/>
              </a:rPr>
              <a:t>to</a:t>
            </a:r>
            <a:r>
              <a:rPr sz="2400" dirty="0">
                <a:latin typeface="Times New Roman"/>
                <a:cs typeface="Times New Roman"/>
              </a:rPr>
              <a:t>	</a:t>
            </a:r>
            <a:r>
              <a:rPr sz="2400" spc="-10" dirty="0">
                <a:latin typeface="Times New Roman"/>
                <a:cs typeface="Times New Roman"/>
              </a:rPr>
              <a:t>allow</a:t>
            </a:r>
            <a:r>
              <a:rPr lang="en-US" sz="2400" spc="-10" dirty="0">
                <a:latin typeface="Times New Roman"/>
                <a:cs typeface="Times New Roman"/>
              </a:rPr>
              <a:t> </a:t>
            </a:r>
            <a:r>
              <a:rPr sz="2400" spc="-25" dirty="0">
                <a:latin typeface="Times New Roman"/>
                <a:cs typeface="Times New Roman"/>
              </a:rPr>
              <a:t>the</a:t>
            </a:r>
            <a:r>
              <a:rPr lang="en-US" sz="2400" spc="-25" dirty="0">
                <a:latin typeface="Times New Roman"/>
                <a:cs typeface="Times New Roman"/>
              </a:rPr>
              <a:t> </a:t>
            </a:r>
            <a:r>
              <a:rPr sz="2400" spc="-10" dirty="0">
                <a:latin typeface="Times New Roman"/>
                <a:cs typeface="Times New Roman"/>
              </a:rPr>
              <a:t>processes</a:t>
            </a:r>
            <a:r>
              <a:rPr sz="2400" dirty="0">
                <a:latin typeface="Times New Roman"/>
                <a:cs typeface="Times New Roman"/>
              </a:rPr>
              <a:t>	</a:t>
            </a:r>
            <a:r>
              <a:rPr sz="2400" spc="-25" dirty="0">
                <a:latin typeface="Times New Roman"/>
                <a:cs typeface="Times New Roman"/>
              </a:rPr>
              <a:t>to </a:t>
            </a:r>
            <a:r>
              <a:rPr sz="2400" dirty="0">
                <a:latin typeface="Times New Roman"/>
                <a:cs typeface="Times New Roman"/>
              </a:rPr>
              <a:t>communicate</a:t>
            </a:r>
            <a:r>
              <a:rPr sz="2400" spc="-35" dirty="0">
                <a:latin typeface="Times New Roman"/>
                <a:cs typeface="Times New Roman"/>
              </a:rPr>
              <a:t> </a:t>
            </a:r>
            <a:r>
              <a:rPr sz="2400" dirty="0">
                <a:latin typeface="Times New Roman"/>
                <a:cs typeface="Times New Roman"/>
              </a:rPr>
              <a:t>and</a:t>
            </a:r>
            <a:r>
              <a:rPr sz="2400" spc="-15" dirty="0">
                <a:latin typeface="Times New Roman"/>
                <a:cs typeface="Times New Roman"/>
              </a:rPr>
              <a:t> </a:t>
            </a:r>
            <a:r>
              <a:rPr sz="2400" dirty="0">
                <a:latin typeface="Times New Roman"/>
                <a:cs typeface="Times New Roman"/>
              </a:rPr>
              <a:t>to</a:t>
            </a:r>
            <a:r>
              <a:rPr sz="2400" spc="-30" dirty="0">
                <a:latin typeface="Times New Roman"/>
                <a:cs typeface="Times New Roman"/>
              </a:rPr>
              <a:t> </a:t>
            </a:r>
            <a:r>
              <a:rPr sz="2400" dirty="0">
                <a:latin typeface="Times New Roman"/>
                <a:cs typeface="Times New Roman"/>
              </a:rPr>
              <a:t>synchronize</a:t>
            </a:r>
            <a:r>
              <a:rPr sz="2400" spc="-45" dirty="0">
                <a:latin typeface="Times New Roman"/>
                <a:cs typeface="Times New Roman"/>
              </a:rPr>
              <a:t> </a:t>
            </a:r>
            <a:r>
              <a:rPr sz="2400" dirty="0">
                <a:latin typeface="Times New Roman"/>
                <a:cs typeface="Times New Roman"/>
              </a:rPr>
              <a:t>their</a:t>
            </a:r>
            <a:r>
              <a:rPr sz="2400" spc="-30" dirty="0">
                <a:latin typeface="Times New Roman"/>
                <a:cs typeface="Times New Roman"/>
              </a:rPr>
              <a:t> </a:t>
            </a:r>
            <a:r>
              <a:rPr sz="2400" spc="-10" dirty="0">
                <a:latin typeface="Times New Roman"/>
                <a:cs typeface="Times New Roman"/>
              </a:rPr>
              <a:t>actions.</a:t>
            </a:r>
            <a:endParaRPr sz="2400" dirty="0">
              <a:latin typeface="Times New Roman"/>
              <a:cs typeface="Times New Roman"/>
            </a:endParaRPr>
          </a:p>
        </p:txBody>
      </p:sp>
      <p:sp>
        <p:nvSpPr>
          <p:cNvPr id="4" name="object 4"/>
          <p:cNvSpPr txBox="1">
            <a:spLocks noGrp="1"/>
          </p:cNvSpPr>
          <p:nvPr>
            <p:ph type="ftr" sz="quarter" idx="5"/>
          </p:nvPr>
        </p:nvSpPr>
        <p:spPr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12700">
              <a:lnSpc>
                <a:spcPts val="1240"/>
              </a:lnSpc>
            </a:pPr>
            <a:r>
              <a:rPr lang="pl-PL"/>
              <a:t>By Dr. Binod Kr. Adhikari</a:t>
            </a:r>
            <a:endParaRPr spc="-1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13335" rIns="0" bIns="0" rtlCol="0">
            <a:spAutoFit/>
          </a:bodyPr>
          <a:lstStyle/>
          <a:p>
            <a:pPr marL="12700" algn="ctr">
              <a:spcBef>
                <a:spcPts val="105"/>
              </a:spcBef>
            </a:pPr>
            <a:r>
              <a:rPr dirty="0"/>
              <a:t>IPC models</a:t>
            </a:r>
          </a:p>
        </p:txBody>
      </p:sp>
      <p:sp>
        <p:nvSpPr>
          <p:cNvPr id="5" name="object 5"/>
          <p:cNvSpPr txBox="1">
            <a:spLocks noGrp="1"/>
          </p:cNvSpPr>
          <p:nvPr>
            <p:ph type="ftr" sz="quarter" idx="5"/>
          </p:nvPr>
        </p:nvSpPr>
        <p:spPr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12700">
              <a:lnSpc>
                <a:spcPts val="1240"/>
              </a:lnSpc>
            </a:pPr>
            <a:r>
              <a:rPr lang="pl-PL"/>
              <a:t>By Dr. Binod Kr. Adhikari</a:t>
            </a:r>
            <a:endParaRPr spc="-10" dirty="0"/>
          </a:p>
        </p:txBody>
      </p:sp>
      <p:sp>
        <p:nvSpPr>
          <p:cNvPr id="3" name="object 3"/>
          <p:cNvSpPr txBox="1"/>
          <p:nvPr/>
        </p:nvSpPr>
        <p:spPr>
          <a:xfrm>
            <a:off x="535940" y="1295400"/>
            <a:ext cx="8073390" cy="2026920"/>
          </a:xfrm>
          <a:prstGeom prst="rect">
            <a:avLst/>
          </a:prstGeom>
        </p:spPr>
        <p:txBody>
          <a:bodyPr vert="horz" wrap="square" lIns="0" tIns="13335" rIns="0" bIns="0" rtlCol="0">
            <a:spAutoFit/>
          </a:bodyPr>
          <a:lstStyle/>
          <a:p>
            <a:pPr marL="355600" marR="5080" indent="-342900">
              <a:lnSpc>
                <a:spcPct val="100000"/>
              </a:lnSpc>
              <a:spcBef>
                <a:spcPts val="105"/>
              </a:spcBef>
              <a:buFont typeface="Arial"/>
              <a:buChar char="•"/>
              <a:tabLst>
                <a:tab pos="355600" algn="l"/>
                <a:tab pos="1509395" algn="l"/>
                <a:tab pos="2211705" algn="l"/>
                <a:tab pos="3027680" algn="l"/>
                <a:tab pos="5264785" algn="l"/>
                <a:tab pos="6644640" algn="l"/>
                <a:tab pos="7188834" algn="l"/>
              </a:tabLst>
            </a:pPr>
            <a:r>
              <a:rPr sz="3200" spc="-10" dirty="0">
                <a:latin typeface="Times New Roman"/>
                <a:cs typeface="Times New Roman"/>
              </a:rPr>
              <a:t>There</a:t>
            </a:r>
            <a:r>
              <a:rPr sz="3200" dirty="0">
                <a:latin typeface="Times New Roman"/>
                <a:cs typeface="Times New Roman"/>
              </a:rPr>
              <a:t>	</a:t>
            </a:r>
            <a:r>
              <a:rPr sz="3200" spc="-25" dirty="0">
                <a:latin typeface="Times New Roman"/>
                <a:cs typeface="Times New Roman"/>
              </a:rPr>
              <a:t>are</a:t>
            </a:r>
            <a:r>
              <a:rPr sz="3200" dirty="0">
                <a:latin typeface="Times New Roman"/>
                <a:cs typeface="Times New Roman"/>
              </a:rPr>
              <a:t>	</a:t>
            </a:r>
            <a:r>
              <a:rPr sz="3200" spc="-25" dirty="0">
                <a:latin typeface="Times New Roman"/>
                <a:cs typeface="Times New Roman"/>
              </a:rPr>
              <a:t>two</a:t>
            </a:r>
            <a:r>
              <a:rPr sz="3200" dirty="0">
                <a:latin typeface="Times New Roman"/>
                <a:cs typeface="Times New Roman"/>
              </a:rPr>
              <a:t>	</a:t>
            </a:r>
            <a:r>
              <a:rPr sz="3200" spc="-10" dirty="0">
                <a:latin typeface="Times New Roman"/>
                <a:cs typeface="Times New Roman"/>
              </a:rPr>
              <a:t>fundamental</a:t>
            </a:r>
            <a:r>
              <a:rPr sz="3200" dirty="0">
                <a:latin typeface="Times New Roman"/>
                <a:cs typeface="Times New Roman"/>
              </a:rPr>
              <a:t>	</a:t>
            </a:r>
            <a:r>
              <a:rPr sz="3200" spc="-10" dirty="0">
                <a:latin typeface="Times New Roman"/>
                <a:cs typeface="Times New Roman"/>
              </a:rPr>
              <a:t>models</a:t>
            </a:r>
            <a:r>
              <a:rPr sz="3200" dirty="0">
                <a:latin typeface="Times New Roman"/>
                <a:cs typeface="Times New Roman"/>
              </a:rPr>
              <a:t>	</a:t>
            </a:r>
            <a:r>
              <a:rPr sz="3200" spc="-25" dirty="0">
                <a:latin typeface="Times New Roman"/>
                <a:cs typeface="Times New Roman"/>
              </a:rPr>
              <a:t>of</a:t>
            </a:r>
            <a:r>
              <a:rPr sz="3200" dirty="0">
                <a:latin typeface="Times New Roman"/>
                <a:cs typeface="Times New Roman"/>
              </a:rPr>
              <a:t>	</a:t>
            </a:r>
            <a:r>
              <a:rPr sz="3200" spc="-25" dirty="0">
                <a:latin typeface="Times New Roman"/>
                <a:cs typeface="Times New Roman"/>
              </a:rPr>
              <a:t>inter- </a:t>
            </a:r>
            <a:r>
              <a:rPr sz="3200" dirty="0">
                <a:latin typeface="Times New Roman"/>
                <a:cs typeface="Times New Roman"/>
              </a:rPr>
              <a:t>process</a:t>
            </a:r>
            <a:r>
              <a:rPr sz="3200" spc="-70" dirty="0">
                <a:latin typeface="Times New Roman"/>
                <a:cs typeface="Times New Roman"/>
              </a:rPr>
              <a:t> </a:t>
            </a:r>
            <a:r>
              <a:rPr sz="3200" spc="-10" dirty="0">
                <a:latin typeface="Times New Roman"/>
                <a:cs typeface="Times New Roman"/>
              </a:rPr>
              <a:t>communication:</a:t>
            </a:r>
            <a:endParaRPr sz="3200" dirty="0">
              <a:latin typeface="Times New Roman"/>
              <a:cs typeface="Times New Roman"/>
            </a:endParaRPr>
          </a:p>
          <a:p>
            <a:pPr marL="756285" lvl="1" indent="-286385">
              <a:lnSpc>
                <a:spcPct val="100000"/>
              </a:lnSpc>
              <a:spcBef>
                <a:spcPts val="675"/>
              </a:spcBef>
              <a:buFont typeface="Arial"/>
              <a:buChar char="–"/>
              <a:tabLst>
                <a:tab pos="756285" algn="l"/>
              </a:tabLst>
            </a:pPr>
            <a:r>
              <a:rPr sz="2800" b="1" dirty="0">
                <a:latin typeface="Times New Roman"/>
                <a:cs typeface="Times New Roman"/>
              </a:rPr>
              <a:t>Shared</a:t>
            </a:r>
            <a:r>
              <a:rPr sz="2800" b="1" spc="-120" dirty="0">
                <a:latin typeface="Times New Roman"/>
                <a:cs typeface="Times New Roman"/>
              </a:rPr>
              <a:t> </a:t>
            </a:r>
            <a:r>
              <a:rPr sz="2800" b="1" spc="-10" dirty="0">
                <a:latin typeface="Times New Roman"/>
                <a:cs typeface="Times New Roman"/>
              </a:rPr>
              <a:t>Memory:</a:t>
            </a:r>
            <a:endParaRPr sz="2800" dirty="0">
              <a:latin typeface="Times New Roman"/>
              <a:cs typeface="Times New Roman"/>
            </a:endParaRPr>
          </a:p>
          <a:p>
            <a:pPr marL="756285" lvl="1" indent="-286385">
              <a:lnSpc>
                <a:spcPct val="100000"/>
              </a:lnSpc>
              <a:spcBef>
                <a:spcPts val="675"/>
              </a:spcBef>
              <a:buFont typeface="Arial"/>
              <a:buChar char="–"/>
              <a:tabLst>
                <a:tab pos="756285" algn="l"/>
              </a:tabLst>
            </a:pPr>
            <a:r>
              <a:rPr sz="2800" b="1" dirty="0">
                <a:latin typeface="Times New Roman"/>
                <a:cs typeface="Times New Roman"/>
              </a:rPr>
              <a:t>Message</a:t>
            </a:r>
            <a:r>
              <a:rPr sz="2800" b="1" spc="-25" dirty="0">
                <a:latin typeface="Times New Roman"/>
                <a:cs typeface="Times New Roman"/>
              </a:rPr>
              <a:t> </a:t>
            </a:r>
            <a:r>
              <a:rPr sz="2800" b="1" spc="-10" dirty="0">
                <a:latin typeface="Times New Roman"/>
                <a:cs typeface="Times New Roman"/>
              </a:rPr>
              <a:t>Passing</a:t>
            </a:r>
            <a:r>
              <a:rPr sz="2800" spc="-10" dirty="0">
                <a:latin typeface="Times New Roman"/>
                <a:cs typeface="Times New Roman"/>
              </a:rPr>
              <a:t>.</a:t>
            </a:r>
            <a:endParaRPr sz="2800" dirty="0">
              <a:latin typeface="Times New Roman"/>
              <a:cs typeface="Times New Roman"/>
            </a:endParaRPr>
          </a:p>
        </p:txBody>
      </p:sp>
      <p:pic>
        <p:nvPicPr>
          <p:cNvPr id="4" name="object 4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2667000" y="3581400"/>
            <a:ext cx="4416721" cy="2426242"/>
          </a:xfrm>
          <a:prstGeom prst="rect">
            <a:avLst/>
          </a:prstGeom>
        </p:spPr>
      </p:pic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13335" rIns="0" bIns="0" rtlCol="0">
            <a:spAutoFit/>
          </a:bodyPr>
          <a:lstStyle/>
          <a:p>
            <a:pPr marL="12700" algn="ctr">
              <a:spcBef>
                <a:spcPts val="105"/>
              </a:spcBef>
            </a:pPr>
            <a:r>
              <a:rPr dirty="0"/>
              <a:t>Massage Passing</a:t>
            </a:r>
          </a:p>
        </p:txBody>
      </p:sp>
      <p:sp>
        <p:nvSpPr>
          <p:cNvPr id="4" name="object 4"/>
          <p:cNvSpPr txBox="1">
            <a:spLocks noGrp="1"/>
          </p:cNvSpPr>
          <p:nvPr>
            <p:ph type="ftr" sz="quarter" idx="5"/>
          </p:nvPr>
        </p:nvSpPr>
        <p:spPr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12700">
              <a:lnSpc>
                <a:spcPts val="1240"/>
              </a:lnSpc>
            </a:pPr>
            <a:r>
              <a:rPr lang="pl-PL"/>
              <a:t>By Dr. Binod Kr. Adhikari</a:t>
            </a:r>
            <a:endParaRPr spc="-10" dirty="0"/>
          </a:p>
        </p:txBody>
      </p:sp>
      <p:sp>
        <p:nvSpPr>
          <p:cNvPr id="3" name="object 3"/>
          <p:cNvSpPr txBox="1"/>
          <p:nvPr/>
        </p:nvSpPr>
        <p:spPr>
          <a:xfrm>
            <a:off x="535940" y="1536065"/>
            <a:ext cx="8074659" cy="4548040"/>
          </a:xfrm>
          <a:prstGeom prst="rect">
            <a:avLst/>
          </a:prstGeom>
        </p:spPr>
        <p:txBody>
          <a:bodyPr vert="horz" wrap="square" lIns="0" tIns="13335" rIns="0" bIns="0" rtlCol="0">
            <a:spAutoFit/>
          </a:bodyPr>
          <a:lstStyle/>
          <a:p>
            <a:pPr marL="354330" marR="5080" indent="-341630" algn="just">
              <a:lnSpc>
                <a:spcPct val="100000"/>
              </a:lnSpc>
              <a:spcBef>
                <a:spcPts val="105"/>
              </a:spcBef>
              <a:buFont typeface="Arial"/>
              <a:buChar char="•"/>
              <a:tabLst>
                <a:tab pos="355600" algn="l"/>
              </a:tabLst>
            </a:pPr>
            <a:r>
              <a:rPr sz="3200" dirty="0">
                <a:latin typeface="Times New Roman"/>
                <a:cs typeface="Times New Roman"/>
              </a:rPr>
              <a:t>Communication</a:t>
            </a:r>
            <a:r>
              <a:rPr sz="3200" spc="445" dirty="0">
                <a:latin typeface="Times New Roman"/>
                <a:cs typeface="Times New Roman"/>
              </a:rPr>
              <a:t>  </a:t>
            </a:r>
            <a:r>
              <a:rPr sz="3200" dirty="0">
                <a:latin typeface="Times New Roman"/>
                <a:cs typeface="Times New Roman"/>
              </a:rPr>
              <a:t>takes</a:t>
            </a:r>
            <a:r>
              <a:rPr sz="3200" spc="445" dirty="0">
                <a:latin typeface="Times New Roman"/>
                <a:cs typeface="Times New Roman"/>
              </a:rPr>
              <a:t>  </a:t>
            </a:r>
            <a:r>
              <a:rPr sz="3200" dirty="0">
                <a:latin typeface="Times New Roman"/>
                <a:cs typeface="Times New Roman"/>
              </a:rPr>
              <a:t>place</a:t>
            </a:r>
            <a:r>
              <a:rPr sz="3200" spc="445" dirty="0">
                <a:latin typeface="Times New Roman"/>
                <a:cs typeface="Times New Roman"/>
              </a:rPr>
              <a:t>  </a:t>
            </a:r>
            <a:r>
              <a:rPr sz="3200" dirty="0">
                <a:latin typeface="Times New Roman"/>
                <a:cs typeface="Times New Roman"/>
              </a:rPr>
              <a:t>by</a:t>
            </a:r>
            <a:r>
              <a:rPr sz="3200" spc="434" dirty="0">
                <a:latin typeface="Times New Roman"/>
                <a:cs typeface="Times New Roman"/>
              </a:rPr>
              <a:t>  </a:t>
            </a:r>
            <a:r>
              <a:rPr sz="3200" dirty="0">
                <a:latin typeface="Times New Roman"/>
                <a:cs typeface="Times New Roman"/>
              </a:rPr>
              <a:t>means</a:t>
            </a:r>
            <a:r>
              <a:rPr sz="3200" spc="450" dirty="0">
                <a:latin typeface="Times New Roman"/>
                <a:cs typeface="Times New Roman"/>
              </a:rPr>
              <a:t>  </a:t>
            </a:r>
            <a:r>
              <a:rPr sz="3200" spc="-25" dirty="0">
                <a:latin typeface="Times New Roman"/>
                <a:cs typeface="Times New Roman"/>
              </a:rPr>
              <a:t>of 	</a:t>
            </a:r>
            <a:r>
              <a:rPr sz="3200" dirty="0">
                <a:latin typeface="Times New Roman"/>
                <a:cs typeface="Times New Roman"/>
              </a:rPr>
              <a:t>messages</a:t>
            </a:r>
            <a:r>
              <a:rPr sz="3200" spc="400" dirty="0">
                <a:latin typeface="Times New Roman"/>
                <a:cs typeface="Times New Roman"/>
              </a:rPr>
              <a:t> </a:t>
            </a:r>
            <a:r>
              <a:rPr sz="3200" dirty="0">
                <a:latin typeface="Times New Roman"/>
                <a:cs typeface="Times New Roman"/>
              </a:rPr>
              <a:t>exchanged</a:t>
            </a:r>
            <a:r>
              <a:rPr sz="3200" spc="375" dirty="0">
                <a:latin typeface="Times New Roman"/>
                <a:cs typeface="Times New Roman"/>
              </a:rPr>
              <a:t> </a:t>
            </a:r>
            <a:r>
              <a:rPr sz="3200" dirty="0">
                <a:latin typeface="Times New Roman"/>
                <a:cs typeface="Times New Roman"/>
              </a:rPr>
              <a:t>between</a:t>
            </a:r>
            <a:r>
              <a:rPr sz="3200" spc="405" dirty="0">
                <a:latin typeface="Times New Roman"/>
                <a:cs typeface="Times New Roman"/>
              </a:rPr>
              <a:t> </a:t>
            </a:r>
            <a:r>
              <a:rPr sz="3200" dirty="0">
                <a:latin typeface="Times New Roman"/>
                <a:cs typeface="Times New Roman"/>
              </a:rPr>
              <a:t>the</a:t>
            </a:r>
            <a:r>
              <a:rPr sz="3200" spc="405" dirty="0">
                <a:latin typeface="Times New Roman"/>
                <a:cs typeface="Times New Roman"/>
              </a:rPr>
              <a:t> </a:t>
            </a:r>
            <a:r>
              <a:rPr sz="3200" spc="-10" dirty="0">
                <a:latin typeface="Times New Roman"/>
                <a:cs typeface="Times New Roman"/>
              </a:rPr>
              <a:t>cooperating 	processes.</a:t>
            </a:r>
            <a:endParaRPr sz="3200" dirty="0">
              <a:latin typeface="Times New Roman"/>
              <a:cs typeface="Times New Roman"/>
            </a:endParaRPr>
          </a:p>
          <a:p>
            <a:pPr marL="355600" marR="5080" indent="-342900" algn="just">
              <a:lnSpc>
                <a:spcPct val="100000"/>
              </a:lnSpc>
              <a:spcBef>
                <a:spcPts val="770"/>
              </a:spcBef>
              <a:buFont typeface="Arial"/>
              <a:buChar char="•"/>
              <a:tabLst>
                <a:tab pos="355600" algn="l"/>
              </a:tabLst>
            </a:pPr>
            <a:r>
              <a:rPr sz="3200" dirty="0">
                <a:latin typeface="Times New Roman"/>
                <a:cs typeface="Times New Roman"/>
              </a:rPr>
              <a:t>Message</a:t>
            </a:r>
            <a:r>
              <a:rPr sz="3200" spc="320" dirty="0">
                <a:latin typeface="Times New Roman"/>
                <a:cs typeface="Times New Roman"/>
              </a:rPr>
              <a:t>  </a:t>
            </a:r>
            <a:r>
              <a:rPr sz="3200" dirty="0">
                <a:latin typeface="Times New Roman"/>
                <a:cs typeface="Times New Roman"/>
              </a:rPr>
              <a:t>passing</a:t>
            </a:r>
            <a:r>
              <a:rPr sz="3200" spc="315" dirty="0">
                <a:latin typeface="Times New Roman"/>
                <a:cs typeface="Times New Roman"/>
              </a:rPr>
              <a:t>  </a:t>
            </a:r>
            <a:r>
              <a:rPr sz="3200" dirty="0">
                <a:latin typeface="Times New Roman"/>
                <a:cs typeface="Times New Roman"/>
              </a:rPr>
              <a:t>is</a:t>
            </a:r>
            <a:r>
              <a:rPr sz="3200" spc="320" dirty="0">
                <a:latin typeface="Times New Roman"/>
                <a:cs typeface="Times New Roman"/>
              </a:rPr>
              <a:t>  </a:t>
            </a:r>
            <a:r>
              <a:rPr sz="3200" dirty="0">
                <a:latin typeface="Times New Roman"/>
                <a:cs typeface="Times New Roman"/>
              </a:rPr>
              <a:t>useful</a:t>
            </a:r>
            <a:r>
              <a:rPr sz="3200" spc="315" dirty="0">
                <a:latin typeface="Times New Roman"/>
                <a:cs typeface="Times New Roman"/>
              </a:rPr>
              <a:t>  </a:t>
            </a:r>
            <a:r>
              <a:rPr sz="3200" dirty="0">
                <a:latin typeface="Times New Roman"/>
                <a:cs typeface="Times New Roman"/>
              </a:rPr>
              <a:t>for</a:t>
            </a:r>
            <a:r>
              <a:rPr sz="3200" spc="315" dirty="0">
                <a:latin typeface="Times New Roman"/>
                <a:cs typeface="Times New Roman"/>
              </a:rPr>
              <a:t>  </a:t>
            </a:r>
            <a:r>
              <a:rPr sz="3200" b="1" spc="-10" dirty="0">
                <a:solidFill>
                  <a:srgbClr val="00B050"/>
                </a:solidFill>
                <a:latin typeface="Times New Roman"/>
                <a:cs typeface="Times New Roman"/>
              </a:rPr>
              <a:t>exchanging</a:t>
            </a:r>
            <a:r>
              <a:rPr sz="3200" spc="-10" dirty="0">
                <a:latin typeface="Times New Roman"/>
                <a:cs typeface="Times New Roman"/>
              </a:rPr>
              <a:t> </a:t>
            </a:r>
            <a:r>
              <a:rPr sz="3200" i="1" dirty="0">
                <a:solidFill>
                  <a:srgbClr val="00B050"/>
                </a:solidFill>
                <a:latin typeface="Times New Roman"/>
                <a:cs typeface="Times New Roman"/>
              </a:rPr>
              <a:t>smaller</a:t>
            </a:r>
            <a:r>
              <a:rPr sz="3200" i="1" spc="355" dirty="0">
                <a:solidFill>
                  <a:srgbClr val="00B050"/>
                </a:solidFill>
                <a:latin typeface="Times New Roman"/>
                <a:cs typeface="Times New Roman"/>
              </a:rPr>
              <a:t> </a:t>
            </a:r>
            <a:r>
              <a:rPr sz="3200" i="1" dirty="0">
                <a:solidFill>
                  <a:srgbClr val="00B050"/>
                </a:solidFill>
                <a:latin typeface="Times New Roman"/>
                <a:cs typeface="Times New Roman"/>
              </a:rPr>
              <a:t>amounts</a:t>
            </a:r>
            <a:r>
              <a:rPr sz="3200" i="1" spc="365" dirty="0">
                <a:solidFill>
                  <a:srgbClr val="00B050"/>
                </a:solidFill>
                <a:latin typeface="Times New Roman"/>
                <a:cs typeface="Times New Roman"/>
              </a:rPr>
              <a:t> </a:t>
            </a:r>
            <a:r>
              <a:rPr sz="3200" dirty="0">
                <a:latin typeface="Times New Roman"/>
                <a:cs typeface="Times New Roman"/>
              </a:rPr>
              <a:t>of</a:t>
            </a:r>
            <a:r>
              <a:rPr sz="3200" spc="355" dirty="0">
                <a:latin typeface="Times New Roman"/>
                <a:cs typeface="Times New Roman"/>
              </a:rPr>
              <a:t> </a:t>
            </a:r>
            <a:r>
              <a:rPr sz="3200" dirty="0">
                <a:latin typeface="Times New Roman"/>
                <a:cs typeface="Times New Roman"/>
              </a:rPr>
              <a:t>data,</a:t>
            </a:r>
            <a:r>
              <a:rPr sz="3200" spc="355" dirty="0">
                <a:latin typeface="Times New Roman"/>
                <a:cs typeface="Times New Roman"/>
              </a:rPr>
              <a:t> </a:t>
            </a:r>
            <a:r>
              <a:rPr sz="3200" dirty="0">
                <a:latin typeface="Times New Roman"/>
                <a:cs typeface="Times New Roman"/>
              </a:rPr>
              <a:t>because</a:t>
            </a:r>
            <a:r>
              <a:rPr sz="3200" spc="355" dirty="0">
                <a:latin typeface="Times New Roman"/>
                <a:cs typeface="Times New Roman"/>
              </a:rPr>
              <a:t> </a:t>
            </a:r>
            <a:r>
              <a:rPr sz="3200" dirty="0">
                <a:latin typeface="Times New Roman"/>
                <a:cs typeface="Times New Roman"/>
              </a:rPr>
              <a:t>no</a:t>
            </a:r>
            <a:r>
              <a:rPr sz="3200" spc="360" dirty="0">
                <a:latin typeface="Times New Roman"/>
                <a:cs typeface="Times New Roman"/>
              </a:rPr>
              <a:t> </a:t>
            </a:r>
            <a:r>
              <a:rPr sz="3200" spc="-10" dirty="0">
                <a:latin typeface="Times New Roman"/>
                <a:cs typeface="Times New Roman"/>
              </a:rPr>
              <a:t>conflicts </a:t>
            </a:r>
            <a:r>
              <a:rPr sz="3200" dirty="0">
                <a:latin typeface="Times New Roman"/>
                <a:cs typeface="Times New Roman"/>
              </a:rPr>
              <a:t>need</a:t>
            </a:r>
            <a:r>
              <a:rPr sz="3200" spc="215" dirty="0">
                <a:latin typeface="Times New Roman"/>
                <a:cs typeface="Times New Roman"/>
              </a:rPr>
              <a:t>  </a:t>
            </a:r>
            <a:r>
              <a:rPr sz="3200" dirty="0">
                <a:latin typeface="Times New Roman"/>
                <a:cs typeface="Times New Roman"/>
              </a:rPr>
              <a:t>be</a:t>
            </a:r>
            <a:r>
              <a:rPr sz="3200" spc="220" dirty="0">
                <a:latin typeface="Times New Roman"/>
                <a:cs typeface="Times New Roman"/>
              </a:rPr>
              <a:t>  </a:t>
            </a:r>
            <a:r>
              <a:rPr sz="3200" dirty="0">
                <a:latin typeface="Times New Roman"/>
                <a:cs typeface="Times New Roman"/>
              </a:rPr>
              <a:t>avoided.</a:t>
            </a:r>
            <a:r>
              <a:rPr sz="3200" spc="229" dirty="0">
                <a:latin typeface="Times New Roman"/>
                <a:cs typeface="Times New Roman"/>
              </a:rPr>
              <a:t>  </a:t>
            </a:r>
            <a:r>
              <a:rPr sz="3200" dirty="0">
                <a:latin typeface="Times New Roman"/>
                <a:cs typeface="Times New Roman"/>
              </a:rPr>
              <a:t>Message</a:t>
            </a:r>
            <a:r>
              <a:rPr sz="3200" spc="225" dirty="0">
                <a:latin typeface="Times New Roman"/>
                <a:cs typeface="Times New Roman"/>
              </a:rPr>
              <a:t>  </a:t>
            </a:r>
            <a:r>
              <a:rPr sz="3200" dirty="0">
                <a:latin typeface="Times New Roman"/>
                <a:cs typeface="Times New Roman"/>
              </a:rPr>
              <a:t>passing</a:t>
            </a:r>
            <a:r>
              <a:rPr sz="3200" spc="225" dirty="0">
                <a:latin typeface="Times New Roman"/>
                <a:cs typeface="Times New Roman"/>
              </a:rPr>
              <a:t>  </a:t>
            </a:r>
            <a:r>
              <a:rPr sz="3200" dirty="0">
                <a:latin typeface="Times New Roman"/>
                <a:cs typeface="Times New Roman"/>
              </a:rPr>
              <a:t>is</a:t>
            </a:r>
            <a:r>
              <a:rPr sz="3200" spc="229" dirty="0">
                <a:latin typeface="Times New Roman"/>
                <a:cs typeface="Times New Roman"/>
              </a:rPr>
              <a:t>  </a:t>
            </a:r>
            <a:r>
              <a:rPr sz="3200" spc="-20" dirty="0">
                <a:latin typeface="Times New Roman"/>
                <a:cs typeface="Times New Roman"/>
              </a:rPr>
              <a:t>also </a:t>
            </a:r>
            <a:r>
              <a:rPr sz="3200" i="1" dirty="0">
                <a:solidFill>
                  <a:srgbClr val="00B050"/>
                </a:solidFill>
                <a:latin typeface="Times New Roman"/>
                <a:cs typeface="Times New Roman"/>
              </a:rPr>
              <a:t>easier</a:t>
            </a:r>
            <a:r>
              <a:rPr sz="3200" i="1" spc="645" dirty="0">
                <a:solidFill>
                  <a:srgbClr val="00B050"/>
                </a:solidFill>
                <a:latin typeface="Times New Roman"/>
                <a:cs typeface="Times New Roman"/>
              </a:rPr>
              <a:t> </a:t>
            </a:r>
            <a:r>
              <a:rPr sz="3200" i="1" dirty="0">
                <a:solidFill>
                  <a:srgbClr val="00B050"/>
                </a:solidFill>
                <a:latin typeface="Times New Roman"/>
                <a:cs typeface="Times New Roman"/>
              </a:rPr>
              <a:t>to</a:t>
            </a:r>
            <a:r>
              <a:rPr sz="3200" i="1" spc="640" dirty="0">
                <a:solidFill>
                  <a:srgbClr val="00B050"/>
                </a:solidFill>
                <a:latin typeface="Times New Roman"/>
                <a:cs typeface="Times New Roman"/>
              </a:rPr>
              <a:t> </a:t>
            </a:r>
            <a:r>
              <a:rPr sz="3200" i="1" dirty="0">
                <a:solidFill>
                  <a:srgbClr val="00B050"/>
                </a:solidFill>
                <a:latin typeface="Times New Roman"/>
                <a:cs typeface="Times New Roman"/>
              </a:rPr>
              <a:t>implement</a:t>
            </a:r>
            <a:r>
              <a:rPr sz="3200" i="1" spc="640" dirty="0">
                <a:solidFill>
                  <a:srgbClr val="00B050"/>
                </a:solidFill>
                <a:latin typeface="Times New Roman"/>
                <a:cs typeface="Times New Roman"/>
              </a:rPr>
              <a:t> </a:t>
            </a:r>
            <a:r>
              <a:rPr sz="3200" dirty="0">
                <a:latin typeface="Times New Roman"/>
                <a:cs typeface="Times New Roman"/>
              </a:rPr>
              <a:t>than</a:t>
            </a:r>
            <a:r>
              <a:rPr sz="3200" spc="640" dirty="0">
                <a:latin typeface="Times New Roman"/>
                <a:cs typeface="Times New Roman"/>
              </a:rPr>
              <a:t> </a:t>
            </a:r>
            <a:r>
              <a:rPr sz="3200" dirty="0">
                <a:latin typeface="Times New Roman"/>
                <a:cs typeface="Times New Roman"/>
              </a:rPr>
              <a:t>shared</a:t>
            </a:r>
            <a:r>
              <a:rPr sz="3200" spc="640" dirty="0">
                <a:latin typeface="Times New Roman"/>
                <a:cs typeface="Times New Roman"/>
              </a:rPr>
              <a:t> </a:t>
            </a:r>
            <a:r>
              <a:rPr sz="3200" dirty="0">
                <a:latin typeface="Times New Roman"/>
                <a:cs typeface="Times New Roman"/>
              </a:rPr>
              <a:t>memory</a:t>
            </a:r>
            <a:r>
              <a:rPr sz="3200" spc="630" dirty="0">
                <a:latin typeface="Times New Roman"/>
                <a:cs typeface="Times New Roman"/>
              </a:rPr>
              <a:t> </a:t>
            </a:r>
            <a:r>
              <a:rPr sz="3200" spc="-25" dirty="0">
                <a:latin typeface="Times New Roman"/>
                <a:cs typeface="Times New Roman"/>
              </a:rPr>
              <a:t>for </a:t>
            </a:r>
            <a:r>
              <a:rPr sz="3200" spc="-10" dirty="0">
                <a:latin typeface="Times New Roman"/>
                <a:cs typeface="Times New Roman"/>
              </a:rPr>
              <a:t>inter-</a:t>
            </a:r>
            <a:r>
              <a:rPr sz="3200" dirty="0">
                <a:latin typeface="Times New Roman"/>
                <a:cs typeface="Times New Roman"/>
              </a:rPr>
              <a:t>computer</a:t>
            </a:r>
            <a:r>
              <a:rPr sz="3200" spc="-60" dirty="0">
                <a:latin typeface="Times New Roman"/>
                <a:cs typeface="Times New Roman"/>
              </a:rPr>
              <a:t> </a:t>
            </a:r>
            <a:r>
              <a:rPr sz="3200" spc="-10" dirty="0">
                <a:latin typeface="Times New Roman"/>
                <a:cs typeface="Times New Roman"/>
              </a:rPr>
              <a:t>communication.</a:t>
            </a:r>
            <a:endParaRPr sz="3200" dirty="0">
              <a:latin typeface="Times New Roman"/>
              <a:cs typeface="Times New Roman"/>
            </a:endParaRP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13335" rIns="0" bIns="0" rtlCol="0">
            <a:spAutoFit/>
          </a:bodyPr>
          <a:lstStyle/>
          <a:p>
            <a:pPr marL="12700" algn="ctr">
              <a:spcBef>
                <a:spcPts val="105"/>
              </a:spcBef>
            </a:pPr>
            <a:r>
              <a:rPr dirty="0"/>
              <a:t>Shared Memory</a:t>
            </a:r>
          </a:p>
        </p:txBody>
      </p:sp>
      <p:sp>
        <p:nvSpPr>
          <p:cNvPr id="4" name="object 4"/>
          <p:cNvSpPr txBox="1">
            <a:spLocks noGrp="1"/>
          </p:cNvSpPr>
          <p:nvPr>
            <p:ph type="ftr" sz="quarter" idx="5"/>
          </p:nvPr>
        </p:nvSpPr>
        <p:spPr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12700">
              <a:lnSpc>
                <a:spcPts val="1240"/>
              </a:lnSpc>
            </a:pPr>
            <a:r>
              <a:rPr lang="pl-PL"/>
              <a:t>By Dr. Binod Kr. Adhikari</a:t>
            </a:r>
            <a:endParaRPr spc="-10" dirty="0"/>
          </a:p>
        </p:txBody>
      </p:sp>
      <p:sp>
        <p:nvSpPr>
          <p:cNvPr id="3" name="object 3"/>
          <p:cNvSpPr txBox="1"/>
          <p:nvPr/>
        </p:nvSpPr>
        <p:spPr>
          <a:xfrm>
            <a:off x="535940" y="1447800"/>
            <a:ext cx="8072755" cy="4376711"/>
          </a:xfrm>
          <a:prstGeom prst="rect">
            <a:avLst/>
          </a:prstGeom>
        </p:spPr>
        <p:txBody>
          <a:bodyPr vert="horz" wrap="square" lIns="0" tIns="59055" rIns="0" bIns="0" rtlCol="0">
            <a:spAutoFit/>
          </a:bodyPr>
          <a:lstStyle/>
          <a:p>
            <a:pPr marL="355600" marR="5080" indent="-342900" algn="just">
              <a:lnSpc>
                <a:spcPts val="2920"/>
              </a:lnSpc>
              <a:spcBef>
                <a:spcPts val="465"/>
              </a:spcBef>
              <a:buFont typeface="Arial"/>
              <a:buChar char="•"/>
              <a:tabLst>
                <a:tab pos="355600" algn="l"/>
              </a:tabLst>
            </a:pPr>
            <a:r>
              <a:rPr sz="2700" dirty="0">
                <a:latin typeface="Times New Roman"/>
                <a:cs typeface="Times New Roman"/>
              </a:rPr>
              <a:t>A</a:t>
            </a:r>
            <a:r>
              <a:rPr sz="2700" spc="10" dirty="0">
                <a:latin typeface="Times New Roman"/>
                <a:cs typeface="Times New Roman"/>
              </a:rPr>
              <a:t>  </a:t>
            </a:r>
            <a:r>
              <a:rPr sz="2700" dirty="0">
                <a:latin typeface="Times New Roman"/>
                <a:cs typeface="Times New Roman"/>
              </a:rPr>
              <a:t>region</a:t>
            </a:r>
            <a:r>
              <a:rPr sz="2700" spc="85" dirty="0">
                <a:latin typeface="Times New Roman"/>
                <a:cs typeface="Times New Roman"/>
              </a:rPr>
              <a:t>  </a:t>
            </a:r>
            <a:r>
              <a:rPr sz="2700" dirty="0">
                <a:latin typeface="Times New Roman"/>
                <a:cs typeface="Times New Roman"/>
              </a:rPr>
              <a:t>of</a:t>
            </a:r>
            <a:r>
              <a:rPr sz="2700" spc="90" dirty="0">
                <a:latin typeface="Times New Roman"/>
                <a:cs typeface="Times New Roman"/>
              </a:rPr>
              <a:t>  </a:t>
            </a:r>
            <a:r>
              <a:rPr sz="2700" dirty="0">
                <a:latin typeface="Times New Roman"/>
                <a:cs typeface="Times New Roman"/>
              </a:rPr>
              <a:t>memory</a:t>
            </a:r>
            <a:r>
              <a:rPr sz="2700" spc="95" dirty="0">
                <a:latin typeface="Times New Roman"/>
                <a:cs typeface="Times New Roman"/>
              </a:rPr>
              <a:t>  </a:t>
            </a:r>
            <a:r>
              <a:rPr sz="2700" dirty="0">
                <a:latin typeface="Times New Roman"/>
                <a:cs typeface="Times New Roman"/>
              </a:rPr>
              <a:t>that</a:t>
            </a:r>
            <a:r>
              <a:rPr sz="2700" spc="90" dirty="0">
                <a:latin typeface="Times New Roman"/>
                <a:cs typeface="Times New Roman"/>
              </a:rPr>
              <a:t>  </a:t>
            </a:r>
            <a:r>
              <a:rPr sz="2700" dirty="0">
                <a:latin typeface="Times New Roman"/>
                <a:cs typeface="Times New Roman"/>
              </a:rPr>
              <a:t>is</a:t>
            </a:r>
            <a:r>
              <a:rPr sz="2700" spc="90" dirty="0">
                <a:latin typeface="Times New Roman"/>
                <a:cs typeface="Times New Roman"/>
              </a:rPr>
              <a:t>  </a:t>
            </a:r>
            <a:r>
              <a:rPr sz="2700" dirty="0">
                <a:latin typeface="Times New Roman"/>
                <a:cs typeface="Times New Roman"/>
              </a:rPr>
              <a:t>shared</a:t>
            </a:r>
            <a:r>
              <a:rPr sz="2700" spc="90" dirty="0">
                <a:latin typeface="Times New Roman"/>
                <a:cs typeface="Times New Roman"/>
              </a:rPr>
              <a:t>  </a:t>
            </a:r>
            <a:r>
              <a:rPr sz="2700" dirty="0">
                <a:latin typeface="Times New Roman"/>
                <a:cs typeface="Times New Roman"/>
              </a:rPr>
              <a:t>by</a:t>
            </a:r>
            <a:r>
              <a:rPr sz="2700" spc="85" dirty="0">
                <a:latin typeface="Times New Roman"/>
                <a:cs typeface="Times New Roman"/>
              </a:rPr>
              <a:t>  </a:t>
            </a:r>
            <a:r>
              <a:rPr sz="2700" spc="-10" dirty="0">
                <a:latin typeface="Times New Roman"/>
                <a:cs typeface="Times New Roman"/>
              </a:rPr>
              <a:t>cooperating </a:t>
            </a:r>
            <a:r>
              <a:rPr sz="2700" dirty="0">
                <a:latin typeface="Times New Roman"/>
                <a:cs typeface="Times New Roman"/>
              </a:rPr>
              <a:t>processes</a:t>
            </a:r>
            <a:r>
              <a:rPr sz="2700" spc="375" dirty="0">
                <a:latin typeface="Times New Roman"/>
                <a:cs typeface="Times New Roman"/>
              </a:rPr>
              <a:t> </a:t>
            </a:r>
            <a:r>
              <a:rPr sz="2700" dirty="0">
                <a:latin typeface="Times New Roman"/>
                <a:cs typeface="Times New Roman"/>
              </a:rPr>
              <a:t>is</a:t>
            </a:r>
            <a:r>
              <a:rPr sz="2700" spc="380" dirty="0">
                <a:latin typeface="Times New Roman"/>
                <a:cs typeface="Times New Roman"/>
              </a:rPr>
              <a:t> </a:t>
            </a:r>
            <a:r>
              <a:rPr sz="2700" dirty="0">
                <a:latin typeface="Times New Roman"/>
                <a:cs typeface="Times New Roman"/>
              </a:rPr>
              <a:t>established.</a:t>
            </a:r>
            <a:r>
              <a:rPr sz="2700" spc="355" dirty="0">
                <a:latin typeface="Times New Roman"/>
                <a:cs typeface="Times New Roman"/>
              </a:rPr>
              <a:t> </a:t>
            </a:r>
            <a:endParaRPr lang="en-US" sz="2700" spc="355" dirty="0">
              <a:latin typeface="Times New Roman"/>
              <a:cs typeface="Times New Roman"/>
            </a:endParaRPr>
          </a:p>
          <a:p>
            <a:pPr marL="355600" marR="5080" indent="-342900" algn="just">
              <a:lnSpc>
                <a:spcPts val="2920"/>
              </a:lnSpc>
              <a:spcBef>
                <a:spcPts val="465"/>
              </a:spcBef>
              <a:buFont typeface="Arial"/>
              <a:buChar char="•"/>
              <a:tabLst>
                <a:tab pos="355600" algn="l"/>
              </a:tabLst>
            </a:pPr>
            <a:r>
              <a:rPr sz="2700" dirty="0">
                <a:latin typeface="Times New Roman"/>
                <a:cs typeface="Times New Roman"/>
              </a:rPr>
              <a:t>Processes</a:t>
            </a:r>
            <a:r>
              <a:rPr sz="2700" spc="385" dirty="0">
                <a:latin typeface="Times New Roman"/>
                <a:cs typeface="Times New Roman"/>
              </a:rPr>
              <a:t> </a:t>
            </a:r>
            <a:r>
              <a:rPr sz="2700" dirty="0">
                <a:latin typeface="Times New Roman"/>
                <a:cs typeface="Times New Roman"/>
              </a:rPr>
              <a:t>can</a:t>
            </a:r>
            <a:r>
              <a:rPr sz="2700" spc="380" dirty="0">
                <a:latin typeface="Times New Roman"/>
                <a:cs typeface="Times New Roman"/>
              </a:rPr>
              <a:t> </a:t>
            </a:r>
            <a:r>
              <a:rPr sz="2700" dirty="0">
                <a:latin typeface="Times New Roman"/>
                <a:cs typeface="Times New Roman"/>
              </a:rPr>
              <a:t>then</a:t>
            </a:r>
            <a:r>
              <a:rPr sz="2700" spc="390" dirty="0">
                <a:latin typeface="Times New Roman"/>
                <a:cs typeface="Times New Roman"/>
              </a:rPr>
              <a:t> </a:t>
            </a:r>
            <a:r>
              <a:rPr sz="2700" spc="-10" dirty="0">
                <a:latin typeface="Times New Roman"/>
                <a:cs typeface="Times New Roman"/>
              </a:rPr>
              <a:t>exchange </a:t>
            </a:r>
            <a:r>
              <a:rPr sz="2700" dirty="0">
                <a:latin typeface="Times New Roman"/>
                <a:cs typeface="Times New Roman"/>
              </a:rPr>
              <a:t>information</a:t>
            </a:r>
            <a:r>
              <a:rPr sz="2700" spc="345" dirty="0">
                <a:latin typeface="Times New Roman"/>
                <a:cs typeface="Times New Roman"/>
              </a:rPr>
              <a:t> </a:t>
            </a:r>
            <a:r>
              <a:rPr sz="2700" dirty="0">
                <a:latin typeface="Times New Roman"/>
                <a:cs typeface="Times New Roman"/>
              </a:rPr>
              <a:t>by</a:t>
            </a:r>
            <a:r>
              <a:rPr sz="2700" spc="350" dirty="0">
                <a:latin typeface="Times New Roman"/>
                <a:cs typeface="Times New Roman"/>
              </a:rPr>
              <a:t> </a:t>
            </a:r>
            <a:r>
              <a:rPr sz="2700" dirty="0">
                <a:latin typeface="Times New Roman"/>
                <a:cs typeface="Times New Roman"/>
              </a:rPr>
              <a:t>reading</a:t>
            </a:r>
            <a:r>
              <a:rPr sz="2700" spc="350" dirty="0">
                <a:latin typeface="Times New Roman"/>
                <a:cs typeface="Times New Roman"/>
              </a:rPr>
              <a:t> </a:t>
            </a:r>
            <a:r>
              <a:rPr sz="2700" dirty="0">
                <a:latin typeface="Times New Roman"/>
                <a:cs typeface="Times New Roman"/>
              </a:rPr>
              <a:t>and</a:t>
            </a:r>
            <a:r>
              <a:rPr sz="2700" spc="345" dirty="0">
                <a:latin typeface="Times New Roman"/>
                <a:cs typeface="Times New Roman"/>
              </a:rPr>
              <a:t> </a:t>
            </a:r>
            <a:r>
              <a:rPr sz="2700" dirty="0">
                <a:latin typeface="Times New Roman"/>
                <a:cs typeface="Times New Roman"/>
              </a:rPr>
              <a:t>writing</a:t>
            </a:r>
            <a:r>
              <a:rPr sz="2700" spc="345" dirty="0">
                <a:latin typeface="Times New Roman"/>
                <a:cs typeface="Times New Roman"/>
              </a:rPr>
              <a:t> </a:t>
            </a:r>
            <a:r>
              <a:rPr sz="2700" dirty="0">
                <a:latin typeface="Times New Roman"/>
                <a:cs typeface="Times New Roman"/>
              </a:rPr>
              <a:t>data</a:t>
            </a:r>
            <a:r>
              <a:rPr sz="2700" spc="330" dirty="0">
                <a:latin typeface="Times New Roman"/>
                <a:cs typeface="Times New Roman"/>
              </a:rPr>
              <a:t> </a:t>
            </a:r>
            <a:r>
              <a:rPr sz="2700" dirty="0">
                <a:latin typeface="Times New Roman"/>
                <a:cs typeface="Times New Roman"/>
              </a:rPr>
              <a:t>to</a:t>
            </a:r>
            <a:r>
              <a:rPr sz="2700" spc="350" dirty="0">
                <a:latin typeface="Times New Roman"/>
                <a:cs typeface="Times New Roman"/>
              </a:rPr>
              <a:t> </a:t>
            </a:r>
            <a:r>
              <a:rPr sz="2700" dirty="0">
                <a:latin typeface="Times New Roman"/>
                <a:cs typeface="Times New Roman"/>
              </a:rPr>
              <a:t>the</a:t>
            </a:r>
            <a:r>
              <a:rPr sz="2700" spc="340" dirty="0">
                <a:latin typeface="Times New Roman"/>
                <a:cs typeface="Times New Roman"/>
              </a:rPr>
              <a:t> </a:t>
            </a:r>
            <a:r>
              <a:rPr sz="2700" spc="-10" dirty="0">
                <a:latin typeface="Times New Roman"/>
                <a:cs typeface="Times New Roman"/>
              </a:rPr>
              <a:t>shared region.</a:t>
            </a:r>
            <a:endParaRPr sz="2700" dirty="0">
              <a:latin typeface="Times New Roman"/>
              <a:cs typeface="Times New Roman"/>
            </a:endParaRPr>
          </a:p>
          <a:p>
            <a:pPr marL="355600" marR="5715" indent="-342900" algn="just">
              <a:lnSpc>
                <a:spcPts val="2920"/>
              </a:lnSpc>
              <a:spcBef>
                <a:spcPts val="635"/>
              </a:spcBef>
              <a:buFont typeface="Arial"/>
              <a:buChar char="•"/>
              <a:tabLst>
                <a:tab pos="355600" algn="l"/>
              </a:tabLst>
            </a:pPr>
            <a:r>
              <a:rPr sz="2700" dirty="0">
                <a:latin typeface="Times New Roman"/>
                <a:cs typeface="Times New Roman"/>
              </a:rPr>
              <a:t>Shared</a:t>
            </a:r>
            <a:r>
              <a:rPr sz="2700" spc="370" dirty="0">
                <a:latin typeface="Times New Roman"/>
                <a:cs typeface="Times New Roman"/>
              </a:rPr>
              <a:t>   </a:t>
            </a:r>
            <a:r>
              <a:rPr sz="2700" dirty="0">
                <a:latin typeface="Times New Roman"/>
                <a:cs typeface="Times New Roman"/>
              </a:rPr>
              <a:t>memory</a:t>
            </a:r>
            <a:r>
              <a:rPr sz="2700" spc="385" dirty="0">
                <a:latin typeface="Times New Roman"/>
                <a:cs typeface="Times New Roman"/>
              </a:rPr>
              <a:t>   </a:t>
            </a:r>
            <a:r>
              <a:rPr sz="2700" dirty="0">
                <a:latin typeface="Times New Roman"/>
                <a:cs typeface="Times New Roman"/>
              </a:rPr>
              <a:t>allows</a:t>
            </a:r>
            <a:r>
              <a:rPr sz="2700" spc="380" dirty="0">
                <a:latin typeface="Times New Roman"/>
                <a:cs typeface="Times New Roman"/>
              </a:rPr>
              <a:t>   </a:t>
            </a:r>
            <a:r>
              <a:rPr sz="2700" dirty="0">
                <a:solidFill>
                  <a:srgbClr val="00B050"/>
                </a:solidFill>
                <a:latin typeface="Times New Roman"/>
                <a:cs typeface="Times New Roman"/>
              </a:rPr>
              <a:t>maximum</a:t>
            </a:r>
            <a:r>
              <a:rPr sz="2700" spc="380" dirty="0">
                <a:solidFill>
                  <a:srgbClr val="00B050"/>
                </a:solidFill>
                <a:latin typeface="Times New Roman"/>
                <a:cs typeface="Times New Roman"/>
              </a:rPr>
              <a:t>   </a:t>
            </a:r>
            <a:r>
              <a:rPr sz="2700" dirty="0">
                <a:solidFill>
                  <a:srgbClr val="00B050"/>
                </a:solidFill>
                <a:latin typeface="Times New Roman"/>
                <a:cs typeface="Times New Roman"/>
              </a:rPr>
              <a:t>speed</a:t>
            </a:r>
            <a:r>
              <a:rPr sz="2700" spc="375" dirty="0">
                <a:solidFill>
                  <a:srgbClr val="00B050"/>
                </a:solidFill>
                <a:latin typeface="Times New Roman"/>
                <a:cs typeface="Times New Roman"/>
              </a:rPr>
              <a:t>   </a:t>
            </a:r>
            <a:r>
              <a:rPr sz="2700" spc="-25" dirty="0">
                <a:latin typeface="Times New Roman"/>
                <a:cs typeface="Times New Roman"/>
              </a:rPr>
              <a:t>and </a:t>
            </a:r>
            <a:r>
              <a:rPr sz="2700" dirty="0">
                <a:latin typeface="Times New Roman"/>
                <a:cs typeface="Times New Roman"/>
              </a:rPr>
              <a:t>convenience</a:t>
            </a:r>
            <a:r>
              <a:rPr sz="2700" spc="535" dirty="0">
                <a:latin typeface="Times New Roman"/>
                <a:cs typeface="Times New Roman"/>
              </a:rPr>
              <a:t> </a:t>
            </a:r>
            <a:r>
              <a:rPr sz="2700" dirty="0">
                <a:latin typeface="Times New Roman"/>
                <a:cs typeface="Times New Roman"/>
              </a:rPr>
              <a:t>of</a:t>
            </a:r>
            <a:r>
              <a:rPr sz="2700" spc="530" dirty="0">
                <a:latin typeface="Times New Roman"/>
                <a:cs typeface="Times New Roman"/>
              </a:rPr>
              <a:t> </a:t>
            </a:r>
            <a:r>
              <a:rPr sz="2700" dirty="0">
                <a:latin typeface="Times New Roman"/>
                <a:cs typeface="Times New Roman"/>
              </a:rPr>
              <a:t>communication,</a:t>
            </a:r>
            <a:r>
              <a:rPr sz="2700" spc="535" dirty="0">
                <a:latin typeface="Times New Roman"/>
                <a:cs typeface="Times New Roman"/>
              </a:rPr>
              <a:t> </a:t>
            </a:r>
            <a:r>
              <a:rPr sz="2700" dirty="0">
                <a:latin typeface="Times New Roman"/>
                <a:cs typeface="Times New Roman"/>
              </a:rPr>
              <a:t>as</a:t>
            </a:r>
            <a:r>
              <a:rPr sz="2700" spc="545" dirty="0">
                <a:latin typeface="Times New Roman"/>
                <a:cs typeface="Times New Roman"/>
              </a:rPr>
              <a:t> </a:t>
            </a:r>
            <a:r>
              <a:rPr sz="2700" dirty="0">
                <a:latin typeface="Times New Roman"/>
                <a:cs typeface="Times New Roman"/>
              </a:rPr>
              <a:t>it</a:t>
            </a:r>
            <a:r>
              <a:rPr sz="2700" spc="545" dirty="0">
                <a:latin typeface="Times New Roman"/>
                <a:cs typeface="Times New Roman"/>
              </a:rPr>
              <a:t> </a:t>
            </a:r>
            <a:r>
              <a:rPr sz="2700" dirty="0">
                <a:latin typeface="Times New Roman"/>
                <a:cs typeface="Times New Roman"/>
              </a:rPr>
              <a:t>can</a:t>
            </a:r>
            <a:r>
              <a:rPr sz="2700" spc="535" dirty="0">
                <a:latin typeface="Times New Roman"/>
                <a:cs typeface="Times New Roman"/>
              </a:rPr>
              <a:t> </a:t>
            </a:r>
            <a:r>
              <a:rPr sz="2700" dirty="0">
                <a:latin typeface="Times New Roman"/>
                <a:cs typeface="Times New Roman"/>
              </a:rPr>
              <a:t>be</a:t>
            </a:r>
            <a:r>
              <a:rPr sz="2700" spc="540" dirty="0">
                <a:latin typeface="Times New Roman"/>
                <a:cs typeface="Times New Roman"/>
              </a:rPr>
              <a:t> </a:t>
            </a:r>
            <a:r>
              <a:rPr sz="2700" dirty="0">
                <a:latin typeface="Times New Roman"/>
                <a:cs typeface="Times New Roman"/>
              </a:rPr>
              <a:t>done</a:t>
            </a:r>
            <a:r>
              <a:rPr sz="2700" spc="535" dirty="0">
                <a:latin typeface="Times New Roman"/>
                <a:cs typeface="Times New Roman"/>
              </a:rPr>
              <a:t> </a:t>
            </a:r>
            <a:r>
              <a:rPr sz="2700" spc="-25" dirty="0">
                <a:latin typeface="Times New Roman"/>
                <a:cs typeface="Times New Roman"/>
              </a:rPr>
              <a:t>at </a:t>
            </a:r>
            <a:r>
              <a:rPr sz="2700" dirty="0">
                <a:latin typeface="Times New Roman"/>
                <a:cs typeface="Times New Roman"/>
              </a:rPr>
              <a:t>memory</a:t>
            </a:r>
            <a:r>
              <a:rPr sz="2700" spc="-30" dirty="0">
                <a:latin typeface="Times New Roman"/>
                <a:cs typeface="Times New Roman"/>
              </a:rPr>
              <a:t> </a:t>
            </a:r>
            <a:r>
              <a:rPr sz="2700" dirty="0">
                <a:latin typeface="Times New Roman"/>
                <a:cs typeface="Times New Roman"/>
              </a:rPr>
              <a:t>speeds</a:t>
            </a:r>
            <a:r>
              <a:rPr sz="2700" spc="-40" dirty="0">
                <a:latin typeface="Times New Roman"/>
                <a:cs typeface="Times New Roman"/>
              </a:rPr>
              <a:t> </a:t>
            </a:r>
            <a:r>
              <a:rPr sz="2700" dirty="0">
                <a:latin typeface="Times New Roman"/>
                <a:cs typeface="Times New Roman"/>
              </a:rPr>
              <a:t>when</a:t>
            </a:r>
            <a:r>
              <a:rPr sz="2700" spc="-50" dirty="0">
                <a:latin typeface="Times New Roman"/>
                <a:cs typeface="Times New Roman"/>
              </a:rPr>
              <a:t> </a:t>
            </a:r>
            <a:r>
              <a:rPr sz="2700" dirty="0">
                <a:latin typeface="Times New Roman"/>
                <a:cs typeface="Times New Roman"/>
              </a:rPr>
              <a:t>within</a:t>
            </a:r>
            <a:r>
              <a:rPr sz="2700" spc="-35" dirty="0">
                <a:latin typeface="Times New Roman"/>
                <a:cs typeface="Times New Roman"/>
              </a:rPr>
              <a:t> </a:t>
            </a:r>
            <a:r>
              <a:rPr sz="2700" dirty="0">
                <a:latin typeface="Times New Roman"/>
                <a:cs typeface="Times New Roman"/>
              </a:rPr>
              <a:t>a</a:t>
            </a:r>
            <a:r>
              <a:rPr sz="2700" spc="-40" dirty="0">
                <a:latin typeface="Times New Roman"/>
                <a:cs typeface="Times New Roman"/>
              </a:rPr>
              <a:t> </a:t>
            </a:r>
            <a:r>
              <a:rPr sz="2700" spc="-10" dirty="0">
                <a:latin typeface="Times New Roman"/>
                <a:cs typeface="Times New Roman"/>
              </a:rPr>
              <a:t>computer.</a:t>
            </a:r>
            <a:endParaRPr sz="2700" dirty="0">
              <a:latin typeface="Times New Roman"/>
              <a:cs typeface="Times New Roman"/>
            </a:endParaRPr>
          </a:p>
          <a:p>
            <a:pPr marL="355600" marR="5080" indent="-342900" algn="just">
              <a:lnSpc>
                <a:spcPct val="90000"/>
              </a:lnSpc>
              <a:spcBef>
                <a:spcPts val="600"/>
              </a:spcBef>
              <a:buFont typeface="Arial"/>
              <a:buChar char="•"/>
              <a:tabLst>
                <a:tab pos="355600" algn="l"/>
              </a:tabLst>
            </a:pPr>
            <a:r>
              <a:rPr sz="2700" dirty="0">
                <a:latin typeface="Times New Roman"/>
                <a:cs typeface="Times New Roman"/>
              </a:rPr>
              <a:t>Shared</a:t>
            </a:r>
            <a:r>
              <a:rPr sz="2700" spc="125" dirty="0">
                <a:latin typeface="Times New Roman"/>
                <a:cs typeface="Times New Roman"/>
              </a:rPr>
              <a:t>  </a:t>
            </a:r>
            <a:r>
              <a:rPr sz="2700" dirty="0">
                <a:latin typeface="Times New Roman"/>
                <a:cs typeface="Times New Roman"/>
              </a:rPr>
              <a:t>memory</a:t>
            </a:r>
            <a:r>
              <a:rPr sz="2700" spc="130" dirty="0">
                <a:latin typeface="Times New Roman"/>
                <a:cs typeface="Times New Roman"/>
              </a:rPr>
              <a:t>  </a:t>
            </a:r>
            <a:r>
              <a:rPr sz="2700" dirty="0">
                <a:latin typeface="Times New Roman"/>
                <a:cs typeface="Times New Roman"/>
              </a:rPr>
              <a:t>is</a:t>
            </a:r>
            <a:r>
              <a:rPr sz="2700" spc="120" dirty="0">
                <a:latin typeface="Times New Roman"/>
                <a:cs typeface="Times New Roman"/>
              </a:rPr>
              <a:t>  </a:t>
            </a:r>
            <a:r>
              <a:rPr sz="2700" dirty="0">
                <a:latin typeface="Times New Roman"/>
                <a:cs typeface="Times New Roman"/>
              </a:rPr>
              <a:t>faster</a:t>
            </a:r>
            <a:r>
              <a:rPr sz="2700" spc="125" dirty="0">
                <a:latin typeface="Times New Roman"/>
                <a:cs typeface="Times New Roman"/>
              </a:rPr>
              <a:t>  </a:t>
            </a:r>
            <a:r>
              <a:rPr sz="2700" dirty="0">
                <a:latin typeface="Times New Roman"/>
                <a:cs typeface="Times New Roman"/>
              </a:rPr>
              <a:t>than</a:t>
            </a:r>
            <a:r>
              <a:rPr sz="2700" spc="130" dirty="0">
                <a:latin typeface="Times New Roman"/>
                <a:cs typeface="Times New Roman"/>
              </a:rPr>
              <a:t>  </a:t>
            </a:r>
            <a:r>
              <a:rPr sz="2700" dirty="0">
                <a:latin typeface="Times New Roman"/>
                <a:cs typeface="Times New Roman"/>
              </a:rPr>
              <a:t>message</a:t>
            </a:r>
            <a:r>
              <a:rPr sz="2700" spc="125" dirty="0">
                <a:latin typeface="Times New Roman"/>
                <a:cs typeface="Times New Roman"/>
              </a:rPr>
              <a:t>  </a:t>
            </a:r>
            <a:r>
              <a:rPr sz="2700" dirty="0">
                <a:latin typeface="Times New Roman"/>
                <a:cs typeface="Times New Roman"/>
              </a:rPr>
              <a:t>passing,</a:t>
            </a:r>
            <a:r>
              <a:rPr sz="2700" spc="120" dirty="0">
                <a:latin typeface="Times New Roman"/>
                <a:cs typeface="Times New Roman"/>
              </a:rPr>
              <a:t>  </a:t>
            </a:r>
            <a:r>
              <a:rPr sz="2700" spc="-25" dirty="0">
                <a:latin typeface="Times New Roman"/>
                <a:cs typeface="Times New Roman"/>
              </a:rPr>
              <a:t>as </a:t>
            </a:r>
            <a:r>
              <a:rPr sz="2700" spc="-20" dirty="0">
                <a:latin typeface="Times New Roman"/>
                <a:cs typeface="Times New Roman"/>
              </a:rPr>
              <a:t>message-</a:t>
            </a:r>
            <a:r>
              <a:rPr sz="2700" dirty="0">
                <a:latin typeface="Times New Roman"/>
                <a:cs typeface="Times New Roman"/>
              </a:rPr>
              <a:t>passing</a:t>
            </a:r>
            <a:r>
              <a:rPr sz="2700" spc="210" dirty="0">
                <a:latin typeface="Times New Roman"/>
                <a:cs typeface="Times New Roman"/>
              </a:rPr>
              <a:t>  </a:t>
            </a:r>
            <a:r>
              <a:rPr sz="2700" dirty="0">
                <a:latin typeface="Times New Roman"/>
                <a:cs typeface="Times New Roman"/>
              </a:rPr>
              <a:t>systems</a:t>
            </a:r>
            <a:r>
              <a:rPr sz="2700" spc="210" dirty="0">
                <a:latin typeface="Times New Roman"/>
                <a:cs typeface="Times New Roman"/>
              </a:rPr>
              <a:t>  </a:t>
            </a:r>
            <a:r>
              <a:rPr sz="2700" dirty="0">
                <a:latin typeface="Times New Roman"/>
                <a:cs typeface="Times New Roman"/>
              </a:rPr>
              <a:t>are</a:t>
            </a:r>
            <a:r>
              <a:rPr sz="2700" spc="215" dirty="0">
                <a:latin typeface="Times New Roman"/>
                <a:cs typeface="Times New Roman"/>
              </a:rPr>
              <a:t>  </a:t>
            </a:r>
            <a:r>
              <a:rPr sz="2700" dirty="0">
                <a:latin typeface="Times New Roman"/>
                <a:cs typeface="Times New Roman"/>
              </a:rPr>
              <a:t>typically</a:t>
            </a:r>
            <a:r>
              <a:rPr sz="2700" spc="210" dirty="0">
                <a:latin typeface="Times New Roman"/>
                <a:cs typeface="Times New Roman"/>
              </a:rPr>
              <a:t>  </a:t>
            </a:r>
            <a:r>
              <a:rPr sz="2700" spc="-10" dirty="0">
                <a:latin typeface="Times New Roman"/>
                <a:cs typeface="Times New Roman"/>
              </a:rPr>
              <a:t>implemented </a:t>
            </a:r>
            <a:r>
              <a:rPr sz="2700" dirty="0">
                <a:latin typeface="Times New Roman"/>
                <a:cs typeface="Times New Roman"/>
              </a:rPr>
              <a:t>using</a:t>
            </a:r>
            <a:r>
              <a:rPr sz="2700" spc="45" dirty="0">
                <a:latin typeface="Times New Roman"/>
                <a:cs typeface="Times New Roman"/>
              </a:rPr>
              <a:t>  </a:t>
            </a:r>
            <a:r>
              <a:rPr sz="2700" dirty="0">
                <a:solidFill>
                  <a:srgbClr val="FF0000"/>
                </a:solidFill>
                <a:latin typeface="Times New Roman"/>
                <a:cs typeface="Times New Roman"/>
              </a:rPr>
              <a:t>system</a:t>
            </a:r>
            <a:r>
              <a:rPr sz="2700" spc="30" dirty="0">
                <a:solidFill>
                  <a:srgbClr val="FF0000"/>
                </a:solidFill>
                <a:latin typeface="Times New Roman"/>
                <a:cs typeface="Times New Roman"/>
              </a:rPr>
              <a:t>  </a:t>
            </a:r>
            <a:r>
              <a:rPr sz="2700" dirty="0">
                <a:solidFill>
                  <a:srgbClr val="FF0000"/>
                </a:solidFill>
                <a:latin typeface="Times New Roman"/>
                <a:cs typeface="Times New Roman"/>
              </a:rPr>
              <a:t>calls</a:t>
            </a:r>
            <a:r>
              <a:rPr sz="2700" spc="50" dirty="0">
                <a:solidFill>
                  <a:srgbClr val="FF0000"/>
                </a:solidFill>
                <a:latin typeface="Times New Roman"/>
                <a:cs typeface="Times New Roman"/>
              </a:rPr>
              <a:t>  </a:t>
            </a:r>
            <a:r>
              <a:rPr sz="2700" dirty="0">
                <a:latin typeface="Times New Roman"/>
                <a:cs typeface="Times New Roman"/>
              </a:rPr>
              <a:t>and</a:t>
            </a:r>
            <a:r>
              <a:rPr sz="2700" spc="45" dirty="0">
                <a:latin typeface="Times New Roman"/>
                <a:cs typeface="Times New Roman"/>
              </a:rPr>
              <a:t>  </a:t>
            </a:r>
            <a:r>
              <a:rPr sz="2700" dirty="0">
                <a:latin typeface="Times New Roman"/>
                <a:cs typeface="Times New Roman"/>
              </a:rPr>
              <a:t>thus</a:t>
            </a:r>
            <a:r>
              <a:rPr sz="2700" spc="45" dirty="0">
                <a:latin typeface="Times New Roman"/>
                <a:cs typeface="Times New Roman"/>
              </a:rPr>
              <a:t>  </a:t>
            </a:r>
            <a:r>
              <a:rPr sz="2700" dirty="0">
                <a:latin typeface="Times New Roman"/>
                <a:cs typeface="Times New Roman"/>
              </a:rPr>
              <a:t>require</a:t>
            </a:r>
            <a:r>
              <a:rPr sz="2700" spc="40" dirty="0">
                <a:latin typeface="Times New Roman"/>
                <a:cs typeface="Times New Roman"/>
              </a:rPr>
              <a:t>  </a:t>
            </a:r>
            <a:r>
              <a:rPr sz="2700" dirty="0">
                <a:latin typeface="Times New Roman"/>
                <a:cs typeface="Times New Roman"/>
              </a:rPr>
              <a:t>the</a:t>
            </a:r>
            <a:r>
              <a:rPr sz="2700" spc="40" dirty="0">
                <a:latin typeface="Times New Roman"/>
                <a:cs typeface="Times New Roman"/>
              </a:rPr>
              <a:t>  </a:t>
            </a:r>
            <a:r>
              <a:rPr sz="2700" dirty="0">
                <a:solidFill>
                  <a:srgbClr val="FF0000"/>
                </a:solidFill>
                <a:latin typeface="Times New Roman"/>
                <a:cs typeface="Times New Roman"/>
              </a:rPr>
              <a:t>more</a:t>
            </a:r>
            <a:r>
              <a:rPr sz="2700" spc="45" dirty="0">
                <a:solidFill>
                  <a:srgbClr val="FF0000"/>
                </a:solidFill>
                <a:latin typeface="Times New Roman"/>
                <a:cs typeface="Times New Roman"/>
              </a:rPr>
              <a:t>  </a:t>
            </a:r>
            <a:r>
              <a:rPr sz="2700" spc="-10" dirty="0">
                <a:solidFill>
                  <a:srgbClr val="FF0000"/>
                </a:solidFill>
                <a:latin typeface="Times New Roman"/>
                <a:cs typeface="Times New Roman"/>
              </a:rPr>
              <a:t>time- </a:t>
            </a:r>
            <a:r>
              <a:rPr sz="2700" dirty="0">
                <a:solidFill>
                  <a:srgbClr val="FF0000"/>
                </a:solidFill>
                <a:latin typeface="Times New Roman"/>
                <a:cs typeface="Times New Roman"/>
              </a:rPr>
              <a:t>consuming</a:t>
            </a:r>
            <a:r>
              <a:rPr sz="2700" spc="-40" dirty="0">
                <a:solidFill>
                  <a:srgbClr val="FF0000"/>
                </a:solidFill>
                <a:latin typeface="Times New Roman"/>
                <a:cs typeface="Times New Roman"/>
              </a:rPr>
              <a:t> </a:t>
            </a:r>
            <a:r>
              <a:rPr sz="2700" dirty="0">
                <a:solidFill>
                  <a:srgbClr val="FF0000"/>
                </a:solidFill>
                <a:latin typeface="Times New Roman"/>
                <a:cs typeface="Times New Roman"/>
              </a:rPr>
              <a:t>task</a:t>
            </a:r>
            <a:r>
              <a:rPr sz="2700" spc="-5" dirty="0">
                <a:latin typeface="Times New Roman"/>
                <a:cs typeface="Times New Roman"/>
              </a:rPr>
              <a:t> </a:t>
            </a:r>
            <a:r>
              <a:rPr sz="2700" dirty="0">
                <a:latin typeface="Times New Roman"/>
                <a:cs typeface="Times New Roman"/>
              </a:rPr>
              <a:t>of</a:t>
            </a:r>
            <a:r>
              <a:rPr sz="2700" spc="-15" dirty="0">
                <a:latin typeface="Times New Roman"/>
                <a:cs typeface="Times New Roman"/>
              </a:rPr>
              <a:t> </a:t>
            </a:r>
            <a:r>
              <a:rPr sz="2700" dirty="0">
                <a:latin typeface="Times New Roman"/>
                <a:cs typeface="Times New Roman"/>
              </a:rPr>
              <a:t>kernel</a:t>
            </a:r>
            <a:r>
              <a:rPr sz="2700" spc="-10" dirty="0">
                <a:latin typeface="Times New Roman"/>
                <a:cs typeface="Times New Roman"/>
              </a:rPr>
              <a:t> intervention.</a:t>
            </a:r>
            <a:endParaRPr sz="2700" dirty="0">
              <a:latin typeface="Times New Roman"/>
              <a:cs typeface="Times New Roman"/>
            </a:endParaRP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xfrm>
            <a:off x="381000" y="228600"/>
            <a:ext cx="8534400" cy="629018"/>
          </a:xfrm>
          <a:prstGeom prst="rect">
            <a:avLst/>
          </a:prstGeom>
        </p:spPr>
        <p:txBody>
          <a:bodyPr vert="horz" wrap="square" lIns="0" tIns="13335" rIns="0" bIns="0" rtlCol="0">
            <a:spAutoFit/>
          </a:bodyPr>
          <a:lstStyle/>
          <a:p>
            <a:pPr marL="12700" algn="ctr">
              <a:spcBef>
                <a:spcPts val="105"/>
              </a:spcBef>
            </a:pPr>
            <a:r>
              <a:rPr sz="4000" dirty="0"/>
              <a:t>Massage passing Vs Sharing Memory</a:t>
            </a:r>
          </a:p>
        </p:txBody>
      </p:sp>
      <p:sp>
        <p:nvSpPr>
          <p:cNvPr id="3" name="object 3"/>
          <p:cNvSpPr txBox="1">
            <a:spLocks noGrp="1"/>
          </p:cNvSpPr>
          <p:nvPr>
            <p:ph type="body" idx="1"/>
          </p:nvPr>
        </p:nvSpPr>
        <p:spPr>
          <a:xfrm>
            <a:off x="737108" y="1610690"/>
            <a:ext cx="7669783" cy="2662266"/>
          </a:xfrm>
          <a:prstGeom prst="rect">
            <a:avLst/>
          </a:prstGeom>
        </p:spPr>
        <p:txBody>
          <a:bodyPr vert="horz" wrap="square" lIns="0" tIns="76199" rIns="0" bIns="0" rtlCol="0">
            <a:spAutoFit/>
          </a:bodyPr>
          <a:lstStyle/>
          <a:p>
            <a:pPr marL="354330" marR="5080" indent="-341630" algn="just">
              <a:lnSpc>
                <a:spcPct val="100000"/>
              </a:lnSpc>
              <a:spcBef>
                <a:spcPts val="105"/>
              </a:spcBef>
              <a:buFont typeface="Arial"/>
              <a:buChar char="•"/>
              <a:tabLst>
                <a:tab pos="355600" algn="l"/>
              </a:tabLst>
            </a:pPr>
            <a:r>
              <a:rPr b="1" dirty="0">
                <a:latin typeface="Times New Roman"/>
                <a:cs typeface="Times New Roman"/>
              </a:rPr>
              <a:t>In</a:t>
            </a:r>
            <a:r>
              <a:rPr b="1" spc="705" dirty="0">
                <a:latin typeface="Times New Roman"/>
                <a:cs typeface="Times New Roman"/>
              </a:rPr>
              <a:t>  </a:t>
            </a:r>
            <a:r>
              <a:rPr b="1" dirty="0">
                <a:latin typeface="Times New Roman"/>
                <a:cs typeface="Times New Roman"/>
              </a:rPr>
              <a:t>contrast</a:t>
            </a:r>
            <a:r>
              <a:rPr dirty="0">
                <a:latin typeface="Times New Roman"/>
                <a:cs typeface="Times New Roman"/>
              </a:rPr>
              <a:t>,</a:t>
            </a:r>
            <a:r>
              <a:rPr spc="710" dirty="0">
                <a:latin typeface="Times New Roman"/>
                <a:cs typeface="Times New Roman"/>
              </a:rPr>
              <a:t>  </a:t>
            </a:r>
            <a:r>
              <a:rPr dirty="0">
                <a:latin typeface="Times New Roman"/>
                <a:cs typeface="Times New Roman"/>
              </a:rPr>
              <a:t>in</a:t>
            </a:r>
            <a:r>
              <a:rPr spc="705" dirty="0">
                <a:latin typeface="Times New Roman"/>
                <a:cs typeface="Times New Roman"/>
              </a:rPr>
              <a:t>  </a:t>
            </a:r>
            <a:r>
              <a:rPr spc="-10" dirty="0">
                <a:latin typeface="Times New Roman"/>
                <a:cs typeface="Times New Roman"/>
              </a:rPr>
              <a:t>shared-</a:t>
            </a:r>
            <a:r>
              <a:rPr dirty="0">
                <a:latin typeface="Times New Roman"/>
                <a:cs typeface="Times New Roman"/>
              </a:rPr>
              <a:t>memory</a:t>
            </a:r>
            <a:r>
              <a:rPr spc="700" dirty="0">
                <a:latin typeface="Times New Roman"/>
                <a:cs typeface="Times New Roman"/>
              </a:rPr>
              <a:t>  </a:t>
            </a:r>
            <a:r>
              <a:rPr spc="-10" dirty="0">
                <a:latin typeface="Times New Roman"/>
                <a:cs typeface="Times New Roman"/>
              </a:rPr>
              <a:t>systems, 	</a:t>
            </a:r>
            <a:r>
              <a:rPr dirty="0">
                <a:latin typeface="Times New Roman"/>
                <a:cs typeface="Times New Roman"/>
              </a:rPr>
              <a:t>system</a:t>
            </a:r>
            <a:r>
              <a:rPr spc="170" dirty="0">
                <a:latin typeface="Times New Roman"/>
                <a:cs typeface="Times New Roman"/>
              </a:rPr>
              <a:t>  </a:t>
            </a:r>
            <a:r>
              <a:rPr dirty="0">
                <a:latin typeface="Times New Roman"/>
                <a:cs typeface="Times New Roman"/>
              </a:rPr>
              <a:t>calls</a:t>
            </a:r>
            <a:r>
              <a:rPr spc="185" dirty="0">
                <a:latin typeface="Times New Roman"/>
                <a:cs typeface="Times New Roman"/>
              </a:rPr>
              <a:t>  </a:t>
            </a:r>
            <a:r>
              <a:rPr dirty="0">
                <a:latin typeface="Times New Roman"/>
                <a:cs typeface="Times New Roman"/>
              </a:rPr>
              <a:t>are</a:t>
            </a:r>
            <a:r>
              <a:rPr spc="175" dirty="0">
                <a:latin typeface="Times New Roman"/>
                <a:cs typeface="Times New Roman"/>
              </a:rPr>
              <a:t>  </a:t>
            </a:r>
            <a:r>
              <a:rPr dirty="0">
                <a:latin typeface="Times New Roman"/>
                <a:cs typeface="Times New Roman"/>
              </a:rPr>
              <a:t>required</a:t>
            </a:r>
            <a:r>
              <a:rPr spc="180" dirty="0">
                <a:latin typeface="Times New Roman"/>
                <a:cs typeface="Times New Roman"/>
              </a:rPr>
              <a:t>  </a:t>
            </a:r>
            <a:r>
              <a:rPr dirty="0">
                <a:latin typeface="Times New Roman"/>
                <a:cs typeface="Times New Roman"/>
              </a:rPr>
              <a:t>only</a:t>
            </a:r>
            <a:r>
              <a:rPr spc="175" dirty="0">
                <a:latin typeface="Times New Roman"/>
                <a:cs typeface="Times New Roman"/>
              </a:rPr>
              <a:t>  </a:t>
            </a:r>
            <a:r>
              <a:rPr dirty="0">
                <a:latin typeface="Times New Roman"/>
                <a:cs typeface="Times New Roman"/>
              </a:rPr>
              <a:t>to</a:t>
            </a:r>
            <a:r>
              <a:rPr spc="180" dirty="0">
                <a:latin typeface="Times New Roman"/>
                <a:cs typeface="Times New Roman"/>
              </a:rPr>
              <a:t>  </a:t>
            </a:r>
            <a:r>
              <a:rPr spc="-10" dirty="0">
                <a:latin typeface="Times New Roman"/>
                <a:cs typeface="Times New Roman"/>
              </a:rPr>
              <a:t>establish 	shared-</a:t>
            </a:r>
            <a:r>
              <a:rPr dirty="0">
                <a:latin typeface="Times New Roman"/>
                <a:cs typeface="Times New Roman"/>
              </a:rPr>
              <a:t>memory</a:t>
            </a:r>
            <a:r>
              <a:rPr spc="295" dirty="0">
                <a:latin typeface="Times New Roman"/>
                <a:cs typeface="Times New Roman"/>
              </a:rPr>
              <a:t> </a:t>
            </a:r>
            <a:r>
              <a:rPr dirty="0">
                <a:latin typeface="Times New Roman"/>
                <a:cs typeface="Times New Roman"/>
              </a:rPr>
              <a:t>regions.</a:t>
            </a:r>
            <a:r>
              <a:rPr spc="290" dirty="0">
                <a:latin typeface="Times New Roman"/>
                <a:cs typeface="Times New Roman"/>
              </a:rPr>
              <a:t> </a:t>
            </a:r>
            <a:r>
              <a:rPr dirty="0">
                <a:latin typeface="Times New Roman"/>
                <a:cs typeface="Times New Roman"/>
              </a:rPr>
              <a:t>Once</a:t>
            </a:r>
            <a:r>
              <a:rPr spc="305" dirty="0">
                <a:latin typeface="Times New Roman"/>
                <a:cs typeface="Times New Roman"/>
              </a:rPr>
              <a:t> </a:t>
            </a:r>
            <a:r>
              <a:rPr dirty="0">
                <a:latin typeface="Times New Roman"/>
                <a:cs typeface="Times New Roman"/>
              </a:rPr>
              <a:t>shared</a:t>
            </a:r>
            <a:r>
              <a:rPr spc="300" dirty="0">
                <a:latin typeface="Times New Roman"/>
                <a:cs typeface="Times New Roman"/>
              </a:rPr>
              <a:t> </a:t>
            </a:r>
            <a:r>
              <a:rPr spc="-10" dirty="0">
                <a:latin typeface="Times New Roman"/>
                <a:cs typeface="Times New Roman"/>
              </a:rPr>
              <a:t>memory 	</a:t>
            </a:r>
            <a:r>
              <a:rPr dirty="0">
                <a:latin typeface="Times New Roman"/>
                <a:cs typeface="Times New Roman"/>
              </a:rPr>
              <a:t>is</a:t>
            </a:r>
            <a:r>
              <a:rPr spc="350" dirty="0">
                <a:latin typeface="Times New Roman"/>
                <a:cs typeface="Times New Roman"/>
              </a:rPr>
              <a:t>  </a:t>
            </a:r>
            <a:r>
              <a:rPr dirty="0">
                <a:latin typeface="Times New Roman"/>
                <a:cs typeface="Times New Roman"/>
              </a:rPr>
              <a:t>established,</a:t>
            </a:r>
            <a:r>
              <a:rPr spc="350" dirty="0">
                <a:latin typeface="Times New Roman"/>
                <a:cs typeface="Times New Roman"/>
              </a:rPr>
              <a:t>  </a:t>
            </a:r>
            <a:r>
              <a:rPr dirty="0">
                <a:latin typeface="Times New Roman"/>
                <a:cs typeface="Times New Roman"/>
              </a:rPr>
              <a:t>all</a:t>
            </a:r>
            <a:r>
              <a:rPr spc="340" dirty="0">
                <a:latin typeface="Times New Roman"/>
                <a:cs typeface="Times New Roman"/>
              </a:rPr>
              <a:t>  </a:t>
            </a:r>
            <a:r>
              <a:rPr dirty="0">
                <a:latin typeface="Times New Roman"/>
                <a:cs typeface="Times New Roman"/>
              </a:rPr>
              <a:t>accesses</a:t>
            </a:r>
            <a:r>
              <a:rPr spc="355" dirty="0">
                <a:latin typeface="Times New Roman"/>
                <a:cs typeface="Times New Roman"/>
              </a:rPr>
              <a:t>  </a:t>
            </a:r>
            <a:r>
              <a:rPr dirty="0">
                <a:latin typeface="Times New Roman"/>
                <a:cs typeface="Times New Roman"/>
              </a:rPr>
              <a:t>are</a:t>
            </a:r>
            <a:r>
              <a:rPr spc="355" dirty="0">
                <a:latin typeface="Times New Roman"/>
                <a:cs typeface="Times New Roman"/>
              </a:rPr>
              <a:t>  </a:t>
            </a:r>
            <a:r>
              <a:rPr dirty="0">
                <a:latin typeface="Times New Roman"/>
                <a:cs typeface="Times New Roman"/>
              </a:rPr>
              <a:t>treated</a:t>
            </a:r>
            <a:r>
              <a:rPr spc="350" dirty="0">
                <a:latin typeface="Times New Roman"/>
                <a:cs typeface="Times New Roman"/>
              </a:rPr>
              <a:t>  </a:t>
            </a:r>
            <a:r>
              <a:rPr spc="-25" dirty="0">
                <a:latin typeface="Times New Roman"/>
                <a:cs typeface="Times New Roman"/>
              </a:rPr>
              <a:t>as 	</a:t>
            </a:r>
            <a:r>
              <a:rPr dirty="0">
                <a:solidFill>
                  <a:srgbClr val="00B050"/>
                </a:solidFill>
                <a:latin typeface="Times New Roman"/>
                <a:cs typeface="Times New Roman"/>
              </a:rPr>
              <a:t>routine</a:t>
            </a:r>
            <a:r>
              <a:rPr spc="45" dirty="0">
                <a:solidFill>
                  <a:srgbClr val="00B050"/>
                </a:solidFill>
                <a:latin typeface="Times New Roman"/>
                <a:cs typeface="Times New Roman"/>
              </a:rPr>
              <a:t>  </a:t>
            </a:r>
            <a:r>
              <a:rPr dirty="0">
                <a:solidFill>
                  <a:srgbClr val="00B050"/>
                </a:solidFill>
                <a:latin typeface="Times New Roman"/>
                <a:cs typeface="Times New Roman"/>
              </a:rPr>
              <a:t>memory</a:t>
            </a:r>
            <a:r>
              <a:rPr spc="40" dirty="0">
                <a:solidFill>
                  <a:srgbClr val="00B050"/>
                </a:solidFill>
                <a:latin typeface="Times New Roman"/>
                <a:cs typeface="Times New Roman"/>
              </a:rPr>
              <a:t>  </a:t>
            </a:r>
            <a:r>
              <a:rPr dirty="0">
                <a:solidFill>
                  <a:srgbClr val="00B050"/>
                </a:solidFill>
                <a:latin typeface="Times New Roman"/>
                <a:cs typeface="Times New Roman"/>
              </a:rPr>
              <a:t>accesses</a:t>
            </a:r>
            <a:r>
              <a:rPr dirty="0">
                <a:latin typeface="Times New Roman"/>
                <a:cs typeface="Times New Roman"/>
              </a:rPr>
              <a:t>,</a:t>
            </a:r>
            <a:r>
              <a:rPr spc="50" dirty="0">
                <a:latin typeface="Times New Roman"/>
                <a:cs typeface="Times New Roman"/>
              </a:rPr>
              <a:t>  </a:t>
            </a:r>
            <a:r>
              <a:rPr dirty="0">
                <a:latin typeface="Times New Roman"/>
                <a:cs typeface="Times New Roman"/>
              </a:rPr>
              <a:t>and</a:t>
            </a:r>
            <a:r>
              <a:rPr spc="35" dirty="0">
                <a:latin typeface="Times New Roman"/>
                <a:cs typeface="Times New Roman"/>
              </a:rPr>
              <a:t>  </a:t>
            </a:r>
            <a:r>
              <a:rPr dirty="0">
                <a:solidFill>
                  <a:srgbClr val="00B050"/>
                </a:solidFill>
                <a:latin typeface="Times New Roman"/>
                <a:cs typeface="Times New Roman"/>
              </a:rPr>
              <a:t>no</a:t>
            </a:r>
            <a:r>
              <a:rPr spc="45" dirty="0">
                <a:solidFill>
                  <a:srgbClr val="00B050"/>
                </a:solidFill>
                <a:latin typeface="Times New Roman"/>
                <a:cs typeface="Times New Roman"/>
              </a:rPr>
              <a:t>  </a:t>
            </a:r>
            <a:r>
              <a:rPr spc="-10" dirty="0">
                <a:solidFill>
                  <a:srgbClr val="00B050"/>
                </a:solidFill>
                <a:latin typeface="Times New Roman"/>
                <a:cs typeface="Times New Roman"/>
              </a:rPr>
              <a:t>assistance 	</a:t>
            </a:r>
            <a:r>
              <a:rPr dirty="0">
                <a:solidFill>
                  <a:srgbClr val="00B050"/>
                </a:solidFill>
                <a:latin typeface="Times New Roman"/>
                <a:cs typeface="Times New Roman"/>
              </a:rPr>
              <a:t>from</a:t>
            </a:r>
            <a:r>
              <a:rPr spc="-50" dirty="0">
                <a:solidFill>
                  <a:srgbClr val="00B050"/>
                </a:solidFill>
                <a:latin typeface="Times New Roman"/>
                <a:cs typeface="Times New Roman"/>
              </a:rPr>
              <a:t> </a:t>
            </a:r>
            <a:r>
              <a:rPr dirty="0">
                <a:solidFill>
                  <a:srgbClr val="00B050"/>
                </a:solidFill>
                <a:latin typeface="Times New Roman"/>
                <a:cs typeface="Times New Roman"/>
              </a:rPr>
              <a:t>the</a:t>
            </a:r>
            <a:r>
              <a:rPr spc="-5" dirty="0">
                <a:solidFill>
                  <a:srgbClr val="00B050"/>
                </a:solidFill>
                <a:latin typeface="Times New Roman"/>
                <a:cs typeface="Times New Roman"/>
              </a:rPr>
              <a:t> </a:t>
            </a:r>
            <a:r>
              <a:rPr dirty="0">
                <a:solidFill>
                  <a:srgbClr val="00B050"/>
                </a:solidFill>
                <a:latin typeface="Times New Roman"/>
                <a:cs typeface="Times New Roman"/>
              </a:rPr>
              <a:t>kernel</a:t>
            </a:r>
            <a:r>
              <a:rPr spc="-25" dirty="0">
                <a:solidFill>
                  <a:srgbClr val="00B050"/>
                </a:solidFill>
                <a:latin typeface="Times New Roman"/>
                <a:cs typeface="Times New Roman"/>
              </a:rPr>
              <a:t> </a:t>
            </a:r>
            <a:r>
              <a:rPr dirty="0">
                <a:solidFill>
                  <a:srgbClr val="00B050"/>
                </a:solidFill>
                <a:latin typeface="Times New Roman"/>
                <a:cs typeface="Times New Roman"/>
              </a:rPr>
              <a:t>is</a:t>
            </a:r>
            <a:r>
              <a:rPr spc="5" dirty="0">
                <a:solidFill>
                  <a:srgbClr val="00B050"/>
                </a:solidFill>
                <a:latin typeface="Times New Roman"/>
                <a:cs typeface="Times New Roman"/>
              </a:rPr>
              <a:t> </a:t>
            </a:r>
            <a:r>
              <a:rPr spc="-10" dirty="0">
                <a:solidFill>
                  <a:srgbClr val="00B050"/>
                </a:solidFill>
                <a:latin typeface="Times New Roman"/>
                <a:cs typeface="Times New Roman"/>
              </a:rPr>
              <a:t>required.</a:t>
            </a:r>
          </a:p>
        </p:txBody>
      </p:sp>
      <p:sp>
        <p:nvSpPr>
          <p:cNvPr id="4" name="object 4"/>
          <p:cNvSpPr txBox="1">
            <a:spLocks noGrp="1"/>
          </p:cNvSpPr>
          <p:nvPr>
            <p:ph type="ftr" sz="quarter" idx="5"/>
          </p:nvPr>
        </p:nvSpPr>
        <p:spPr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12700">
              <a:lnSpc>
                <a:spcPts val="1240"/>
              </a:lnSpc>
            </a:pPr>
            <a:r>
              <a:rPr lang="pl-PL"/>
              <a:t>By Dr. Binod Kr. Adhikari</a:t>
            </a:r>
            <a:endParaRPr spc="-1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xfrm>
            <a:off x="685800" y="228600"/>
            <a:ext cx="7923530" cy="629018"/>
          </a:xfrm>
          <a:prstGeom prst="rect">
            <a:avLst/>
          </a:prstGeom>
        </p:spPr>
        <p:txBody>
          <a:bodyPr vert="horz" wrap="square" lIns="0" tIns="13335" rIns="0" bIns="0" rtlCol="0">
            <a:spAutoFit/>
          </a:bodyPr>
          <a:lstStyle/>
          <a:p>
            <a:pPr marL="12700" algn="ctr">
              <a:spcBef>
                <a:spcPts val="105"/>
              </a:spcBef>
            </a:pPr>
            <a:r>
              <a:rPr sz="4000" dirty="0"/>
              <a:t>Process Synchronization</a:t>
            </a:r>
          </a:p>
        </p:txBody>
      </p:sp>
      <p:sp>
        <p:nvSpPr>
          <p:cNvPr id="4" name="object 4"/>
          <p:cNvSpPr txBox="1">
            <a:spLocks noGrp="1"/>
          </p:cNvSpPr>
          <p:nvPr>
            <p:ph type="ftr" sz="quarter" idx="5"/>
          </p:nvPr>
        </p:nvSpPr>
        <p:spPr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12700">
              <a:lnSpc>
                <a:spcPts val="1240"/>
              </a:lnSpc>
            </a:pPr>
            <a:r>
              <a:rPr lang="pl-PL"/>
              <a:t>By Dr. Binod Kr. Adhikari</a:t>
            </a:r>
            <a:endParaRPr spc="-10" dirty="0"/>
          </a:p>
        </p:txBody>
      </p:sp>
      <p:sp>
        <p:nvSpPr>
          <p:cNvPr id="3" name="object 3"/>
          <p:cNvSpPr txBox="1"/>
          <p:nvPr/>
        </p:nvSpPr>
        <p:spPr>
          <a:xfrm>
            <a:off x="535940" y="1447800"/>
            <a:ext cx="8073390" cy="398250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354965" indent="-342265">
              <a:lnSpc>
                <a:spcPct val="100000"/>
              </a:lnSpc>
              <a:spcBef>
                <a:spcPts val="1200"/>
              </a:spcBef>
              <a:spcAft>
                <a:spcPts val="600"/>
              </a:spcAft>
              <a:buFont typeface="Arial"/>
              <a:buChar char="•"/>
              <a:tabLst>
                <a:tab pos="354965" algn="l"/>
              </a:tabLst>
            </a:pPr>
            <a:r>
              <a:rPr sz="2200" spc="-10" dirty="0">
                <a:latin typeface="Times New Roman"/>
                <a:cs typeface="Times New Roman"/>
              </a:rPr>
              <a:t>Synchronization</a:t>
            </a:r>
            <a:r>
              <a:rPr sz="2200" spc="-50" dirty="0">
                <a:latin typeface="Times New Roman"/>
                <a:cs typeface="Times New Roman"/>
              </a:rPr>
              <a:t> </a:t>
            </a:r>
            <a:r>
              <a:rPr sz="2200" dirty="0">
                <a:latin typeface="Times New Roman"/>
                <a:cs typeface="Times New Roman"/>
              </a:rPr>
              <a:t>is</a:t>
            </a:r>
            <a:r>
              <a:rPr sz="2200" spc="-25" dirty="0">
                <a:latin typeface="Times New Roman"/>
                <a:cs typeface="Times New Roman"/>
              </a:rPr>
              <a:t> </a:t>
            </a:r>
            <a:r>
              <a:rPr sz="2200" dirty="0">
                <a:latin typeface="Times New Roman"/>
                <a:cs typeface="Times New Roman"/>
              </a:rPr>
              <a:t>often</a:t>
            </a:r>
            <a:r>
              <a:rPr sz="2200" spc="-20" dirty="0">
                <a:latin typeface="Times New Roman"/>
                <a:cs typeface="Times New Roman"/>
              </a:rPr>
              <a:t> </a:t>
            </a:r>
            <a:r>
              <a:rPr sz="2200" dirty="0">
                <a:solidFill>
                  <a:srgbClr val="00B050"/>
                </a:solidFill>
                <a:latin typeface="Times New Roman"/>
                <a:cs typeface="Times New Roman"/>
              </a:rPr>
              <a:t>necessary</a:t>
            </a:r>
            <a:r>
              <a:rPr sz="2200" spc="-30" dirty="0">
                <a:solidFill>
                  <a:srgbClr val="00B050"/>
                </a:solidFill>
                <a:latin typeface="Times New Roman"/>
                <a:cs typeface="Times New Roman"/>
              </a:rPr>
              <a:t> </a:t>
            </a:r>
            <a:r>
              <a:rPr sz="2200" dirty="0">
                <a:solidFill>
                  <a:srgbClr val="00B050"/>
                </a:solidFill>
                <a:latin typeface="Times New Roman"/>
                <a:cs typeface="Times New Roman"/>
              </a:rPr>
              <a:t>when</a:t>
            </a:r>
            <a:r>
              <a:rPr sz="2200" spc="-20" dirty="0">
                <a:solidFill>
                  <a:srgbClr val="00B050"/>
                </a:solidFill>
                <a:latin typeface="Times New Roman"/>
                <a:cs typeface="Times New Roman"/>
              </a:rPr>
              <a:t> </a:t>
            </a:r>
            <a:r>
              <a:rPr sz="2200" dirty="0">
                <a:solidFill>
                  <a:srgbClr val="00B050"/>
                </a:solidFill>
                <a:latin typeface="Times New Roman"/>
                <a:cs typeface="Times New Roman"/>
              </a:rPr>
              <a:t>processes</a:t>
            </a:r>
            <a:r>
              <a:rPr sz="2200" spc="-40" dirty="0">
                <a:solidFill>
                  <a:srgbClr val="00B050"/>
                </a:solidFill>
                <a:latin typeface="Times New Roman"/>
                <a:cs typeface="Times New Roman"/>
              </a:rPr>
              <a:t> </a:t>
            </a:r>
            <a:r>
              <a:rPr sz="2200" spc="-10" dirty="0">
                <a:solidFill>
                  <a:srgbClr val="00B050"/>
                </a:solidFill>
                <a:latin typeface="Times New Roman"/>
                <a:cs typeface="Times New Roman"/>
              </a:rPr>
              <a:t>communicate.</a:t>
            </a:r>
            <a:endParaRPr sz="2200" dirty="0">
              <a:solidFill>
                <a:srgbClr val="00B050"/>
              </a:solidFill>
              <a:latin typeface="Times New Roman"/>
              <a:cs typeface="Times New Roman"/>
            </a:endParaRPr>
          </a:p>
          <a:p>
            <a:pPr marL="355600" marR="7620" indent="-342900" algn="just">
              <a:lnSpc>
                <a:spcPct val="80000"/>
              </a:lnSpc>
              <a:spcBef>
                <a:spcPts val="1200"/>
              </a:spcBef>
              <a:spcAft>
                <a:spcPts val="600"/>
              </a:spcAft>
              <a:buFont typeface="Arial"/>
              <a:buChar char="•"/>
              <a:tabLst>
                <a:tab pos="355600" algn="l"/>
              </a:tabLst>
            </a:pPr>
            <a:r>
              <a:rPr sz="2200" dirty="0">
                <a:latin typeface="Times New Roman"/>
                <a:cs typeface="Times New Roman"/>
              </a:rPr>
              <a:t>Processes</a:t>
            </a:r>
            <a:r>
              <a:rPr sz="2200" spc="434" dirty="0">
                <a:latin typeface="Times New Roman"/>
                <a:cs typeface="Times New Roman"/>
              </a:rPr>
              <a:t> </a:t>
            </a:r>
            <a:r>
              <a:rPr sz="2200" dirty="0">
                <a:latin typeface="Times New Roman"/>
                <a:cs typeface="Times New Roman"/>
              </a:rPr>
              <a:t>are</a:t>
            </a:r>
            <a:r>
              <a:rPr sz="2200" spc="445" dirty="0">
                <a:latin typeface="Times New Roman"/>
                <a:cs typeface="Times New Roman"/>
              </a:rPr>
              <a:t> </a:t>
            </a:r>
            <a:r>
              <a:rPr sz="2200" dirty="0">
                <a:latin typeface="Times New Roman"/>
                <a:cs typeface="Times New Roman"/>
              </a:rPr>
              <a:t>executed</a:t>
            </a:r>
            <a:r>
              <a:rPr sz="2200" spc="450" dirty="0">
                <a:latin typeface="Times New Roman"/>
                <a:cs typeface="Times New Roman"/>
              </a:rPr>
              <a:t> </a:t>
            </a:r>
            <a:r>
              <a:rPr sz="2200" dirty="0">
                <a:latin typeface="Times New Roman"/>
                <a:cs typeface="Times New Roman"/>
              </a:rPr>
              <a:t>with</a:t>
            </a:r>
            <a:r>
              <a:rPr sz="2200" spc="445" dirty="0">
                <a:latin typeface="Times New Roman"/>
                <a:cs typeface="Times New Roman"/>
              </a:rPr>
              <a:t> </a:t>
            </a:r>
            <a:r>
              <a:rPr sz="2200" dirty="0">
                <a:latin typeface="Times New Roman"/>
                <a:cs typeface="Times New Roman"/>
              </a:rPr>
              <a:t>unpredictable</a:t>
            </a:r>
            <a:r>
              <a:rPr sz="2200" spc="445" dirty="0">
                <a:latin typeface="Times New Roman"/>
                <a:cs typeface="Times New Roman"/>
              </a:rPr>
              <a:t> </a:t>
            </a:r>
            <a:r>
              <a:rPr sz="2200" dirty="0">
                <a:latin typeface="Times New Roman"/>
                <a:cs typeface="Times New Roman"/>
              </a:rPr>
              <a:t>speeds.</a:t>
            </a:r>
            <a:r>
              <a:rPr sz="2200" spc="430" dirty="0">
                <a:latin typeface="Times New Roman"/>
                <a:cs typeface="Times New Roman"/>
              </a:rPr>
              <a:t> </a:t>
            </a:r>
            <a:r>
              <a:rPr sz="2200" dirty="0">
                <a:latin typeface="Times New Roman"/>
                <a:cs typeface="Times New Roman"/>
              </a:rPr>
              <a:t>One</a:t>
            </a:r>
            <a:r>
              <a:rPr sz="2200" spc="434" dirty="0">
                <a:latin typeface="Times New Roman"/>
                <a:cs typeface="Times New Roman"/>
              </a:rPr>
              <a:t> </a:t>
            </a:r>
            <a:r>
              <a:rPr sz="2200" dirty="0">
                <a:latin typeface="Times New Roman"/>
                <a:cs typeface="Times New Roman"/>
              </a:rPr>
              <a:t>can</a:t>
            </a:r>
            <a:r>
              <a:rPr sz="2200" spc="445" dirty="0">
                <a:latin typeface="Times New Roman"/>
                <a:cs typeface="Times New Roman"/>
              </a:rPr>
              <a:t> </a:t>
            </a:r>
            <a:r>
              <a:rPr sz="2200" spc="-20" dirty="0">
                <a:latin typeface="Times New Roman"/>
                <a:cs typeface="Times New Roman"/>
              </a:rPr>
              <a:t>view </a:t>
            </a:r>
            <a:r>
              <a:rPr sz="2200" dirty="0">
                <a:latin typeface="Times New Roman"/>
                <a:cs typeface="Times New Roman"/>
              </a:rPr>
              <a:t>synchronization</a:t>
            </a:r>
            <a:r>
              <a:rPr sz="2200" spc="-55" dirty="0">
                <a:latin typeface="Times New Roman"/>
                <a:cs typeface="Times New Roman"/>
              </a:rPr>
              <a:t> </a:t>
            </a:r>
            <a:r>
              <a:rPr sz="2200" dirty="0">
                <a:latin typeface="Times New Roman"/>
                <a:cs typeface="Times New Roman"/>
              </a:rPr>
              <a:t>as</a:t>
            </a:r>
            <a:r>
              <a:rPr sz="2200" spc="-40" dirty="0">
                <a:latin typeface="Times New Roman"/>
                <a:cs typeface="Times New Roman"/>
              </a:rPr>
              <a:t> </a:t>
            </a:r>
            <a:r>
              <a:rPr sz="2200" dirty="0">
                <a:latin typeface="Times New Roman"/>
                <a:cs typeface="Times New Roman"/>
              </a:rPr>
              <a:t>a</a:t>
            </a:r>
            <a:r>
              <a:rPr sz="2200" spc="-45" dirty="0">
                <a:latin typeface="Times New Roman"/>
                <a:cs typeface="Times New Roman"/>
              </a:rPr>
              <a:t> </a:t>
            </a:r>
            <a:r>
              <a:rPr sz="2200" dirty="0">
                <a:latin typeface="Times New Roman"/>
                <a:cs typeface="Times New Roman"/>
              </a:rPr>
              <a:t>set</a:t>
            </a:r>
            <a:r>
              <a:rPr sz="2200" spc="-40" dirty="0">
                <a:latin typeface="Times New Roman"/>
                <a:cs typeface="Times New Roman"/>
              </a:rPr>
              <a:t> </a:t>
            </a:r>
            <a:r>
              <a:rPr sz="2200" dirty="0">
                <a:latin typeface="Times New Roman"/>
                <a:cs typeface="Times New Roman"/>
              </a:rPr>
              <a:t>of</a:t>
            </a:r>
            <a:r>
              <a:rPr sz="2200" spc="-40" dirty="0">
                <a:latin typeface="Times New Roman"/>
                <a:cs typeface="Times New Roman"/>
              </a:rPr>
              <a:t> </a:t>
            </a:r>
            <a:r>
              <a:rPr sz="2200" dirty="0">
                <a:latin typeface="Times New Roman"/>
                <a:cs typeface="Times New Roman"/>
              </a:rPr>
              <a:t>constraints</a:t>
            </a:r>
            <a:r>
              <a:rPr sz="2200" spc="-40" dirty="0">
                <a:latin typeface="Times New Roman"/>
                <a:cs typeface="Times New Roman"/>
              </a:rPr>
              <a:t> </a:t>
            </a:r>
            <a:r>
              <a:rPr sz="2200" dirty="0">
                <a:latin typeface="Times New Roman"/>
                <a:cs typeface="Times New Roman"/>
              </a:rPr>
              <a:t>on</a:t>
            </a:r>
            <a:r>
              <a:rPr sz="2200" spc="-45" dirty="0">
                <a:latin typeface="Times New Roman"/>
                <a:cs typeface="Times New Roman"/>
              </a:rPr>
              <a:t> </a:t>
            </a:r>
            <a:r>
              <a:rPr sz="2200" dirty="0">
                <a:latin typeface="Times New Roman"/>
                <a:cs typeface="Times New Roman"/>
              </a:rPr>
              <a:t>the</a:t>
            </a:r>
            <a:r>
              <a:rPr sz="2200" spc="-40" dirty="0">
                <a:latin typeface="Times New Roman"/>
                <a:cs typeface="Times New Roman"/>
              </a:rPr>
              <a:t> </a:t>
            </a:r>
            <a:r>
              <a:rPr sz="2200" dirty="0">
                <a:latin typeface="Times New Roman"/>
                <a:cs typeface="Times New Roman"/>
              </a:rPr>
              <a:t>ordering</a:t>
            </a:r>
            <a:r>
              <a:rPr sz="2200" spc="-25" dirty="0">
                <a:latin typeface="Times New Roman"/>
                <a:cs typeface="Times New Roman"/>
              </a:rPr>
              <a:t> </a:t>
            </a:r>
            <a:r>
              <a:rPr sz="2200" dirty="0">
                <a:latin typeface="Times New Roman"/>
                <a:cs typeface="Times New Roman"/>
              </a:rPr>
              <a:t>of</a:t>
            </a:r>
            <a:r>
              <a:rPr sz="2200" spc="-40" dirty="0">
                <a:latin typeface="Times New Roman"/>
                <a:cs typeface="Times New Roman"/>
              </a:rPr>
              <a:t> </a:t>
            </a:r>
            <a:r>
              <a:rPr sz="2200" spc="-10" dirty="0">
                <a:latin typeface="Times New Roman"/>
                <a:cs typeface="Times New Roman"/>
              </a:rPr>
              <a:t>events.</a:t>
            </a:r>
            <a:endParaRPr sz="2200" dirty="0">
              <a:latin typeface="Times New Roman"/>
              <a:cs typeface="Times New Roman"/>
            </a:endParaRPr>
          </a:p>
          <a:p>
            <a:pPr marL="355600" marR="6985" indent="-342900" algn="just">
              <a:lnSpc>
                <a:spcPct val="80000"/>
              </a:lnSpc>
              <a:spcBef>
                <a:spcPts val="1200"/>
              </a:spcBef>
              <a:spcAft>
                <a:spcPts val="600"/>
              </a:spcAft>
              <a:buFont typeface="Arial"/>
              <a:buChar char="•"/>
              <a:tabLst>
                <a:tab pos="355600" algn="l"/>
              </a:tabLst>
            </a:pPr>
            <a:r>
              <a:rPr sz="2200" dirty="0">
                <a:latin typeface="Times New Roman"/>
                <a:cs typeface="Times New Roman"/>
              </a:rPr>
              <a:t>The</a:t>
            </a:r>
            <a:r>
              <a:rPr sz="2200" spc="440" dirty="0">
                <a:latin typeface="Times New Roman"/>
                <a:cs typeface="Times New Roman"/>
              </a:rPr>
              <a:t> </a:t>
            </a:r>
            <a:r>
              <a:rPr sz="2200" dirty="0">
                <a:latin typeface="Times New Roman"/>
                <a:cs typeface="Times New Roman"/>
              </a:rPr>
              <a:t>programmer</a:t>
            </a:r>
            <a:r>
              <a:rPr sz="2200" spc="450" dirty="0">
                <a:latin typeface="Times New Roman"/>
                <a:cs typeface="Times New Roman"/>
              </a:rPr>
              <a:t> </a:t>
            </a:r>
            <a:r>
              <a:rPr sz="2200" dirty="0">
                <a:latin typeface="Times New Roman"/>
                <a:cs typeface="Times New Roman"/>
              </a:rPr>
              <a:t>employs</a:t>
            </a:r>
            <a:r>
              <a:rPr sz="2200" spc="440" dirty="0">
                <a:latin typeface="Times New Roman"/>
                <a:cs typeface="Times New Roman"/>
              </a:rPr>
              <a:t> </a:t>
            </a:r>
            <a:r>
              <a:rPr sz="2200" dirty="0">
                <a:latin typeface="Times New Roman"/>
                <a:cs typeface="Times New Roman"/>
              </a:rPr>
              <a:t>a</a:t>
            </a:r>
            <a:r>
              <a:rPr sz="2200" spc="440" dirty="0">
                <a:latin typeface="Times New Roman"/>
                <a:cs typeface="Times New Roman"/>
              </a:rPr>
              <a:t> </a:t>
            </a:r>
            <a:r>
              <a:rPr sz="2200" dirty="0">
                <a:latin typeface="Times New Roman"/>
                <a:cs typeface="Times New Roman"/>
              </a:rPr>
              <a:t>synchronization</a:t>
            </a:r>
            <a:r>
              <a:rPr sz="2200" spc="465" dirty="0">
                <a:latin typeface="Times New Roman"/>
                <a:cs typeface="Times New Roman"/>
              </a:rPr>
              <a:t> </a:t>
            </a:r>
            <a:r>
              <a:rPr sz="2200" dirty="0">
                <a:latin typeface="Times New Roman"/>
                <a:cs typeface="Times New Roman"/>
              </a:rPr>
              <a:t>mechanism</a:t>
            </a:r>
            <a:r>
              <a:rPr sz="2200" spc="430" dirty="0">
                <a:latin typeface="Times New Roman"/>
                <a:cs typeface="Times New Roman"/>
              </a:rPr>
              <a:t> </a:t>
            </a:r>
            <a:r>
              <a:rPr sz="2200" dirty="0">
                <a:latin typeface="Times New Roman"/>
                <a:cs typeface="Times New Roman"/>
              </a:rPr>
              <a:t>to</a:t>
            </a:r>
            <a:r>
              <a:rPr sz="2200" spc="450" dirty="0">
                <a:latin typeface="Times New Roman"/>
                <a:cs typeface="Times New Roman"/>
              </a:rPr>
              <a:t> </a:t>
            </a:r>
            <a:r>
              <a:rPr sz="2200" spc="-10" dirty="0">
                <a:latin typeface="Times New Roman"/>
                <a:cs typeface="Times New Roman"/>
              </a:rPr>
              <a:t>delay </a:t>
            </a:r>
            <a:r>
              <a:rPr sz="2200" dirty="0">
                <a:latin typeface="Times New Roman"/>
                <a:cs typeface="Times New Roman"/>
              </a:rPr>
              <a:t>execution</a:t>
            </a:r>
            <a:r>
              <a:rPr sz="2200" spc="-45" dirty="0">
                <a:latin typeface="Times New Roman"/>
                <a:cs typeface="Times New Roman"/>
              </a:rPr>
              <a:t> </a:t>
            </a:r>
            <a:r>
              <a:rPr sz="2200" dirty="0">
                <a:latin typeface="Times New Roman"/>
                <a:cs typeface="Times New Roman"/>
              </a:rPr>
              <a:t>of</a:t>
            </a:r>
            <a:r>
              <a:rPr sz="2200" spc="-30" dirty="0">
                <a:latin typeface="Times New Roman"/>
                <a:cs typeface="Times New Roman"/>
              </a:rPr>
              <a:t> </a:t>
            </a:r>
            <a:r>
              <a:rPr sz="2200" dirty="0">
                <a:latin typeface="Times New Roman"/>
                <a:cs typeface="Times New Roman"/>
              </a:rPr>
              <a:t>a</a:t>
            </a:r>
            <a:r>
              <a:rPr sz="2200" spc="-35" dirty="0">
                <a:latin typeface="Times New Roman"/>
                <a:cs typeface="Times New Roman"/>
              </a:rPr>
              <a:t> </a:t>
            </a:r>
            <a:r>
              <a:rPr sz="2200" dirty="0">
                <a:latin typeface="Times New Roman"/>
                <a:cs typeface="Times New Roman"/>
              </a:rPr>
              <a:t>process</a:t>
            </a:r>
            <a:r>
              <a:rPr sz="2200" spc="-30" dirty="0">
                <a:latin typeface="Times New Roman"/>
                <a:cs typeface="Times New Roman"/>
              </a:rPr>
              <a:t> </a:t>
            </a:r>
            <a:r>
              <a:rPr sz="2200" dirty="0">
                <a:latin typeface="Times New Roman"/>
                <a:cs typeface="Times New Roman"/>
              </a:rPr>
              <a:t>in</a:t>
            </a:r>
            <a:r>
              <a:rPr sz="2200" spc="-30" dirty="0">
                <a:latin typeface="Times New Roman"/>
                <a:cs typeface="Times New Roman"/>
              </a:rPr>
              <a:t> </a:t>
            </a:r>
            <a:r>
              <a:rPr sz="2200" dirty="0">
                <a:latin typeface="Times New Roman"/>
                <a:cs typeface="Times New Roman"/>
              </a:rPr>
              <a:t>order</a:t>
            </a:r>
            <a:r>
              <a:rPr sz="2200" spc="-25" dirty="0">
                <a:latin typeface="Times New Roman"/>
                <a:cs typeface="Times New Roman"/>
              </a:rPr>
              <a:t> </a:t>
            </a:r>
            <a:r>
              <a:rPr sz="2200" dirty="0">
                <a:latin typeface="Times New Roman"/>
                <a:cs typeface="Times New Roman"/>
              </a:rPr>
              <a:t>to</a:t>
            </a:r>
            <a:r>
              <a:rPr sz="2200" spc="-25" dirty="0">
                <a:latin typeface="Times New Roman"/>
                <a:cs typeface="Times New Roman"/>
              </a:rPr>
              <a:t> </a:t>
            </a:r>
            <a:r>
              <a:rPr sz="2200" dirty="0">
                <a:latin typeface="Times New Roman"/>
                <a:cs typeface="Times New Roman"/>
              </a:rPr>
              <a:t>satisfy</a:t>
            </a:r>
            <a:r>
              <a:rPr sz="2200" spc="-25" dirty="0">
                <a:latin typeface="Times New Roman"/>
                <a:cs typeface="Times New Roman"/>
              </a:rPr>
              <a:t> </a:t>
            </a:r>
            <a:r>
              <a:rPr sz="2200" dirty="0">
                <a:latin typeface="Times New Roman"/>
                <a:cs typeface="Times New Roman"/>
              </a:rPr>
              <a:t>such</a:t>
            </a:r>
            <a:r>
              <a:rPr sz="2200" spc="-40" dirty="0">
                <a:latin typeface="Times New Roman"/>
                <a:cs typeface="Times New Roman"/>
              </a:rPr>
              <a:t> </a:t>
            </a:r>
            <a:r>
              <a:rPr sz="2200" spc="-10" dirty="0">
                <a:latin typeface="Times New Roman"/>
                <a:cs typeface="Times New Roman"/>
              </a:rPr>
              <a:t>constraints.</a:t>
            </a:r>
            <a:endParaRPr sz="2200" dirty="0">
              <a:latin typeface="Times New Roman"/>
              <a:cs typeface="Times New Roman"/>
            </a:endParaRPr>
          </a:p>
          <a:p>
            <a:pPr marL="355600" marR="5080" indent="-342900" algn="just">
              <a:lnSpc>
                <a:spcPct val="80000"/>
              </a:lnSpc>
              <a:spcBef>
                <a:spcPts val="1200"/>
              </a:spcBef>
              <a:spcAft>
                <a:spcPts val="600"/>
              </a:spcAft>
              <a:buFont typeface="Arial"/>
              <a:buChar char="•"/>
              <a:tabLst>
                <a:tab pos="355600" algn="l"/>
              </a:tabLst>
            </a:pPr>
            <a:r>
              <a:rPr sz="2200" dirty="0">
                <a:latin typeface="Times New Roman"/>
                <a:cs typeface="Times New Roman"/>
              </a:rPr>
              <a:t>As</a:t>
            </a:r>
            <a:r>
              <a:rPr sz="2200" spc="10" dirty="0">
                <a:latin typeface="Times New Roman"/>
                <a:cs typeface="Times New Roman"/>
              </a:rPr>
              <a:t>  </a:t>
            </a:r>
            <a:r>
              <a:rPr sz="2200" dirty="0">
                <a:latin typeface="Times New Roman"/>
                <a:cs typeface="Times New Roman"/>
              </a:rPr>
              <a:t>an</a:t>
            </a:r>
            <a:r>
              <a:rPr sz="2200" spc="20" dirty="0">
                <a:latin typeface="Times New Roman"/>
                <a:cs typeface="Times New Roman"/>
              </a:rPr>
              <a:t>  </a:t>
            </a:r>
            <a:r>
              <a:rPr sz="2200" dirty="0">
                <a:latin typeface="Times New Roman"/>
                <a:cs typeface="Times New Roman"/>
              </a:rPr>
              <a:t>illustrative</a:t>
            </a:r>
            <a:r>
              <a:rPr sz="2200" spc="20" dirty="0">
                <a:latin typeface="Times New Roman"/>
                <a:cs typeface="Times New Roman"/>
              </a:rPr>
              <a:t>  </a:t>
            </a:r>
            <a:r>
              <a:rPr sz="2200" dirty="0">
                <a:latin typeface="Times New Roman"/>
                <a:cs typeface="Times New Roman"/>
              </a:rPr>
              <a:t>example,</a:t>
            </a:r>
            <a:r>
              <a:rPr sz="2200" spc="15" dirty="0">
                <a:latin typeface="Times New Roman"/>
                <a:cs typeface="Times New Roman"/>
              </a:rPr>
              <a:t>  </a:t>
            </a:r>
            <a:r>
              <a:rPr sz="2200" dirty="0">
                <a:latin typeface="Times New Roman"/>
                <a:cs typeface="Times New Roman"/>
              </a:rPr>
              <a:t>consider</a:t>
            </a:r>
            <a:r>
              <a:rPr sz="2200" spc="20" dirty="0">
                <a:latin typeface="Times New Roman"/>
                <a:cs typeface="Times New Roman"/>
              </a:rPr>
              <a:t>  </a:t>
            </a:r>
            <a:r>
              <a:rPr sz="2200" dirty="0">
                <a:latin typeface="Times New Roman"/>
                <a:cs typeface="Times New Roman"/>
              </a:rPr>
              <a:t>the</a:t>
            </a:r>
            <a:r>
              <a:rPr sz="2200" spc="15" dirty="0">
                <a:latin typeface="Times New Roman"/>
                <a:cs typeface="Times New Roman"/>
              </a:rPr>
              <a:t>  </a:t>
            </a:r>
            <a:r>
              <a:rPr sz="2200" dirty="0">
                <a:latin typeface="Times New Roman"/>
                <a:cs typeface="Times New Roman"/>
              </a:rPr>
              <a:t>batch</a:t>
            </a:r>
            <a:r>
              <a:rPr sz="2200" spc="20" dirty="0">
                <a:latin typeface="Times New Roman"/>
                <a:cs typeface="Times New Roman"/>
              </a:rPr>
              <a:t>  </a:t>
            </a:r>
            <a:r>
              <a:rPr sz="2200" dirty="0">
                <a:latin typeface="Times New Roman"/>
                <a:cs typeface="Times New Roman"/>
              </a:rPr>
              <a:t>operating</a:t>
            </a:r>
            <a:r>
              <a:rPr sz="2200" spc="25" dirty="0">
                <a:latin typeface="Times New Roman"/>
                <a:cs typeface="Times New Roman"/>
              </a:rPr>
              <a:t>  </a:t>
            </a:r>
            <a:r>
              <a:rPr sz="2200" spc="-10" dirty="0">
                <a:latin typeface="Times New Roman"/>
                <a:cs typeface="Times New Roman"/>
              </a:rPr>
              <a:t>system </a:t>
            </a:r>
            <a:r>
              <a:rPr sz="2200" dirty="0">
                <a:latin typeface="Times New Roman"/>
                <a:cs typeface="Times New Roman"/>
              </a:rPr>
              <a:t>again.</a:t>
            </a:r>
            <a:r>
              <a:rPr sz="2200" spc="-65" dirty="0">
                <a:latin typeface="Times New Roman"/>
                <a:cs typeface="Times New Roman"/>
              </a:rPr>
              <a:t> </a:t>
            </a:r>
            <a:r>
              <a:rPr sz="2200" dirty="0">
                <a:latin typeface="Times New Roman"/>
                <a:cs typeface="Times New Roman"/>
              </a:rPr>
              <a:t>A</a:t>
            </a:r>
            <a:r>
              <a:rPr sz="2200" spc="-140" dirty="0">
                <a:latin typeface="Times New Roman"/>
                <a:cs typeface="Times New Roman"/>
              </a:rPr>
              <a:t> </a:t>
            </a:r>
            <a:r>
              <a:rPr sz="2200" dirty="0">
                <a:latin typeface="Times New Roman"/>
                <a:cs typeface="Times New Roman"/>
              </a:rPr>
              <a:t>shared</a:t>
            </a:r>
            <a:r>
              <a:rPr sz="2200" spc="-40" dirty="0">
                <a:latin typeface="Times New Roman"/>
                <a:cs typeface="Times New Roman"/>
              </a:rPr>
              <a:t> </a:t>
            </a:r>
            <a:r>
              <a:rPr sz="2200" dirty="0">
                <a:latin typeface="Times New Roman"/>
                <a:cs typeface="Times New Roman"/>
              </a:rPr>
              <a:t>buffer</a:t>
            </a:r>
            <a:r>
              <a:rPr sz="2200" spc="-45" dirty="0">
                <a:latin typeface="Times New Roman"/>
                <a:cs typeface="Times New Roman"/>
              </a:rPr>
              <a:t> </a:t>
            </a:r>
            <a:r>
              <a:rPr sz="2200" dirty="0">
                <a:latin typeface="Times New Roman"/>
                <a:cs typeface="Times New Roman"/>
              </a:rPr>
              <a:t>is</a:t>
            </a:r>
            <a:r>
              <a:rPr sz="2200" spc="-50" dirty="0">
                <a:latin typeface="Times New Roman"/>
                <a:cs typeface="Times New Roman"/>
              </a:rPr>
              <a:t> </a:t>
            </a:r>
            <a:r>
              <a:rPr sz="2200" dirty="0">
                <a:latin typeface="Times New Roman"/>
                <a:cs typeface="Times New Roman"/>
              </a:rPr>
              <a:t>used</a:t>
            </a:r>
            <a:r>
              <a:rPr sz="2200" spc="-40" dirty="0">
                <a:latin typeface="Times New Roman"/>
                <a:cs typeface="Times New Roman"/>
              </a:rPr>
              <a:t> </a:t>
            </a:r>
            <a:r>
              <a:rPr sz="2200" dirty="0">
                <a:latin typeface="Times New Roman"/>
                <a:cs typeface="Times New Roman"/>
              </a:rPr>
              <a:t>for</a:t>
            </a:r>
            <a:r>
              <a:rPr sz="2200" spc="-45" dirty="0">
                <a:latin typeface="Times New Roman"/>
                <a:cs typeface="Times New Roman"/>
              </a:rPr>
              <a:t> </a:t>
            </a:r>
            <a:r>
              <a:rPr sz="2200" dirty="0">
                <a:latin typeface="Times New Roman"/>
                <a:cs typeface="Times New Roman"/>
              </a:rPr>
              <a:t>communication</a:t>
            </a:r>
            <a:r>
              <a:rPr sz="2200" spc="-30" dirty="0">
                <a:latin typeface="Times New Roman"/>
                <a:cs typeface="Times New Roman"/>
              </a:rPr>
              <a:t> </a:t>
            </a:r>
            <a:r>
              <a:rPr sz="2200" dirty="0">
                <a:latin typeface="Times New Roman"/>
                <a:cs typeface="Times New Roman"/>
              </a:rPr>
              <a:t>between</a:t>
            </a:r>
            <a:r>
              <a:rPr sz="2200" spc="-45" dirty="0">
                <a:latin typeface="Times New Roman"/>
                <a:cs typeface="Times New Roman"/>
              </a:rPr>
              <a:t> </a:t>
            </a:r>
            <a:r>
              <a:rPr sz="2200" b="1" dirty="0">
                <a:latin typeface="Times New Roman"/>
                <a:cs typeface="Times New Roman"/>
              </a:rPr>
              <a:t>the</a:t>
            </a:r>
            <a:r>
              <a:rPr sz="2200" b="1" spc="-45" dirty="0">
                <a:latin typeface="Times New Roman"/>
                <a:cs typeface="Times New Roman"/>
              </a:rPr>
              <a:t> </a:t>
            </a:r>
            <a:r>
              <a:rPr sz="2200" b="1" spc="-10" dirty="0">
                <a:latin typeface="Times New Roman"/>
                <a:cs typeface="Times New Roman"/>
              </a:rPr>
              <a:t>reader </a:t>
            </a:r>
            <a:r>
              <a:rPr sz="2200" b="1" dirty="0">
                <a:latin typeface="Times New Roman"/>
                <a:cs typeface="Times New Roman"/>
              </a:rPr>
              <a:t>process</a:t>
            </a:r>
            <a:r>
              <a:rPr sz="2200" b="1" spc="420" dirty="0">
                <a:latin typeface="Times New Roman"/>
                <a:cs typeface="Times New Roman"/>
              </a:rPr>
              <a:t>  </a:t>
            </a:r>
            <a:r>
              <a:rPr sz="2200" b="1" dirty="0">
                <a:latin typeface="Times New Roman"/>
                <a:cs typeface="Times New Roman"/>
              </a:rPr>
              <a:t>and</a:t>
            </a:r>
            <a:r>
              <a:rPr sz="2200" b="1" spc="420" dirty="0">
                <a:latin typeface="Times New Roman"/>
                <a:cs typeface="Times New Roman"/>
              </a:rPr>
              <a:t>  </a:t>
            </a:r>
            <a:r>
              <a:rPr sz="2200" b="1" dirty="0">
                <a:latin typeface="Times New Roman"/>
                <a:cs typeface="Times New Roman"/>
              </a:rPr>
              <a:t>the</a:t>
            </a:r>
            <a:r>
              <a:rPr sz="2200" b="1" spc="425" dirty="0">
                <a:latin typeface="Times New Roman"/>
                <a:cs typeface="Times New Roman"/>
              </a:rPr>
              <a:t>  </a:t>
            </a:r>
            <a:r>
              <a:rPr sz="2200" b="1" dirty="0">
                <a:latin typeface="Times New Roman"/>
                <a:cs typeface="Times New Roman"/>
              </a:rPr>
              <a:t>writer</a:t>
            </a:r>
            <a:r>
              <a:rPr sz="2200" b="1" spc="420" dirty="0">
                <a:latin typeface="Times New Roman"/>
                <a:cs typeface="Times New Roman"/>
              </a:rPr>
              <a:t>  </a:t>
            </a:r>
            <a:r>
              <a:rPr sz="2200" b="1" dirty="0">
                <a:latin typeface="Times New Roman"/>
                <a:cs typeface="Times New Roman"/>
              </a:rPr>
              <a:t>process</a:t>
            </a:r>
            <a:r>
              <a:rPr sz="2200" dirty="0">
                <a:latin typeface="Times New Roman"/>
                <a:cs typeface="Times New Roman"/>
              </a:rPr>
              <a:t>.</a:t>
            </a:r>
            <a:r>
              <a:rPr sz="2200" spc="420" dirty="0">
                <a:latin typeface="Times New Roman"/>
                <a:cs typeface="Times New Roman"/>
              </a:rPr>
              <a:t>  </a:t>
            </a:r>
            <a:endParaRPr lang="en-US" sz="2200" spc="420" dirty="0">
              <a:latin typeface="Times New Roman"/>
              <a:cs typeface="Times New Roman"/>
            </a:endParaRPr>
          </a:p>
          <a:p>
            <a:pPr marL="355600" marR="5080" indent="-342900" algn="just">
              <a:lnSpc>
                <a:spcPct val="80000"/>
              </a:lnSpc>
              <a:spcBef>
                <a:spcPts val="1200"/>
              </a:spcBef>
              <a:spcAft>
                <a:spcPts val="600"/>
              </a:spcAft>
              <a:buFont typeface="Arial"/>
              <a:buChar char="•"/>
              <a:tabLst>
                <a:tab pos="355600" algn="l"/>
              </a:tabLst>
            </a:pPr>
            <a:r>
              <a:rPr sz="2200" dirty="0">
                <a:latin typeface="Times New Roman"/>
                <a:cs typeface="Times New Roman"/>
              </a:rPr>
              <a:t>These</a:t>
            </a:r>
            <a:r>
              <a:rPr sz="2200" spc="415" dirty="0">
                <a:latin typeface="Times New Roman"/>
                <a:cs typeface="Times New Roman"/>
              </a:rPr>
              <a:t>  </a:t>
            </a:r>
            <a:r>
              <a:rPr sz="2200" dirty="0">
                <a:latin typeface="Times New Roman"/>
                <a:cs typeface="Times New Roman"/>
              </a:rPr>
              <a:t>processes</a:t>
            </a:r>
            <a:r>
              <a:rPr sz="2200" spc="425" dirty="0">
                <a:latin typeface="Times New Roman"/>
                <a:cs typeface="Times New Roman"/>
              </a:rPr>
              <a:t>  </a:t>
            </a:r>
            <a:r>
              <a:rPr sz="2200" dirty="0">
                <a:latin typeface="Times New Roman"/>
                <a:cs typeface="Times New Roman"/>
              </a:rPr>
              <a:t>must</a:t>
            </a:r>
            <a:r>
              <a:rPr sz="2200" spc="425" dirty="0">
                <a:latin typeface="Times New Roman"/>
                <a:cs typeface="Times New Roman"/>
              </a:rPr>
              <a:t>  </a:t>
            </a:r>
            <a:r>
              <a:rPr sz="2200" spc="-25" dirty="0">
                <a:latin typeface="Times New Roman"/>
                <a:cs typeface="Times New Roman"/>
              </a:rPr>
              <a:t>be </a:t>
            </a:r>
            <a:r>
              <a:rPr sz="2200" dirty="0">
                <a:latin typeface="Times New Roman"/>
                <a:cs typeface="Times New Roman"/>
              </a:rPr>
              <a:t>synchronized so</a:t>
            </a:r>
            <a:r>
              <a:rPr sz="2200" spc="10" dirty="0">
                <a:latin typeface="Times New Roman"/>
                <a:cs typeface="Times New Roman"/>
              </a:rPr>
              <a:t> </a:t>
            </a:r>
            <a:r>
              <a:rPr sz="2200" dirty="0">
                <a:latin typeface="Times New Roman"/>
                <a:cs typeface="Times New Roman"/>
              </a:rPr>
              <a:t>that,</a:t>
            </a:r>
            <a:r>
              <a:rPr sz="2200" spc="10" dirty="0">
                <a:latin typeface="Times New Roman"/>
                <a:cs typeface="Times New Roman"/>
              </a:rPr>
              <a:t> </a:t>
            </a:r>
            <a:r>
              <a:rPr sz="2200" dirty="0">
                <a:latin typeface="Times New Roman"/>
                <a:cs typeface="Times New Roman"/>
              </a:rPr>
              <a:t>for</a:t>
            </a:r>
            <a:r>
              <a:rPr sz="2200" spc="5" dirty="0">
                <a:latin typeface="Times New Roman"/>
                <a:cs typeface="Times New Roman"/>
              </a:rPr>
              <a:t> </a:t>
            </a:r>
            <a:r>
              <a:rPr sz="2200" dirty="0">
                <a:latin typeface="Times New Roman"/>
                <a:cs typeface="Times New Roman"/>
              </a:rPr>
              <a:t>example,</a:t>
            </a:r>
            <a:r>
              <a:rPr sz="2200" spc="10" dirty="0">
                <a:latin typeface="Times New Roman"/>
                <a:cs typeface="Times New Roman"/>
              </a:rPr>
              <a:t> </a:t>
            </a:r>
            <a:r>
              <a:rPr sz="2200" dirty="0">
                <a:latin typeface="Times New Roman"/>
                <a:cs typeface="Times New Roman"/>
              </a:rPr>
              <a:t>the</a:t>
            </a:r>
            <a:r>
              <a:rPr sz="2200" spc="5" dirty="0">
                <a:latin typeface="Times New Roman"/>
                <a:cs typeface="Times New Roman"/>
              </a:rPr>
              <a:t> </a:t>
            </a:r>
            <a:r>
              <a:rPr sz="2200" dirty="0">
                <a:latin typeface="Times New Roman"/>
                <a:cs typeface="Times New Roman"/>
              </a:rPr>
              <a:t>reader</a:t>
            </a:r>
            <a:r>
              <a:rPr sz="2200" spc="15" dirty="0">
                <a:latin typeface="Times New Roman"/>
                <a:cs typeface="Times New Roman"/>
              </a:rPr>
              <a:t> </a:t>
            </a:r>
            <a:r>
              <a:rPr sz="2200" dirty="0">
                <a:latin typeface="Times New Roman"/>
                <a:cs typeface="Times New Roman"/>
              </a:rPr>
              <a:t>process</a:t>
            </a:r>
            <a:r>
              <a:rPr sz="2200" spc="10" dirty="0">
                <a:latin typeface="Times New Roman"/>
                <a:cs typeface="Times New Roman"/>
              </a:rPr>
              <a:t> </a:t>
            </a:r>
            <a:r>
              <a:rPr sz="2200" dirty="0">
                <a:latin typeface="Times New Roman"/>
                <a:cs typeface="Times New Roman"/>
              </a:rPr>
              <a:t>never</a:t>
            </a:r>
            <a:r>
              <a:rPr sz="2200" spc="15" dirty="0">
                <a:latin typeface="Times New Roman"/>
                <a:cs typeface="Times New Roman"/>
              </a:rPr>
              <a:t> </a:t>
            </a:r>
            <a:r>
              <a:rPr sz="2200" spc="-10" dirty="0">
                <a:latin typeface="Times New Roman"/>
                <a:cs typeface="Times New Roman"/>
              </a:rPr>
              <a:t>attempts </a:t>
            </a:r>
            <a:r>
              <a:rPr sz="2200" dirty="0">
                <a:latin typeface="Times New Roman"/>
                <a:cs typeface="Times New Roman"/>
              </a:rPr>
              <a:t>to</a:t>
            </a:r>
            <a:r>
              <a:rPr sz="2200" spc="-40" dirty="0">
                <a:latin typeface="Times New Roman"/>
                <a:cs typeface="Times New Roman"/>
              </a:rPr>
              <a:t> </a:t>
            </a:r>
            <a:r>
              <a:rPr sz="2200" dirty="0">
                <a:latin typeface="Times New Roman"/>
                <a:cs typeface="Times New Roman"/>
              </a:rPr>
              <a:t>read</a:t>
            </a:r>
            <a:r>
              <a:rPr sz="2200" spc="-35" dirty="0">
                <a:latin typeface="Times New Roman"/>
                <a:cs typeface="Times New Roman"/>
              </a:rPr>
              <a:t> </a:t>
            </a:r>
            <a:r>
              <a:rPr sz="2200" dirty="0">
                <a:latin typeface="Times New Roman"/>
                <a:cs typeface="Times New Roman"/>
              </a:rPr>
              <a:t>data</a:t>
            </a:r>
            <a:r>
              <a:rPr sz="2200" spc="-30" dirty="0">
                <a:latin typeface="Times New Roman"/>
                <a:cs typeface="Times New Roman"/>
              </a:rPr>
              <a:t> </a:t>
            </a:r>
            <a:r>
              <a:rPr sz="2200" dirty="0">
                <a:latin typeface="Times New Roman"/>
                <a:cs typeface="Times New Roman"/>
              </a:rPr>
              <a:t>from</a:t>
            </a:r>
            <a:r>
              <a:rPr sz="2200" spc="-25" dirty="0">
                <a:latin typeface="Times New Roman"/>
                <a:cs typeface="Times New Roman"/>
              </a:rPr>
              <a:t> </a:t>
            </a:r>
            <a:r>
              <a:rPr sz="2200" dirty="0">
                <a:latin typeface="Times New Roman"/>
                <a:cs typeface="Times New Roman"/>
              </a:rPr>
              <a:t>the</a:t>
            </a:r>
            <a:r>
              <a:rPr sz="2200" spc="-30" dirty="0">
                <a:latin typeface="Times New Roman"/>
                <a:cs typeface="Times New Roman"/>
              </a:rPr>
              <a:t> </a:t>
            </a:r>
            <a:r>
              <a:rPr sz="2200" dirty="0">
                <a:latin typeface="Times New Roman"/>
                <a:cs typeface="Times New Roman"/>
              </a:rPr>
              <a:t>input</a:t>
            </a:r>
            <a:r>
              <a:rPr sz="2200" spc="-35" dirty="0">
                <a:latin typeface="Times New Roman"/>
                <a:cs typeface="Times New Roman"/>
              </a:rPr>
              <a:t> </a:t>
            </a:r>
            <a:r>
              <a:rPr sz="2200" dirty="0">
                <a:latin typeface="Times New Roman"/>
                <a:cs typeface="Times New Roman"/>
              </a:rPr>
              <a:t>if</a:t>
            </a:r>
            <a:r>
              <a:rPr sz="2200" spc="-35" dirty="0">
                <a:latin typeface="Times New Roman"/>
                <a:cs typeface="Times New Roman"/>
              </a:rPr>
              <a:t> </a:t>
            </a:r>
            <a:r>
              <a:rPr sz="2200" dirty="0">
                <a:latin typeface="Times New Roman"/>
                <a:cs typeface="Times New Roman"/>
              </a:rPr>
              <a:t>the</a:t>
            </a:r>
            <a:r>
              <a:rPr sz="2200" spc="-30" dirty="0">
                <a:latin typeface="Times New Roman"/>
                <a:cs typeface="Times New Roman"/>
              </a:rPr>
              <a:t> </a:t>
            </a:r>
            <a:r>
              <a:rPr sz="2200" dirty="0">
                <a:latin typeface="Times New Roman"/>
                <a:cs typeface="Times New Roman"/>
              </a:rPr>
              <a:t>buffer</a:t>
            </a:r>
            <a:r>
              <a:rPr sz="2200" spc="-20" dirty="0">
                <a:latin typeface="Times New Roman"/>
                <a:cs typeface="Times New Roman"/>
              </a:rPr>
              <a:t> </a:t>
            </a:r>
            <a:r>
              <a:rPr sz="2200" dirty="0">
                <a:latin typeface="Times New Roman"/>
                <a:cs typeface="Times New Roman"/>
              </a:rPr>
              <a:t>is</a:t>
            </a:r>
            <a:r>
              <a:rPr sz="2200" spc="-50" dirty="0">
                <a:latin typeface="Times New Roman"/>
                <a:cs typeface="Times New Roman"/>
              </a:rPr>
              <a:t> </a:t>
            </a:r>
            <a:r>
              <a:rPr sz="2200" spc="-10" dirty="0">
                <a:latin typeface="Times New Roman"/>
                <a:cs typeface="Times New Roman"/>
              </a:rPr>
              <a:t>empty.</a:t>
            </a:r>
            <a:endParaRPr sz="2200" dirty="0">
              <a:latin typeface="Times New Roman"/>
              <a:cs typeface="Times New Roman"/>
            </a:endParaRP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13335" rIns="0" bIns="0" rtlCol="0">
            <a:spAutoFit/>
          </a:bodyPr>
          <a:lstStyle/>
          <a:p>
            <a:pPr marL="12700" algn="ctr">
              <a:spcBef>
                <a:spcPts val="105"/>
              </a:spcBef>
            </a:pPr>
            <a:r>
              <a:rPr sz="4000" dirty="0"/>
              <a:t>Race Condition</a:t>
            </a:r>
          </a:p>
        </p:txBody>
      </p:sp>
      <p:sp>
        <p:nvSpPr>
          <p:cNvPr id="3" name="object 3"/>
          <p:cNvSpPr txBox="1">
            <a:spLocks noGrp="1"/>
          </p:cNvSpPr>
          <p:nvPr>
            <p:ph type="body" idx="1"/>
          </p:nvPr>
        </p:nvSpPr>
        <p:spPr>
          <a:xfrm>
            <a:off x="1016252" y="1680996"/>
            <a:ext cx="7111492" cy="3496008"/>
          </a:xfrm>
          <a:prstGeom prst="rect">
            <a:avLst/>
          </a:prstGeom>
        </p:spPr>
        <p:txBody>
          <a:bodyPr vert="horz" wrap="square" lIns="0" tIns="718997" rIns="0" bIns="0" rtlCol="0">
            <a:spAutoFit/>
          </a:bodyPr>
          <a:lstStyle/>
          <a:p>
            <a:pPr marR="5080" algn="just">
              <a:lnSpc>
                <a:spcPct val="100000"/>
              </a:lnSpc>
            </a:pPr>
            <a:r>
              <a:rPr sz="3600" b="1" dirty="0">
                <a:solidFill>
                  <a:srgbClr val="FF0000"/>
                </a:solidFill>
                <a:latin typeface="Calibri"/>
                <a:cs typeface="Calibri"/>
              </a:rPr>
              <a:t>Situation</a:t>
            </a:r>
            <a:r>
              <a:rPr sz="3600" b="1" spc="-95" dirty="0">
                <a:solidFill>
                  <a:srgbClr val="FF0000"/>
                </a:solidFill>
                <a:latin typeface="Calibri"/>
                <a:cs typeface="Calibri"/>
              </a:rPr>
              <a:t> </a:t>
            </a:r>
            <a:r>
              <a:rPr sz="3600" b="1" dirty="0">
                <a:solidFill>
                  <a:srgbClr val="FF0000"/>
                </a:solidFill>
                <a:latin typeface="Calibri"/>
                <a:cs typeface="Calibri"/>
              </a:rPr>
              <a:t>where</a:t>
            </a:r>
            <a:r>
              <a:rPr sz="3600" b="1" spc="-100" dirty="0">
                <a:solidFill>
                  <a:srgbClr val="FF0000"/>
                </a:solidFill>
                <a:latin typeface="Calibri"/>
                <a:cs typeface="Calibri"/>
              </a:rPr>
              <a:t> </a:t>
            </a:r>
            <a:r>
              <a:rPr sz="3600" b="1" dirty="0">
                <a:solidFill>
                  <a:srgbClr val="00B050"/>
                </a:solidFill>
                <a:latin typeface="Calibri"/>
                <a:cs typeface="Calibri"/>
              </a:rPr>
              <a:t>two</a:t>
            </a:r>
            <a:r>
              <a:rPr sz="3600" b="1" spc="-95" dirty="0">
                <a:solidFill>
                  <a:srgbClr val="00B050"/>
                </a:solidFill>
                <a:latin typeface="Calibri"/>
                <a:cs typeface="Calibri"/>
              </a:rPr>
              <a:t> </a:t>
            </a:r>
            <a:r>
              <a:rPr sz="3600" b="1" dirty="0">
                <a:solidFill>
                  <a:srgbClr val="00B050"/>
                </a:solidFill>
                <a:latin typeface="Calibri"/>
                <a:cs typeface="Calibri"/>
              </a:rPr>
              <a:t>or</a:t>
            </a:r>
            <a:r>
              <a:rPr sz="3600" b="1" spc="-100" dirty="0">
                <a:solidFill>
                  <a:srgbClr val="00B050"/>
                </a:solidFill>
                <a:latin typeface="Calibri"/>
                <a:cs typeface="Calibri"/>
              </a:rPr>
              <a:t> </a:t>
            </a:r>
            <a:r>
              <a:rPr sz="3600" b="1" dirty="0">
                <a:solidFill>
                  <a:srgbClr val="00B050"/>
                </a:solidFill>
                <a:latin typeface="Calibri"/>
                <a:cs typeface="Calibri"/>
              </a:rPr>
              <a:t>more</a:t>
            </a:r>
            <a:r>
              <a:rPr sz="3600" b="1" spc="-100" dirty="0">
                <a:solidFill>
                  <a:srgbClr val="00B050"/>
                </a:solidFill>
                <a:latin typeface="Calibri"/>
                <a:cs typeface="Calibri"/>
              </a:rPr>
              <a:t> </a:t>
            </a:r>
            <a:r>
              <a:rPr sz="3600" b="1" spc="-10" dirty="0">
                <a:solidFill>
                  <a:srgbClr val="00B050"/>
                </a:solidFill>
                <a:latin typeface="Calibri"/>
                <a:cs typeface="Calibri"/>
              </a:rPr>
              <a:t>processes </a:t>
            </a:r>
            <a:r>
              <a:rPr sz="3600" b="1" dirty="0">
                <a:solidFill>
                  <a:srgbClr val="00B050"/>
                </a:solidFill>
                <a:latin typeface="Calibri"/>
                <a:cs typeface="Calibri"/>
              </a:rPr>
              <a:t>are</a:t>
            </a:r>
            <a:r>
              <a:rPr sz="3600" b="1" spc="-95" dirty="0">
                <a:solidFill>
                  <a:srgbClr val="00B050"/>
                </a:solidFill>
                <a:latin typeface="Calibri"/>
                <a:cs typeface="Calibri"/>
              </a:rPr>
              <a:t> </a:t>
            </a:r>
            <a:r>
              <a:rPr sz="3600" b="1" dirty="0">
                <a:solidFill>
                  <a:srgbClr val="00B050"/>
                </a:solidFill>
                <a:latin typeface="Calibri"/>
                <a:cs typeface="Calibri"/>
              </a:rPr>
              <a:t>reading</a:t>
            </a:r>
            <a:r>
              <a:rPr sz="3600" b="1" spc="-70" dirty="0">
                <a:solidFill>
                  <a:srgbClr val="00B050"/>
                </a:solidFill>
                <a:latin typeface="Calibri"/>
                <a:cs typeface="Calibri"/>
              </a:rPr>
              <a:t> </a:t>
            </a:r>
            <a:r>
              <a:rPr sz="3600" b="1" dirty="0">
                <a:solidFill>
                  <a:srgbClr val="00B050"/>
                </a:solidFill>
                <a:latin typeface="Calibri"/>
                <a:cs typeface="Calibri"/>
              </a:rPr>
              <a:t>or</a:t>
            </a:r>
            <a:r>
              <a:rPr sz="3600" b="1" spc="-80" dirty="0">
                <a:solidFill>
                  <a:srgbClr val="00B050"/>
                </a:solidFill>
                <a:latin typeface="Calibri"/>
                <a:cs typeface="Calibri"/>
              </a:rPr>
              <a:t> </a:t>
            </a:r>
            <a:r>
              <a:rPr sz="3600" b="1" dirty="0">
                <a:solidFill>
                  <a:srgbClr val="00B050"/>
                </a:solidFill>
                <a:latin typeface="Calibri"/>
                <a:cs typeface="Calibri"/>
              </a:rPr>
              <a:t>writing</a:t>
            </a:r>
            <a:r>
              <a:rPr sz="3600" b="1" spc="-75" dirty="0">
                <a:solidFill>
                  <a:srgbClr val="00B050"/>
                </a:solidFill>
                <a:latin typeface="Calibri"/>
                <a:cs typeface="Calibri"/>
              </a:rPr>
              <a:t> </a:t>
            </a:r>
            <a:r>
              <a:rPr sz="3600" b="1" dirty="0">
                <a:solidFill>
                  <a:srgbClr val="00B050"/>
                </a:solidFill>
                <a:latin typeface="Calibri"/>
                <a:cs typeface="Calibri"/>
              </a:rPr>
              <a:t>some</a:t>
            </a:r>
            <a:r>
              <a:rPr sz="3600" b="1" spc="-70" dirty="0">
                <a:solidFill>
                  <a:srgbClr val="00B050"/>
                </a:solidFill>
                <a:latin typeface="Calibri"/>
                <a:cs typeface="Calibri"/>
              </a:rPr>
              <a:t> </a:t>
            </a:r>
            <a:r>
              <a:rPr sz="3600" b="1" dirty="0">
                <a:solidFill>
                  <a:srgbClr val="00B050"/>
                </a:solidFill>
                <a:latin typeface="Calibri"/>
                <a:cs typeface="Calibri"/>
              </a:rPr>
              <a:t>shared</a:t>
            </a:r>
            <a:r>
              <a:rPr sz="3600" b="1" spc="-65" dirty="0">
                <a:solidFill>
                  <a:srgbClr val="00B050"/>
                </a:solidFill>
                <a:latin typeface="Calibri"/>
                <a:cs typeface="Calibri"/>
              </a:rPr>
              <a:t> </a:t>
            </a:r>
            <a:r>
              <a:rPr sz="3600" b="1" spc="-20" dirty="0">
                <a:solidFill>
                  <a:srgbClr val="00B050"/>
                </a:solidFill>
                <a:latin typeface="Calibri"/>
                <a:cs typeface="Calibri"/>
              </a:rPr>
              <a:t>data </a:t>
            </a:r>
            <a:r>
              <a:rPr sz="3600" b="1" dirty="0">
                <a:solidFill>
                  <a:srgbClr val="FF0000"/>
                </a:solidFill>
                <a:latin typeface="Calibri"/>
                <a:cs typeface="Calibri"/>
              </a:rPr>
              <a:t>and</a:t>
            </a:r>
            <a:r>
              <a:rPr sz="3600" b="1" spc="-75" dirty="0">
                <a:solidFill>
                  <a:srgbClr val="FF0000"/>
                </a:solidFill>
                <a:latin typeface="Calibri"/>
                <a:cs typeface="Calibri"/>
              </a:rPr>
              <a:t> </a:t>
            </a:r>
            <a:r>
              <a:rPr sz="3600" b="1" dirty="0">
                <a:solidFill>
                  <a:srgbClr val="FF0000"/>
                </a:solidFill>
                <a:latin typeface="Calibri"/>
                <a:cs typeface="Calibri"/>
              </a:rPr>
              <a:t>the</a:t>
            </a:r>
            <a:r>
              <a:rPr sz="3600" b="1" spc="-80" dirty="0">
                <a:solidFill>
                  <a:srgbClr val="FF0000"/>
                </a:solidFill>
                <a:latin typeface="Calibri"/>
                <a:cs typeface="Calibri"/>
              </a:rPr>
              <a:t> </a:t>
            </a:r>
            <a:r>
              <a:rPr sz="3600" b="1" dirty="0">
                <a:solidFill>
                  <a:srgbClr val="FF0000"/>
                </a:solidFill>
                <a:latin typeface="Calibri"/>
                <a:cs typeface="Calibri"/>
              </a:rPr>
              <a:t>final</a:t>
            </a:r>
            <a:r>
              <a:rPr sz="3600" b="1" spc="-75" dirty="0">
                <a:solidFill>
                  <a:srgbClr val="FF0000"/>
                </a:solidFill>
                <a:latin typeface="Calibri"/>
                <a:cs typeface="Calibri"/>
              </a:rPr>
              <a:t> </a:t>
            </a:r>
            <a:r>
              <a:rPr sz="3600" b="1" dirty="0">
                <a:solidFill>
                  <a:srgbClr val="FF0000"/>
                </a:solidFill>
                <a:latin typeface="Calibri"/>
                <a:cs typeface="Calibri"/>
              </a:rPr>
              <a:t>result</a:t>
            </a:r>
            <a:r>
              <a:rPr sz="3600" b="1" spc="-70" dirty="0">
                <a:solidFill>
                  <a:srgbClr val="FF0000"/>
                </a:solidFill>
                <a:latin typeface="Calibri"/>
                <a:cs typeface="Calibri"/>
              </a:rPr>
              <a:t> </a:t>
            </a:r>
            <a:r>
              <a:rPr sz="3600" b="1" dirty="0">
                <a:solidFill>
                  <a:srgbClr val="FF0000"/>
                </a:solidFill>
                <a:latin typeface="Calibri"/>
                <a:cs typeface="Calibri"/>
              </a:rPr>
              <a:t>depends</a:t>
            </a:r>
            <a:r>
              <a:rPr sz="3600" b="1" spc="-60" dirty="0">
                <a:solidFill>
                  <a:srgbClr val="FF0000"/>
                </a:solidFill>
                <a:latin typeface="Calibri"/>
                <a:cs typeface="Calibri"/>
              </a:rPr>
              <a:t> </a:t>
            </a:r>
            <a:r>
              <a:rPr sz="3600" b="1" dirty="0">
                <a:solidFill>
                  <a:srgbClr val="FF0000"/>
                </a:solidFill>
                <a:latin typeface="Calibri"/>
                <a:cs typeface="Calibri"/>
              </a:rPr>
              <a:t>on</a:t>
            </a:r>
            <a:r>
              <a:rPr sz="3600" b="1" spc="-65" dirty="0">
                <a:solidFill>
                  <a:srgbClr val="FF0000"/>
                </a:solidFill>
                <a:latin typeface="Calibri"/>
                <a:cs typeface="Calibri"/>
              </a:rPr>
              <a:t> </a:t>
            </a:r>
            <a:r>
              <a:rPr sz="3600" b="1" dirty="0">
                <a:solidFill>
                  <a:srgbClr val="FF0000"/>
                </a:solidFill>
                <a:latin typeface="Calibri"/>
                <a:cs typeface="Calibri"/>
              </a:rPr>
              <a:t>who</a:t>
            </a:r>
            <a:r>
              <a:rPr sz="3600" b="1" spc="-75" dirty="0">
                <a:solidFill>
                  <a:srgbClr val="FF0000"/>
                </a:solidFill>
                <a:latin typeface="Calibri"/>
                <a:cs typeface="Calibri"/>
              </a:rPr>
              <a:t> </a:t>
            </a:r>
            <a:r>
              <a:rPr sz="3600" b="1" spc="-25" dirty="0">
                <a:solidFill>
                  <a:srgbClr val="FF0000"/>
                </a:solidFill>
                <a:latin typeface="Calibri"/>
                <a:cs typeface="Calibri"/>
              </a:rPr>
              <a:t>run</a:t>
            </a:r>
            <a:r>
              <a:rPr lang="en-US" sz="3600" b="1" spc="-25" dirty="0">
                <a:solidFill>
                  <a:srgbClr val="FF0000"/>
                </a:solidFill>
                <a:latin typeface="Calibri"/>
                <a:cs typeface="Calibri"/>
              </a:rPr>
              <a:t> </a:t>
            </a:r>
            <a:r>
              <a:rPr sz="3600" b="1" spc="-25" dirty="0">
                <a:solidFill>
                  <a:srgbClr val="FF0000"/>
                </a:solidFill>
                <a:latin typeface="Calibri"/>
                <a:cs typeface="Calibri"/>
              </a:rPr>
              <a:t>precisely,</a:t>
            </a:r>
            <a:r>
              <a:rPr sz="3600" b="1" spc="-140" dirty="0">
                <a:solidFill>
                  <a:srgbClr val="FF0000"/>
                </a:solidFill>
                <a:latin typeface="Calibri"/>
                <a:cs typeface="Calibri"/>
              </a:rPr>
              <a:t> </a:t>
            </a:r>
            <a:r>
              <a:rPr sz="3600" b="1" dirty="0">
                <a:solidFill>
                  <a:srgbClr val="FF0000"/>
                </a:solidFill>
                <a:latin typeface="Calibri"/>
                <a:cs typeface="Calibri"/>
              </a:rPr>
              <a:t>are</a:t>
            </a:r>
            <a:r>
              <a:rPr sz="3600" b="1" spc="-105" dirty="0">
                <a:solidFill>
                  <a:srgbClr val="FF0000"/>
                </a:solidFill>
                <a:latin typeface="Calibri"/>
                <a:cs typeface="Calibri"/>
              </a:rPr>
              <a:t> </a:t>
            </a:r>
            <a:r>
              <a:rPr sz="3600" b="1" dirty="0">
                <a:solidFill>
                  <a:srgbClr val="FF0000"/>
                </a:solidFill>
                <a:latin typeface="Calibri"/>
                <a:cs typeface="Calibri"/>
              </a:rPr>
              <a:t>called</a:t>
            </a:r>
            <a:r>
              <a:rPr sz="3600" b="1" spc="-100" dirty="0">
                <a:solidFill>
                  <a:srgbClr val="FF0000"/>
                </a:solidFill>
                <a:latin typeface="Calibri"/>
                <a:cs typeface="Calibri"/>
              </a:rPr>
              <a:t> </a:t>
            </a:r>
            <a:r>
              <a:rPr sz="3600" b="1" dirty="0">
                <a:solidFill>
                  <a:srgbClr val="FF0000"/>
                </a:solidFill>
                <a:latin typeface="Calibri"/>
                <a:cs typeface="Calibri"/>
              </a:rPr>
              <a:t>race</a:t>
            </a:r>
            <a:r>
              <a:rPr sz="3600" b="1" spc="-105" dirty="0">
                <a:solidFill>
                  <a:srgbClr val="FF0000"/>
                </a:solidFill>
                <a:latin typeface="Calibri"/>
                <a:cs typeface="Calibri"/>
              </a:rPr>
              <a:t> </a:t>
            </a:r>
            <a:r>
              <a:rPr sz="3600" b="1" spc="-10" dirty="0">
                <a:solidFill>
                  <a:srgbClr val="FF0000"/>
                </a:solidFill>
                <a:latin typeface="Calibri"/>
                <a:cs typeface="Calibri"/>
              </a:rPr>
              <a:t>conditions</a:t>
            </a:r>
            <a:endParaRPr sz="3600" dirty="0">
              <a:latin typeface="Calibri"/>
              <a:cs typeface="Calibri"/>
            </a:endParaRPr>
          </a:p>
        </p:txBody>
      </p:sp>
      <p:sp>
        <p:nvSpPr>
          <p:cNvPr id="4" name="object 4"/>
          <p:cNvSpPr txBox="1">
            <a:spLocks noGrp="1"/>
          </p:cNvSpPr>
          <p:nvPr>
            <p:ph type="ftr" sz="quarter" idx="5"/>
          </p:nvPr>
        </p:nvSpPr>
        <p:spPr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12700">
              <a:lnSpc>
                <a:spcPts val="1240"/>
              </a:lnSpc>
            </a:pPr>
            <a:r>
              <a:rPr lang="pl-PL"/>
              <a:t>By Dr. Binod Kr. Adhikari</a:t>
            </a:r>
            <a:endParaRPr spc="-1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13335" rIns="0" bIns="0" rtlCol="0">
            <a:spAutoFit/>
          </a:bodyPr>
          <a:lstStyle/>
          <a:p>
            <a:pPr marL="12700" algn="ctr">
              <a:spcBef>
                <a:spcPts val="105"/>
              </a:spcBef>
            </a:pPr>
            <a:r>
              <a:rPr sz="4000" dirty="0"/>
              <a:t>Race Condition?</a:t>
            </a:r>
          </a:p>
        </p:txBody>
      </p:sp>
      <p:sp>
        <p:nvSpPr>
          <p:cNvPr id="4" name="object 4"/>
          <p:cNvSpPr txBox="1">
            <a:spLocks noGrp="1"/>
          </p:cNvSpPr>
          <p:nvPr>
            <p:ph type="ftr" sz="quarter" idx="5"/>
          </p:nvPr>
        </p:nvSpPr>
        <p:spPr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12700">
              <a:lnSpc>
                <a:spcPts val="1240"/>
              </a:lnSpc>
            </a:pPr>
            <a:r>
              <a:rPr lang="pl-PL"/>
              <a:t>By Dr. Binod Kr. Adhikari</a:t>
            </a:r>
            <a:endParaRPr spc="-10" dirty="0"/>
          </a:p>
        </p:txBody>
      </p:sp>
      <p:sp>
        <p:nvSpPr>
          <p:cNvPr id="3" name="object 3"/>
          <p:cNvSpPr txBox="1"/>
          <p:nvPr/>
        </p:nvSpPr>
        <p:spPr>
          <a:xfrm>
            <a:off x="535940" y="1507044"/>
            <a:ext cx="7799070" cy="3627120"/>
          </a:xfrm>
          <a:prstGeom prst="rect">
            <a:avLst/>
          </a:prstGeom>
        </p:spPr>
        <p:txBody>
          <a:bodyPr vert="horz" wrap="square" lIns="0" tIns="113664" rIns="0" bIns="0" rtlCol="0">
            <a:spAutoFit/>
          </a:bodyPr>
          <a:lstStyle/>
          <a:p>
            <a:pPr marL="354965" indent="-342265">
              <a:lnSpc>
                <a:spcPct val="100000"/>
              </a:lnSpc>
              <a:spcBef>
                <a:spcPts val="894"/>
              </a:spcBef>
              <a:buFont typeface="Arial"/>
              <a:buChar char="•"/>
              <a:tabLst>
                <a:tab pos="354965" algn="l"/>
              </a:tabLst>
            </a:pPr>
            <a:r>
              <a:rPr sz="3200" b="1" dirty="0">
                <a:solidFill>
                  <a:srgbClr val="FF0000"/>
                </a:solidFill>
                <a:latin typeface="Calibri"/>
                <a:cs typeface="Calibri"/>
              </a:rPr>
              <a:t>Possibilities</a:t>
            </a:r>
            <a:r>
              <a:rPr sz="3200" b="1" spc="-85" dirty="0">
                <a:solidFill>
                  <a:srgbClr val="FF0000"/>
                </a:solidFill>
                <a:latin typeface="Calibri"/>
                <a:cs typeface="Calibri"/>
              </a:rPr>
              <a:t> </a:t>
            </a:r>
            <a:r>
              <a:rPr sz="3200" b="1" dirty="0">
                <a:solidFill>
                  <a:srgbClr val="FF0000"/>
                </a:solidFill>
                <a:latin typeface="Calibri"/>
                <a:cs typeface="Calibri"/>
              </a:rPr>
              <a:t>of</a:t>
            </a:r>
            <a:r>
              <a:rPr sz="3200" b="1" spc="-20" dirty="0">
                <a:solidFill>
                  <a:srgbClr val="FF0000"/>
                </a:solidFill>
                <a:latin typeface="Calibri"/>
                <a:cs typeface="Calibri"/>
              </a:rPr>
              <a:t> </a:t>
            </a:r>
            <a:r>
              <a:rPr sz="3200" b="1" spc="-10" dirty="0">
                <a:solidFill>
                  <a:srgbClr val="FF0000"/>
                </a:solidFill>
                <a:latin typeface="Calibri"/>
                <a:cs typeface="Calibri"/>
              </a:rPr>
              <a:t>race:</a:t>
            </a:r>
            <a:endParaRPr sz="3200" dirty="0">
              <a:latin typeface="Calibri"/>
              <a:cs typeface="Calibri"/>
            </a:endParaRPr>
          </a:p>
          <a:p>
            <a:pPr marL="756285" marR="5080" lvl="1" indent="-287020">
              <a:lnSpc>
                <a:spcPct val="100000"/>
              </a:lnSpc>
              <a:spcBef>
                <a:spcPts val="690"/>
              </a:spcBef>
              <a:buFont typeface="Arial"/>
              <a:buChar char="–"/>
              <a:tabLst>
                <a:tab pos="756285" algn="l"/>
              </a:tabLst>
            </a:pPr>
            <a:r>
              <a:rPr sz="2800" dirty="0">
                <a:latin typeface="Calibri"/>
                <a:cs typeface="Calibri"/>
              </a:rPr>
              <a:t>one</a:t>
            </a:r>
            <a:r>
              <a:rPr sz="2800" spc="-114" dirty="0">
                <a:latin typeface="Calibri"/>
                <a:cs typeface="Calibri"/>
              </a:rPr>
              <a:t> </a:t>
            </a:r>
            <a:r>
              <a:rPr sz="2800" dirty="0">
                <a:latin typeface="Calibri"/>
                <a:cs typeface="Calibri"/>
              </a:rPr>
              <a:t>process</a:t>
            </a:r>
            <a:r>
              <a:rPr sz="2800" spc="-85" dirty="0">
                <a:latin typeface="Calibri"/>
                <a:cs typeface="Calibri"/>
              </a:rPr>
              <a:t> </a:t>
            </a:r>
            <a:r>
              <a:rPr sz="2800" dirty="0">
                <a:latin typeface="Calibri"/>
                <a:cs typeface="Calibri"/>
              </a:rPr>
              <a:t>reading</a:t>
            </a:r>
            <a:r>
              <a:rPr sz="2800" spc="-95" dirty="0">
                <a:latin typeface="Calibri"/>
                <a:cs typeface="Calibri"/>
              </a:rPr>
              <a:t> </a:t>
            </a:r>
            <a:r>
              <a:rPr sz="2800" dirty="0">
                <a:latin typeface="Calibri"/>
                <a:cs typeface="Calibri"/>
              </a:rPr>
              <a:t>and</a:t>
            </a:r>
            <a:r>
              <a:rPr sz="2800" spc="-100" dirty="0">
                <a:latin typeface="Calibri"/>
                <a:cs typeface="Calibri"/>
              </a:rPr>
              <a:t> </a:t>
            </a:r>
            <a:r>
              <a:rPr sz="2800" dirty="0">
                <a:latin typeface="Calibri"/>
                <a:cs typeface="Calibri"/>
              </a:rPr>
              <a:t>another</a:t>
            </a:r>
            <a:r>
              <a:rPr sz="2800" spc="-90" dirty="0">
                <a:latin typeface="Calibri"/>
                <a:cs typeface="Calibri"/>
              </a:rPr>
              <a:t> </a:t>
            </a:r>
            <a:r>
              <a:rPr sz="2800" dirty="0">
                <a:latin typeface="Calibri"/>
                <a:cs typeface="Calibri"/>
              </a:rPr>
              <a:t>process</a:t>
            </a:r>
            <a:r>
              <a:rPr sz="2800" spc="-75" dirty="0">
                <a:latin typeface="Calibri"/>
                <a:cs typeface="Calibri"/>
              </a:rPr>
              <a:t> </a:t>
            </a:r>
            <a:r>
              <a:rPr sz="2800" spc="-10" dirty="0">
                <a:latin typeface="Calibri"/>
                <a:cs typeface="Calibri"/>
              </a:rPr>
              <a:t>writing </a:t>
            </a:r>
            <a:r>
              <a:rPr sz="2800" dirty="0">
                <a:latin typeface="Calibri"/>
                <a:cs typeface="Calibri"/>
              </a:rPr>
              <a:t>same</a:t>
            </a:r>
            <a:r>
              <a:rPr sz="2800" spc="-65" dirty="0">
                <a:latin typeface="Calibri"/>
                <a:cs typeface="Calibri"/>
              </a:rPr>
              <a:t> </a:t>
            </a:r>
            <a:r>
              <a:rPr sz="2800" spc="-20" dirty="0">
                <a:latin typeface="Calibri"/>
                <a:cs typeface="Calibri"/>
              </a:rPr>
              <a:t>data.</a:t>
            </a:r>
            <a:endParaRPr sz="2800" dirty="0">
              <a:latin typeface="Calibri"/>
              <a:cs typeface="Calibri"/>
            </a:endParaRPr>
          </a:p>
          <a:p>
            <a:pPr marL="835660" lvl="1" indent="-365760">
              <a:lnSpc>
                <a:spcPct val="100000"/>
              </a:lnSpc>
              <a:spcBef>
                <a:spcPts val="675"/>
              </a:spcBef>
              <a:buFont typeface="Arial"/>
              <a:buChar char="–"/>
              <a:tabLst>
                <a:tab pos="835660" algn="l"/>
              </a:tabLst>
            </a:pPr>
            <a:r>
              <a:rPr sz="2800" dirty="0">
                <a:latin typeface="Calibri"/>
                <a:cs typeface="Calibri"/>
              </a:rPr>
              <a:t>two</a:t>
            </a:r>
            <a:r>
              <a:rPr sz="2800" spc="-80" dirty="0">
                <a:latin typeface="Calibri"/>
                <a:cs typeface="Calibri"/>
              </a:rPr>
              <a:t> </a:t>
            </a:r>
            <a:r>
              <a:rPr sz="2800" dirty="0">
                <a:latin typeface="Calibri"/>
                <a:cs typeface="Calibri"/>
              </a:rPr>
              <a:t>or</a:t>
            </a:r>
            <a:r>
              <a:rPr sz="2800" spc="-75" dirty="0">
                <a:latin typeface="Calibri"/>
                <a:cs typeface="Calibri"/>
              </a:rPr>
              <a:t> </a:t>
            </a:r>
            <a:r>
              <a:rPr sz="2800" dirty="0">
                <a:latin typeface="Calibri"/>
                <a:cs typeface="Calibri"/>
              </a:rPr>
              <a:t>more</a:t>
            </a:r>
            <a:r>
              <a:rPr sz="2800" spc="-75" dirty="0">
                <a:latin typeface="Calibri"/>
                <a:cs typeface="Calibri"/>
              </a:rPr>
              <a:t> </a:t>
            </a:r>
            <a:r>
              <a:rPr sz="2800" dirty="0">
                <a:latin typeface="Calibri"/>
                <a:cs typeface="Calibri"/>
              </a:rPr>
              <a:t>process</a:t>
            </a:r>
            <a:r>
              <a:rPr sz="2800" spc="-35" dirty="0">
                <a:latin typeface="Calibri"/>
                <a:cs typeface="Calibri"/>
              </a:rPr>
              <a:t> </a:t>
            </a:r>
            <a:r>
              <a:rPr sz="2800" dirty="0">
                <a:latin typeface="Calibri"/>
                <a:cs typeface="Calibri"/>
              </a:rPr>
              <a:t>writing</a:t>
            </a:r>
            <a:r>
              <a:rPr sz="2800" spc="-80" dirty="0">
                <a:latin typeface="Calibri"/>
                <a:cs typeface="Calibri"/>
              </a:rPr>
              <a:t> </a:t>
            </a:r>
            <a:r>
              <a:rPr sz="2800" dirty="0">
                <a:latin typeface="Calibri"/>
                <a:cs typeface="Calibri"/>
              </a:rPr>
              <a:t>same</a:t>
            </a:r>
            <a:r>
              <a:rPr sz="2800" spc="-60" dirty="0">
                <a:latin typeface="Calibri"/>
                <a:cs typeface="Calibri"/>
              </a:rPr>
              <a:t> </a:t>
            </a:r>
            <a:r>
              <a:rPr sz="2800" spc="-10" dirty="0">
                <a:latin typeface="Calibri"/>
                <a:cs typeface="Calibri"/>
              </a:rPr>
              <a:t>data.</a:t>
            </a:r>
            <a:endParaRPr sz="2800" dirty="0">
              <a:latin typeface="Calibri"/>
              <a:cs typeface="Calibri"/>
            </a:endParaRPr>
          </a:p>
          <a:p>
            <a:pPr marL="355600" marR="75565" indent="-342900">
              <a:lnSpc>
                <a:spcPct val="100000"/>
              </a:lnSpc>
              <a:spcBef>
                <a:spcPts val="750"/>
              </a:spcBef>
              <a:buFont typeface="Arial"/>
              <a:buChar char="•"/>
              <a:tabLst>
                <a:tab pos="355600" algn="l"/>
              </a:tabLst>
            </a:pPr>
            <a:r>
              <a:rPr sz="3200" dirty="0">
                <a:solidFill>
                  <a:srgbClr val="FF0000"/>
                </a:solidFill>
                <a:latin typeface="Calibri"/>
                <a:cs typeface="Calibri"/>
              </a:rPr>
              <a:t>Solution</a:t>
            </a:r>
            <a:r>
              <a:rPr sz="3200" dirty="0">
                <a:latin typeface="Calibri"/>
                <a:cs typeface="Calibri"/>
              </a:rPr>
              <a:t>:</a:t>
            </a:r>
            <a:r>
              <a:rPr sz="3200" spc="-85" dirty="0">
                <a:latin typeface="Calibri"/>
                <a:cs typeface="Calibri"/>
              </a:rPr>
              <a:t> </a:t>
            </a:r>
            <a:r>
              <a:rPr sz="3200" dirty="0">
                <a:latin typeface="Calibri"/>
                <a:cs typeface="Calibri"/>
              </a:rPr>
              <a:t>prohibiting</a:t>
            </a:r>
            <a:r>
              <a:rPr sz="3200" spc="-55" dirty="0">
                <a:latin typeface="Calibri"/>
                <a:cs typeface="Calibri"/>
              </a:rPr>
              <a:t> </a:t>
            </a:r>
            <a:r>
              <a:rPr sz="3200" dirty="0">
                <a:latin typeface="Calibri"/>
                <a:cs typeface="Calibri"/>
              </a:rPr>
              <a:t>more</a:t>
            </a:r>
            <a:r>
              <a:rPr sz="3200" spc="-100" dirty="0">
                <a:latin typeface="Calibri"/>
                <a:cs typeface="Calibri"/>
              </a:rPr>
              <a:t> </a:t>
            </a:r>
            <a:r>
              <a:rPr sz="3200" dirty="0">
                <a:latin typeface="Calibri"/>
                <a:cs typeface="Calibri"/>
              </a:rPr>
              <a:t>than</a:t>
            </a:r>
            <a:r>
              <a:rPr sz="3200" spc="-80" dirty="0">
                <a:latin typeface="Calibri"/>
                <a:cs typeface="Calibri"/>
              </a:rPr>
              <a:t> </a:t>
            </a:r>
            <a:r>
              <a:rPr sz="3200" dirty="0">
                <a:latin typeface="Calibri"/>
                <a:cs typeface="Calibri"/>
              </a:rPr>
              <a:t>one</a:t>
            </a:r>
            <a:r>
              <a:rPr sz="3200" spc="-90" dirty="0">
                <a:latin typeface="Calibri"/>
                <a:cs typeface="Calibri"/>
              </a:rPr>
              <a:t> </a:t>
            </a:r>
            <a:r>
              <a:rPr sz="3200" spc="-10" dirty="0">
                <a:latin typeface="Calibri"/>
                <a:cs typeface="Calibri"/>
              </a:rPr>
              <a:t>process </a:t>
            </a:r>
            <a:r>
              <a:rPr sz="3200" dirty="0">
                <a:latin typeface="Calibri"/>
                <a:cs typeface="Calibri"/>
              </a:rPr>
              <a:t>from</a:t>
            </a:r>
            <a:r>
              <a:rPr sz="3200" spc="-85" dirty="0">
                <a:latin typeface="Calibri"/>
                <a:cs typeface="Calibri"/>
              </a:rPr>
              <a:t> </a:t>
            </a:r>
            <a:r>
              <a:rPr sz="3200" dirty="0">
                <a:latin typeface="Calibri"/>
                <a:cs typeface="Calibri"/>
              </a:rPr>
              <a:t>reading</a:t>
            </a:r>
            <a:r>
              <a:rPr sz="3200" spc="-65" dirty="0">
                <a:latin typeface="Calibri"/>
                <a:cs typeface="Calibri"/>
              </a:rPr>
              <a:t> </a:t>
            </a:r>
            <a:r>
              <a:rPr sz="3200" dirty="0">
                <a:latin typeface="Calibri"/>
                <a:cs typeface="Calibri"/>
              </a:rPr>
              <a:t>/writing</a:t>
            </a:r>
            <a:r>
              <a:rPr sz="3200" spc="-45" dirty="0">
                <a:latin typeface="Calibri"/>
                <a:cs typeface="Calibri"/>
              </a:rPr>
              <a:t> </a:t>
            </a:r>
            <a:r>
              <a:rPr sz="3200" dirty="0">
                <a:latin typeface="Calibri"/>
                <a:cs typeface="Calibri"/>
              </a:rPr>
              <a:t>the</a:t>
            </a:r>
            <a:r>
              <a:rPr sz="3200" spc="-75" dirty="0">
                <a:latin typeface="Calibri"/>
                <a:cs typeface="Calibri"/>
              </a:rPr>
              <a:t> </a:t>
            </a:r>
            <a:r>
              <a:rPr sz="3200" dirty="0">
                <a:latin typeface="Calibri"/>
                <a:cs typeface="Calibri"/>
              </a:rPr>
              <a:t>same</a:t>
            </a:r>
            <a:r>
              <a:rPr sz="3200" spc="-65" dirty="0">
                <a:latin typeface="Calibri"/>
                <a:cs typeface="Calibri"/>
              </a:rPr>
              <a:t> </a:t>
            </a:r>
            <a:r>
              <a:rPr sz="3200" dirty="0">
                <a:latin typeface="Calibri"/>
                <a:cs typeface="Calibri"/>
              </a:rPr>
              <a:t>data</a:t>
            </a:r>
            <a:r>
              <a:rPr sz="3200" spc="-65" dirty="0">
                <a:latin typeface="Calibri"/>
                <a:cs typeface="Calibri"/>
              </a:rPr>
              <a:t> </a:t>
            </a:r>
            <a:r>
              <a:rPr sz="3200" dirty="0">
                <a:latin typeface="Calibri"/>
                <a:cs typeface="Calibri"/>
              </a:rPr>
              <a:t>at</a:t>
            </a:r>
            <a:r>
              <a:rPr sz="3200" spc="-70" dirty="0">
                <a:latin typeface="Calibri"/>
                <a:cs typeface="Calibri"/>
              </a:rPr>
              <a:t> </a:t>
            </a:r>
            <a:r>
              <a:rPr sz="3200" spc="-25" dirty="0">
                <a:latin typeface="Calibri"/>
                <a:cs typeface="Calibri"/>
              </a:rPr>
              <a:t>the </a:t>
            </a:r>
            <a:r>
              <a:rPr sz="3200" dirty="0">
                <a:latin typeface="Calibri"/>
                <a:cs typeface="Calibri"/>
              </a:rPr>
              <a:t>same</a:t>
            </a:r>
            <a:r>
              <a:rPr sz="3200" spc="-55" dirty="0">
                <a:latin typeface="Calibri"/>
                <a:cs typeface="Calibri"/>
              </a:rPr>
              <a:t> </a:t>
            </a:r>
            <a:r>
              <a:rPr sz="3200" dirty="0">
                <a:latin typeface="Calibri"/>
                <a:cs typeface="Calibri"/>
              </a:rPr>
              <a:t>time-</a:t>
            </a:r>
            <a:r>
              <a:rPr sz="3200" spc="-50" dirty="0">
                <a:latin typeface="Calibri"/>
                <a:cs typeface="Calibri"/>
              </a:rPr>
              <a:t> </a:t>
            </a:r>
            <a:r>
              <a:rPr sz="3200" b="1" dirty="0">
                <a:solidFill>
                  <a:srgbClr val="00AFEF"/>
                </a:solidFill>
                <a:latin typeface="Calibri"/>
                <a:cs typeface="Calibri"/>
              </a:rPr>
              <a:t>Mutual</a:t>
            </a:r>
            <a:r>
              <a:rPr sz="3200" b="1" spc="-65" dirty="0">
                <a:solidFill>
                  <a:srgbClr val="00AFEF"/>
                </a:solidFill>
                <a:latin typeface="Calibri"/>
                <a:cs typeface="Calibri"/>
              </a:rPr>
              <a:t> </a:t>
            </a:r>
            <a:r>
              <a:rPr sz="3200" b="1" dirty="0">
                <a:solidFill>
                  <a:srgbClr val="00AFEF"/>
                </a:solidFill>
                <a:latin typeface="Calibri"/>
                <a:cs typeface="Calibri"/>
              </a:rPr>
              <a:t>Exclusion</a:t>
            </a:r>
            <a:r>
              <a:rPr sz="3200" spc="-10" dirty="0">
                <a:latin typeface="Calibri"/>
                <a:cs typeface="Calibri"/>
              </a:rPr>
              <a:t>.</a:t>
            </a:r>
            <a:endParaRPr sz="3200" dirty="0">
              <a:latin typeface="Calibri"/>
              <a:cs typeface="Calibri"/>
            </a:endParaRP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xfrm>
            <a:off x="1143000" y="228600"/>
            <a:ext cx="7263891" cy="629018"/>
          </a:xfrm>
          <a:prstGeom prst="rect">
            <a:avLst/>
          </a:prstGeom>
        </p:spPr>
        <p:txBody>
          <a:bodyPr vert="horz" wrap="square" lIns="0" tIns="13335" rIns="0" bIns="0" rtlCol="0">
            <a:spAutoFit/>
          </a:bodyPr>
          <a:lstStyle/>
          <a:p>
            <a:pPr marL="12700" algn="ctr">
              <a:spcBef>
                <a:spcPts val="105"/>
              </a:spcBef>
            </a:pPr>
            <a:r>
              <a:rPr sz="4000" dirty="0"/>
              <a:t>Solution to Race condition</a:t>
            </a:r>
          </a:p>
        </p:txBody>
      </p:sp>
      <p:sp>
        <p:nvSpPr>
          <p:cNvPr id="3" name="object 3"/>
          <p:cNvSpPr txBox="1">
            <a:spLocks noGrp="1"/>
          </p:cNvSpPr>
          <p:nvPr>
            <p:ph type="body" idx="1"/>
          </p:nvPr>
        </p:nvSpPr>
        <p:spPr>
          <a:xfrm>
            <a:off x="788417" y="1371600"/>
            <a:ext cx="7669783" cy="4513030"/>
          </a:xfrm>
          <a:prstGeom prst="rect">
            <a:avLst/>
          </a:prstGeom>
        </p:spPr>
        <p:txBody>
          <a:bodyPr vert="horz" wrap="square" lIns="0" tIns="78740" rIns="0" bIns="0" rtlCol="0">
            <a:spAutoFit/>
          </a:bodyPr>
          <a:lstStyle/>
          <a:p>
            <a:pPr marL="355600" marR="5715" indent="-342900" algn="just">
              <a:lnSpc>
                <a:spcPct val="80100"/>
              </a:lnSpc>
              <a:spcBef>
                <a:spcPts val="620"/>
              </a:spcBef>
              <a:buFont typeface="Arial"/>
              <a:buChar char="•"/>
              <a:tabLst>
                <a:tab pos="355600" algn="l"/>
              </a:tabLst>
            </a:pPr>
            <a:r>
              <a:rPr sz="2200" dirty="0">
                <a:latin typeface="Times New Roman"/>
                <a:cs typeface="Times New Roman"/>
              </a:rPr>
              <a:t>Make</a:t>
            </a:r>
            <a:r>
              <a:rPr sz="2200" spc="225" dirty="0">
                <a:latin typeface="Times New Roman"/>
                <a:cs typeface="Times New Roman"/>
              </a:rPr>
              <a:t> </a:t>
            </a:r>
            <a:r>
              <a:rPr sz="2200" dirty="0">
                <a:latin typeface="Times New Roman"/>
                <a:cs typeface="Times New Roman"/>
              </a:rPr>
              <a:t>an</a:t>
            </a:r>
            <a:r>
              <a:rPr sz="2200" spc="229" dirty="0">
                <a:latin typeface="Times New Roman"/>
                <a:cs typeface="Times New Roman"/>
              </a:rPr>
              <a:t> </a:t>
            </a:r>
            <a:r>
              <a:rPr sz="2200" dirty="0">
                <a:latin typeface="Times New Roman"/>
                <a:cs typeface="Times New Roman"/>
              </a:rPr>
              <a:t>operating</a:t>
            </a:r>
            <a:r>
              <a:rPr sz="2200" spc="240" dirty="0">
                <a:latin typeface="Times New Roman"/>
                <a:cs typeface="Times New Roman"/>
              </a:rPr>
              <a:t> </a:t>
            </a:r>
            <a:r>
              <a:rPr sz="2200" dirty="0">
                <a:latin typeface="Times New Roman"/>
                <a:cs typeface="Times New Roman"/>
              </a:rPr>
              <a:t>system</a:t>
            </a:r>
            <a:r>
              <a:rPr sz="2200" spc="220" dirty="0">
                <a:latin typeface="Times New Roman"/>
                <a:cs typeface="Times New Roman"/>
              </a:rPr>
              <a:t> </a:t>
            </a:r>
            <a:r>
              <a:rPr sz="2200" dirty="0">
                <a:latin typeface="Times New Roman"/>
                <a:cs typeface="Times New Roman"/>
              </a:rPr>
              <a:t>not</a:t>
            </a:r>
            <a:r>
              <a:rPr sz="2200" spc="225" dirty="0">
                <a:latin typeface="Times New Roman"/>
                <a:cs typeface="Times New Roman"/>
              </a:rPr>
              <a:t> </a:t>
            </a:r>
            <a:r>
              <a:rPr sz="2200" dirty="0">
                <a:latin typeface="Times New Roman"/>
                <a:cs typeface="Times New Roman"/>
              </a:rPr>
              <a:t>to</a:t>
            </a:r>
            <a:r>
              <a:rPr sz="2200" spc="229" dirty="0">
                <a:latin typeface="Times New Roman"/>
                <a:cs typeface="Times New Roman"/>
              </a:rPr>
              <a:t> </a:t>
            </a:r>
            <a:r>
              <a:rPr sz="2200" dirty="0">
                <a:latin typeface="Times New Roman"/>
                <a:cs typeface="Times New Roman"/>
              </a:rPr>
              <a:t>perform</a:t>
            </a:r>
            <a:r>
              <a:rPr sz="2200" spc="215" dirty="0">
                <a:latin typeface="Times New Roman"/>
                <a:cs typeface="Times New Roman"/>
              </a:rPr>
              <a:t> </a:t>
            </a:r>
            <a:r>
              <a:rPr sz="2200" dirty="0">
                <a:latin typeface="Times New Roman"/>
                <a:cs typeface="Times New Roman"/>
              </a:rPr>
              <a:t>several</a:t>
            </a:r>
            <a:r>
              <a:rPr sz="2200" spc="229" dirty="0">
                <a:latin typeface="Times New Roman"/>
                <a:cs typeface="Times New Roman"/>
              </a:rPr>
              <a:t> </a:t>
            </a:r>
            <a:r>
              <a:rPr sz="2200" dirty="0">
                <a:latin typeface="Times New Roman"/>
                <a:cs typeface="Times New Roman"/>
              </a:rPr>
              <a:t>tasks</a:t>
            </a:r>
            <a:r>
              <a:rPr sz="2200" spc="229" dirty="0">
                <a:latin typeface="Times New Roman"/>
                <a:cs typeface="Times New Roman"/>
              </a:rPr>
              <a:t> </a:t>
            </a:r>
            <a:r>
              <a:rPr sz="2200" dirty="0">
                <a:latin typeface="Times New Roman"/>
                <a:cs typeface="Times New Roman"/>
              </a:rPr>
              <a:t>in</a:t>
            </a:r>
            <a:r>
              <a:rPr sz="2200" spc="229" dirty="0">
                <a:latin typeface="Times New Roman"/>
                <a:cs typeface="Times New Roman"/>
              </a:rPr>
              <a:t> </a:t>
            </a:r>
            <a:r>
              <a:rPr sz="2200" spc="-10" dirty="0">
                <a:latin typeface="Times New Roman"/>
                <a:cs typeface="Times New Roman"/>
              </a:rPr>
              <a:t>parallel. </a:t>
            </a:r>
            <a:r>
              <a:rPr sz="2200" dirty="0">
                <a:latin typeface="Times New Roman"/>
                <a:cs typeface="Times New Roman"/>
              </a:rPr>
              <a:t>This</a:t>
            </a:r>
            <a:r>
              <a:rPr sz="2200" spc="5" dirty="0">
                <a:latin typeface="Times New Roman"/>
                <a:cs typeface="Times New Roman"/>
              </a:rPr>
              <a:t> </a:t>
            </a:r>
            <a:r>
              <a:rPr sz="2200" dirty="0">
                <a:latin typeface="Times New Roman"/>
                <a:cs typeface="Times New Roman"/>
              </a:rPr>
              <a:t>is called</a:t>
            </a:r>
            <a:r>
              <a:rPr sz="2200" spc="15" dirty="0">
                <a:latin typeface="Times New Roman"/>
                <a:cs typeface="Times New Roman"/>
              </a:rPr>
              <a:t> </a:t>
            </a:r>
            <a:r>
              <a:rPr sz="2200" b="1" dirty="0">
                <a:latin typeface="Times New Roman"/>
                <a:cs typeface="Times New Roman"/>
              </a:rPr>
              <a:t>serialization</a:t>
            </a:r>
            <a:r>
              <a:rPr sz="2200" dirty="0">
                <a:latin typeface="Times New Roman"/>
                <a:cs typeface="Times New Roman"/>
              </a:rPr>
              <a:t>.</a:t>
            </a:r>
            <a:r>
              <a:rPr sz="2200" spc="5" dirty="0">
                <a:latin typeface="Times New Roman"/>
                <a:cs typeface="Times New Roman"/>
              </a:rPr>
              <a:t> </a:t>
            </a:r>
            <a:r>
              <a:rPr sz="2200" dirty="0">
                <a:latin typeface="Times New Roman"/>
                <a:cs typeface="Times New Roman"/>
              </a:rPr>
              <a:t>Two</a:t>
            </a:r>
            <a:r>
              <a:rPr sz="2200" spc="5" dirty="0">
                <a:latin typeface="Times New Roman"/>
                <a:cs typeface="Times New Roman"/>
              </a:rPr>
              <a:t> </a:t>
            </a:r>
            <a:r>
              <a:rPr sz="2200" dirty="0">
                <a:latin typeface="Times New Roman"/>
                <a:cs typeface="Times New Roman"/>
              </a:rPr>
              <a:t>strategies to</a:t>
            </a:r>
            <a:r>
              <a:rPr sz="2200" spc="10" dirty="0">
                <a:latin typeface="Times New Roman"/>
                <a:cs typeface="Times New Roman"/>
              </a:rPr>
              <a:t> </a:t>
            </a:r>
            <a:r>
              <a:rPr sz="2200" dirty="0">
                <a:latin typeface="Times New Roman"/>
                <a:cs typeface="Times New Roman"/>
              </a:rPr>
              <a:t>serializing</a:t>
            </a:r>
            <a:r>
              <a:rPr sz="2200" spc="15" dirty="0">
                <a:latin typeface="Times New Roman"/>
                <a:cs typeface="Times New Roman"/>
              </a:rPr>
              <a:t> </a:t>
            </a:r>
            <a:r>
              <a:rPr sz="2200" dirty="0">
                <a:latin typeface="Times New Roman"/>
                <a:cs typeface="Times New Roman"/>
              </a:rPr>
              <a:t>processes</a:t>
            </a:r>
            <a:r>
              <a:rPr sz="2200" spc="-5" dirty="0">
                <a:latin typeface="Times New Roman"/>
                <a:cs typeface="Times New Roman"/>
              </a:rPr>
              <a:t> </a:t>
            </a:r>
            <a:r>
              <a:rPr sz="2200" spc="-25" dirty="0">
                <a:latin typeface="Times New Roman"/>
                <a:cs typeface="Times New Roman"/>
              </a:rPr>
              <a:t>in </a:t>
            </a:r>
            <a:r>
              <a:rPr sz="2200" dirty="0">
                <a:latin typeface="Times New Roman"/>
                <a:cs typeface="Times New Roman"/>
              </a:rPr>
              <a:t>a</a:t>
            </a:r>
            <a:r>
              <a:rPr sz="2200" spc="-85" dirty="0">
                <a:latin typeface="Times New Roman"/>
                <a:cs typeface="Times New Roman"/>
              </a:rPr>
              <a:t> </a:t>
            </a:r>
            <a:r>
              <a:rPr sz="2200" dirty="0">
                <a:latin typeface="Times New Roman"/>
                <a:cs typeface="Times New Roman"/>
              </a:rPr>
              <a:t>multitasking</a:t>
            </a:r>
            <a:r>
              <a:rPr sz="2200" spc="-40" dirty="0">
                <a:latin typeface="Times New Roman"/>
                <a:cs typeface="Times New Roman"/>
              </a:rPr>
              <a:t> </a:t>
            </a:r>
            <a:r>
              <a:rPr sz="2200" spc="-10" dirty="0">
                <a:latin typeface="Times New Roman"/>
                <a:cs typeface="Times New Roman"/>
              </a:rPr>
              <a:t>environment:</a:t>
            </a:r>
            <a:endParaRPr sz="2200" dirty="0">
              <a:latin typeface="Times New Roman"/>
              <a:cs typeface="Times New Roman"/>
            </a:endParaRPr>
          </a:p>
          <a:p>
            <a:pPr marL="811530" lvl="1" indent="-341630" algn="just">
              <a:lnSpc>
                <a:spcPct val="100000"/>
              </a:lnSpc>
              <a:spcBef>
                <a:spcPts val="10"/>
              </a:spcBef>
              <a:buFont typeface="Arial"/>
              <a:buChar char="–"/>
              <a:tabLst>
                <a:tab pos="811530" algn="l"/>
              </a:tabLst>
            </a:pPr>
            <a:r>
              <a:rPr sz="2000" b="1" dirty="0">
                <a:latin typeface="Times New Roman"/>
                <a:cs typeface="Times New Roman"/>
              </a:rPr>
              <a:t>The</a:t>
            </a:r>
            <a:r>
              <a:rPr sz="2000" b="1" spc="-20" dirty="0">
                <a:latin typeface="Times New Roman"/>
                <a:cs typeface="Times New Roman"/>
              </a:rPr>
              <a:t> </a:t>
            </a:r>
            <a:r>
              <a:rPr sz="2000" b="1" dirty="0">
                <a:latin typeface="Times New Roman"/>
                <a:cs typeface="Times New Roman"/>
              </a:rPr>
              <a:t>Scheduler</a:t>
            </a:r>
            <a:r>
              <a:rPr sz="2000" b="1" spc="-55" dirty="0">
                <a:latin typeface="Times New Roman"/>
                <a:cs typeface="Times New Roman"/>
              </a:rPr>
              <a:t> </a:t>
            </a:r>
            <a:r>
              <a:rPr sz="2000" b="1" dirty="0">
                <a:latin typeface="Times New Roman"/>
                <a:cs typeface="Times New Roman"/>
              </a:rPr>
              <a:t>can</a:t>
            </a:r>
            <a:r>
              <a:rPr sz="2000" b="1" spc="-20" dirty="0">
                <a:latin typeface="Times New Roman"/>
                <a:cs typeface="Times New Roman"/>
              </a:rPr>
              <a:t> </a:t>
            </a:r>
            <a:r>
              <a:rPr sz="2000" b="1" dirty="0">
                <a:latin typeface="Times New Roman"/>
                <a:cs typeface="Times New Roman"/>
              </a:rPr>
              <a:t>be </a:t>
            </a:r>
            <a:r>
              <a:rPr sz="2000" b="1" spc="-10" dirty="0">
                <a:latin typeface="Times New Roman"/>
                <a:cs typeface="Times New Roman"/>
              </a:rPr>
              <a:t>disabled</a:t>
            </a:r>
            <a:endParaRPr sz="2000" dirty="0">
              <a:latin typeface="Times New Roman"/>
              <a:cs typeface="Times New Roman"/>
            </a:endParaRPr>
          </a:p>
          <a:p>
            <a:pPr marL="754380" lvl="1" indent="-284480" algn="just">
              <a:lnSpc>
                <a:spcPct val="100000"/>
              </a:lnSpc>
              <a:buFont typeface="Arial"/>
              <a:buChar char="–"/>
              <a:tabLst>
                <a:tab pos="754380" algn="l"/>
              </a:tabLst>
            </a:pPr>
            <a:r>
              <a:rPr sz="2000" b="1" spc="-20" dirty="0">
                <a:latin typeface="Times New Roman"/>
                <a:cs typeface="Times New Roman"/>
              </a:rPr>
              <a:t>A</a:t>
            </a:r>
            <a:r>
              <a:rPr sz="2000" b="1" spc="-125" dirty="0">
                <a:latin typeface="Times New Roman"/>
                <a:cs typeface="Times New Roman"/>
              </a:rPr>
              <a:t> </a:t>
            </a:r>
            <a:r>
              <a:rPr sz="2000" b="1" dirty="0">
                <a:latin typeface="Times New Roman"/>
                <a:cs typeface="Times New Roman"/>
              </a:rPr>
              <a:t>Protocol</a:t>
            </a:r>
            <a:r>
              <a:rPr sz="2000" b="1" spc="-50" dirty="0">
                <a:latin typeface="Times New Roman"/>
                <a:cs typeface="Times New Roman"/>
              </a:rPr>
              <a:t> </a:t>
            </a:r>
            <a:r>
              <a:rPr sz="2000" b="1" dirty="0">
                <a:latin typeface="Times New Roman"/>
                <a:cs typeface="Times New Roman"/>
              </a:rPr>
              <a:t>can</a:t>
            </a:r>
            <a:r>
              <a:rPr sz="2000" b="1" spc="-15" dirty="0">
                <a:latin typeface="Times New Roman"/>
                <a:cs typeface="Times New Roman"/>
              </a:rPr>
              <a:t> </a:t>
            </a:r>
            <a:r>
              <a:rPr sz="2000" b="1" dirty="0">
                <a:latin typeface="Times New Roman"/>
                <a:cs typeface="Times New Roman"/>
              </a:rPr>
              <a:t>be</a:t>
            </a:r>
            <a:r>
              <a:rPr sz="2000" b="1" spc="-15" dirty="0">
                <a:latin typeface="Times New Roman"/>
                <a:cs typeface="Times New Roman"/>
              </a:rPr>
              <a:t> </a:t>
            </a:r>
            <a:r>
              <a:rPr sz="2000" b="1" spc="-10" dirty="0">
                <a:latin typeface="Times New Roman"/>
                <a:cs typeface="Times New Roman"/>
              </a:rPr>
              <a:t>introduced</a:t>
            </a:r>
            <a:endParaRPr sz="2000" dirty="0">
              <a:latin typeface="Times New Roman"/>
              <a:cs typeface="Times New Roman"/>
            </a:endParaRPr>
          </a:p>
          <a:p>
            <a:pPr lvl="1">
              <a:lnSpc>
                <a:spcPct val="100000"/>
              </a:lnSpc>
              <a:spcBef>
                <a:spcPts val="860"/>
              </a:spcBef>
              <a:buFont typeface="Arial"/>
              <a:buChar char="–"/>
            </a:pPr>
            <a:endParaRPr sz="2000" dirty="0">
              <a:latin typeface="Times New Roman"/>
              <a:cs typeface="Times New Roman"/>
            </a:endParaRPr>
          </a:p>
          <a:p>
            <a:pPr marL="355600" marR="6985" indent="-342900" algn="just">
              <a:lnSpc>
                <a:spcPct val="80000"/>
              </a:lnSpc>
              <a:buFont typeface="Arial"/>
              <a:buChar char="•"/>
              <a:tabLst>
                <a:tab pos="355600" algn="l"/>
              </a:tabLst>
            </a:pPr>
            <a:r>
              <a:rPr sz="2200" b="1" dirty="0">
                <a:latin typeface="Times New Roman"/>
                <a:cs typeface="Times New Roman"/>
              </a:rPr>
              <a:t>Scheduler</a:t>
            </a:r>
            <a:r>
              <a:rPr sz="2200" b="1" spc="375" dirty="0">
                <a:latin typeface="Times New Roman"/>
                <a:cs typeface="Times New Roman"/>
              </a:rPr>
              <a:t> </a:t>
            </a:r>
            <a:r>
              <a:rPr sz="2200" dirty="0">
                <a:latin typeface="Times New Roman"/>
                <a:cs typeface="Times New Roman"/>
              </a:rPr>
              <a:t>can</a:t>
            </a:r>
            <a:r>
              <a:rPr sz="2200" spc="380" dirty="0">
                <a:latin typeface="Times New Roman"/>
                <a:cs typeface="Times New Roman"/>
              </a:rPr>
              <a:t> </a:t>
            </a:r>
            <a:r>
              <a:rPr sz="2200" dirty="0">
                <a:latin typeface="Times New Roman"/>
                <a:cs typeface="Times New Roman"/>
              </a:rPr>
              <a:t>be</a:t>
            </a:r>
            <a:r>
              <a:rPr sz="2200" spc="375" dirty="0">
                <a:latin typeface="Times New Roman"/>
                <a:cs typeface="Times New Roman"/>
              </a:rPr>
              <a:t> </a:t>
            </a:r>
            <a:r>
              <a:rPr sz="2200" dirty="0">
                <a:latin typeface="Times New Roman"/>
                <a:cs typeface="Times New Roman"/>
              </a:rPr>
              <a:t>disabled</a:t>
            </a:r>
            <a:r>
              <a:rPr sz="2200" spc="380" dirty="0">
                <a:latin typeface="Times New Roman"/>
                <a:cs typeface="Times New Roman"/>
              </a:rPr>
              <a:t> </a:t>
            </a:r>
            <a:r>
              <a:rPr sz="2200" dirty="0">
                <a:latin typeface="Times New Roman"/>
                <a:cs typeface="Times New Roman"/>
              </a:rPr>
              <a:t>for</a:t>
            </a:r>
            <a:r>
              <a:rPr sz="2200" spc="375" dirty="0">
                <a:latin typeface="Times New Roman"/>
                <a:cs typeface="Times New Roman"/>
              </a:rPr>
              <a:t> </a:t>
            </a:r>
            <a:r>
              <a:rPr sz="2200" dirty="0">
                <a:latin typeface="Times New Roman"/>
                <a:cs typeface="Times New Roman"/>
              </a:rPr>
              <a:t>a</a:t>
            </a:r>
            <a:r>
              <a:rPr sz="2200" spc="380" dirty="0">
                <a:latin typeface="Times New Roman"/>
                <a:cs typeface="Times New Roman"/>
              </a:rPr>
              <a:t> </a:t>
            </a:r>
            <a:r>
              <a:rPr sz="2200" dirty="0">
                <a:latin typeface="Times New Roman"/>
                <a:cs typeface="Times New Roman"/>
              </a:rPr>
              <a:t>short</a:t>
            </a:r>
            <a:r>
              <a:rPr sz="2200" spc="380" dirty="0">
                <a:latin typeface="Times New Roman"/>
                <a:cs typeface="Times New Roman"/>
              </a:rPr>
              <a:t> </a:t>
            </a:r>
            <a:r>
              <a:rPr sz="2200" dirty="0">
                <a:latin typeface="Times New Roman"/>
                <a:cs typeface="Times New Roman"/>
              </a:rPr>
              <a:t>period</a:t>
            </a:r>
            <a:r>
              <a:rPr sz="2200" spc="380" dirty="0">
                <a:latin typeface="Times New Roman"/>
                <a:cs typeface="Times New Roman"/>
              </a:rPr>
              <a:t> </a:t>
            </a:r>
            <a:r>
              <a:rPr sz="2200" dirty="0">
                <a:latin typeface="Times New Roman"/>
                <a:cs typeface="Times New Roman"/>
              </a:rPr>
              <a:t>of</a:t>
            </a:r>
            <a:r>
              <a:rPr sz="2200" spc="385" dirty="0">
                <a:latin typeface="Times New Roman"/>
                <a:cs typeface="Times New Roman"/>
              </a:rPr>
              <a:t> </a:t>
            </a:r>
            <a:r>
              <a:rPr sz="2200" dirty="0">
                <a:latin typeface="Times New Roman"/>
                <a:cs typeface="Times New Roman"/>
              </a:rPr>
              <a:t>time,</a:t>
            </a:r>
            <a:r>
              <a:rPr sz="2200" spc="380" dirty="0">
                <a:latin typeface="Times New Roman"/>
                <a:cs typeface="Times New Roman"/>
              </a:rPr>
              <a:t> </a:t>
            </a:r>
            <a:r>
              <a:rPr sz="2200" dirty="0">
                <a:latin typeface="Times New Roman"/>
                <a:cs typeface="Times New Roman"/>
              </a:rPr>
              <a:t>to</a:t>
            </a:r>
            <a:r>
              <a:rPr sz="2200" spc="380" dirty="0">
                <a:latin typeface="Times New Roman"/>
                <a:cs typeface="Times New Roman"/>
              </a:rPr>
              <a:t> </a:t>
            </a:r>
            <a:r>
              <a:rPr sz="2200" spc="-10" dirty="0">
                <a:latin typeface="Times New Roman"/>
                <a:cs typeface="Times New Roman"/>
              </a:rPr>
              <a:t>prevent </a:t>
            </a:r>
            <a:r>
              <a:rPr sz="2200" dirty="0">
                <a:latin typeface="Times New Roman"/>
                <a:cs typeface="Times New Roman"/>
              </a:rPr>
              <a:t>control</a:t>
            </a:r>
            <a:r>
              <a:rPr sz="2200" spc="235" dirty="0">
                <a:latin typeface="Times New Roman"/>
                <a:cs typeface="Times New Roman"/>
              </a:rPr>
              <a:t> </a:t>
            </a:r>
            <a:r>
              <a:rPr sz="2200" dirty="0">
                <a:latin typeface="Times New Roman"/>
                <a:cs typeface="Times New Roman"/>
              </a:rPr>
              <a:t>being</a:t>
            </a:r>
            <a:r>
              <a:rPr sz="2200" spc="229" dirty="0">
                <a:latin typeface="Times New Roman"/>
                <a:cs typeface="Times New Roman"/>
              </a:rPr>
              <a:t> </a:t>
            </a:r>
            <a:r>
              <a:rPr sz="2200" dirty="0">
                <a:latin typeface="Times New Roman"/>
                <a:cs typeface="Times New Roman"/>
              </a:rPr>
              <a:t>given</a:t>
            </a:r>
            <a:r>
              <a:rPr sz="2200" spc="235" dirty="0">
                <a:latin typeface="Times New Roman"/>
                <a:cs typeface="Times New Roman"/>
              </a:rPr>
              <a:t> </a:t>
            </a:r>
            <a:r>
              <a:rPr sz="2200" dirty="0">
                <a:latin typeface="Times New Roman"/>
                <a:cs typeface="Times New Roman"/>
              </a:rPr>
              <a:t>to</a:t>
            </a:r>
            <a:r>
              <a:rPr sz="2200" spc="229" dirty="0">
                <a:latin typeface="Times New Roman"/>
                <a:cs typeface="Times New Roman"/>
              </a:rPr>
              <a:t> </a:t>
            </a:r>
            <a:r>
              <a:rPr sz="2200" dirty="0">
                <a:latin typeface="Times New Roman"/>
                <a:cs typeface="Times New Roman"/>
              </a:rPr>
              <a:t>another</a:t>
            </a:r>
            <a:r>
              <a:rPr sz="2200" spc="235" dirty="0">
                <a:latin typeface="Times New Roman"/>
                <a:cs typeface="Times New Roman"/>
              </a:rPr>
              <a:t> </a:t>
            </a:r>
            <a:r>
              <a:rPr sz="2200" dirty="0">
                <a:latin typeface="Times New Roman"/>
                <a:cs typeface="Times New Roman"/>
              </a:rPr>
              <a:t>process</a:t>
            </a:r>
            <a:r>
              <a:rPr sz="2200" spc="220" dirty="0">
                <a:latin typeface="Times New Roman"/>
                <a:cs typeface="Times New Roman"/>
              </a:rPr>
              <a:t> </a:t>
            </a:r>
            <a:r>
              <a:rPr sz="2200" dirty="0">
                <a:latin typeface="Times New Roman"/>
                <a:cs typeface="Times New Roman"/>
              </a:rPr>
              <a:t>during</a:t>
            </a:r>
            <a:r>
              <a:rPr sz="2200" spc="240" dirty="0">
                <a:latin typeface="Times New Roman"/>
                <a:cs typeface="Times New Roman"/>
              </a:rPr>
              <a:t> </a:t>
            </a:r>
            <a:r>
              <a:rPr sz="2200" dirty="0">
                <a:latin typeface="Times New Roman"/>
                <a:cs typeface="Times New Roman"/>
              </a:rPr>
              <a:t>a</a:t>
            </a:r>
            <a:r>
              <a:rPr sz="2200" spc="215" dirty="0">
                <a:latin typeface="Times New Roman"/>
                <a:cs typeface="Times New Roman"/>
              </a:rPr>
              <a:t> </a:t>
            </a:r>
            <a:r>
              <a:rPr sz="2200" dirty="0">
                <a:latin typeface="Times New Roman"/>
                <a:cs typeface="Times New Roman"/>
              </a:rPr>
              <a:t>critical</a:t>
            </a:r>
            <a:r>
              <a:rPr sz="2200" spc="229" dirty="0">
                <a:latin typeface="Times New Roman"/>
                <a:cs typeface="Times New Roman"/>
              </a:rPr>
              <a:t> </a:t>
            </a:r>
            <a:r>
              <a:rPr sz="2200" dirty="0">
                <a:latin typeface="Times New Roman"/>
                <a:cs typeface="Times New Roman"/>
              </a:rPr>
              <a:t>action</a:t>
            </a:r>
            <a:r>
              <a:rPr sz="2200" spc="240" dirty="0">
                <a:latin typeface="Times New Roman"/>
                <a:cs typeface="Times New Roman"/>
              </a:rPr>
              <a:t> </a:t>
            </a:r>
            <a:r>
              <a:rPr sz="2200" spc="-20" dirty="0">
                <a:latin typeface="Times New Roman"/>
                <a:cs typeface="Times New Roman"/>
              </a:rPr>
              <a:t>like </a:t>
            </a:r>
            <a:r>
              <a:rPr sz="2200" dirty="0">
                <a:latin typeface="Times New Roman"/>
                <a:cs typeface="Times New Roman"/>
              </a:rPr>
              <a:t>modifying</a:t>
            </a:r>
            <a:r>
              <a:rPr sz="2200" spc="390" dirty="0">
                <a:latin typeface="Times New Roman"/>
                <a:cs typeface="Times New Roman"/>
              </a:rPr>
              <a:t> </a:t>
            </a:r>
            <a:r>
              <a:rPr sz="2200" dirty="0">
                <a:latin typeface="Times New Roman"/>
                <a:cs typeface="Times New Roman"/>
              </a:rPr>
              <a:t>shared</a:t>
            </a:r>
            <a:r>
              <a:rPr sz="2200" spc="385" dirty="0">
                <a:latin typeface="Times New Roman"/>
                <a:cs typeface="Times New Roman"/>
              </a:rPr>
              <a:t> </a:t>
            </a:r>
            <a:r>
              <a:rPr sz="2200" dirty="0">
                <a:latin typeface="Times New Roman"/>
                <a:cs typeface="Times New Roman"/>
              </a:rPr>
              <a:t>data.</a:t>
            </a:r>
            <a:r>
              <a:rPr sz="2200" spc="385" dirty="0">
                <a:latin typeface="Times New Roman"/>
                <a:cs typeface="Times New Roman"/>
              </a:rPr>
              <a:t> </a:t>
            </a:r>
            <a:r>
              <a:rPr sz="2200" dirty="0">
                <a:latin typeface="Times New Roman"/>
                <a:cs typeface="Times New Roman"/>
              </a:rPr>
              <a:t>This</a:t>
            </a:r>
            <a:r>
              <a:rPr sz="2200" spc="385" dirty="0">
                <a:latin typeface="Times New Roman"/>
                <a:cs typeface="Times New Roman"/>
              </a:rPr>
              <a:t> </a:t>
            </a:r>
            <a:r>
              <a:rPr sz="2200" dirty="0">
                <a:latin typeface="Times New Roman"/>
                <a:cs typeface="Times New Roman"/>
              </a:rPr>
              <a:t>will</a:t>
            </a:r>
            <a:r>
              <a:rPr sz="2200" spc="385" dirty="0">
                <a:latin typeface="Times New Roman"/>
                <a:cs typeface="Times New Roman"/>
              </a:rPr>
              <a:t> </a:t>
            </a:r>
            <a:r>
              <a:rPr sz="2200" dirty="0">
                <a:latin typeface="Times New Roman"/>
                <a:cs typeface="Times New Roman"/>
              </a:rPr>
              <a:t>be</a:t>
            </a:r>
            <a:r>
              <a:rPr sz="2200" spc="375" dirty="0">
                <a:latin typeface="Times New Roman"/>
                <a:cs typeface="Times New Roman"/>
              </a:rPr>
              <a:t> </a:t>
            </a:r>
            <a:r>
              <a:rPr sz="2200" dirty="0">
                <a:latin typeface="Times New Roman"/>
                <a:cs typeface="Times New Roman"/>
              </a:rPr>
              <a:t>inefficient</a:t>
            </a:r>
            <a:r>
              <a:rPr sz="2200" spc="390" dirty="0">
                <a:latin typeface="Times New Roman"/>
                <a:cs typeface="Times New Roman"/>
              </a:rPr>
              <a:t> </a:t>
            </a:r>
            <a:r>
              <a:rPr sz="2200" dirty="0">
                <a:latin typeface="Times New Roman"/>
                <a:cs typeface="Times New Roman"/>
              </a:rPr>
              <a:t>on</a:t>
            </a:r>
            <a:r>
              <a:rPr sz="2200" spc="390" dirty="0">
                <a:latin typeface="Times New Roman"/>
                <a:cs typeface="Times New Roman"/>
              </a:rPr>
              <a:t> </a:t>
            </a:r>
            <a:r>
              <a:rPr sz="2200" spc="-10" dirty="0">
                <a:latin typeface="Times New Roman"/>
                <a:cs typeface="Times New Roman"/>
              </a:rPr>
              <a:t>multiprocessor </a:t>
            </a:r>
            <a:r>
              <a:rPr sz="2200" dirty="0">
                <a:latin typeface="Times New Roman"/>
                <a:cs typeface="Times New Roman"/>
              </a:rPr>
              <a:t>machines,</a:t>
            </a:r>
            <a:r>
              <a:rPr sz="2200" spc="340" dirty="0">
                <a:latin typeface="Times New Roman"/>
                <a:cs typeface="Times New Roman"/>
              </a:rPr>
              <a:t> </a:t>
            </a:r>
            <a:r>
              <a:rPr sz="2200" dirty="0">
                <a:latin typeface="Times New Roman"/>
                <a:cs typeface="Times New Roman"/>
              </a:rPr>
              <a:t>since</a:t>
            </a:r>
            <a:r>
              <a:rPr sz="2200" spc="335" dirty="0">
                <a:latin typeface="Times New Roman"/>
                <a:cs typeface="Times New Roman"/>
              </a:rPr>
              <a:t> </a:t>
            </a:r>
            <a:r>
              <a:rPr sz="2200" dirty="0">
                <a:latin typeface="Times New Roman"/>
                <a:cs typeface="Times New Roman"/>
              </a:rPr>
              <a:t>all</a:t>
            </a:r>
            <a:r>
              <a:rPr sz="2200" spc="340" dirty="0">
                <a:latin typeface="Times New Roman"/>
                <a:cs typeface="Times New Roman"/>
              </a:rPr>
              <a:t> </a:t>
            </a:r>
            <a:r>
              <a:rPr sz="2200" dirty="0">
                <a:latin typeface="Times New Roman"/>
                <a:cs typeface="Times New Roman"/>
              </a:rPr>
              <a:t>other</a:t>
            </a:r>
            <a:r>
              <a:rPr sz="2200" spc="330" dirty="0">
                <a:latin typeface="Times New Roman"/>
                <a:cs typeface="Times New Roman"/>
              </a:rPr>
              <a:t> </a:t>
            </a:r>
            <a:r>
              <a:rPr sz="2200" dirty="0">
                <a:latin typeface="Times New Roman"/>
                <a:cs typeface="Times New Roman"/>
              </a:rPr>
              <a:t>processors</a:t>
            </a:r>
            <a:r>
              <a:rPr sz="2200" spc="330" dirty="0">
                <a:latin typeface="Times New Roman"/>
                <a:cs typeface="Times New Roman"/>
              </a:rPr>
              <a:t> </a:t>
            </a:r>
            <a:r>
              <a:rPr sz="2200" dirty="0">
                <a:latin typeface="Times New Roman"/>
                <a:cs typeface="Times New Roman"/>
              </a:rPr>
              <a:t>have</a:t>
            </a:r>
            <a:r>
              <a:rPr sz="2200" spc="335" dirty="0">
                <a:latin typeface="Times New Roman"/>
                <a:cs typeface="Times New Roman"/>
              </a:rPr>
              <a:t> </a:t>
            </a:r>
            <a:r>
              <a:rPr sz="2200" dirty="0">
                <a:latin typeface="Times New Roman"/>
                <a:cs typeface="Times New Roman"/>
              </a:rPr>
              <a:t>to</a:t>
            </a:r>
            <a:r>
              <a:rPr sz="2200" spc="335" dirty="0">
                <a:latin typeface="Times New Roman"/>
                <a:cs typeface="Times New Roman"/>
              </a:rPr>
              <a:t> </a:t>
            </a:r>
            <a:r>
              <a:rPr sz="2200" dirty="0">
                <a:latin typeface="Times New Roman"/>
                <a:cs typeface="Times New Roman"/>
              </a:rPr>
              <a:t>be</a:t>
            </a:r>
            <a:r>
              <a:rPr sz="2200" spc="335" dirty="0">
                <a:latin typeface="Times New Roman"/>
                <a:cs typeface="Times New Roman"/>
              </a:rPr>
              <a:t> </a:t>
            </a:r>
            <a:r>
              <a:rPr sz="2200" dirty="0">
                <a:latin typeface="Times New Roman"/>
                <a:cs typeface="Times New Roman"/>
              </a:rPr>
              <a:t>halted</a:t>
            </a:r>
            <a:r>
              <a:rPr sz="2200" spc="345" dirty="0">
                <a:latin typeface="Times New Roman"/>
                <a:cs typeface="Times New Roman"/>
              </a:rPr>
              <a:t> </a:t>
            </a:r>
            <a:r>
              <a:rPr sz="2200" dirty="0">
                <a:latin typeface="Times New Roman"/>
                <a:cs typeface="Times New Roman"/>
              </a:rPr>
              <a:t>every</a:t>
            </a:r>
            <a:r>
              <a:rPr sz="2200" spc="345" dirty="0">
                <a:latin typeface="Times New Roman"/>
                <a:cs typeface="Times New Roman"/>
              </a:rPr>
              <a:t> </a:t>
            </a:r>
            <a:r>
              <a:rPr sz="2200" spc="-20" dirty="0">
                <a:latin typeface="Times New Roman"/>
                <a:cs typeface="Times New Roman"/>
              </a:rPr>
              <a:t>time </a:t>
            </a:r>
            <a:r>
              <a:rPr sz="2200" dirty="0">
                <a:latin typeface="Times New Roman"/>
                <a:cs typeface="Times New Roman"/>
              </a:rPr>
              <a:t>one</a:t>
            </a:r>
            <a:r>
              <a:rPr sz="2200" spc="-60" dirty="0">
                <a:latin typeface="Times New Roman"/>
                <a:cs typeface="Times New Roman"/>
              </a:rPr>
              <a:t> </a:t>
            </a:r>
            <a:r>
              <a:rPr sz="2200" dirty="0">
                <a:latin typeface="Times New Roman"/>
                <a:cs typeface="Times New Roman"/>
              </a:rPr>
              <a:t>wishes</a:t>
            </a:r>
            <a:r>
              <a:rPr sz="2200" spc="-35" dirty="0">
                <a:latin typeface="Times New Roman"/>
                <a:cs typeface="Times New Roman"/>
              </a:rPr>
              <a:t> </a:t>
            </a:r>
            <a:r>
              <a:rPr sz="2200" dirty="0">
                <a:latin typeface="Times New Roman"/>
                <a:cs typeface="Times New Roman"/>
              </a:rPr>
              <a:t>to</a:t>
            </a:r>
            <a:r>
              <a:rPr sz="2200" spc="-25" dirty="0">
                <a:latin typeface="Times New Roman"/>
                <a:cs typeface="Times New Roman"/>
              </a:rPr>
              <a:t> </a:t>
            </a:r>
            <a:r>
              <a:rPr sz="2200" dirty="0">
                <a:latin typeface="Times New Roman"/>
                <a:cs typeface="Times New Roman"/>
              </a:rPr>
              <a:t>execute</a:t>
            </a:r>
            <a:r>
              <a:rPr sz="2200" spc="-30" dirty="0">
                <a:latin typeface="Times New Roman"/>
                <a:cs typeface="Times New Roman"/>
              </a:rPr>
              <a:t> </a:t>
            </a:r>
            <a:r>
              <a:rPr sz="2200" dirty="0">
                <a:latin typeface="Times New Roman"/>
                <a:cs typeface="Times New Roman"/>
              </a:rPr>
              <a:t>a</a:t>
            </a:r>
            <a:r>
              <a:rPr sz="2200" spc="-40" dirty="0">
                <a:latin typeface="Times New Roman"/>
                <a:cs typeface="Times New Roman"/>
              </a:rPr>
              <a:t> </a:t>
            </a:r>
            <a:r>
              <a:rPr sz="2200" dirty="0">
                <a:latin typeface="Times New Roman"/>
                <a:cs typeface="Times New Roman"/>
              </a:rPr>
              <a:t>critical</a:t>
            </a:r>
            <a:r>
              <a:rPr sz="2200" spc="-25" dirty="0">
                <a:latin typeface="Times New Roman"/>
                <a:cs typeface="Times New Roman"/>
              </a:rPr>
              <a:t> </a:t>
            </a:r>
            <a:r>
              <a:rPr sz="2200" spc="-10" dirty="0">
                <a:latin typeface="Times New Roman"/>
                <a:cs typeface="Times New Roman"/>
              </a:rPr>
              <a:t>section.</a:t>
            </a:r>
            <a:endParaRPr sz="2200" dirty="0">
              <a:latin typeface="Times New Roman"/>
              <a:cs typeface="Times New Roman"/>
            </a:endParaRPr>
          </a:p>
          <a:p>
            <a:pPr>
              <a:lnSpc>
                <a:spcPct val="100000"/>
              </a:lnSpc>
              <a:spcBef>
                <a:spcPts val="640"/>
              </a:spcBef>
              <a:buFont typeface="Arial"/>
              <a:buChar char="•"/>
            </a:pPr>
            <a:endParaRPr sz="2200" dirty="0">
              <a:latin typeface="Times New Roman"/>
              <a:cs typeface="Times New Roman"/>
            </a:endParaRPr>
          </a:p>
          <a:p>
            <a:pPr marL="355600" marR="5080" indent="-342900" algn="just">
              <a:lnSpc>
                <a:spcPct val="80000"/>
              </a:lnSpc>
              <a:buFont typeface="Arial"/>
              <a:buChar char="•"/>
              <a:tabLst>
                <a:tab pos="355600" algn="l"/>
              </a:tabLst>
            </a:pPr>
            <a:r>
              <a:rPr sz="2200" dirty="0">
                <a:latin typeface="Times New Roman"/>
                <a:cs typeface="Times New Roman"/>
              </a:rPr>
              <a:t>A</a:t>
            </a:r>
            <a:r>
              <a:rPr sz="2200" spc="-55" dirty="0">
                <a:latin typeface="Times New Roman"/>
                <a:cs typeface="Times New Roman"/>
              </a:rPr>
              <a:t> </a:t>
            </a:r>
            <a:r>
              <a:rPr sz="2200" b="1" dirty="0">
                <a:latin typeface="Times New Roman"/>
                <a:cs typeface="Times New Roman"/>
              </a:rPr>
              <a:t>protocol</a:t>
            </a:r>
            <a:r>
              <a:rPr sz="2200" b="1" spc="60" dirty="0">
                <a:latin typeface="Times New Roman"/>
                <a:cs typeface="Times New Roman"/>
              </a:rPr>
              <a:t> </a:t>
            </a:r>
            <a:r>
              <a:rPr sz="2200" dirty="0">
                <a:latin typeface="Times New Roman"/>
                <a:cs typeface="Times New Roman"/>
              </a:rPr>
              <a:t>can</a:t>
            </a:r>
            <a:r>
              <a:rPr sz="2200" spc="55" dirty="0">
                <a:latin typeface="Times New Roman"/>
                <a:cs typeface="Times New Roman"/>
              </a:rPr>
              <a:t> </a:t>
            </a:r>
            <a:r>
              <a:rPr sz="2200" dirty="0">
                <a:latin typeface="Times New Roman"/>
                <a:cs typeface="Times New Roman"/>
              </a:rPr>
              <a:t>be</a:t>
            </a:r>
            <a:r>
              <a:rPr sz="2200" spc="60" dirty="0">
                <a:latin typeface="Times New Roman"/>
                <a:cs typeface="Times New Roman"/>
              </a:rPr>
              <a:t> </a:t>
            </a:r>
            <a:r>
              <a:rPr sz="2200" dirty="0">
                <a:latin typeface="Times New Roman"/>
                <a:cs typeface="Times New Roman"/>
              </a:rPr>
              <a:t>introduced</a:t>
            </a:r>
            <a:r>
              <a:rPr sz="2200" spc="55" dirty="0">
                <a:latin typeface="Times New Roman"/>
                <a:cs typeface="Times New Roman"/>
              </a:rPr>
              <a:t> </a:t>
            </a:r>
            <a:r>
              <a:rPr sz="2200" dirty="0">
                <a:latin typeface="Times New Roman"/>
                <a:cs typeface="Times New Roman"/>
              </a:rPr>
              <a:t>which</a:t>
            </a:r>
            <a:r>
              <a:rPr sz="2200" spc="65" dirty="0">
                <a:latin typeface="Times New Roman"/>
                <a:cs typeface="Times New Roman"/>
              </a:rPr>
              <a:t> </a:t>
            </a:r>
            <a:r>
              <a:rPr sz="2200" dirty="0">
                <a:latin typeface="Times New Roman"/>
                <a:cs typeface="Times New Roman"/>
              </a:rPr>
              <a:t>all</a:t>
            </a:r>
            <a:r>
              <a:rPr sz="2200" spc="55" dirty="0">
                <a:latin typeface="Times New Roman"/>
                <a:cs typeface="Times New Roman"/>
              </a:rPr>
              <a:t> </a:t>
            </a:r>
            <a:r>
              <a:rPr sz="2200" dirty="0">
                <a:latin typeface="Times New Roman"/>
                <a:cs typeface="Times New Roman"/>
              </a:rPr>
              <a:t>programs</a:t>
            </a:r>
            <a:r>
              <a:rPr sz="2200" spc="60" dirty="0">
                <a:latin typeface="Times New Roman"/>
                <a:cs typeface="Times New Roman"/>
              </a:rPr>
              <a:t> </a:t>
            </a:r>
            <a:r>
              <a:rPr sz="2200" dirty="0">
                <a:latin typeface="Times New Roman"/>
                <a:cs typeface="Times New Roman"/>
              </a:rPr>
              <a:t>sharing</a:t>
            </a:r>
            <a:r>
              <a:rPr sz="2200" spc="65" dirty="0">
                <a:latin typeface="Times New Roman"/>
                <a:cs typeface="Times New Roman"/>
              </a:rPr>
              <a:t> </a:t>
            </a:r>
            <a:r>
              <a:rPr sz="2200" dirty="0">
                <a:latin typeface="Times New Roman"/>
                <a:cs typeface="Times New Roman"/>
              </a:rPr>
              <a:t>data</a:t>
            </a:r>
            <a:r>
              <a:rPr sz="2200" spc="55" dirty="0">
                <a:latin typeface="Times New Roman"/>
                <a:cs typeface="Times New Roman"/>
              </a:rPr>
              <a:t> </a:t>
            </a:r>
            <a:r>
              <a:rPr sz="2200" spc="-20" dirty="0">
                <a:latin typeface="Times New Roman"/>
                <a:cs typeface="Times New Roman"/>
              </a:rPr>
              <a:t>must </a:t>
            </a:r>
            <a:r>
              <a:rPr sz="2200" dirty="0">
                <a:latin typeface="Times New Roman"/>
                <a:cs typeface="Times New Roman"/>
              </a:rPr>
              <a:t>obey.</a:t>
            </a:r>
            <a:r>
              <a:rPr sz="2200" spc="135" dirty="0">
                <a:latin typeface="Times New Roman"/>
                <a:cs typeface="Times New Roman"/>
              </a:rPr>
              <a:t> </a:t>
            </a:r>
            <a:r>
              <a:rPr sz="2200" dirty="0">
                <a:latin typeface="Times New Roman"/>
                <a:cs typeface="Times New Roman"/>
              </a:rPr>
              <a:t>The</a:t>
            </a:r>
            <a:r>
              <a:rPr sz="2200" spc="140" dirty="0">
                <a:latin typeface="Times New Roman"/>
                <a:cs typeface="Times New Roman"/>
              </a:rPr>
              <a:t> </a:t>
            </a:r>
            <a:r>
              <a:rPr sz="2200" dirty="0">
                <a:latin typeface="Times New Roman"/>
                <a:cs typeface="Times New Roman"/>
              </a:rPr>
              <a:t>protocol</a:t>
            </a:r>
            <a:r>
              <a:rPr sz="2200" spc="145" dirty="0">
                <a:latin typeface="Times New Roman"/>
                <a:cs typeface="Times New Roman"/>
              </a:rPr>
              <a:t> </a:t>
            </a:r>
            <a:r>
              <a:rPr sz="2200" dirty="0">
                <a:latin typeface="Times New Roman"/>
                <a:cs typeface="Times New Roman"/>
              </a:rPr>
              <a:t>ensures</a:t>
            </a:r>
            <a:r>
              <a:rPr sz="2200" spc="135" dirty="0">
                <a:latin typeface="Times New Roman"/>
                <a:cs typeface="Times New Roman"/>
              </a:rPr>
              <a:t> </a:t>
            </a:r>
            <a:r>
              <a:rPr sz="2200" dirty="0">
                <a:latin typeface="Times New Roman"/>
                <a:cs typeface="Times New Roman"/>
              </a:rPr>
              <a:t>that</a:t>
            </a:r>
            <a:r>
              <a:rPr sz="2200" spc="135" dirty="0">
                <a:latin typeface="Times New Roman"/>
                <a:cs typeface="Times New Roman"/>
              </a:rPr>
              <a:t> </a:t>
            </a:r>
            <a:r>
              <a:rPr sz="2200" dirty="0">
                <a:latin typeface="Times New Roman"/>
                <a:cs typeface="Times New Roman"/>
              </a:rPr>
              <a:t>processes</a:t>
            </a:r>
            <a:r>
              <a:rPr sz="2200" spc="140" dirty="0">
                <a:latin typeface="Times New Roman"/>
                <a:cs typeface="Times New Roman"/>
              </a:rPr>
              <a:t> </a:t>
            </a:r>
            <a:r>
              <a:rPr sz="2200" dirty="0">
                <a:latin typeface="Times New Roman"/>
                <a:cs typeface="Times New Roman"/>
              </a:rPr>
              <a:t>have</a:t>
            </a:r>
            <a:r>
              <a:rPr sz="2200" spc="135" dirty="0">
                <a:latin typeface="Times New Roman"/>
                <a:cs typeface="Times New Roman"/>
              </a:rPr>
              <a:t> </a:t>
            </a:r>
            <a:r>
              <a:rPr sz="2200" dirty="0">
                <a:latin typeface="Times New Roman"/>
                <a:cs typeface="Times New Roman"/>
              </a:rPr>
              <a:t>to</a:t>
            </a:r>
            <a:r>
              <a:rPr sz="2200" spc="145" dirty="0">
                <a:latin typeface="Times New Roman"/>
                <a:cs typeface="Times New Roman"/>
              </a:rPr>
              <a:t> </a:t>
            </a:r>
            <a:r>
              <a:rPr sz="2200" b="1" dirty="0">
                <a:latin typeface="Times New Roman"/>
                <a:cs typeface="Times New Roman"/>
              </a:rPr>
              <a:t>queue</a:t>
            </a:r>
            <a:r>
              <a:rPr sz="2200" spc="135" dirty="0">
                <a:latin typeface="Times New Roman"/>
                <a:cs typeface="Times New Roman"/>
              </a:rPr>
              <a:t> </a:t>
            </a:r>
            <a:r>
              <a:rPr sz="2200" dirty="0">
                <a:latin typeface="Times New Roman"/>
                <a:cs typeface="Times New Roman"/>
              </a:rPr>
              <a:t>up</a:t>
            </a:r>
            <a:r>
              <a:rPr sz="2200" spc="145" dirty="0">
                <a:latin typeface="Times New Roman"/>
                <a:cs typeface="Times New Roman"/>
              </a:rPr>
              <a:t> </a:t>
            </a:r>
            <a:r>
              <a:rPr sz="2200" dirty="0">
                <a:latin typeface="Times New Roman"/>
                <a:cs typeface="Times New Roman"/>
              </a:rPr>
              <a:t>to</a:t>
            </a:r>
            <a:r>
              <a:rPr sz="2200" spc="140" dirty="0">
                <a:latin typeface="Times New Roman"/>
                <a:cs typeface="Times New Roman"/>
              </a:rPr>
              <a:t> </a:t>
            </a:r>
            <a:r>
              <a:rPr sz="2200" spc="-20" dirty="0">
                <a:latin typeface="Times New Roman"/>
                <a:cs typeface="Times New Roman"/>
              </a:rPr>
              <a:t>gain </a:t>
            </a:r>
            <a:r>
              <a:rPr sz="2200" dirty="0">
                <a:latin typeface="Times New Roman"/>
                <a:cs typeface="Times New Roman"/>
              </a:rPr>
              <a:t>access</a:t>
            </a:r>
            <a:r>
              <a:rPr sz="2200" spc="-45" dirty="0">
                <a:latin typeface="Times New Roman"/>
                <a:cs typeface="Times New Roman"/>
              </a:rPr>
              <a:t> </a:t>
            </a:r>
            <a:r>
              <a:rPr sz="2200" dirty="0">
                <a:latin typeface="Times New Roman"/>
                <a:cs typeface="Times New Roman"/>
              </a:rPr>
              <a:t>to</a:t>
            </a:r>
            <a:r>
              <a:rPr sz="2200" spc="-30" dirty="0">
                <a:latin typeface="Times New Roman"/>
                <a:cs typeface="Times New Roman"/>
              </a:rPr>
              <a:t> </a:t>
            </a:r>
            <a:r>
              <a:rPr sz="2200" dirty="0">
                <a:latin typeface="Times New Roman"/>
                <a:cs typeface="Times New Roman"/>
              </a:rPr>
              <a:t>shared</a:t>
            </a:r>
            <a:r>
              <a:rPr sz="2200" spc="-25" dirty="0">
                <a:latin typeface="Times New Roman"/>
                <a:cs typeface="Times New Roman"/>
              </a:rPr>
              <a:t> </a:t>
            </a:r>
            <a:r>
              <a:rPr sz="2200" spc="-10" dirty="0">
                <a:latin typeface="Times New Roman"/>
                <a:cs typeface="Times New Roman"/>
              </a:rPr>
              <a:t>data.</a:t>
            </a:r>
            <a:endParaRPr sz="2200" dirty="0">
              <a:latin typeface="Times New Roman"/>
              <a:cs typeface="Times New Roman"/>
            </a:endParaRPr>
          </a:p>
        </p:txBody>
      </p:sp>
      <p:sp>
        <p:nvSpPr>
          <p:cNvPr id="4" name="object 4"/>
          <p:cNvSpPr txBox="1">
            <a:spLocks noGrp="1"/>
          </p:cNvSpPr>
          <p:nvPr>
            <p:ph type="ftr" sz="quarter" idx="5"/>
          </p:nvPr>
        </p:nvSpPr>
        <p:spPr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12700">
              <a:lnSpc>
                <a:spcPts val="1240"/>
              </a:lnSpc>
            </a:pPr>
            <a:r>
              <a:rPr lang="pl-PL"/>
              <a:t>By Dr. Binod Kr. Adhikari</a:t>
            </a:r>
            <a:endParaRPr spc="-1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object 3"/>
          <p:cNvSpPr txBox="1">
            <a:spLocks noGrp="1"/>
          </p:cNvSpPr>
          <p:nvPr>
            <p:ph type="ftr" sz="quarter" idx="5"/>
          </p:nvPr>
        </p:nvSpPr>
        <p:spPr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12700">
              <a:lnSpc>
                <a:spcPts val="1240"/>
              </a:lnSpc>
            </a:pPr>
            <a:r>
              <a:rPr lang="pl-PL"/>
              <a:t>By Dr. Binod Kr. Adhikari</a:t>
            </a:r>
            <a:endParaRPr spc="-10" dirty="0"/>
          </a:p>
        </p:txBody>
      </p:sp>
      <p:sp>
        <p:nvSpPr>
          <p:cNvPr id="2" name="object 2"/>
          <p:cNvSpPr txBox="1"/>
          <p:nvPr/>
        </p:nvSpPr>
        <p:spPr>
          <a:xfrm>
            <a:off x="616585" y="1637030"/>
            <a:ext cx="7910830" cy="2474395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355600" marR="7620" indent="-342900">
              <a:lnSpc>
                <a:spcPct val="100000"/>
              </a:lnSpc>
              <a:spcBef>
                <a:spcPts val="4020"/>
              </a:spcBef>
              <a:buFont typeface="Arial"/>
              <a:buChar char="•"/>
              <a:tabLst>
                <a:tab pos="355600" algn="l"/>
              </a:tabLst>
            </a:pPr>
            <a:r>
              <a:rPr sz="4000" dirty="0">
                <a:solidFill>
                  <a:srgbClr val="00AFEF"/>
                </a:solidFill>
                <a:latin typeface="Times New Roman"/>
                <a:cs typeface="Times New Roman"/>
              </a:rPr>
              <a:t>Some</a:t>
            </a:r>
            <a:r>
              <a:rPr sz="4000" spc="-70" dirty="0">
                <a:solidFill>
                  <a:srgbClr val="00AFEF"/>
                </a:solidFill>
                <a:latin typeface="Times New Roman"/>
                <a:cs typeface="Times New Roman"/>
              </a:rPr>
              <a:t> </a:t>
            </a:r>
            <a:r>
              <a:rPr sz="4000" dirty="0">
                <a:solidFill>
                  <a:srgbClr val="00AFEF"/>
                </a:solidFill>
                <a:latin typeface="Times New Roman"/>
                <a:cs typeface="Times New Roman"/>
              </a:rPr>
              <a:t>way</a:t>
            </a:r>
            <a:r>
              <a:rPr sz="4000" spc="-70" dirty="0">
                <a:solidFill>
                  <a:srgbClr val="00AFEF"/>
                </a:solidFill>
                <a:latin typeface="Times New Roman"/>
                <a:cs typeface="Times New Roman"/>
              </a:rPr>
              <a:t> </a:t>
            </a:r>
            <a:r>
              <a:rPr sz="4000" dirty="0">
                <a:solidFill>
                  <a:srgbClr val="00AFEF"/>
                </a:solidFill>
                <a:latin typeface="Times New Roman"/>
                <a:cs typeface="Times New Roman"/>
              </a:rPr>
              <a:t>of</a:t>
            </a:r>
            <a:r>
              <a:rPr sz="4000" spc="-70" dirty="0">
                <a:solidFill>
                  <a:srgbClr val="00AFEF"/>
                </a:solidFill>
                <a:latin typeface="Times New Roman"/>
                <a:cs typeface="Times New Roman"/>
              </a:rPr>
              <a:t> </a:t>
            </a:r>
            <a:r>
              <a:rPr sz="4000" dirty="0">
                <a:solidFill>
                  <a:srgbClr val="00AFEF"/>
                </a:solidFill>
                <a:latin typeface="Times New Roman"/>
                <a:cs typeface="Times New Roman"/>
              </a:rPr>
              <a:t>making</a:t>
            </a:r>
            <a:r>
              <a:rPr sz="4000" spc="-70" dirty="0">
                <a:solidFill>
                  <a:srgbClr val="00AFEF"/>
                </a:solidFill>
                <a:latin typeface="Times New Roman"/>
                <a:cs typeface="Times New Roman"/>
              </a:rPr>
              <a:t> </a:t>
            </a:r>
            <a:r>
              <a:rPr sz="4000" dirty="0">
                <a:solidFill>
                  <a:srgbClr val="00AFEF"/>
                </a:solidFill>
                <a:latin typeface="Times New Roman"/>
                <a:cs typeface="Times New Roman"/>
              </a:rPr>
              <a:t>sure</a:t>
            </a:r>
            <a:r>
              <a:rPr sz="4000" spc="-60" dirty="0">
                <a:solidFill>
                  <a:srgbClr val="00AFEF"/>
                </a:solidFill>
                <a:latin typeface="Times New Roman"/>
                <a:cs typeface="Times New Roman"/>
              </a:rPr>
              <a:t> </a:t>
            </a:r>
            <a:r>
              <a:rPr sz="4000" dirty="0">
                <a:solidFill>
                  <a:srgbClr val="00AFEF"/>
                </a:solidFill>
                <a:latin typeface="Times New Roman"/>
                <a:cs typeface="Times New Roman"/>
              </a:rPr>
              <a:t>that</a:t>
            </a:r>
            <a:r>
              <a:rPr sz="4000" spc="-70" dirty="0">
                <a:solidFill>
                  <a:srgbClr val="00AFEF"/>
                </a:solidFill>
                <a:latin typeface="Times New Roman"/>
                <a:cs typeface="Times New Roman"/>
              </a:rPr>
              <a:t> </a:t>
            </a:r>
            <a:r>
              <a:rPr sz="4000" dirty="0">
                <a:solidFill>
                  <a:srgbClr val="00AFEF"/>
                </a:solidFill>
                <a:latin typeface="Times New Roman"/>
                <a:cs typeface="Times New Roman"/>
              </a:rPr>
              <a:t>if</a:t>
            </a:r>
            <a:r>
              <a:rPr sz="4000" spc="-70" dirty="0">
                <a:solidFill>
                  <a:srgbClr val="00AFEF"/>
                </a:solidFill>
                <a:latin typeface="Times New Roman"/>
                <a:cs typeface="Times New Roman"/>
              </a:rPr>
              <a:t> </a:t>
            </a:r>
            <a:r>
              <a:rPr sz="4000" spc="-25" dirty="0">
                <a:solidFill>
                  <a:srgbClr val="00AFEF"/>
                </a:solidFill>
                <a:latin typeface="Times New Roman"/>
                <a:cs typeface="Times New Roman"/>
              </a:rPr>
              <a:t>one </a:t>
            </a:r>
            <a:r>
              <a:rPr sz="4000" dirty="0">
                <a:solidFill>
                  <a:srgbClr val="00AFEF"/>
                </a:solidFill>
                <a:latin typeface="Times New Roman"/>
                <a:cs typeface="Times New Roman"/>
              </a:rPr>
              <a:t>process</a:t>
            </a:r>
            <a:r>
              <a:rPr sz="4000" spc="-95" dirty="0">
                <a:solidFill>
                  <a:srgbClr val="00AFEF"/>
                </a:solidFill>
                <a:latin typeface="Times New Roman"/>
                <a:cs typeface="Times New Roman"/>
              </a:rPr>
              <a:t> </a:t>
            </a:r>
            <a:r>
              <a:rPr sz="4000" dirty="0">
                <a:solidFill>
                  <a:srgbClr val="00AFEF"/>
                </a:solidFill>
                <a:latin typeface="Times New Roman"/>
                <a:cs typeface="Times New Roman"/>
              </a:rPr>
              <a:t>is</a:t>
            </a:r>
            <a:r>
              <a:rPr sz="4000" spc="-70" dirty="0">
                <a:solidFill>
                  <a:srgbClr val="00AFEF"/>
                </a:solidFill>
                <a:latin typeface="Times New Roman"/>
                <a:cs typeface="Times New Roman"/>
              </a:rPr>
              <a:t> </a:t>
            </a:r>
            <a:r>
              <a:rPr sz="4000" dirty="0">
                <a:solidFill>
                  <a:srgbClr val="00AFEF"/>
                </a:solidFill>
                <a:latin typeface="Times New Roman"/>
                <a:cs typeface="Times New Roman"/>
              </a:rPr>
              <a:t>using</a:t>
            </a:r>
            <a:r>
              <a:rPr sz="4000" spc="-95" dirty="0">
                <a:solidFill>
                  <a:srgbClr val="00AFEF"/>
                </a:solidFill>
                <a:latin typeface="Times New Roman"/>
                <a:cs typeface="Times New Roman"/>
              </a:rPr>
              <a:t> </a:t>
            </a:r>
            <a:r>
              <a:rPr sz="4000" dirty="0">
                <a:solidFill>
                  <a:srgbClr val="00AFEF"/>
                </a:solidFill>
                <a:latin typeface="Times New Roman"/>
                <a:cs typeface="Times New Roman"/>
              </a:rPr>
              <a:t>a</a:t>
            </a:r>
            <a:r>
              <a:rPr sz="4000" spc="-55" dirty="0">
                <a:solidFill>
                  <a:srgbClr val="00AFEF"/>
                </a:solidFill>
                <a:latin typeface="Times New Roman"/>
                <a:cs typeface="Times New Roman"/>
              </a:rPr>
              <a:t> </a:t>
            </a:r>
            <a:r>
              <a:rPr sz="4000" dirty="0">
                <a:solidFill>
                  <a:srgbClr val="00AFEF"/>
                </a:solidFill>
                <a:latin typeface="Times New Roman"/>
                <a:cs typeface="Times New Roman"/>
              </a:rPr>
              <a:t>shared</a:t>
            </a:r>
            <a:r>
              <a:rPr sz="4000" spc="-90" dirty="0">
                <a:solidFill>
                  <a:srgbClr val="00AFEF"/>
                </a:solidFill>
                <a:latin typeface="Times New Roman"/>
                <a:cs typeface="Times New Roman"/>
              </a:rPr>
              <a:t> </a:t>
            </a:r>
            <a:r>
              <a:rPr sz="4000" dirty="0">
                <a:solidFill>
                  <a:srgbClr val="00AFEF"/>
                </a:solidFill>
                <a:latin typeface="Times New Roman"/>
                <a:cs typeface="Times New Roman"/>
              </a:rPr>
              <a:t>variables</a:t>
            </a:r>
            <a:r>
              <a:rPr sz="4000" spc="-60" dirty="0">
                <a:solidFill>
                  <a:srgbClr val="00AFEF"/>
                </a:solidFill>
                <a:latin typeface="Times New Roman"/>
                <a:cs typeface="Times New Roman"/>
              </a:rPr>
              <a:t> </a:t>
            </a:r>
            <a:r>
              <a:rPr sz="4000" spc="-25" dirty="0">
                <a:solidFill>
                  <a:srgbClr val="00AFEF"/>
                </a:solidFill>
                <a:latin typeface="Times New Roman"/>
                <a:cs typeface="Times New Roman"/>
              </a:rPr>
              <a:t>or </a:t>
            </a:r>
            <a:r>
              <a:rPr sz="4000" dirty="0">
                <a:solidFill>
                  <a:srgbClr val="00AFEF"/>
                </a:solidFill>
                <a:latin typeface="Times New Roman"/>
                <a:cs typeface="Times New Roman"/>
              </a:rPr>
              <a:t>files,</a:t>
            </a:r>
            <a:r>
              <a:rPr sz="4000" spc="-90" dirty="0">
                <a:solidFill>
                  <a:srgbClr val="00AFEF"/>
                </a:solidFill>
                <a:latin typeface="Times New Roman"/>
                <a:cs typeface="Times New Roman"/>
              </a:rPr>
              <a:t> </a:t>
            </a:r>
            <a:r>
              <a:rPr sz="4000" dirty="0">
                <a:solidFill>
                  <a:srgbClr val="00AFEF"/>
                </a:solidFill>
                <a:latin typeface="Times New Roman"/>
                <a:cs typeface="Times New Roman"/>
              </a:rPr>
              <a:t>the</a:t>
            </a:r>
            <a:r>
              <a:rPr sz="4000" spc="-95" dirty="0">
                <a:solidFill>
                  <a:srgbClr val="00AFEF"/>
                </a:solidFill>
                <a:latin typeface="Times New Roman"/>
                <a:cs typeface="Times New Roman"/>
              </a:rPr>
              <a:t> </a:t>
            </a:r>
            <a:r>
              <a:rPr sz="4000" dirty="0">
                <a:solidFill>
                  <a:srgbClr val="00AFEF"/>
                </a:solidFill>
                <a:latin typeface="Times New Roman"/>
                <a:cs typeface="Times New Roman"/>
              </a:rPr>
              <a:t>other</a:t>
            </a:r>
            <a:r>
              <a:rPr sz="4000" spc="-90" dirty="0">
                <a:solidFill>
                  <a:srgbClr val="00AFEF"/>
                </a:solidFill>
                <a:latin typeface="Times New Roman"/>
                <a:cs typeface="Times New Roman"/>
              </a:rPr>
              <a:t> </a:t>
            </a:r>
            <a:r>
              <a:rPr sz="4000" dirty="0">
                <a:solidFill>
                  <a:srgbClr val="00AFEF"/>
                </a:solidFill>
                <a:latin typeface="Times New Roman"/>
                <a:cs typeface="Times New Roman"/>
              </a:rPr>
              <a:t>process</a:t>
            </a:r>
            <a:r>
              <a:rPr sz="4000" spc="-85" dirty="0">
                <a:solidFill>
                  <a:srgbClr val="00AFEF"/>
                </a:solidFill>
                <a:latin typeface="Times New Roman"/>
                <a:cs typeface="Times New Roman"/>
              </a:rPr>
              <a:t> </a:t>
            </a:r>
            <a:r>
              <a:rPr sz="4000" dirty="0">
                <a:solidFill>
                  <a:srgbClr val="00AFEF"/>
                </a:solidFill>
                <a:latin typeface="Times New Roman"/>
                <a:cs typeface="Times New Roman"/>
              </a:rPr>
              <a:t>will</a:t>
            </a:r>
            <a:r>
              <a:rPr sz="4000" spc="-75" dirty="0">
                <a:solidFill>
                  <a:srgbClr val="00AFEF"/>
                </a:solidFill>
                <a:latin typeface="Times New Roman"/>
                <a:cs typeface="Times New Roman"/>
              </a:rPr>
              <a:t> </a:t>
            </a:r>
            <a:r>
              <a:rPr sz="4000" spc="-25" dirty="0">
                <a:solidFill>
                  <a:srgbClr val="00AFEF"/>
                </a:solidFill>
                <a:latin typeface="Times New Roman"/>
                <a:cs typeface="Times New Roman"/>
              </a:rPr>
              <a:t>be </a:t>
            </a:r>
            <a:r>
              <a:rPr sz="4000" dirty="0">
                <a:solidFill>
                  <a:srgbClr val="00AFEF"/>
                </a:solidFill>
                <a:latin typeface="Times New Roman"/>
                <a:cs typeface="Times New Roman"/>
              </a:rPr>
              <a:t>excluded</a:t>
            </a:r>
            <a:r>
              <a:rPr sz="4000" spc="-110" dirty="0">
                <a:solidFill>
                  <a:srgbClr val="00AFEF"/>
                </a:solidFill>
                <a:latin typeface="Times New Roman"/>
                <a:cs typeface="Times New Roman"/>
              </a:rPr>
              <a:t> </a:t>
            </a:r>
            <a:r>
              <a:rPr sz="4000" dirty="0">
                <a:solidFill>
                  <a:srgbClr val="00AFEF"/>
                </a:solidFill>
                <a:latin typeface="Times New Roman"/>
                <a:cs typeface="Times New Roman"/>
              </a:rPr>
              <a:t>from</a:t>
            </a:r>
            <a:r>
              <a:rPr sz="4000" spc="-65" dirty="0">
                <a:solidFill>
                  <a:srgbClr val="00AFEF"/>
                </a:solidFill>
                <a:latin typeface="Times New Roman"/>
                <a:cs typeface="Times New Roman"/>
              </a:rPr>
              <a:t> </a:t>
            </a:r>
            <a:r>
              <a:rPr sz="4000" dirty="0">
                <a:solidFill>
                  <a:srgbClr val="00AFEF"/>
                </a:solidFill>
                <a:latin typeface="Times New Roman"/>
                <a:cs typeface="Times New Roman"/>
              </a:rPr>
              <a:t>doing</a:t>
            </a:r>
            <a:r>
              <a:rPr sz="4000" spc="-85" dirty="0">
                <a:solidFill>
                  <a:srgbClr val="00AFEF"/>
                </a:solidFill>
                <a:latin typeface="Times New Roman"/>
                <a:cs typeface="Times New Roman"/>
              </a:rPr>
              <a:t> </a:t>
            </a:r>
            <a:r>
              <a:rPr sz="4000" dirty="0">
                <a:solidFill>
                  <a:srgbClr val="00AFEF"/>
                </a:solidFill>
                <a:latin typeface="Times New Roman"/>
                <a:cs typeface="Times New Roman"/>
              </a:rPr>
              <a:t>the</a:t>
            </a:r>
            <a:r>
              <a:rPr sz="4000" spc="-80" dirty="0">
                <a:solidFill>
                  <a:srgbClr val="00AFEF"/>
                </a:solidFill>
                <a:latin typeface="Times New Roman"/>
                <a:cs typeface="Times New Roman"/>
              </a:rPr>
              <a:t> </a:t>
            </a:r>
            <a:r>
              <a:rPr sz="4000" dirty="0">
                <a:solidFill>
                  <a:srgbClr val="00AFEF"/>
                </a:solidFill>
                <a:latin typeface="Times New Roman"/>
                <a:cs typeface="Times New Roman"/>
              </a:rPr>
              <a:t>same</a:t>
            </a:r>
            <a:r>
              <a:rPr sz="4000" spc="-75" dirty="0">
                <a:solidFill>
                  <a:srgbClr val="00AFEF"/>
                </a:solidFill>
                <a:latin typeface="Times New Roman"/>
                <a:cs typeface="Times New Roman"/>
              </a:rPr>
              <a:t> </a:t>
            </a:r>
            <a:r>
              <a:rPr sz="4000" spc="-10" dirty="0">
                <a:solidFill>
                  <a:srgbClr val="00AFEF"/>
                </a:solidFill>
                <a:latin typeface="Times New Roman"/>
                <a:cs typeface="Times New Roman"/>
              </a:rPr>
              <a:t>thing.</a:t>
            </a:r>
            <a:endParaRPr sz="4000" dirty="0">
              <a:latin typeface="Times New Roman"/>
              <a:cs typeface="Times New Roman"/>
            </a:endParaRPr>
          </a:p>
        </p:txBody>
      </p:sp>
      <p:sp>
        <p:nvSpPr>
          <p:cNvPr id="6" name="object 2">
            <a:extLst>
              <a:ext uri="{FF2B5EF4-FFF2-40B4-BE49-F238E27FC236}">
                <a16:creationId xmlns:a16="http://schemas.microsoft.com/office/drawing/2014/main" id="{CA312203-D847-43D5-A1E3-30DAEDC1B8BB}"/>
              </a:ext>
            </a:extLst>
          </p:cNvPr>
          <p:cNvSpPr txBox="1">
            <a:spLocks/>
          </p:cNvSpPr>
          <p:nvPr/>
        </p:nvSpPr>
        <p:spPr>
          <a:xfrm>
            <a:off x="667894" y="228600"/>
            <a:ext cx="7790306" cy="629018"/>
          </a:xfrm>
          <a:prstGeom prst="rect">
            <a:avLst/>
          </a:prstGeom>
        </p:spPr>
        <p:txBody>
          <a:bodyPr vert="horz" wrap="square" lIns="0" tIns="13335" rIns="0" bIns="0" rtlCol="0">
            <a:spAutoFit/>
          </a:bodyPr>
          <a:lstStyle>
            <a:lvl1pPr eaLnBrk="1" hangingPunct="1">
              <a:defRPr>
                <a:latin typeface="+mj-lt"/>
                <a:ea typeface="+mj-ea"/>
                <a:cs typeface="+mj-cs"/>
              </a:defRPr>
            </a:lvl1pPr>
          </a:lstStyle>
          <a:p>
            <a:pPr marL="12700" algn="ctr">
              <a:spcBef>
                <a:spcPts val="105"/>
              </a:spcBef>
            </a:pPr>
            <a:r>
              <a:rPr lang="en-US" sz="4000" kern="0" dirty="0">
                <a:solidFill>
                  <a:sysClr val="windowText" lastClr="000000"/>
                </a:solidFill>
              </a:rPr>
              <a:t>Then what is Mutual Exclusion really?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xfrm>
            <a:off x="1371600" y="228600"/>
            <a:ext cx="6858000" cy="629018"/>
          </a:xfrm>
          <a:prstGeom prst="rect">
            <a:avLst/>
          </a:prstGeom>
        </p:spPr>
        <p:txBody>
          <a:bodyPr vert="horz" wrap="square" lIns="0" tIns="13335" rIns="0" bIns="0" rtlCol="0">
            <a:spAutoFit/>
          </a:bodyPr>
          <a:lstStyle/>
          <a:p>
            <a:pPr marL="12700" algn="ctr" rtl="0">
              <a:spcBef>
                <a:spcPts val="105"/>
              </a:spcBef>
            </a:pPr>
            <a:r>
              <a:rPr sz="4000" dirty="0">
                <a:solidFill>
                  <a:sysClr val="windowText" lastClr="000000"/>
                </a:solidFill>
                <a:latin typeface="+mj-lt"/>
                <a:cs typeface="+mj-cs"/>
              </a:rPr>
              <a:t>Critical-Section Problem</a:t>
            </a:r>
          </a:p>
        </p:txBody>
      </p:sp>
      <p:sp>
        <p:nvSpPr>
          <p:cNvPr id="3" name="object 3"/>
          <p:cNvSpPr txBox="1">
            <a:spLocks noGrp="1"/>
          </p:cNvSpPr>
          <p:nvPr>
            <p:ph type="body" idx="1"/>
          </p:nvPr>
        </p:nvSpPr>
        <p:spPr>
          <a:xfrm>
            <a:off x="737108" y="1524000"/>
            <a:ext cx="7669783" cy="3965187"/>
          </a:xfrm>
          <a:prstGeom prst="rect">
            <a:avLst/>
          </a:prstGeom>
        </p:spPr>
        <p:txBody>
          <a:bodyPr vert="horz" wrap="square" lIns="0" tIns="76199" rIns="0" bIns="0" rtlCol="0">
            <a:spAutoFit/>
          </a:bodyPr>
          <a:lstStyle/>
          <a:p>
            <a:pPr marL="354330" marR="5080" indent="-341630" algn="just">
              <a:lnSpc>
                <a:spcPct val="100000"/>
              </a:lnSpc>
              <a:spcBef>
                <a:spcPts val="105"/>
              </a:spcBef>
              <a:buFont typeface="Arial"/>
              <a:buChar char="•"/>
              <a:tabLst>
                <a:tab pos="355600" algn="l"/>
              </a:tabLst>
            </a:pPr>
            <a:r>
              <a:rPr dirty="0">
                <a:latin typeface="Times New Roman"/>
                <a:cs typeface="Times New Roman"/>
              </a:rPr>
              <a:t>Code</a:t>
            </a:r>
            <a:r>
              <a:rPr spc="290" dirty="0">
                <a:latin typeface="Times New Roman"/>
                <a:cs typeface="Times New Roman"/>
              </a:rPr>
              <a:t> </a:t>
            </a:r>
            <a:r>
              <a:rPr dirty="0">
                <a:latin typeface="Times New Roman"/>
                <a:cs typeface="Times New Roman"/>
              </a:rPr>
              <a:t>executed</a:t>
            </a:r>
            <a:r>
              <a:rPr spc="290" dirty="0">
                <a:latin typeface="Times New Roman"/>
                <a:cs typeface="Times New Roman"/>
              </a:rPr>
              <a:t> </a:t>
            </a:r>
            <a:r>
              <a:rPr dirty="0">
                <a:latin typeface="Times New Roman"/>
                <a:cs typeface="Times New Roman"/>
              </a:rPr>
              <a:t>by</a:t>
            </a:r>
            <a:r>
              <a:rPr spc="300" dirty="0">
                <a:latin typeface="Times New Roman"/>
                <a:cs typeface="Times New Roman"/>
              </a:rPr>
              <a:t> </a:t>
            </a:r>
            <a:r>
              <a:rPr dirty="0">
                <a:latin typeface="Times New Roman"/>
                <a:cs typeface="Times New Roman"/>
              </a:rPr>
              <a:t>the</a:t>
            </a:r>
            <a:r>
              <a:rPr spc="295" dirty="0">
                <a:latin typeface="Times New Roman"/>
                <a:cs typeface="Times New Roman"/>
              </a:rPr>
              <a:t> </a:t>
            </a:r>
            <a:r>
              <a:rPr dirty="0">
                <a:latin typeface="Times New Roman"/>
                <a:cs typeface="Times New Roman"/>
              </a:rPr>
              <a:t>process</a:t>
            </a:r>
            <a:r>
              <a:rPr spc="300" dirty="0">
                <a:latin typeface="Times New Roman"/>
                <a:cs typeface="Times New Roman"/>
              </a:rPr>
              <a:t> </a:t>
            </a:r>
            <a:r>
              <a:rPr dirty="0">
                <a:latin typeface="Times New Roman"/>
                <a:cs typeface="Times New Roman"/>
              </a:rPr>
              <a:t>can</a:t>
            </a:r>
            <a:r>
              <a:rPr spc="285" dirty="0">
                <a:latin typeface="Times New Roman"/>
                <a:cs typeface="Times New Roman"/>
              </a:rPr>
              <a:t> </a:t>
            </a:r>
            <a:r>
              <a:rPr dirty="0">
                <a:latin typeface="Times New Roman"/>
                <a:cs typeface="Times New Roman"/>
              </a:rPr>
              <a:t>be</a:t>
            </a:r>
            <a:r>
              <a:rPr spc="285" dirty="0">
                <a:latin typeface="Times New Roman"/>
                <a:cs typeface="Times New Roman"/>
              </a:rPr>
              <a:t> </a:t>
            </a:r>
            <a:r>
              <a:rPr spc="-10" dirty="0">
                <a:latin typeface="Times New Roman"/>
                <a:cs typeface="Times New Roman"/>
              </a:rPr>
              <a:t>grouped 	</a:t>
            </a:r>
            <a:r>
              <a:rPr dirty="0">
                <a:latin typeface="Times New Roman"/>
                <a:cs typeface="Times New Roman"/>
              </a:rPr>
              <a:t>into</a:t>
            </a:r>
            <a:r>
              <a:rPr spc="235" dirty="0">
                <a:latin typeface="Times New Roman"/>
                <a:cs typeface="Times New Roman"/>
              </a:rPr>
              <a:t> </a:t>
            </a:r>
            <a:r>
              <a:rPr dirty="0">
                <a:latin typeface="Times New Roman"/>
                <a:cs typeface="Times New Roman"/>
              </a:rPr>
              <a:t>sections,</a:t>
            </a:r>
            <a:r>
              <a:rPr spc="245" dirty="0">
                <a:latin typeface="Times New Roman"/>
                <a:cs typeface="Times New Roman"/>
              </a:rPr>
              <a:t> </a:t>
            </a:r>
            <a:r>
              <a:rPr dirty="0">
                <a:latin typeface="Times New Roman"/>
                <a:cs typeface="Times New Roman"/>
              </a:rPr>
              <a:t>some</a:t>
            </a:r>
            <a:r>
              <a:rPr spc="240" dirty="0">
                <a:latin typeface="Times New Roman"/>
                <a:cs typeface="Times New Roman"/>
              </a:rPr>
              <a:t> </a:t>
            </a:r>
            <a:r>
              <a:rPr dirty="0">
                <a:latin typeface="Times New Roman"/>
                <a:cs typeface="Times New Roman"/>
              </a:rPr>
              <a:t>of</a:t>
            </a:r>
            <a:r>
              <a:rPr spc="240" dirty="0">
                <a:latin typeface="Times New Roman"/>
                <a:cs typeface="Times New Roman"/>
              </a:rPr>
              <a:t> </a:t>
            </a:r>
            <a:r>
              <a:rPr dirty="0">
                <a:latin typeface="Times New Roman"/>
                <a:cs typeface="Times New Roman"/>
              </a:rPr>
              <a:t>which</a:t>
            </a:r>
            <a:r>
              <a:rPr spc="240" dirty="0">
                <a:latin typeface="Times New Roman"/>
                <a:cs typeface="Times New Roman"/>
              </a:rPr>
              <a:t> </a:t>
            </a:r>
            <a:r>
              <a:rPr dirty="0">
                <a:latin typeface="Times New Roman"/>
                <a:cs typeface="Times New Roman"/>
              </a:rPr>
              <a:t>require</a:t>
            </a:r>
            <a:r>
              <a:rPr spc="250" dirty="0">
                <a:latin typeface="Times New Roman"/>
                <a:cs typeface="Times New Roman"/>
              </a:rPr>
              <a:t> </a:t>
            </a:r>
            <a:r>
              <a:rPr dirty="0">
                <a:latin typeface="Times New Roman"/>
                <a:cs typeface="Times New Roman"/>
              </a:rPr>
              <a:t>access</a:t>
            </a:r>
            <a:r>
              <a:rPr spc="240" dirty="0">
                <a:latin typeface="Times New Roman"/>
                <a:cs typeface="Times New Roman"/>
              </a:rPr>
              <a:t> </a:t>
            </a:r>
            <a:r>
              <a:rPr spc="-25" dirty="0">
                <a:latin typeface="Times New Roman"/>
                <a:cs typeface="Times New Roman"/>
              </a:rPr>
              <a:t>to 	</a:t>
            </a:r>
            <a:r>
              <a:rPr dirty="0">
                <a:solidFill>
                  <a:srgbClr val="00AFEF"/>
                </a:solidFill>
                <a:latin typeface="Times New Roman"/>
                <a:cs typeface="Times New Roman"/>
              </a:rPr>
              <a:t>shared</a:t>
            </a:r>
            <a:r>
              <a:rPr spc="-25" dirty="0">
                <a:solidFill>
                  <a:srgbClr val="00AFEF"/>
                </a:solidFill>
                <a:latin typeface="Times New Roman"/>
                <a:cs typeface="Times New Roman"/>
              </a:rPr>
              <a:t> </a:t>
            </a:r>
            <a:r>
              <a:rPr dirty="0">
                <a:solidFill>
                  <a:srgbClr val="00AFEF"/>
                </a:solidFill>
                <a:latin typeface="Times New Roman"/>
                <a:cs typeface="Times New Roman"/>
              </a:rPr>
              <a:t>resources</a:t>
            </a:r>
            <a:r>
              <a:rPr dirty="0">
                <a:latin typeface="Times New Roman"/>
                <a:cs typeface="Times New Roman"/>
              </a:rPr>
              <a:t>,</a:t>
            </a:r>
            <a:r>
              <a:rPr spc="-45" dirty="0">
                <a:latin typeface="Times New Roman"/>
                <a:cs typeface="Times New Roman"/>
              </a:rPr>
              <a:t> </a:t>
            </a:r>
            <a:r>
              <a:rPr dirty="0">
                <a:latin typeface="Times New Roman"/>
                <a:cs typeface="Times New Roman"/>
              </a:rPr>
              <a:t>and</a:t>
            </a:r>
            <a:r>
              <a:rPr spc="-15" dirty="0">
                <a:latin typeface="Times New Roman"/>
                <a:cs typeface="Times New Roman"/>
              </a:rPr>
              <a:t> </a:t>
            </a:r>
            <a:r>
              <a:rPr dirty="0">
                <a:latin typeface="Times New Roman"/>
                <a:cs typeface="Times New Roman"/>
              </a:rPr>
              <a:t>other</a:t>
            </a:r>
            <a:r>
              <a:rPr spc="-25" dirty="0">
                <a:latin typeface="Times New Roman"/>
                <a:cs typeface="Times New Roman"/>
              </a:rPr>
              <a:t> </a:t>
            </a:r>
            <a:r>
              <a:rPr dirty="0">
                <a:latin typeface="Times New Roman"/>
                <a:cs typeface="Times New Roman"/>
              </a:rPr>
              <a:t>that</a:t>
            </a:r>
            <a:r>
              <a:rPr spc="-5" dirty="0">
                <a:latin typeface="Times New Roman"/>
                <a:cs typeface="Times New Roman"/>
              </a:rPr>
              <a:t> </a:t>
            </a:r>
            <a:r>
              <a:rPr dirty="0">
                <a:solidFill>
                  <a:srgbClr val="00AFEF"/>
                </a:solidFill>
                <a:latin typeface="Times New Roman"/>
                <a:cs typeface="Times New Roman"/>
              </a:rPr>
              <a:t>do</a:t>
            </a:r>
            <a:r>
              <a:rPr spc="-15" dirty="0">
                <a:solidFill>
                  <a:srgbClr val="00AFEF"/>
                </a:solidFill>
                <a:latin typeface="Times New Roman"/>
                <a:cs typeface="Times New Roman"/>
              </a:rPr>
              <a:t> </a:t>
            </a:r>
            <a:r>
              <a:rPr spc="-20" dirty="0">
                <a:solidFill>
                  <a:srgbClr val="00AFEF"/>
                </a:solidFill>
                <a:latin typeface="Times New Roman"/>
                <a:cs typeface="Times New Roman"/>
              </a:rPr>
              <a:t>not</a:t>
            </a:r>
            <a:r>
              <a:rPr spc="-20" dirty="0">
                <a:latin typeface="Times New Roman"/>
                <a:cs typeface="Times New Roman"/>
              </a:rPr>
              <a:t>.</a:t>
            </a:r>
          </a:p>
          <a:p>
            <a:pPr marL="355600" marR="7620" indent="-342900" algn="just">
              <a:lnSpc>
                <a:spcPct val="100000"/>
              </a:lnSpc>
              <a:spcBef>
                <a:spcPts val="770"/>
              </a:spcBef>
              <a:buFont typeface="Arial"/>
              <a:buChar char="•"/>
              <a:tabLst>
                <a:tab pos="355600" algn="l"/>
              </a:tabLst>
            </a:pPr>
            <a:r>
              <a:rPr dirty="0">
                <a:latin typeface="Times New Roman"/>
                <a:cs typeface="Times New Roman"/>
              </a:rPr>
              <a:t>The</a:t>
            </a:r>
            <a:r>
              <a:rPr spc="345" dirty="0">
                <a:latin typeface="Times New Roman"/>
                <a:cs typeface="Times New Roman"/>
              </a:rPr>
              <a:t> </a:t>
            </a:r>
            <a:r>
              <a:rPr dirty="0">
                <a:latin typeface="Times New Roman"/>
                <a:cs typeface="Times New Roman"/>
              </a:rPr>
              <a:t>section</a:t>
            </a:r>
            <a:r>
              <a:rPr spc="335" dirty="0">
                <a:latin typeface="Times New Roman"/>
                <a:cs typeface="Times New Roman"/>
              </a:rPr>
              <a:t> </a:t>
            </a:r>
            <a:r>
              <a:rPr dirty="0">
                <a:latin typeface="Times New Roman"/>
                <a:cs typeface="Times New Roman"/>
              </a:rPr>
              <a:t>of</a:t>
            </a:r>
            <a:r>
              <a:rPr spc="340" dirty="0">
                <a:latin typeface="Times New Roman"/>
                <a:cs typeface="Times New Roman"/>
              </a:rPr>
              <a:t> </a:t>
            </a:r>
            <a:r>
              <a:rPr dirty="0">
                <a:latin typeface="Times New Roman"/>
                <a:cs typeface="Times New Roman"/>
              </a:rPr>
              <a:t>the</a:t>
            </a:r>
            <a:r>
              <a:rPr spc="340" dirty="0">
                <a:latin typeface="Times New Roman"/>
                <a:cs typeface="Times New Roman"/>
              </a:rPr>
              <a:t> </a:t>
            </a:r>
            <a:r>
              <a:rPr dirty="0">
                <a:latin typeface="Times New Roman"/>
                <a:cs typeface="Times New Roman"/>
              </a:rPr>
              <a:t>code</a:t>
            </a:r>
            <a:r>
              <a:rPr spc="335" dirty="0">
                <a:latin typeface="Times New Roman"/>
                <a:cs typeface="Times New Roman"/>
              </a:rPr>
              <a:t> </a:t>
            </a:r>
            <a:r>
              <a:rPr dirty="0">
                <a:latin typeface="Times New Roman"/>
                <a:cs typeface="Times New Roman"/>
              </a:rPr>
              <a:t>that</a:t>
            </a:r>
            <a:r>
              <a:rPr spc="330" dirty="0">
                <a:latin typeface="Times New Roman"/>
                <a:cs typeface="Times New Roman"/>
              </a:rPr>
              <a:t> </a:t>
            </a:r>
            <a:r>
              <a:rPr dirty="0">
                <a:latin typeface="Times New Roman"/>
                <a:cs typeface="Times New Roman"/>
              </a:rPr>
              <a:t>require</a:t>
            </a:r>
            <a:r>
              <a:rPr spc="360" dirty="0">
                <a:latin typeface="Times New Roman"/>
                <a:cs typeface="Times New Roman"/>
              </a:rPr>
              <a:t> </a:t>
            </a:r>
            <a:r>
              <a:rPr u="sng" dirty="0">
                <a:solidFill>
                  <a:srgbClr val="00AFEF"/>
                </a:solidFill>
                <a:uFill>
                  <a:solidFill>
                    <a:srgbClr val="00AFEF"/>
                  </a:solidFill>
                </a:uFill>
                <a:latin typeface="Times New Roman"/>
                <a:cs typeface="Times New Roman"/>
              </a:rPr>
              <a:t>access</a:t>
            </a:r>
            <a:r>
              <a:rPr u="sng" spc="320" dirty="0">
                <a:solidFill>
                  <a:srgbClr val="00AFEF"/>
                </a:solidFill>
                <a:uFill>
                  <a:solidFill>
                    <a:srgbClr val="00AFEF"/>
                  </a:solidFill>
                </a:uFill>
                <a:latin typeface="Times New Roman"/>
                <a:cs typeface="Times New Roman"/>
              </a:rPr>
              <a:t> </a:t>
            </a:r>
            <a:r>
              <a:rPr spc="-25" dirty="0">
                <a:latin typeface="Times New Roman"/>
                <a:cs typeface="Times New Roman"/>
              </a:rPr>
              <a:t>to </a:t>
            </a:r>
            <a:r>
              <a:rPr dirty="0">
                <a:latin typeface="Times New Roman"/>
                <a:cs typeface="Times New Roman"/>
              </a:rPr>
              <a:t>shared</a:t>
            </a:r>
            <a:r>
              <a:rPr spc="-45" dirty="0">
                <a:latin typeface="Times New Roman"/>
                <a:cs typeface="Times New Roman"/>
              </a:rPr>
              <a:t> </a:t>
            </a:r>
            <a:r>
              <a:rPr dirty="0">
                <a:latin typeface="Times New Roman"/>
                <a:cs typeface="Times New Roman"/>
              </a:rPr>
              <a:t>resources</a:t>
            </a:r>
            <a:r>
              <a:rPr spc="-40" dirty="0">
                <a:latin typeface="Times New Roman"/>
                <a:cs typeface="Times New Roman"/>
              </a:rPr>
              <a:t> </a:t>
            </a:r>
            <a:r>
              <a:rPr dirty="0">
                <a:latin typeface="Times New Roman"/>
                <a:cs typeface="Times New Roman"/>
              </a:rPr>
              <a:t>are</a:t>
            </a:r>
            <a:r>
              <a:rPr spc="-35" dirty="0">
                <a:latin typeface="Times New Roman"/>
                <a:cs typeface="Times New Roman"/>
              </a:rPr>
              <a:t> </a:t>
            </a:r>
            <a:r>
              <a:rPr dirty="0">
                <a:latin typeface="Times New Roman"/>
                <a:cs typeface="Times New Roman"/>
              </a:rPr>
              <a:t>called</a:t>
            </a:r>
            <a:r>
              <a:rPr spc="-30" dirty="0">
                <a:latin typeface="Times New Roman"/>
                <a:cs typeface="Times New Roman"/>
              </a:rPr>
              <a:t> </a:t>
            </a:r>
            <a:r>
              <a:rPr b="1" dirty="0">
                <a:latin typeface="Times New Roman"/>
                <a:cs typeface="Times New Roman"/>
              </a:rPr>
              <a:t>critical</a:t>
            </a:r>
            <a:r>
              <a:rPr b="1" spc="-30" dirty="0">
                <a:latin typeface="Times New Roman"/>
                <a:cs typeface="Times New Roman"/>
              </a:rPr>
              <a:t> </a:t>
            </a:r>
            <a:r>
              <a:rPr b="1" spc="-10" dirty="0">
                <a:latin typeface="Times New Roman"/>
                <a:cs typeface="Times New Roman"/>
              </a:rPr>
              <a:t>section</a:t>
            </a:r>
            <a:r>
              <a:rPr spc="-10" dirty="0">
                <a:latin typeface="Times New Roman"/>
                <a:cs typeface="Times New Roman"/>
              </a:rPr>
              <a:t>.</a:t>
            </a:r>
          </a:p>
          <a:p>
            <a:pPr marL="353060" marR="5715" indent="-340360" algn="just">
              <a:lnSpc>
                <a:spcPct val="100000"/>
              </a:lnSpc>
              <a:spcBef>
                <a:spcPts val="600"/>
              </a:spcBef>
              <a:buFont typeface="Arial"/>
              <a:buChar char="•"/>
              <a:tabLst>
                <a:tab pos="355600" algn="l"/>
              </a:tabLst>
            </a:pPr>
            <a:r>
              <a:rPr sz="2400" b="1" i="1" dirty="0">
                <a:latin typeface="Times New Roman"/>
                <a:cs typeface="Times New Roman"/>
              </a:rPr>
              <a:t>Facts:</a:t>
            </a:r>
            <a:r>
              <a:rPr sz="2400" b="1" i="1" spc="475" dirty="0">
                <a:latin typeface="Times New Roman"/>
                <a:cs typeface="Times New Roman"/>
              </a:rPr>
              <a:t> </a:t>
            </a:r>
            <a:r>
              <a:rPr sz="2400" i="1" dirty="0">
                <a:latin typeface="Times New Roman"/>
                <a:cs typeface="Times New Roman"/>
              </a:rPr>
              <a:t>The</a:t>
            </a:r>
            <a:r>
              <a:rPr sz="2400" i="1" spc="465" dirty="0">
                <a:latin typeface="Times New Roman"/>
                <a:cs typeface="Times New Roman"/>
              </a:rPr>
              <a:t> </a:t>
            </a:r>
            <a:r>
              <a:rPr sz="2400" i="1" dirty="0">
                <a:latin typeface="Times New Roman"/>
                <a:cs typeface="Times New Roman"/>
              </a:rPr>
              <a:t>part</a:t>
            </a:r>
            <a:r>
              <a:rPr sz="2400" i="1" spc="480" dirty="0">
                <a:latin typeface="Times New Roman"/>
                <a:cs typeface="Times New Roman"/>
              </a:rPr>
              <a:t> </a:t>
            </a:r>
            <a:r>
              <a:rPr sz="2400" i="1" dirty="0">
                <a:latin typeface="Times New Roman"/>
                <a:cs typeface="Times New Roman"/>
              </a:rPr>
              <a:t>of</a:t>
            </a:r>
            <a:r>
              <a:rPr sz="2400" i="1" spc="475" dirty="0">
                <a:latin typeface="Times New Roman"/>
                <a:cs typeface="Times New Roman"/>
              </a:rPr>
              <a:t> </a:t>
            </a:r>
            <a:r>
              <a:rPr sz="2400" i="1" dirty="0">
                <a:latin typeface="Times New Roman"/>
                <a:cs typeface="Times New Roman"/>
              </a:rPr>
              <a:t>the</a:t>
            </a:r>
            <a:r>
              <a:rPr sz="2400" i="1" spc="470" dirty="0">
                <a:latin typeface="Times New Roman"/>
                <a:cs typeface="Times New Roman"/>
              </a:rPr>
              <a:t> </a:t>
            </a:r>
            <a:r>
              <a:rPr sz="2400" i="1" dirty="0">
                <a:latin typeface="Times New Roman"/>
                <a:cs typeface="Times New Roman"/>
              </a:rPr>
              <a:t>time,</a:t>
            </a:r>
            <a:r>
              <a:rPr sz="2400" i="1" spc="475" dirty="0">
                <a:latin typeface="Times New Roman"/>
                <a:cs typeface="Times New Roman"/>
              </a:rPr>
              <a:t> </a:t>
            </a:r>
            <a:r>
              <a:rPr sz="2400" i="1" dirty="0">
                <a:latin typeface="Times New Roman"/>
                <a:cs typeface="Times New Roman"/>
              </a:rPr>
              <a:t>process</a:t>
            </a:r>
            <a:r>
              <a:rPr sz="2400" i="1" spc="475" dirty="0">
                <a:latin typeface="Times New Roman"/>
                <a:cs typeface="Times New Roman"/>
              </a:rPr>
              <a:t> </a:t>
            </a:r>
            <a:r>
              <a:rPr sz="2400" i="1" dirty="0">
                <a:latin typeface="Times New Roman"/>
                <a:cs typeface="Times New Roman"/>
              </a:rPr>
              <a:t>is</a:t>
            </a:r>
            <a:r>
              <a:rPr sz="2400" i="1" spc="475" dirty="0">
                <a:latin typeface="Times New Roman"/>
                <a:cs typeface="Times New Roman"/>
              </a:rPr>
              <a:t> </a:t>
            </a:r>
            <a:r>
              <a:rPr sz="2400" i="1" dirty="0">
                <a:latin typeface="Times New Roman"/>
                <a:cs typeface="Times New Roman"/>
              </a:rPr>
              <a:t>busy</a:t>
            </a:r>
            <a:r>
              <a:rPr sz="2400" i="1" spc="470" dirty="0">
                <a:latin typeface="Times New Roman"/>
                <a:cs typeface="Times New Roman"/>
              </a:rPr>
              <a:t> </a:t>
            </a:r>
            <a:r>
              <a:rPr sz="2400" i="1" dirty="0">
                <a:latin typeface="Times New Roman"/>
                <a:cs typeface="Times New Roman"/>
              </a:rPr>
              <a:t>doing</a:t>
            </a:r>
            <a:r>
              <a:rPr sz="2400" i="1" spc="475" dirty="0">
                <a:latin typeface="Times New Roman"/>
                <a:cs typeface="Times New Roman"/>
              </a:rPr>
              <a:t> </a:t>
            </a:r>
            <a:r>
              <a:rPr sz="2400" i="1" spc="-10" dirty="0">
                <a:latin typeface="Times New Roman"/>
                <a:cs typeface="Times New Roman"/>
              </a:rPr>
              <a:t>internal 	</a:t>
            </a:r>
            <a:r>
              <a:rPr sz="2400" i="1" dirty="0">
                <a:latin typeface="Times New Roman"/>
                <a:cs typeface="Times New Roman"/>
              </a:rPr>
              <a:t>computations</a:t>
            </a:r>
            <a:r>
              <a:rPr sz="2400" i="1" spc="475" dirty="0">
                <a:latin typeface="Times New Roman"/>
                <a:cs typeface="Times New Roman"/>
              </a:rPr>
              <a:t> </a:t>
            </a:r>
            <a:r>
              <a:rPr sz="2400" i="1" dirty="0">
                <a:latin typeface="Times New Roman"/>
                <a:cs typeface="Times New Roman"/>
              </a:rPr>
              <a:t>and</a:t>
            </a:r>
            <a:r>
              <a:rPr sz="2400" i="1" spc="470" dirty="0">
                <a:latin typeface="Times New Roman"/>
                <a:cs typeface="Times New Roman"/>
              </a:rPr>
              <a:t> </a:t>
            </a:r>
            <a:r>
              <a:rPr sz="2400" i="1" dirty="0">
                <a:latin typeface="Times New Roman"/>
                <a:cs typeface="Times New Roman"/>
              </a:rPr>
              <a:t>other</a:t>
            </a:r>
            <a:r>
              <a:rPr sz="2400" i="1" spc="475" dirty="0">
                <a:latin typeface="Times New Roman"/>
                <a:cs typeface="Times New Roman"/>
              </a:rPr>
              <a:t> </a:t>
            </a:r>
            <a:r>
              <a:rPr sz="2400" i="1" dirty="0">
                <a:latin typeface="Times New Roman"/>
                <a:cs typeface="Times New Roman"/>
              </a:rPr>
              <a:t>things</a:t>
            </a:r>
            <a:r>
              <a:rPr sz="2400" i="1" spc="459" dirty="0">
                <a:latin typeface="Times New Roman"/>
                <a:cs typeface="Times New Roman"/>
              </a:rPr>
              <a:t> </a:t>
            </a:r>
            <a:r>
              <a:rPr sz="2400" i="1" dirty="0">
                <a:latin typeface="Times New Roman"/>
                <a:cs typeface="Times New Roman"/>
              </a:rPr>
              <a:t>that</a:t>
            </a:r>
            <a:r>
              <a:rPr sz="2400" i="1" spc="470" dirty="0">
                <a:latin typeface="Times New Roman"/>
                <a:cs typeface="Times New Roman"/>
              </a:rPr>
              <a:t> </a:t>
            </a:r>
            <a:r>
              <a:rPr sz="2400" i="1" dirty="0">
                <a:latin typeface="Times New Roman"/>
                <a:cs typeface="Times New Roman"/>
              </a:rPr>
              <a:t>do</a:t>
            </a:r>
            <a:r>
              <a:rPr sz="2400" i="1" spc="470" dirty="0">
                <a:latin typeface="Times New Roman"/>
                <a:cs typeface="Times New Roman"/>
              </a:rPr>
              <a:t> </a:t>
            </a:r>
            <a:r>
              <a:rPr sz="2400" i="1" dirty="0">
                <a:latin typeface="Times New Roman"/>
                <a:cs typeface="Times New Roman"/>
              </a:rPr>
              <a:t>not</a:t>
            </a:r>
            <a:r>
              <a:rPr sz="2400" i="1" spc="475" dirty="0">
                <a:latin typeface="Times New Roman"/>
                <a:cs typeface="Times New Roman"/>
              </a:rPr>
              <a:t> </a:t>
            </a:r>
            <a:r>
              <a:rPr sz="2400" i="1" dirty="0">
                <a:latin typeface="Times New Roman"/>
                <a:cs typeface="Times New Roman"/>
              </a:rPr>
              <a:t>lead</a:t>
            </a:r>
            <a:r>
              <a:rPr sz="2400" i="1" spc="475" dirty="0">
                <a:latin typeface="Times New Roman"/>
                <a:cs typeface="Times New Roman"/>
              </a:rPr>
              <a:t> </a:t>
            </a:r>
            <a:r>
              <a:rPr sz="2400" i="1" dirty="0">
                <a:latin typeface="Times New Roman"/>
                <a:cs typeface="Times New Roman"/>
              </a:rPr>
              <a:t>to</a:t>
            </a:r>
            <a:r>
              <a:rPr sz="2400" i="1" spc="475" dirty="0">
                <a:latin typeface="Times New Roman"/>
                <a:cs typeface="Times New Roman"/>
              </a:rPr>
              <a:t> </a:t>
            </a:r>
            <a:r>
              <a:rPr sz="2400" i="1" dirty="0">
                <a:latin typeface="Times New Roman"/>
                <a:cs typeface="Times New Roman"/>
              </a:rPr>
              <a:t>the</a:t>
            </a:r>
            <a:r>
              <a:rPr sz="2400" i="1" spc="475" dirty="0">
                <a:latin typeface="Times New Roman"/>
                <a:cs typeface="Times New Roman"/>
              </a:rPr>
              <a:t> </a:t>
            </a:r>
            <a:r>
              <a:rPr sz="2400" i="1" spc="-20" dirty="0">
                <a:latin typeface="Times New Roman"/>
                <a:cs typeface="Times New Roman"/>
              </a:rPr>
              <a:t>race 	</a:t>
            </a:r>
            <a:r>
              <a:rPr sz="2400" i="1" dirty="0">
                <a:latin typeface="Times New Roman"/>
                <a:cs typeface="Times New Roman"/>
              </a:rPr>
              <a:t>condition.</a:t>
            </a:r>
            <a:r>
              <a:rPr sz="2400" i="1" spc="-45" dirty="0">
                <a:latin typeface="Times New Roman"/>
                <a:cs typeface="Times New Roman"/>
              </a:rPr>
              <a:t> </a:t>
            </a:r>
            <a:r>
              <a:rPr sz="2400" i="1" dirty="0">
                <a:solidFill>
                  <a:srgbClr val="00AFEF"/>
                </a:solidFill>
                <a:latin typeface="Times New Roman"/>
                <a:cs typeface="Times New Roman"/>
              </a:rPr>
              <a:t>Non</a:t>
            </a:r>
            <a:r>
              <a:rPr sz="2400" i="1" spc="15" dirty="0">
                <a:solidFill>
                  <a:srgbClr val="00AFEF"/>
                </a:solidFill>
                <a:latin typeface="Times New Roman"/>
                <a:cs typeface="Times New Roman"/>
              </a:rPr>
              <a:t> </a:t>
            </a:r>
            <a:r>
              <a:rPr sz="2400" i="1" dirty="0">
                <a:solidFill>
                  <a:srgbClr val="00AFEF"/>
                </a:solidFill>
                <a:latin typeface="Times New Roman"/>
                <a:cs typeface="Times New Roman"/>
              </a:rPr>
              <a:t>critical</a:t>
            </a:r>
            <a:r>
              <a:rPr sz="2400" i="1" spc="-25" dirty="0">
                <a:solidFill>
                  <a:srgbClr val="00AFEF"/>
                </a:solidFill>
                <a:latin typeface="Times New Roman"/>
                <a:cs typeface="Times New Roman"/>
              </a:rPr>
              <a:t> </a:t>
            </a:r>
            <a:r>
              <a:rPr sz="2400" i="1" spc="-10" dirty="0">
                <a:solidFill>
                  <a:srgbClr val="00AFEF"/>
                </a:solidFill>
                <a:latin typeface="Times New Roman"/>
                <a:cs typeface="Times New Roman"/>
              </a:rPr>
              <a:t>section</a:t>
            </a:r>
            <a:endParaRPr sz="2400" dirty="0">
              <a:latin typeface="Times New Roman"/>
              <a:cs typeface="Times New Roman"/>
            </a:endParaRPr>
          </a:p>
          <a:p>
            <a:pPr marL="353060" indent="-340360" algn="just">
              <a:lnSpc>
                <a:spcPct val="100000"/>
              </a:lnSpc>
              <a:spcBef>
                <a:spcPts val="575"/>
              </a:spcBef>
              <a:buFont typeface="Arial"/>
              <a:buChar char="•"/>
              <a:tabLst>
                <a:tab pos="353060" algn="l"/>
              </a:tabLst>
            </a:pPr>
            <a:r>
              <a:rPr sz="2400" b="1" i="1" dirty="0">
                <a:latin typeface="Times New Roman"/>
                <a:cs typeface="Times New Roman"/>
              </a:rPr>
              <a:t>Helpful</a:t>
            </a:r>
            <a:r>
              <a:rPr sz="2400" b="1" i="1" spc="-45" dirty="0">
                <a:latin typeface="Times New Roman"/>
                <a:cs typeface="Times New Roman"/>
              </a:rPr>
              <a:t> </a:t>
            </a:r>
            <a:r>
              <a:rPr sz="2400" b="1" i="1" dirty="0">
                <a:latin typeface="Times New Roman"/>
                <a:cs typeface="Times New Roman"/>
              </a:rPr>
              <a:t>to</a:t>
            </a:r>
            <a:r>
              <a:rPr sz="2400" b="1" i="1" spc="-15" dirty="0">
                <a:latin typeface="Times New Roman"/>
                <a:cs typeface="Times New Roman"/>
              </a:rPr>
              <a:t> </a:t>
            </a:r>
            <a:r>
              <a:rPr sz="2400" b="1" i="1" dirty="0">
                <a:latin typeface="Times New Roman"/>
                <a:cs typeface="Times New Roman"/>
              </a:rPr>
              <a:t>avoid</a:t>
            </a:r>
            <a:r>
              <a:rPr sz="2400" b="1" i="1" spc="-10" dirty="0">
                <a:latin typeface="Times New Roman"/>
                <a:cs typeface="Times New Roman"/>
              </a:rPr>
              <a:t> </a:t>
            </a:r>
            <a:r>
              <a:rPr sz="2400" b="1" i="1" dirty="0">
                <a:latin typeface="Times New Roman"/>
                <a:cs typeface="Times New Roman"/>
              </a:rPr>
              <a:t>race</a:t>
            </a:r>
            <a:r>
              <a:rPr sz="2400" b="1" i="1" spc="-5" dirty="0">
                <a:latin typeface="Times New Roman"/>
                <a:cs typeface="Times New Roman"/>
              </a:rPr>
              <a:t> </a:t>
            </a:r>
            <a:r>
              <a:rPr sz="2400" b="1" i="1" spc="-10" dirty="0">
                <a:latin typeface="Times New Roman"/>
                <a:cs typeface="Times New Roman"/>
              </a:rPr>
              <a:t>condition.</a:t>
            </a:r>
            <a:endParaRPr sz="2400" dirty="0">
              <a:latin typeface="Times New Roman"/>
              <a:cs typeface="Times New Roman"/>
            </a:endParaRPr>
          </a:p>
        </p:txBody>
      </p:sp>
      <p:sp>
        <p:nvSpPr>
          <p:cNvPr id="4" name="object 4"/>
          <p:cNvSpPr txBox="1">
            <a:spLocks noGrp="1"/>
          </p:cNvSpPr>
          <p:nvPr>
            <p:ph type="ftr" sz="quarter" idx="5"/>
          </p:nvPr>
        </p:nvSpPr>
        <p:spPr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12700">
              <a:lnSpc>
                <a:spcPts val="1240"/>
              </a:lnSpc>
            </a:pPr>
            <a:r>
              <a:rPr lang="pl-PL"/>
              <a:t>By Dr. Binod Kr. Adhikari</a:t>
            </a:r>
            <a:endParaRPr spc="-1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xfrm>
            <a:off x="1981200" y="228600"/>
            <a:ext cx="5715000" cy="629018"/>
          </a:xfrm>
          <a:prstGeom prst="rect">
            <a:avLst/>
          </a:prstGeom>
        </p:spPr>
        <p:txBody>
          <a:bodyPr vert="horz" wrap="square" lIns="0" tIns="13335" rIns="0" bIns="0" rtlCol="0">
            <a:spAutoFit/>
          </a:bodyPr>
          <a:lstStyle/>
          <a:p>
            <a:pPr marL="12700" algn="ctr" rtl="0">
              <a:spcBef>
                <a:spcPts val="105"/>
              </a:spcBef>
            </a:pPr>
            <a:r>
              <a:rPr sz="4000" b="1" dirty="0">
                <a:solidFill>
                  <a:sysClr val="windowText" lastClr="000000"/>
                </a:solidFill>
                <a:latin typeface="+mj-lt"/>
                <a:cs typeface="+mj-cs"/>
              </a:rPr>
              <a:t>Critical-Section Problem</a:t>
            </a:r>
          </a:p>
        </p:txBody>
      </p:sp>
      <p:sp>
        <p:nvSpPr>
          <p:cNvPr id="4" name="object 4"/>
          <p:cNvSpPr txBox="1">
            <a:spLocks noGrp="1"/>
          </p:cNvSpPr>
          <p:nvPr>
            <p:ph type="ftr" sz="quarter" idx="5"/>
          </p:nvPr>
        </p:nvSpPr>
        <p:spPr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12700">
              <a:lnSpc>
                <a:spcPts val="1240"/>
              </a:lnSpc>
            </a:pPr>
            <a:r>
              <a:rPr lang="pl-PL"/>
              <a:t>By Dr. Binod Kr. Adhikari</a:t>
            </a:r>
            <a:endParaRPr spc="-10" dirty="0"/>
          </a:p>
        </p:txBody>
      </p:sp>
      <p:sp>
        <p:nvSpPr>
          <p:cNvPr id="3" name="object 3"/>
          <p:cNvSpPr txBox="1"/>
          <p:nvPr/>
        </p:nvSpPr>
        <p:spPr>
          <a:xfrm>
            <a:off x="535940" y="1295400"/>
            <a:ext cx="7974965" cy="4519295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sz="2200" dirty="0">
                <a:latin typeface="Times New Roman"/>
                <a:cs typeface="Times New Roman"/>
              </a:rPr>
              <a:t>General</a:t>
            </a:r>
            <a:r>
              <a:rPr sz="2200" spc="-45" dirty="0">
                <a:latin typeface="Times New Roman"/>
                <a:cs typeface="Times New Roman"/>
              </a:rPr>
              <a:t> </a:t>
            </a:r>
            <a:r>
              <a:rPr sz="2200" dirty="0">
                <a:latin typeface="Times New Roman"/>
                <a:cs typeface="Times New Roman"/>
              </a:rPr>
              <a:t>structure</a:t>
            </a:r>
            <a:r>
              <a:rPr sz="2200" spc="-30" dirty="0">
                <a:latin typeface="Times New Roman"/>
                <a:cs typeface="Times New Roman"/>
              </a:rPr>
              <a:t> </a:t>
            </a:r>
            <a:r>
              <a:rPr sz="2200" dirty="0">
                <a:latin typeface="Times New Roman"/>
                <a:cs typeface="Times New Roman"/>
              </a:rPr>
              <a:t>of</a:t>
            </a:r>
            <a:r>
              <a:rPr sz="2200" spc="-45" dirty="0">
                <a:latin typeface="Times New Roman"/>
                <a:cs typeface="Times New Roman"/>
              </a:rPr>
              <a:t> </a:t>
            </a:r>
            <a:r>
              <a:rPr sz="2200" dirty="0">
                <a:latin typeface="Times New Roman"/>
                <a:cs typeface="Times New Roman"/>
              </a:rPr>
              <a:t>process</a:t>
            </a:r>
            <a:r>
              <a:rPr sz="2200" spc="-60" dirty="0">
                <a:latin typeface="Times New Roman"/>
                <a:cs typeface="Times New Roman"/>
              </a:rPr>
              <a:t> </a:t>
            </a:r>
            <a:r>
              <a:rPr sz="2200" dirty="0">
                <a:latin typeface="Times New Roman"/>
                <a:cs typeface="Times New Roman"/>
              </a:rPr>
              <a:t>Pi</a:t>
            </a:r>
            <a:r>
              <a:rPr sz="2200" spc="-40" dirty="0">
                <a:latin typeface="Times New Roman"/>
                <a:cs typeface="Times New Roman"/>
              </a:rPr>
              <a:t> </a:t>
            </a:r>
            <a:r>
              <a:rPr sz="2200" dirty="0">
                <a:latin typeface="Times New Roman"/>
                <a:cs typeface="Times New Roman"/>
              </a:rPr>
              <a:t>(other</a:t>
            </a:r>
            <a:r>
              <a:rPr sz="2200" spc="-35" dirty="0">
                <a:latin typeface="Times New Roman"/>
                <a:cs typeface="Times New Roman"/>
              </a:rPr>
              <a:t> </a:t>
            </a:r>
            <a:r>
              <a:rPr sz="2200" dirty="0">
                <a:latin typeface="Times New Roman"/>
                <a:cs typeface="Times New Roman"/>
              </a:rPr>
              <a:t>process</a:t>
            </a:r>
            <a:r>
              <a:rPr sz="2200" spc="-40" dirty="0">
                <a:latin typeface="Times New Roman"/>
                <a:cs typeface="Times New Roman"/>
              </a:rPr>
              <a:t> </a:t>
            </a:r>
            <a:r>
              <a:rPr sz="2200" spc="-25" dirty="0">
                <a:latin typeface="Times New Roman"/>
                <a:cs typeface="Times New Roman"/>
              </a:rPr>
              <a:t>Pj)</a:t>
            </a:r>
            <a:endParaRPr sz="2200" dirty="0">
              <a:latin typeface="Times New Roman"/>
              <a:cs typeface="Times New Roman"/>
            </a:endParaRPr>
          </a:p>
          <a:p>
            <a:pPr marL="927100">
              <a:lnSpc>
                <a:spcPct val="100000"/>
              </a:lnSpc>
              <a:spcBef>
                <a:spcPts val="5"/>
              </a:spcBef>
            </a:pPr>
            <a:r>
              <a:rPr sz="2200" spc="-25" dirty="0">
                <a:latin typeface="Times New Roman"/>
                <a:cs typeface="Times New Roman"/>
              </a:rPr>
              <a:t>do{</a:t>
            </a:r>
            <a:endParaRPr sz="2200" dirty="0">
              <a:latin typeface="Times New Roman"/>
              <a:cs typeface="Times New Roman"/>
            </a:endParaRPr>
          </a:p>
          <a:p>
            <a:pPr marL="1841500">
              <a:lnSpc>
                <a:spcPct val="100000"/>
              </a:lnSpc>
            </a:pPr>
            <a:r>
              <a:rPr sz="2200" spc="-10" dirty="0">
                <a:latin typeface="Times New Roman"/>
                <a:cs typeface="Times New Roman"/>
              </a:rPr>
              <a:t>entry_section</a:t>
            </a:r>
            <a:endParaRPr sz="2200" dirty="0">
              <a:latin typeface="Times New Roman"/>
              <a:cs typeface="Times New Roman"/>
            </a:endParaRPr>
          </a:p>
          <a:p>
            <a:pPr marL="2756535">
              <a:lnSpc>
                <a:spcPct val="100000"/>
              </a:lnSpc>
            </a:pPr>
            <a:r>
              <a:rPr sz="2200" spc="-10" dirty="0">
                <a:latin typeface="Times New Roman"/>
                <a:cs typeface="Times New Roman"/>
              </a:rPr>
              <a:t>critical_section(CR)</a:t>
            </a:r>
            <a:endParaRPr sz="2200" dirty="0">
              <a:latin typeface="Times New Roman"/>
              <a:cs typeface="Times New Roman"/>
            </a:endParaRPr>
          </a:p>
          <a:p>
            <a:pPr marL="1841500">
              <a:lnSpc>
                <a:spcPct val="100000"/>
              </a:lnSpc>
            </a:pPr>
            <a:r>
              <a:rPr sz="2200" spc="-10" dirty="0">
                <a:latin typeface="Times New Roman"/>
                <a:cs typeface="Times New Roman"/>
              </a:rPr>
              <a:t>exit_section</a:t>
            </a:r>
            <a:endParaRPr sz="2200" dirty="0">
              <a:latin typeface="Times New Roman"/>
              <a:cs typeface="Times New Roman"/>
            </a:endParaRPr>
          </a:p>
          <a:p>
            <a:pPr marL="2756535">
              <a:lnSpc>
                <a:spcPct val="100000"/>
              </a:lnSpc>
            </a:pPr>
            <a:r>
              <a:rPr sz="2200" spc="-10" dirty="0">
                <a:latin typeface="Times New Roman"/>
                <a:cs typeface="Times New Roman"/>
              </a:rPr>
              <a:t>reminder_section</a:t>
            </a:r>
            <a:endParaRPr sz="2200" dirty="0">
              <a:latin typeface="Times New Roman"/>
              <a:cs typeface="Times New Roman"/>
            </a:endParaRPr>
          </a:p>
          <a:p>
            <a:pPr marL="1553210">
              <a:lnSpc>
                <a:spcPct val="100000"/>
              </a:lnSpc>
            </a:pPr>
            <a:r>
              <a:rPr sz="2200" dirty="0">
                <a:latin typeface="Times New Roman"/>
                <a:cs typeface="Times New Roman"/>
              </a:rPr>
              <a:t>}</a:t>
            </a:r>
            <a:r>
              <a:rPr sz="2200" spc="-15" dirty="0">
                <a:latin typeface="Times New Roman"/>
                <a:cs typeface="Times New Roman"/>
              </a:rPr>
              <a:t> </a:t>
            </a:r>
            <a:r>
              <a:rPr sz="2200" spc="-10" dirty="0">
                <a:latin typeface="Times New Roman"/>
                <a:cs typeface="Times New Roman"/>
              </a:rPr>
              <a:t>while(true)</a:t>
            </a:r>
            <a:endParaRPr sz="2200" dirty="0">
              <a:latin typeface="Times New Roman"/>
              <a:cs typeface="Times New Roman"/>
            </a:endParaRPr>
          </a:p>
          <a:p>
            <a:pPr marL="354965" indent="-342265">
              <a:lnSpc>
                <a:spcPts val="2375"/>
              </a:lnSpc>
              <a:buFont typeface="Arial"/>
              <a:buChar char="•"/>
              <a:tabLst>
                <a:tab pos="354965" algn="l"/>
              </a:tabLst>
            </a:pPr>
            <a:r>
              <a:rPr sz="2200" dirty="0">
                <a:latin typeface="Times New Roman"/>
                <a:cs typeface="Times New Roman"/>
              </a:rPr>
              <a:t>When</a:t>
            </a:r>
            <a:r>
              <a:rPr sz="2200" spc="-65" dirty="0">
                <a:latin typeface="Times New Roman"/>
                <a:cs typeface="Times New Roman"/>
              </a:rPr>
              <a:t> </a:t>
            </a:r>
            <a:r>
              <a:rPr sz="2200" dirty="0">
                <a:latin typeface="Times New Roman"/>
                <a:cs typeface="Times New Roman"/>
              </a:rPr>
              <a:t>a</a:t>
            </a:r>
            <a:r>
              <a:rPr sz="2200" spc="-45" dirty="0">
                <a:latin typeface="Times New Roman"/>
                <a:cs typeface="Times New Roman"/>
              </a:rPr>
              <a:t> </a:t>
            </a:r>
            <a:r>
              <a:rPr sz="2200" dirty="0">
                <a:latin typeface="Times New Roman"/>
                <a:cs typeface="Times New Roman"/>
              </a:rPr>
              <a:t>process</a:t>
            </a:r>
            <a:r>
              <a:rPr sz="2200" spc="-50" dirty="0">
                <a:latin typeface="Times New Roman"/>
                <a:cs typeface="Times New Roman"/>
              </a:rPr>
              <a:t> </a:t>
            </a:r>
            <a:r>
              <a:rPr sz="2200" dirty="0">
                <a:latin typeface="Times New Roman"/>
                <a:cs typeface="Times New Roman"/>
              </a:rPr>
              <a:t>is</a:t>
            </a:r>
            <a:r>
              <a:rPr sz="2200" spc="-50" dirty="0">
                <a:latin typeface="Times New Roman"/>
                <a:cs typeface="Times New Roman"/>
              </a:rPr>
              <a:t> </a:t>
            </a:r>
            <a:r>
              <a:rPr sz="2200" dirty="0">
                <a:latin typeface="Times New Roman"/>
                <a:cs typeface="Times New Roman"/>
              </a:rPr>
              <a:t>accessing</a:t>
            </a:r>
            <a:r>
              <a:rPr sz="2200" spc="-35" dirty="0">
                <a:latin typeface="Times New Roman"/>
                <a:cs typeface="Times New Roman"/>
              </a:rPr>
              <a:t> </a:t>
            </a:r>
            <a:r>
              <a:rPr sz="2200" dirty="0">
                <a:latin typeface="Times New Roman"/>
                <a:cs typeface="Times New Roman"/>
              </a:rPr>
              <a:t>a</a:t>
            </a:r>
            <a:r>
              <a:rPr sz="2200" spc="-50" dirty="0">
                <a:latin typeface="Times New Roman"/>
                <a:cs typeface="Times New Roman"/>
              </a:rPr>
              <a:t> </a:t>
            </a:r>
            <a:r>
              <a:rPr sz="2200" dirty="0">
                <a:latin typeface="Times New Roman"/>
                <a:cs typeface="Times New Roman"/>
              </a:rPr>
              <a:t>shared</a:t>
            </a:r>
            <a:r>
              <a:rPr sz="2200" spc="-40" dirty="0">
                <a:latin typeface="Times New Roman"/>
                <a:cs typeface="Times New Roman"/>
              </a:rPr>
              <a:t> </a:t>
            </a:r>
            <a:r>
              <a:rPr sz="2200" dirty="0">
                <a:latin typeface="Times New Roman"/>
                <a:cs typeface="Times New Roman"/>
              </a:rPr>
              <a:t>modifiable</a:t>
            </a:r>
            <a:r>
              <a:rPr sz="2200" spc="-35" dirty="0">
                <a:latin typeface="Times New Roman"/>
                <a:cs typeface="Times New Roman"/>
              </a:rPr>
              <a:t> </a:t>
            </a:r>
            <a:r>
              <a:rPr sz="2200" dirty="0">
                <a:latin typeface="Times New Roman"/>
                <a:cs typeface="Times New Roman"/>
              </a:rPr>
              <a:t>data,</a:t>
            </a:r>
            <a:r>
              <a:rPr sz="2200" spc="-45" dirty="0">
                <a:latin typeface="Times New Roman"/>
                <a:cs typeface="Times New Roman"/>
              </a:rPr>
              <a:t> </a:t>
            </a:r>
            <a:r>
              <a:rPr sz="2200" dirty="0">
                <a:latin typeface="Times New Roman"/>
                <a:cs typeface="Times New Roman"/>
              </a:rPr>
              <a:t>the</a:t>
            </a:r>
            <a:r>
              <a:rPr sz="2200" spc="-45" dirty="0">
                <a:latin typeface="Times New Roman"/>
                <a:cs typeface="Times New Roman"/>
              </a:rPr>
              <a:t> </a:t>
            </a:r>
            <a:r>
              <a:rPr sz="2200" dirty="0">
                <a:latin typeface="Times New Roman"/>
                <a:cs typeface="Times New Roman"/>
              </a:rPr>
              <a:t>process</a:t>
            </a:r>
            <a:r>
              <a:rPr sz="2200" spc="-50" dirty="0">
                <a:latin typeface="Times New Roman"/>
                <a:cs typeface="Times New Roman"/>
              </a:rPr>
              <a:t> </a:t>
            </a:r>
            <a:r>
              <a:rPr sz="2200" spc="-25" dirty="0">
                <a:latin typeface="Times New Roman"/>
                <a:cs typeface="Times New Roman"/>
              </a:rPr>
              <a:t>is</a:t>
            </a:r>
            <a:endParaRPr sz="2200" dirty="0">
              <a:latin typeface="Times New Roman"/>
              <a:cs typeface="Times New Roman"/>
            </a:endParaRPr>
          </a:p>
          <a:p>
            <a:pPr marL="355600">
              <a:lnSpc>
                <a:spcPts val="2380"/>
              </a:lnSpc>
            </a:pPr>
            <a:r>
              <a:rPr sz="2200" dirty="0">
                <a:latin typeface="Times New Roman"/>
                <a:cs typeface="Times New Roman"/>
              </a:rPr>
              <a:t>said</a:t>
            </a:r>
            <a:r>
              <a:rPr sz="2200" spc="-30" dirty="0">
                <a:latin typeface="Times New Roman"/>
                <a:cs typeface="Times New Roman"/>
              </a:rPr>
              <a:t> </a:t>
            </a:r>
            <a:r>
              <a:rPr sz="2200" dirty="0">
                <a:latin typeface="Times New Roman"/>
                <a:cs typeface="Times New Roman"/>
              </a:rPr>
              <a:t>to</a:t>
            </a:r>
            <a:r>
              <a:rPr sz="2200" spc="-35" dirty="0">
                <a:latin typeface="Times New Roman"/>
                <a:cs typeface="Times New Roman"/>
              </a:rPr>
              <a:t> </a:t>
            </a:r>
            <a:r>
              <a:rPr sz="2200" dirty="0">
                <a:latin typeface="Times New Roman"/>
                <a:cs typeface="Times New Roman"/>
              </a:rPr>
              <a:t>be</a:t>
            </a:r>
            <a:r>
              <a:rPr sz="2200" spc="-20" dirty="0">
                <a:latin typeface="Times New Roman"/>
                <a:cs typeface="Times New Roman"/>
              </a:rPr>
              <a:t> </a:t>
            </a:r>
            <a:r>
              <a:rPr sz="2200" dirty="0">
                <a:latin typeface="Times New Roman"/>
                <a:cs typeface="Times New Roman"/>
              </a:rPr>
              <a:t>in</a:t>
            </a:r>
            <a:r>
              <a:rPr sz="2200" spc="-30" dirty="0">
                <a:latin typeface="Times New Roman"/>
                <a:cs typeface="Times New Roman"/>
              </a:rPr>
              <a:t> </a:t>
            </a:r>
            <a:r>
              <a:rPr sz="2200" dirty="0">
                <a:latin typeface="Times New Roman"/>
                <a:cs typeface="Times New Roman"/>
              </a:rPr>
              <a:t>critical</a:t>
            </a:r>
            <a:r>
              <a:rPr sz="2200" spc="-10" dirty="0">
                <a:latin typeface="Times New Roman"/>
                <a:cs typeface="Times New Roman"/>
              </a:rPr>
              <a:t> section.</a:t>
            </a:r>
            <a:endParaRPr sz="2200" dirty="0">
              <a:latin typeface="Times New Roman"/>
              <a:cs typeface="Times New Roman"/>
            </a:endParaRPr>
          </a:p>
          <a:p>
            <a:pPr marL="355600" marR="104139" indent="-342900">
              <a:lnSpc>
                <a:spcPts val="2110"/>
              </a:lnSpc>
              <a:spcBef>
                <a:spcPts val="515"/>
              </a:spcBef>
              <a:buChar char="•"/>
              <a:tabLst>
                <a:tab pos="355600" algn="l"/>
                <a:tab pos="408305" algn="l"/>
              </a:tabLst>
            </a:pPr>
            <a:r>
              <a:rPr sz="2200" dirty="0">
                <a:latin typeface="Arial"/>
                <a:cs typeface="Arial"/>
              </a:rPr>
              <a:t>	</a:t>
            </a:r>
            <a:r>
              <a:rPr sz="2200" dirty="0">
                <a:latin typeface="Times New Roman"/>
                <a:cs typeface="Times New Roman"/>
              </a:rPr>
              <a:t>All</a:t>
            </a:r>
            <a:r>
              <a:rPr sz="2200" spc="-50" dirty="0">
                <a:latin typeface="Times New Roman"/>
                <a:cs typeface="Times New Roman"/>
              </a:rPr>
              <a:t> </a:t>
            </a:r>
            <a:r>
              <a:rPr sz="2200" dirty="0">
                <a:latin typeface="Times New Roman"/>
                <a:cs typeface="Times New Roman"/>
              </a:rPr>
              <a:t>other</a:t>
            </a:r>
            <a:r>
              <a:rPr sz="2200" spc="-45" dirty="0">
                <a:latin typeface="Times New Roman"/>
                <a:cs typeface="Times New Roman"/>
              </a:rPr>
              <a:t> </a:t>
            </a:r>
            <a:r>
              <a:rPr sz="2200" dirty="0">
                <a:latin typeface="Times New Roman"/>
                <a:cs typeface="Times New Roman"/>
              </a:rPr>
              <a:t>processes</a:t>
            </a:r>
            <a:r>
              <a:rPr sz="2200" spc="-50" dirty="0">
                <a:latin typeface="Times New Roman"/>
                <a:cs typeface="Times New Roman"/>
              </a:rPr>
              <a:t> </a:t>
            </a:r>
            <a:r>
              <a:rPr sz="2200" dirty="0">
                <a:latin typeface="Times New Roman"/>
                <a:cs typeface="Times New Roman"/>
              </a:rPr>
              <a:t>(those</a:t>
            </a:r>
            <a:r>
              <a:rPr sz="2200" spc="-50" dirty="0">
                <a:latin typeface="Times New Roman"/>
                <a:cs typeface="Times New Roman"/>
              </a:rPr>
              <a:t> </a:t>
            </a:r>
            <a:r>
              <a:rPr sz="2200" dirty="0">
                <a:latin typeface="Times New Roman"/>
                <a:cs typeface="Times New Roman"/>
              </a:rPr>
              <a:t>access</a:t>
            </a:r>
            <a:r>
              <a:rPr sz="2200" spc="-35" dirty="0">
                <a:latin typeface="Times New Roman"/>
                <a:cs typeface="Times New Roman"/>
              </a:rPr>
              <a:t> </a:t>
            </a:r>
            <a:r>
              <a:rPr sz="2200" dirty="0">
                <a:latin typeface="Times New Roman"/>
                <a:cs typeface="Times New Roman"/>
              </a:rPr>
              <a:t>the</a:t>
            </a:r>
            <a:r>
              <a:rPr sz="2200" spc="-45" dirty="0">
                <a:latin typeface="Times New Roman"/>
                <a:cs typeface="Times New Roman"/>
              </a:rPr>
              <a:t> </a:t>
            </a:r>
            <a:r>
              <a:rPr sz="2200" dirty="0">
                <a:latin typeface="Times New Roman"/>
                <a:cs typeface="Times New Roman"/>
              </a:rPr>
              <a:t>same</a:t>
            </a:r>
            <a:r>
              <a:rPr sz="2200" spc="-25" dirty="0">
                <a:latin typeface="Times New Roman"/>
                <a:cs typeface="Times New Roman"/>
              </a:rPr>
              <a:t> </a:t>
            </a:r>
            <a:r>
              <a:rPr sz="2200" dirty="0">
                <a:latin typeface="Times New Roman"/>
                <a:cs typeface="Times New Roman"/>
              </a:rPr>
              <a:t>data)</a:t>
            </a:r>
            <a:r>
              <a:rPr sz="2200" spc="-45" dirty="0">
                <a:latin typeface="Times New Roman"/>
                <a:cs typeface="Times New Roman"/>
              </a:rPr>
              <a:t> </a:t>
            </a:r>
            <a:r>
              <a:rPr sz="2200" dirty="0">
                <a:latin typeface="Times New Roman"/>
                <a:cs typeface="Times New Roman"/>
              </a:rPr>
              <a:t>are</a:t>
            </a:r>
            <a:r>
              <a:rPr sz="2200" spc="-30" dirty="0">
                <a:latin typeface="Times New Roman"/>
                <a:cs typeface="Times New Roman"/>
              </a:rPr>
              <a:t> </a:t>
            </a:r>
            <a:r>
              <a:rPr sz="2200" dirty="0">
                <a:latin typeface="Times New Roman"/>
                <a:cs typeface="Times New Roman"/>
              </a:rPr>
              <a:t>excluded</a:t>
            </a:r>
            <a:r>
              <a:rPr sz="2200" spc="-45" dirty="0">
                <a:latin typeface="Times New Roman"/>
                <a:cs typeface="Times New Roman"/>
              </a:rPr>
              <a:t> </a:t>
            </a:r>
            <a:r>
              <a:rPr sz="2200" spc="-20" dirty="0">
                <a:latin typeface="Times New Roman"/>
                <a:cs typeface="Times New Roman"/>
              </a:rPr>
              <a:t>from </a:t>
            </a:r>
            <a:r>
              <a:rPr sz="2200" dirty="0">
                <a:latin typeface="Times New Roman"/>
                <a:cs typeface="Times New Roman"/>
              </a:rPr>
              <a:t>their</a:t>
            </a:r>
            <a:r>
              <a:rPr sz="2200" spc="-55" dirty="0">
                <a:latin typeface="Times New Roman"/>
                <a:cs typeface="Times New Roman"/>
              </a:rPr>
              <a:t> </a:t>
            </a:r>
            <a:r>
              <a:rPr sz="2200" dirty="0">
                <a:latin typeface="Times New Roman"/>
                <a:cs typeface="Times New Roman"/>
              </a:rPr>
              <a:t>own</a:t>
            </a:r>
            <a:r>
              <a:rPr sz="2200" spc="-40" dirty="0">
                <a:latin typeface="Times New Roman"/>
                <a:cs typeface="Times New Roman"/>
              </a:rPr>
              <a:t> </a:t>
            </a:r>
            <a:r>
              <a:rPr sz="2200" dirty="0">
                <a:latin typeface="Times New Roman"/>
                <a:cs typeface="Times New Roman"/>
              </a:rPr>
              <a:t>critical</a:t>
            </a:r>
            <a:r>
              <a:rPr sz="2200" spc="-30" dirty="0">
                <a:latin typeface="Times New Roman"/>
                <a:cs typeface="Times New Roman"/>
              </a:rPr>
              <a:t> </a:t>
            </a:r>
            <a:r>
              <a:rPr sz="2200" spc="-10" dirty="0">
                <a:latin typeface="Times New Roman"/>
                <a:cs typeface="Times New Roman"/>
              </a:rPr>
              <a:t>region.</a:t>
            </a:r>
            <a:endParaRPr sz="2200" dirty="0">
              <a:latin typeface="Times New Roman"/>
              <a:cs typeface="Times New Roman"/>
            </a:endParaRPr>
          </a:p>
          <a:p>
            <a:pPr marL="354965" indent="-342265">
              <a:lnSpc>
                <a:spcPct val="100000"/>
              </a:lnSpc>
              <a:spcBef>
                <a:spcPts val="20"/>
              </a:spcBef>
              <a:buFont typeface="Arial"/>
              <a:buChar char="•"/>
              <a:tabLst>
                <a:tab pos="354965" algn="l"/>
              </a:tabLst>
            </a:pPr>
            <a:r>
              <a:rPr sz="2200" dirty="0">
                <a:latin typeface="Times New Roman"/>
                <a:cs typeface="Times New Roman"/>
              </a:rPr>
              <a:t>All</a:t>
            </a:r>
            <a:r>
              <a:rPr sz="2200" spc="-60" dirty="0">
                <a:latin typeface="Times New Roman"/>
                <a:cs typeface="Times New Roman"/>
              </a:rPr>
              <a:t> </a:t>
            </a:r>
            <a:r>
              <a:rPr sz="2200" dirty="0">
                <a:latin typeface="Times New Roman"/>
                <a:cs typeface="Times New Roman"/>
              </a:rPr>
              <a:t>other</a:t>
            </a:r>
            <a:r>
              <a:rPr sz="2200" spc="-50" dirty="0">
                <a:latin typeface="Times New Roman"/>
                <a:cs typeface="Times New Roman"/>
              </a:rPr>
              <a:t> </a:t>
            </a:r>
            <a:r>
              <a:rPr sz="2200" dirty="0">
                <a:latin typeface="Times New Roman"/>
                <a:cs typeface="Times New Roman"/>
              </a:rPr>
              <a:t>processes</a:t>
            </a:r>
            <a:r>
              <a:rPr sz="2200" spc="-55" dirty="0">
                <a:latin typeface="Times New Roman"/>
                <a:cs typeface="Times New Roman"/>
              </a:rPr>
              <a:t> </a:t>
            </a:r>
            <a:r>
              <a:rPr sz="2200" dirty="0">
                <a:latin typeface="Times New Roman"/>
                <a:cs typeface="Times New Roman"/>
              </a:rPr>
              <a:t>may</a:t>
            </a:r>
            <a:r>
              <a:rPr sz="2200" spc="-40" dirty="0">
                <a:latin typeface="Times New Roman"/>
                <a:cs typeface="Times New Roman"/>
              </a:rPr>
              <a:t> </a:t>
            </a:r>
            <a:r>
              <a:rPr sz="2200" dirty="0">
                <a:latin typeface="Times New Roman"/>
                <a:cs typeface="Times New Roman"/>
              </a:rPr>
              <a:t>continue</a:t>
            </a:r>
            <a:r>
              <a:rPr sz="2200" spc="-55" dirty="0">
                <a:latin typeface="Times New Roman"/>
                <a:cs typeface="Times New Roman"/>
              </a:rPr>
              <a:t> </a:t>
            </a:r>
            <a:r>
              <a:rPr sz="2200" dirty="0">
                <a:latin typeface="Times New Roman"/>
                <a:cs typeface="Times New Roman"/>
              </a:rPr>
              <a:t>executing</a:t>
            </a:r>
            <a:r>
              <a:rPr sz="2200" spc="-55" dirty="0">
                <a:latin typeface="Times New Roman"/>
                <a:cs typeface="Times New Roman"/>
              </a:rPr>
              <a:t> </a:t>
            </a:r>
            <a:r>
              <a:rPr sz="2200" dirty="0">
                <a:latin typeface="Times New Roman"/>
                <a:cs typeface="Times New Roman"/>
              </a:rPr>
              <a:t>outside</a:t>
            </a:r>
            <a:r>
              <a:rPr sz="2200" spc="-65" dirty="0">
                <a:latin typeface="Times New Roman"/>
                <a:cs typeface="Times New Roman"/>
              </a:rPr>
              <a:t> </a:t>
            </a:r>
            <a:r>
              <a:rPr sz="2200" dirty="0">
                <a:latin typeface="Times New Roman"/>
                <a:cs typeface="Times New Roman"/>
              </a:rPr>
              <a:t>their</a:t>
            </a:r>
            <a:r>
              <a:rPr sz="2200" spc="-50" dirty="0">
                <a:latin typeface="Times New Roman"/>
                <a:cs typeface="Times New Roman"/>
              </a:rPr>
              <a:t> </a:t>
            </a:r>
            <a:r>
              <a:rPr sz="2200" spc="-25" dirty="0">
                <a:latin typeface="Times New Roman"/>
                <a:cs typeface="Times New Roman"/>
              </a:rPr>
              <a:t>CR.</a:t>
            </a:r>
            <a:endParaRPr sz="2200" dirty="0">
              <a:latin typeface="Times New Roman"/>
              <a:cs typeface="Times New Roman"/>
            </a:endParaRPr>
          </a:p>
          <a:p>
            <a:pPr marL="354965" indent="-342265">
              <a:lnSpc>
                <a:spcPts val="2375"/>
              </a:lnSpc>
              <a:buFont typeface="Arial"/>
              <a:buChar char="•"/>
              <a:tabLst>
                <a:tab pos="354965" algn="l"/>
              </a:tabLst>
            </a:pPr>
            <a:r>
              <a:rPr sz="2200" dirty="0">
                <a:latin typeface="Times New Roman"/>
                <a:cs typeface="Times New Roman"/>
              </a:rPr>
              <a:t>When</a:t>
            </a:r>
            <a:r>
              <a:rPr sz="2200" spc="-55" dirty="0">
                <a:latin typeface="Times New Roman"/>
                <a:cs typeface="Times New Roman"/>
              </a:rPr>
              <a:t> </a:t>
            </a:r>
            <a:r>
              <a:rPr sz="2200" dirty="0">
                <a:latin typeface="Times New Roman"/>
                <a:cs typeface="Times New Roman"/>
              </a:rPr>
              <a:t>a</a:t>
            </a:r>
            <a:r>
              <a:rPr sz="2200" spc="-45" dirty="0">
                <a:latin typeface="Times New Roman"/>
                <a:cs typeface="Times New Roman"/>
              </a:rPr>
              <a:t> </a:t>
            </a:r>
            <a:r>
              <a:rPr sz="2200" dirty="0">
                <a:latin typeface="Times New Roman"/>
                <a:cs typeface="Times New Roman"/>
              </a:rPr>
              <a:t>process</a:t>
            </a:r>
            <a:r>
              <a:rPr sz="2200" spc="-45" dirty="0">
                <a:latin typeface="Times New Roman"/>
                <a:cs typeface="Times New Roman"/>
              </a:rPr>
              <a:t> </a:t>
            </a:r>
            <a:r>
              <a:rPr sz="2200" dirty="0">
                <a:latin typeface="Times New Roman"/>
                <a:cs typeface="Times New Roman"/>
              </a:rPr>
              <a:t>leaves</a:t>
            </a:r>
            <a:r>
              <a:rPr sz="2200" spc="-45" dirty="0">
                <a:latin typeface="Times New Roman"/>
                <a:cs typeface="Times New Roman"/>
              </a:rPr>
              <a:t> </a:t>
            </a:r>
            <a:r>
              <a:rPr sz="2200" dirty="0">
                <a:latin typeface="Times New Roman"/>
                <a:cs typeface="Times New Roman"/>
              </a:rPr>
              <a:t>its</a:t>
            </a:r>
            <a:r>
              <a:rPr sz="2200" spc="-45" dirty="0">
                <a:latin typeface="Times New Roman"/>
                <a:cs typeface="Times New Roman"/>
              </a:rPr>
              <a:t> </a:t>
            </a:r>
            <a:r>
              <a:rPr sz="2200" dirty="0">
                <a:latin typeface="Times New Roman"/>
                <a:cs typeface="Times New Roman"/>
              </a:rPr>
              <a:t>critical</a:t>
            </a:r>
            <a:r>
              <a:rPr sz="2200" spc="-35" dirty="0">
                <a:latin typeface="Times New Roman"/>
                <a:cs typeface="Times New Roman"/>
              </a:rPr>
              <a:t> </a:t>
            </a:r>
            <a:r>
              <a:rPr sz="2200" dirty="0">
                <a:latin typeface="Times New Roman"/>
                <a:cs typeface="Times New Roman"/>
              </a:rPr>
              <a:t>section,</a:t>
            </a:r>
            <a:r>
              <a:rPr sz="2200" spc="-45" dirty="0">
                <a:latin typeface="Times New Roman"/>
                <a:cs typeface="Times New Roman"/>
              </a:rPr>
              <a:t> </a:t>
            </a:r>
            <a:r>
              <a:rPr sz="2200" dirty="0">
                <a:latin typeface="Times New Roman"/>
                <a:cs typeface="Times New Roman"/>
              </a:rPr>
              <a:t>then</a:t>
            </a:r>
            <a:r>
              <a:rPr sz="2200" spc="-55" dirty="0">
                <a:latin typeface="Times New Roman"/>
                <a:cs typeface="Times New Roman"/>
              </a:rPr>
              <a:t> </a:t>
            </a:r>
            <a:r>
              <a:rPr sz="2200" dirty="0">
                <a:latin typeface="Times New Roman"/>
                <a:cs typeface="Times New Roman"/>
              </a:rPr>
              <a:t>another</a:t>
            </a:r>
            <a:r>
              <a:rPr sz="2200" spc="-45" dirty="0">
                <a:latin typeface="Times New Roman"/>
                <a:cs typeface="Times New Roman"/>
              </a:rPr>
              <a:t> </a:t>
            </a:r>
            <a:r>
              <a:rPr sz="2200" spc="-10" dirty="0">
                <a:latin typeface="Times New Roman"/>
                <a:cs typeface="Times New Roman"/>
              </a:rPr>
              <a:t>processes</a:t>
            </a:r>
            <a:endParaRPr sz="2200" dirty="0">
              <a:latin typeface="Times New Roman"/>
              <a:cs typeface="Times New Roman"/>
            </a:endParaRPr>
          </a:p>
          <a:p>
            <a:pPr marL="355600">
              <a:lnSpc>
                <a:spcPts val="2375"/>
              </a:lnSpc>
              <a:tabLst>
                <a:tab pos="1617980" algn="l"/>
              </a:tabLst>
            </a:pPr>
            <a:r>
              <a:rPr sz="2200" dirty="0">
                <a:latin typeface="Times New Roman"/>
                <a:cs typeface="Times New Roman"/>
              </a:rPr>
              <a:t>waiting</a:t>
            </a:r>
            <a:r>
              <a:rPr sz="2200" spc="-65" dirty="0">
                <a:latin typeface="Times New Roman"/>
                <a:cs typeface="Times New Roman"/>
              </a:rPr>
              <a:t> </a:t>
            </a:r>
            <a:r>
              <a:rPr sz="2200" spc="-25" dirty="0">
                <a:latin typeface="Times New Roman"/>
                <a:cs typeface="Times New Roman"/>
              </a:rPr>
              <a:t>to</a:t>
            </a:r>
            <a:r>
              <a:rPr sz="2200" dirty="0">
                <a:latin typeface="Times New Roman"/>
                <a:cs typeface="Times New Roman"/>
              </a:rPr>
              <a:t>	enter</a:t>
            </a:r>
            <a:r>
              <a:rPr sz="2200" spc="-15" dirty="0">
                <a:latin typeface="Times New Roman"/>
                <a:cs typeface="Times New Roman"/>
              </a:rPr>
              <a:t> </a:t>
            </a:r>
            <a:r>
              <a:rPr sz="2200" dirty="0">
                <a:latin typeface="Times New Roman"/>
                <a:cs typeface="Times New Roman"/>
              </a:rPr>
              <a:t>its</a:t>
            </a:r>
            <a:r>
              <a:rPr sz="2200" spc="-45" dirty="0">
                <a:latin typeface="Times New Roman"/>
                <a:cs typeface="Times New Roman"/>
              </a:rPr>
              <a:t> </a:t>
            </a:r>
            <a:r>
              <a:rPr sz="2200" dirty="0">
                <a:latin typeface="Times New Roman"/>
                <a:cs typeface="Times New Roman"/>
              </a:rPr>
              <a:t>own</a:t>
            </a:r>
            <a:r>
              <a:rPr sz="2200" spc="-20" dirty="0">
                <a:latin typeface="Times New Roman"/>
                <a:cs typeface="Times New Roman"/>
              </a:rPr>
              <a:t> </a:t>
            </a:r>
            <a:r>
              <a:rPr sz="2200" dirty="0">
                <a:latin typeface="Times New Roman"/>
                <a:cs typeface="Times New Roman"/>
              </a:rPr>
              <a:t>CR</a:t>
            </a:r>
            <a:r>
              <a:rPr sz="2200" spc="-35" dirty="0">
                <a:latin typeface="Times New Roman"/>
                <a:cs typeface="Times New Roman"/>
              </a:rPr>
              <a:t> </a:t>
            </a:r>
            <a:r>
              <a:rPr sz="2200" dirty="0">
                <a:latin typeface="Times New Roman"/>
                <a:cs typeface="Times New Roman"/>
              </a:rPr>
              <a:t>should</a:t>
            </a:r>
            <a:r>
              <a:rPr sz="2200" spc="-45" dirty="0">
                <a:latin typeface="Times New Roman"/>
                <a:cs typeface="Times New Roman"/>
              </a:rPr>
              <a:t> </a:t>
            </a:r>
            <a:r>
              <a:rPr sz="2200" dirty="0">
                <a:latin typeface="Times New Roman"/>
                <a:cs typeface="Times New Roman"/>
              </a:rPr>
              <a:t>be</a:t>
            </a:r>
            <a:r>
              <a:rPr sz="2200" spc="-35" dirty="0">
                <a:latin typeface="Times New Roman"/>
                <a:cs typeface="Times New Roman"/>
              </a:rPr>
              <a:t> </a:t>
            </a:r>
            <a:r>
              <a:rPr sz="2200" dirty="0">
                <a:latin typeface="Times New Roman"/>
                <a:cs typeface="Times New Roman"/>
              </a:rPr>
              <a:t>allowed</a:t>
            </a:r>
            <a:r>
              <a:rPr sz="2200" spc="-35" dirty="0">
                <a:latin typeface="Times New Roman"/>
                <a:cs typeface="Times New Roman"/>
              </a:rPr>
              <a:t> </a:t>
            </a:r>
            <a:r>
              <a:rPr sz="2200" dirty="0">
                <a:latin typeface="Times New Roman"/>
                <a:cs typeface="Times New Roman"/>
              </a:rPr>
              <a:t>to</a:t>
            </a:r>
            <a:r>
              <a:rPr sz="2200" spc="-30" dirty="0">
                <a:latin typeface="Times New Roman"/>
                <a:cs typeface="Times New Roman"/>
              </a:rPr>
              <a:t> </a:t>
            </a:r>
            <a:r>
              <a:rPr sz="2200" spc="-10" dirty="0">
                <a:latin typeface="Times New Roman"/>
                <a:cs typeface="Times New Roman"/>
              </a:rPr>
              <a:t>proceed.</a:t>
            </a:r>
            <a:endParaRPr sz="2200" dirty="0">
              <a:latin typeface="Times New Roman"/>
              <a:cs typeface="Times New Roman"/>
            </a:endParaRP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xfrm>
            <a:off x="1447800" y="228600"/>
            <a:ext cx="6477000" cy="629018"/>
          </a:xfrm>
          <a:prstGeom prst="rect">
            <a:avLst/>
          </a:prstGeom>
        </p:spPr>
        <p:txBody>
          <a:bodyPr vert="horz" wrap="square" lIns="0" tIns="13335" rIns="0" bIns="0" rtlCol="0">
            <a:spAutoFit/>
          </a:bodyPr>
          <a:lstStyle/>
          <a:p>
            <a:pPr marL="12700" algn="ctr" rtl="0">
              <a:spcBef>
                <a:spcPts val="105"/>
              </a:spcBef>
            </a:pPr>
            <a:r>
              <a:rPr sz="4000" b="1" dirty="0">
                <a:solidFill>
                  <a:sysClr val="windowText" lastClr="000000"/>
                </a:solidFill>
                <a:latin typeface="+mj-lt"/>
                <a:cs typeface="+mj-cs"/>
              </a:rPr>
              <a:t>Critical-Section Problem</a:t>
            </a:r>
          </a:p>
        </p:txBody>
      </p:sp>
      <p:sp>
        <p:nvSpPr>
          <p:cNvPr id="4" name="object 4"/>
          <p:cNvSpPr txBox="1">
            <a:spLocks noGrp="1"/>
          </p:cNvSpPr>
          <p:nvPr>
            <p:ph type="ftr" sz="quarter" idx="5"/>
          </p:nvPr>
        </p:nvSpPr>
        <p:spPr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12700">
              <a:lnSpc>
                <a:spcPts val="1240"/>
              </a:lnSpc>
            </a:pPr>
            <a:r>
              <a:rPr lang="pl-PL"/>
              <a:t>By Dr. Binod Kr. Adhikari</a:t>
            </a:r>
            <a:endParaRPr spc="-10" dirty="0"/>
          </a:p>
        </p:txBody>
      </p:sp>
      <p:sp>
        <p:nvSpPr>
          <p:cNvPr id="3" name="object 3"/>
          <p:cNvSpPr txBox="1"/>
          <p:nvPr/>
        </p:nvSpPr>
        <p:spPr>
          <a:xfrm>
            <a:off x="535940" y="1371600"/>
            <a:ext cx="8074659" cy="456438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354965" indent="-342265">
              <a:lnSpc>
                <a:spcPct val="100000"/>
              </a:lnSpc>
              <a:spcBef>
                <a:spcPts val="100"/>
              </a:spcBef>
              <a:buFont typeface="Arial"/>
              <a:buChar char="•"/>
              <a:tabLst>
                <a:tab pos="354965" algn="l"/>
                <a:tab pos="1231900" algn="l"/>
                <a:tab pos="2576195" algn="l"/>
                <a:tab pos="3940175" algn="l"/>
                <a:tab pos="5493385" algn="l"/>
                <a:tab pos="6031230" algn="l"/>
                <a:tab pos="6612255" algn="l"/>
                <a:tab pos="7891145" algn="l"/>
              </a:tabLst>
            </a:pPr>
            <a:r>
              <a:rPr sz="3000" spc="-25" dirty="0">
                <a:latin typeface="Times New Roman"/>
                <a:cs typeface="Times New Roman"/>
              </a:rPr>
              <a:t>The</a:t>
            </a:r>
            <a:r>
              <a:rPr sz="3000" dirty="0">
                <a:latin typeface="Times New Roman"/>
                <a:cs typeface="Times New Roman"/>
              </a:rPr>
              <a:t>	</a:t>
            </a:r>
            <a:r>
              <a:rPr sz="3000" spc="-10" dirty="0">
                <a:latin typeface="Times New Roman"/>
                <a:cs typeface="Times New Roman"/>
              </a:rPr>
              <a:t>critical</a:t>
            </a:r>
            <a:r>
              <a:rPr sz="3000" dirty="0">
                <a:latin typeface="Times New Roman"/>
                <a:cs typeface="Times New Roman"/>
              </a:rPr>
              <a:t>	</a:t>
            </a:r>
            <a:r>
              <a:rPr sz="3000" spc="-10" dirty="0">
                <a:latin typeface="Times New Roman"/>
                <a:cs typeface="Times New Roman"/>
              </a:rPr>
              <a:t>section</a:t>
            </a:r>
            <a:r>
              <a:rPr sz="3000" dirty="0">
                <a:latin typeface="Times New Roman"/>
                <a:cs typeface="Times New Roman"/>
              </a:rPr>
              <a:t>	</a:t>
            </a:r>
            <a:r>
              <a:rPr sz="3000" spc="-10" dirty="0">
                <a:latin typeface="Times New Roman"/>
                <a:cs typeface="Times New Roman"/>
              </a:rPr>
              <a:t>problem</a:t>
            </a:r>
            <a:r>
              <a:rPr sz="3000" dirty="0">
                <a:latin typeface="Times New Roman"/>
                <a:cs typeface="Times New Roman"/>
              </a:rPr>
              <a:t>	</a:t>
            </a:r>
            <a:r>
              <a:rPr sz="3000" spc="-25" dirty="0">
                <a:latin typeface="Times New Roman"/>
                <a:cs typeface="Times New Roman"/>
              </a:rPr>
              <a:t>is</a:t>
            </a:r>
            <a:r>
              <a:rPr sz="3000" dirty="0">
                <a:latin typeface="Times New Roman"/>
                <a:cs typeface="Times New Roman"/>
              </a:rPr>
              <a:t>	</a:t>
            </a:r>
            <a:r>
              <a:rPr sz="3000" spc="-25" dirty="0">
                <a:latin typeface="Times New Roman"/>
                <a:cs typeface="Times New Roman"/>
              </a:rPr>
              <a:t>to</a:t>
            </a:r>
            <a:r>
              <a:rPr sz="3000" dirty="0">
                <a:latin typeface="Times New Roman"/>
                <a:cs typeface="Times New Roman"/>
              </a:rPr>
              <a:t>	</a:t>
            </a:r>
            <a:r>
              <a:rPr sz="3000" spc="-10" dirty="0">
                <a:latin typeface="Times New Roman"/>
                <a:cs typeface="Times New Roman"/>
              </a:rPr>
              <a:t>design</a:t>
            </a:r>
            <a:r>
              <a:rPr sz="3000" dirty="0">
                <a:latin typeface="Times New Roman"/>
                <a:cs typeface="Times New Roman"/>
              </a:rPr>
              <a:t>	</a:t>
            </a:r>
            <a:r>
              <a:rPr sz="3000" spc="-50" dirty="0">
                <a:latin typeface="Times New Roman"/>
                <a:cs typeface="Times New Roman"/>
              </a:rPr>
              <a:t>a</a:t>
            </a:r>
            <a:endParaRPr sz="3000" dirty="0">
              <a:latin typeface="Times New Roman"/>
              <a:cs typeface="Times New Roman"/>
            </a:endParaRPr>
          </a:p>
          <a:p>
            <a:pPr marL="355600">
              <a:lnSpc>
                <a:spcPct val="100000"/>
              </a:lnSpc>
            </a:pPr>
            <a:r>
              <a:rPr sz="3000" b="1" dirty="0">
                <a:latin typeface="Times New Roman"/>
                <a:cs typeface="Times New Roman"/>
              </a:rPr>
              <a:t>protocol</a:t>
            </a:r>
            <a:r>
              <a:rPr sz="3000" b="1" spc="-75" dirty="0">
                <a:latin typeface="Times New Roman"/>
                <a:cs typeface="Times New Roman"/>
              </a:rPr>
              <a:t> </a:t>
            </a:r>
            <a:r>
              <a:rPr sz="3000" dirty="0">
                <a:latin typeface="Times New Roman"/>
                <a:cs typeface="Times New Roman"/>
              </a:rPr>
              <a:t>that</a:t>
            </a:r>
            <a:r>
              <a:rPr sz="3000" spc="-60" dirty="0">
                <a:latin typeface="Times New Roman"/>
                <a:cs typeface="Times New Roman"/>
              </a:rPr>
              <a:t> </a:t>
            </a:r>
            <a:r>
              <a:rPr sz="3000" dirty="0">
                <a:latin typeface="Times New Roman"/>
                <a:cs typeface="Times New Roman"/>
              </a:rPr>
              <a:t>the</a:t>
            </a:r>
            <a:r>
              <a:rPr sz="3000" spc="-55" dirty="0">
                <a:latin typeface="Times New Roman"/>
                <a:cs typeface="Times New Roman"/>
              </a:rPr>
              <a:t> </a:t>
            </a:r>
            <a:r>
              <a:rPr sz="3000" dirty="0">
                <a:latin typeface="Times New Roman"/>
                <a:cs typeface="Times New Roman"/>
              </a:rPr>
              <a:t>processes</a:t>
            </a:r>
            <a:r>
              <a:rPr sz="3000" spc="-55" dirty="0">
                <a:latin typeface="Times New Roman"/>
                <a:cs typeface="Times New Roman"/>
              </a:rPr>
              <a:t> </a:t>
            </a:r>
            <a:r>
              <a:rPr sz="3000" dirty="0">
                <a:latin typeface="Times New Roman"/>
                <a:cs typeface="Times New Roman"/>
              </a:rPr>
              <a:t>can</a:t>
            </a:r>
            <a:r>
              <a:rPr sz="3000" spc="-65" dirty="0">
                <a:latin typeface="Times New Roman"/>
                <a:cs typeface="Times New Roman"/>
              </a:rPr>
              <a:t> </a:t>
            </a:r>
            <a:r>
              <a:rPr sz="3000" dirty="0">
                <a:latin typeface="Times New Roman"/>
                <a:cs typeface="Times New Roman"/>
              </a:rPr>
              <a:t>use</a:t>
            </a:r>
            <a:r>
              <a:rPr sz="3000" spc="-65" dirty="0">
                <a:latin typeface="Times New Roman"/>
                <a:cs typeface="Times New Roman"/>
              </a:rPr>
              <a:t> </a:t>
            </a:r>
            <a:r>
              <a:rPr sz="3000" dirty="0">
                <a:latin typeface="Times New Roman"/>
                <a:cs typeface="Times New Roman"/>
              </a:rPr>
              <a:t>to</a:t>
            </a:r>
            <a:r>
              <a:rPr sz="3000" spc="-60" dirty="0">
                <a:latin typeface="Times New Roman"/>
                <a:cs typeface="Times New Roman"/>
              </a:rPr>
              <a:t> </a:t>
            </a:r>
            <a:r>
              <a:rPr sz="3000" spc="-20" dirty="0">
                <a:latin typeface="Times New Roman"/>
                <a:cs typeface="Times New Roman"/>
              </a:rPr>
              <a:t>co-</a:t>
            </a:r>
            <a:r>
              <a:rPr sz="3000" spc="-10" dirty="0">
                <a:latin typeface="Times New Roman"/>
                <a:cs typeface="Times New Roman"/>
              </a:rPr>
              <a:t>operate.</a:t>
            </a:r>
            <a:endParaRPr sz="3000" dirty="0">
              <a:latin typeface="Times New Roman"/>
              <a:cs typeface="Times New Roman"/>
            </a:endParaRPr>
          </a:p>
          <a:p>
            <a:pPr marL="355600" marR="8255" indent="-342900">
              <a:lnSpc>
                <a:spcPct val="100000"/>
              </a:lnSpc>
              <a:spcBef>
                <a:spcPts val="720"/>
              </a:spcBef>
              <a:buFont typeface="Arial"/>
              <a:buChar char="•"/>
              <a:tabLst>
                <a:tab pos="355600" algn="l"/>
                <a:tab pos="1659889" algn="l"/>
                <a:tab pos="3030220" algn="l"/>
                <a:tab pos="3472179" algn="l"/>
                <a:tab pos="4676775" algn="l"/>
                <a:tab pos="5900420" algn="l"/>
                <a:tab pos="7316470" algn="l"/>
              </a:tabLst>
            </a:pPr>
            <a:r>
              <a:rPr sz="3000" dirty="0">
                <a:latin typeface="Times New Roman"/>
                <a:cs typeface="Times New Roman"/>
              </a:rPr>
              <a:t>A</a:t>
            </a:r>
            <a:r>
              <a:rPr sz="3000" spc="215" dirty="0">
                <a:latin typeface="Times New Roman"/>
                <a:cs typeface="Times New Roman"/>
              </a:rPr>
              <a:t> </a:t>
            </a:r>
            <a:r>
              <a:rPr sz="3000" spc="-20" dirty="0">
                <a:latin typeface="Times New Roman"/>
                <a:cs typeface="Times New Roman"/>
              </a:rPr>
              <a:t>good</a:t>
            </a:r>
            <a:r>
              <a:rPr sz="3000" dirty="0">
                <a:latin typeface="Times New Roman"/>
                <a:cs typeface="Times New Roman"/>
              </a:rPr>
              <a:t>	</a:t>
            </a:r>
            <a:r>
              <a:rPr sz="3000" spc="-10" dirty="0">
                <a:latin typeface="Times New Roman"/>
                <a:cs typeface="Times New Roman"/>
              </a:rPr>
              <a:t>solution</a:t>
            </a:r>
            <a:r>
              <a:rPr sz="3000" dirty="0">
                <a:latin typeface="Times New Roman"/>
                <a:cs typeface="Times New Roman"/>
              </a:rPr>
              <a:t>	</a:t>
            </a:r>
            <a:r>
              <a:rPr sz="3000" spc="-25" dirty="0">
                <a:latin typeface="Times New Roman"/>
                <a:cs typeface="Times New Roman"/>
              </a:rPr>
              <a:t>to</a:t>
            </a:r>
            <a:r>
              <a:rPr sz="3000" dirty="0">
                <a:latin typeface="Times New Roman"/>
                <a:cs typeface="Times New Roman"/>
              </a:rPr>
              <a:t>	</a:t>
            </a:r>
            <a:r>
              <a:rPr sz="3000" spc="-10" dirty="0">
                <a:latin typeface="Times New Roman"/>
                <a:cs typeface="Times New Roman"/>
              </a:rPr>
              <a:t>critical</a:t>
            </a:r>
            <a:r>
              <a:rPr sz="3000" dirty="0">
                <a:latin typeface="Times New Roman"/>
                <a:cs typeface="Times New Roman"/>
              </a:rPr>
              <a:t>	</a:t>
            </a:r>
            <a:r>
              <a:rPr sz="3000" spc="-10" dirty="0">
                <a:latin typeface="Times New Roman"/>
                <a:cs typeface="Times New Roman"/>
              </a:rPr>
              <a:t>section</a:t>
            </a:r>
            <a:r>
              <a:rPr sz="3000" dirty="0">
                <a:latin typeface="Times New Roman"/>
                <a:cs typeface="Times New Roman"/>
              </a:rPr>
              <a:t>	</a:t>
            </a:r>
            <a:r>
              <a:rPr sz="3000" spc="-10" dirty="0">
                <a:latin typeface="Times New Roman"/>
                <a:cs typeface="Times New Roman"/>
              </a:rPr>
              <a:t>problem</a:t>
            </a:r>
            <a:r>
              <a:rPr sz="3000" dirty="0">
                <a:latin typeface="Times New Roman"/>
                <a:cs typeface="Times New Roman"/>
              </a:rPr>
              <a:t>	</a:t>
            </a:r>
            <a:r>
              <a:rPr sz="3000" spc="-20" dirty="0">
                <a:latin typeface="Times New Roman"/>
                <a:cs typeface="Times New Roman"/>
              </a:rPr>
              <a:t>must </a:t>
            </a:r>
            <a:r>
              <a:rPr sz="3000" dirty="0">
                <a:latin typeface="Times New Roman"/>
                <a:cs typeface="Times New Roman"/>
              </a:rPr>
              <a:t>satisfy</a:t>
            </a:r>
            <a:r>
              <a:rPr sz="3000" spc="-60" dirty="0">
                <a:latin typeface="Times New Roman"/>
                <a:cs typeface="Times New Roman"/>
              </a:rPr>
              <a:t> </a:t>
            </a:r>
            <a:r>
              <a:rPr sz="3000" dirty="0">
                <a:latin typeface="Times New Roman"/>
                <a:cs typeface="Times New Roman"/>
              </a:rPr>
              <a:t>the</a:t>
            </a:r>
            <a:r>
              <a:rPr sz="3000" spc="-70" dirty="0">
                <a:latin typeface="Times New Roman"/>
                <a:cs typeface="Times New Roman"/>
              </a:rPr>
              <a:t> </a:t>
            </a:r>
            <a:r>
              <a:rPr sz="3000" dirty="0">
                <a:latin typeface="Times New Roman"/>
                <a:cs typeface="Times New Roman"/>
              </a:rPr>
              <a:t>following</a:t>
            </a:r>
            <a:r>
              <a:rPr sz="3000" spc="-50" dirty="0">
                <a:latin typeface="Times New Roman"/>
                <a:cs typeface="Times New Roman"/>
              </a:rPr>
              <a:t> </a:t>
            </a:r>
            <a:r>
              <a:rPr sz="3000" dirty="0">
                <a:latin typeface="Times New Roman"/>
                <a:cs typeface="Times New Roman"/>
              </a:rPr>
              <a:t>three</a:t>
            </a:r>
            <a:r>
              <a:rPr sz="3000" spc="-55" dirty="0">
                <a:latin typeface="Times New Roman"/>
                <a:cs typeface="Times New Roman"/>
              </a:rPr>
              <a:t> </a:t>
            </a:r>
            <a:r>
              <a:rPr sz="3000" spc="-10" dirty="0">
                <a:latin typeface="Times New Roman"/>
                <a:cs typeface="Times New Roman"/>
              </a:rPr>
              <a:t>requirements.</a:t>
            </a:r>
            <a:endParaRPr sz="3000" dirty="0">
              <a:latin typeface="Times New Roman"/>
              <a:cs typeface="Times New Roman"/>
            </a:endParaRPr>
          </a:p>
          <a:p>
            <a:pPr marL="756285" marR="5080" lvl="1" indent="-287020">
              <a:lnSpc>
                <a:spcPct val="100000"/>
              </a:lnSpc>
              <a:spcBef>
                <a:spcPts val="645"/>
              </a:spcBef>
              <a:buFont typeface="Arial"/>
              <a:buChar char="–"/>
              <a:tabLst>
                <a:tab pos="756285" algn="l"/>
              </a:tabLst>
            </a:pPr>
            <a:r>
              <a:rPr sz="2600" dirty="0">
                <a:latin typeface="Times New Roman"/>
                <a:cs typeface="Times New Roman"/>
              </a:rPr>
              <a:t>No</a:t>
            </a:r>
            <a:r>
              <a:rPr sz="2600" spc="290" dirty="0">
                <a:latin typeface="Times New Roman"/>
                <a:cs typeface="Times New Roman"/>
              </a:rPr>
              <a:t> </a:t>
            </a:r>
            <a:r>
              <a:rPr sz="2600" dirty="0">
                <a:latin typeface="Times New Roman"/>
                <a:cs typeface="Times New Roman"/>
              </a:rPr>
              <a:t>two</a:t>
            </a:r>
            <a:r>
              <a:rPr sz="2600" spc="285" dirty="0">
                <a:latin typeface="Times New Roman"/>
                <a:cs typeface="Times New Roman"/>
              </a:rPr>
              <a:t> </a:t>
            </a:r>
            <a:r>
              <a:rPr sz="2600" dirty="0">
                <a:latin typeface="Times New Roman"/>
                <a:cs typeface="Times New Roman"/>
              </a:rPr>
              <a:t>processes</a:t>
            </a:r>
            <a:r>
              <a:rPr sz="2600" spc="290" dirty="0">
                <a:latin typeface="Times New Roman"/>
                <a:cs typeface="Times New Roman"/>
              </a:rPr>
              <a:t> </a:t>
            </a:r>
            <a:r>
              <a:rPr sz="2600" dirty="0">
                <a:latin typeface="Times New Roman"/>
                <a:cs typeface="Times New Roman"/>
              </a:rPr>
              <a:t>may</a:t>
            </a:r>
            <a:r>
              <a:rPr sz="2600" spc="295" dirty="0">
                <a:latin typeface="Times New Roman"/>
                <a:cs typeface="Times New Roman"/>
              </a:rPr>
              <a:t> </a:t>
            </a:r>
            <a:r>
              <a:rPr sz="2600" dirty="0">
                <a:latin typeface="Times New Roman"/>
                <a:cs typeface="Times New Roman"/>
              </a:rPr>
              <a:t>be</a:t>
            </a:r>
            <a:r>
              <a:rPr sz="2600" spc="285" dirty="0">
                <a:latin typeface="Times New Roman"/>
                <a:cs typeface="Times New Roman"/>
              </a:rPr>
              <a:t> </a:t>
            </a:r>
            <a:r>
              <a:rPr sz="2600" dirty="0">
                <a:latin typeface="Times New Roman"/>
                <a:cs typeface="Times New Roman"/>
              </a:rPr>
              <a:t>simultaneously</a:t>
            </a:r>
            <a:r>
              <a:rPr sz="2600" spc="295" dirty="0">
                <a:latin typeface="Times New Roman"/>
                <a:cs typeface="Times New Roman"/>
              </a:rPr>
              <a:t> </a:t>
            </a:r>
            <a:r>
              <a:rPr sz="2600" dirty="0">
                <a:latin typeface="Times New Roman"/>
                <a:cs typeface="Times New Roman"/>
              </a:rPr>
              <a:t>inside</a:t>
            </a:r>
            <a:r>
              <a:rPr sz="2600" spc="290" dirty="0">
                <a:latin typeface="Times New Roman"/>
                <a:cs typeface="Times New Roman"/>
              </a:rPr>
              <a:t> </a:t>
            </a:r>
            <a:r>
              <a:rPr sz="2600" spc="-10" dirty="0">
                <a:latin typeface="Times New Roman"/>
                <a:cs typeface="Times New Roman"/>
              </a:rPr>
              <a:t>their </a:t>
            </a:r>
            <a:r>
              <a:rPr sz="2600" dirty="0">
                <a:latin typeface="Times New Roman"/>
                <a:cs typeface="Times New Roman"/>
              </a:rPr>
              <a:t>CRs</a:t>
            </a:r>
            <a:r>
              <a:rPr sz="2600" spc="-30" dirty="0">
                <a:latin typeface="Times New Roman"/>
                <a:cs typeface="Times New Roman"/>
              </a:rPr>
              <a:t> </a:t>
            </a:r>
            <a:r>
              <a:rPr sz="2600" dirty="0">
                <a:solidFill>
                  <a:srgbClr val="00AFEF"/>
                </a:solidFill>
                <a:latin typeface="Times New Roman"/>
                <a:cs typeface="Times New Roman"/>
              </a:rPr>
              <a:t>(mutual</a:t>
            </a:r>
            <a:r>
              <a:rPr sz="2600" spc="-15" dirty="0">
                <a:solidFill>
                  <a:srgbClr val="00AFEF"/>
                </a:solidFill>
                <a:latin typeface="Times New Roman"/>
                <a:cs typeface="Times New Roman"/>
              </a:rPr>
              <a:t> </a:t>
            </a:r>
            <a:r>
              <a:rPr sz="2600" spc="-10" dirty="0">
                <a:solidFill>
                  <a:srgbClr val="00AFEF"/>
                </a:solidFill>
                <a:latin typeface="Times New Roman"/>
                <a:cs typeface="Times New Roman"/>
              </a:rPr>
              <a:t>exclusion).</a:t>
            </a:r>
            <a:endParaRPr sz="2600" dirty="0">
              <a:latin typeface="Times New Roman"/>
              <a:cs typeface="Times New Roman"/>
            </a:endParaRPr>
          </a:p>
          <a:p>
            <a:pPr marL="756285" marR="5080" lvl="1" indent="-287020">
              <a:lnSpc>
                <a:spcPct val="100000"/>
              </a:lnSpc>
              <a:spcBef>
                <a:spcPts val="625"/>
              </a:spcBef>
              <a:buChar char="–"/>
              <a:tabLst>
                <a:tab pos="756285" algn="l"/>
                <a:tab pos="838835" algn="l"/>
                <a:tab pos="1381125" algn="l"/>
                <a:tab pos="2509520" algn="l"/>
                <a:tab pos="3676650" algn="l"/>
                <a:tab pos="4771390" algn="l"/>
                <a:tab pos="5222240" algn="l"/>
                <a:tab pos="5802630" algn="l"/>
                <a:tab pos="6510655" algn="l"/>
                <a:tab pos="7383780" algn="l"/>
              </a:tabLst>
            </a:pPr>
            <a:r>
              <a:rPr sz="2600" dirty="0">
                <a:latin typeface="Arial"/>
                <a:cs typeface="Arial"/>
              </a:rPr>
              <a:t>	</a:t>
            </a:r>
            <a:r>
              <a:rPr sz="2600" spc="-25" dirty="0">
                <a:latin typeface="Times New Roman"/>
                <a:cs typeface="Times New Roman"/>
              </a:rPr>
              <a:t>No</a:t>
            </a:r>
            <a:r>
              <a:rPr sz="2600" dirty="0">
                <a:latin typeface="Times New Roman"/>
                <a:cs typeface="Times New Roman"/>
              </a:rPr>
              <a:t>	</a:t>
            </a:r>
            <a:r>
              <a:rPr sz="2600" spc="-10" dirty="0">
                <a:latin typeface="Times New Roman"/>
                <a:cs typeface="Times New Roman"/>
              </a:rPr>
              <a:t>process</a:t>
            </a:r>
            <a:r>
              <a:rPr sz="2600" dirty="0">
                <a:latin typeface="Times New Roman"/>
                <a:cs typeface="Times New Roman"/>
              </a:rPr>
              <a:t>	</a:t>
            </a:r>
            <a:r>
              <a:rPr sz="2600" spc="-10" dirty="0">
                <a:latin typeface="Times New Roman"/>
                <a:cs typeface="Times New Roman"/>
              </a:rPr>
              <a:t>running</a:t>
            </a:r>
            <a:r>
              <a:rPr sz="2600" dirty="0">
                <a:latin typeface="Times New Roman"/>
                <a:cs typeface="Times New Roman"/>
              </a:rPr>
              <a:t>	</a:t>
            </a:r>
            <a:r>
              <a:rPr sz="2600" spc="-10" dirty="0">
                <a:latin typeface="Times New Roman"/>
                <a:cs typeface="Times New Roman"/>
              </a:rPr>
              <a:t>outside</a:t>
            </a:r>
            <a:r>
              <a:rPr sz="2600" dirty="0">
                <a:latin typeface="Times New Roman"/>
                <a:cs typeface="Times New Roman"/>
              </a:rPr>
              <a:t>	</a:t>
            </a:r>
            <a:r>
              <a:rPr sz="2600" spc="-25" dirty="0">
                <a:latin typeface="Times New Roman"/>
                <a:cs typeface="Times New Roman"/>
              </a:rPr>
              <a:t>its</a:t>
            </a:r>
            <a:r>
              <a:rPr sz="2600" dirty="0">
                <a:latin typeface="Times New Roman"/>
                <a:cs typeface="Times New Roman"/>
              </a:rPr>
              <a:t>	</a:t>
            </a:r>
            <a:r>
              <a:rPr sz="2600" spc="-25" dirty="0">
                <a:latin typeface="Times New Roman"/>
                <a:cs typeface="Times New Roman"/>
              </a:rPr>
              <a:t>CR</a:t>
            </a:r>
            <a:r>
              <a:rPr sz="2600" dirty="0">
                <a:latin typeface="Times New Roman"/>
                <a:cs typeface="Times New Roman"/>
              </a:rPr>
              <a:t>	</a:t>
            </a:r>
            <a:r>
              <a:rPr sz="2600" spc="-25" dirty="0">
                <a:latin typeface="Times New Roman"/>
                <a:cs typeface="Times New Roman"/>
              </a:rPr>
              <a:t>may</a:t>
            </a:r>
            <a:r>
              <a:rPr sz="2600" dirty="0">
                <a:latin typeface="Times New Roman"/>
                <a:cs typeface="Times New Roman"/>
              </a:rPr>
              <a:t>	</a:t>
            </a:r>
            <a:r>
              <a:rPr sz="2600" spc="-10" dirty="0">
                <a:latin typeface="Times New Roman"/>
                <a:cs typeface="Times New Roman"/>
              </a:rPr>
              <a:t>block</a:t>
            </a:r>
            <a:r>
              <a:rPr sz="2600" dirty="0">
                <a:latin typeface="Times New Roman"/>
                <a:cs typeface="Times New Roman"/>
              </a:rPr>
              <a:t>	</a:t>
            </a:r>
            <a:r>
              <a:rPr sz="2600" spc="-20" dirty="0">
                <a:latin typeface="Times New Roman"/>
                <a:cs typeface="Times New Roman"/>
              </a:rPr>
              <a:t>other </a:t>
            </a:r>
            <a:r>
              <a:rPr sz="2600" spc="-10" dirty="0">
                <a:latin typeface="Times New Roman"/>
                <a:cs typeface="Times New Roman"/>
              </a:rPr>
              <a:t>process</a:t>
            </a:r>
            <a:r>
              <a:rPr sz="2600" spc="-10" dirty="0">
                <a:solidFill>
                  <a:srgbClr val="00AFEF"/>
                </a:solidFill>
                <a:latin typeface="Times New Roman"/>
                <a:cs typeface="Times New Roman"/>
              </a:rPr>
              <a:t>.(Progress)</a:t>
            </a:r>
            <a:endParaRPr sz="2600" dirty="0">
              <a:latin typeface="Times New Roman"/>
              <a:cs typeface="Times New Roman"/>
            </a:endParaRPr>
          </a:p>
          <a:p>
            <a:pPr marL="756285" marR="7620" lvl="1" indent="-287020">
              <a:lnSpc>
                <a:spcPct val="100000"/>
              </a:lnSpc>
              <a:spcBef>
                <a:spcPts val="625"/>
              </a:spcBef>
              <a:buChar char="–"/>
              <a:tabLst>
                <a:tab pos="756285" algn="l"/>
                <a:tab pos="838835" algn="l"/>
                <a:tab pos="1388745" algn="l"/>
                <a:tab pos="2522855" algn="l"/>
                <a:tab pos="3551554" algn="l"/>
                <a:tab pos="4321175" algn="l"/>
                <a:tab pos="4723765" algn="l"/>
                <a:tab pos="5438775" algn="l"/>
                <a:tab pos="6539230" algn="l"/>
                <a:tab pos="6941820" algn="l"/>
                <a:tab pos="7747634" algn="l"/>
              </a:tabLst>
            </a:pPr>
            <a:r>
              <a:rPr sz="2600" dirty="0">
                <a:latin typeface="Arial"/>
                <a:cs typeface="Arial"/>
              </a:rPr>
              <a:t>	</a:t>
            </a:r>
            <a:r>
              <a:rPr sz="2600" spc="-25" dirty="0">
                <a:latin typeface="Times New Roman"/>
                <a:cs typeface="Times New Roman"/>
              </a:rPr>
              <a:t>No</a:t>
            </a:r>
            <a:r>
              <a:rPr sz="2600" dirty="0">
                <a:latin typeface="Times New Roman"/>
                <a:cs typeface="Times New Roman"/>
              </a:rPr>
              <a:t>	</a:t>
            </a:r>
            <a:r>
              <a:rPr sz="2600" spc="-10" dirty="0">
                <a:latin typeface="Times New Roman"/>
                <a:cs typeface="Times New Roman"/>
              </a:rPr>
              <a:t>process</a:t>
            </a:r>
            <a:r>
              <a:rPr sz="2600" dirty="0">
                <a:latin typeface="Times New Roman"/>
                <a:cs typeface="Times New Roman"/>
              </a:rPr>
              <a:t>	</a:t>
            </a:r>
            <a:r>
              <a:rPr sz="2600" spc="-10" dirty="0">
                <a:latin typeface="Times New Roman"/>
                <a:cs typeface="Times New Roman"/>
              </a:rPr>
              <a:t>should</a:t>
            </a:r>
            <a:r>
              <a:rPr sz="2600" dirty="0">
                <a:latin typeface="Times New Roman"/>
                <a:cs typeface="Times New Roman"/>
              </a:rPr>
              <a:t>	</a:t>
            </a:r>
            <a:r>
              <a:rPr sz="2600" spc="-20" dirty="0">
                <a:latin typeface="Times New Roman"/>
                <a:cs typeface="Times New Roman"/>
              </a:rPr>
              <a:t>have</a:t>
            </a:r>
            <a:r>
              <a:rPr sz="2600" dirty="0">
                <a:latin typeface="Times New Roman"/>
                <a:cs typeface="Times New Roman"/>
              </a:rPr>
              <a:t>	</a:t>
            </a:r>
            <a:r>
              <a:rPr sz="2600" spc="-25" dirty="0">
                <a:latin typeface="Times New Roman"/>
                <a:cs typeface="Times New Roman"/>
              </a:rPr>
              <a:t>to</a:t>
            </a:r>
            <a:r>
              <a:rPr sz="2600" dirty="0">
                <a:latin typeface="Times New Roman"/>
                <a:cs typeface="Times New Roman"/>
              </a:rPr>
              <a:t>	</a:t>
            </a:r>
            <a:r>
              <a:rPr sz="2600" spc="-20" dirty="0">
                <a:latin typeface="Times New Roman"/>
                <a:cs typeface="Times New Roman"/>
              </a:rPr>
              <a:t>wait</a:t>
            </a:r>
            <a:r>
              <a:rPr sz="2600" dirty="0">
                <a:latin typeface="Times New Roman"/>
                <a:cs typeface="Times New Roman"/>
              </a:rPr>
              <a:t>	</a:t>
            </a:r>
            <a:r>
              <a:rPr sz="2600" spc="-10" dirty="0">
                <a:latin typeface="Times New Roman"/>
                <a:cs typeface="Times New Roman"/>
              </a:rPr>
              <a:t>forever</a:t>
            </a:r>
            <a:r>
              <a:rPr sz="2600" dirty="0">
                <a:latin typeface="Times New Roman"/>
                <a:cs typeface="Times New Roman"/>
              </a:rPr>
              <a:t>	</a:t>
            </a:r>
            <a:r>
              <a:rPr sz="2600" spc="-25" dirty="0">
                <a:latin typeface="Times New Roman"/>
                <a:cs typeface="Times New Roman"/>
              </a:rPr>
              <a:t>to</a:t>
            </a:r>
            <a:r>
              <a:rPr sz="2600" dirty="0">
                <a:latin typeface="Times New Roman"/>
                <a:cs typeface="Times New Roman"/>
              </a:rPr>
              <a:t>	</a:t>
            </a:r>
            <a:r>
              <a:rPr sz="2600" spc="-10" dirty="0">
                <a:latin typeface="Times New Roman"/>
                <a:cs typeface="Times New Roman"/>
              </a:rPr>
              <a:t>enter</a:t>
            </a:r>
            <a:r>
              <a:rPr sz="2600" dirty="0">
                <a:latin typeface="Times New Roman"/>
                <a:cs typeface="Times New Roman"/>
              </a:rPr>
              <a:t>	</a:t>
            </a:r>
            <a:r>
              <a:rPr sz="2600" spc="-25" dirty="0">
                <a:latin typeface="Times New Roman"/>
                <a:cs typeface="Times New Roman"/>
              </a:rPr>
              <a:t>its </a:t>
            </a:r>
            <a:r>
              <a:rPr sz="2600" dirty="0">
                <a:latin typeface="Times New Roman"/>
                <a:cs typeface="Times New Roman"/>
              </a:rPr>
              <a:t>CR</a:t>
            </a:r>
            <a:r>
              <a:rPr sz="2600" dirty="0">
                <a:solidFill>
                  <a:srgbClr val="00AFEF"/>
                </a:solidFill>
                <a:latin typeface="Times New Roman"/>
                <a:cs typeface="Times New Roman"/>
              </a:rPr>
              <a:t>.(Bounded</a:t>
            </a:r>
            <a:r>
              <a:rPr sz="2600" spc="-125" dirty="0">
                <a:solidFill>
                  <a:srgbClr val="00AFEF"/>
                </a:solidFill>
                <a:latin typeface="Times New Roman"/>
                <a:cs typeface="Times New Roman"/>
              </a:rPr>
              <a:t> </a:t>
            </a:r>
            <a:r>
              <a:rPr sz="2600" spc="-10" dirty="0">
                <a:solidFill>
                  <a:srgbClr val="00AFEF"/>
                </a:solidFill>
                <a:latin typeface="Times New Roman"/>
                <a:cs typeface="Times New Roman"/>
              </a:rPr>
              <a:t>Waiting)</a:t>
            </a:r>
            <a:endParaRPr sz="2600" dirty="0">
              <a:latin typeface="Times New Roman"/>
              <a:cs typeface="Times New Roman"/>
            </a:endParaRP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xfrm>
            <a:off x="457200" y="256092"/>
            <a:ext cx="8382000" cy="505908"/>
          </a:xfrm>
          <a:prstGeom prst="rect">
            <a:avLst/>
          </a:prstGeom>
        </p:spPr>
        <p:txBody>
          <a:bodyPr vert="horz" wrap="square" lIns="0" tIns="13335" rIns="0" bIns="0" rtlCol="0">
            <a:spAutoFit/>
          </a:bodyPr>
          <a:lstStyle/>
          <a:p>
            <a:pPr marL="12700" algn="ctr" rtl="0">
              <a:spcBef>
                <a:spcPts val="105"/>
              </a:spcBef>
            </a:pPr>
            <a:r>
              <a:rPr sz="3200" b="1" dirty="0">
                <a:solidFill>
                  <a:sysClr val="windowText" lastClr="000000"/>
                </a:solidFill>
                <a:latin typeface="+mj-lt"/>
                <a:cs typeface="+mj-cs"/>
              </a:rPr>
              <a:t>Critical Section diagram (with mutual exclusion)</a:t>
            </a:r>
          </a:p>
        </p:txBody>
      </p:sp>
      <p:sp>
        <p:nvSpPr>
          <p:cNvPr id="4" name="object 4"/>
          <p:cNvSpPr txBox="1">
            <a:spLocks noGrp="1"/>
          </p:cNvSpPr>
          <p:nvPr>
            <p:ph type="ftr" sz="quarter" idx="5"/>
          </p:nvPr>
        </p:nvSpPr>
        <p:spPr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12700">
              <a:lnSpc>
                <a:spcPts val="1240"/>
              </a:lnSpc>
            </a:pPr>
            <a:r>
              <a:rPr lang="pl-PL"/>
              <a:t>By Dr. Binod Kr. Adhikari</a:t>
            </a:r>
            <a:endParaRPr spc="-10" dirty="0"/>
          </a:p>
        </p:txBody>
      </p:sp>
      <p:pic>
        <p:nvPicPr>
          <p:cNvPr id="3" name="object 3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457200" y="1722972"/>
            <a:ext cx="8164112" cy="4191519"/>
          </a:xfrm>
          <a:prstGeom prst="rect">
            <a:avLst/>
          </a:prstGeom>
        </p:spPr>
      </p:pic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xfrm>
            <a:off x="1066800" y="228600"/>
            <a:ext cx="7542530" cy="505908"/>
          </a:xfrm>
          <a:prstGeom prst="rect">
            <a:avLst/>
          </a:prstGeom>
        </p:spPr>
        <p:txBody>
          <a:bodyPr vert="horz" wrap="square" lIns="0" tIns="13335" rIns="0" bIns="0" rtlCol="0">
            <a:spAutoFit/>
          </a:bodyPr>
          <a:lstStyle/>
          <a:p>
            <a:pPr marL="12700" algn="ctr" rtl="0">
              <a:spcBef>
                <a:spcPts val="105"/>
              </a:spcBef>
            </a:pPr>
            <a:r>
              <a:rPr sz="3200" b="1" dirty="0">
                <a:solidFill>
                  <a:sysClr val="windowText" lastClr="000000"/>
                </a:solidFill>
                <a:latin typeface="+mj-lt"/>
                <a:cs typeface="+mj-cs"/>
              </a:rPr>
              <a:t>Solution 1(Busy waiting) Interrupt Disabling</a:t>
            </a:r>
          </a:p>
        </p:txBody>
      </p:sp>
      <p:sp>
        <p:nvSpPr>
          <p:cNvPr id="4" name="object 4"/>
          <p:cNvSpPr txBox="1">
            <a:spLocks noGrp="1"/>
          </p:cNvSpPr>
          <p:nvPr>
            <p:ph type="ftr" sz="quarter" idx="5"/>
          </p:nvPr>
        </p:nvSpPr>
        <p:spPr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12700">
              <a:lnSpc>
                <a:spcPts val="1240"/>
              </a:lnSpc>
            </a:pPr>
            <a:r>
              <a:rPr lang="pl-PL"/>
              <a:t>By Dr. Binod Kr. Adhikari</a:t>
            </a:r>
            <a:endParaRPr spc="-10" dirty="0"/>
          </a:p>
        </p:txBody>
      </p:sp>
      <p:sp>
        <p:nvSpPr>
          <p:cNvPr id="3" name="object 3"/>
          <p:cNvSpPr txBox="1"/>
          <p:nvPr/>
        </p:nvSpPr>
        <p:spPr>
          <a:xfrm>
            <a:off x="535940" y="1295400"/>
            <a:ext cx="8073390" cy="481901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353060" indent="-340360" algn="just">
              <a:lnSpc>
                <a:spcPts val="2595"/>
              </a:lnSpc>
              <a:spcBef>
                <a:spcPts val="100"/>
              </a:spcBef>
              <a:buFont typeface="Arial"/>
              <a:buChar char="•"/>
              <a:tabLst>
                <a:tab pos="353060" algn="l"/>
              </a:tabLst>
            </a:pPr>
            <a:r>
              <a:rPr sz="2400" i="1" dirty="0">
                <a:solidFill>
                  <a:srgbClr val="00AFEF"/>
                </a:solidFill>
                <a:latin typeface="Times New Roman"/>
                <a:cs typeface="Times New Roman"/>
              </a:rPr>
              <a:t>Each</a:t>
            </a:r>
            <a:r>
              <a:rPr sz="2400" i="1" spc="270" dirty="0">
                <a:solidFill>
                  <a:srgbClr val="00AFEF"/>
                </a:solidFill>
                <a:latin typeface="Times New Roman"/>
                <a:cs typeface="Times New Roman"/>
              </a:rPr>
              <a:t> </a:t>
            </a:r>
            <a:r>
              <a:rPr sz="2400" i="1" dirty="0">
                <a:solidFill>
                  <a:srgbClr val="00AFEF"/>
                </a:solidFill>
                <a:latin typeface="Times New Roman"/>
                <a:cs typeface="Times New Roman"/>
              </a:rPr>
              <a:t>process</a:t>
            </a:r>
            <a:r>
              <a:rPr sz="2400" i="1" spc="285" dirty="0">
                <a:solidFill>
                  <a:srgbClr val="00AFEF"/>
                </a:solidFill>
                <a:latin typeface="Times New Roman"/>
                <a:cs typeface="Times New Roman"/>
              </a:rPr>
              <a:t> </a:t>
            </a:r>
            <a:r>
              <a:rPr sz="2400" i="1" dirty="0">
                <a:solidFill>
                  <a:srgbClr val="00AFEF"/>
                </a:solidFill>
                <a:latin typeface="Times New Roman"/>
                <a:cs typeface="Times New Roman"/>
              </a:rPr>
              <a:t>disable</a:t>
            </a:r>
            <a:r>
              <a:rPr sz="2400" i="1" spc="285" dirty="0">
                <a:solidFill>
                  <a:srgbClr val="00AFEF"/>
                </a:solidFill>
                <a:latin typeface="Times New Roman"/>
                <a:cs typeface="Times New Roman"/>
              </a:rPr>
              <a:t> </a:t>
            </a:r>
            <a:r>
              <a:rPr sz="2400" i="1" dirty="0">
                <a:solidFill>
                  <a:srgbClr val="00AFEF"/>
                </a:solidFill>
                <a:latin typeface="Times New Roman"/>
                <a:cs typeface="Times New Roman"/>
              </a:rPr>
              <a:t>all</a:t>
            </a:r>
            <a:r>
              <a:rPr sz="2400" i="1" spc="275" dirty="0">
                <a:solidFill>
                  <a:srgbClr val="00AFEF"/>
                </a:solidFill>
                <a:latin typeface="Times New Roman"/>
                <a:cs typeface="Times New Roman"/>
              </a:rPr>
              <a:t> </a:t>
            </a:r>
            <a:r>
              <a:rPr sz="2400" i="1" dirty="0">
                <a:solidFill>
                  <a:srgbClr val="00AFEF"/>
                </a:solidFill>
                <a:latin typeface="Times New Roman"/>
                <a:cs typeface="Times New Roman"/>
              </a:rPr>
              <a:t>interrupts</a:t>
            </a:r>
            <a:r>
              <a:rPr sz="2400" i="1" spc="285" dirty="0">
                <a:solidFill>
                  <a:srgbClr val="00AFEF"/>
                </a:solidFill>
                <a:latin typeface="Times New Roman"/>
                <a:cs typeface="Times New Roman"/>
              </a:rPr>
              <a:t> </a:t>
            </a:r>
            <a:r>
              <a:rPr sz="2400" i="1" dirty="0">
                <a:solidFill>
                  <a:srgbClr val="00AFEF"/>
                </a:solidFill>
                <a:latin typeface="Times New Roman"/>
                <a:cs typeface="Times New Roman"/>
              </a:rPr>
              <a:t>just</a:t>
            </a:r>
            <a:r>
              <a:rPr sz="2400" i="1" spc="295" dirty="0">
                <a:solidFill>
                  <a:srgbClr val="00AFEF"/>
                </a:solidFill>
                <a:latin typeface="Times New Roman"/>
                <a:cs typeface="Times New Roman"/>
              </a:rPr>
              <a:t> </a:t>
            </a:r>
            <a:r>
              <a:rPr sz="2400" i="1" dirty="0">
                <a:solidFill>
                  <a:srgbClr val="00AFEF"/>
                </a:solidFill>
                <a:latin typeface="Times New Roman"/>
                <a:cs typeface="Times New Roman"/>
              </a:rPr>
              <a:t>after</a:t>
            </a:r>
            <a:r>
              <a:rPr sz="2400" i="1" spc="280" dirty="0">
                <a:solidFill>
                  <a:srgbClr val="00AFEF"/>
                </a:solidFill>
                <a:latin typeface="Times New Roman"/>
                <a:cs typeface="Times New Roman"/>
              </a:rPr>
              <a:t> </a:t>
            </a:r>
            <a:r>
              <a:rPr sz="2400" i="1" dirty="0">
                <a:solidFill>
                  <a:srgbClr val="00AFEF"/>
                </a:solidFill>
                <a:latin typeface="Times New Roman"/>
                <a:cs typeface="Times New Roman"/>
              </a:rPr>
              <a:t>entering</a:t>
            </a:r>
            <a:r>
              <a:rPr sz="2400" i="1" spc="285" dirty="0">
                <a:solidFill>
                  <a:srgbClr val="00AFEF"/>
                </a:solidFill>
                <a:latin typeface="Times New Roman"/>
                <a:cs typeface="Times New Roman"/>
              </a:rPr>
              <a:t> </a:t>
            </a:r>
            <a:r>
              <a:rPr sz="2400" i="1" dirty="0">
                <a:solidFill>
                  <a:srgbClr val="00AFEF"/>
                </a:solidFill>
                <a:latin typeface="Times New Roman"/>
                <a:cs typeface="Times New Roman"/>
              </a:rPr>
              <a:t>its</a:t>
            </a:r>
            <a:r>
              <a:rPr sz="2400" i="1" spc="280" dirty="0">
                <a:solidFill>
                  <a:srgbClr val="00AFEF"/>
                </a:solidFill>
                <a:latin typeface="Times New Roman"/>
                <a:cs typeface="Times New Roman"/>
              </a:rPr>
              <a:t> </a:t>
            </a:r>
            <a:r>
              <a:rPr sz="2400" i="1" spc="-25" dirty="0">
                <a:solidFill>
                  <a:srgbClr val="00AFEF"/>
                </a:solidFill>
                <a:latin typeface="Times New Roman"/>
                <a:cs typeface="Times New Roman"/>
              </a:rPr>
              <a:t>CR</a:t>
            </a:r>
            <a:endParaRPr sz="2400" dirty="0">
              <a:latin typeface="Times New Roman"/>
              <a:cs typeface="Times New Roman"/>
            </a:endParaRPr>
          </a:p>
          <a:p>
            <a:pPr marL="355600" algn="just">
              <a:lnSpc>
                <a:spcPts val="2590"/>
              </a:lnSpc>
            </a:pPr>
            <a:r>
              <a:rPr sz="2400" i="1" dirty="0">
                <a:solidFill>
                  <a:srgbClr val="00AFEF"/>
                </a:solidFill>
                <a:latin typeface="Times New Roman"/>
                <a:cs typeface="Times New Roman"/>
              </a:rPr>
              <a:t>and</a:t>
            </a:r>
            <a:r>
              <a:rPr sz="2400" i="1" spc="-25" dirty="0">
                <a:solidFill>
                  <a:srgbClr val="00AFEF"/>
                </a:solidFill>
                <a:latin typeface="Times New Roman"/>
                <a:cs typeface="Times New Roman"/>
              </a:rPr>
              <a:t> </a:t>
            </a:r>
            <a:r>
              <a:rPr sz="2400" i="1" spc="-45" dirty="0">
                <a:solidFill>
                  <a:srgbClr val="00AFEF"/>
                </a:solidFill>
                <a:latin typeface="Times New Roman"/>
                <a:cs typeface="Times New Roman"/>
              </a:rPr>
              <a:t>re-</a:t>
            </a:r>
            <a:r>
              <a:rPr sz="2400" i="1" dirty="0">
                <a:solidFill>
                  <a:srgbClr val="00AFEF"/>
                </a:solidFill>
                <a:latin typeface="Times New Roman"/>
                <a:cs typeface="Times New Roman"/>
              </a:rPr>
              <a:t>enable</a:t>
            </a:r>
            <a:r>
              <a:rPr sz="2400" i="1" spc="-50" dirty="0">
                <a:solidFill>
                  <a:srgbClr val="00AFEF"/>
                </a:solidFill>
                <a:latin typeface="Times New Roman"/>
                <a:cs typeface="Times New Roman"/>
              </a:rPr>
              <a:t> </a:t>
            </a:r>
            <a:r>
              <a:rPr sz="2400" i="1" dirty="0">
                <a:solidFill>
                  <a:srgbClr val="00AFEF"/>
                </a:solidFill>
                <a:latin typeface="Times New Roman"/>
                <a:cs typeface="Times New Roman"/>
              </a:rPr>
              <a:t>them</a:t>
            </a:r>
            <a:r>
              <a:rPr sz="2400" i="1" spc="-20" dirty="0">
                <a:solidFill>
                  <a:srgbClr val="00AFEF"/>
                </a:solidFill>
                <a:latin typeface="Times New Roman"/>
                <a:cs typeface="Times New Roman"/>
              </a:rPr>
              <a:t> </a:t>
            </a:r>
            <a:r>
              <a:rPr sz="2400" i="1" dirty="0">
                <a:solidFill>
                  <a:srgbClr val="00AFEF"/>
                </a:solidFill>
                <a:latin typeface="Times New Roman"/>
                <a:cs typeface="Times New Roman"/>
              </a:rPr>
              <a:t>just</a:t>
            </a:r>
            <a:r>
              <a:rPr sz="2400" i="1" spc="-25" dirty="0">
                <a:solidFill>
                  <a:srgbClr val="00AFEF"/>
                </a:solidFill>
                <a:latin typeface="Times New Roman"/>
                <a:cs typeface="Times New Roman"/>
              </a:rPr>
              <a:t> </a:t>
            </a:r>
            <a:r>
              <a:rPr sz="2400" i="1" dirty="0">
                <a:solidFill>
                  <a:srgbClr val="00AFEF"/>
                </a:solidFill>
                <a:latin typeface="Times New Roman"/>
                <a:cs typeface="Times New Roman"/>
              </a:rPr>
              <a:t>before</a:t>
            </a:r>
            <a:r>
              <a:rPr sz="2400" i="1" spc="-35" dirty="0">
                <a:solidFill>
                  <a:srgbClr val="00AFEF"/>
                </a:solidFill>
                <a:latin typeface="Times New Roman"/>
                <a:cs typeface="Times New Roman"/>
              </a:rPr>
              <a:t> </a:t>
            </a:r>
            <a:r>
              <a:rPr sz="2400" i="1" dirty="0">
                <a:solidFill>
                  <a:srgbClr val="00AFEF"/>
                </a:solidFill>
                <a:latin typeface="Times New Roman"/>
                <a:cs typeface="Times New Roman"/>
              </a:rPr>
              <a:t>leaving</a:t>
            </a:r>
            <a:r>
              <a:rPr sz="2400" i="1" spc="-35" dirty="0">
                <a:solidFill>
                  <a:srgbClr val="00AFEF"/>
                </a:solidFill>
                <a:latin typeface="Times New Roman"/>
                <a:cs typeface="Times New Roman"/>
              </a:rPr>
              <a:t> </a:t>
            </a:r>
            <a:r>
              <a:rPr sz="2400" i="1" spc="-25" dirty="0">
                <a:solidFill>
                  <a:srgbClr val="00AFEF"/>
                </a:solidFill>
                <a:latin typeface="Times New Roman"/>
                <a:cs typeface="Times New Roman"/>
              </a:rPr>
              <a:t>it.</a:t>
            </a:r>
            <a:endParaRPr sz="2400" dirty="0">
              <a:latin typeface="Times New Roman"/>
              <a:cs typeface="Times New Roman"/>
            </a:endParaRPr>
          </a:p>
          <a:p>
            <a:pPr marL="355600" marR="5715" indent="-342900" algn="just">
              <a:lnSpc>
                <a:spcPts val="2590"/>
              </a:lnSpc>
              <a:spcBef>
                <a:spcPts val="625"/>
              </a:spcBef>
              <a:buFont typeface="Arial"/>
              <a:buChar char="•"/>
              <a:tabLst>
                <a:tab pos="355600" algn="l"/>
              </a:tabLst>
            </a:pPr>
            <a:r>
              <a:rPr sz="2700" dirty="0">
                <a:latin typeface="Times New Roman"/>
                <a:cs typeface="Times New Roman"/>
              </a:rPr>
              <a:t>No</a:t>
            </a:r>
            <a:r>
              <a:rPr sz="2700" spc="405" dirty="0">
                <a:latin typeface="Times New Roman"/>
                <a:cs typeface="Times New Roman"/>
              </a:rPr>
              <a:t>  </a:t>
            </a:r>
            <a:r>
              <a:rPr sz="2700" dirty="0">
                <a:latin typeface="Times New Roman"/>
                <a:cs typeface="Times New Roman"/>
              </a:rPr>
              <a:t>clock</a:t>
            </a:r>
            <a:r>
              <a:rPr sz="2700" spc="405" dirty="0">
                <a:latin typeface="Times New Roman"/>
                <a:cs typeface="Times New Roman"/>
              </a:rPr>
              <a:t>  </a:t>
            </a:r>
            <a:r>
              <a:rPr sz="2700" dirty="0">
                <a:latin typeface="Times New Roman"/>
                <a:cs typeface="Times New Roman"/>
              </a:rPr>
              <a:t>interrupt,</a:t>
            </a:r>
            <a:r>
              <a:rPr sz="2700" spc="409" dirty="0">
                <a:latin typeface="Times New Roman"/>
                <a:cs typeface="Times New Roman"/>
              </a:rPr>
              <a:t>  </a:t>
            </a:r>
            <a:r>
              <a:rPr sz="2700" dirty="0">
                <a:latin typeface="Times New Roman"/>
                <a:cs typeface="Times New Roman"/>
              </a:rPr>
              <a:t>no</a:t>
            </a:r>
            <a:r>
              <a:rPr sz="2700" spc="409" dirty="0">
                <a:latin typeface="Times New Roman"/>
                <a:cs typeface="Times New Roman"/>
              </a:rPr>
              <a:t>  </a:t>
            </a:r>
            <a:r>
              <a:rPr sz="2700" dirty="0">
                <a:latin typeface="Times New Roman"/>
                <a:cs typeface="Times New Roman"/>
              </a:rPr>
              <a:t>other</a:t>
            </a:r>
            <a:r>
              <a:rPr sz="2700" spc="405" dirty="0">
                <a:latin typeface="Times New Roman"/>
                <a:cs typeface="Times New Roman"/>
              </a:rPr>
              <a:t>  </a:t>
            </a:r>
            <a:r>
              <a:rPr sz="2700" dirty="0">
                <a:latin typeface="Times New Roman"/>
                <a:cs typeface="Times New Roman"/>
              </a:rPr>
              <a:t>interrupt,</a:t>
            </a:r>
            <a:r>
              <a:rPr sz="2700" spc="409" dirty="0">
                <a:latin typeface="Times New Roman"/>
                <a:cs typeface="Times New Roman"/>
              </a:rPr>
              <a:t>  </a:t>
            </a:r>
            <a:r>
              <a:rPr sz="2700" dirty="0">
                <a:latin typeface="Times New Roman"/>
                <a:cs typeface="Times New Roman"/>
              </a:rPr>
              <a:t>no</a:t>
            </a:r>
            <a:r>
              <a:rPr sz="2700" spc="409" dirty="0">
                <a:latin typeface="Times New Roman"/>
                <a:cs typeface="Times New Roman"/>
              </a:rPr>
              <a:t>  </a:t>
            </a:r>
            <a:r>
              <a:rPr sz="2700" spc="-25" dirty="0">
                <a:latin typeface="Times New Roman"/>
                <a:cs typeface="Times New Roman"/>
              </a:rPr>
              <a:t>CPU </a:t>
            </a:r>
            <a:r>
              <a:rPr sz="2700" dirty="0">
                <a:latin typeface="Times New Roman"/>
                <a:cs typeface="Times New Roman"/>
              </a:rPr>
              <a:t>switching</a:t>
            </a:r>
            <a:r>
              <a:rPr sz="2700" spc="665" dirty="0">
                <a:latin typeface="Times New Roman"/>
                <a:cs typeface="Times New Roman"/>
              </a:rPr>
              <a:t> </a:t>
            </a:r>
            <a:r>
              <a:rPr sz="2700" dirty="0">
                <a:latin typeface="Times New Roman"/>
                <a:cs typeface="Times New Roman"/>
              </a:rPr>
              <a:t>to</a:t>
            </a:r>
            <a:r>
              <a:rPr sz="2700" spc="655" dirty="0">
                <a:latin typeface="Times New Roman"/>
                <a:cs typeface="Times New Roman"/>
              </a:rPr>
              <a:t> </a:t>
            </a:r>
            <a:r>
              <a:rPr sz="2700" dirty="0">
                <a:latin typeface="Times New Roman"/>
                <a:cs typeface="Times New Roman"/>
              </a:rPr>
              <a:t>other</a:t>
            </a:r>
            <a:r>
              <a:rPr sz="2700" spc="660" dirty="0">
                <a:latin typeface="Times New Roman"/>
                <a:cs typeface="Times New Roman"/>
              </a:rPr>
              <a:t> </a:t>
            </a:r>
            <a:r>
              <a:rPr sz="2700" dirty="0">
                <a:latin typeface="Times New Roman"/>
                <a:cs typeface="Times New Roman"/>
              </a:rPr>
              <a:t>process</a:t>
            </a:r>
            <a:r>
              <a:rPr sz="2700" spc="655" dirty="0">
                <a:latin typeface="Times New Roman"/>
                <a:cs typeface="Times New Roman"/>
              </a:rPr>
              <a:t> </a:t>
            </a:r>
            <a:r>
              <a:rPr sz="2700" dirty="0">
                <a:latin typeface="Times New Roman"/>
                <a:cs typeface="Times New Roman"/>
              </a:rPr>
              <a:t>until</a:t>
            </a:r>
            <a:r>
              <a:rPr sz="2700" spc="665" dirty="0">
                <a:latin typeface="Times New Roman"/>
                <a:cs typeface="Times New Roman"/>
              </a:rPr>
              <a:t> </a:t>
            </a:r>
            <a:r>
              <a:rPr sz="2700" dirty="0">
                <a:latin typeface="Times New Roman"/>
                <a:cs typeface="Times New Roman"/>
              </a:rPr>
              <a:t>the</a:t>
            </a:r>
            <a:r>
              <a:rPr sz="2700" spc="650" dirty="0">
                <a:latin typeface="Times New Roman"/>
                <a:cs typeface="Times New Roman"/>
              </a:rPr>
              <a:t> </a:t>
            </a:r>
            <a:r>
              <a:rPr sz="2700" dirty="0">
                <a:latin typeface="Times New Roman"/>
                <a:cs typeface="Times New Roman"/>
              </a:rPr>
              <a:t>process</a:t>
            </a:r>
            <a:r>
              <a:rPr sz="2700" spc="665" dirty="0">
                <a:latin typeface="Times New Roman"/>
                <a:cs typeface="Times New Roman"/>
              </a:rPr>
              <a:t> </a:t>
            </a:r>
            <a:r>
              <a:rPr sz="2700" dirty="0">
                <a:solidFill>
                  <a:srgbClr val="00AFEF"/>
                </a:solidFill>
                <a:latin typeface="Times New Roman"/>
                <a:cs typeface="Times New Roman"/>
              </a:rPr>
              <a:t>turn</a:t>
            </a:r>
            <a:r>
              <a:rPr sz="2700" spc="660" dirty="0">
                <a:solidFill>
                  <a:srgbClr val="00AFEF"/>
                </a:solidFill>
                <a:latin typeface="Times New Roman"/>
                <a:cs typeface="Times New Roman"/>
              </a:rPr>
              <a:t> </a:t>
            </a:r>
            <a:r>
              <a:rPr sz="2700" spc="-25" dirty="0">
                <a:solidFill>
                  <a:srgbClr val="00AFEF"/>
                </a:solidFill>
                <a:latin typeface="Times New Roman"/>
                <a:cs typeface="Times New Roman"/>
              </a:rPr>
              <a:t>on </a:t>
            </a:r>
            <a:r>
              <a:rPr sz="2700" dirty="0">
                <a:solidFill>
                  <a:srgbClr val="00AFEF"/>
                </a:solidFill>
                <a:latin typeface="Times New Roman"/>
                <a:cs typeface="Times New Roman"/>
              </a:rPr>
              <a:t>(enable)</a:t>
            </a:r>
            <a:r>
              <a:rPr sz="2700" spc="-15" dirty="0">
                <a:solidFill>
                  <a:srgbClr val="00AFEF"/>
                </a:solidFill>
                <a:latin typeface="Times New Roman"/>
                <a:cs typeface="Times New Roman"/>
              </a:rPr>
              <a:t> </a:t>
            </a:r>
            <a:r>
              <a:rPr sz="2700" dirty="0">
                <a:latin typeface="Times New Roman"/>
                <a:cs typeface="Times New Roman"/>
              </a:rPr>
              <a:t>the</a:t>
            </a:r>
            <a:r>
              <a:rPr sz="2700" spc="-5" dirty="0">
                <a:latin typeface="Times New Roman"/>
                <a:cs typeface="Times New Roman"/>
              </a:rPr>
              <a:t> </a:t>
            </a:r>
            <a:r>
              <a:rPr sz="2700" spc="-10" dirty="0">
                <a:latin typeface="Times New Roman"/>
                <a:cs typeface="Times New Roman"/>
              </a:rPr>
              <a:t>interrupt.</a:t>
            </a:r>
            <a:endParaRPr sz="2700" dirty="0">
              <a:latin typeface="Times New Roman"/>
              <a:cs typeface="Times New Roman"/>
            </a:endParaRPr>
          </a:p>
          <a:p>
            <a:pPr marL="354965" indent="-342265" algn="just">
              <a:lnSpc>
                <a:spcPct val="100000"/>
              </a:lnSpc>
              <a:spcBef>
                <a:spcPts val="25"/>
              </a:spcBef>
              <a:buFont typeface="Arial"/>
              <a:buChar char="•"/>
              <a:tabLst>
                <a:tab pos="354965" algn="l"/>
              </a:tabLst>
            </a:pPr>
            <a:r>
              <a:rPr sz="2700" dirty="0">
                <a:latin typeface="Times New Roman"/>
                <a:cs typeface="Times New Roman"/>
              </a:rPr>
              <a:t>The</a:t>
            </a:r>
            <a:r>
              <a:rPr sz="2700" spc="-60" dirty="0">
                <a:latin typeface="Times New Roman"/>
                <a:cs typeface="Times New Roman"/>
              </a:rPr>
              <a:t> </a:t>
            </a:r>
            <a:r>
              <a:rPr sz="2700" dirty="0">
                <a:latin typeface="Times New Roman"/>
                <a:cs typeface="Times New Roman"/>
              </a:rPr>
              <a:t>general</a:t>
            </a:r>
            <a:r>
              <a:rPr sz="2700" spc="-45" dirty="0">
                <a:latin typeface="Times New Roman"/>
                <a:cs typeface="Times New Roman"/>
              </a:rPr>
              <a:t> </a:t>
            </a:r>
            <a:r>
              <a:rPr sz="2700" dirty="0">
                <a:latin typeface="Times New Roman"/>
                <a:cs typeface="Times New Roman"/>
              </a:rPr>
              <a:t>structure</a:t>
            </a:r>
            <a:r>
              <a:rPr sz="2700" spc="-60" dirty="0">
                <a:latin typeface="Times New Roman"/>
                <a:cs typeface="Times New Roman"/>
              </a:rPr>
              <a:t> </a:t>
            </a:r>
            <a:r>
              <a:rPr sz="2700" dirty="0">
                <a:latin typeface="Times New Roman"/>
                <a:cs typeface="Times New Roman"/>
              </a:rPr>
              <a:t>of</a:t>
            </a:r>
            <a:r>
              <a:rPr sz="2700" spc="-45" dirty="0">
                <a:latin typeface="Times New Roman"/>
                <a:cs typeface="Times New Roman"/>
              </a:rPr>
              <a:t> </a:t>
            </a:r>
            <a:r>
              <a:rPr sz="2700" dirty="0">
                <a:latin typeface="Times New Roman"/>
                <a:cs typeface="Times New Roman"/>
              </a:rPr>
              <a:t>process</a:t>
            </a:r>
            <a:r>
              <a:rPr sz="2700" spc="-60" dirty="0">
                <a:latin typeface="Times New Roman"/>
                <a:cs typeface="Times New Roman"/>
              </a:rPr>
              <a:t> </a:t>
            </a:r>
            <a:r>
              <a:rPr sz="2700" dirty="0">
                <a:latin typeface="Times New Roman"/>
                <a:cs typeface="Times New Roman"/>
              </a:rPr>
              <a:t>may</a:t>
            </a:r>
            <a:r>
              <a:rPr sz="2700" spc="-25" dirty="0">
                <a:latin typeface="Times New Roman"/>
                <a:cs typeface="Times New Roman"/>
              </a:rPr>
              <a:t> </a:t>
            </a:r>
            <a:r>
              <a:rPr sz="2700" dirty="0">
                <a:latin typeface="Times New Roman"/>
                <a:cs typeface="Times New Roman"/>
              </a:rPr>
              <a:t>be</a:t>
            </a:r>
            <a:r>
              <a:rPr sz="2700" spc="-60" dirty="0">
                <a:latin typeface="Times New Roman"/>
                <a:cs typeface="Times New Roman"/>
              </a:rPr>
              <a:t> </a:t>
            </a:r>
            <a:r>
              <a:rPr sz="2700" spc="-25" dirty="0">
                <a:latin typeface="Times New Roman"/>
                <a:cs typeface="Times New Roman"/>
              </a:rPr>
              <a:t>as</a:t>
            </a:r>
            <a:endParaRPr sz="2700" dirty="0">
              <a:latin typeface="Times New Roman"/>
              <a:cs typeface="Times New Roman"/>
            </a:endParaRPr>
          </a:p>
          <a:p>
            <a:pPr marL="354965" indent="-342265" algn="just">
              <a:lnSpc>
                <a:spcPct val="100000"/>
              </a:lnSpc>
              <a:buFont typeface="Arial"/>
              <a:buChar char="•"/>
              <a:tabLst>
                <a:tab pos="354965" algn="l"/>
              </a:tabLst>
            </a:pPr>
            <a:r>
              <a:rPr sz="2700" spc="-25" dirty="0">
                <a:latin typeface="Times New Roman"/>
                <a:cs typeface="Times New Roman"/>
              </a:rPr>
              <a:t>Do</a:t>
            </a:r>
            <a:endParaRPr sz="2700" dirty="0">
              <a:latin typeface="Times New Roman"/>
              <a:cs typeface="Times New Roman"/>
            </a:endParaRPr>
          </a:p>
          <a:p>
            <a:pPr marL="355600">
              <a:lnSpc>
                <a:spcPct val="100000"/>
              </a:lnSpc>
              <a:spcBef>
                <a:spcPts val="5"/>
              </a:spcBef>
            </a:pPr>
            <a:r>
              <a:rPr sz="2700" spc="-50" dirty="0">
                <a:latin typeface="Times New Roman"/>
                <a:cs typeface="Times New Roman"/>
              </a:rPr>
              <a:t>{</a:t>
            </a:r>
            <a:endParaRPr sz="2700" dirty="0">
              <a:latin typeface="Times New Roman"/>
              <a:cs typeface="Times New Roman"/>
            </a:endParaRPr>
          </a:p>
          <a:p>
            <a:pPr marL="756285">
              <a:lnSpc>
                <a:spcPct val="100000"/>
              </a:lnSpc>
              <a:spcBef>
                <a:spcPts val="10"/>
              </a:spcBef>
            </a:pPr>
            <a:r>
              <a:rPr sz="2400" spc="-10" dirty="0">
                <a:latin typeface="Times New Roman"/>
                <a:cs typeface="Times New Roman"/>
              </a:rPr>
              <a:t>DisableInterrupt()</a:t>
            </a:r>
            <a:endParaRPr sz="2400" dirty="0">
              <a:latin typeface="Times New Roman"/>
              <a:cs typeface="Times New Roman"/>
            </a:endParaRPr>
          </a:p>
          <a:p>
            <a:pPr marL="756285" marR="3948429" indent="1084580">
              <a:lnSpc>
                <a:spcPct val="100000"/>
              </a:lnSpc>
            </a:pPr>
            <a:r>
              <a:rPr sz="2400" dirty="0">
                <a:latin typeface="Times New Roman"/>
                <a:cs typeface="Times New Roman"/>
              </a:rPr>
              <a:t>//</a:t>
            </a:r>
            <a:r>
              <a:rPr sz="2400" spc="-35" dirty="0">
                <a:latin typeface="Times New Roman"/>
                <a:cs typeface="Times New Roman"/>
              </a:rPr>
              <a:t> </a:t>
            </a:r>
            <a:r>
              <a:rPr sz="2400" dirty="0">
                <a:latin typeface="Times New Roman"/>
                <a:cs typeface="Times New Roman"/>
              </a:rPr>
              <a:t>perform</a:t>
            </a:r>
            <a:r>
              <a:rPr sz="2400" spc="-5" dirty="0">
                <a:latin typeface="Times New Roman"/>
                <a:cs typeface="Times New Roman"/>
              </a:rPr>
              <a:t> </a:t>
            </a:r>
            <a:r>
              <a:rPr sz="2400" dirty="0">
                <a:latin typeface="Times New Roman"/>
                <a:cs typeface="Times New Roman"/>
              </a:rPr>
              <a:t>CR</a:t>
            </a:r>
            <a:r>
              <a:rPr sz="2400" spc="5" dirty="0">
                <a:latin typeface="Times New Roman"/>
                <a:cs typeface="Times New Roman"/>
              </a:rPr>
              <a:t> </a:t>
            </a:r>
            <a:r>
              <a:rPr sz="2400" spc="-20" dirty="0">
                <a:latin typeface="Times New Roman"/>
                <a:cs typeface="Times New Roman"/>
              </a:rPr>
              <a:t>task </a:t>
            </a:r>
            <a:r>
              <a:rPr sz="2400" spc="-10" dirty="0">
                <a:latin typeface="Times New Roman"/>
                <a:cs typeface="Times New Roman"/>
              </a:rPr>
              <a:t>EnableInterrupt()</a:t>
            </a:r>
            <a:endParaRPr sz="2400" dirty="0">
              <a:latin typeface="Times New Roman"/>
              <a:cs typeface="Times New Roman"/>
            </a:endParaRPr>
          </a:p>
          <a:p>
            <a:pPr marL="1841500">
              <a:lnSpc>
                <a:spcPct val="100000"/>
              </a:lnSpc>
              <a:spcBef>
                <a:spcPts val="5"/>
              </a:spcBef>
            </a:pPr>
            <a:r>
              <a:rPr sz="2400" dirty="0">
                <a:latin typeface="Times New Roman"/>
                <a:cs typeface="Times New Roman"/>
              </a:rPr>
              <a:t>//perform</a:t>
            </a:r>
            <a:r>
              <a:rPr sz="2400" spc="-45" dirty="0">
                <a:latin typeface="Times New Roman"/>
                <a:cs typeface="Times New Roman"/>
              </a:rPr>
              <a:t> </a:t>
            </a:r>
            <a:r>
              <a:rPr sz="2400" dirty="0">
                <a:latin typeface="Times New Roman"/>
                <a:cs typeface="Times New Roman"/>
              </a:rPr>
              <a:t>Remiander</a:t>
            </a:r>
            <a:r>
              <a:rPr sz="2400" spc="-5" dirty="0">
                <a:latin typeface="Times New Roman"/>
                <a:cs typeface="Times New Roman"/>
              </a:rPr>
              <a:t> </a:t>
            </a:r>
            <a:r>
              <a:rPr sz="2400" dirty="0">
                <a:latin typeface="Times New Roman"/>
                <a:cs typeface="Times New Roman"/>
              </a:rPr>
              <a:t>section</a:t>
            </a:r>
            <a:r>
              <a:rPr sz="2400" spc="-20" dirty="0">
                <a:latin typeface="Times New Roman"/>
                <a:cs typeface="Times New Roman"/>
              </a:rPr>
              <a:t> task</a:t>
            </a:r>
            <a:endParaRPr sz="2400" dirty="0">
              <a:latin typeface="Times New Roman"/>
              <a:cs typeface="Times New Roman"/>
            </a:endParaRPr>
          </a:p>
          <a:p>
            <a:pPr marL="469900">
              <a:lnSpc>
                <a:spcPct val="100000"/>
              </a:lnSpc>
            </a:pPr>
            <a:r>
              <a:rPr sz="2400" spc="-10" dirty="0">
                <a:latin typeface="Times New Roman"/>
                <a:cs typeface="Times New Roman"/>
              </a:rPr>
              <a:t>}while(1);</a:t>
            </a:r>
            <a:endParaRPr sz="2400" dirty="0">
              <a:latin typeface="Times New Roman"/>
              <a:cs typeface="Times New Roman"/>
            </a:endParaRP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xfrm>
            <a:off x="1219200" y="228600"/>
            <a:ext cx="7187691" cy="505908"/>
          </a:xfrm>
          <a:prstGeom prst="rect">
            <a:avLst/>
          </a:prstGeom>
        </p:spPr>
        <p:txBody>
          <a:bodyPr vert="horz" wrap="square" lIns="0" tIns="13335" rIns="0" bIns="0" rtlCol="0">
            <a:spAutoFit/>
          </a:bodyPr>
          <a:lstStyle/>
          <a:p>
            <a:pPr marL="12700" algn="ctr" rtl="0">
              <a:spcBef>
                <a:spcPts val="105"/>
              </a:spcBef>
            </a:pPr>
            <a:r>
              <a:rPr sz="3200" b="1" dirty="0">
                <a:solidFill>
                  <a:sysClr val="windowText" lastClr="000000"/>
                </a:solidFill>
                <a:latin typeface="+mj-lt"/>
                <a:cs typeface="+mj-cs"/>
              </a:rPr>
              <a:t>Facts about Disabling Interrupts</a:t>
            </a:r>
          </a:p>
        </p:txBody>
      </p:sp>
      <p:sp>
        <p:nvSpPr>
          <p:cNvPr id="3" name="object 3"/>
          <p:cNvSpPr txBox="1">
            <a:spLocks noGrp="1"/>
          </p:cNvSpPr>
          <p:nvPr>
            <p:ph type="body" idx="1"/>
          </p:nvPr>
        </p:nvSpPr>
        <p:spPr>
          <a:xfrm>
            <a:off x="737108" y="1295400"/>
            <a:ext cx="7669783" cy="4453142"/>
          </a:xfrm>
          <a:prstGeom prst="rect">
            <a:avLst/>
          </a:prstGeom>
        </p:spPr>
        <p:txBody>
          <a:bodyPr vert="horz" wrap="square" lIns="0" tIns="112395" rIns="0" bIns="0" rtlCol="0">
            <a:spAutoFit/>
          </a:bodyPr>
          <a:lstStyle/>
          <a:p>
            <a:pPr marL="354330" indent="-341630" algn="just">
              <a:lnSpc>
                <a:spcPct val="100000"/>
              </a:lnSpc>
              <a:spcBef>
                <a:spcPts val="885"/>
              </a:spcBef>
              <a:buFont typeface="Arial"/>
              <a:buChar char="•"/>
              <a:tabLst>
                <a:tab pos="354330" algn="l"/>
              </a:tabLst>
            </a:pPr>
            <a:r>
              <a:rPr spc="-10" dirty="0">
                <a:latin typeface="Times New Roman"/>
                <a:cs typeface="Times New Roman"/>
              </a:rPr>
              <a:t>Advantages:</a:t>
            </a:r>
          </a:p>
          <a:p>
            <a:pPr marL="756285" marR="5080" lvl="1" indent="-287020" algn="just">
              <a:lnSpc>
                <a:spcPct val="100000"/>
              </a:lnSpc>
              <a:spcBef>
                <a:spcPts val="675"/>
              </a:spcBef>
              <a:buFont typeface="Arial"/>
              <a:buChar char="–"/>
              <a:tabLst>
                <a:tab pos="756285" algn="l"/>
              </a:tabLst>
            </a:pPr>
            <a:r>
              <a:rPr sz="2800" dirty="0">
                <a:latin typeface="Times New Roman"/>
                <a:cs typeface="Times New Roman"/>
              </a:rPr>
              <a:t>Mutual</a:t>
            </a:r>
            <a:r>
              <a:rPr sz="2800" spc="585" dirty="0">
                <a:latin typeface="Times New Roman"/>
                <a:cs typeface="Times New Roman"/>
              </a:rPr>
              <a:t>   </a:t>
            </a:r>
            <a:r>
              <a:rPr sz="2800" dirty="0">
                <a:latin typeface="Times New Roman"/>
                <a:cs typeface="Times New Roman"/>
              </a:rPr>
              <a:t>exclusion</a:t>
            </a:r>
            <a:r>
              <a:rPr sz="2800" spc="590" dirty="0">
                <a:latin typeface="Times New Roman"/>
                <a:cs typeface="Times New Roman"/>
              </a:rPr>
              <a:t>   </a:t>
            </a:r>
            <a:r>
              <a:rPr sz="2800" dirty="0">
                <a:latin typeface="Times New Roman"/>
                <a:cs typeface="Times New Roman"/>
              </a:rPr>
              <a:t>can</a:t>
            </a:r>
            <a:r>
              <a:rPr sz="2800" spc="595" dirty="0">
                <a:latin typeface="Times New Roman"/>
                <a:cs typeface="Times New Roman"/>
              </a:rPr>
              <a:t>   </a:t>
            </a:r>
            <a:r>
              <a:rPr sz="2800" dirty="0">
                <a:latin typeface="Times New Roman"/>
                <a:cs typeface="Times New Roman"/>
              </a:rPr>
              <a:t>be</a:t>
            </a:r>
            <a:r>
              <a:rPr sz="2800" spc="585" dirty="0">
                <a:latin typeface="Times New Roman"/>
                <a:cs typeface="Times New Roman"/>
              </a:rPr>
              <a:t>   </a:t>
            </a:r>
            <a:r>
              <a:rPr sz="2800" dirty="0">
                <a:latin typeface="Times New Roman"/>
                <a:cs typeface="Times New Roman"/>
              </a:rPr>
              <a:t>achieved</a:t>
            </a:r>
            <a:r>
              <a:rPr sz="2800" spc="590" dirty="0">
                <a:latin typeface="Times New Roman"/>
                <a:cs typeface="Times New Roman"/>
              </a:rPr>
              <a:t>   </a:t>
            </a:r>
            <a:r>
              <a:rPr sz="2800" spc="-25" dirty="0">
                <a:latin typeface="Times New Roman"/>
                <a:cs typeface="Times New Roman"/>
              </a:rPr>
              <a:t>by </a:t>
            </a:r>
            <a:r>
              <a:rPr sz="2800" dirty="0">
                <a:latin typeface="Times New Roman"/>
                <a:cs typeface="Times New Roman"/>
              </a:rPr>
              <a:t>implementing</a:t>
            </a:r>
            <a:r>
              <a:rPr sz="2800" spc="220" dirty="0">
                <a:latin typeface="Times New Roman"/>
                <a:cs typeface="Times New Roman"/>
              </a:rPr>
              <a:t> </a:t>
            </a:r>
            <a:r>
              <a:rPr sz="2800" dirty="0">
                <a:latin typeface="Times New Roman"/>
                <a:cs typeface="Times New Roman"/>
              </a:rPr>
              <a:t>OS</a:t>
            </a:r>
            <a:r>
              <a:rPr sz="2800" spc="210" dirty="0">
                <a:latin typeface="Times New Roman"/>
                <a:cs typeface="Times New Roman"/>
              </a:rPr>
              <a:t> </a:t>
            </a:r>
            <a:r>
              <a:rPr sz="2800" dirty="0">
                <a:latin typeface="Times New Roman"/>
                <a:cs typeface="Times New Roman"/>
              </a:rPr>
              <a:t>primitives</a:t>
            </a:r>
            <a:r>
              <a:rPr sz="2800" spc="210" dirty="0">
                <a:latin typeface="Times New Roman"/>
                <a:cs typeface="Times New Roman"/>
              </a:rPr>
              <a:t> </a:t>
            </a:r>
            <a:r>
              <a:rPr sz="2800" dirty="0">
                <a:latin typeface="Times New Roman"/>
                <a:cs typeface="Times New Roman"/>
              </a:rPr>
              <a:t>to</a:t>
            </a:r>
            <a:r>
              <a:rPr sz="2800" spc="200" dirty="0">
                <a:latin typeface="Times New Roman"/>
                <a:cs typeface="Times New Roman"/>
              </a:rPr>
              <a:t> </a:t>
            </a:r>
            <a:r>
              <a:rPr sz="2800" dirty="0">
                <a:latin typeface="Times New Roman"/>
                <a:cs typeface="Times New Roman"/>
              </a:rPr>
              <a:t>disable</a:t>
            </a:r>
            <a:r>
              <a:rPr sz="2800" spc="200" dirty="0">
                <a:latin typeface="Times New Roman"/>
                <a:cs typeface="Times New Roman"/>
              </a:rPr>
              <a:t> </a:t>
            </a:r>
            <a:r>
              <a:rPr sz="2800" dirty="0">
                <a:latin typeface="Times New Roman"/>
                <a:cs typeface="Times New Roman"/>
              </a:rPr>
              <a:t>and</a:t>
            </a:r>
            <a:r>
              <a:rPr sz="2800" spc="210" dirty="0">
                <a:latin typeface="Times New Roman"/>
                <a:cs typeface="Times New Roman"/>
              </a:rPr>
              <a:t> </a:t>
            </a:r>
            <a:r>
              <a:rPr sz="2800" spc="-10" dirty="0">
                <a:latin typeface="Times New Roman"/>
                <a:cs typeface="Times New Roman"/>
              </a:rPr>
              <a:t>enable interrupt.</a:t>
            </a:r>
            <a:endParaRPr sz="2800" dirty="0">
              <a:latin typeface="Times New Roman"/>
              <a:cs typeface="Times New Roman"/>
            </a:endParaRPr>
          </a:p>
          <a:p>
            <a:pPr marL="354965" indent="-342265" algn="just">
              <a:lnSpc>
                <a:spcPct val="100000"/>
              </a:lnSpc>
              <a:spcBef>
                <a:spcPts val="765"/>
              </a:spcBef>
              <a:buFont typeface="Arial"/>
              <a:buChar char="•"/>
              <a:tabLst>
                <a:tab pos="354965" algn="l"/>
              </a:tabLst>
            </a:pPr>
            <a:r>
              <a:rPr spc="-10" dirty="0">
                <a:latin typeface="Times New Roman"/>
                <a:cs typeface="Times New Roman"/>
              </a:rPr>
              <a:t>Problems:</a:t>
            </a:r>
          </a:p>
          <a:p>
            <a:pPr marL="843280" lvl="1" indent="-373380">
              <a:lnSpc>
                <a:spcPct val="100000"/>
              </a:lnSpc>
              <a:spcBef>
                <a:spcPts val="680"/>
              </a:spcBef>
              <a:buFont typeface="Arial"/>
              <a:buChar char="–"/>
              <a:tabLst>
                <a:tab pos="843280" algn="l"/>
              </a:tabLst>
            </a:pPr>
            <a:r>
              <a:rPr sz="2800" dirty="0">
                <a:latin typeface="Times New Roman"/>
                <a:cs typeface="Times New Roman"/>
              </a:rPr>
              <a:t>allow</a:t>
            </a:r>
            <a:r>
              <a:rPr sz="2800" spc="-25" dirty="0">
                <a:latin typeface="Times New Roman"/>
                <a:cs typeface="Times New Roman"/>
              </a:rPr>
              <a:t> </a:t>
            </a:r>
            <a:r>
              <a:rPr sz="2800" dirty="0">
                <a:latin typeface="Times New Roman"/>
                <a:cs typeface="Times New Roman"/>
              </a:rPr>
              <a:t>the</a:t>
            </a:r>
            <a:r>
              <a:rPr sz="2800" spc="-20" dirty="0">
                <a:latin typeface="Times New Roman"/>
                <a:cs typeface="Times New Roman"/>
              </a:rPr>
              <a:t> </a:t>
            </a:r>
            <a:r>
              <a:rPr sz="2800" dirty="0">
                <a:latin typeface="Times New Roman"/>
                <a:cs typeface="Times New Roman"/>
              </a:rPr>
              <a:t>power</a:t>
            </a:r>
            <a:r>
              <a:rPr sz="2800" spc="-5" dirty="0">
                <a:latin typeface="Times New Roman"/>
                <a:cs typeface="Times New Roman"/>
              </a:rPr>
              <a:t> </a:t>
            </a:r>
            <a:r>
              <a:rPr sz="2800" dirty="0">
                <a:latin typeface="Times New Roman"/>
                <a:cs typeface="Times New Roman"/>
              </a:rPr>
              <a:t>of</a:t>
            </a:r>
            <a:r>
              <a:rPr sz="2800" spc="-15" dirty="0">
                <a:latin typeface="Times New Roman"/>
                <a:cs typeface="Times New Roman"/>
              </a:rPr>
              <a:t> </a:t>
            </a:r>
            <a:r>
              <a:rPr sz="2800" dirty="0">
                <a:latin typeface="Times New Roman"/>
                <a:cs typeface="Times New Roman"/>
              </a:rPr>
              <a:t>interrupt</a:t>
            </a:r>
            <a:r>
              <a:rPr sz="2800" spc="-35" dirty="0">
                <a:latin typeface="Times New Roman"/>
                <a:cs typeface="Times New Roman"/>
              </a:rPr>
              <a:t> </a:t>
            </a:r>
            <a:r>
              <a:rPr sz="2800" dirty="0">
                <a:latin typeface="Times New Roman"/>
                <a:cs typeface="Times New Roman"/>
              </a:rPr>
              <a:t>handling</a:t>
            </a:r>
            <a:r>
              <a:rPr sz="2800" spc="-40" dirty="0">
                <a:latin typeface="Times New Roman"/>
                <a:cs typeface="Times New Roman"/>
              </a:rPr>
              <a:t> </a:t>
            </a:r>
            <a:r>
              <a:rPr sz="2800" dirty="0">
                <a:latin typeface="Times New Roman"/>
                <a:cs typeface="Times New Roman"/>
              </a:rPr>
              <a:t>to</a:t>
            </a:r>
            <a:r>
              <a:rPr sz="2800" spc="-15" dirty="0">
                <a:latin typeface="Times New Roman"/>
                <a:cs typeface="Times New Roman"/>
              </a:rPr>
              <a:t> </a:t>
            </a:r>
            <a:r>
              <a:rPr sz="2800" dirty="0">
                <a:latin typeface="Times New Roman"/>
                <a:cs typeface="Times New Roman"/>
              </a:rPr>
              <a:t>the</a:t>
            </a:r>
            <a:r>
              <a:rPr sz="2800" spc="-20" dirty="0">
                <a:latin typeface="Times New Roman"/>
                <a:cs typeface="Times New Roman"/>
              </a:rPr>
              <a:t> </a:t>
            </a:r>
            <a:r>
              <a:rPr sz="2800" spc="-10" dirty="0">
                <a:latin typeface="Times New Roman"/>
                <a:cs typeface="Times New Roman"/>
              </a:rPr>
              <a:t>user.</a:t>
            </a:r>
            <a:endParaRPr sz="2800" dirty="0">
              <a:latin typeface="Times New Roman"/>
              <a:cs typeface="Times New Roman"/>
            </a:endParaRPr>
          </a:p>
          <a:p>
            <a:pPr marL="836930" lvl="1" indent="-367030">
              <a:lnSpc>
                <a:spcPct val="100000"/>
              </a:lnSpc>
              <a:spcBef>
                <a:spcPts val="670"/>
              </a:spcBef>
              <a:buFont typeface="Arial"/>
              <a:buChar char="–"/>
              <a:tabLst>
                <a:tab pos="836930" algn="l"/>
                <a:tab pos="5484495" algn="l"/>
              </a:tabLst>
            </a:pPr>
            <a:r>
              <a:rPr sz="2800" dirty="0">
                <a:latin typeface="Times New Roman"/>
                <a:cs typeface="Times New Roman"/>
              </a:rPr>
              <a:t>The</a:t>
            </a:r>
            <a:r>
              <a:rPr sz="2800" spc="-30" dirty="0">
                <a:latin typeface="Times New Roman"/>
                <a:cs typeface="Times New Roman"/>
              </a:rPr>
              <a:t> </a:t>
            </a:r>
            <a:r>
              <a:rPr sz="2800" dirty="0">
                <a:latin typeface="Times New Roman"/>
                <a:cs typeface="Times New Roman"/>
              </a:rPr>
              <a:t>chances</a:t>
            </a:r>
            <a:r>
              <a:rPr sz="2800" spc="-30" dirty="0">
                <a:latin typeface="Times New Roman"/>
                <a:cs typeface="Times New Roman"/>
              </a:rPr>
              <a:t> </a:t>
            </a:r>
            <a:r>
              <a:rPr sz="2800" dirty="0">
                <a:latin typeface="Times New Roman"/>
                <a:cs typeface="Times New Roman"/>
              </a:rPr>
              <a:t>of</a:t>
            </a:r>
            <a:r>
              <a:rPr sz="2800" spc="-30" dirty="0">
                <a:latin typeface="Times New Roman"/>
                <a:cs typeface="Times New Roman"/>
              </a:rPr>
              <a:t> </a:t>
            </a:r>
            <a:r>
              <a:rPr sz="2800" dirty="0">
                <a:latin typeface="Times New Roman"/>
                <a:cs typeface="Times New Roman"/>
              </a:rPr>
              <a:t>never</a:t>
            </a:r>
            <a:r>
              <a:rPr sz="2800" spc="-30" dirty="0">
                <a:latin typeface="Times New Roman"/>
                <a:cs typeface="Times New Roman"/>
              </a:rPr>
              <a:t> </a:t>
            </a:r>
            <a:r>
              <a:rPr sz="2800" dirty="0">
                <a:latin typeface="Times New Roman"/>
                <a:cs typeface="Times New Roman"/>
              </a:rPr>
              <a:t>turned</a:t>
            </a:r>
            <a:r>
              <a:rPr sz="2800" spc="-40" dirty="0">
                <a:latin typeface="Times New Roman"/>
                <a:cs typeface="Times New Roman"/>
              </a:rPr>
              <a:t> </a:t>
            </a:r>
            <a:r>
              <a:rPr sz="2800" spc="-25" dirty="0">
                <a:latin typeface="Times New Roman"/>
                <a:cs typeface="Times New Roman"/>
              </a:rPr>
              <a:t>on</a:t>
            </a:r>
            <a:r>
              <a:rPr sz="2800" dirty="0">
                <a:latin typeface="Times New Roman"/>
                <a:cs typeface="Times New Roman"/>
              </a:rPr>
              <a:t>	is</a:t>
            </a:r>
            <a:r>
              <a:rPr sz="2800" spc="-10" dirty="0">
                <a:latin typeface="Times New Roman"/>
                <a:cs typeface="Times New Roman"/>
              </a:rPr>
              <a:t> </a:t>
            </a:r>
            <a:r>
              <a:rPr sz="2800" dirty="0">
                <a:latin typeface="Times New Roman"/>
                <a:cs typeface="Times New Roman"/>
              </a:rPr>
              <a:t>a</a:t>
            </a:r>
            <a:r>
              <a:rPr sz="2800" spc="-10" dirty="0">
                <a:latin typeface="Times New Roman"/>
                <a:cs typeface="Times New Roman"/>
              </a:rPr>
              <a:t> disaster.</a:t>
            </a:r>
            <a:endParaRPr sz="2800" dirty="0">
              <a:latin typeface="Times New Roman"/>
              <a:cs typeface="Times New Roman"/>
            </a:endParaRPr>
          </a:p>
          <a:p>
            <a:pPr marL="843280" lvl="1" indent="-373380">
              <a:lnSpc>
                <a:spcPct val="100000"/>
              </a:lnSpc>
              <a:spcBef>
                <a:spcPts val="675"/>
              </a:spcBef>
              <a:buFont typeface="Arial"/>
              <a:buChar char="–"/>
              <a:tabLst>
                <a:tab pos="843280" algn="l"/>
              </a:tabLst>
            </a:pPr>
            <a:r>
              <a:rPr sz="2800" dirty="0">
                <a:latin typeface="Times New Roman"/>
                <a:cs typeface="Times New Roman"/>
              </a:rPr>
              <a:t>it</a:t>
            </a:r>
            <a:r>
              <a:rPr sz="2800" spc="-25" dirty="0">
                <a:latin typeface="Times New Roman"/>
                <a:cs typeface="Times New Roman"/>
              </a:rPr>
              <a:t> </a:t>
            </a:r>
            <a:r>
              <a:rPr sz="2800" dirty="0">
                <a:latin typeface="Times New Roman"/>
                <a:cs typeface="Times New Roman"/>
              </a:rPr>
              <a:t>only</a:t>
            </a:r>
            <a:r>
              <a:rPr sz="2800" spc="-35" dirty="0">
                <a:latin typeface="Times New Roman"/>
                <a:cs typeface="Times New Roman"/>
              </a:rPr>
              <a:t> </a:t>
            </a:r>
            <a:r>
              <a:rPr sz="2800" dirty="0">
                <a:latin typeface="Times New Roman"/>
                <a:cs typeface="Times New Roman"/>
              </a:rPr>
              <a:t>works</a:t>
            </a:r>
            <a:r>
              <a:rPr sz="2800" spc="-15" dirty="0">
                <a:latin typeface="Times New Roman"/>
                <a:cs typeface="Times New Roman"/>
              </a:rPr>
              <a:t> </a:t>
            </a:r>
            <a:r>
              <a:rPr sz="2800" dirty="0">
                <a:latin typeface="Times New Roman"/>
                <a:cs typeface="Times New Roman"/>
              </a:rPr>
              <a:t>in</a:t>
            </a:r>
            <a:r>
              <a:rPr sz="2800" spc="-20" dirty="0">
                <a:latin typeface="Times New Roman"/>
                <a:cs typeface="Times New Roman"/>
              </a:rPr>
              <a:t> </a:t>
            </a:r>
            <a:r>
              <a:rPr sz="2800" b="1" dirty="0">
                <a:latin typeface="Times New Roman"/>
                <a:cs typeface="Times New Roman"/>
              </a:rPr>
              <a:t>single</a:t>
            </a:r>
            <a:r>
              <a:rPr sz="2800" b="1" spc="-50" dirty="0">
                <a:latin typeface="Times New Roman"/>
                <a:cs typeface="Times New Roman"/>
              </a:rPr>
              <a:t> </a:t>
            </a:r>
            <a:r>
              <a:rPr sz="2800" b="1" dirty="0">
                <a:latin typeface="Times New Roman"/>
                <a:cs typeface="Times New Roman"/>
              </a:rPr>
              <a:t>processor</a:t>
            </a:r>
            <a:r>
              <a:rPr sz="2800" b="1" spc="-30" dirty="0">
                <a:latin typeface="Times New Roman"/>
                <a:cs typeface="Times New Roman"/>
              </a:rPr>
              <a:t> </a:t>
            </a:r>
            <a:r>
              <a:rPr sz="2800" b="1" spc="-10" dirty="0">
                <a:latin typeface="Times New Roman"/>
                <a:cs typeface="Times New Roman"/>
              </a:rPr>
              <a:t>environment</a:t>
            </a:r>
            <a:r>
              <a:rPr sz="2800" spc="-10" dirty="0">
                <a:latin typeface="Times New Roman"/>
                <a:cs typeface="Times New Roman"/>
              </a:rPr>
              <a:t>.</a:t>
            </a:r>
            <a:endParaRPr sz="2800" dirty="0">
              <a:latin typeface="Times New Roman"/>
              <a:cs typeface="Times New Roman"/>
            </a:endParaRPr>
          </a:p>
        </p:txBody>
      </p:sp>
      <p:sp>
        <p:nvSpPr>
          <p:cNvPr id="4" name="object 4"/>
          <p:cNvSpPr txBox="1">
            <a:spLocks noGrp="1"/>
          </p:cNvSpPr>
          <p:nvPr>
            <p:ph type="ftr" sz="quarter" idx="5"/>
          </p:nvPr>
        </p:nvSpPr>
        <p:spPr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12700">
              <a:lnSpc>
                <a:spcPts val="1240"/>
              </a:lnSpc>
            </a:pPr>
            <a:r>
              <a:rPr lang="pl-PL"/>
              <a:t>By Dr. Binod Kr. Adhikari</a:t>
            </a:r>
            <a:endParaRPr spc="-10" dirty="0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xfrm>
            <a:off x="685800" y="207086"/>
            <a:ext cx="7772399" cy="505908"/>
          </a:xfrm>
          <a:prstGeom prst="rect">
            <a:avLst/>
          </a:prstGeom>
        </p:spPr>
        <p:txBody>
          <a:bodyPr vert="horz" wrap="square" lIns="0" tIns="13335" rIns="0" bIns="0" rtlCol="0">
            <a:spAutoFit/>
          </a:bodyPr>
          <a:lstStyle/>
          <a:p>
            <a:pPr marL="12700" algn="ctr" rtl="0">
              <a:spcBef>
                <a:spcPts val="105"/>
              </a:spcBef>
            </a:pPr>
            <a:r>
              <a:rPr sz="3200" b="1" dirty="0">
                <a:solidFill>
                  <a:sysClr val="windowText" lastClr="000000"/>
                </a:solidFill>
                <a:latin typeface="+mj-lt"/>
                <a:cs typeface="+mj-cs"/>
              </a:rPr>
              <a:t>Solution 2(Busy waiting) Lock Variables</a:t>
            </a:r>
          </a:p>
        </p:txBody>
      </p:sp>
      <p:sp>
        <p:nvSpPr>
          <p:cNvPr id="4" name="object 4"/>
          <p:cNvSpPr txBox="1">
            <a:spLocks noGrp="1"/>
          </p:cNvSpPr>
          <p:nvPr>
            <p:ph type="ftr" sz="quarter" idx="5"/>
          </p:nvPr>
        </p:nvSpPr>
        <p:spPr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12700">
              <a:lnSpc>
                <a:spcPts val="1240"/>
              </a:lnSpc>
            </a:pPr>
            <a:r>
              <a:rPr lang="pl-PL"/>
              <a:t>By Dr. Binod Kr. Adhikari</a:t>
            </a:r>
            <a:endParaRPr spc="-10" dirty="0"/>
          </a:p>
        </p:txBody>
      </p:sp>
      <p:sp>
        <p:nvSpPr>
          <p:cNvPr id="3" name="object 3"/>
          <p:cNvSpPr txBox="1"/>
          <p:nvPr/>
        </p:nvSpPr>
        <p:spPr>
          <a:xfrm>
            <a:off x="535940" y="1371600"/>
            <a:ext cx="8072120" cy="455358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354965" indent="-342265" algn="just">
              <a:lnSpc>
                <a:spcPct val="100000"/>
              </a:lnSpc>
              <a:spcBef>
                <a:spcPts val="100"/>
              </a:spcBef>
              <a:buFont typeface="Arial"/>
              <a:buChar char="•"/>
              <a:tabLst>
                <a:tab pos="354965" algn="l"/>
              </a:tabLst>
            </a:pPr>
            <a:r>
              <a:rPr sz="2700" dirty="0">
                <a:latin typeface="Times New Roman"/>
                <a:cs typeface="Times New Roman"/>
              </a:rPr>
              <a:t>A</a:t>
            </a:r>
            <a:r>
              <a:rPr sz="2700" spc="-160" dirty="0">
                <a:latin typeface="Times New Roman"/>
                <a:cs typeface="Times New Roman"/>
              </a:rPr>
              <a:t> </a:t>
            </a:r>
            <a:r>
              <a:rPr sz="2700" i="1" dirty="0">
                <a:solidFill>
                  <a:srgbClr val="00B050"/>
                </a:solidFill>
                <a:latin typeface="Times New Roman"/>
                <a:cs typeface="Times New Roman"/>
              </a:rPr>
              <a:t>single,</a:t>
            </a:r>
            <a:r>
              <a:rPr sz="2700" i="1" spc="-20" dirty="0">
                <a:solidFill>
                  <a:srgbClr val="00B050"/>
                </a:solidFill>
                <a:latin typeface="Times New Roman"/>
                <a:cs typeface="Times New Roman"/>
              </a:rPr>
              <a:t> </a:t>
            </a:r>
            <a:r>
              <a:rPr sz="2700" i="1" dirty="0">
                <a:solidFill>
                  <a:srgbClr val="00B050"/>
                </a:solidFill>
                <a:latin typeface="Times New Roman"/>
                <a:cs typeface="Times New Roman"/>
              </a:rPr>
              <a:t>shared</a:t>
            </a:r>
            <a:r>
              <a:rPr sz="2700" i="1" spc="5" dirty="0">
                <a:solidFill>
                  <a:srgbClr val="00B050"/>
                </a:solidFill>
                <a:latin typeface="Times New Roman"/>
                <a:cs typeface="Times New Roman"/>
              </a:rPr>
              <a:t> </a:t>
            </a:r>
            <a:r>
              <a:rPr sz="2700" i="1" dirty="0">
                <a:solidFill>
                  <a:srgbClr val="00B050"/>
                </a:solidFill>
                <a:latin typeface="Times New Roman"/>
                <a:cs typeface="Times New Roman"/>
              </a:rPr>
              <a:t>(lock)</a:t>
            </a:r>
            <a:r>
              <a:rPr sz="2700" i="1" spc="-5" dirty="0">
                <a:solidFill>
                  <a:srgbClr val="00B050"/>
                </a:solidFill>
                <a:latin typeface="Times New Roman"/>
                <a:cs typeface="Times New Roman"/>
              </a:rPr>
              <a:t> </a:t>
            </a:r>
            <a:r>
              <a:rPr sz="2700" i="1" dirty="0">
                <a:solidFill>
                  <a:srgbClr val="00B050"/>
                </a:solidFill>
                <a:latin typeface="Times New Roman"/>
                <a:cs typeface="Times New Roman"/>
              </a:rPr>
              <a:t>variable</a:t>
            </a:r>
            <a:r>
              <a:rPr sz="2700" dirty="0">
                <a:latin typeface="Times New Roman"/>
                <a:cs typeface="Times New Roman"/>
              </a:rPr>
              <a:t>,</a:t>
            </a:r>
            <a:r>
              <a:rPr sz="2700" spc="-20" dirty="0">
                <a:latin typeface="Times New Roman"/>
                <a:cs typeface="Times New Roman"/>
              </a:rPr>
              <a:t> </a:t>
            </a:r>
            <a:r>
              <a:rPr sz="2700" dirty="0">
                <a:latin typeface="Times New Roman"/>
                <a:cs typeface="Times New Roman"/>
              </a:rPr>
              <a:t>initially</a:t>
            </a:r>
            <a:r>
              <a:rPr sz="2700" spc="-15" dirty="0">
                <a:latin typeface="Times New Roman"/>
                <a:cs typeface="Times New Roman"/>
              </a:rPr>
              <a:t> </a:t>
            </a:r>
            <a:r>
              <a:rPr sz="2700" spc="-25" dirty="0">
                <a:latin typeface="Times New Roman"/>
                <a:cs typeface="Times New Roman"/>
              </a:rPr>
              <a:t>0.</a:t>
            </a:r>
            <a:endParaRPr sz="2700" dirty="0">
              <a:latin typeface="Times New Roman"/>
              <a:cs typeface="Times New Roman"/>
            </a:endParaRPr>
          </a:p>
          <a:p>
            <a:pPr marL="355600" marR="5080" indent="-342900" algn="just">
              <a:lnSpc>
                <a:spcPct val="80000"/>
              </a:lnSpc>
              <a:spcBef>
                <a:spcPts val="650"/>
              </a:spcBef>
              <a:buFont typeface="Arial"/>
              <a:buChar char="•"/>
              <a:tabLst>
                <a:tab pos="355600" algn="l"/>
              </a:tabLst>
            </a:pPr>
            <a:r>
              <a:rPr sz="2700" dirty="0">
                <a:latin typeface="Times New Roman"/>
                <a:cs typeface="Times New Roman"/>
              </a:rPr>
              <a:t>When</a:t>
            </a:r>
            <a:r>
              <a:rPr sz="2700" spc="325" dirty="0">
                <a:latin typeface="Times New Roman"/>
                <a:cs typeface="Times New Roman"/>
              </a:rPr>
              <a:t> </a:t>
            </a:r>
            <a:r>
              <a:rPr sz="2700" dirty="0">
                <a:latin typeface="Times New Roman"/>
                <a:cs typeface="Times New Roman"/>
              </a:rPr>
              <a:t>a</a:t>
            </a:r>
            <a:r>
              <a:rPr sz="2700" spc="320" dirty="0">
                <a:latin typeface="Times New Roman"/>
                <a:cs typeface="Times New Roman"/>
              </a:rPr>
              <a:t> </a:t>
            </a:r>
            <a:r>
              <a:rPr sz="2700" dirty="0">
                <a:latin typeface="Times New Roman"/>
                <a:cs typeface="Times New Roman"/>
              </a:rPr>
              <a:t>process</a:t>
            </a:r>
            <a:r>
              <a:rPr sz="2700" spc="330" dirty="0">
                <a:latin typeface="Times New Roman"/>
                <a:cs typeface="Times New Roman"/>
              </a:rPr>
              <a:t> </a:t>
            </a:r>
            <a:r>
              <a:rPr sz="2700" dirty="0">
                <a:latin typeface="Times New Roman"/>
                <a:cs typeface="Times New Roman"/>
              </a:rPr>
              <a:t>wants</a:t>
            </a:r>
            <a:r>
              <a:rPr sz="2700" spc="320" dirty="0">
                <a:latin typeface="Times New Roman"/>
                <a:cs typeface="Times New Roman"/>
              </a:rPr>
              <a:t> </a:t>
            </a:r>
            <a:r>
              <a:rPr sz="2700" dirty="0">
                <a:latin typeface="Times New Roman"/>
                <a:cs typeface="Times New Roman"/>
              </a:rPr>
              <a:t>to</a:t>
            </a:r>
            <a:r>
              <a:rPr sz="2700" spc="325" dirty="0">
                <a:latin typeface="Times New Roman"/>
                <a:cs typeface="Times New Roman"/>
              </a:rPr>
              <a:t> </a:t>
            </a:r>
            <a:r>
              <a:rPr sz="2700" dirty="0">
                <a:latin typeface="Times New Roman"/>
                <a:cs typeface="Times New Roman"/>
              </a:rPr>
              <a:t>enter</a:t>
            </a:r>
            <a:r>
              <a:rPr sz="2700" spc="315" dirty="0">
                <a:latin typeface="Times New Roman"/>
                <a:cs typeface="Times New Roman"/>
              </a:rPr>
              <a:t> </a:t>
            </a:r>
            <a:r>
              <a:rPr sz="2700" dirty="0">
                <a:latin typeface="Times New Roman"/>
                <a:cs typeface="Times New Roman"/>
              </a:rPr>
              <a:t>its</a:t>
            </a:r>
            <a:r>
              <a:rPr sz="2700" spc="325" dirty="0">
                <a:latin typeface="Times New Roman"/>
                <a:cs typeface="Times New Roman"/>
              </a:rPr>
              <a:t> </a:t>
            </a:r>
            <a:r>
              <a:rPr sz="2700" dirty="0">
                <a:latin typeface="Times New Roman"/>
                <a:cs typeface="Times New Roman"/>
              </a:rPr>
              <a:t>CR,</a:t>
            </a:r>
            <a:r>
              <a:rPr sz="2700" spc="315" dirty="0">
                <a:latin typeface="Times New Roman"/>
                <a:cs typeface="Times New Roman"/>
              </a:rPr>
              <a:t> </a:t>
            </a:r>
            <a:r>
              <a:rPr sz="2700" dirty="0">
                <a:latin typeface="Times New Roman"/>
                <a:cs typeface="Times New Roman"/>
              </a:rPr>
              <a:t>it</a:t>
            </a:r>
            <a:r>
              <a:rPr sz="2700" spc="315" dirty="0">
                <a:latin typeface="Times New Roman"/>
                <a:cs typeface="Times New Roman"/>
              </a:rPr>
              <a:t> </a:t>
            </a:r>
            <a:r>
              <a:rPr sz="2700" dirty="0">
                <a:latin typeface="Times New Roman"/>
                <a:cs typeface="Times New Roman"/>
              </a:rPr>
              <a:t>first</a:t>
            </a:r>
            <a:r>
              <a:rPr sz="2700" spc="335" dirty="0">
                <a:latin typeface="Times New Roman"/>
                <a:cs typeface="Times New Roman"/>
              </a:rPr>
              <a:t> </a:t>
            </a:r>
            <a:r>
              <a:rPr sz="2700" dirty="0">
                <a:solidFill>
                  <a:srgbClr val="00AFEF"/>
                </a:solidFill>
                <a:latin typeface="Times New Roman"/>
                <a:cs typeface="Times New Roman"/>
              </a:rPr>
              <a:t>test</a:t>
            </a:r>
            <a:r>
              <a:rPr sz="2700" spc="325" dirty="0">
                <a:solidFill>
                  <a:srgbClr val="00AFEF"/>
                </a:solidFill>
                <a:latin typeface="Times New Roman"/>
                <a:cs typeface="Times New Roman"/>
              </a:rPr>
              <a:t> </a:t>
            </a:r>
            <a:r>
              <a:rPr sz="2700" spc="-25" dirty="0">
                <a:solidFill>
                  <a:srgbClr val="00AFEF"/>
                </a:solidFill>
                <a:latin typeface="Times New Roman"/>
                <a:cs typeface="Times New Roman"/>
              </a:rPr>
              <a:t>the </a:t>
            </a:r>
            <a:r>
              <a:rPr sz="2700" dirty="0">
                <a:solidFill>
                  <a:srgbClr val="00AFEF"/>
                </a:solidFill>
                <a:latin typeface="Times New Roman"/>
                <a:cs typeface="Times New Roman"/>
              </a:rPr>
              <a:t>lock</a:t>
            </a:r>
            <a:r>
              <a:rPr sz="2700" dirty="0">
                <a:latin typeface="Times New Roman"/>
                <a:cs typeface="Times New Roman"/>
              </a:rPr>
              <a:t>.</a:t>
            </a:r>
            <a:r>
              <a:rPr sz="2700" spc="220" dirty="0">
                <a:latin typeface="Times New Roman"/>
                <a:cs typeface="Times New Roman"/>
              </a:rPr>
              <a:t> </a:t>
            </a:r>
            <a:r>
              <a:rPr sz="2700" dirty="0">
                <a:latin typeface="Times New Roman"/>
                <a:cs typeface="Times New Roman"/>
              </a:rPr>
              <a:t>If</a:t>
            </a:r>
            <a:r>
              <a:rPr sz="2700" spc="215" dirty="0">
                <a:latin typeface="Times New Roman"/>
                <a:cs typeface="Times New Roman"/>
              </a:rPr>
              <a:t> </a:t>
            </a:r>
            <a:r>
              <a:rPr sz="2700" dirty="0">
                <a:latin typeface="Times New Roman"/>
                <a:cs typeface="Times New Roman"/>
              </a:rPr>
              <a:t>the</a:t>
            </a:r>
            <a:r>
              <a:rPr sz="2700" spc="229" dirty="0">
                <a:latin typeface="Times New Roman"/>
                <a:cs typeface="Times New Roman"/>
              </a:rPr>
              <a:t> </a:t>
            </a:r>
            <a:r>
              <a:rPr sz="2700" dirty="0">
                <a:solidFill>
                  <a:srgbClr val="00AFEF"/>
                </a:solidFill>
                <a:latin typeface="Times New Roman"/>
                <a:cs typeface="Times New Roman"/>
              </a:rPr>
              <a:t>lock</a:t>
            </a:r>
            <a:r>
              <a:rPr sz="2700" spc="229" dirty="0">
                <a:solidFill>
                  <a:srgbClr val="00AFEF"/>
                </a:solidFill>
                <a:latin typeface="Times New Roman"/>
                <a:cs typeface="Times New Roman"/>
              </a:rPr>
              <a:t> </a:t>
            </a:r>
            <a:r>
              <a:rPr sz="2700" dirty="0">
                <a:latin typeface="Times New Roman"/>
                <a:cs typeface="Times New Roman"/>
              </a:rPr>
              <a:t>is</a:t>
            </a:r>
            <a:r>
              <a:rPr sz="2700" spc="235" dirty="0">
                <a:latin typeface="Times New Roman"/>
                <a:cs typeface="Times New Roman"/>
              </a:rPr>
              <a:t> </a:t>
            </a:r>
            <a:r>
              <a:rPr sz="2700" dirty="0">
                <a:latin typeface="Times New Roman"/>
                <a:cs typeface="Times New Roman"/>
              </a:rPr>
              <a:t>0,</a:t>
            </a:r>
            <a:r>
              <a:rPr sz="2700" spc="210" dirty="0">
                <a:latin typeface="Times New Roman"/>
                <a:cs typeface="Times New Roman"/>
              </a:rPr>
              <a:t> </a:t>
            </a:r>
            <a:r>
              <a:rPr sz="2700" dirty="0">
                <a:latin typeface="Times New Roman"/>
                <a:cs typeface="Times New Roman"/>
              </a:rPr>
              <a:t>the</a:t>
            </a:r>
            <a:r>
              <a:rPr sz="2700" spc="225" dirty="0">
                <a:latin typeface="Times New Roman"/>
                <a:cs typeface="Times New Roman"/>
              </a:rPr>
              <a:t> </a:t>
            </a:r>
            <a:r>
              <a:rPr sz="2700" dirty="0">
                <a:latin typeface="Times New Roman"/>
                <a:cs typeface="Times New Roman"/>
              </a:rPr>
              <a:t>process</a:t>
            </a:r>
            <a:r>
              <a:rPr sz="2700" spc="235" dirty="0">
                <a:latin typeface="Times New Roman"/>
                <a:cs typeface="Times New Roman"/>
              </a:rPr>
              <a:t> </a:t>
            </a:r>
            <a:r>
              <a:rPr sz="2700" dirty="0">
                <a:latin typeface="Times New Roman"/>
                <a:cs typeface="Times New Roman"/>
              </a:rPr>
              <a:t>set</a:t>
            </a:r>
            <a:r>
              <a:rPr sz="2700" spc="225" dirty="0">
                <a:latin typeface="Times New Roman"/>
                <a:cs typeface="Times New Roman"/>
              </a:rPr>
              <a:t> </a:t>
            </a:r>
            <a:r>
              <a:rPr sz="2700" dirty="0">
                <a:latin typeface="Times New Roman"/>
                <a:cs typeface="Times New Roman"/>
              </a:rPr>
              <a:t>it</a:t>
            </a:r>
            <a:r>
              <a:rPr sz="2700" spc="229" dirty="0">
                <a:latin typeface="Times New Roman"/>
                <a:cs typeface="Times New Roman"/>
              </a:rPr>
              <a:t> </a:t>
            </a:r>
            <a:r>
              <a:rPr sz="2700" dirty="0">
                <a:latin typeface="Times New Roman"/>
                <a:cs typeface="Times New Roman"/>
              </a:rPr>
              <a:t>to</a:t>
            </a:r>
            <a:r>
              <a:rPr sz="2700" spc="220" dirty="0">
                <a:latin typeface="Times New Roman"/>
                <a:cs typeface="Times New Roman"/>
              </a:rPr>
              <a:t> </a:t>
            </a:r>
            <a:r>
              <a:rPr sz="2700" dirty="0">
                <a:latin typeface="Times New Roman"/>
                <a:cs typeface="Times New Roman"/>
              </a:rPr>
              <a:t>1</a:t>
            </a:r>
            <a:r>
              <a:rPr sz="2700" spc="229" dirty="0">
                <a:latin typeface="Times New Roman"/>
                <a:cs typeface="Times New Roman"/>
              </a:rPr>
              <a:t> </a:t>
            </a:r>
            <a:r>
              <a:rPr sz="2700" dirty="0">
                <a:latin typeface="Times New Roman"/>
                <a:cs typeface="Times New Roman"/>
              </a:rPr>
              <a:t>and</a:t>
            </a:r>
            <a:r>
              <a:rPr sz="2700" spc="240" dirty="0">
                <a:latin typeface="Times New Roman"/>
                <a:cs typeface="Times New Roman"/>
              </a:rPr>
              <a:t> </a:t>
            </a:r>
            <a:r>
              <a:rPr sz="2700" spc="-10" dirty="0">
                <a:latin typeface="Times New Roman"/>
                <a:cs typeface="Times New Roman"/>
              </a:rPr>
              <a:t>enters </a:t>
            </a:r>
            <a:r>
              <a:rPr sz="2700" dirty="0">
                <a:latin typeface="Times New Roman"/>
                <a:cs typeface="Times New Roman"/>
              </a:rPr>
              <a:t>the</a:t>
            </a:r>
            <a:r>
              <a:rPr sz="2700" spc="260" dirty="0">
                <a:latin typeface="Times New Roman"/>
                <a:cs typeface="Times New Roman"/>
              </a:rPr>
              <a:t> </a:t>
            </a:r>
            <a:r>
              <a:rPr sz="2700" dirty="0">
                <a:latin typeface="Times New Roman"/>
                <a:cs typeface="Times New Roman"/>
              </a:rPr>
              <a:t>CR.</a:t>
            </a:r>
            <a:r>
              <a:rPr sz="2700" spc="254" dirty="0">
                <a:latin typeface="Times New Roman"/>
                <a:cs typeface="Times New Roman"/>
              </a:rPr>
              <a:t> </a:t>
            </a:r>
            <a:r>
              <a:rPr sz="2700" dirty="0">
                <a:latin typeface="Times New Roman"/>
                <a:cs typeface="Times New Roman"/>
              </a:rPr>
              <a:t>If</a:t>
            </a:r>
            <a:r>
              <a:rPr sz="2700" spc="245" dirty="0">
                <a:latin typeface="Times New Roman"/>
                <a:cs typeface="Times New Roman"/>
              </a:rPr>
              <a:t> </a:t>
            </a:r>
            <a:r>
              <a:rPr sz="2700" dirty="0">
                <a:latin typeface="Times New Roman"/>
                <a:cs typeface="Times New Roman"/>
              </a:rPr>
              <a:t>the</a:t>
            </a:r>
            <a:r>
              <a:rPr sz="2700" spc="245" dirty="0">
                <a:latin typeface="Times New Roman"/>
                <a:cs typeface="Times New Roman"/>
              </a:rPr>
              <a:t> </a:t>
            </a:r>
            <a:r>
              <a:rPr sz="2700" dirty="0">
                <a:solidFill>
                  <a:srgbClr val="00AFEF"/>
                </a:solidFill>
                <a:latin typeface="Times New Roman"/>
                <a:cs typeface="Times New Roman"/>
              </a:rPr>
              <a:t>lock</a:t>
            </a:r>
            <a:r>
              <a:rPr sz="2700" spc="270" dirty="0">
                <a:solidFill>
                  <a:srgbClr val="00AFEF"/>
                </a:solidFill>
                <a:latin typeface="Times New Roman"/>
                <a:cs typeface="Times New Roman"/>
              </a:rPr>
              <a:t> </a:t>
            </a:r>
            <a:r>
              <a:rPr sz="2700" dirty="0">
                <a:latin typeface="Times New Roman"/>
                <a:cs typeface="Times New Roman"/>
              </a:rPr>
              <a:t>is</a:t>
            </a:r>
            <a:r>
              <a:rPr sz="2700" spc="250" dirty="0">
                <a:latin typeface="Times New Roman"/>
                <a:cs typeface="Times New Roman"/>
              </a:rPr>
              <a:t> </a:t>
            </a:r>
            <a:r>
              <a:rPr sz="2700" dirty="0">
                <a:latin typeface="Times New Roman"/>
                <a:cs typeface="Times New Roman"/>
              </a:rPr>
              <a:t>already</a:t>
            </a:r>
            <a:r>
              <a:rPr sz="2700" spc="265" dirty="0">
                <a:latin typeface="Times New Roman"/>
                <a:cs typeface="Times New Roman"/>
              </a:rPr>
              <a:t> </a:t>
            </a:r>
            <a:r>
              <a:rPr sz="2700" dirty="0">
                <a:latin typeface="Times New Roman"/>
                <a:cs typeface="Times New Roman"/>
              </a:rPr>
              <a:t>1,</a:t>
            </a:r>
            <a:r>
              <a:rPr sz="2700" spc="245" dirty="0">
                <a:latin typeface="Times New Roman"/>
                <a:cs typeface="Times New Roman"/>
              </a:rPr>
              <a:t> </a:t>
            </a:r>
            <a:r>
              <a:rPr sz="2700" dirty="0">
                <a:latin typeface="Times New Roman"/>
                <a:cs typeface="Times New Roman"/>
              </a:rPr>
              <a:t>the</a:t>
            </a:r>
            <a:r>
              <a:rPr sz="2700" spc="250" dirty="0">
                <a:latin typeface="Times New Roman"/>
                <a:cs typeface="Times New Roman"/>
              </a:rPr>
              <a:t> </a:t>
            </a:r>
            <a:r>
              <a:rPr sz="2700" dirty="0">
                <a:latin typeface="Times New Roman"/>
                <a:cs typeface="Times New Roman"/>
              </a:rPr>
              <a:t>process</a:t>
            </a:r>
            <a:r>
              <a:rPr sz="2700" spc="265" dirty="0">
                <a:latin typeface="Times New Roman"/>
                <a:cs typeface="Times New Roman"/>
              </a:rPr>
              <a:t> </a:t>
            </a:r>
            <a:r>
              <a:rPr sz="2700" dirty="0">
                <a:latin typeface="Times New Roman"/>
                <a:cs typeface="Times New Roman"/>
              </a:rPr>
              <a:t>just</a:t>
            </a:r>
            <a:r>
              <a:rPr sz="2700" spc="254" dirty="0">
                <a:latin typeface="Times New Roman"/>
                <a:cs typeface="Times New Roman"/>
              </a:rPr>
              <a:t> </a:t>
            </a:r>
            <a:r>
              <a:rPr sz="2700" spc="-10" dirty="0">
                <a:latin typeface="Times New Roman"/>
                <a:cs typeface="Times New Roman"/>
              </a:rPr>
              <a:t>waits </a:t>
            </a:r>
            <a:r>
              <a:rPr sz="2700" dirty="0">
                <a:latin typeface="Times New Roman"/>
                <a:cs typeface="Times New Roman"/>
              </a:rPr>
              <a:t>until</a:t>
            </a:r>
            <a:r>
              <a:rPr sz="2700" spc="-45" dirty="0">
                <a:latin typeface="Times New Roman"/>
                <a:cs typeface="Times New Roman"/>
              </a:rPr>
              <a:t> </a:t>
            </a:r>
            <a:r>
              <a:rPr sz="2700" dirty="0">
                <a:latin typeface="Times New Roman"/>
                <a:cs typeface="Times New Roman"/>
              </a:rPr>
              <a:t>it</a:t>
            </a:r>
            <a:r>
              <a:rPr sz="2700" spc="-5" dirty="0">
                <a:latin typeface="Times New Roman"/>
                <a:cs typeface="Times New Roman"/>
              </a:rPr>
              <a:t> </a:t>
            </a:r>
            <a:r>
              <a:rPr sz="2700" dirty="0">
                <a:latin typeface="Times New Roman"/>
                <a:cs typeface="Times New Roman"/>
              </a:rPr>
              <a:t>becomes</a:t>
            </a:r>
            <a:r>
              <a:rPr sz="2700" spc="10" dirty="0">
                <a:latin typeface="Times New Roman"/>
                <a:cs typeface="Times New Roman"/>
              </a:rPr>
              <a:t> </a:t>
            </a:r>
            <a:r>
              <a:rPr sz="2700" spc="-25" dirty="0">
                <a:latin typeface="Times New Roman"/>
                <a:cs typeface="Times New Roman"/>
              </a:rPr>
              <a:t>0.</a:t>
            </a:r>
            <a:endParaRPr sz="2700" dirty="0">
              <a:latin typeface="Times New Roman"/>
              <a:cs typeface="Times New Roman"/>
            </a:endParaRPr>
          </a:p>
          <a:p>
            <a:pPr marL="354965" indent="-342265" algn="just">
              <a:lnSpc>
                <a:spcPct val="100000"/>
              </a:lnSpc>
              <a:buFont typeface="Arial"/>
              <a:buChar char="•"/>
              <a:tabLst>
                <a:tab pos="354965" algn="l"/>
              </a:tabLst>
            </a:pPr>
            <a:r>
              <a:rPr sz="2700" dirty="0">
                <a:latin typeface="Times New Roman"/>
                <a:cs typeface="Times New Roman"/>
              </a:rPr>
              <a:t>The</a:t>
            </a:r>
            <a:r>
              <a:rPr sz="2700" spc="-65" dirty="0">
                <a:latin typeface="Times New Roman"/>
                <a:cs typeface="Times New Roman"/>
              </a:rPr>
              <a:t> </a:t>
            </a:r>
            <a:r>
              <a:rPr sz="2700" dirty="0">
                <a:latin typeface="Times New Roman"/>
                <a:cs typeface="Times New Roman"/>
              </a:rPr>
              <a:t>general</a:t>
            </a:r>
            <a:r>
              <a:rPr sz="2700" spc="-50" dirty="0">
                <a:latin typeface="Times New Roman"/>
                <a:cs typeface="Times New Roman"/>
              </a:rPr>
              <a:t> </a:t>
            </a:r>
            <a:r>
              <a:rPr sz="2700" dirty="0">
                <a:latin typeface="Times New Roman"/>
                <a:cs typeface="Times New Roman"/>
              </a:rPr>
              <a:t>structure</a:t>
            </a:r>
            <a:r>
              <a:rPr sz="2700" spc="-65" dirty="0">
                <a:latin typeface="Times New Roman"/>
                <a:cs typeface="Times New Roman"/>
              </a:rPr>
              <a:t> </a:t>
            </a:r>
            <a:r>
              <a:rPr sz="2700" dirty="0">
                <a:latin typeface="Times New Roman"/>
                <a:cs typeface="Times New Roman"/>
              </a:rPr>
              <a:t>of</a:t>
            </a:r>
            <a:r>
              <a:rPr sz="2700" spc="-50" dirty="0">
                <a:latin typeface="Times New Roman"/>
                <a:cs typeface="Times New Roman"/>
              </a:rPr>
              <a:t> </a:t>
            </a:r>
            <a:r>
              <a:rPr sz="2700" dirty="0">
                <a:latin typeface="Times New Roman"/>
                <a:cs typeface="Times New Roman"/>
              </a:rPr>
              <a:t>process</a:t>
            </a:r>
            <a:r>
              <a:rPr sz="2700" spc="-60" dirty="0">
                <a:latin typeface="Times New Roman"/>
                <a:cs typeface="Times New Roman"/>
              </a:rPr>
              <a:t> </a:t>
            </a:r>
            <a:r>
              <a:rPr sz="2700" spc="-25" dirty="0">
                <a:latin typeface="Times New Roman"/>
                <a:cs typeface="Times New Roman"/>
              </a:rPr>
              <a:t>is</a:t>
            </a:r>
            <a:endParaRPr sz="2700" dirty="0">
              <a:latin typeface="Times New Roman"/>
              <a:cs typeface="Times New Roman"/>
            </a:endParaRPr>
          </a:p>
          <a:p>
            <a:pPr marL="354965" indent="-342265" algn="just">
              <a:lnSpc>
                <a:spcPct val="100000"/>
              </a:lnSpc>
              <a:buFont typeface="Arial"/>
              <a:buChar char="•"/>
              <a:tabLst>
                <a:tab pos="354965" algn="l"/>
              </a:tabLst>
            </a:pPr>
            <a:r>
              <a:rPr sz="2700" spc="-25" dirty="0">
                <a:latin typeface="Times New Roman"/>
                <a:cs typeface="Times New Roman"/>
              </a:rPr>
              <a:t>Do{</a:t>
            </a:r>
            <a:endParaRPr sz="2700" dirty="0">
              <a:latin typeface="Times New Roman"/>
              <a:cs typeface="Times New Roman"/>
            </a:endParaRPr>
          </a:p>
          <a:p>
            <a:pPr marL="927100" algn="just">
              <a:lnSpc>
                <a:spcPct val="100000"/>
              </a:lnSpc>
              <a:spcBef>
                <a:spcPts val="15"/>
              </a:spcBef>
            </a:pPr>
            <a:r>
              <a:rPr sz="2400" dirty="0">
                <a:latin typeface="Times New Roman"/>
                <a:cs typeface="Times New Roman"/>
              </a:rPr>
              <a:t>While(lock!=0);</a:t>
            </a:r>
            <a:r>
              <a:rPr sz="2400" spc="-65" dirty="0">
                <a:latin typeface="Times New Roman"/>
                <a:cs typeface="Times New Roman"/>
              </a:rPr>
              <a:t> </a:t>
            </a:r>
            <a:r>
              <a:rPr sz="2400" dirty="0">
                <a:latin typeface="Times New Roman"/>
                <a:cs typeface="Times New Roman"/>
              </a:rPr>
              <a:t>//busy</a:t>
            </a:r>
            <a:r>
              <a:rPr sz="2400" spc="-15" dirty="0">
                <a:latin typeface="Times New Roman"/>
                <a:cs typeface="Times New Roman"/>
              </a:rPr>
              <a:t> </a:t>
            </a:r>
            <a:r>
              <a:rPr sz="2400" spc="-10" dirty="0">
                <a:latin typeface="Times New Roman"/>
                <a:cs typeface="Times New Roman"/>
              </a:rPr>
              <a:t>waiting</a:t>
            </a:r>
            <a:endParaRPr sz="2400" dirty="0">
              <a:latin typeface="Times New Roman"/>
              <a:cs typeface="Times New Roman"/>
            </a:endParaRPr>
          </a:p>
          <a:p>
            <a:pPr marL="1155700">
              <a:lnSpc>
                <a:spcPct val="100000"/>
              </a:lnSpc>
              <a:spcBef>
                <a:spcPts val="15"/>
              </a:spcBef>
            </a:pPr>
            <a:r>
              <a:rPr sz="2000" spc="-10" dirty="0">
                <a:latin typeface="Times New Roman"/>
                <a:cs typeface="Times New Roman"/>
              </a:rPr>
              <a:t>Lock=1;</a:t>
            </a:r>
            <a:endParaRPr sz="2000" dirty="0">
              <a:latin typeface="Times New Roman"/>
              <a:cs typeface="Times New Roman"/>
            </a:endParaRPr>
          </a:p>
          <a:p>
            <a:pPr marL="1155700" marR="4018279" indent="685800">
              <a:lnSpc>
                <a:spcPct val="100000"/>
              </a:lnSpc>
            </a:pPr>
            <a:r>
              <a:rPr sz="2000" dirty="0">
                <a:latin typeface="Times New Roman"/>
                <a:cs typeface="Times New Roman"/>
              </a:rPr>
              <a:t>//perform</a:t>
            </a:r>
            <a:r>
              <a:rPr sz="2000" spc="-60" dirty="0">
                <a:latin typeface="Times New Roman"/>
                <a:cs typeface="Times New Roman"/>
              </a:rPr>
              <a:t> </a:t>
            </a:r>
            <a:r>
              <a:rPr sz="2000" dirty="0">
                <a:latin typeface="Times New Roman"/>
                <a:cs typeface="Times New Roman"/>
              </a:rPr>
              <a:t>the</a:t>
            </a:r>
            <a:r>
              <a:rPr sz="2000" spc="-25" dirty="0">
                <a:latin typeface="Times New Roman"/>
                <a:cs typeface="Times New Roman"/>
              </a:rPr>
              <a:t> </a:t>
            </a:r>
            <a:r>
              <a:rPr sz="2000" dirty="0">
                <a:latin typeface="Times New Roman"/>
                <a:cs typeface="Times New Roman"/>
              </a:rPr>
              <a:t>CR</a:t>
            </a:r>
            <a:r>
              <a:rPr sz="2000" spc="-15" dirty="0">
                <a:latin typeface="Times New Roman"/>
                <a:cs typeface="Times New Roman"/>
              </a:rPr>
              <a:t> </a:t>
            </a:r>
            <a:r>
              <a:rPr sz="2000" spc="-20" dirty="0">
                <a:latin typeface="Times New Roman"/>
                <a:cs typeface="Times New Roman"/>
              </a:rPr>
              <a:t>task </a:t>
            </a:r>
            <a:r>
              <a:rPr sz="2000" spc="-10" dirty="0">
                <a:latin typeface="Times New Roman"/>
                <a:cs typeface="Times New Roman"/>
              </a:rPr>
              <a:t>Lock=0</a:t>
            </a:r>
            <a:endParaRPr sz="2000" dirty="0">
              <a:latin typeface="Times New Roman"/>
              <a:cs typeface="Times New Roman"/>
            </a:endParaRPr>
          </a:p>
          <a:p>
            <a:pPr marL="1841500">
              <a:lnSpc>
                <a:spcPct val="100000"/>
              </a:lnSpc>
            </a:pPr>
            <a:r>
              <a:rPr sz="2000" dirty="0">
                <a:latin typeface="Times New Roman"/>
                <a:cs typeface="Times New Roman"/>
              </a:rPr>
              <a:t>//perform</a:t>
            </a:r>
            <a:r>
              <a:rPr sz="2000" spc="-65" dirty="0">
                <a:latin typeface="Times New Roman"/>
                <a:cs typeface="Times New Roman"/>
              </a:rPr>
              <a:t> </a:t>
            </a:r>
            <a:r>
              <a:rPr sz="2000" dirty="0">
                <a:latin typeface="Times New Roman"/>
                <a:cs typeface="Times New Roman"/>
              </a:rPr>
              <a:t>Non</a:t>
            </a:r>
            <a:r>
              <a:rPr sz="2000" spc="-15" dirty="0">
                <a:latin typeface="Times New Roman"/>
                <a:cs typeface="Times New Roman"/>
              </a:rPr>
              <a:t> </a:t>
            </a:r>
            <a:r>
              <a:rPr sz="2000" dirty="0">
                <a:latin typeface="Times New Roman"/>
                <a:cs typeface="Times New Roman"/>
              </a:rPr>
              <a:t>CR</a:t>
            </a:r>
            <a:r>
              <a:rPr sz="2000" spc="5" dirty="0">
                <a:latin typeface="Times New Roman"/>
                <a:cs typeface="Times New Roman"/>
              </a:rPr>
              <a:t> </a:t>
            </a:r>
            <a:r>
              <a:rPr sz="2000" spc="-20" dirty="0">
                <a:latin typeface="Times New Roman"/>
                <a:cs typeface="Times New Roman"/>
              </a:rPr>
              <a:t>task</a:t>
            </a:r>
            <a:endParaRPr sz="2000" dirty="0">
              <a:latin typeface="Times New Roman"/>
              <a:cs typeface="Times New Roman"/>
            </a:endParaRPr>
          </a:p>
          <a:p>
            <a:pPr marL="927100">
              <a:lnSpc>
                <a:spcPct val="100000"/>
              </a:lnSpc>
            </a:pPr>
            <a:r>
              <a:rPr sz="2000" spc="-10" dirty="0">
                <a:latin typeface="Times New Roman"/>
                <a:cs typeface="Times New Roman"/>
              </a:rPr>
              <a:t>}while(true)</a:t>
            </a:r>
            <a:endParaRPr sz="2000" dirty="0">
              <a:latin typeface="Times New Roman"/>
              <a:cs typeface="Times New Roman"/>
            </a:endParaRP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xfrm>
            <a:off x="3948872" y="295911"/>
            <a:ext cx="1246252" cy="505908"/>
          </a:xfrm>
          <a:prstGeom prst="rect">
            <a:avLst/>
          </a:prstGeom>
        </p:spPr>
        <p:txBody>
          <a:bodyPr vert="horz" wrap="square" lIns="0" tIns="13335" rIns="0" bIns="0" rtlCol="0">
            <a:spAutoFit/>
          </a:bodyPr>
          <a:lstStyle/>
          <a:p>
            <a:pPr marL="12700" algn="ctr" rtl="0">
              <a:spcBef>
                <a:spcPts val="105"/>
              </a:spcBef>
            </a:pPr>
            <a:r>
              <a:rPr sz="3200" b="1" dirty="0">
                <a:solidFill>
                  <a:sysClr val="windowText" lastClr="000000"/>
                </a:solidFill>
                <a:latin typeface="+mj-lt"/>
                <a:cs typeface="+mj-cs"/>
              </a:rPr>
              <a:t>Facts</a:t>
            </a:r>
          </a:p>
        </p:txBody>
      </p:sp>
      <p:sp>
        <p:nvSpPr>
          <p:cNvPr id="3" name="object 3"/>
          <p:cNvSpPr txBox="1">
            <a:spLocks noGrp="1"/>
          </p:cNvSpPr>
          <p:nvPr>
            <p:ph type="body" idx="1"/>
          </p:nvPr>
        </p:nvSpPr>
        <p:spPr>
          <a:xfrm>
            <a:off x="737108" y="1447800"/>
            <a:ext cx="7669783" cy="3809365"/>
          </a:xfrm>
          <a:prstGeom prst="rect">
            <a:avLst/>
          </a:prstGeom>
        </p:spPr>
        <p:txBody>
          <a:bodyPr vert="horz" wrap="square" lIns="0" tIns="110490" rIns="0" bIns="0" rtlCol="0">
            <a:spAutoFit/>
          </a:bodyPr>
          <a:lstStyle/>
          <a:p>
            <a:pPr marL="354330" indent="-341630" algn="just">
              <a:lnSpc>
                <a:spcPct val="100000"/>
              </a:lnSpc>
              <a:spcBef>
                <a:spcPts val="870"/>
              </a:spcBef>
              <a:buFont typeface="Arial"/>
              <a:buChar char="•"/>
              <a:tabLst>
                <a:tab pos="354330" algn="l"/>
              </a:tabLst>
            </a:pPr>
            <a:r>
              <a:rPr b="1" dirty="0">
                <a:latin typeface="Times New Roman"/>
                <a:cs typeface="Times New Roman"/>
              </a:rPr>
              <a:t>Advantages:</a:t>
            </a:r>
            <a:r>
              <a:rPr b="1" spc="-65" dirty="0">
                <a:latin typeface="Times New Roman"/>
                <a:cs typeface="Times New Roman"/>
              </a:rPr>
              <a:t> </a:t>
            </a:r>
            <a:r>
              <a:rPr dirty="0">
                <a:latin typeface="Times New Roman"/>
                <a:cs typeface="Times New Roman"/>
              </a:rPr>
              <a:t>seems</a:t>
            </a:r>
            <a:r>
              <a:rPr spc="-35" dirty="0">
                <a:latin typeface="Times New Roman"/>
                <a:cs typeface="Times New Roman"/>
              </a:rPr>
              <a:t> </a:t>
            </a:r>
            <a:r>
              <a:rPr dirty="0">
                <a:latin typeface="Times New Roman"/>
                <a:cs typeface="Times New Roman"/>
              </a:rPr>
              <a:t>no</a:t>
            </a:r>
            <a:r>
              <a:rPr spc="-20" dirty="0">
                <a:latin typeface="Times New Roman"/>
                <a:cs typeface="Times New Roman"/>
              </a:rPr>
              <a:t> </a:t>
            </a:r>
            <a:r>
              <a:rPr spc="-10" dirty="0">
                <a:latin typeface="Times New Roman"/>
                <a:cs typeface="Times New Roman"/>
              </a:rPr>
              <a:t>problems.</a:t>
            </a:r>
          </a:p>
          <a:p>
            <a:pPr marL="354965" indent="-342265" algn="just">
              <a:lnSpc>
                <a:spcPct val="100000"/>
              </a:lnSpc>
              <a:spcBef>
                <a:spcPts val="765"/>
              </a:spcBef>
              <a:buFont typeface="Arial"/>
              <a:buChar char="•"/>
              <a:tabLst>
                <a:tab pos="354965" algn="l"/>
              </a:tabLst>
            </a:pPr>
            <a:r>
              <a:rPr spc="-10" dirty="0">
                <a:latin typeface="Times New Roman"/>
                <a:cs typeface="Times New Roman"/>
              </a:rPr>
              <a:t>Problems:</a:t>
            </a:r>
          </a:p>
          <a:p>
            <a:pPr marL="756285" lvl="1" indent="-286385" algn="just">
              <a:lnSpc>
                <a:spcPct val="100000"/>
              </a:lnSpc>
              <a:spcBef>
                <a:spcPts val="680"/>
              </a:spcBef>
              <a:buFont typeface="Arial"/>
              <a:buChar char="–"/>
              <a:tabLst>
                <a:tab pos="756285" algn="l"/>
              </a:tabLst>
            </a:pPr>
            <a:r>
              <a:rPr sz="2800" dirty="0">
                <a:latin typeface="Times New Roman"/>
                <a:cs typeface="Times New Roman"/>
              </a:rPr>
              <a:t>problem</a:t>
            </a:r>
            <a:r>
              <a:rPr sz="2800" spc="-70" dirty="0">
                <a:latin typeface="Times New Roman"/>
                <a:cs typeface="Times New Roman"/>
              </a:rPr>
              <a:t> </a:t>
            </a:r>
            <a:r>
              <a:rPr sz="2800" dirty="0">
                <a:latin typeface="Times New Roman"/>
                <a:cs typeface="Times New Roman"/>
              </a:rPr>
              <a:t>like</a:t>
            </a:r>
            <a:r>
              <a:rPr sz="2800" spc="-40" dirty="0">
                <a:latin typeface="Times New Roman"/>
                <a:cs typeface="Times New Roman"/>
              </a:rPr>
              <a:t> </a:t>
            </a:r>
            <a:r>
              <a:rPr sz="2800" dirty="0">
                <a:solidFill>
                  <a:srgbClr val="00B050"/>
                </a:solidFill>
                <a:latin typeface="Times New Roman"/>
                <a:cs typeface="Times New Roman"/>
              </a:rPr>
              <a:t>spooler</a:t>
            </a:r>
            <a:r>
              <a:rPr sz="2800" spc="-45" dirty="0">
                <a:solidFill>
                  <a:srgbClr val="00B050"/>
                </a:solidFill>
                <a:latin typeface="Times New Roman"/>
                <a:cs typeface="Times New Roman"/>
              </a:rPr>
              <a:t> </a:t>
            </a:r>
            <a:r>
              <a:rPr sz="2800" spc="-10" dirty="0">
                <a:solidFill>
                  <a:srgbClr val="00B050"/>
                </a:solidFill>
                <a:latin typeface="Times New Roman"/>
                <a:cs typeface="Times New Roman"/>
              </a:rPr>
              <a:t>directory</a:t>
            </a:r>
            <a:r>
              <a:rPr sz="2800" spc="-10" dirty="0">
                <a:latin typeface="Times New Roman"/>
                <a:cs typeface="Times New Roman"/>
              </a:rPr>
              <a:t>;</a:t>
            </a:r>
            <a:endParaRPr sz="2800" dirty="0">
              <a:latin typeface="Times New Roman"/>
              <a:cs typeface="Times New Roman"/>
            </a:endParaRPr>
          </a:p>
          <a:p>
            <a:pPr marL="756285" marR="5080" lvl="1" indent="-287020" algn="just">
              <a:lnSpc>
                <a:spcPct val="100000"/>
              </a:lnSpc>
              <a:spcBef>
                <a:spcPts val="670"/>
              </a:spcBef>
              <a:buFont typeface="Arial"/>
              <a:buChar char="–"/>
              <a:tabLst>
                <a:tab pos="756285" algn="l"/>
                <a:tab pos="843280" algn="l"/>
              </a:tabLst>
            </a:pPr>
            <a:r>
              <a:rPr sz="2800" dirty="0">
                <a:latin typeface="Times New Roman"/>
                <a:cs typeface="Times New Roman"/>
              </a:rPr>
              <a:t>	suppose</a:t>
            </a:r>
            <a:r>
              <a:rPr sz="2800" spc="295" dirty="0">
                <a:latin typeface="Times New Roman"/>
                <a:cs typeface="Times New Roman"/>
              </a:rPr>
              <a:t> </a:t>
            </a:r>
            <a:r>
              <a:rPr sz="2800" dirty="0">
                <a:latin typeface="Times New Roman"/>
                <a:cs typeface="Times New Roman"/>
              </a:rPr>
              <a:t>that</a:t>
            </a:r>
            <a:r>
              <a:rPr sz="2800" spc="300" dirty="0">
                <a:latin typeface="Times New Roman"/>
                <a:cs typeface="Times New Roman"/>
              </a:rPr>
              <a:t> </a:t>
            </a:r>
            <a:r>
              <a:rPr sz="2800" dirty="0">
                <a:latin typeface="Times New Roman"/>
                <a:cs typeface="Times New Roman"/>
              </a:rPr>
              <a:t>one</a:t>
            </a:r>
            <a:r>
              <a:rPr sz="2800" spc="295" dirty="0">
                <a:latin typeface="Times New Roman"/>
                <a:cs typeface="Times New Roman"/>
              </a:rPr>
              <a:t> </a:t>
            </a:r>
            <a:r>
              <a:rPr sz="2800" dirty="0">
                <a:latin typeface="Times New Roman"/>
                <a:cs typeface="Times New Roman"/>
              </a:rPr>
              <a:t>process</a:t>
            </a:r>
            <a:r>
              <a:rPr sz="2800" spc="305" dirty="0">
                <a:latin typeface="Times New Roman"/>
                <a:cs typeface="Times New Roman"/>
              </a:rPr>
              <a:t> </a:t>
            </a:r>
            <a:r>
              <a:rPr sz="2800" dirty="0">
                <a:latin typeface="Times New Roman"/>
                <a:cs typeface="Times New Roman"/>
              </a:rPr>
              <a:t>reads</a:t>
            </a:r>
            <a:r>
              <a:rPr sz="2800" spc="300" dirty="0">
                <a:latin typeface="Times New Roman"/>
                <a:cs typeface="Times New Roman"/>
              </a:rPr>
              <a:t> </a:t>
            </a:r>
            <a:r>
              <a:rPr sz="2800" dirty="0">
                <a:latin typeface="Times New Roman"/>
                <a:cs typeface="Times New Roman"/>
              </a:rPr>
              <a:t>the</a:t>
            </a:r>
            <a:r>
              <a:rPr sz="2800" spc="300" dirty="0">
                <a:latin typeface="Times New Roman"/>
                <a:cs typeface="Times New Roman"/>
              </a:rPr>
              <a:t> </a:t>
            </a:r>
            <a:r>
              <a:rPr sz="2800" dirty="0">
                <a:latin typeface="Times New Roman"/>
                <a:cs typeface="Times New Roman"/>
              </a:rPr>
              <a:t>lock</a:t>
            </a:r>
            <a:r>
              <a:rPr sz="2800" spc="295" dirty="0">
                <a:latin typeface="Times New Roman"/>
                <a:cs typeface="Times New Roman"/>
              </a:rPr>
              <a:t> </a:t>
            </a:r>
            <a:r>
              <a:rPr sz="2800" dirty="0">
                <a:latin typeface="Times New Roman"/>
                <a:cs typeface="Times New Roman"/>
              </a:rPr>
              <a:t>and</a:t>
            </a:r>
            <a:r>
              <a:rPr sz="2800" spc="305" dirty="0">
                <a:latin typeface="Times New Roman"/>
                <a:cs typeface="Times New Roman"/>
              </a:rPr>
              <a:t> </a:t>
            </a:r>
            <a:r>
              <a:rPr sz="2800" spc="-20" dirty="0">
                <a:latin typeface="Times New Roman"/>
                <a:cs typeface="Times New Roman"/>
              </a:rPr>
              <a:t>sees </a:t>
            </a:r>
            <a:r>
              <a:rPr sz="2800" dirty="0">
                <a:latin typeface="Times New Roman"/>
                <a:cs typeface="Times New Roman"/>
              </a:rPr>
              <a:t>that</a:t>
            </a:r>
            <a:r>
              <a:rPr sz="2800" spc="605" dirty="0">
                <a:latin typeface="Times New Roman"/>
                <a:cs typeface="Times New Roman"/>
              </a:rPr>
              <a:t> </a:t>
            </a:r>
            <a:r>
              <a:rPr sz="2800" dirty="0">
                <a:latin typeface="Times New Roman"/>
                <a:cs typeface="Times New Roman"/>
              </a:rPr>
              <a:t>it</a:t>
            </a:r>
            <a:r>
              <a:rPr sz="2800" spc="620" dirty="0">
                <a:latin typeface="Times New Roman"/>
                <a:cs typeface="Times New Roman"/>
              </a:rPr>
              <a:t> </a:t>
            </a:r>
            <a:r>
              <a:rPr sz="2800" dirty="0">
                <a:latin typeface="Times New Roman"/>
                <a:cs typeface="Times New Roman"/>
              </a:rPr>
              <a:t>is</a:t>
            </a:r>
            <a:r>
              <a:rPr sz="2800" spc="605" dirty="0">
                <a:latin typeface="Times New Roman"/>
                <a:cs typeface="Times New Roman"/>
              </a:rPr>
              <a:t> </a:t>
            </a:r>
            <a:r>
              <a:rPr sz="2800" dirty="0">
                <a:latin typeface="Times New Roman"/>
                <a:cs typeface="Times New Roman"/>
              </a:rPr>
              <a:t>0,</a:t>
            </a:r>
            <a:r>
              <a:rPr sz="2800" spc="615" dirty="0">
                <a:latin typeface="Times New Roman"/>
                <a:cs typeface="Times New Roman"/>
              </a:rPr>
              <a:t> </a:t>
            </a:r>
            <a:r>
              <a:rPr sz="2800" dirty="0">
                <a:latin typeface="Times New Roman"/>
                <a:cs typeface="Times New Roman"/>
              </a:rPr>
              <a:t>before</a:t>
            </a:r>
            <a:r>
              <a:rPr sz="2800" spc="615" dirty="0">
                <a:latin typeface="Times New Roman"/>
                <a:cs typeface="Times New Roman"/>
              </a:rPr>
              <a:t> </a:t>
            </a:r>
            <a:r>
              <a:rPr sz="2800" dirty="0">
                <a:latin typeface="Times New Roman"/>
                <a:cs typeface="Times New Roman"/>
              </a:rPr>
              <a:t>it</a:t>
            </a:r>
            <a:r>
              <a:rPr sz="2800" spc="620" dirty="0">
                <a:latin typeface="Times New Roman"/>
                <a:cs typeface="Times New Roman"/>
              </a:rPr>
              <a:t> </a:t>
            </a:r>
            <a:r>
              <a:rPr sz="2800" dirty="0">
                <a:latin typeface="Times New Roman"/>
                <a:cs typeface="Times New Roman"/>
              </a:rPr>
              <a:t>can</a:t>
            </a:r>
            <a:r>
              <a:rPr sz="2800" spc="625" dirty="0">
                <a:latin typeface="Times New Roman"/>
                <a:cs typeface="Times New Roman"/>
              </a:rPr>
              <a:t> </a:t>
            </a:r>
            <a:r>
              <a:rPr sz="2800" dirty="0">
                <a:latin typeface="Times New Roman"/>
                <a:cs typeface="Times New Roman"/>
              </a:rPr>
              <a:t>set</a:t>
            </a:r>
            <a:r>
              <a:rPr sz="2800" spc="605" dirty="0">
                <a:latin typeface="Times New Roman"/>
                <a:cs typeface="Times New Roman"/>
              </a:rPr>
              <a:t> </a:t>
            </a:r>
            <a:r>
              <a:rPr sz="2800" dirty="0">
                <a:latin typeface="Times New Roman"/>
                <a:cs typeface="Times New Roman"/>
              </a:rPr>
              <a:t>lock</a:t>
            </a:r>
            <a:r>
              <a:rPr sz="2800" spc="620" dirty="0">
                <a:latin typeface="Times New Roman"/>
                <a:cs typeface="Times New Roman"/>
              </a:rPr>
              <a:t> </a:t>
            </a:r>
            <a:r>
              <a:rPr sz="2800" dirty="0">
                <a:latin typeface="Times New Roman"/>
                <a:cs typeface="Times New Roman"/>
              </a:rPr>
              <a:t>to</a:t>
            </a:r>
            <a:r>
              <a:rPr sz="2800" spc="610" dirty="0">
                <a:latin typeface="Times New Roman"/>
                <a:cs typeface="Times New Roman"/>
              </a:rPr>
              <a:t> </a:t>
            </a:r>
            <a:r>
              <a:rPr sz="2800" dirty="0">
                <a:latin typeface="Times New Roman"/>
                <a:cs typeface="Times New Roman"/>
              </a:rPr>
              <a:t>1,</a:t>
            </a:r>
            <a:r>
              <a:rPr sz="2800" spc="610" dirty="0">
                <a:latin typeface="Times New Roman"/>
                <a:cs typeface="Times New Roman"/>
              </a:rPr>
              <a:t> </a:t>
            </a:r>
            <a:r>
              <a:rPr sz="2800" spc="-10" dirty="0">
                <a:latin typeface="Times New Roman"/>
                <a:cs typeface="Times New Roman"/>
              </a:rPr>
              <a:t>another </a:t>
            </a:r>
            <a:r>
              <a:rPr sz="2800" dirty="0">
                <a:latin typeface="Times New Roman"/>
                <a:cs typeface="Times New Roman"/>
              </a:rPr>
              <a:t>process</a:t>
            </a:r>
            <a:r>
              <a:rPr sz="2800" spc="200" dirty="0">
                <a:latin typeface="Times New Roman"/>
                <a:cs typeface="Times New Roman"/>
              </a:rPr>
              <a:t> </a:t>
            </a:r>
            <a:r>
              <a:rPr sz="2800" dirty="0">
                <a:latin typeface="Times New Roman"/>
                <a:cs typeface="Times New Roman"/>
              </a:rPr>
              <a:t>scheduled,</a:t>
            </a:r>
            <a:r>
              <a:rPr sz="2800" spc="195" dirty="0">
                <a:latin typeface="Times New Roman"/>
                <a:cs typeface="Times New Roman"/>
              </a:rPr>
              <a:t> </a:t>
            </a:r>
            <a:r>
              <a:rPr sz="2800" dirty="0">
                <a:latin typeface="Times New Roman"/>
                <a:cs typeface="Times New Roman"/>
              </a:rPr>
              <a:t>enter</a:t>
            </a:r>
            <a:r>
              <a:rPr sz="2800" spc="200" dirty="0">
                <a:latin typeface="Times New Roman"/>
                <a:cs typeface="Times New Roman"/>
              </a:rPr>
              <a:t> </a:t>
            </a:r>
            <a:r>
              <a:rPr sz="2800" dirty="0">
                <a:latin typeface="Times New Roman"/>
                <a:cs typeface="Times New Roman"/>
              </a:rPr>
              <a:t>the</a:t>
            </a:r>
            <a:r>
              <a:rPr sz="2800" spc="195" dirty="0">
                <a:latin typeface="Times New Roman"/>
                <a:cs typeface="Times New Roman"/>
              </a:rPr>
              <a:t> </a:t>
            </a:r>
            <a:r>
              <a:rPr sz="2800" dirty="0">
                <a:latin typeface="Times New Roman"/>
                <a:cs typeface="Times New Roman"/>
              </a:rPr>
              <a:t>CR,</a:t>
            </a:r>
            <a:r>
              <a:rPr sz="2800" spc="195" dirty="0">
                <a:latin typeface="Times New Roman"/>
                <a:cs typeface="Times New Roman"/>
              </a:rPr>
              <a:t> </a:t>
            </a:r>
            <a:r>
              <a:rPr sz="2800" dirty="0">
                <a:latin typeface="Times New Roman"/>
                <a:cs typeface="Times New Roman"/>
              </a:rPr>
              <a:t>set</a:t>
            </a:r>
            <a:r>
              <a:rPr sz="2800" spc="200" dirty="0">
                <a:latin typeface="Times New Roman"/>
                <a:cs typeface="Times New Roman"/>
              </a:rPr>
              <a:t> </a:t>
            </a:r>
            <a:r>
              <a:rPr sz="2800" dirty="0">
                <a:latin typeface="Times New Roman"/>
                <a:cs typeface="Times New Roman"/>
              </a:rPr>
              <a:t>lock</a:t>
            </a:r>
            <a:r>
              <a:rPr sz="2800" spc="210" dirty="0">
                <a:latin typeface="Times New Roman"/>
                <a:cs typeface="Times New Roman"/>
              </a:rPr>
              <a:t> </a:t>
            </a:r>
            <a:r>
              <a:rPr sz="2800" dirty="0">
                <a:latin typeface="Times New Roman"/>
                <a:cs typeface="Times New Roman"/>
              </a:rPr>
              <a:t>to</a:t>
            </a:r>
            <a:r>
              <a:rPr sz="2800" spc="200" dirty="0">
                <a:latin typeface="Times New Roman"/>
                <a:cs typeface="Times New Roman"/>
              </a:rPr>
              <a:t> </a:t>
            </a:r>
            <a:r>
              <a:rPr sz="2800" dirty="0">
                <a:latin typeface="Times New Roman"/>
                <a:cs typeface="Times New Roman"/>
              </a:rPr>
              <a:t>1</a:t>
            </a:r>
            <a:r>
              <a:rPr sz="2800" spc="204" dirty="0">
                <a:latin typeface="Times New Roman"/>
                <a:cs typeface="Times New Roman"/>
              </a:rPr>
              <a:t> </a:t>
            </a:r>
            <a:r>
              <a:rPr sz="2800" spc="-25" dirty="0">
                <a:latin typeface="Times New Roman"/>
                <a:cs typeface="Times New Roman"/>
              </a:rPr>
              <a:t>and </a:t>
            </a:r>
            <a:r>
              <a:rPr sz="2800" dirty="0">
                <a:latin typeface="Times New Roman"/>
                <a:cs typeface="Times New Roman"/>
              </a:rPr>
              <a:t>can</a:t>
            </a:r>
            <a:r>
              <a:rPr sz="2800" spc="190" dirty="0">
                <a:latin typeface="Times New Roman"/>
                <a:cs typeface="Times New Roman"/>
              </a:rPr>
              <a:t>  </a:t>
            </a:r>
            <a:r>
              <a:rPr sz="2800" dirty="0">
                <a:latin typeface="Times New Roman"/>
                <a:cs typeface="Times New Roman"/>
              </a:rPr>
              <a:t>have</a:t>
            </a:r>
            <a:r>
              <a:rPr sz="2800" spc="185" dirty="0">
                <a:latin typeface="Times New Roman"/>
                <a:cs typeface="Times New Roman"/>
              </a:rPr>
              <a:t>  </a:t>
            </a:r>
            <a:r>
              <a:rPr sz="2800" dirty="0">
                <a:latin typeface="Times New Roman"/>
                <a:cs typeface="Times New Roman"/>
              </a:rPr>
              <a:t>two</a:t>
            </a:r>
            <a:r>
              <a:rPr sz="2800" spc="190" dirty="0">
                <a:latin typeface="Times New Roman"/>
                <a:cs typeface="Times New Roman"/>
              </a:rPr>
              <a:t>  </a:t>
            </a:r>
            <a:r>
              <a:rPr sz="2800" dirty="0">
                <a:latin typeface="Times New Roman"/>
                <a:cs typeface="Times New Roman"/>
              </a:rPr>
              <a:t>process</a:t>
            </a:r>
            <a:r>
              <a:rPr sz="2800" spc="195" dirty="0">
                <a:latin typeface="Times New Roman"/>
                <a:cs typeface="Times New Roman"/>
              </a:rPr>
              <a:t>  </a:t>
            </a:r>
            <a:r>
              <a:rPr sz="2800" dirty="0">
                <a:latin typeface="Times New Roman"/>
                <a:cs typeface="Times New Roman"/>
              </a:rPr>
              <a:t>at</a:t>
            </a:r>
            <a:r>
              <a:rPr sz="2800" spc="190" dirty="0">
                <a:latin typeface="Times New Roman"/>
                <a:cs typeface="Times New Roman"/>
              </a:rPr>
              <a:t>  </a:t>
            </a:r>
            <a:r>
              <a:rPr sz="2800" dirty="0">
                <a:latin typeface="Times New Roman"/>
                <a:cs typeface="Times New Roman"/>
              </a:rPr>
              <a:t>CR</a:t>
            </a:r>
            <a:r>
              <a:rPr sz="2800" spc="185" dirty="0">
                <a:latin typeface="Times New Roman"/>
                <a:cs typeface="Times New Roman"/>
              </a:rPr>
              <a:t>  </a:t>
            </a:r>
            <a:r>
              <a:rPr sz="2800" dirty="0">
                <a:latin typeface="Times New Roman"/>
                <a:cs typeface="Times New Roman"/>
              </a:rPr>
              <a:t>(violates</a:t>
            </a:r>
            <a:r>
              <a:rPr sz="2800" spc="190" dirty="0">
                <a:latin typeface="Times New Roman"/>
                <a:cs typeface="Times New Roman"/>
              </a:rPr>
              <a:t>  </a:t>
            </a:r>
            <a:r>
              <a:rPr sz="2800" spc="-10" dirty="0">
                <a:latin typeface="Times New Roman"/>
                <a:cs typeface="Times New Roman"/>
              </a:rPr>
              <a:t>mutual exclusion)</a:t>
            </a:r>
            <a:endParaRPr sz="2800" dirty="0">
              <a:latin typeface="Times New Roman"/>
              <a:cs typeface="Times New Roman"/>
            </a:endParaRPr>
          </a:p>
        </p:txBody>
      </p:sp>
      <p:sp>
        <p:nvSpPr>
          <p:cNvPr id="4" name="object 4"/>
          <p:cNvSpPr txBox="1">
            <a:spLocks noGrp="1"/>
          </p:cNvSpPr>
          <p:nvPr>
            <p:ph type="ftr" sz="quarter" idx="5"/>
          </p:nvPr>
        </p:nvSpPr>
        <p:spPr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12700">
              <a:lnSpc>
                <a:spcPts val="1240"/>
              </a:lnSpc>
            </a:pPr>
            <a:r>
              <a:rPr lang="pl-PL"/>
              <a:t>By Dr. Binod Kr. Adhikari</a:t>
            </a:r>
            <a:endParaRPr spc="-10" dirty="0"/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13335" rIns="0" bIns="0" rtlCol="0">
            <a:spAutoFit/>
          </a:bodyPr>
          <a:lstStyle/>
          <a:p>
            <a:pPr marL="12700" algn="ctr" rtl="0">
              <a:spcBef>
                <a:spcPts val="105"/>
              </a:spcBef>
            </a:pPr>
            <a:r>
              <a:rPr sz="3200" b="1" dirty="0">
                <a:solidFill>
                  <a:sysClr val="windowText" lastClr="000000"/>
                </a:solidFill>
                <a:latin typeface="+mj-lt"/>
                <a:cs typeface="+mj-cs"/>
              </a:rPr>
              <a:t>Strict Alternation</a:t>
            </a:r>
          </a:p>
        </p:txBody>
      </p:sp>
      <p:sp>
        <p:nvSpPr>
          <p:cNvPr id="4" name="object 4"/>
          <p:cNvSpPr txBox="1">
            <a:spLocks noGrp="1"/>
          </p:cNvSpPr>
          <p:nvPr>
            <p:ph type="ftr" sz="quarter" idx="5"/>
          </p:nvPr>
        </p:nvSpPr>
        <p:spPr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12700">
              <a:lnSpc>
                <a:spcPts val="1240"/>
              </a:lnSpc>
            </a:pPr>
            <a:r>
              <a:rPr lang="pl-PL"/>
              <a:t>By Dr. Binod Kr. Adhikari</a:t>
            </a:r>
            <a:endParaRPr spc="-10" dirty="0"/>
          </a:p>
        </p:txBody>
      </p:sp>
      <p:sp>
        <p:nvSpPr>
          <p:cNvPr id="3" name="object 3"/>
          <p:cNvSpPr txBox="1"/>
          <p:nvPr/>
        </p:nvSpPr>
        <p:spPr>
          <a:xfrm>
            <a:off x="535303" y="1865431"/>
            <a:ext cx="8073390" cy="3127138"/>
          </a:xfrm>
          <a:prstGeom prst="rect">
            <a:avLst/>
          </a:prstGeom>
        </p:spPr>
        <p:txBody>
          <a:bodyPr vert="horz" wrap="square" lIns="0" tIns="13335" rIns="0" bIns="0" rtlCol="0">
            <a:spAutoFit/>
          </a:bodyPr>
          <a:lstStyle/>
          <a:p>
            <a:pPr marL="354965" indent="-342265">
              <a:lnSpc>
                <a:spcPct val="100000"/>
              </a:lnSpc>
              <a:spcBef>
                <a:spcPts val="105"/>
              </a:spcBef>
              <a:buFont typeface="Arial"/>
              <a:buChar char="•"/>
              <a:tabLst>
                <a:tab pos="354965" algn="l"/>
                <a:tab pos="2181225" algn="l"/>
                <a:tab pos="3284854" algn="l"/>
                <a:tab pos="3710304" algn="l"/>
                <a:tab pos="5377815" algn="l"/>
                <a:tab pos="6749415" algn="l"/>
              </a:tabLst>
            </a:pPr>
            <a:r>
              <a:rPr sz="3200" spc="-10" dirty="0">
                <a:latin typeface="Times New Roman"/>
                <a:cs typeface="Times New Roman"/>
              </a:rPr>
              <a:t>Processes</a:t>
            </a:r>
            <a:r>
              <a:rPr sz="3200" dirty="0">
                <a:latin typeface="Times New Roman"/>
                <a:cs typeface="Times New Roman"/>
              </a:rPr>
              <a:t>	</a:t>
            </a:r>
            <a:r>
              <a:rPr sz="3200" spc="-20" dirty="0">
                <a:latin typeface="Times New Roman"/>
                <a:cs typeface="Times New Roman"/>
              </a:rPr>
              <a:t>share</a:t>
            </a:r>
            <a:r>
              <a:rPr sz="3200" dirty="0">
                <a:latin typeface="Times New Roman"/>
                <a:cs typeface="Times New Roman"/>
              </a:rPr>
              <a:t>	</a:t>
            </a:r>
            <a:r>
              <a:rPr sz="3200" spc="-50" dirty="0">
                <a:latin typeface="Times New Roman"/>
                <a:cs typeface="Times New Roman"/>
              </a:rPr>
              <a:t>a</a:t>
            </a:r>
            <a:r>
              <a:rPr sz="3200" dirty="0">
                <a:latin typeface="Times New Roman"/>
                <a:cs typeface="Times New Roman"/>
              </a:rPr>
              <a:t>	</a:t>
            </a:r>
            <a:r>
              <a:rPr sz="3200" spc="-10" dirty="0">
                <a:latin typeface="Times New Roman"/>
                <a:cs typeface="Times New Roman"/>
              </a:rPr>
              <a:t>common</a:t>
            </a:r>
            <a:r>
              <a:rPr sz="3200" dirty="0">
                <a:latin typeface="Times New Roman"/>
                <a:cs typeface="Times New Roman"/>
              </a:rPr>
              <a:t>	</a:t>
            </a:r>
            <a:r>
              <a:rPr sz="3200" spc="-10" dirty="0">
                <a:latin typeface="Times New Roman"/>
                <a:cs typeface="Times New Roman"/>
              </a:rPr>
              <a:t>integer</a:t>
            </a:r>
            <a:r>
              <a:rPr sz="3200" dirty="0">
                <a:latin typeface="Times New Roman"/>
                <a:cs typeface="Times New Roman"/>
              </a:rPr>
              <a:t>	</a:t>
            </a:r>
            <a:r>
              <a:rPr sz="3200" spc="-10" dirty="0">
                <a:latin typeface="Times New Roman"/>
                <a:cs typeface="Times New Roman"/>
              </a:rPr>
              <a:t>variable</a:t>
            </a:r>
            <a:endParaRPr sz="3200" dirty="0">
              <a:latin typeface="Times New Roman"/>
              <a:cs typeface="Times New Roman"/>
            </a:endParaRPr>
          </a:p>
          <a:p>
            <a:pPr marL="355600">
              <a:lnSpc>
                <a:spcPct val="100000"/>
              </a:lnSpc>
            </a:pPr>
            <a:r>
              <a:rPr sz="3200" i="1" spc="-10" dirty="0">
                <a:latin typeface="Times New Roman"/>
                <a:cs typeface="Times New Roman"/>
              </a:rPr>
              <a:t>turn</a:t>
            </a:r>
            <a:r>
              <a:rPr sz="3200" spc="-10" dirty="0">
                <a:latin typeface="Times New Roman"/>
                <a:cs typeface="Times New Roman"/>
              </a:rPr>
              <a:t>.</a:t>
            </a:r>
            <a:endParaRPr sz="3200" dirty="0">
              <a:latin typeface="Times New Roman"/>
              <a:cs typeface="Times New Roman"/>
            </a:endParaRPr>
          </a:p>
          <a:p>
            <a:pPr marL="355600">
              <a:lnSpc>
                <a:spcPct val="100000"/>
              </a:lnSpc>
              <a:spcBef>
                <a:spcPts val="5"/>
              </a:spcBef>
            </a:pPr>
            <a:r>
              <a:rPr sz="3200" i="1" dirty="0">
                <a:latin typeface="Times New Roman"/>
                <a:cs typeface="Times New Roman"/>
              </a:rPr>
              <a:t>If</a:t>
            </a:r>
            <a:r>
              <a:rPr sz="3200" i="1" spc="-45" dirty="0">
                <a:latin typeface="Times New Roman"/>
                <a:cs typeface="Times New Roman"/>
              </a:rPr>
              <a:t> </a:t>
            </a:r>
            <a:r>
              <a:rPr sz="3200" i="1" dirty="0">
                <a:latin typeface="Times New Roman"/>
                <a:cs typeface="Times New Roman"/>
              </a:rPr>
              <a:t>turn</a:t>
            </a:r>
            <a:r>
              <a:rPr sz="3200" i="1" spc="-15" dirty="0">
                <a:latin typeface="Times New Roman"/>
                <a:cs typeface="Times New Roman"/>
              </a:rPr>
              <a:t> </a:t>
            </a:r>
            <a:r>
              <a:rPr sz="3200" i="1" dirty="0">
                <a:latin typeface="Times New Roman"/>
                <a:cs typeface="Times New Roman"/>
              </a:rPr>
              <a:t>==</a:t>
            </a:r>
            <a:r>
              <a:rPr sz="3200" i="1" spc="-15" dirty="0">
                <a:latin typeface="Times New Roman"/>
                <a:cs typeface="Times New Roman"/>
              </a:rPr>
              <a:t> </a:t>
            </a:r>
            <a:r>
              <a:rPr sz="3200" i="1" spc="-50" dirty="0">
                <a:latin typeface="Times New Roman"/>
                <a:cs typeface="Times New Roman"/>
              </a:rPr>
              <a:t>i</a:t>
            </a:r>
            <a:endParaRPr sz="3200" dirty="0">
              <a:latin typeface="Times New Roman"/>
              <a:cs typeface="Times New Roman"/>
            </a:endParaRPr>
          </a:p>
          <a:p>
            <a:pPr marL="927100">
              <a:lnSpc>
                <a:spcPct val="100000"/>
              </a:lnSpc>
              <a:spcBef>
                <a:spcPts val="675"/>
              </a:spcBef>
            </a:pPr>
            <a:r>
              <a:rPr sz="2800" i="1" dirty="0">
                <a:latin typeface="Times New Roman"/>
                <a:cs typeface="Times New Roman"/>
              </a:rPr>
              <a:t>Then</a:t>
            </a:r>
            <a:r>
              <a:rPr sz="2800" i="1" spc="-45" dirty="0">
                <a:latin typeface="Times New Roman"/>
                <a:cs typeface="Times New Roman"/>
              </a:rPr>
              <a:t> </a:t>
            </a:r>
            <a:r>
              <a:rPr sz="2800" i="1" dirty="0">
                <a:latin typeface="Times New Roman"/>
                <a:cs typeface="Times New Roman"/>
              </a:rPr>
              <a:t>process</a:t>
            </a:r>
            <a:r>
              <a:rPr sz="2800" i="1" spc="-40" dirty="0">
                <a:latin typeface="Times New Roman"/>
                <a:cs typeface="Times New Roman"/>
              </a:rPr>
              <a:t> </a:t>
            </a:r>
            <a:r>
              <a:rPr sz="2800" i="1" dirty="0">
                <a:latin typeface="Times New Roman"/>
                <a:cs typeface="Times New Roman"/>
              </a:rPr>
              <a:t>Pi</a:t>
            </a:r>
            <a:r>
              <a:rPr sz="2800" i="1" spc="-25" dirty="0">
                <a:latin typeface="Times New Roman"/>
                <a:cs typeface="Times New Roman"/>
              </a:rPr>
              <a:t> </a:t>
            </a:r>
            <a:r>
              <a:rPr sz="2800" i="1" dirty="0">
                <a:latin typeface="Times New Roman"/>
                <a:cs typeface="Times New Roman"/>
              </a:rPr>
              <a:t>is</a:t>
            </a:r>
            <a:r>
              <a:rPr sz="2800" i="1" spc="-40" dirty="0">
                <a:latin typeface="Times New Roman"/>
                <a:cs typeface="Times New Roman"/>
              </a:rPr>
              <a:t> </a:t>
            </a:r>
            <a:r>
              <a:rPr sz="2800" i="1" dirty="0">
                <a:latin typeface="Times New Roman"/>
                <a:cs typeface="Times New Roman"/>
              </a:rPr>
              <a:t>allowed</a:t>
            </a:r>
            <a:r>
              <a:rPr sz="2800" i="1" spc="-35" dirty="0">
                <a:latin typeface="Times New Roman"/>
                <a:cs typeface="Times New Roman"/>
              </a:rPr>
              <a:t> </a:t>
            </a:r>
            <a:r>
              <a:rPr sz="2800" i="1" dirty="0">
                <a:latin typeface="Times New Roman"/>
                <a:cs typeface="Times New Roman"/>
              </a:rPr>
              <a:t>to</a:t>
            </a:r>
            <a:r>
              <a:rPr sz="2800" i="1" spc="-35" dirty="0">
                <a:latin typeface="Times New Roman"/>
                <a:cs typeface="Times New Roman"/>
              </a:rPr>
              <a:t> </a:t>
            </a:r>
            <a:r>
              <a:rPr sz="2800" i="1" dirty="0">
                <a:latin typeface="Times New Roman"/>
                <a:cs typeface="Times New Roman"/>
              </a:rPr>
              <a:t>execute</a:t>
            </a:r>
            <a:r>
              <a:rPr sz="2800" i="1" spc="-35" dirty="0">
                <a:latin typeface="Times New Roman"/>
                <a:cs typeface="Times New Roman"/>
              </a:rPr>
              <a:t> </a:t>
            </a:r>
            <a:r>
              <a:rPr sz="2800" i="1" dirty="0">
                <a:latin typeface="Times New Roman"/>
                <a:cs typeface="Times New Roman"/>
              </a:rPr>
              <a:t>in</a:t>
            </a:r>
            <a:r>
              <a:rPr sz="2800" i="1" spc="-30" dirty="0">
                <a:latin typeface="Times New Roman"/>
                <a:cs typeface="Times New Roman"/>
              </a:rPr>
              <a:t> </a:t>
            </a:r>
            <a:r>
              <a:rPr sz="2800" i="1" dirty="0">
                <a:latin typeface="Times New Roman"/>
                <a:cs typeface="Times New Roman"/>
              </a:rPr>
              <a:t>its</a:t>
            </a:r>
            <a:r>
              <a:rPr sz="2800" i="1" spc="-45" dirty="0">
                <a:latin typeface="Times New Roman"/>
                <a:cs typeface="Times New Roman"/>
              </a:rPr>
              <a:t> </a:t>
            </a:r>
            <a:r>
              <a:rPr sz="2800" i="1" spc="-25" dirty="0">
                <a:latin typeface="Times New Roman"/>
                <a:cs typeface="Times New Roman"/>
              </a:rPr>
              <a:t>CR,</a:t>
            </a:r>
            <a:endParaRPr sz="2800" dirty="0">
              <a:latin typeface="Times New Roman"/>
              <a:cs typeface="Times New Roman"/>
            </a:endParaRPr>
          </a:p>
          <a:p>
            <a:pPr marL="469900">
              <a:lnSpc>
                <a:spcPct val="100000"/>
              </a:lnSpc>
              <a:spcBef>
                <a:spcPts val="765"/>
              </a:spcBef>
            </a:pPr>
            <a:r>
              <a:rPr sz="3200" i="1" dirty="0">
                <a:latin typeface="Times New Roman"/>
                <a:cs typeface="Times New Roman"/>
              </a:rPr>
              <a:t>if</a:t>
            </a:r>
            <a:r>
              <a:rPr sz="3200" i="1" spc="-30" dirty="0">
                <a:latin typeface="Times New Roman"/>
                <a:cs typeface="Times New Roman"/>
              </a:rPr>
              <a:t> </a:t>
            </a:r>
            <a:r>
              <a:rPr sz="3200" i="1" dirty="0">
                <a:latin typeface="Times New Roman"/>
                <a:cs typeface="Times New Roman"/>
              </a:rPr>
              <a:t>turn</a:t>
            </a:r>
            <a:r>
              <a:rPr sz="3200" i="1" spc="-30" dirty="0">
                <a:latin typeface="Times New Roman"/>
                <a:cs typeface="Times New Roman"/>
              </a:rPr>
              <a:t> </a:t>
            </a:r>
            <a:r>
              <a:rPr sz="3200" i="1" dirty="0">
                <a:latin typeface="Times New Roman"/>
                <a:cs typeface="Times New Roman"/>
              </a:rPr>
              <a:t>==</a:t>
            </a:r>
            <a:r>
              <a:rPr sz="3200" i="1" spc="-15" dirty="0">
                <a:latin typeface="Times New Roman"/>
                <a:cs typeface="Times New Roman"/>
              </a:rPr>
              <a:t> </a:t>
            </a:r>
            <a:r>
              <a:rPr sz="2800" i="1" spc="-50" dirty="0">
                <a:latin typeface="Times New Roman"/>
                <a:cs typeface="Times New Roman"/>
              </a:rPr>
              <a:t>j</a:t>
            </a:r>
            <a:endParaRPr sz="2800" dirty="0">
              <a:latin typeface="Times New Roman"/>
              <a:cs typeface="Times New Roman"/>
            </a:endParaRPr>
          </a:p>
          <a:p>
            <a:pPr marL="927100">
              <a:lnSpc>
                <a:spcPct val="100000"/>
              </a:lnSpc>
              <a:spcBef>
                <a:spcPts val="675"/>
              </a:spcBef>
            </a:pPr>
            <a:r>
              <a:rPr sz="2800" i="1" dirty="0">
                <a:latin typeface="Times New Roman"/>
                <a:cs typeface="Times New Roman"/>
              </a:rPr>
              <a:t>then</a:t>
            </a:r>
            <a:r>
              <a:rPr sz="2800" i="1" spc="-60" dirty="0">
                <a:latin typeface="Times New Roman"/>
                <a:cs typeface="Times New Roman"/>
              </a:rPr>
              <a:t> </a:t>
            </a:r>
            <a:r>
              <a:rPr sz="2800" i="1" dirty="0">
                <a:latin typeface="Times New Roman"/>
                <a:cs typeface="Times New Roman"/>
              </a:rPr>
              <a:t>process</a:t>
            </a:r>
            <a:r>
              <a:rPr sz="2800" i="1" spc="-35" dirty="0">
                <a:latin typeface="Times New Roman"/>
                <a:cs typeface="Times New Roman"/>
              </a:rPr>
              <a:t> </a:t>
            </a:r>
            <a:r>
              <a:rPr sz="2800" i="1" dirty="0">
                <a:latin typeface="Times New Roman"/>
                <a:cs typeface="Times New Roman"/>
              </a:rPr>
              <a:t>Pj</a:t>
            </a:r>
            <a:r>
              <a:rPr sz="2800" i="1" spc="-40" dirty="0">
                <a:latin typeface="Times New Roman"/>
                <a:cs typeface="Times New Roman"/>
              </a:rPr>
              <a:t> </a:t>
            </a:r>
            <a:r>
              <a:rPr sz="2800" i="1" dirty="0">
                <a:latin typeface="Times New Roman"/>
                <a:cs typeface="Times New Roman"/>
              </a:rPr>
              <a:t>is</a:t>
            </a:r>
            <a:r>
              <a:rPr sz="2800" i="1" spc="-35" dirty="0">
                <a:latin typeface="Times New Roman"/>
                <a:cs typeface="Times New Roman"/>
              </a:rPr>
              <a:t> </a:t>
            </a:r>
            <a:r>
              <a:rPr sz="2800" i="1" dirty="0">
                <a:latin typeface="Times New Roman"/>
                <a:cs typeface="Times New Roman"/>
              </a:rPr>
              <a:t>allowed</a:t>
            </a:r>
            <a:r>
              <a:rPr sz="2800" i="1" spc="-40" dirty="0">
                <a:latin typeface="Times New Roman"/>
                <a:cs typeface="Times New Roman"/>
              </a:rPr>
              <a:t> </a:t>
            </a:r>
            <a:r>
              <a:rPr sz="2800" i="1" dirty="0">
                <a:latin typeface="Times New Roman"/>
                <a:cs typeface="Times New Roman"/>
              </a:rPr>
              <a:t>to</a:t>
            </a:r>
            <a:r>
              <a:rPr sz="2800" i="1" spc="-50" dirty="0">
                <a:latin typeface="Times New Roman"/>
                <a:cs typeface="Times New Roman"/>
              </a:rPr>
              <a:t> </a:t>
            </a:r>
            <a:r>
              <a:rPr sz="2800" i="1" spc="-10" dirty="0">
                <a:latin typeface="Times New Roman"/>
                <a:cs typeface="Times New Roman"/>
              </a:rPr>
              <a:t>execute.</a:t>
            </a:r>
            <a:endParaRPr sz="2800" dirty="0">
              <a:latin typeface="Times New Roman"/>
              <a:cs typeface="Times New Roman"/>
            </a:endParaRP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object 6"/>
          <p:cNvSpPr txBox="1">
            <a:spLocks noGrp="1"/>
          </p:cNvSpPr>
          <p:nvPr>
            <p:ph type="ftr" sz="quarter" idx="5"/>
          </p:nvPr>
        </p:nvSpPr>
        <p:spPr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12700">
              <a:lnSpc>
                <a:spcPts val="1240"/>
              </a:lnSpc>
            </a:pPr>
            <a:r>
              <a:rPr lang="pl-PL"/>
              <a:t>By Dr. Binod Kr. Adhikari</a:t>
            </a:r>
            <a:endParaRPr spc="-10" dirty="0"/>
          </a:p>
        </p:txBody>
      </p:sp>
      <p:sp>
        <p:nvSpPr>
          <p:cNvPr id="2" name="object 2"/>
          <p:cNvSpPr txBox="1"/>
          <p:nvPr/>
        </p:nvSpPr>
        <p:spPr>
          <a:xfrm>
            <a:off x="535940" y="2376042"/>
            <a:ext cx="3062605" cy="222123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283845" marR="5080" indent="-271780">
              <a:lnSpc>
                <a:spcPct val="100000"/>
              </a:lnSpc>
              <a:spcBef>
                <a:spcPts val="100"/>
              </a:spcBef>
            </a:pPr>
            <a:r>
              <a:rPr sz="2400" dirty="0">
                <a:latin typeface="Calibri"/>
                <a:cs typeface="Calibri"/>
              </a:rPr>
              <a:t>While</a:t>
            </a:r>
            <a:r>
              <a:rPr sz="2400" spc="-70" dirty="0">
                <a:latin typeface="Calibri"/>
                <a:cs typeface="Calibri"/>
              </a:rPr>
              <a:t> </a:t>
            </a:r>
            <a:r>
              <a:rPr sz="2400" spc="-10" dirty="0">
                <a:latin typeface="Calibri"/>
                <a:cs typeface="Calibri"/>
              </a:rPr>
              <a:t>(true){ </a:t>
            </a:r>
            <a:r>
              <a:rPr sz="2400" dirty="0">
                <a:latin typeface="Calibri"/>
                <a:cs typeface="Calibri"/>
              </a:rPr>
              <a:t>while(turn!=i);</a:t>
            </a:r>
            <a:r>
              <a:rPr sz="2400" spc="-65" dirty="0">
                <a:latin typeface="Calibri"/>
                <a:cs typeface="Calibri"/>
              </a:rPr>
              <a:t> </a:t>
            </a:r>
            <a:r>
              <a:rPr sz="2000" spc="-10" dirty="0">
                <a:latin typeface="Calibri"/>
                <a:cs typeface="Calibri"/>
              </a:rPr>
              <a:t>/*loop*/</a:t>
            </a:r>
            <a:endParaRPr sz="2000">
              <a:latin typeface="Calibri"/>
              <a:cs typeface="Calibri"/>
            </a:endParaRPr>
          </a:p>
          <a:p>
            <a:pPr marL="283845" marR="292735" indent="341630">
              <a:lnSpc>
                <a:spcPct val="100000"/>
              </a:lnSpc>
            </a:pPr>
            <a:r>
              <a:rPr sz="2400" spc="-10" dirty="0">
                <a:latin typeface="Calibri"/>
                <a:cs typeface="Calibri"/>
              </a:rPr>
              <a:t>critical_section(); </a:t>
            </a:r>
            <a:r>
              <a:rPr sz="2400" dirty="0">
                <a:latin typeface="Calibri"/>
                <a:cs typeface="Calibri"/>
              </a:rPr>
              <a:t>turn</a:t>
            </a:r>
            <a:r>
              <a:rPr sz="2400" spc="-15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=</a:t>
            </a:r>
            <a:r>
              <a:rPr sz="2400" spc="-20" dirty="0">
                <a:latin typeface="Calibri"/>
                <a:cs typeface="Calibri"/>
              </a:rPr>
              <a:t> </a:t>
            </a:r>
            <a:r>
              <a:rPr sz="2400" spc="-25" dirty="0">
                <a:latin typeface="Calibri"/>
                <a:cs typeface="Calibri"/>
              </a:rPr>
              <a:t>j;</a:t>
            </a:r>
            <a:endParaRPr sz="2400">
              <a:latin typeface="Calibri"/>
              <a:cs typeface="Calibri"/>
            </a:endParaRPr>
          </a:p>
          <a:p>
            <a:pPr marL="489584">
              <a:lnSpc>
                <a:spcPct val="100000"/>
              </a:lnSpc>
            </a:pPr>
            <a:r>
              <a:rPr sz="2400" spc="-10" dirty="0">
                <a:latin typeface="Calibri"/>
                <a:cs typeface="Calibri"/>
              </a:rPr>
              <a:t>noncritical_section</a:t>
            </a:r>
            <a:endParaRPr sz="2400">
              <a:latin typeface="Calibri"/>
              <a:cs typeface="Calibri"/>
            </a:endParaRPr>
          </a:p>
          <a:p>
            <a:pPr marL="12700">
              <a:lnSpc>
                <a:spcPct val="100000"/>
              </a:lnSpc>
              <a:spcBef>
                <a:spcPts val="5"/>
              </a:spcBef>
            </a:pPr>
            <a:r>
              <a:rPr sz="2400" spc="-50" dirty="0">
                <a:latin typeface="Calibri"/>
                <a:cs typeface="Calibri"/>
              </a:rPr>
              <a:t>}</a:t>
            </a:r>
            <a:endParaRPr sz="2400">
              <a:latin typeface="Calibri"/>
              <a:cs typeface="Calibri"/>
            </a:endParaRPr>
          </a:p>
        </p:txBody>
      </p:sp>
      <p:sp>
        <p:nvSpPr>
          <p:cNvPr id="3" name="object 3"/>
          <p:cNvSpPr txBox="1"/>
          <p:nvPr/>
        </p:nvSpPr>
        <p:spPr>
          <a:xfrm>
            <a:off x="535940" y="4936997"/>
            <a:ext cx="2801620" cy="39116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2400" dirty="0">
                <a:latin typeface="Calibri"/>
                <a:cs typeface="Calibri"/>
              </a:rPr>
              <a:t>Structure</a:t>
            </a:r>
            <a:r>
              <a:rPr sz="2400" spc="-75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of</a:t>
            </a:r>
            <a:r>
              <a:rPr sz="2400" spc="-55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Process</a:t>
            </a:r>
            <a:r>
              <a:rPr sz="2400" spc="-65" dirty="0">
                <a:latin typeface="Calibri"/>
                <a:cs typeface="Calibri"/>
              </a:rPr>
              <a:t> </a:t>
            </a:r>
            <a:r>
              <a:rPr sz="2400" spc="-25" dirty="0">
                <a:latin typeface="Calibri"/>
                <a:cs typeface="Calibri"/>
              </a:rPr>
              <a:t>Pi</a:t>
            </a:r>
            <a:endParaRPr sz="2400">
              <a:latin typeface="Calibri"/>
              <a:cs typeface="Calibri"/>
            </a:endParaRPr>
          </a:p>
        </p:txBody>
      </p:sp>
      <p:sp>
        <p:nvSpPr>
          <p:cNvPr id="4" name="object 4"/>
          <p:cNvSpPr txBox="1"/>
          <p:nvPr/>
        </p:nvSpPr>
        <p:spPr>
          <a:xfrm>
            <a:off x="4727575" y="2376932"/>
            <a:ext cx="3192780" cy="222059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283845" marR="130175" indent="-271780">
              <a:lnSpc>
                <a:spcPct val="100000"/>
              </a:lnSpc>
              <a:spcBef>
                <a:spcPts val="100"/>
              </a:spcBef>
            </a:pPr>
            <a:r>
              <a:rPr sz="2400" dirty="0">
                <a:latin typeface="Calibri"/>
                <a:cs typeface="Calibri"/>
              </a:rPr>
              <a:t>While</a:t>
            </a:r>
            <a:r>
              <a:rPr sz="2400" spc="-65" dirty="0">
                <a:latin typeface="Calibri"/>
                <a:cs typeface="Calibri"/>
              </a:rPr>
              <a:t> </a:t>
            </a:r>
            <a:r>
              <a:rPr sz="2400" spc="-10" dirty="0">
                <a:latin typeface="Calibri"/>
                <a:cs typeface="Calibri"/>
              </a:rPr>
              <a:t>(true){ </a:t>
            </a:r>
            <a:r>
              <a:rPr sz="2400" dirty="0">
                <a:latin typeface="Calibri"/>
                <a:cs typeface="Calibri"/>
              </a:rPr>
              <a:t>while(turn!=j);</a:t>
            </a:r>
            <a:r>
              <a:rPr sz="2400" spc="-135" dirty="0">
                <a:latin typeface="Calibri"/>
                <a:cs typeface="Calibri"/>
              </a:rPr>
              <a:t> </a:t>
            </a:r>
            <a:r>
              <a:rPr sz="2000" spc="-10" dirty="0">
                <a:latin typeface="Calibri"/>
                <a:cs typeface="Calibri"/>
              </a:rPr>
              <a:t>/*loop*/</a:t>
            </a:r>
            <a:endParaRPr sz="2000">
              <a:latin typeface="Calibri"/>
              <a:cs typeface="Calibri"/>
            </a:endParaRPr>
          </a:p>
          <a:p>
            <a:pPr marL="352425" marR="81280" indent="614045">
              <a:lnSpc>
                <a:spcPct val="100000"/>
              </a:lnSpc>
            </a:pPr>
            <a:r>
              <a:rPr sz="2400" spc="-10" dirty="0">
                <a:latin typeface="Calibri"/>
                <a:cs typeface="Calibri"/>
              </a:rPr>
              <a:t>critical_section(); </a:t>
            </a:r>
            <a:r>
              <a:rPr sz="2400" dirty="0">
                <a:latin typeface="Calibri"/>
                <a:cs typeface="Calibri"/>
              </a:rPr>
              <a:t>turn</a:t>
            </a:r>
            <a:r>
              <a:rPr sz="2400" spc="-15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=</a:t>
            </a:r>
            <a:r>
              <a:rPr sz="2400" spc="-25" dirty="0">
                <a:latin typeface="Calibri"/>
                <a:cs typeface="Calibri"/>
              </a:rPr>
              <a:t> i;</a:t>
            </a:r>
            <a:endParaRPr sz="2400">
              <a:latin typeface="Calibri"/>
              <a:cs typeface="Calibri"/>
            </a:endParaRPr>
          </a:p>
          <a:p>
            <a:pPr marL="829310">
              <a:lnSpc>
                <a:spcPct val="100000"/>
              </a:lnSpc>
              <a:spcBef>
                <a:spcPts val="5"/>
              </a:spcBef>
            </a:pPr>
            <a:r>
              <a:rPr sz="2400" spc="-10" dirty="0">
                <a:latin typeface="Calibri"/>
                <a:cs typeface="Calibri"/>
              </a:rPr>
              <a:t>noncritical_section</a:t>
            </a:r>
            <a:endParaRPr sz="2400">
              <a:latin typeface="Calibri"/>
              <a:cs typeface="Calibri"/>
            </a:endParaRPr>
          </a:p>
          <a:p>
            <a:pPr marL="12700">
              <a:lnSpc>
                <a:spcPct val="100000"/>
              </a:lnSpc>
            </a:pPr>
            <a:r>
              <a:rPr sz="2400" spc="-50" dirty="0">
                <a:latin typeface="Calibri"/>
                <a:cs typeface="Calibri"/>
              </a:rPr>
              <a:t>}</a:t>
            </a:r>
            <a:endParaRPr sz="2400">
              <a:latin typeface="Calibri"/>
              <a:cs typeface="Calibri"/>
            </a:endParaRPr>
          </a:p>
        </p:txBody>
      </p:sp>
      <p:sp>
        <p:nvSpPr>
          <p:cNvPr id="5" name="object 5"/>
          <p:cNvSpPr txBox="1"/>
          <p:nvPr/>
        </p:nvSpPr>
        <p:spPr>
          <a:xfrm>
            <a:off x="4727575" y="4937836"/>
            <a:ext cx="2804160" cy="39179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2400" dirty="0">
                <a:latin typeface="Calibri"/>
                <a:cs typeface="Calibri"/>
              </a:rPr>
              <a:t>Structure</a:t>
            </a:r>
            <a:r>
              <a:rPr sz="2400" spc="-55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of</a:t>
            </a:r>
            <a:r>
              <a:rPr sz="2400" spc="-40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Process</a:t>
            </a:r>
            <a:r>
              <a:rPr sz="2400" spc="-70" dirty="0">
                <a:latin typeface="Calibri"/>
                <a:cs typeface="Calibri"/>
              </a:rPr>
              <a:t> </a:t>
            </a:r>
            <a:r>
              <a:rPr sz="2400" spc="-25" dirty="0">
                <a:latin typeface="Calibri"/>
                <a:cs typeface="Calibri"/>
              </a:rPr>
              <a:t>Pj</a:t>
            </a:r>
            <a:endParaRPr sz="2400">
              <a:latin typeface="Calibri"/>
              <a:cs typeface="Calibri"/>
            </a:endParaRPr>
          </a:p>
        </p:txBody>
      </p:sp>
      <p:sp>
        <p:nvSpPr>
          <p:cNvPr id="7" name="object 2">
            <a:extLst>
              <a:ext uri="{FF2B5EF4-FFF2-40B4-BE49-F238E27FC236}">
                <a16:creationId xmlns:a16="http://schemas.microsoft.com/office/drawing/2014/main" id="{2514F29E-8B12-4F91-BBC1-A9D52A02E4BB}"/>
              </a:ext>
            </a:extLst>
          </p:cNvPr>
          <p:cNvSpPr txBox="1">
            <a:spLocks/>
          </p:cNvSpPr>
          <p:nvPr/>
        </p:nvSpPr>
        <p:spPr>
          <a:xfrm>
            <a:off x="2175002" y="228600"/>
            <a:ext cx="4793995" cy="697230"/>
          </a:xfrm>
          <a:prstGeom prst="rect">
            <a:avLst/>
          </a:prstGeom>
        </p:spPr>
        <p:txBody>
          <a:bodyPr vert="horz" wrap="square" lIns="0" tIns="13335" rIns="0" bIns="0" rtlCol="0">
            <a:spAutoFit/>
          </a:bodyPr>
          <a:lstStyle>
            <a:lvl1pPr eaLnBrk="1" hangingPunct="1">
              <a:defRPr>
                <a:latin typeface="+mj-lt"/>
                <a:ea typeface="+mj-ea"/>
                <a:cs typeface="+mj-cs"/>
              </a:defRPr>
            </a:lvl1pPr>
          </a:lstStyle>
          <a:p>
            <a:pPr marL="12700" algn="ctr" rtl="0">
              <a:spcBef>
                <a:spcPts val="105"/>
              </a:spcBef>
            </a:pPr>
            <a:r>
              <a:rPr lang="en-IN" sz="3200" b="1" kern="0" dirty="0">
                <a:solidFill>
                  <a:sysClr val="windowText" lastClr="000000"/>
                </a:solidFill>
              </a:rPr>
              <a:t>Strict Alternation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xfrm>
            <a:off x="3982973" y="381000"/>
            <a:ext cx="1178560" cy="505908"/>
          </a:xfrm>
          <a:prstGeom prst="rect">
            <a:avLst/>
          </a:prstGeom>
        </p:spPr>
        <p:txBody>
          <a:bodyPr vert="horz" wrap="square" lIns="0" tIns="13335" rIns="0" bIns="0" rtlCol="0">
            <a:spAutoFit/>
          </a:bodyPr>
          <a:lstStyle/>
          <a:p>
            <a:pPr marL="12700" algn="ctr" rtl="0">
              <a:spcBef>
                <a:spcPts val="105"/>
              </a:spcBef>
            </a:pPr>
            <a:r>
              <a:rPr sz="3200" b="1" dirty="0">
                <a:solidFill>
                  <a:sysClr val="windowText" lastClr="000000"/>
                </a:solidFill>
                <a:latin typeface="+mj-lt"/>
                <a:cs typeface="+mj-cs"/>
              </a:rPr>
              <a:t>Facts</a:t>
            </a:r>
          </a:p>
        </p:txBody>
      </p:sp>
      <p:sp>
        <p:nvSpPr>
          <p:cNvPr id="4" name="object 4"/>
          <p:cNvSpPr txBox="1">
            <a:spLocks noGrp="1"/>
          </p:cNvSpPr>
          <p:nvPr>
            <p:ph type="ftr" sz="quarter" idx="5"/>
          </p:nvPr>
        </p:nvSpPr>
        <p:spPr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12700">
              <a:lnSpc>
                <a:spcPts val="1240"/>
              </a:lnSpc>
            </a:pPr>
            <a:r>
              <a:rPr lang="pl-PL"/>
              <a:t>By Dr. Binod Kr. Adhikari</a:t>
            </a:r>
            <a:endParaRPr spc="-10" dirty="0"/>
          </a:p>
        </p:txBody>
      </p:sp>
      <p:sp>
        <p:nvSpPr>
          <p:cNvPr id="3" name="object 3"/>
          <p:cNvSpPr txBox="1"/>
          <p:nvPr/>
        </p:nvSpPr>
        <p:spPr>
          <a:xfrm>
            <a:off x="535940" y="1619833"/>
            <a:ext cx="7991475" cy="3441065"/>
          </a:xfrm>
          <a:prstGeom prst="rect">
            <a:avLst/>
          </a:prstGeom>
        </p:spPr>
        <p:txBody>
          <a:bodyPr vert="horz" wrap="square" lIns="0" tIns="13335" rIns="0" bIns="0" rtlCol="0">
            <a:spAutoFit/>
          </a:bodyPr>
          <a:lstStyle/>
          <a:p>
            <a:pPr marL="355600" marR="5080" indent="-342900">
              <a:lnSpc>
                <a:spcPct val="100000"/>
              </a:lnSpc>
              <a:spcBef>
                <a:spcPts val="105"/>
              </a:spcBef>
            </a:pPr>
            <a:r>
              <a:rPr sz="3200" i="1" spc="-10" dirty="0">
                <a:latin typeface="Times New Roman"/>
                <a:cs typeface="Times New Roman"/>
              </a:rPr>
              <a:t>Ensures</a:t>
            </a:r>
            <a:r>
              <a:rPr sz="3200" i="1" spc="-50" dirty="0">
                <a:latin typeface="Times New Roman"/>
                <a:cs typeface="Times New Roman"/>
              </a:rPr>
              <a:t> </a:t>
            </a:r>
            <a:r>
              <a:rPr sz="3200" i="1" dirty="0">
                <a:latin typeface="Times New Roman"/>
                <a:cs typeface="Times New Roman"/>
              </a:rPr>
              <a:t>that</a:t>
            </a:r>
            <a:r>
              <a:rPr sz="3200" i="1" spc="-45" dirty="0">
                <a:latin typeface="Times New Roman"/>
                <a:cs typeface="Times New Roman"/>
              </a:rPr>
              <a:t> </a:t>
            </a:r>
            <a:r>
              <a:rPr sz="3200" i="1" dirty="0">
                <a:latin typeface="Times New Roman"/>
                <a:cs typeface="Times New Roman"/>
              </a:rPr>
              <a:t>only</a:t>
            </a:r>
            <a:r>
              <a:rPr sz="3200" i="1" spc="-40" dirty="0">
                <a:latin typeface="Times New Roman"/>
                <a:cs typeface="Times New Roman"/>
              </a:rPr>
              <a:t> </a:t>
            </a:r>
            <a:r>
              <a:rPr sz="3200" i="1" dirty="0">
                <a:latin typeface="Times New Roman"/>
                <a:cs typeface="Times New Roman"/>
              </a:rPr>
              <a:t>one</a:t>
            </a:r>
            <a:r>
              <a:rPr sz="3200" i="1" spc="-20" dirty="0">
                <a:latin typeface="Times New Roman"/>
                <a:cs typeface="Times New Roman"/>
              </a:rPr>
              <a:t> </a:t>
            </a:r>
            <a:r>
              <a:rPr sz="3200" i="1" spc="-10" dirty="0">
                <a:latin typeface="Times New Roman"/>
                <a:cs typeface="Times New Roman"/>
              </a:rPr>
              <a:t>process</a:t>
            </a:r>
            <a:r>
              <a:rPr sz="3200" i="1" spc="-45" dirty="0">
                <a:latin typeface="Times New Roman"/>
                <a:cs typeface="Times New Roman"/>
              </a:rPr>
              <a:t> </a:t>
            </a:r>
            <a:r>
              <a:rPr sz="3200" i="1" dirty="0">
                <a:latin typeface="Times New Roman"/>
                <a:cs typeface="Times New Roman"/>
              </a:rPr>
              <a:t>at</a:t>
            </a:r>
            <a:r>
              <a:rPr sz="3200" i="1" spc="-25" dirty="0">
                <a:latin typeface="Times New Roman"/>
                <a:cs typeface="Times New Roman"/>
              </a:rPr>
              <a:t> </a:t>
            </a:r>
            <a:r>
              <a:rPr sz="3200" i="1" dirty="0">
                <a:latin typeface="Times New Roman"/>
                <a:cs typeface="Times New Roman"/>
              </a:rPr>
              <a:t>a</a:t>
            </a:r>
            <a:r>
              <a:rPr sz="3200" i="1" spc="-40" dirty="0">
                <a:latin typeface="Times New Roman"/>
                <a:cs typeface="Times New Roman"/>
              </a:rPr>
              <a:t> </a:t>
            </a:r>
            <a:r>
              <a:rPr sz="3200" i="1" dirty="0">
                <a:latin typeface="Times New Roman"/>
                <a:cs typeface="Times New Roman"/>
              </a:rPr>
              <a:t>time</a:t>
            </a:r>
            <a:r>
              <a:rPr sz="3200" i="1" spc="-35" dirty="0">
                <a:latin typeface="Times New Roman"/>
                <a:cs typeface="Times New Roman"/>
              </a:rPr>
              <a:t> </a:t>
            </a:r>
            <a:r>
              <a:rPr sz="3200" i="1" dirty="0">
                <a:latin typeface="Times New Roman"/>
                <a:cs typeface="Times New Roman"/>
              </a:rPr>
              <a:t>can</a:t>
            </a:r>
            <a:r>
              <a:rPr sz="3200" i="1" spc="-40" dirty="0">
                <a:latin typeface="Times New Roman"/>
                <a:cs typeface="Times New Roman"/>
              </a:rPr>
              <a:t> </a:t>
            </a:r>
            <a:r>
              <a:rPr sz="3200" i="1" dirty="0">
                <a:latin typeface="Times New Roman"/>
                <a:cs typeface="Times New Roman"/>
              </a:rPr>
              <a:t>be</a:t>
            </a:r>
            <a:r>
              <a:rPr sz="3200" i="1" spc="-25" dirty="0">
                <a:latin typeface="Times New Roman"/>
                <a:cs typeface="Times New Roman"/>
              </a:rPr>
              <a:t> in </a:t>
            </a:r>
            <a:r>
              <a:rPr sz="3200" i="1" dirty="0">
                <a:latin typeface="Times New Roman"/>
                <a:cs typeface="Times New Roman"/>
              </a:rPr>
              <a:t>its</a:t>
            </a:r>
            <a:r>
              <a:rPr sz="3200" i="1" spc="-25" dirty="0">
                <a:latin typeface="Times New Roman"/>
                <a:cs typeface="Times New Roman"/>
              </a:rPr>
              <a:t> CR.</a:t>
            </a:r>
            <a:endParaRPr sz="3200">
              <a:latin typeface="Times New Roman"/>
              <a:cs typeface="Times New Roman"/>
            </a:endParaRPr>
          </a:p>
          <a:p>
            <a:pPr marL="355600" marR="111125" indent="-342900" algn="just">
              <a:lnSpc>
                <a:spcPct val="100000"/>
              </a:lnSpc>
              <a:spcBef>
                <a:spcPts val="770"/>
              </a:spcBef>
              <a:buFont typeface="Arial"/>
              <a:buChar char="•"/>
              <a:tabLst>
                <a:tab pos="355600" algn="l"/>
              </a:tabLst>
            </a:pPr>
            <a:r>
              <a:rPr sz="3200" dirty="0">
                <a:latin typeface="Times New Roman"/>
                <a:cs typeface="Times New Roman"/>
              </a:rPr>
              <a:t>Problems:</a:t>
            </a:r>
            <a:r>
              <a:rPr sz="3200" spc="-60" dirty="0">
                <a:latin typeface="Times New Roman"/>
                <a:cs typeface="Times New Roman"/>
              </a:rPr>
              <a:t> </a:t>
            </a:r>
            <a:r>
              <a:rPr sz="3200" dirty="0">
                <a:latin typeface="Times New Roman"/>
                <a:cs typeface="Times New Roman"/>
              </a:rPr>
              <a:t>strict</a:t>
            </a:r>
            <a:r>
              <a:rPr sz="3200" spc="-15" dirty="0">
                <a:latin typeface="Times New Roman"/>
                <a:cs typeface="Times New Roman"/>
              </a:rPr>
              <a:t> </a:t>
            </a:r>
            <a:r>
              <a:rPr sz="3200" dirty="0">
                <a:latin typeface="Times New Roman"/>
                <a:cs typeface="Times New Roman"/>
              </a:rPr>
              <a:t>alternation</a:t>
            </a:r>
            <a:r>
              <a:rPr sz="3200" spc="-45" dirty="0">
                <a:latin typeface="Times New Roman"/>
                <a:cs typeface="Times New Roman"/>
              </a:rPr>
              <a:t> </a:t>
            </a:r>
            <a:r>
              <a:rPr sz="3200" dirty="0">
                <a:latin typeface="Times New Roman"/>
                <a:cs typeface="Times New Roman"/>
              </a:rPr>
              <a:t>of</a:t>
            </a:r>
            <a:r>
              <a:rPr sz="3200" spc="-15" dirty="0">
                <a:latin typeface="Times New Roman"/>
                <a:cs typeface="Times New Roman"/>
              </a:rPr>
              <a:t> </a:t>
            </a:r>
            <a:r>
              <a:rPr sz="3200" dirty="0">
                <a:latin typeface="Times New Roman"/>
                <a:cs typeface="Times New Roman"/>
              </a:rPr>
              <a:t>processes</a:t>
            </a:r>
            <a:r>
              <a:rPr sz="3200" spc="-45" dirty="0">
                <a:latin typeface="Times New Roman"/>
                <a:cs typeface="Times New Roman"/>
              </a:rPr>
              <a:t> </a:t>
            </a:r>
            <a:r>
              <a:rPr sz="3200" dirty="0">
                <a:latin typeface="Times New Roman"/>
                <a:cs typeface="Times New Roman"/>
              </a:rPr>
              <a:t>in</a:t>
            </a:r>
            <a:r>
              <a:rPr sz="3200" spc="-15" dirty="0">
                <a:latin typeface="Times New Roman"/>
                <a:cs typeface="Times New Roman"/>
              </a:rPr>
              <a:t> </a:t>
            </a:r>
            <a:r>
              <a:rPr sz="3200" spc="-25" dirty="0">
                <a:latin typeface="Times New Roman"/>
                <a:cs typeface="Times New Roman"/>
              </a:rPr>
              <a:t>the </a:t>
            </a:r>
            <a:r>
              <a:rPr sz="3200" dirty="0">
                <a:latin typeface="Times New Roman"/>
                <a:cs typeface="Times New Roman"/>
              </a:rPr>
              <a:t>execution</a:t>
            </a:r>
            <a:r>
              <a:rPr sz="3200" spc="-70" dirty="0">
                <a:latin typeface="Times New Roman"/>
                <a:cs typeface="Times New Roman"/>
              </a:rPr>
              <a:t> </a:t>
            </a:r>
            <a:r>
              <a:rPr sz="3200" dirty="0">
                <a:latin typeface="Times New Roman"/>
                <a:cs typeface="Times New Roman"/>
              </a:rPr>
              <a:t>of</a:t>
            </a:r>
            <a:r>
              <a:rPr sz="3200" spc="-15" dirty="0">
                <a:latin typeface="Times New Roman"/>
                <a:cs typeface="Times New Roman"/>
              </a:rPr>
              <a:t> </a:t>
            </a:r>
            <a:r>
              <a:rPr sz="3200" dirty="0">
                <a:latin typeface="Times New Roman"/>
                <a:cs typeface="Times New Roman"/>
              </a:rPr>
              <a:t>the</a:t>
            </a:r>
            <a:r>
              <a:rPr sz="3200" spc="-30" dirty="0">
                <a:latin typeface="Times New Roman"/>
                <a:cs typeface="Times New Roman"/>
              </a:rPr>
              <a:t> </a:t>
            </a:r>
            <a:r>
              <a:rPr sz="3200" spc="-25" dirty="0">
                <a:latin typeface="Times New Roman"/>
                <a:cs typeface="Times New Roman"/>
              </a:rPr>
              <a:t>CR.</a:t>
            </a:r>
            <a:endParaRPr sz="3200">
              <a:latin typeface="Times New Roman"/>
              <a:cs typeface="Times New Roman"/>
            </a:endParaRPr>
          </a:p>
          <a:p>
            <a:pPr marL="756285" marR="560705" indent="-287020" algn="just">
              <a:lnSpc>
                <a:spcPct val="100000"/>
              </a:lnSpc>
              <a:spcBef>
                <a:spcPts val="675"/>
              </a:spcBef>
            </a:pPr>
            <a:r>
              <a:rPr sz="2800" dirty="0">
                <a:latin typeface="Arial"/>
                <a:cs typeface="Arial"/>
              </a:rPr>
              <a:t>–</a:t>
            </a:r>
            <a:r>
              <a:rPr sz="2800" spc="-95" dirty="0">
                <a:latin typeface="Arial"/>
                <a:cs typeface="Arial"/>
              </a:rPr>
              <a:t> </a:t>
            </a:r>
            <a:r>
              <a:rPr sz="2800" dirty="0">
                <a:latin typeface="Times New Roman"/>
                <a:cs typeface="Times New Roman"/>
              </a:rPr>
              <a:t>What</a:t>
            </a:r>
            <a:r>
              <a:rPr sz="2800" spc="-40" dirty="0">
                <a:latin typeface="Times New Roman"/>
                <a:cs typeface="Times New Roman"/>
              </a:rPr>
              <a:t> </a:t>
            </a:r>
            <a:r>
              <a:rPr sz="2800" dirty="0">
                <a:latin typeface="Times New Roman"/>
                <a:cs typeface="Times New Roman"/>
              </a:rPr>
              <a:t>happens</a:t>
            </a:r>
            <a:r>
              <a:rPr sz="2800" spc="-30" dirty="0">
                <a:latin typeface="Times New Roman"/>
                <a:cs typeface="Times New Roman"/>
              </a:rPr>
              <a:t> </a:t>
            </a:r>
            <a:r>
              <a:rPr sz="2800" dirty="0">
                <a:latin typeface="Times New Roman"/>
                <a:cs typeface="Times New Roman"/>
              </a:rPr>
              <a:t>if</a:t>
            </a:r>
            <a:r>
              <a:rPr sz="2800" spc="-20" dirty="0">
                <a:latin typeface="Times New Roman"/>
                <a:cs typeface="Times New Roman"/>
              </a:rPr>
              <a:t> </a:t>
            </a:r>
            <a:r>
              <a:rPr sz="2800" dirty="0">
                <a:latin typeface="Times New Roman"/>
                <a:cs typeface="Times New Roman"/>
              </a:rPr>
              <a:t>process</a:t>
            </a:r>
            <a:r>
              <a:rPr sz="2800" spc="-5" dirty="0">
                <a:latin typeface="Times New Roman"/>
                <a:cs typeface="Times New Roman"/>
              </a:rPr>
              <a:t> </a:t>
            </a:r>
            <a:r>
              <a:rPr sz="2800" dirty="0">
                <a:latin typeface="Times New Roman"/>
                <a:cs typeface="Times New Roman"/>
              </a:rPr>
              <a:t>i</a:t>
            </a:r>
            <a:r>
              <a:rPr sz="2800" spc="-15" dirty="0">
                <a:latin typeface="Times New Roman"/>
                <a:cs typeface="Times New Roman"/>
              </a:rPr>
              <a:t> </a:t>
            </a:r>
            <a:r>
              <a:rPr sz="2800" dirty="0">
                <a:latin typeface="Times New Roman"/>
                <a:cs typeface="Times New Roman"/>
              </a:rPr>
              <a:t>just</a:t>
            </a:r>
            <a:r>
              <a:rPr sz="2800" spc="-40" dirty="0">
                <a:latin typeface="Times New Roman"/>
                <a:cs typeface="Times New Roman"/>
              </a:rPr>
              <a:t> </a:t>
            </a:r>
            <a:r>
              <a:rPr sz="2800" dirty="0">
                <a:latin typeface="Times New Roman"/>
                <a:cs typeface="Times New Roman"/>
              </a:rPr>
              <a:t>finished</a:t>
            </a:r>
            <a:r>
              <a:rPr sz="2800" spc="-30" dirty="0">
                <a:latin typeface="Times New Roman"/>
                <a:cs typeface="Times New Roman"/>
              </a:rPr>
              <a:t> </a:t>
            </a:r>
            <a:r>
              <a:rPr sz="2800" dirty="0">
                <a:latin typeface="Times New Roman"/>
                <a:cs typeface="Times New Roman"/>
              </a:rPr>
              <a:t>CR</a:t>
            </a:r>
            <a:r>
              <a:rPr sz="2800" spc="-30" dirty="0">
                <a:latin typeface="Times New Roman"/>
                <a:cs typeface="Times New Roman"/>
              </a:rPr>
              <a:t> </a:t>
            </a:r>
            <a:r>
              <a:rPr sz="2800" spc="-25" dirty="0">
                <a:latin typeface="Times New Roman"/>
                <a:cs typeface="Times New Roman"/>
              </a:rPr>
              <a:t>and </a:t>
            </a:r>
            <a:r>
              <a:rPr sz="2800" dirty="0">
                <a:latin typeface="Times New Roman"/>
                <a:cs typeface="Times New Roman"/>
              </a:rPr>
              <a:t>again</a:t>
            </a:r>
            <a:r>
              <a:rPr sz="2800" spc="-40" dirty="0">
                <a:latin typeface="Times New Roman"/>
                <a:cs typeface="Times New Roman"/>
              </a:rPr>
              <a:t> </a:t>
            </a:r>
            <a:r>
              <a:rPr sz="2800" dirty="0">
                <a:latin typeface="Times New Roman"/>
                <a:cs typeface="Times New Roman"/>
              </a:rPr>
              <a:t>need</a:t>
            </a:r>
            <a:r>
              <a:rPr sz="2800" spc="-10" dirty="0">
                <a:latin typeface="Times New Roman"/>
                <a:cs typeface="Times New Roman"/>
              </a:rPr>
              <a:t> </a:t>
            </a:r>
            <a:r>
              <a:rPr sz="2800" dirty="0">
                <a:latin typeface="Times New Roman"/>
                <a:cs typeface="Times New Roman"/>
              </a:rPr>
              <a:t>to</a:t>
            </a:r>
            <a:r>
              <a:rPr sz="2800" spc="-10" dirty="0">
                <a:latin typeface="Times New Roman"/>
                <a:cs typeface="Times New Roman"/>
              </a:rPr>
              <a:t> </a:t>
            </a:r>
            <a:r>
              <a:rPr sz="2800" dirty="0">
                <a:latin typeface="Times New Roman"/>
                <a:cs typeface="Times New Roman"/>
              </a:rPr>
              <a:t>enter</a:t>
            </a:r>
            <a:r>
              <a:rPr sz="2800" spc="-10" dirty="0">
                <a:latin typeface="Times New Roman"/>
                <a:cs typeface="Times New Roman"/>
              </a:rPr>
              <a:t> </a:t>
            </a:r>
            <a:r>
              <a:rPr sz="2800" dirty="0">
                <a:latin typeface="Times New Roman"/>
                <a:cs typeface="Times New Roman"/>
              </a:rPr>
              <a:t>CR</a:t>
            </a:r>
            <a:r>
              <a:rPr sz="2800" spc="-5" dirty="0">
                <a:latin typeface="Times New Roman"/>
                <a:cs typeface="Times New Roman"/>
              </a:rPr>
              <a:t> </a:t>
            </a:r>
            <a:r>
              <a:rPr sz="2800" dirty="0">
                <a:latin typeface="Times New Roman"/>
                <a:cs typeface="Times New Roman"/>
              </a:rPr>
              <a:t>and</a:t>
            </a:r>
            <a:r>
              <a:rPr sz="2800" spc="-15" dirty="0">
                <a:latin typeface="Times New Roman"/>
                <a:cs typeface="Times New Roman"/>
              </a:rPr>
              <a:t> </a:t>
            </a:r>
            <a:r>
              <a:rPr sz="2800" dirty="0">
                <a:latin typeface="Times New Roman"/>
                <a:cs typeface="Times New Roman"/>
              </a:rPr>
              <a:t>the</a:t>
            </a:r>
            <a:r>
              <a:rPr sz="2800" spc="-20" dirty="0">
                <a:latin typeface="Times New Roman"/>
                <a:cs typeface="Times New Roman"/>
              </a:rPr>
              <a:t> </a:t>
            </a:r>
            <a:r>
              <a:rPr sz="2800" dirty="0">
                <a:latin typeface="Times New Roman"/>
                <a:cs typeface="Times New Roman"/>
              </a:rPr>
              <a:t>process</a:t>
            </a:r>
            <a:r>
              <a:rPr sz="2800" spc="-10" dirty="0">
                <a:latin typeface="Times New Roman"/>
                <a:cs typeface="Times New Roman"/>
              </a:rPr>
              <a:t> </a:t>
            </a:r>
            <a:r>
              <a:rPr sz="2800" dirty="0">
                <a:latin typeface="Times New Roman"/>
                <a:cs typeface="Times New Roman"/>
              </a:rPr>
              <a:t>j</a:t>
            </a:r>
            <a:r>
              <a:rPr sz="2800" spc="-25" dirty="0">
                <a:latin typeface="Times New Roman"/>
                <a:cs typeface="Times New Roman"/>
              </a:rPr>
              <a:t> </a:t>
            </a:r>
            <a:r>
              <a:rPr sz="2800" dirty="0">
                <a:latin typeface="Times New Roman"/>
                <a:cs typeface="Times New Roman"/>
              </a:rPr>
              <a:t>is</a:t>
            </a:r>
            <a:r>
              <a:rPr sz="2800" spc="-10" dirty="0">
                <a:latin typeface="Times New Roman"/>
                <a:cs typeface="Times New Roman"/>
              </a:rPr>
              <a:t> still </a:t>
            </a:r>
            <a:r>
              <a:rPr sz="2800" dirty="0">
                <a:latin typeface="Times New Roman"/>
                <a:cs typeface="Times New Roman"/>
              </a:rPr>
              <a:t>busy</a:t>
            </a:r>
            <a:r>
              <a:rPr sz="2800" spc="-55" dirty="0">
                <a:latin typeface="Times New Roman"/>
                <a:cs typeface="Times New Roman"/>
              </a:rPr>
              <a:t> </a:t>
            </a:r>
            <a:r>
              <a:rPr sz="2800" dirty="0">
                <a:latin typeface="Times New Roman"/>
                <a:cs typeface="Times New Roman"/>
              </a:rPr>
              <a:t>at</a:t>
            </a:r>
            <a:r>
              <a:rPr sz="2800" spc="-40" dirty="0">
                <a:latin typeface="Times New Roman"/>
                <a:cs typeface="Times New Roman"/>
              </a:rPr>
              <a:t> </a:t>
            </a:r>
            <a:r>
              <a:rPr sz="2800" spc="-10" dirty="0">
                <a:latin typeface="Times New Roman"/>
                <a:cs typeface="Times New Roman"/>
              </a:rPr>
              <a:t>non-</a:t>
            </a:r>
            <a:r>
              <a:rPr sz="2800" dirty="0">
                <a:latin typeface="Times New Roman"/>
                <a:cs typeface="Times New Roman"/>
              </a:rPr>
              <a:t>CR</a:t>
            </a:r>
            <a:r>
              <a:rPr sz="2800" spc="-45" dirty="0">
                <a:latin typeface="Times New Roman"/>
                <a:cs typeface="Times New Roman"/>
              </a:rPr>
              <a:t> </a:t>
            </a:r>
            <a:r>
              <a:rPr sz="2800" dirty="0">
                <a:latin typeface="Times New Roman"/>
                <a:cs typeface="Times New Roman"/>
              </a:rPr>
              <a:t>work?</a:t>
            </a:r>
            <a:r>
              <a:rPr sz="2800" spc="-35" dirty="0">
                <a:latin typeface="Times New Roman"/>
                <a:cs typeface="Times New Roman"/>
              </a:rPr>
              <a:t> </a:t>
            </a:r>
            <a:r>
              <a:rPr sz="2800" dirty="0">
                <a:latin typeface="Times New Roman"/>
                <a:cs typeface="Times New Roman"/>
              </a:rPr>
              <a:t>(violate</a:t>
            </a:r>
            <a:r>
              <a:rPr sz="2800" spc="-70" dirty="0">
                <a:latin typeface="Times New Roman"/>
                <a:cs typeface="Times New Roman"/>
              </a:rPr>
              <a:t> </a:t>
            </a:r>
            <a:r>
              <a:rPr sz="2800" dirty="0">
                <a:latin typeface="Times New Roman"/>
                <a:cs typeface="Times New Roman"/>
              </a:rPr>
              <a:t>condition</a:t>
            </a:r>
            <a:r>
              <a:rPr sz="2800" spc="-25" dirty="0">
                <a:latin typeface="Times New Roman"/>
                <a:cs typeface="Times New Roman"/>
              </a:rPr>
              <a:t> 2)</a:t>
            </a:r>
            <a:endParaRPr sz="2800">
              <a:latin typeface="Times New Roman"/>
              <a:cs typeface="Times New Roman"/>
            </a:endParaRP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13335" rIns="0" bIns="0" rtlCol="0">
            <a:spAutoFit/>
          </a:bodyPr>
          <a:lstStyle/>
          <a:p>
            <a:pPr marL="12700" algn="ctr" rtl="0">
              <a:spcBef>
                <a:spcPts val="105"/>
              </a:spcBef>
            </a:pPr>
            <a:r>
              <a:rPr sz="3200" b="1" dirty="0">
                <a:solidFill>
                  <a:sysClr val="windowText" lastClr="000000"/>
                </a:solidFill>
                <a:latin typeface="+mj-lt"/>
                <a:cs typeface="+mj-cs"/>
              </a:rPr>
              <a:t>Peterson’s solution</a:t>
            </a:r>
          </a:p>
        </p:txBody>
      </p:sp>
      <p:sp>
        <p:nvSpPr>
          <p:cNvPr id="4" name="object 4"/>
          <p:cNvSpPr txBox="1">
            <a:spLocks noGrp="1"/>
          </p:cNvSpPr>
          <p:nvPr>
            <p:ph type="ftr" sz="quarter" idx="5"/>
          </p:nvPr>
        </p:nvSpPr>
        <p:spPr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12700">
              <a:lnSpc>
                <a:spcPts val="1240"/>
              </a:lnSpc>
            </a:pPr>
            <a:r>
              <a:rPr lang="pl-PL"/>
              <a:t>By Dr. Binod Kr. Adhikari</a:t>
            </a:r>
            <a:endParaRPr spc="-10" dirty="0"/>
          </a:p>
        </p:txBody>
      </p:sp>
      <p:pic>
        <p:nvPicPr>
          <p:cNvPr id="3" name="object 3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550139" y="1371600"/>
            <a:ext cx="8212861" cy="4589584"/>
          </a:xfrm>
          <a:prstGeom prst="rect">
            <a:avLst/>
          </a:prstGeom>
        </p:spPr>
      </p:pic>
    </p:spTree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13335" rIns="0" bIns="0" rtlCol="0">
            <a:spAutoFit/>
          </a:bodyPr>
          <a:lstStyle/>
          <a:p>
            <a:pPr marL="12700" algn="ctr" rtl="0">
              <a:spcBef>
                <a:spcPts val="105"/>
              </a:spcBef>
            </a:pPr>
            <a:r>
              <a:rPr sz="3200" b="1" dirty="0">
                <a:solidFill>
                  <a:sysClr val="windowText" lastClr="000000"/>
                </a:solidFill>
                <a:latin typeface="+mj-lt"/>
                <a:cs typeface="+mj-cs"/>
              </a:rPr>
              <a:t>Facts about Petersons</a:t>
            </a:r>
          </a:p>
        </p:txBody>
      </p:sp>
      <p:sp>
        <p:nvSpPr>
          <p:cNvPr id="4" name="object 4"/>
          <p:cNvSpPr txBox="1">
            <a:spLocks noGrp="1"/>
          </p:cNvSpPr>
          <p:nvPr>
            <p:ph type="ftr" sz="quarter" idx="5"/>
          </p:nvPr>
        </p:nvSpPr>
        <p:spPr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12700">
              <a:lnSpc>
                <a:spcPts val="1240"/>
              </a:lnSpc>
            </a:pPr>
            <a:r>
              <a:rPr lang="pl-PL"/>
              <a:t>By Dr. Binod Kr. Adhikari</a:t>
            </a:r>
            <a:endParaRPr spc="-10" dirty="0"/>
          </a:p>
        </p:txBody>
      </p:sp>
      <p:sp>
        <p:nvSpPr>
          <p:cNvPr id="3" name="object 3"/>
          <p:cNvSpPr txBox="1"/>
          <p:nvPr/>
        </p:nvSpPr>
        <p:spPr>
          <a:xfrm>
            <a:off x="535940" y="1295400"/>
            <a:ext cx="7973059" cy="4665980"/>
          </a:xfrm>
          <a:prstGeom prst="rect">
            <a:avLst/>
          </a:prstGeom>
        </p:spPr>
        <p:txBody>
          <a:bodyPr vert="horz" wrap="square" lIns="0" tIns="64769" rIns="0" bIns="0" rtlCol="0">
            <a:spAutoFit/>
          </a:bodyPr>
          <a:lstStyle/>
          <a:p>
            <a:pPr marL="355600" marR="5080" indent="-342900">
              <a:lnSpc>
                <a:spcPts val="3240"/>
              </a:lnSpc>
              <a:spcBef>
                <a:spcPts val="509"/>
              </a:spcBef>
              <a:buFont typeface="Arial"/>
              <a:buChar char="•"/>
              <a:tabLst>
                <a:tab pos="355600" algn="l"/>
              </a:tabLst>
            </a:pPr>
            <a:r>
              <a:rPr sz="3000" spc="-10" dirty="0">
                <a:latin typeface="Calibri"/>
                <a:cs typeface="Calibri"/>
              </a:rPr>
              <a:t>Before</a:t>
            </a:r>
            <a:r>
              <a:rPr sz="3000" spc="-75" dirty="0">
                <a:latin typeface="Calibri"/>
                <a:cs typeface="Calibri"/>
              </a:rPr>
              <a:t> </a:t>
            </a:r>
            <a:r>
              <a:rPr sz="3000" dirty="0">
                <a:latin typeface="Calibri"/>
                <a:cs typeface="Calibri"/>
              </a:rPr>
              <a:t>entering</a:t>
            </a:r>
            <a:r>
              <a:rPr sz="3000" spc="-65" dirty="0">
                <a:latin typeface="Calibri"/>
                <a:cs typeface="Calibri"/>
              </a:rPr>
              <a:t> </a:t>
            </a:r>
            <a:r>
              <a:rPr sz="3000" dirty="0">
                <a:latin typeface="Calibri"/>
                <a:cs typeface="Calibri"/>
              </a:rPr>
              <a:t>its</a:t>
            </a:r>
            <a:r>
              <a:rPr sz="3000" spc="-60" dirty="0">
                <a:latin typeface="Calibri"/>
                <a:cs typeface="Calibri"/>
              </a:rPr>
              <a:t> </a:t>
            </a:r>
            <a:r>
              <a:rPr sz="3000" dirty="0">
                <a:latin typeface="Calibri"/>
                <a:cs typeface="Calibri"/>
              </a:rPr>
              <a:t>CR,</a:t>
            </a:r>
            <a:r>
              <a:rPr sz="3000" spc="-75" dirty="0">
                <a:latin typeface="Calibri"/>
                <a:cs typeface="Calibri"/>
              </a:rPr>
              <a:t> </a:t>
            </a:r>
            <a:r>
              <a:rPr sz="3000" dirty="0">
                <a:latin typeface="Calibri"/>
                <a:cs typeface="Calibri"/>
              </a:rPr>
              <a:t>each</a:t>
            </a:r>
            <a:r>
              <a:rPr sz="3000" spc="-85" dirty="0">
                <a:latin typeface="Calibri"/>
                <a:cs typeface="Calibri"/>
              </a:rPr>
              <a:t> </a:t>
            </a:r>
            <a:r>
              <a:rPr sz="3000" dirty="0">
                <a:latin typeface="Calibri"/>
                <a:cs typeface="Calibri"/>
              </a:rPr>
              <a:t>process</a:t>
            </a:r>
            <a:r>
              <a:rPr sz="3000" spc="-60" dirty="0">
                <a:latin typeface="Calibri"/>
                <a:cs typeface="Calibri"/>
              </a:rPr>
              <a:t> </a:t>
            </a:r>
            <a:r>
              <a:rPr sz="3000" spc="-20" dirty="0">
                <a:latin typeface="Calibri"/>
                <a:cs typeface="Calibri"/>
              </a:rPr>
              <a:t>call </a:t>
            </a:r>
            <a:r>
              <a:rPr sz="3000" spc="-10" dirty="0">
                <a:latin typeface="Calibri"/>
                <a:cs typeface="Calibri"/>
              </a:rPr>
              <a:t>enter_region</a:t>
            </a:r>
            <a:r>
              <a:rPr sz="3000" spc="-60" dirty="0">
                <a:latin typeface="Calibri"/>
                <a:cs typeface="Calibri"/>
              </a:rPr>
              <a:t> </a:t>
            </a:r>
            <a:r>
              <a:rPr sz="3000" dirty="0">
                <a:latin typeface="Calibri"/>
                <a:cs typeface="Calibri"/>
              </a:rPr>
              <a:t>with</a:t>
            </a:r>
            <a:r>
              <a:rPr sz="3000" spc="-60" dirty="0">
                <a:latin typeface="Calibri"/>
                <a:cs typeface="Calibri"/>
              </a:rPr>
              <a:t> </a:t>
            </a:r>
            <a:r>
              <a:rPr sz="3000" dirty="0">
                <a:latin typeface="Calibri"/>
                <a:cs typeface="Calibri"/>
              </a:rPr>
              <a:t>its</a:t>
            </a:r>
            <a:r>
              <a:rPr sz="3000" spc="-60" dirty="0">
                <a:latin typeface="Calibri"/>
                <a:cs typeface="Calibri"/>
              </a:rPr>
              <a:t> </a:t>
            </a:r>
            <a:r>
              <a:rPr sz="3000" dirty="0">
                <a:latin typeface="Calibri"/>
                <a:cs typeface="Calibri"/>
              </a:rPr>
              <a:t>own</a:t>
            </a:r>
            <a:r>
              <a:rPr sz="3000" spc="-45" dirty="0">
                <a:latin typeface="Calibri"/>
                <a:cs typeface="Calibri"/>
              </a:rPr>
              <a:t> </a:t>
            </a:r>
            <a:r>
              <a:rPr sz="3000" dirty="0">
                <a:latin typeface="Calibri"/>
                <a:cs typeface="Calibri"/>
              </a:rPr>
              <a:t>process</a:t>
            </a:r>
            <a:r>
              <a:rPr sz="3000" spc="-55" dirty="0">
                <a:latin typeface="Calibri"/>
                <a:cs typeface="Calibri"/>
              </a:rPr>
              <a:t> </a:t>
            </a:r>
            <a:r>
              <a:rPr sz="3000" spc="-25" dirty="0">
                <a:latin typeface="Calibri"/>
                <a:cs typeface="Calibri"/>
              </a:rPr>
              <a:t>number,</a:t>
            </a:r>
            <a:r>
              <a:rPr sz="3000" spc="-45" dirty="0">
                <a:latin typeface="Calibri"/>
                <a:cs typeface="Calibri"/>
              </a:rPr>
              <a:t> </a:t>
            </a:r>
            <a:r>
              <a:rPr sz="3000" dirty="0">
                <a:latin typeface="Calibri"/>
                <a:cs typeface="Calibri"/>
              </a:rPr>
              <a:t>0</a:t>
            </a:r>
            <a:r>
              <a:rPr sz="3000" spc="-55" dirty="0">
                <a:latin typeface="Calibri"/>
                <a:cs typeface="Calibri"/>
              </a:rPr>
              <a:t> </a:t>
            </a:r>
            <a:r>
              <a:rPr sz="3000" dirty="0">
                <a:latin typeface="Calibri"/>
                <a:cs typeface="Calibri"/>
              </a:rPr>
              <a:t>or</a:t>
            </a:r>
            <a:r>
              <a:rPr sz="3000" spc="-55" dirty="0">
                <a:latin typeface="Calibri"/>
                <a:cs typeface="Calibri"/>
              </a:rPr>
              <a:t> </a:t>
            </a:r>
            <a:r>
              <a:rPr sz="3000" spc="-50" dirty="0">
                <a:latin typeface="Calibri"/>
                <a:cs typeface="Calibri"/>
              </a:rPr>
              <a:t>1 </a:t>
            </a:r>
            <a:r>
              <a:rPr sz="3000" dirty="0">
                <a:latin typeface="Calibri"/>
                <a:cs typeface="Calibri"/>
              </a:rPr>
              <a:t>as</a:t>
            </a:r>
            <a:r>
              <a:rPr sz="3000" spc="-50" dirty="0">
                <a:latin typeface="Calibri"/>
                <a:cs typeface="Calibri"/>
              </a:rPr>
              <a:t> </a:t>
            </a:r>
            <a:r>
              <a:rPr sz="3000" spc="-10" dirty="0">
                <a:latin typeface="Calibri"/>
                <a:cs typeface="Calibri"/>
              </a:rPr>
              <a:t>parameter.</a:t>
            </a:r>
            <a:endParaRPr sz="3000" dirty="0">
              <a:latin typeface="Calibri"/>
              <a:cs typeface="Calibri"/>
            </a:endParaRPr>
          </a:p>
          <a:p>
            <a:pPr marL="756285" marR="563880" lvl="1" indent="-287020">
              <a:lnSpc>
                <a:spcPts val="2810"/>
              </a:lnSpc>
              <a:spcBef>
                <a:spcPts val="645"/>
              </a:spcBef>
              <a:buFont typeface="Arial"/>
              <a:buChar char="–"/>
              <a:tabLst>
                <a:tab pos="756285" algn="l"/>
              </a:tabLst>
            </a:pPr>
            <a:r>
              <a:rPr sz="2600" dirty="0">
                <a:latin typeface="Calibri"/>
                <a:cs typeface="Calibri"/>
              </a:rPr>
              <a:t>Call</a:t>
            </a:r>
            <a:r>
              <a:rPr sz="2600" spc="-50" dirty="0">
                <a:latin typeface="Calibri"/>
                <a:cs typeface="Calibri"/>
              </a:rPr>
              <a:t> </a:t>
            </a:r>
            <a:r>
              <a:rPr sz="2600" dirty="0">
                <a:latin typeface="Calibri"/>
                <a:cs typeface="Calibri"/>
              </a:rPr>
              <a:t>will</a:t>
            </a:r>
            <a:r>
              <a:rPr sz="2600" spc="-30" dirty="0">
                <a:latin typeface="Calibri"/>
                <a:cs typeface="Calibri"/>
              </a:rPr>
              <a:t> </a:t>
            </a:r>
            <a:r>
              <a:rPr sz="2600" dirty="0">
                <a:latin typeface="Calibri"/>
                <a:cs typeface="Calibri"/>
              </a:rPr>
              <a:t>cause</a:t>
            </a:r>
            <a:r>
              <a:rPr sz="2600" spc="-55" dirty="0">
                <a:latin typeface="Calibri"/>
                <a:cs typeface="Calibri"/>
              </a:rPr>
              <a:t> </a:t>
            </a:r>
            <a:r>
              <a:rPr sz="2600" dirty="0">
                <a:latin typeface="Calibri"/>
                <a:cs typeface="Calibri"/>
              </a:rPr>
              <a:t>to</a:t>
            </a:r>
            <a:r>
              <a:rPr sz="2600" spc="-35" dirty="0">
                <a:latin typeface="Calibri"/>
                <a:cs typeface="Calibri"/>
              </a:rPr>
              <a:t> </a:t>
            </a:r>
            <a:r>
              <a:rPr sz="2600" dirty="0">
                <a:latin typeface="Calibri"/>
                <a:cs typeface="Calibri"/>
              </a:rPr>
              <a:t>wait,</a:t>
            </a:r>
            <a:r>
              <a:rPr sz="2600" spc="-30" dirty="0">
                <a:latin typeface="Calibri"/>
                <a:cs typeface="Calibri"/>
              </a:rPr>
              <a:t> </a:t>
            </a:r>
            <a:r>
              <a:rPr sz="2600" dirty="0">
                <a:latin typeface="Calibri"/>
                <a:cs typeface="Calibri"/>
              </a:rPr>
              <a:t>if</a:t>
            </a:r>
            <a:r>
              <a:rPr sz="2600" spc="-35" dirty="0">
                <a:latin typeface="Calibri"/>
                <a:cs typeface="Calibri"/>
              </a:rPr>
              <a:t> </a:t>
            </a:r>
            <a:r>
              <a:rPr sz="2600" dirty="0">
                <a:latin typeface="Calibri"/>
                <a:cs typeface="Calibri"/>
              </a:rPr>
              <a:t>need</a:t>
            </a:r>
            <a:r>
              <a:rPr sz="2600" spc="-60" dirty="0">
                <a:latin typeface="Calibri"/>
                <a:cs typeface="Calibri"/>
              </a:rPr>
              <a:t> </a:t>
            </a:r>
            <a:r>
              <a:rPr sz="2600" dirty="0">
                <a:latin typeface="Calibri"/>
                <a:cs typeface="Calibri"/>
              </a:rPr>
              <a:t>be,</a:t>
            </a:r>
            <a:r>
              <a:rPr sz="2600" spc="-50" dirty="0">
                <a:latin typeface="Calibri"/>
                <a:cs typeface="Calibri"/>
              </a:rPr>
              <a:t> </a:t>
            </a:r>
            <a:r>
              <a:rPr sz="2600" dirty="0">
                <a:latin typeface="Calibri"/>
                <a:cs typeface="Calibri"/>
              </a:rPr>
              <a:t>until</a:t>
            </a:r>
            <a:r>
              <a:rPr sz="2600" spc="-40" dirty="0">
                <a:latin typeface="Calibri"/>
                <a:cs typeface="Calibri"/>
              </a:rPr>
              <a:t> </a:t>
            </a:r>
            <a:r>
              <a:rPr sz="2600" dirty="0">
                <a:latin typeface="Calibri"/>
                <a:cs typeface="Calibri"/>
              </a:rPr>
              <a:t>it</a:t>
            </a:r>
            <a:r>
              <a:rPr sz="2600" spc="-45" dirty="0">
                <a:latin typeface="Calibri"/>
                <a:cs typeface="Calibri"/>
              </a:rPr>
              <a:t> </a:t>
            </a:r>
            <a:r>
              <a:rPr sz="2600" dirty="0">
                <a:latin typeface="Calibri"/>
                <a:cs typeface="Calibri"/>
              </a:rPr>
              <a:t>is</a:t>
            </a:r>
            <a:r>
              <a:rPr sz="2600" spc="-30" dirty="0">
                <a:latin typeface="Calibri"/>
                <a:cs typeface="Calibri"/>
              </a:rPr>
              <a:t> </a:t>
            </a:r>
            <a:r>
              <a:rPr sz="2600" dirty="0">
                <a:latin typeface="Calibri"/>
                <a:cs typeface="Calibri"/>
              </a:rPr>
              <a:t>safe</a:t>
            </a:r>
            <a:r>
              <a:rPr sz="2600" spc="-55" dirty="0">
                <a:latin typeface="Calibri"/>
                <a:cs typeface="Calibri"/>
              </a:rPr>
              <a:t> </a:t>
            </a:r>
            <a:r>
              <a:rPr sz="2600" spc="-25" dirty="0">
                <a:latin typeface="Calibri"/>
                <a:cs typeface="Calibri"/>
              </a:rPr>
              <a:t>to </a:t>
            </a:r>
            <a:r>
              <a:rPr sz="2600" spc="-10" dirty="0">
                <a:latin typeface="Calibri"/>
                <a:cs typeface="Calibri"/>
              </a:rPr>
              <a:t>enter.</a:t>
            </a:r>
            <a:endParaRPr sz="2600" dirty="0">
              <a:latin typeface="Calibri"/>
              <a:cs typeface="Calibri"/>
            </a:endParaRPr>
          </a:p>
          <a:p>
            <a:pPr marL="756285" marR="224790" lvl="1" indent="-287020">
              <a:lnSpc>
                <a:spcPct val="90000"/>
              </a:lnSpc>
              <a:spcBef>
                <a:spcPts val="580"/>
              </a:spcBef>
              <a:buChar char="–"/>
              <a:tabLst>
                <a:tab pos="756285" algn="l"/>
                <a:tab pos="829310" algn="l"/>
              </a:tabLst>
            </a:pPr>
            <a:r>
              <a:rPr sz="2600" dirty="0">
                <a:latin typeface="Arial"/>
                <a:cs typeface="Arial"/>
              </a:rPr>
              <a:t>	</a:t>
            </a:r>
            <a:r>
              <a:rPr sz="2600" dirty="0">
                <a:latin typeface="Calibri"/>
                <a:cs typeface="Calibri"/>
              </a:rPr>
              <a:t>When</a:t>
            </a:r>
            <a:r>
              <a:rPr sz="2600" spc="-80" dirty="0">
                <a:latin typeface="Calibri"/>
                <a:cs typeface="Calibri"/>
              </a:rPr>
              <a:t> </a:t>
            </a:r>
            <a:r>
              <a:rPr sz="2600" dirty="0">
                <a:latin typeface="Calibri"/>
                <a:cs typeface="Calibri"/>
              </a:rPr>
              <a:t>leaving</a:t>
            </a:r>
            <a:r>
              <a:rPr sz="2600" spc="-60" dirty="0">
                <a:latin typeface="Calibri"/>
                <a:cs typeface="Calibri"/>
              </a:rPr>
              <a:t> </a:t>
            </a:r>
            <a:r>
              <a:rPr sz="2600" dirty="0">
                <a:latin typeface="Calibri"/>
                <a:cs typeface="Calibri"/>
              </a:rPr>
              <a:t>CR,</a:t>
            </a:r>
            <a:r>
              <a:rPr sz="2600" spc="-50" dirty="0">
                <a:latin typeface="Calibri"/>
                <a:cs typeface="Calibri"/>
              </a:rPr>
              <a:t> </a:t>
            </a:r>
            <a:r>
              <a:rPr sz="2600" dirty="0">
                <a:latin typeface="Calibri"/>
                <a:cs typeface="Calibri"/>
              </a:rPr>
              <a:t>the</a:t>
            </a:r>
            <a:r>
              <a:rPr sz="2600" spc="-50" dirty="0">
                <a:latin typeface="Calibri"/>
                <a:cs typeface="Calibri"/>
              </a:rPr>
              <a:t> </a:t>
            </a:r>
            <a:r>
              <a:rPr sz="2600" dirty="0">
                <a:latin typeface="Calibri"/>
                <a:cs typeface="Calibri"/>
              </a:rPr>
              <a:t>process</a:t>
            </a:r>
            <a:r>
              <a:rPr sz="2600" spc="-85" dirty="0">
                <a:latin typeface="Calibri"/>
                <a:cs typeface="Calibri"/>
              </a:rPr>
              <a:t> </a:t>
            </a:r>
            <a:r>
              <a:rPr sz="2600" dirty="0">
                <a:latin typeface="Calibri"/>
                <a:cs typeface="Calibri"/>
              </a:rPr>
              <a:t>calls</a:t>
            </a:r>
            <a:r>
              <a:rPr sz="2600" spc="-50" dirty="0">
                <a:latin typeface="Calibri"/>
                <a:cs typeface="Calibri"/>
              </a:rPr>
              <a:t> </a:t>
            </a:r>
            <a:r>
              <a:rPr sz="2600" dirty="0">
                <a:latin typeface="Calibri"/>
                <a:cs typeface="Calibri"/>
              </a:rPr>
              <a:t>leave_region</a:t>
            </a:r>
            <a:r>
              <a:rPr sz="2600" spc="-55" dirty="0">
                <a:latin typeface="Calibri"/>
                <a:cs typeface="Calibri"/>
              </a:rPr>
              <a:t> </a:t>
            </a:r>
            <a:r>
              <a:rPr sz="2600" spc="-25" dirty="0">
                <a:latin typeface="Calibri"/>
                <a:cs typeface="Calibri"/>
              </a:rPr>
              <a:t>to </a:t>
            </a:r>
            <a:r>
              <a:rPr sz="2600" dirty="0">
                <a:latin typeface="Calibri"/>
                <a:cs typeface="Calibri"/>
              </a:rPr>
              <a:t>indicate</a:t>
            </a:r>
            <a:r>
              <a:rPr sz="2600" spc="-75" dirty="0">
                <a:latin typeface="Calibri"/>
                <a:cs typeface="Calibri"/>
              </a:rPr>
              <a:t> </a:t>
            </a:r>
            <a:r>
              <a:rPr sz="2600" dirty="0">
                <a:latin typeface="Calibri"/>
                <a:cs typeface="Calibri"/>
              </a:rPr>
              <a:t>that</a:t>
            </a:r>
            <a:r>
              <a:rPr sz="2600" spc="-45" dirty="0">
                <a:latin typeface="Calibri"/>
                <a:cs typeface="Calibri"/>
              </a:rPr>
              <a:t> </a:t>
            </a:r>
            <a:r>
              <a:rPr sz="2600" dirty="0">
                <a:latin typeface="Calibri"/>
                <a:cs typeface="Calibri"/>
              </a:rPr>
              <a:t>it</a:t>
            </a:r>
            <a:r>
              <a:rPr sz="2600" spc="-30" dirty="0">
                <a:latin typeface="Calibri"/>
                <a:cs typeface="Calibri"/>
              </a:rPr>
              <a:t> </a:t>
            </a:r>
            <a:r>
              <a:rPr sz="2600" dirty="0">
                <a:latin typeface="Calibri"/>
                <a:cs typeface="Calibri"/>
              </a:rPr>
              <a:t>is</a:t>
            </a:r>
            <a:r>
              <a:rPr sz="2600" spc="-35" dirty="0">
                <a:latin typeface="Calibri"/>
                <a:cs typeface="Calibri"/>
              </a:rPr>
              <a:t> </a:t>
            </a:r>
            <a:r>
              <a:rPr sz="2600" dirty="0">
                <a:latin typeface="Calibri"/>
                <a:cs typeface="Calibri"/>
              </a:rPr>
              <a:t>done</a:t>
            </a:r>
            <a:r>
              <a:rPr sz="2600" spc="-55" dirty="0">
                <a:latin typeface="Calibri"/>
                <a:cs typeface="Calibri"/>
              </a:rPr>
              <a:t> </a:t>
            </a:r>
            <a:r>
              <a:rPr sz="2600" dirty="0">
                <a:latin typeface="Calibri"/>
                <a:cs typeface="Calibri"/>
              </a:rPr>
              <a:t>and</a:t>
            </a:r>
            <a:r>
              <a:rPr sz="2600" spc="-45" dirty="0">
                <a:latin typeface="Calibri"/>
                <a:cs typeface="Calibri"/>
              </a:rPr>
              <a:t> </a:t>
            </a:r>
            <a:r>
              <a:rPr sz="2600" dirty="0">
                <a:latin typeface="Calibri"/>
                <a:cs typeface="Calibri"/>
              </a:rPr>
              <a:t>to</a:t>
            </a:r>
            <a:r>
              <a:rPr sz="2600" spc="-35" dirty="0">
                <a:latin typeface="Calibri"/>
                <a:cs typeface="Calibri"/>
              </a:rPr>
              <a:t> </a:t>
            </a:r>
            <a:r>
              <a:rPr sz="2600" dirty="0">
                <a:latin typeface="Calibri"/>
                <a:cs typeface="Calibri"/>
              </a:rPr>
              <a:t>allow</a:t>
            </a:r>
            <a:r>
              <a:rPr sz="2600" spc="-35" dirty="0">
                <a:latin typeface="Calibri"/>
                <a:cs typeface="Calibri"/>
              </a:rPr>
              <a:t> </a:t>
            </a:r>
            <a:r>
              <a:rPr sz="2600" dirty="0">
                <a:latin typeface="Calibri"/>
                <a:cs typeface="Calibri"/>
              </a:rPr>
              <a:t>other</a:t>
            </a:r>
            <a:r>
              <a:rPr sz="2600" spc="-35" dirty="0">
                <a:latin typeface="Calibri"/>
                <a:cs typeface="Calibri"/>
              </a:rPr>
              <a:t> </a:t>
            </a:r>
            <a:r>
              <a:rPr sz="2600" dirty="0">
                <a:latin typeface="Calibri"/>
                <a:cs typeface="Calibri"/>
              </a:rPr>
              <a:t>process</a:t>
            </a:r>
            <a:r>
              <a:rPr sz="2600" spc="-80" dirty="0">
                <a:latin typeface="Calibri"/>
                <a:cs typeface="Calibri"/>
              </a:rPr>
              <a:t> </a:t>
            </a:r>
            <a:r>
              <a:rPr sz="2600" spc="-25" dirty="0">
                <a:latin typeface="Calibri"/>
                <a:cs typeface="Calibri"/>
              </a:rPr>
              <a:t>to </a:t>
            </a:r>
            <a:r>
              <a:rPr sz="2600" dirty="0">
                <a:latin typeface="Calibri"/>
                <a:cs typeface="Calibri"/>
              </a:rPr>
              <a:t>enter</a:t>
            </a:r>
            <a:r>
              <a:rPr sz="2600" spc="-100" dirty="0">
                <a:latin typeface="Calibri"/>
                <a:cs typeface="Calibri"/>
              </a:rPr>
              <a:t> </a:t>
            </a:r>
            <a:r>
              <a:rPr sz="2600" spc="-25" dirty="0">
                <a:latin typeface="Calibri"/>
                <a:cs typeface="Calibri"/>
              </a:rPr>
              <a:t>CR.</a:t>
            </a:r>
            <a:endParaRPr sz="2600" dirty="0">
              <a:latin typeface="Calibri"/>
              <a:cs typeface="Calibri"/>
            </a:endParaRPr>
          </a:p>
          <a:p>
            <a:pPr marL="354965" indent="-342265">
              <a:lnSpc>
                <a:spcPct val="100000"/>
              </a:lnSpc>
              <a:spcBef>
                <a:spcPts val="330"/>
              </a:spcBef>
              <a:buFont typeface="Arial"/>
              <a:buChar char="•"/>
              <a:tabLst>
                <a:tab pos="354965" algn="l"/>
              </a:tabLst>
            </a:pPr>
            <a:r>
              <a:rPr sz="3000" spc="-10" dirty="0">
                <a:latin typeface="Calibri"/>
                <a:cs typeface="Calibri"/>
              </a:rPr>
              <a:t>Advantages:</a:t>
            </a:r>
            <a:r>
              <a:rPr sz="3000" spc="-95" dirty="0">
                <a:latin typeface="Calibri"/>
                <a:cs typeface="Calibri"/>
              </a:rPr>
              <a:t> </a:t>
            </a:r>
            <a:r>
              <a:rPr sz="3000" dirty="0">
                <a:latin typeface="Calibri"/>
                <a:cs typeface="Calibri"/>
              </a:rPr>
              <a:t>Preserves</a:t>
            </a:r>
            <a:r>
              <a:rPr sz="3000" spc="-60" dirty="0">
                <a:latin typeface="Calibri"/>
                <a:cs typeface="Calibri"/>
              </a:rPr>
              <a:t> </a:t>
            </a:r>
            <a:r>
              <a:rPr sz="3000" dirty="0">
                <a:latin typeface="Calibri"/>
                <a:cs typeface="Calibri"/>
              </a:rPr>
              <a:t>all</a:t>
            </a:r>
            <a:r>
              <a:rPr sz="3000" spc="-60" dirty="0">
                <a:latin typeface="Calibri"/>
                <a:cs typeface="Calibri"/>
              </a:rPr>
              <a:t> </a:t>
            </a:r>
            <a:r>
              <a:rPr sz="3000" spc="-10" dirty="0">
                <a:latin typeface="Calibri"/>
                <a:cs typeface="Calibri"/>
              </a:rPr>
              <a:t>conditions.</a:t>
            </a:r>
            <a:endParaRPr sz="3000" dirty="0">
              <a:latin typeface="Calibri"/>
              <a:cs typeface="Calibri"/>
            </a:endParaRPr>
          </a:p>
          <a:p>
            <a:pPr marL="355600" marR="525780" indent="-342900">
              <a:lnSpc>
                <a:spcPts val="3240"/>
              </a:lnSpc>
              <a:spcBef>
                <a:spcPts val="770"/>
              </a:spcBef>
              <a:buFont typeface="Arial"/>
              <a:buChar char="•"/>
              <a:tabLst>
                <a:tab pos="355600" algn="l"/>
              </a:tabLst>
            </a:pPr>
            <a:r>
              <a:rPr sz="3000" dirty="0">
                <a:latin typeface="Calibri"/>
                <a:cs typeface="Calibri"/>
              </a:rPr>
              <a:t>Problems:</a:t>
            </a:r>
            <a:r>
              <a:rPr sz="3000" spc="-110" dirty="0">
                <a:latin typeface="Calibri"/>
                <a:cs typeface="Calibri"/>
              </a:rPr>
              <a:t> </a:t>
            </a:r>
            <a:r>
              <a:rPr sz="3000" dirty="0">
                <a:latin typeface="Calibri"/>
                <a:cs typeface="Calibri"/>
              </a:rPr>
              <a:t>difficult</a:t>
            </a:r>
            <a:r>
              <a:rPr sz="3000" spc="-105" dirty="0">
                <a:latin typeface="Calibri"/>
                <a:cs typeface="Calibri"/>
              </a:rPr>
              <a:t> </a:t>
            </a:r>
            <a:r>
              <a:rPr sz="3000" dirty="0">
                <a:latin typeface="Calibri"/>
                <a:cs typeface="Calibri"/>
              </a:rPr>
              <a:t>to</a:t>
            </a:r>
            <a:r>
              <a:rPr sz="3000" spc="-110" dirty="0">
                <a:latin typeface="Calibri"/>
                <a:cs typeface="Calibri"/>
              </a:rPr>
              <a:t> </a:t>
            </a:r>
            <a:r>
              <a:rPr sz="3000" spc="-10" dirty="0">
                <a:latin typeface="Calibri"/>
                <a:cs typeface="Calibri"/>
              </a:rPr>
              <a:t>program</a:t>
            </a:r>
            <a:r>
              <a:rPr sz="3000" spc="-80" dirty="0">
                <a:latin typeface="Calibri"/>
                <a:cs typeface="Calibri"/>
              </a:rPr>
              <a:t> </a:t>
            </a:r>
            <a:r>
              <a:rPr sz="3000" dirty="0">
                <a:latin typeface="Calibri"/>
                <a:cs typeface="Calibri"/>
              </a:rPr>
              <a:t>for</a:t>
            </a:r>
            <a:r>
              <a:rPr sz="3000" spc="-95" dirty="0">
                <a:latin typeface="Calibri"/>
                <a:cs typeface="Calibri"/>
              </a:rPr>
              <a:t> </a:t>
            </a:r>
            <a:r>
              <a:rPr sz="3000" spc="-20" dirty="0">
                <a:latin typeface="Calibri"/>
                <a:cs typeface="Calibri"/>
              </a:rPr>
              <a:t>n-</a:t>
            </a:r>
            <a:r>
              <a:rPr sz="3000" spc="-10" dirty="0">
                <a:latin typeface="Calibri"/>
                <a:cs typeface="Calibri"/>
              </a:rPr>
              <a:t>processes system</a:t>
            </a:r>
            <a:r>
              <a:rPr sz="3000" spc="-80" dirty="0">
                <a:latin typeface="Calibri"/>
                <a:cs typeface="Calibri"/>
              </a:rPr>
              <a:t> </a:t>
            </a:r>
            <a:r>
              <a:rPr sz="3000" dirty="0">
                <a:latin typeface="Calibri"/>
                <a:cs typeface="Calibri"/>
              </a:rPr>
              <a:t>and</a:t>
            </a:r>
            <a:r>
              <a:rPr sz="3000" spc="-60" dirty="0">
                <a:latin typeface="Calibri"/>
                <a:cs typeface="Calibri"/>
              </a:rPr>
              <a:t> </a:t>
            </a:r>
            <a:r>
              <a:rPr sz="3000" dirty="0">
                <a:latin typeface="Calibri"/>
                <a:cs typeface="Calibri"/>
              </a:rPr>
              <a:t>less</a:t>
            </a:r>
            <a:r>
              <a:rPr sz="3000" spc="-60" dirty="0">
                <a:latin typeface="Calibri"/>
                <a:cs typeface="Calibri"/>
              </a:rPr>
              <a:t> </a:t>
            </a:r>
            <a:r>
              <a:rPr sz="3000" spc="-10" dirty="0">
                <a:latin typeface="Calibri"/>
                <a:cs typeface="Calibri"/>
              </a:rPr>
              <a:t>efficient.</a:t>
            </a:r>
            <a:endParaRPr sz="3000" dirty="0">
              <a:latin typeface="Calibri"/>
              <a:cs typeface="Calibri"/>
            </a:endParaRP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13335" rIns="0" bIns="0" rtlCol="0">
            <a:spAutoFit/>
          </a:bodyPr>
          <a:lstStyle/>
          <a:p>
            <a:pPr marL="12700" algn="ctr" rtl="0">
              <a:spcBef>
                <a:spcPts val="105"/>
              </a:spcBef>
            </a:pPr>
            <a:r>
              <a:rPr sz="3200" b="1" dirty="0">
                <a:solidFill>
                  <a:sysClr val="windowText" lastClr="000000"/>
                </a:solidFill>
                <a:latin typeface="+mj-lt"/>
                <a:cs typeface="+mj-cs"/>
              </a:rPr>
              <a:t>Hardware Assistance(TSL)</a:t>
            </a:r>
          </a:p>
        </p:txBody>
      </p:sp>
      <p:sp>
        <p:nvSpPr>
          <p:cNvPr id="4" name="object 4"/>
          <p:cNvSpPr txBox="1">
            <a:spLocks noGrp="1"/>
          </p:cNvSpPr>
          <p:nvPr>
            <p:ph type="ftr" sz="quarter" idx="5"/>
          </p:nvPr>
        </p:nvSpPr>
        <p:spPr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12700">
              <a:lnSpc>
                <a:spcPts val="1240"/>
              </a:lnSpc>
            </a:pPr>
            <a:r>
              <a:rPr lang="pl-PL"/>
              <a:t>By Dr. Binod Kr. Adhikari</a:t>
            </a:r>
            <a:endParaRPr spc="-10" dirty="0"/>
          </a:p>
        </p:txBody>
      </p:sp>
      <p:sp>
        <p:nvSpPr>
          <p:cNvPr id="3" name="object 3"/>
          <p:cNvSpPr txBox="1"/>
          <p:nvPr/>
        </p:nvSpPr>
        <p:spPr>
          <a:xfrm>
            <a:off x="535940" y="1607642"/>
            <a:ext cx="8074659" cy="4124325"/>
          </a:xfrm>
          <a:prstGeom prst="rect">
            <a:avLst/>
          </a:prstGeom>
        </p:spPr>
        <p:txBody>
          <a:bodyPr vert="horz" wrap="square" lIns="0" tIns="13335" rIns="0" bIns="0" rtlCol="0">
            <a:spAutoFit/>
          </a:bodyPr>
          <a:lstStyle/>
          <a:p>
            <a:pPr marL="354330" marR="5715" indent="-341630" algn="just">
              <a:lnSpc>
                <a:spcPct val="100000"/>
              </a:lnSpc>
              <a:spcBef>
                <a:spcPts val="105"/>
              </a:spcBef>
              <a:buFont typeface="Arial"/>
              <a:buChar char="•"/>
              <a:tabLst>
                <a:tab pos="355600" algn="l"/>
              </a:tabLst>
            </a:pPr>
            <a:r>
              <a:rPr sz="3200" dirty="0">
                <a:latin typeface="Calibri"/>
                <a:cs typeface="Calibri"/>
              </a:rPr>
              <a:t>Checking</a:t>
            </a:r>
            <a:r>
              <a:rPr sz="3200" spc="225" dirty="0">
                <a:latin typeface="Calibri"/>
                <a:cs typeface="Calibri"/>
              </a:rPr>
              <a:t> </a:t>
            </a:r>
            <a:r>
              <a:rPr sz="3200" dirty="0">
                <a:latin typeface="Calibri"/>
                <a:cs typeface="Calibri"/>
              </a:rPr>
              <a:t>for</a:t>
            </a:r>
            <a:r>
              <a:rPr sz="3200" spc="210" dirty="0">
                <a:latin typeface="Calibri"/>
                <a:cs typeface="Calibri"/>
              </a:rPr>
              <a:t> </a:t>
            </a:r>
            <a:r>
              <a:rPr sz="3200" dirty="0">
                <a:latin typeface="Calibri"/>
                <a:cs typeface="Calibri"/>
              </a:rPr>
              <a:t>mutual</a:t>
            </a:r>
            <a:r>
              <a:rPr sz="3200" spc="220" dirty="0">
                <a:latin typeface="Calibri"/>
                <a:cs typeface="Calibri"/>
              </a:rPr>
              <a:t> </a:t>
            </a:r>
            <a:r>
              <a:rPr sz="3200" dirty="0">
                <a:latin typeface="Calibri"/>
                <a:cs typeface="Calibri"/>
              </a:rPr>
              <a:t>exclusion</a:t>
            </a:r>
            <a:r>
              <a:rPr sz="3200" spc="220" dirty="0">
                <a:latin typeface="Calibri"/>
                <a:cs typeface="Calibri"/>
              </a:rPr>
              <a:t> </a:t>
            </a:r>
            <a:r>
              <a:rPr sz="3200" dirty="0">
                <a:latin typeface="Calibri"/>
                <a:cs typeface="Calibri"/>
              </a:rPr>
              <a:t>is</a:t>
            </a:r>
            <a:r>
              <a:rPr sz="3200" spc="225" dirty="0">
                <a:latin typeface="Calibri"/>
                <a:cs typeface="Calibri"/>
              </a:rPr>
              <a:t> </a:t>
            </a:r>
            <a:r>
              <a:rPr sz="3200" dirty="0">
                <a:latin typeface="Calibri"/>
                <a:cs typeface="Calibri"/>
              </a:rPr>
              <a:t>also</a:t>
            </a:r>
            <a:r>
              <a:rPr sz="3200" spc="225" dirty="0">
                <a:latin typeface="Calibri"/>
                <a:cs typeface="Calibri"/>
              </a:rPr>
              <a:t> </a:t>
            </a:r>
            <a:r>
              <a:rPr sz="3200" spc="-10" dirty="0">
                <a:latin typeface="Calibri"/>
                <a:cs typeface="Calibri"/>
              </a:rPr>
              <a:t>possible 	</a:t>
            </a:r>
            <a:r>
              <a:rPr sz="3200" dirty="0">
                <a:latin typeface="Calibri"/>
                <a:cs typeface="Calibri"/>
              </a:rPr>
              <a:t>through</a:t>
            </a:r>
            <a:r>
              <a:rPr sz="3200" spc="-170" dirty="0">
                <a:latin typeface="Calibri"/>
                <a:cs typeface="Calibri"/>
              </a:rPr>
              <a:t> </a:t>
            </a:r>
            <a:r>
              <a:rPr sz="3200" spc="-10" dirty="0">
                <a:latin typeface="Calibri"/>
                <a:cs typeface="Calibri"/>
              </a:rPr>
              <a:t>Hardware.</a:t>
            </a:r>
            <a:endParaRPr sz="3200" dirty="0">
              <a:latin typeface="Calibri"/>
              <a:cs typeface="Calibri"/>
            </a:endParaRPr>
          </a:p>
          <a:p>
            <a:pPr marL="355600" marR="5715" indent="-342900" algn="just">
              <a:lnSpc>
                <a:spcPct val="100000"/>
              </a:lnSpc>
              <a:spcBef>
                <a:spcPts val="770"/>
              </a:spcBef>
              <a:buFont typeface="Arial"/>
              <a:buChar char="•"/>
              <a:tabLst>
                <a:tab pos="355600" algn="l"/>
              </a:tabLst>
            </a:pPr>
            <a:r>
              <a:rPr sz="3200" dirty="0">
                <a:latin typeface="Calibri"/>
                <a:cs typeface="Calibri"/>
              </a:rPr>
              <a:t>Specific</a:t>
            </a:r>
            <a:r>
              <a:rPr sz="3200" spc="685" dirty="0">
                <a:latin typeface="Calibri"/>
                <a:cs typeface="Calibri"/>
              </a:rPr>
              <a:t>  </a:t>
            </a:r>
            <a:r>
              <a:rPr sz="3200" dirty="0">
                <a:latin typeface="Calibri"/>
                <a:cs typeface="Calibri"/>
              </a:rPr>
              <a:t>instruction</a:t>
            </a:r>
            <a:r>
              <a:rPr sz="3200" spc="700" dirty="0">
                <a:latin typeface="Calibri"/>
                <a:cs typeface="Calibri"/>
              </a:rPr>
              <a:t>  </a:t>
            </a:r>
            <a:r>
              <a:rPr sz="3200" dirty="0">
                <a:latin typeface="Calibri"/>
                <a:cs typeface="Calibri"/>
              </a:rPr>
              <a:t>called</a:t>
            </a:r>
            <a:r>
              <a:rPr sz="3200" spc="690" dirty="0">
                <a:latin typeface="Calibri"/>
                <a:cs typeface="Calibri"/>
              </a:rPr>
              <a:t>  </a:t>
            </a:r>
            <a:r>
              <a:rPr sz="3200" b="1" dirty="0">
                <a:solidFill>
                  <a:srgbClr val="00B050"/>
                </a:solidFill>
                <a:latin typeface="Calibri"/>
                <a:cs typeface="Calibri"/>
              </a:rPr>
              <a:t>Test</a:t>
            </a:r>
            <a:r>
              <a:rPr sz="3200" b="1" spc="700" dirty="0">
                <a:solidFill>
                  <a:srgbClr val="00B050"/>
                </a:solidFill>
                <a:latin typeface="Calibri"/>
                <a:cs typeface="Calibri"/>
              </a:rPr>
              <a:t>  </a:t>
            </a:r>
            <a:r>
              <a:rPr sz="3200" b="1" dirty="0">
                <a:solidFill>
                  <a:srgbClr val="00B050"/>
                </a:solidFill>
                <a:latin typeface="Calibri"/>
                <a:cs typeface="Calibri"/>
              </a:rPr>
              <a:t>and</a:t>
            </a:r>
            <a:r>
              <a:rPr sz="3200" b="1" spc="695" dirty="0">
                <a:solidFill>
                  <a:srgbClr val="00B050"/>
                </a:solidFill>
                <a:latin typeface="Calibri"/>
                <a:cs typeface="Calibri"/>
              </a:rPr>
              <a:t>  </a:t>
            </a:r>
            <a:r>
              <a:rPr sz="3200" b="1" spc="-25" dirty="0">
                <a:solidFill>
                  <a:srgbClr val="00B050"/>
                </a:solidFill>
                <a:latin typeface="Calibri"/>
                <a:cs typeface="Calibri"/>
              </a:rPr>
              <a:t>Set </a:t>
            </a:r>
            <a:r>
              <a:rPr sz="3200" b="1" dirty="0">
                <a:solidFill>
                  <a:srgbClr val="00B050"/>
                </a:solidFill>
                <a:latin typeface="Calibri"/>
                <a:cs typeface="Calibri"/>
              </a:rPr>
              <a:t>Lock(TSL)</a:t>
            </a:r>
            <a:r>
              <a:rPr sz="3200" spc="-45" dirty="0">
                <a:latin typeface="Calibri"/>
                <a:cs typeface="Calibri"/>
              </a:rPr>
              <a:t> </a:t>
            </a:r>
            <a:r>
              <a:rPr sz="3200" dirty="0">
                <a:latin typeface="Calibri"/>
                <a:cs typeface="Calibri"/>
              </a:rPr>
              <a:t>is</a:t>
            </a:r>
            <a:r>
              <a:rPr sz="3200" spc="-45" dirty="0">
                <a:latin typeface="Calibri"/>
                <a:cs typeface="Calibri"/>
              </a:rPr>
              <a:t> </a:t>
            </a:r>
            <a:r>
              <a:rPr sz="3200" dirty="0">
                <a:latin typeface="Calibri"/>
                <a:cs typeface="Calibri"/>
              </a:rPr>
              <a:t>used</a:t>
            </a:r>
            <a:r>
              <a:rPr sz="3200" spc="-45" dirty="0">
                <a:latin typeface="Calibri"/>
                <a:cs typeface="Calibri"/>
              </a:rPr>
              <a:t> </a:t>
            </a:r>
            <a:r>
              <a:rPr sz="3200" dirty="0">
                <a:latin typeface="Calibri"/>
                <a:cs typeface="Calibri"/>
              </a:rPr>
              <a:t>for</a:t>
            </a:r>
            <a:r>
              <a:rPr sz="3200" spc="-55" dirty="0">
                <a:latin typeface="Calibri"/>
                <a:cs typeface="Calibri"/>
              </a:rPr>
              <a:t> </a:t>
            </a:r>
            <a:r>
              <a:rPr sz="3200" dirty="0">
                <a:latin typeface="Calibri"/>
                <a:cs typeface="Calibri"/>
              </a:rPr>
              <a:t>this</a:t>
            </a:r>
            <a:r>
              <a:rPr sz="3200" spc="-25" dirty="0">
                <a:latin typeface="Calibri"/>
                <a:cs typeface="Calibri"/>
              </a:rPr>
              <a:t> </a:t>
            </a:r>
            <a:r>
              <a:rPr sz="3200" spc="-10" dirty="0">
                <a:latin typeface="Calibri"/>
                <a:cs typeface="Calibri"/>
              </a:rPr>
              <a:t>purpose.</a:t>
            </a:r>
            <a:endParaRPr sz="3200" dirty="0">
              <a:latin typeface="Calibri"/>
              <a:cs typeface="Calibri"/>
            </a:endParaRPr>
          </a:p>
          <a:p>
            <a:pPr marL="355600" marR="5080" indent="-342900" algn="just">
              <a:lnSpc>
                <a:spcPct val="100000"/>
              </a:lnSpc>
              <a:spcBef>
                <a:spcPts val="770"/>
              </a:spcBef>
              <a:buFont typeface="Arial"/>
              <a:buChar char="•"/>
              <a:tabLst>
                <a:tab pos="355600" algn="l"/>
              </a:tabLst>
            </a:pPr>
            <a:r>
              <a:rPr sz="3200" dirty="0">
                <a:latin typeface="Calibri"/>
                <a:cs typeface="Calibri"/>
              </a:rPr>
              <a:t>The</a:t>
            </a:r>
            <a:r>
              <a:rPr sz="3200" spc="470" dirty="0">
                <a:latin typeface="Calibri"/>
                <a:cs typeface="Calibri"/>
              </a:rPr>
              <a:t> </a:t>
            </a:r>
            <a:r>
              <a:rPr sz="3200" dirty="0">
                <a:latin typeface="Calibri"/>
                <a:cs typeface="Calibri"/>
              </a:rPr>
              <a:t>special</a:t>
            </a:r>
            <a:r>
              <a:rPr sz="3200" spc="480" dirty="0">
                <a:latin typeface="Calibri"/>
                <a:cs typeface="Calibri"/>
              </a:rPr>
              <a:t> </a:t>
            </a:r>
            <a:r>
              <a:rPr sz="3200" dirty="0">
                <a:latin typeface="Calibri"/>
                <a:cs typeface="Calibri"/>
              </a:rPr>
              <a:t>properties</a:t>
            </a:r>
            <a:r>
              <a:rPr sz="3200" spc="470" dirty="0">
                <a:latin typeface="Calibri"/>
                <a:cs typeface="Calibri"/>
              </a:rPr>
              <a:t> </a:t>
            </a:r>
            <a:r>
              <a:rPr sz="3200" dirty="0">
                <a:latin typeface="Calibri"/>
                <a:cs typeface="Calibri"/>
              </a:rPr>
              <a:t>of</a:t>
            </a:r>
            <a:r>
              <a:rPr sz="3200" spc="475" dirty="0">
                <a:latin typeface="Calibri"/>
                <a:cs typeface="Calibri"/>
              </a:rPr>
              <a:t> </a:t>
            </a:r>
            <a:r>
              <a:rPr sz="3200" dirty="0">
                <a:latin typeface="Calibri"/>
                <a:cs typeface="Calibri"/>
              </a:rPr>
              <a:t>these</a:t>
            </a:r>
            <a:r>
              <a:rPr sz="3200" spc="470" dirty="0">
                <a:latin typeface="Calibri"/>
                <a:cs typeface="Calibri"/>
              </a:rPr>
              <a:t> </a:t>
            </a:r>
            <a:r>
              <a:rPr sz="3200" dirty="0">
                <a:latin typeface="Calibri"/>
                <a:cs typeface="Calibri"/>
              </a:rPr>
              <a:t>instruction</a:t>
            </a:r>
            <a:r>
              <a:rPr sz="3200" spc="500" dirty="0">
                <a:latin typeface="Calibri"/>
                <a:cs typeface="Calibri"/>
              </a:rPr>
              <a:t> </a:t>
            </a:r>
            <a:r>
              <a:rPr sz="3200" spc="-25" dirty="0">
                <a:latin typeface="Calibri"/>
                <a:cs typeface="Calibri"/>
              </a:rPr>
              <a:t>is </a:t>
            </a:r>
            <a:r>
              <a:rPr sz="3200" dirty="0">
                <a:latin typeface="Calibri"/>
                <a:cs typeface="Calibri"/>
              </a:rPr>
              <a:t>that</a:t>
            </a:r>
            <a:r>
              <a:rPr sz="3200" spc="85" dirty="0">
                <a:latin typeface="Calibri"/>
                <a:cs typeface="Calibri"/>
              </a:rPr>
              <a:t>  </a:t>
            </a:r>
            <a:r>
              <a:rPr sz="3200" dirty="0">
                <a:latin typeface="Calibri"/>
                <a:cs typeface="Calibri"/>
              </a:rPr>
              <a:t>they</a:t>
            </a:r>
            <a:r>
              <a:rPr sz="3200" spc="80" dirty="0">
                <a:latin typeface="Calibri"/>
                <a:cs typeface="Calibri"/>
              </a:rPr>
              <a:t>  </a:t>
            </a:r>
            <a:r>
              <a:rPr lang="en-US" sz="3200" dirty="0">
                <a:solidFill>
                  <a:srgbClr val="002060"/>
                </a:solidFill>
                <a:latin typeface="Calibri"/>
                <a:cs typeface="Calibri"/>
              </a:rPr>
              <a:t>can't</a:t>
            </a:r>
            <a:r>
              <a:rPr sz="3200" spc="85" dirty="0">
                <a:solidFill>
                  <a:srgbClr val="002060"/>
                </a:solidFill>
                <a:latin typeface="Calibri"/>
                <a:cs typeface="Calibri"/>
              </a:rPr>
              <a:t>  </a:t>
            </a:r>
            <a:r>
              <a:rPr sz="3200" dirty="0">
                <a:solidFill>
                  <a:srgbClr val="002060"/>
                </a:solidFill>
                <a:latin typeface="Calibri"/>
                <a:cs typeface="Calibri"/>
              </a:rPr>
              <a:t>be</a:t>
            </a:r>
            <a:r>
              <a:rPr sz="3200" spc="75" dirty="0">
                <a:solidFill>
                  <a:srgbClr val="002060"/>
                </a:solidFill>
                <a:latin typeface="Calibri"/>
                <a:cs typeface="Calibri"/>
              </a:rPr>
              <a:t>  </a:t>
            </a:r>
            <a:r>
              <a:rPr sz="3200" dirty="0">
                <a:solidFill>
                  <a:srgbClr val="002060"/>
                </a:solidFill>
                <a:latin typeface="Calibri"/>
                <a:cs typeface="Calibri"/>
              </a:rPr>
              <a:t>interrupted</a:t>
            </a:r>
            <a:r>
              <a:rPr sz="3200" spc="90" dirty="0">
                <a:solidFill>
                  <a:srgbClr val="002060"/>
                </a:solidFill>
                <a:latin typeface="Calibri"/>
                <a:cs typeface="Calibri"/>
              </a:rPr>
              <a:t>  </a:t>
            </a:r>
            <a:r>
              <a:rPr sz="3200" dirty="0">
                <a:latin typeface="Calibri"/>
                <a:cs typeface="Calibri"/>
              </a:rPr>
              <a:t>i.e.</a:t>
            </a:r>
            <a:r>
              <a:rPr sz="3200" spc="85" dirty="0">
                <a:latin typeface="Calibri"/>
                <a:cs typeface="Calibri"/>
              </a:rPr>
              <a:t>  </a:t>
            </a:r>
            <a:r>
              <a:rPr sz="3200" dirty="0">
                <a:latin typeface="Calibri"/>
                <a:cs typeface="Calibri"/>
              </a:rPr>
              <a:t>they</a:t>
            </a:r>
            <a:r>
              <a:rPr sz="3200" spc="75" dirty="0">
                <a:latin typeface="Calibri"/>
                <a:cs typeface="Calibri"/>
              </a:rPr>
              <a:t>  </a:t>
            </a:r>
            <a:r>
              <a:rPr sz="3200" spc="-25" dirty="0">
                <a:latin typeface="Calibri"/>
                <a:cs typeface="Calibri"/>
              </a:rPr>
              <a:t>are </a:t>
            </a:r>
            <a:r>
              <a:rPr sz="3200" dirty="0">
                <a:latin typeface="Calibri"/>
                <a:cs typeface="Calibri"/>
              </a:rPr>
              <a:t>atomic</a:t>
            </a:r>
            <a:r>
              <a:rPr sz="3200" spc="690" dirty="0">
                <a:latin typeface="Calibri"/>
                <a:cs typeface="Calibri"/>
              </a:rPr>
              <a:t> </a:t>
            </a:r>
            <a:r>
              <a:rPr sz="3200" dirty="0">
                <a:latin typeface="Calibri"/>
                <a:cs typeface="Calibri"/>
              </a:rPr>
              <a:t>instruction</a:t>
            </a:r>
            <a:r>
              <a:rPr sz="3200" spc="710" dirty="0">
                <a:latin typeface="Calibri"/>
                <a:cs typeface="Calibri"/>
              </a:rPr>
              <a:t> </a:t>
            </a:r>
            <a:r>
              <a:rPr sz="3200" dirty="0">
                <a:latin typeface="Calibri"/>
                <a:cs typeface="Calibri"/>
              </a:rPr>
              <a:t>and</a:t>
            </a:r>
            <a:r>
              <a:rPr sz="3200" spc="695" dirty="0">
                <a:latin typeface="Calibri"/>
                <a:cs typeface="Calibri"/>
              </a:rPr>
              <a:t> </a:t>
            </a:r>
            <a:r>
              <a:rPr sz="3200" dirty="0">
                <a:latin typeface="Calibri"/>
                <a:cs typeface="Calibri"/>
              </a:rPr>
              <a:t>carried</a:t>
            </a:r>
            <a:r>
              <a:rPr sz="3200" spc="695" dirty="0">
                <a:latin typeface="Calibri"/>
                <a:cs typeface="Calibri"/>
              </a:rPr>
              <a:t> </a:t>
            </a:r>
            <a:r>
              <a:rPr sz="3200" dirty="0">
                <a:latin typeface="Calibri"/>
                <a:cs typeface="Calibri"/>
              </a:rPr>
              <a:t>out</a:t>
            </a:r>
            <a:r>
              <a:rPr sz="3200" spc="690" dirty="0">
                <a:latin typeface="Calibri"/>
                <a:cs typeface="Calibri"/>
              </a:rPr>
              <a:t> </a:t>
            </a:r>
            <a:r>
              <a:rPr sz="3200" dirty="0">
                <a:latin typeface="Calibri"/>
                <a:cs typeface="Calibri"/>
              </a:rPr>
              <a:t>with</a:t>
            </a:r>
            <a:r>
              <a:rPr sz="3200" spc="705" dirty="0">
                <a:latin typeface="Calibri"/>
                <a:cs typeface="Calibri"/>
              </a:rPr>
              <a:t> </a:t>
            </a:r>
            <a:r>
              <a:rPr sz="3200" spc="-25" dirty="0">
                <a:latin typeface="Calibri"/>
                <a:cs typeface="Calibri"/>
              </a:rPr>
              <a:t>out </a:t>
            </a:r>
            <a:r>
              <a:rPr sz="3200" spc="-10" dirty="0">
                <a:latin typeface="Calibri"/>
                <a:cs typeface="Calibri"/>
              </a:rPr>
              <a:t>interruption.</a:t>
            </a:r>
            <a:endParaRPr sz="3200" dirty="0">
              <a:latin typeface="Calibri"/>
              <a:cs typeface="Calibri"/>
            </a:endParaRP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13335" rIns="0" bIns="0" rtlCol="0">
            <a:spAutoFit/>
          </a:bodyPr>
          <a:lstStyle/>
          <a:p>
            <a:pPr marL="12700" algn="ctr" rtl="0">
              <a:spcBef>
                <a:spcPts val="105"/>
              </a:spcBef>
            </a:pPr>
            <a:r>
              <a:rPr sz="3200" b="1" dirty="0">
                <a:solidFill>
                  <a:sysClr val="windowText" lastClr="000000"/>
                </a:solidFill>
                <a:latin typeface="+mj-lt"/>
                <a:cs typeface="+mj-cs"/>
              </a:rPr>
              <a:t>TSL instruction</a:t>
            </a:r>
          </a:p>
        </p:txBody>
      </p:sp>
      <p:sp>
        <p:nvSpPr>
          <p:cNvPr id="4" name="object 4"/>
          <p:cNvSpPr txBox="1">
            <a:spLocks noGrp="1"/>
          </p:cNvSpPr>
          <p:nvPr>
            <p:ph type="ftr" sz="quarter" idx="5"/>
          </p:nvPr>
        </p:nvSpPr>
        <p:spPr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12700">
              <a:lnSpc>
                <a:spcPts val="1240"/>
              </a:lnSpc>
            </a:pPr>
            <a:r>
              <a:rPr lang="pl-PL"/>
              <a:t>By Dr. Binod Kr. Adhikari</a:t>
            </a:r>
            <a:endParaRPr spc="-10" dirty="0"/>
          </a:p>
        </p:txBody>
      </p:sp>
      <p:sp>
        <p:nvSpPr>
          <p:cNvPr id="3" name="object 3"/>
          <p:cNvSpPr txBox="1"/>
          <p:nvPr/>
        </p:nvSpPr>
        <p:spPr>
          <a:xfrm>
            <a:off x="535940" y="1472565"/>
            <a:ext cx="8073390" cy="4471035"/>
          </a:xfrm>
          <a:prstGeom prst="rect">
            <a:avLst/>
          </a:prstGeom>
        </p:spPr>
        <p:txBody>
          <a:bodyPr vert="horz" wrap="square" lIns="0" tIns="59055" rIns="0" bIns="0" rtlCol="0">
            <a:spAutoFit/>
          </a:bodyPr>
          <a:lstStyle/>
          <a:p>
            <a:pPr marL="355600" marR="6350" indent="-342900" algn="just">
              <a:lnSpc>
                <a:spcPts val="2920"/>
              </a:lnSpc>
              <a:spcBef>
                <a:spcPts val="465"/>
              </a:spcBef>
              <a:buFont typeface="Arial"/>
              <a:buChar char="•"/>
              <a:tabLst>
                <a:tab pos="355600" algn="l"/>
              </a:tabLst>
            </a:pPr>
            <a:r>
              <a:rPr sz="2700" dirty="0">
                <a:latin typeface="Times New Roman"/>
                <a:cs typeface="Times New Roman"/>
              </a:rPr>
              <a:t>Test</a:t>
            </a:r>
            <a:r>
              <a:rPr sz="2700" spc="185" dirty="0">
                <a:latin typeface="Times New Roman"/>
                <a:cs typeface="Times New Roman"/>
              </a:rPr>
              <a:t> </a:t>
            </a:r>
            <a:r>
              <a:rPr sz="2700" dirty="0">
                <a:latin typeface="Times New Roman"/>
                <a:cs typeface="Times New Roman"/>
              </a:rPr>
              <a:t>and</a:t>
            </a:r>
            <a:r>
              <a:rPr sz="2700" spc="185" dirty="0">
                <a:latin typeface="Times New Roman"/>
                <a:cs typeface="Times New Roman"/>
              </a:rPr>
              <a:t> </a:t>
            </a:r>
            <a:r>
              <a:rPr sz="2700" dirty="0">
                <a:latin typeface="Times New Roman"/>
                <a:cs typeface="Times New Roman"/>
              </a:rPr>
              <a:t>Set</a:t>
            </a:r>
            <a:r>
              <a:rPr sz="2700" spc="180" dirty="0">
                <a:latin typeface="Times New Roman"/>
                <a:cs typeface="Times New Roman"/>
              </a:rPr>
              <a:t> </a:t>
            </a:r>
            <a:r>
              <a:rPr sz="2700" dirty="0">
                <a:latin typeface="Times New Roman"/>
                <a:cs typeface="Times New Roman"/>
              </a:rPr>
              <a:t>Lock</a:t>
            </a:r>
            <a:r>
              <a:rPr sz="2700" spc="180" dirty="0">
                <a:latin typeface="Times New Roman"/>
                <a:cs typeface="Times New Roman"/>
              </a:rPr>
              <a:t> </a:t>
            </a:r>
            <a:r>
              <a:rPr sz="2700" dirty="0">
                <a:latin typeface="Times New Roman"/>
                <a:cs typeface="Times New Roman"/>
              </a:rPr>
              <a:t>(TSL)</a:t>
            </a:r>
            <a:r>
              <a:rPr sz="2700" spc="175" dirty="0">
                <a:latin typeface="Times New Roman"/>
                <a:cs typeface="Times New Roman"/>
              </a:rPr>
              <a:t> </a:t>
            </a:r>
            <a:r>
              <a:rPr sz="2700" dirty="0">
                <a:latin typeface="Times New Roman"/>
                <a:cs typeface="Times New Roman"/>
              </a:rPr>
              <a:t>instruction</a:t>
            </a:r>
            <a:r>
              <a:rPr sz="2700" spc="190" dirty="0">
                <a:latin typeface="Times New Roman"/>
                <a:cs typeface="Times New Roman"/>
              </a:rPr>
              <a:t> </a:t>
            </a:r>
            <a:r>
              <a:rPr sz="2700" dirty="0">
                <a:latin typeface="Times New Roman"/>
                <a:cs typeface="Times New Roman"/>
              </a:rPr>
              <a:t>reads</a:t>
            </a:r>
            <a:r>
              <a:rPr sz="2700" spc="165" dirty="0">
                <a:latin typeface="Times New Roman"/>
                <a:cs typeface="Times New Roman"/>
              </a:rPr>
              <a:t> </a:t>
            </a:r>
            <a:r>
              <a:rPr sz="2700" dirty="0">
                <a:latin typeface="Times New Roman"/>
                <a:cs typeface="Times New Roman"/>
              </a:rPr>
              <a:t>the</a:t>
            </a:r>
            <a:r>
              <a:rPr sz="2700" spc="180" dirty="0">
                <a:latin typeface="Times New Roman"/>
                <a:cs typeface="Times New Roman"/>
              </a:rPr>
              <a:t> </a:t>
            </a:r>
            <a:r>
              <a:rPr sz="2700" spc="-10" dirty="0">
                <a:latin typeface="Times New Roman"/>
                <a:cs typeface="Times New Roman"/>
              </a:rPr>
              <a:t>contents </a:t>
            </a:r>
            <a:r>
              <a:rPr sz="2700" dirty="0">
                <a:latin typeface="Times New Roman"/>
                <a:cs typeface="Times New Roman"/>
              </a:rPr>
              <a:t>of</a:t>
            </a:r>
            <a:r>
              <a:rPr sz="2700" spc="625" dirty="0">
                <a:latin typeface="Times New Roman"/>
                <a:cs typeface="Times New Roman"/>
              </a:rPr>
              <a:t> </a:t>
            </a:r>
            <a:r>
              <a:rPr sz="2700" dirty="0">
                <a:latin typeface="Times New Roman"/>
                <a:cs typeface="Times New Roman"/>
              </a:rPr>
              <a:t>the</a:t>
            </a:r>
            <a:r>
              <a:rPr sz="2700" spc="640" dirty="0">
                <a:latin typeface="Times New Roman"/>
                <a:cs typeface="Times New Roman"/>
              </a:rPr>
              <a:t> </a:t>
            </a:r>
            <a:r>
              <a:rPr sz="2700" dirty="0">
                <a:latin typeface="Times New Roman"/>
                <a:cs typeface="Times New Roman"/>
              </a:rPr>
              <a:t>memory</a:t>
            </a:r>
            <a:r>
              <a:rPr sz="2700" spc="660" dirty="0">
                <a:latin typeface="Times New Roman"/>
                <a:cs typeface="Times New Roman"/>
              </a:rPr>
              <a:t> </a:t>
            </a:r>
            <a:r>
              <a:rPr sz="2700" dirty="0">
                <a:latin typeface="Times New Roman"/>
                <a:cs typeface="Times New Roman"/>
              </a:rPr>
              <a:t>word</a:t>
            </a:r>
            <a:r>
              <a:rPr sz="2700" spc="645" dirty="0">
                <a:latin typeface="Times New Roman"/>
                <a:cs typeface="Times New Roman"/>
              </a:rPr>
              <a:t> </a:t>
            </a:r>
            <a:r>
              <a:rPr sz="2700" dirty="0">
                <a:latin typeface="Times New Roman"/>
                <a:cs typeface="Times New Roman"/>
              </a:rPr>
              <a:t>lock</a:t>
            </a:r>
            <a:r>
              <a:rPr sz="2700" spc="650" dirty="0">
                <a:latin typeface="Times New Roman"/>
                <a:cs typeface="Times New Roman"/>
              </a:rPr>
              <a:t> </a:t>
            </a:r>
            <a:r>
              <a:rPr sz="2700" dirty="0">
                <a:latin typeface="Times New Roman"/>
                <a:cs typeface="Times New Roman"/>
              </a:rPr>
              <a:t>(shared</a:t>
            </a:r>
            <a:r>
              <a:rPr sz="2700" spc="645" dirty="0">
                <a:latin typeface="Times New Roman"/>
                <a:cs typeface="Times New Roman"/>
              </a:rPr>
              <a:t> </a:t>
            </a:r>
            <a:r>
              <a:rPr sz="2700" dirty="0">
                <a:latin typeface="Times New Roman"/>
                <a:cs typeface="Times New Roman"/>
              </a:rPr>
              <a:t>variable)</a:t>
            </a:r>
            <a:r>
              <a:rPr sz="2700" spc="635" dirty="0">
                <a:latin typeface="Times New Roman"/>
                <a:cs typeface="Times New Roman"/>
              </a:rPr>
              <a:t> </a:t>
            </a:r>
            <a:r>
              <a:rPr sz="2700" dirty="0">
                <a:latin typeface="Times New Roman"/>
                <a:cs typeface="Times New Roman"/>
              </a:rPr>
              <a:t>into</a:t>
            </a:r>
            <a:r>
              <a:rPr sz="2700" spc="640" dirty="0">
                <a:latin typeface="Times New Roman"/>
                <a:cs typeface="Times New Roman"/>
              </a:rPr>
              <a:t> </a:t>
            </a:r>
            <a:r>
              <a:rPr sz="2700" spc="-25" dirty="0">
                <a:latin typeface="Times New Roman"/>
                <a:cs typeface="Times New Roman"/>
              </a:rPr>
              <a:t>the </a:t>
            </a:r>
            <a:r>
              <a:rPr sz="2700" dirty="0">
                <a:latin typeface="Times New Roman"/>
                <a:cs typeface="Times New Roman"/>
              </a:rPr>
              <a:t>register</a:t>
            </a:r>
            <a:r>
              <a:rPr sz="2700" spc="390" dirty="0">
                <a:latin typeface="Times New Roman"/>
                <a:cs typeface="Times New Roman"/>
              </a:rPr>
              <a:t> </a:t>
            </a:r>
            <a:r>
              <a:rPr sz="2700" dirty="0">
                <a:latin typeface="Times New Roman"/>
                <a:cs typeface="Times New Roman"/>
              </a:rPr>
              <a:t>and</a:t>
            </a:r>
            <a:r>
              <a:rPr sz="2700" spc="385" dirty="0">
                <a:latin typeface="Times New Roman"/>
                <a:cs typeface="Times New Roman"/>
              </a:rPr>
              <a:t> </a:t>
            </a:r>
            <a:r>
              <a:rPr sz="2700" dirty="0">
                <a:latin typeface="Times New Roman"/>
                <a:cs typeface="Times New Roman"/>
              </a:rPr>
              <a:t>then</a:t>
            </a:r>
            <a:r>
              <a:rPr sz="2700" spc="395" dirty="0">
                <a:latin typeface="Times New Roman"/>
                <a:cs typeface="Times New Roman"/>
              </a:rPr>
              <a:t> </a:t>
            </a:r>
            <a:r>
              <a:rPr sz="2700" dirty="0">
                <a:latin typeface="Times New Roman"/>
                <a:cs typeface="Times New Roman"/>
              </a:rPr>
              <a:t>stores</a:t>
            </a:r>
            <a:r>
              <a:rPr sz="2700" spc="385" dirty="0">
                <a:latin typeface="Times New Roman"/>
                <a:cs typeface="Times New Roman"/>
              </a:rPr>
              <a:t> </a:t>
            </a:r>
            <a:r>
              <a:rPr sz="2700" dirty="0">
                <a:latin typeface="Times New Roman"/>
                <a:cs typeface="Times New Roman"/>
              </a:rPr>
              <a:t>nonzero</a:t>
            </a:r>
            <a:r>
              <a:rPr sz="2700" spc="385" dirty="0">
                <a:latin typeface="Times New Roman"/>
                <a:cs typeface="Times New Roman"/>
              </a:rPr>
              <a:t> </a:t>
            </a:r>
            <a:r>
              <a:rPr sz="2700" dirty="0">
                <a:latin typeface="Times New Roman"/>
                <a:cs typeface="Times New Roman"/>
              </a:rPr>
              <a:t>value</a:t>
            </a:r>
            <a:r>
              <a:rPr sz="2700" spc="390" dirty="0">
                <a:latin typeface="Times New Roman"/>
                <a:cs typeface="Times New Roman"/>
              </a:rPr>
              <a:t> </a:t>
            </a:r>
            <a:r>
              <a:rPr sz="2700" dirty="0">
                <a:latin typeface="Times New Roman"/>
                <a:cs typeface="Times New Roman"/>
              </a:rPr>
              <a:t>at</a:t>
            </a:r>
            <a:r>
              <a:rPr sz="2700" spc="380" dirty="0">
                <a:latin typeface="Times New Roman"/>
                <a:cs typeface="Times New Roman"/>
              </a:rPr>
              <a:t> </a:t>
            </a:r>
            <a:r>
              <a:rPr sz="2700" dirty="0">
                <a:latin typeface="Times New Roman"/>
                <a:cs typeface="Times New Roman"/>
              </a:rPr>
              <a:t>the</a:t>
            </a:r>
            <a:r>
              <a:rPr sz="2700" spc="385" dirty="0">
                <a:latin typeface="Times New Roman"/>
                <a:cs typeface="Times New Roman"/>
              </a:rPr>
              <a:t> </a:t>
            </a:r>
            <a:r>
              <a:rPr sz="2700" spc="-10" dirty="0">
                <a:latin typeface="Times New Roman"/>
                <a:cs typeface="Times New Roman"/>
              </a:rPr>
              <a:t>memory </a:t>
            </a:r>
            <a:r>
              <a:rPr sz="2700" dirty="0">
                <a:latin typeface="Times New Roman"/>
                <a:cs typeface="Times New Roman"/>
              </a:rPr>
              <a:t>address</a:t>
            </a:r>
            <a:r>
              <a:rPr sz="2700" spc="-45" dirty="0">
                <a:latin typeface="Times New Roman"/>
                <a:cs typeface="Times New Roman"/>
              </a:rPr>
              <a:t> </a:t>
            </a:r>
            <a:r>
              <a:rPr sz="2700" spc="-20" dirty="0">
                <a:latin typeface="Times New Roman"/>
                <a:cs typeface="Times New Roman"/>
              </a:rPr>
              <a:t>lock.</a:t>
            </a:r>
            <a:endParaRPr sz="2700" dirty="0">
              <a:latin typeface="Times New Roman"/>
              <a:cs typeface="Times New Roman"/>
            </a:endParaRPr>
          </a:p>
          <a:p>
            <a:pPr marL="354965" indent="-342265" algn="just">
              <a:lnSpc>
                <a:spcPct val="100000"/>
              </a:lnSpc>
              <a:spcBef>
                <a:spcPts val="270"/>
              </a:spcBef>
              <a:buFont typeface="Arial"/>
              <a:buChar char="•"/>
              <a:tabLst>
                <a:tab pos="354965" algn="l"/>
              </a:tabLst>
            </a:pPr>
            <a:r>
              <a:rPr sz="2700" dirty="0">
                <a:latin typeface="Times New Roman"/>
                <a:cs typeface="Times New Roman"/>
              </a:rPr>
              <a:t>This</a:t>
            </a:r>
            <a:r>
              <a:rPr sz="2700" spc="-50" dirty="0">
                <a:latin typeface="Times New Roman"/>
                <a:cs typeface="Times New Roman"/>
              </a:rPr>
              <a:t> </a:t>
            </a:r>
            <a:r>
              <a:rPr sz="2700" dirty="0">
                <a:latin typeface="Times New Roman"/>
                <a:cs typeface="Times New Roman"/>
              </a:rPr>
              <a:t>automatically</a:t>
            </a:r>
            <a:r>
              <a:rPr sz="2700" spc="-45" dirty="0">
                <a:latin typeface="Times New Roman"/>
                <a:cs typeface="Times New Roman"/>
              </a:rPr>
              <a:t> </a:t>
            </a:r>
            <a:r>
              <a:rPr sz="2700" dirty="0">
                <a:latin typeface="Times New Roman"/>
                <a:cs typeface="Times New Roman"/>
              </a:rPr>
              <a:t>as</a:t>
            </a:r>
            <a:r>
              <a:rPr sz="2700" spc="-45" dirty="0">
                <a:latin typeface="Times New Roman"/>
                <a:cs typeface="Times New Roman"/>
              </a:rPr>
              <a:t> </a:t>
            </a:r>
            <a:r>
              <a:rPr sz="2700" dirty="0">
                <a:latin typeface="Times New Roman"/>
                <a:cs typeface="Times New Roman"/>
              </a:rPr>
              <a:t>in</a:t>
            </a:r>
            <a:r>
              <a:rPr sz="2700" spc="-35" dirty="0">
                <a:latin typeface="Times New Roman"/>
                <a:cs typeface="Times New Roman"/>
              </a:rPr>
              <a:t> </a:t>
            </a:r>
            <a:r>
              <a:rPr sz="2700" dirty="0">
                <a:latin typeface="Times New Roman"/>
                <a:cs typeface="Times New Roman"/>
              </a:rPr>
              <a:t>a</a:t>
            </a:r>
            <a:r>
              <a:rPr sz="2700" spc="-40" dirty="0">
                <a:latin typeface="Times New Roman"/>
                <a:cs typeface="Times New Roman"/>
              </a:rPr>
              <a:t> </a:t>
            </a:r>
            <a:r>
              <a:rPr sz="2700" dirty="0">
                <a:latin typeface="Times New Roman"/>
                <a:cs typeface="Times New Roman"/>
              </a:rPr>
              <a:t>un-interruptible</a:t>
            </a:r>
            <a:r>
              <a:rPr sz="2700" spc="-65" dirty="0">
                <a:latin typeface="Times New Roman"/>
                <a:cs typeface="Times New Roman"/>
              </a:rPr>
              <a:t> </a:t>
            </a:r>
            <a:r>
              <a:rPr sz="2700" dirty="0">
                <a:latin typeface="Times New Roman"/>
                <a:cs typeface="Times New Roman"/>
              </a:rPr>
              <a:t>time</a:t>
            </a:r>
            <a:r>
              <a:rPr sz="2700" spc="-30" dirty="0">
                <a:latin typeface="Times New Roman"/>
                <a:cs typeface="Times New Roman"/>
              </a:rPr>
              <a:t> </a:t>
            </a:r>
            <a:r>
              <a:rPr sz="2700" spc="-10" dirty="0">
                <a:latin typeface="Times New Roman"/>
                <a:cs typeface="Times New Roman"/>
              </a:rPr>
              <a:t>unit.</a:t>
            </a:r>
            <a:endParaRPr sz="2700" dirty="0">
              <a:latin typeface="Times New Roman"/>
              <a:cs typeface="Times New Roman"/>
            </a:endParaRPr>
          </a:p>
          <a:p>
            <a:pPr marL="355600" marR="5080" indent="-342900" algn="just">
              <a:lnSpc>
                <a:spcPct val="90000"/>
              </a:lnSpc>
              <a:spcBef>
                <a:spcPts val="650"/>
              </a:spcBef>
              <a:buFont typeface="Arial"/>
              <a:buChar char="•"/>
              <a:tabLst>
                <a:tab pos="355600" algn="l"/>
              </a:tabLst>
            </a:pPr>
            <a:r>
              <a:rPr sz="2700" dirty="0">
                <a:latin typeface="Times New Roman"/>
                <a:cs typeface="Times New Roman"/>
              </a:rPr>
              <a:t>The</a:t>
            </a:r>
            <a:r>
              <a:rPr sz="2700" spc="65" dirty="0">
                <a:latin typeface="Times New Roman"/>
                <a:cs typeface="Times New Roman"/>
              </a:rPr>
              <a:t>  </a:t>
            </a:r>
            <a:r>
              <a:rPr sz="2700" dirty="0">
                <a:latin typeface="Times New Roman"/>
                <a:cs typeface="Times New Roman"/>
              </a:rPr>
              <a:t>CPU</a:t>
            </a:r>
            <a:r>
              <a:rPr sz="2700" spc="65" dirty="0">
                <a:latin typeface="Times New Roman"/>
                <a:cs typeface="Times New Roman"/>
              </a:rPr>
              <a:t>  </a:t>
            </a:r>
            <a:r>
              <a:rPr sz="2700" dirty="0">
                <a:latin typeface="Times New Roman"/>
                <a:cs typeface="Times New Roman"/>
              </a:rPr>
              <a:t>executing</a:t>
            </a:r>
            <a:r>
              <a:rPr sz="2700" spc="65" dirty="0">
                <a:latin typeface="Times New Roman"/>
                <a:cs typeface="Times New Roman"/>
              </a:rPr>
              <a:t>  </a:t>
            </a:r>
            <a:r>
              <a:rPr sz="2700" dirty="0">
                <a:latin typeface="Times New Roman"/>
                <a:cs typeface="Times New Roman"/>
              </a:rPr>
              <a:t>TSL</a:t>
            </a:r>
            <a:r>
              <a:rPr sz="2700" spc="15" dirty="0">
                <a:latin typeface="Times New Roman"/>
                <a:cs typeface="Times New Roman"/>
              </a:rPr>
              <a:t>  </a:t>
            </a:r>
            <a:r>
              <a:rPr sz="2700" dirty="0">
                <a:latin typeface="Times New Roman"/>
                <a:cs typeface="Times New Roman"/>
              </a:rPr>
              <a:t>locks</a:t>
            </a:r>
            <a:r>
              <a:rPr sz="2700" spc="75" dirty="0">
                <a:latin typeface="Times New Roman"/>
                <a:cs typeface="Times New Roman"/>
              </a:rPr>
              <a:t>  </a:t>
            </a:r>
            <a:r>
              <a:rPr sz="2700" dirty="0">
                <a:latin typeface="Times New Roman"/>
                <a:cs typeface="Times New Roman"/>
              </a:rPr>
              <a:t>the</a:t>
            </a:r>
            <a:r>
              <a:rPr sz="2700" spc="65" dirty="0">
                <a:latin typeface="Times New Roman"/>
                <a:cs typeface="Times New Roman"/>
              </a:rPr>
              <a:t>  </a:t>
            </a:r>
            <a:r>
              <a:rPr sz="2700" dirty="0">
                <a:latin typeface="Times New Roman"/>
                <a:cs typeface="Times New Roman"/>
              </a:rPr>
              <a:t>memory</a:t>
            </a:r>
            <a:r>
              <a:rPr sz="2700" spc="70" dirty="0">
                <a:latin typeface="Times New Roman"/>
                <a:cs typeface="Times New Roman"/>
              </a:rPr>
              <a:t>  </a:t>
            </a:r>
            <a:r>
              <a:rPr sz="2700" dirty="0">
                <a:latin typeface="Times New Roman"/>
                <a:cs typeface="Times New Roman"/>
              </a:rPr>
              <a:t>bus</a:t>
            </a:r>
            <a:r>
              <a:rPr sz="2700" spc="60" dirty="0">
                <a:latin typeface="Times New Roman"/>
                <a:cs typeface="Times New Roman"/>
              </a:rPr>
              <a:t>  </a:t>
            </a:r>
            <a:r>
              <a:rPr sz="2700" spc="-25" dirty="0">
                <a:latin typeface="Times New Roman"/>
                <a:cs typeface="Times New Roman"/>
              </a:rPr>
              <a:t>to </a:t>
            </a:r>
            <a:r>
              <a:rPr sz="2700" dirty="0">
                <a:latin typeface="Times New Roman"/>
                <a:cs typeface="Times New Roman"/>
              </a:rPr>
              <a:t>prohibit</a:t>
            </a:r>
            <a:r>
              <a:rPr sz="2700" spc="229" dirty="0">
                <a:latin typeface="Times New Roman"/>
                <a:cs typeface="Times New Roman"/>
              </a:rPr>
              <a:t> </a:t>
            </a:r>
            <a:r>
              <a:rPr sz="2700" dirty="0">
                <a:latin typeface="Times New Roman"/>
                <a:cs typeface="Times New Roman"/>
              </a:rPr>
              <a:t>other</a:t>
            </a:r>
            <a:r>
              <a:rPr sz="2700" spc="240" dirty="0">
                <a:latin typeface="Times New Roman"/>
                <a:cs typeface="Times New Roman"/>
              </a:rPr>
              <a:t> </a:t>
            </a:r>
            <a:r>
              <a:rPr sz="2700" dirty="0">
                <a:latin typeface="Times New Roman"/>
                <a:cs typeface="Times New Roman"/>
              </a:rPr>
              <a:t>CPUs</a:t>
            </a:r>
            <a:r>
              <a:rPr sz="2700" spc="245" dirty="0">
                <a:latin typeface="Times New Roman"/>
                <a:cs typeface="Times New Roman"/>
              </a:rPr>
              <a:t> </a:t>
            </a:r>
            <a:r>
              <a:rPr sz="2700" dirty="0">
                <a:latin typeface="Times New Roman"/>
                <a:cs typeface="Times New Roman"/>
              </a:rPr>
              <a:t>from</a:t>
            </a:r>
            <a:r>
              <a:rPr sz="2700" spc="235" dirty="0">
                <a:latin typeface="Times New Roman"/>
                <a:cs typeface="Times New Roman"/>
              </a:rPr>
              <a:t> </a:t>
            </a:r>
            <a:r>
              <a:rPr sz="2700" dirty="0">
                <a:latin typeface="Times New Roman"/>
                <a:cs typeface="Times New Roman"/>
              </a:rPr>
              <a:t>accessing</a:t>
            </a:r>
            <a:r>
              <a:rPr sz="2700" spc="240" dirty="0">
                <a:latin typeface="Times New Roman"/>
                <a:cs typeface="Times New Roman"/>
              </a:rPr>
              <a:t> </a:t>
            </a:r>
            <a:r>
              <a:rPr sz="2700" dirty="0">
                <a:latin typeface="Times New Roman"/>
                <a:cs typeface="Times New Roman"/>
              </a:rPr>
              <a:t>memory</a:t>
            </a:r>
            <a:r>
              <a:rPr sz="2700" spc="245" dirty="0">
                <a:latin typeface="Times New Roman"/>
                <a:cs typeface="Times New Roman"/>
              </a:rPr>
              <a:t> </a:t>
            </a:r>
            <a:r>
              <a:rPr sz="2700" dirty="0">
                <a:latin typeface="Times New Roman"/>
                <a:cs typeface="Times New Roman"/>
              </a:rPr>
              <a:t>until</a:t>
            </a:r>
            <a:r>
              <a:rPr sz="2700" spc="235" dirty="0">
                <a:latin typeface="Times New Roman"/>
                <a:cs typeface="Times New Roman"/>
              </a:rPr>
              <a:t> </a:t>
            </a:r>
            <a:r>
              <a:rPr sz="2700" dirty="0">
                <a:latin typeface="Times New Roman"/>
                <a:cs typeface="Times New Roman"/>
              </a:rPr>
              <a:t>it</a:t>
            </a:r>
            <a:r>
              <a:rPr sz="2700" spc="229" dirty="0">
                <a:latin typeface="Times New Roman"/>
                <a:cs typeface="Times New Roman"/>
              </a:rPr>
              <a:t> </a:t>
            </a:r>
            <a:r>
              <a:rPr sz="2700" spc="-25" dirty="0">
                <a:latin typeface="Times New Roman"/>
                <a:cs typeface="Times New Roman"/>
              </a:rPr>
              <a:t>is </a:t>
            </a:r>
            <a:r>
              <a:rPr sz="2700" spc="-10" dirty="0">
                <a:latin typeface="Times New Roman"/>
                <a:cs typeface="Times New Roman"/>
              </a:rPr>
              <a:t>done.</a:t>
            </a:r>
            <a:endParaRPr sz="2700" dirty="0">
              <a:latin typeface="Times New Roman"/>
              <a:cs typeface="Times New Roman"/>
            </a:endParaRPr>
          </a:p>
          <a:p>
            <a:pPr marL="355600" marR="6350" indent="-342900" algn="just">
              <a:lnSpc>
                <a:spcPts val="2920"/>
              </a:lnSpc>
              <a:spcBef>
                <a:spcPts val="685"/>
              </a:spcBef>
              <a:buFont typeface="Arial"/>
              <a:buChar char="•"/>
              <a:tabLst>
                <a:tab pos="355600" algn="l"/>
              </a:tabLst>
            </a:pPr>
            <a:r>
              <a:rPr sz="2700" dirty="0">
                <a:latin typeface="Times New Roman"/>
                <a:cs typeface="Times New Roman"/>
              </a:rPr>
              <a:t>When</a:t>
            </a:r>
            <a:r>
              <a:rPr sz="2700" spc="305" dirty="0">
                <a:latin typeface="Times New Roman"/>
                <a:cs typeface="Times New Roman"/>
              </a:rPr>
              <a:t> </a:t>
            </a:r>
            <a:r>
              <a:rPr sz="2700" dirty="0">
                <a:latin typeface="Times New Roman"/>
                <a:cs typeface="Times New Roman"/>
              </a:rPr>
              <a:t>lock</a:t>
            </a:r>
            <a:r>
              <a:rPr sz="2700" spc="295" dirty="0">
                <a:latin typeface="Times New Roman"/>
                <a:cs typeface="Times New Roman"/>
              </a:rPr>
              <a:t> </a:t>
            </a:r>
            <a:r>
              <a:rPr sz="2700" dirty="0">
                <a:latin typeface="Times New Roman"/>
                <a:cs typeface="Times New Roman"/>
              </a:rPr>
              <a:t>is</a:t>
            </a:r>
            <a:r>
              <a:rPr sz="2700" spc="305" dirty="0">
                <a:latin typeface="Times New Roman"/>
                <a:cs typeface="Times New Roman"/>
              </a:rPr>
              <a:t> </a:t>
            </a:r>
            <a:r>
              <a:rPr sz="2700" dirty="0">
                <a:latin typeface="Times New Roman"/>
                <a:cs typeface="Times New Roman"/>
              </a:rPr>
              <a:t>0,</a:t>
            </a:r>
            <a:r>
              <a:rPr sz="2700" spc="295" dirty="0">
                <a:latin typeface="Times New Roman"/>
                <a:cs typeface="Times New Roman"/>
              </a:rPr>
              <a:t> </a:t>
            </a:r>
            <a:r>
              <a:rPr sz="2700" dirty="0">
                <a:latin typeface="Times New Roman"/>
                <a:cs typeface="Times New Roman"/>
              </a:rPr>
              <a:t>any</a:t>
            </a:r>
            <a:r>
              <a:rPr sz="2700" spc="290" dirty="0">
                <a:latin typeface="Times New Roman"/>
                <a:cs typeface="Times New Roman"/>
              </a:rPr>
              <a:t> </a:t>
            </a:r>
            <a:r>
              <a:rPr sz="2700" dirty="0">
                <a:latin typeface="Times New Roman"/>
                <a:cs typeface="Times New Roman"/>
              </a:rPr>
              <a:t>process</a:t>
            </a:r>
            <a:r>
              <a:rPr sz="2700" spc="315" dirty="0">
                <a:latin typeface="Times New Roman"/>
                <a:cs typeface="Times New Roman"/>
              </a:rPr>
              <a:t> </a:t>
            </a:r>
            <a:r>
              <a:rPr sz="2700" dirty="0">
                <a:latin typeface="Times New Roman"/>
                <a:cs typeface="Times New Roman"/>
              </a:rPr>
              <a:t>may</a:t>
            </a:r>
            <a:r>
              <a:rPr sz="2700" spc="305" dirty="0">
                <a:latin typeface="Times New Roman"/>
                <a:cs typeface="Times New Roman"/>
              </a:rPr>
              <a:t> </a:t>
            </a:r>
            <a:r>
              <a:rPr sz="2700" dirty="0">
                <a:latin typeface="Times New Roman"/>
                <a:cs typeface="Times New Roman"/>
              </a:rPr>
              <a:t>set</a:t>
            </a:r>
            <a:r>
              <a:rPr sz="2700" spc="300" dirty="0">
                <a:latin typeface="Times New Roman"/>
                <a:cs typeface="Times New Roman"/>
              </a:rPr>
              <a:t> </a:t>
            </a:r>
            <a:r>
              <a:rPr sz="2700" dirty="0">
                <a:latin typeface="Times New Roman"/>
                <a:cs typeface="Times New Roman"/>
              </a:rPr>
              <a:t>it</a:t>
            </a:r>
            <a:r>
              <a:rPr sz="2700" spc="290" dirty="0">
                <a:latin typeface="Times New Roman"/>
                <a:cs typeface="Times New Roman"/>
              </a:rPr>
              <a:t> </a:t>
            </a:r>
            <a:r>
              <a:rPr sz="2700" dirty="0">
                <a:latin typeface="Times New Roman"/>
                <a:cs typeface="Times New Roman"/>
              </a:rPr>
              <a:t>to</a:t>
            </a:r>
            <a:r>
              <a:rPr sz="2700" spc="295" dirty="0">
                <a:latin typeface="Times New Roman"/>
                <a:cs typeface="Times New Roman"/>
              </a:rPr>
              <a:t> </a:t>
            </a:r>
            <a:r>
              <a:rPr sz="2700" dirty="0">
                <a:latin typeface="Times New Roman"/>
                <a:cs typeface="Times New Roman"/>
              </a:rPr>
              <a:t>1</a:t>
            </a:r>
            <a:r>
              <a:rPr sz="2700" spc="300" dirty="0">
                <a:latin typeface="Times New Roman"/>
                <a:cs typeface="Times New Roman"/>
              </a:rPr>
              <a:t> </a:t>
            </a:r>
            <a:r>
              <a:rPr sz="2700" dirty="0">
                <a:latin typeface="Times New Roman"/>
                <a:cs typeface="Times New Roman"/>
              </a:rPr>
              <a:t>using</a:t>
            </a:r>
            <a:r>
              <a:rPr sz="2700" spc="305" dirty="0">
                <a:latin typeface="Times New Roman"/>
                <a:cs typeface="Times New Roman"/>
              </a:rPr>
              <a:t> </a:t>
            </a:r>
            <a:r>
              <a:rPr sz="2700" spc="-25" dirty="0">
                <a:latin typeface="Times New Roman"/>
                <a:cs typeface="Times New Roman"/>
              </a:rPr>
              <a:t>the </a:t>
            </a:r>
            <a:r>
              <a:rPr sz="2700" dirty="0">
                <a:latin typeface="Times New Roman"/>
                <a:cs typeface="Times New Roman"/>
              </a:rPr>
              <a:t>TSL</a:t>
            </a:r>
            <a:r>
              <a:rPr sz="2700" spc="-125" dirty="0">
                <a:latin typeface="Times New Roman"/>
                <a:cs typeface="Times New Roman"/>
              </a:rPr>
              <a:t> </a:t>
            </a:r>
            <a:r>
              <a:rPr sz="2700" spc="-10" dirty="0">
                <a:latin typeface="Times New Roman"/>
                <a:cs typeface="Times New Roman"/>
              </a:rPr>
              <a:t>instruction.</a:t>
            </a:r>
            <a:endParaRPr sz="2700" dirty="0">
              <a:latin typeface="Times New Roman"/>
              <a:cs typeface="Times New Roman"/>
            </a:endParaRPr>
          </a:p>
          <a:p>
            <a:pPr marL="354965" indent="-342265" algn="just">
              <a:lnSpc>
                <a:spcPct val="100000"/>
              </a:lnSpc>
              <a:spcBef>
                <a:spcPts val="280"/>
              </a:spcBef>
              <a:buFont typeface="Arial"/>
              <a:buChar char="•"/>
              <a:tabLst>
                <a:tab pos="354965" algn="l"/>
              </a:tabLst>
            </a:pPr>
            <a:r>
              <a:rPr sz="2700" dirty="0">
                <a:latin typeface="Times New Roman"/>
                <a:cs typeface="Times New Roman"/>
              </a:rPr>
              <a:t>When</a:t>
            </a:r>
            <a:r>
              <a:rPr sz="2700" spc="-35" dirty="0">
                <a:latin typeface="Times New Roman"/>
                <a:cs typeface="Times New Roman"/>
              </a:rPr>
              <a:t> </a:t>
            </a:r>
            <a:r>
              <a:rPr sz="2700" dirty="0">
                <a:latin typeface="Times New Roman"/>
                <a:cs typeface="Times New Roman"/>
              </a:rPr>
              <a:t>it</a:t>
            </a:r>
            <a:r>
              <a:rPr sz="2700" spc="-35" dirty="0">
                <a:latin typeface="Times New Roman"/>
                <a:cs typeface="Times New Roman"/>
              </a:rPr>
              <a:t> </a:t>
            </a:r>
            <a:r>
              <a:rPr sz="2700" dirty="0">
                <a:latin typeface="Times New Roman"/>
                <a:cs typeface="Times New Roman"/>
              </a:rPr>
              <a:t>is</a:t>
            </a:r>
            <a:r>
              <a:rPr sz="2700" spc="-35" dirty="0">
                <a:latin typeface="Times New Roman"/>
                <a:cs typeface="Times New Roman"/>
              </a:rPr>
              <a:t> </a:t>
            </a:r>
            <a:r>
              <a:rPr sz="2700" dirty="0">
                <a:latin typeface="Times New Roman"/>
                <a:cs typeface="Times New Roman"/>
              </a:rPr>
              <a:t>done</a:t>
            </a:r>
            <a:r>
              <a:rPr sz="2700" spc="-40" dirty="0">
                <a:latin typeface="Times New Roman"/>
                <a:cs typeface="Times New Roman"/>
              </a:rPr>
              <a:t> </a:t>
            </a:r>
            <a:r>
              <a:rPr sz="2700" dirty="0">
                <a:latin typeface="Times New Roman"/>
                <a:cs typeface="Times New Roman"/>
              </a:rPr>
              <a:t>the</a:t>
            </a:r>
            <a:r>
              <a:rPr sz="2700" spc="-40" dirty="0">
                <a:latin typeface="Times New Roman"/>
                <a:cs typeface="Times New Roman"/>
              </a:rPr>
              <a:t> </a:t>
            </a:r>
            <a:r>
              <a:rPr sz="2700" dirty="0">
                <a:latin typeface="Times New Roman"/>
                <a:cs typeface="Times New Roman"/>
              </a:rPr>
              <a:t>process</a:t>
            </a:r>
            <a:r>
              <a:rPr sz="2700" spc="-30" dirty="0">
                <a:latin typeface="Times New Roman"/>
                <a:cs typeface="Times New Roman"/>
              </a:rPr>
              <a:t> </a:t>
            </a:r>
            <a:r>
              <a:rPr sz="2700" dirty="0">
                <a:latin typeface="Times New Roman"/>
                <a:cs typeface="Times New Roman"/>
              </a:rPr>
              <a:t>lock</a:t>
            </a:r>
            <a:r>
              <a:rPr sz="2700" spc="-40" dirty="0">
                <a:latin typeface="Times New Roman"/>
                <a:cs typeface="Times New Roman"/>
              </a:rPr>
              <a:t> </a:t>
            </a:r>
            <a:r>
              <a:rPr sz="2700" dirty="0">
                <a:latin typeface="Times New Roman"/>
                <a:cs typeface="Times New Roman"/>
              </a:rPr>
              <a:t>back</a:t>
            </a:r>
            <a:r>
              <a:rPr sz="2700" spc="-20" dirty="0">
                <a:latin typeface="Times New Roman"/>
                <a:cs typeface="Times New Roman"/>
              </a:rPr>
              <a:t> </a:t>
            </a:r>
            <a:r>
              <a:rPr sz="2700" dirty="0">
                <a:latin typeface="Times New Roman"/>
                <a:cs typeface="Times New Roman"/>
              </a:rPr>
              <a:t>to</a:t>
            </a:r>
            <a:r>
              <a:rPr sz="2700" spc="-35" dirty="0">
                <a:latin typeface="Times New Roman"/>
                <a:cs typeface="Times New Roman"/>
              </a:rPr>
              <a:t> </a:t>
            </a:r>
            <a:r>
              <a:rPr sz="2700" spc="-25" dirty="0">
                <a:latin typeface="Times New Roman"/>
                <a:cs typeface="Times New Roman"/>
              </a:rPr>
              <a:t>0.</a:t>
            </a:r>
            <a:endParaRPr sz="2700" dirty="0">
              <a:latin typeface="Times New Roman"/>
              <a:cs typeface="Times New Roman"/>
            </a:endParaRP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13335" rIns="0" bIns="0" rtlCol="0">
            <a:spAutoFit/>
          </a:bodyPr>
          <a:lstStyle/>
          <a:p>
            <a:pPr marL="12700" algn="ctr" rtl="0">
              <a:spcBef>
                <a:spcPts val="105"/>
              </a:spcBef>
            </a:pPr>
            <a:r>
              <a:rPr sz="3200" b="1" dirty="0">
                <a:solidFill>
                  <a:sysClr val="windowText" lastClr="000000"/>
                </a:solidFill>
                <a:latin typeface="+mj-lt"/>
                <a:cs typeface="+mj-cs"/>
              </a:rPr>
              <a:t>Alternate to Busy waiting</a:t>
            </a:r>
          </a:p>
        </p:txBody>
      </p:sp>
      <p:sp>
        <p:nvSpPr>
          <p:cNvPr id="4" name="object 4"/>
          <p:cNvSpPr txBox="1">
            <a:spLocks noGrp="1"/>
          </p:cNvSpPr>
          <p:nvPr>
            <p:ph type="ftr" sz="quarter" idx="5"/>
          </p:nvPr>
        </p:nvSpPr>
        <p:spPr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12700">
              <a:lnSpc>
                <a:spcPts val="1240"/>
              </a:lnSpc>
            </a:pPr>
            <a:r>
              <a:rPr lang="pl-PL"/>
              <a:t>By Dr. Binod Kr. Adhikari</a:t>
            </a:r>
            <a:endParaRPr spc="-10" dirty="0"/>
          </a:p>
        </p:txBody>
      </p:sp>
      <p:sp>
        <p:nvSpPr>
          <p:cNvPr id="3" name="object 3"/>
          <p:cNvSpPr txBox="1"/>
          <p:nvPr/>
        </p:nvSpPr>
        <p:spPr>
          <a:xfrm>
            <a:off x="535940" y="1517750"/>
            <a:ext cx="7878445" cy="4513580"/>
          </a:xfrm>
          <a:prstGeom prst="rect">
            <a:avLst/>
          </a:prstGeom>
        </p:spPr>
        <p:txBody>
          <a:bodyPr vert="horz" wrap="square" lIns="0" tIns="58419" rIns="0" bIns="0" rtlCol="0">
            <a:spAutoFit/>
          </a:bodyPr>
          <a:lstStyle/>
          <a:p>
            <a:pPr marL="192405" algn="ctr">
              <a:lnSpc>
                <a:spcPct val="100000"/>
              </a:lnSpc>
              <a:spcBef>
                <a:spcPts val="459"/>
              </a:spcBef>
            </a:pPr>
            <a:r>
              <a:rPr sz="3000" b="1" dirty="0">
                <a:latin typeface="Calibri"/>
                <a:cs typeface="Calibri"/>
              </a:rPr>
              <a:t>Busy</a:t>
            </a:r>
            <a:r>
              <a:rPr sz="3000" b="1" spc="-114" dirty="0">
                <a:latin typeface="Calibri"/>
                <a:cs typeface="Calibri"/>
              </a:rPr>
              <a:t> </a:t>
            </a:r>
            <a:r>
              <a:rPr sz="3000" b="1" spc="-10" dirty="0">
                <a:latin typeface="Calibri"/>
                <a:cs typeface="Calibri"/>
              </a:rPr>
              <a:t>waiting:</a:t>
            </a:r>
            <a:endParaRPr sz="3000">
              <a:latin typeface="Calibri"/>
              <a:cs typeface="Calibri"/>
            </a:endParaRPr>
          </a:p>
          <a:p>
            <a:pPr marL="271780" marR="71120" indent="-3175" algn="ctr">
              <a:lnSpc>
                <a:spcPct val="110000"/>
              </a:lnSpc>
            </a:pPr>
            <a:r>
              <a:rPr sz="3000" dirty="0">
                <a:latin typeface="Calibri"/>
                <a:cs typeface="Calibri"/>
              </a:rPr>
              <a:t>When</a:t>
            </a:r>
            <a:r>
              <a:rPr sz="3000" spc="-60" dirty="0">
                <a:latin typeface="Calibri"/>
                <a:cs typeface="Calibri"/>
              </a:rPr>
              <a:t> </a:t>
            </a:r>
            <a:r>
              <a:rPr sz="3000" dirty="0">
                <a:latin typeface="Calibri"/>
                <a:cs typeface="Calibri"/>
              </a:rPr>
              <a:t>a</a:t>
            </a:r>
            <a:r>
              <a:rPr sz="3000" spc="-45" dirty="0">
                <a:latin typeface="Calibri"/>
                <a:cs typeface="Calibri"/>
              </a:rPr>
              <a:t> </a:t>
            </a:r>
            <a:r>
              <a:rPr sz="3000" dirty="0">
                <a:latin typeface="Calibri"/>
                <a:cs typeface="Calibri"/>
              </a:rPr>
              <a:t>process</a:t>
            </a:r>
            <a:r>
              <a:rPr sz="3000" spc="-50" dirty="0">
                <a:latin typeface="Calibri"/>
                <a:cs typeface="Calibri"/>
              </a:rPr>
              <a:t> </a:t>
            </a:r>
            <a:r>
              <a:rPr sz="3000" dirty="0">
                <a:latin typeface="Calibri"/>
                <a:cs typeface="Calibri"/>
              </a:rPr>
              <a:t>want</a:t>
            </a:r>
            <a:r>
              <a:rPr sz="3000" spc="-50" dirty="0">
                <a:latin typeface="Calibri"/>
                <a:cs typeface="Calibri"/>
              </a:rPr>
              <a:t> </a:t>
            </a:r>
            <a:r>
              <a:rPr sz="3000" dirty="0">
                <a:latin typeface="Calibri"/>
                <a:cs typeface="Calibri"/>
              </a:rPr>
              <a:t>to</a:t>
            </a:r>
            <a:r>
              <a:rPr sz="3000" spc="-65" dirty="0">
                <a:latin typeface="Calibri"/>
                <a:cs typeface="Calibri"/>
              </a:rPr>
              <a:t> </a:t>
            </a:r>
            <a:r>
              <a:rPr sz="3000" dirty="0">
                <a:latin typeface="Calibri"/>
                <a:cs typeface="Calibri"/>
              </a:rPr>
              <a:t>enter</a:t>
            </a:r>
            <a:r>
              <a:rPr sz="3000" spc="-55" dirty="0">
                <a:latin typeface="Calibri"/>
                <a:cs typeface="Calibri"/>
              </a:rPr>
              <a:t> </a:t>
            </a:r>
            <a:r>
              <a:rPr sz="3000" dirty="0">
                <a:latin typeface="Calibri"/>
                <a:cs typeface="Calibri"/>
              </a:rPr>
              <a:t>its</a:t>
            </a:r>
            <a:r>
              <a:rPr sz="3000" spc="-50" dirty="0">
                <a:latin typeface="Calibri"/>
                <a:cs typeface="Calibri"/>
              </a:rPr>
              <a:t> </a:t>
            </a:r>
            <a:r>
              <a:rPr sz="3000" dirty="0">
                <a:latin typeface="Calibri"/>
                <a:cs typeface="Calibri"/>
              </a:rPr>
              <a:t>CR,</a:t>
            </a:r>
            <a:r>
              <a:rPr sz="3000" spc="-45" dirty="0">
                <a:latin typeface="Calibri"/>
                <a:cs typeface="Calibri"/>
              </a:rPr>
              <a:t> </a:t>
            </a:r>
            <a:r>
              <a:rPr sz="3000" dirty="0">
                <a:latin typeface="Calibri"/>
                <a:cs typeface="Calibri"/>
              </a:rPr>
              <a:t>it</a:t>
            </a:r>
            <a:r>
              <a:rPr sz="3000" spc="-70" dirty="0">
                <a:latin typeface="Calibri"/>
                <a:cs typeface="Calibri"/>
              </a:rPr>
              <a:t> </a:t>
            </a:r>
            <a:r>
              <a:rPr sz="3000" dirty="0">
                <a:latin typeface="Calibri"/>
                <a:cs typeface="Calibri"/>
              </a:rPr>
              <a:t>checks</a:t>
            </a:r>
            <a:r>
              <a:rPr sz="3000" spc="-75" dirty="0">
                <a:latin typeface="Calibri"/>
                <a:cs typeface="Calibri"/>
              </a:rPr>
              <a:t> </a:t>
            </a:r>
            <a:r>
              <a:rPr sz="3000" spc="-25" dirty="0">
                <a:latin typeface="Calibri"/>
                <a:cs typeface="Calibri"/>
              </a:rPr>
              <a:t>to </a:t>
            </a:r>
            <a:r>
              <a:rPr sz="3000" dirty="0">
                <a:latin typeface="Calibri"/>
                <a:cs typeface="Calibri"/>
              </a:rPr>
              <a:t>see</a:t>
            </a:r>
            <a:r>
              <a:rPr sz="3000" spc="-55" dirty="0">
                <a:latin typeface="Calibri"/>
                <a:cs typeface="Calibri"/>
              </a:rPr>
              <a:t> </a:t>
            </a:r>
            <a:r>
              <a:rPr sz="3000" dirty="0">
                <a:latin typeface="Calibri"/>
                <a:cs typeface="Calibri"/>
              </a:rPr>
              <a:t>if</a:t>
            </a:r>
            <a:r>
              <a:rPr sz="3000" spc="-35" dirty="0">
                <a:latin typeface="Calibri"/>
                <a:cs typeface="Calibri"/>
              </a:rPr>
              <a:t> </a:t>
            </a:r>
            <a:r>
              <a:rPr sz="3000" dirty="0">
                <a:latin typeface="Calibri"/>
                <a:cs typeface="Calibri"/>
              </a:rPr>
              <a:t>the</a:t>
            </a:r>
            <a:r>
              <a:rPr sz="3000" spc="-45" dirty="0">
                <a:latin typeface="Calibri"/>
                <a:cs typeface="Calibri"/>
              </a:rPr>
              <a:t> </a:t>
            </a:r>
            <a:r>
              <a:rPr sz="3000" dirty="0">
                <a:latin typeface="Calibri"/>
                <a:cs typeface="Calibri"/>
              </a:rPr>
              <a:t>entry</a:t>
            </a:r>
            <a:r>
              <a:rPr sz="3000" spc="-25" dirty="0">
                <a:latin typeface="Calibri"/>
                <a:cs typeface="Calibri"/>
              </a:rPr>
              <a:t> </a:t>
            </a:r>
            <a:r>
              <a:rPr sz="3000" dirty="0">
                <a:latin typeface="Calibri"/>
                <a:cs typeface="Calibri"/>
              </a:rPr>
              <a:t>is</a:t>
            </a:r>
            <a:r>
              <a:rPr sz="3000" spc="-15" dirty="0">
                <a:latin typeface="Calibri"/>
                <a:cs typeface="Calibri"/>
              </a:rPr>
              <a:t> </a:t>
            </a:r>
            <a:r>
              <a:rPr sz="3000" dirty="0">
                <a:latin typeface="Calibri"/>
                <a:cs typeface="Calibri"/>
              </a:rPr>
              <a:t>allowed,</a:t>
            </a:r>
            <a:r>
              <a:rPr sz="3000" spc="-20" dirty="0">
                <a:latin typeface="Calibri"/>
                <a:cs typeface="Calibri"/>
              </a:rPr>
              <a:t> </a:t>
            </a:r>
            <a:r>
              <a:rPr sz="3000" dirty="0">
                <a:latin typeface="Calibri"/>
                <a:cs typeface="Calibri"/>
              </a:rPr>
              <a:t>if</a:t>
            </a:r>
            <a:r>
              <a:rPr sz="3000" spc="-35" dirty="0">
                <a:latin typeface="Calibri"/>
                <a:cs typeface="Calibri"/>
              </a:rPr>
              <a:t> </a:t>
            </a:r>
            <a:r>
              <a:rPr sz="3000" dirty="0">
                <a:latin typeface="Calibri"/>
                <a:cs typeface="Calibri"/>
              </a:rPr>
              <a:t>it</a:t>
            </a:r>
            <a:r>
              <a:rPr sz="3000" spc="-30" dirty="0">
                <a:latin typeface="Calibri"/>
                <a:cs typeface="Calibri"/>
              </a:rPr>
              <a:t> </a:t>
            </a:r>
            <a:r>
              <a:rPr sz="3000" dirty="0">
                <a:latin typeface="Calibri"/>
                <a:cs typeface="Calibri"/>
              </a:rPr>
              <a:t>is</a:t>
            </a:r>
            <a:r>
              <a:rPr sz="3000" spc="-35" dirty="0">
                <a:latin typeface="Calibri"/>
                <a:cs typeface="Calibri"/>
              </a:rPr>
              <a:t> </a:t>
            </a:r>
            <a:r>
              <a:rPr sz="3000" dirty="0">
                <a:latin typeface="Calibri"/>
                <a:cs typeface="Calibri"/>
              </a:rPr>
              <a:t>not,</a:t>
            </a:r>
            <a:r>
              <a:rPr sz="3000" spc="-25" dirty="0">
                <a:latin typeface="Calibri"/>
                <a:cs typeface="Calibri"/>
              </a:rPr>
              <a:t> </a:t>
            </a:r>
            <a:r>
              <a:rPr sz="3000" dirty="0">
                <a:latin typeface="Calibri"/>
                <a:cs typeface="Calibri"/>
              </a:rPr>
              <a:t>the</a:t>
            </a:r>
            <a:r>
              <a:rPr sz="3000" spc="-30" dirty="0">
                <a:latin typeface="Calibri"/>
                <a:cs typeface="Calibri"/>
              </a:rPr>
              <a:t> </a:t>
            </a:r>
            <a:r>
              <a:rPr sz="3000" spc="-10" dirty="0">
                <a:latin typeface="Calibri"/>
                <a:cs typeface="Calibri"/>
              </a:rPr>
              <a:t>process</a:t>
            </a:r>
            <a:endParaRPr sz="3000">
              <a:latin typeface="Calibri"/>
              <a:cs typeface="Calibri"/>
            </a:endParaRPr>
          </a:p>
          <a:p>
            <a:pPr marL="534670" algn="ctr">
              <a:lnSpc>
                <a:spcPts val="3240"/>
              </a:lnSpc>
            </a:pPr>
            <a:r>
              <a:rPr sz="3000" dirty="0">
                <a:latin typeface="Calibri"/>
                <a:cs typeface="Calibri"/>
              </a:rPr>
              <a:t>just</a:t>
            </a:r>
            <a:r>
              <a:rPr sz="3000" spc="-65" dirty="0">
                <a:latin typeface="Calibri"/>
                <a:cs typeface="Calibri"/>
              </a:rPr>
              <a:t> </a:t>
            </a:r>
            <a:r>
              <a:rPr sz="3000" dirty="0">
                <a:latin typeface="Calibri"/>
                <a:cs typeface="Calibri"/>
              </a:rPr>
              <a:t>sits</a:t>
            </a:r>
            <a:r>
              <a:rPr sz="3000" spc="-35" dirty="0">
                <a:latin typeface="Calibri"/>
                <a:cs typeface="Calibri"/>
              </a:rPr>
              <a:t> </a:t>
            </a:r>
            <a:r>
              <a:rPr sz="3000" dirty="0">
                <a:latin typeface="Calibri"/>
                <a:cs typeface="Calibri"/>
              </a:rPr>
              <a:t>in</a:t>
            </a:r>
            <a:r>
              <a:rPr sz="3000" spc="-40" dirty="0">
                <a:latin typeface="Calibri"/>
                <a:cs typeface="Calibri"/>
              </a:rPr>
              <a:t> </a:t>
            </a:r>
            <a:r>
              <a:rPr sz="3000" dirty="0">
                <a:latin typeface="Calibri"/>
                <a:cs typeface="Calibri"/>
              </a:rPr>
              <a:t>a</a:t>
            </a:r>
            <a:r>
              <a:rPr sz="3000" spc="-35" dirty="0">
                <a:latin typeface="Calibri"/>
                <a:cs typeface="Calibri"/>
              </a:rPr>
              <a:t> </a:t>
            </a:r>
            <a:r>
              <a:rPr sz="3000" dirty="0">
                <a:latin typeface="Calibri"/>
                <a:cs typeface="Calibri"/>
              </a:rPr>
              <a:t>tight</a:t>
            </a:r>
            <a:r>
              <a:rPr sz="3000" spc="-45" dirty="0">
                <a:latin typeface="Calibri"/>
                <a:cs typeface="Calibri"/>
              </a:rPr>
              <a:t> </a:t>
            </a:r>
            <a:r>
              <a:rPr sz="3000" dirty="0">
                <a:latin typeface="Calibri"/>
                <a:cs typeface="Calibri"/>
              </a:rPr>
              <a:t>loop</a:t>
            </a:r>
            <a:r>
              <a:rPr sz="3000" spc="-35" dirty="0">
                <a:latin typeface="Calibri"/>
                <a:cs typeface="Calibri"/>
              </a:rPr>
              <a:t> </a:t>
            </a:r>
            <a:r>
              <a:rPr sz="3000" dirty="0">
                <a:latin typeface="Calibri"/>
                <a:cs typeface="Calibri"/>
              </a:rPr>
              <a:t>waiting</a:t>
            </a:r>
            <a:r>
              <a:rPr sz="3000" spc="-50" dirty="0">
                <a:latin typeface="Calibri"/>
                <a:cs typeface="Calibri"/>
              </a:rPr>
              <a:t> </a:t>
            </a:r>
            <a:r>
              <a:rPr sz="3000" dirty="0">
                <a:latin typeface="Calibri"/>
                <a:cs typeface="Calibri"/>
              </a:rPr>
              <a:t>until</a:t>
            </a:r>
            <a:r>
              <a:rPr sz="3000" spc="-40" dirty="0">
                <a:latin typeface="Calibri"/>
                <a:cs typeface="Calibri"/>
              </a:rPr>
              <a:t> </a:t>
            </a:r>
            <a:r>
              <a:rPr sz="3000" dirty="0">
                <a:latin typeface="Calibri"/>
                <a:cs typeface="Calibri"/>
              </a:rPr>
              <a:t>it</a:t>
            </a:r>
            <a:r>
              <a:rPr sz="3000" spc="-40" dirty="0">
                <a:latin typeface="Calibri"/>
                <a:cs typeface="Calibri"/>
              </a:rPr>
              <a:t> </a:t>
            </a:r>
            <a:r>
              <a:rPr sz="3000" spc="-25" dirty="0">
                <a:latin typeface="Calibri"/>
                <a:cs typeface="Calibri"/>
              </a:rPr>
              <a:t>is.</a:t>
            </a:r>
            <a:endParaRPr sz="3000">
              <a:latin typeface="Calibri"/>
              <a:cs typeface="Calibri"/>
            </a:endParaRPr>
          </a:p>
          <a:p>
            <a:pPr marL="188595" algn="ctr">
              <a:lnSpc>
                <a:spcPct val="100000"/>
              </a:lnSpc>
              <a:spcBef>
                <a:spcPts val="434"/>
              </a:spcBef>
            </a:pPr>
            <a:r>
              <a:rPr sz="4400" b="1" spc="-20" dirty="0">
                <a:latin typeface="Calibri"/>
                <a:cs typeface="Calibri"/>
              </a:rPr>
              <a:t>Waste</a:t>
            </a:r>
            <a:r>
              <a:rPr sz="4400" b="1" spc="-90" dirty="0">
                <a:latin typeface="Calibri"/>
                <a:cs typeface="Calibri"/>
              </a:rPr>
              <a:t> </a:t>
            </a:r>
            <a:r>
              <a:rPr sz="4400" b="1" dirty="0">
                <a:latin typeface="Calibri"/>
                <a:cs typeface="Calibri"/>
              </a:rPr>
              <a:t>of</a:t>
            </a:r>
            <a:r>
              <a:rPr sz="4400" b="1" spc="-60" dirty="0">
                <a:latin typeface="Calibri"/>
                <a:cs typeface="Calibri"/>
              </a:rPr>
              <a:t> </a:t>
            </a:r>
            <a:r>
              <a:rPr sz="4400" b="1" dirty="0">
                <a:latin typeface="Calibri"/>
                <a:cs typeface="Calibri"/>
              </a:rPr>
              <a:t>CPU</a:t>
            </a:r>
            <a:r>
              <a:rPr sz="4400" b="1" spc="-55" dirty="0">
                <a:latin typeface="Calibri"/>
                <a:cs typeface="Calibri"/>
              </a:rPr>
              <a:t> </a:t>
            </a:r>
            <a:r>
              <a:rPr sz="4400" b="1" dirty="0">
                <a:latin typeface="Calibri"/>
                <a:cs typeface="Calibri"/>
              </a:rPr>
              <a:t>time</a:t>
            </a:r>
            <a:r>
              <a:rPr sz="4400" b="1" spc="-80" dirty="0">
                <a:latin typeface="Calibri"/>
                <a:cs typeface="Calibri"/>
              </a:rPr>
              <a:t> </a:t>
            </a:r>
            <a:r>
              <a:rPr sz="4400" b="1" dirty="0">
                <a:latin typeface="Calibri"/>
                <a:cs typeface="Calibri"/>
              </a:rPr>
              <a:t>for</a:t>
            </a:r>
            <a:r>
              <a:rPr sz="4400" b="1" spc="-55" dirty="0">
                <a:latin typeface="Calibri"/>
                <a:cs typeface="Calibri"/>
              </a:rPr>
              <a:t> </a:t>
            </a:r>
            <a:r>
              <a:rPr sz="4400" b="1" spc="-10" dirty="0">
                <a:latin typeface="Calibri"/>
                <a:cs typeface="Calibri"/>
              </a:rPr>
              <a:t>NOTHING!</a:t>
            </a:r>
            <a:endParaRPr sz="4400">
              <a:latin typeface="Calibri"/>
              <a:cs typeface="Calibri"/>
            </a:endParaRPr>
          </a:p>
          <a:p>
            <a:pPr marL="355600" marR="329565" indent="-342900">
              <a:lnSpc>
                <a:spcPts val="3240"/>
              </a:lnSpc>
              <a:spcBef>
                <a:spcPts val="865"/>
              </a:spcBef>
              <a:buFont typeface="Arial"/>
              <a:buChar char="•"/>
              <a:tabLst>
                <a:tab pos="355600" algn="l"/>
              </a:tabLst>
            </a:pPr>
            <a:r>
              <a:rPr sz="3000" dirty="0">
                <a:latin typeface="Calibri"/>
                <a:cs typeface="Calibri"/>
              </a:rPr>
              <a:t>Possibility</a:t>
            </a:r>
            <a:r>
              <a:rPr sz="3000" spc="-70" dirty="0">
                <a:latin typeface="Calibri"/>
                <a:cs typeface="Calibri"/>
              </a:rPr>
              <a:t> </a:t>
            </a:r>
            <a:r>
              <a:rPr sz="3000" dirty="0">
                <a:latin typeface="Calibri"/>
                <a:cs typeface="Calibri"/>
              </a:rPr>
              <a:t>of</a:t>
            </a:r>
            <a:r>
              <a:rPr sz="3000" spc="-70" dirty="0">
                <a:latin typeface="Calibri"/>
                <a:cs typeface="Calibri"/>
              </a:rPr>
              <a:t> </a:t>
            </a:r>
            <a:r>
              <a:rPr sz="3000" dirty="0">
                <a:latin typeface="Calibri"/>
                <a:cs typeface="Calibri"/>
              </a:rPr>
              <a:t>Sleep</a:t>
            </a:r>
            <a:r>
              <a:rPr sz="3000" spc="-75" dirty="0">
                <a:latin typeface="Calibri"/>
                <a:cs typeface="Calibri"/>
              </a:rPr>
              <a:t> </a:t>
            </a:r>
            <a:r>
              <a:rPr sz="3000" dirty="0">
                <a:latin typeface="Calibri"/>
                <a:cs typeface="Calibri"/>
              </a:rPr>
              <a:t>and</a:t>
            </a:r>
            <a:r>
              <a:rPr sz="3000" spc="-80" dirty="0">
                <a:latin typeface="Calibri"/>
                <a:cs typeface="Calibri"/>
              </a:rPr>
              <a:t> </a:t>
            </a:r>
            <a:r>
              <a:rPr sz="3000" spc="-20" dirty="0">
                <a:latin typeface="Calibri"/>
                <a:cs typeface="Calibri"/>
              </a:rPr>
              <a:t>Wakeup</a:t>
            </a:r>
            <a:r>
              <a:rPr sz="3000" spc="-60" dirty="0">
                <a:latin typeface="Calibri"/>
                <a:cs typeface="Calibri"/>
              </a:rPr>
              <a:t> </a:t>
            </a:r>
            <a:r>
              <a:rPr sz="3000" dirty="0">
                <a:latin typeface="Calibri"/>
                <a:cs typeface="Calibri"/>
              </a:rPr>
              <a:t>pair</a:t>
            </a:r>
            <a:r>
              <a:rPr sz="3000" spc="-80" dirty="0">
                <a:latin typeface="Calibri"/>
                <a:cs typeface="Calibri"/>
              </a:rPr>
              <a:t> </a:t>
            </a:r>
            <a:r>
              <a:rPr sz="3000" dirty="0">
                <a:latin typeface="Calibri"/>
                <a:cs typeface="Calibri"/>
              </a:rPr>
              <a:t>instead</a:t>
            </a:r>
            <a:r>
              <a:rPr sz="3000" spc="-80" dirty="0">
                <a:latin typeface="Calibri"/>
                <a:cs typeface="Calibri"/>
              </a:rPr>
              <a:t> </a:t>
            </a:r>
            <a:r>
              <a:rPr sz="3000" spc="-25" dirty="0">
                <a:latin typeface="Calibri"/>
                <a:cs typeface="Calibri"/>
              </a:rPr>
              <a:t>of </a:t>
            </a:r>
            <a:r>
              <a:rPr sz="3000" spc="-10" dirty="0">
                <a:latin typeface="Calibri"/>
                <a:cs typeface="Calibri"/>
              </a:rPr>
              <a:t>waiting.</a:t>
            </a:r>
            <a:endParaRPr sz="3000">
              <a:latin typeface="Calibri"/>
              <a:cs typeface="Calibri"/>
            </a:endParaRPr>
          </a:p>
          <a:p>
            <a:pPr marL="355600" marR="711835" indent="-342900">
              <a:lnSpc>
                <a:spcPts val="3240"/>
              </a:lnSpc>
              <a:spcBef>
                <a:spcPts val="720"/>
              </a:spcBef>
              <a:buFont typeface="Arial"/>
              <a:buChar char="•"/>
              <a:tabLst>
                <a:tab pos="355600" algn="l"/>
              </a:tabLst>
            </a:pPr>
            <a:r>
              <a:rPr sz="3000" dirty="0">
                <a:latin typeface="Calibri"/>
                <a:cs typeface="Calibri"/>
              </a:rPr>
              <a:t>Sleep</a:t>
            </a:r>
            <a:r>
              <a:rPr sz="3000" spc="-65" dirty="0">
                <a:latin typeface="Calibri"/>
                <a:cs typeface="Calibri"/>
              </a:rPr>
              <a:t> </a:t>
            </a:r>
            <a:r>
              <a:rPr sz="3000" dirty="0">
                <a:latin typeface="Calibri"/>
                <a:cs typeface="Calibri"/>
              </a:rPr>
              <a:t>causes</a:t>
            </a:r>
            <a:r>
              <a:rPr sz="3000" spc="-40" dirty="0">
                <a:latin typeface="Calibri"/>
                <a:cs typeface="Calibri"/>
              </a:rPr>
              <a:t> </a:t>
            </a:r>
            <a:r>
              <a:rPr sz="3000" dirty="0">
                <a:latin typeface="Calibri"/>
                <a:cs typeface="Calibri"/>
              </a:rPr>
              <a:t>to</a:t>
            </a:r>
            <a:r>
              <a:rPr sz="3000" spc="-55" dirty="0">
                <a:latin typeface="Calibri"/>
                <a:cs typeface="Calibri"/>
              </a:rPr>
              <a:t> </a:t>
            </a:r>
            <a:r>
              <a:rPr sz="3000" dirty="0">
                <a:latin typeface="Calibri"/>
                <a:cs typeface="Calibri"/>
              </a:rPr>
              <a:t>caller</a:t>
            </a:r>
            <a:r>
              <a:rPr sz="3000" spc="-45" dirty="0">
                <a:latin typeface="Calibri"/>
                <a:cs typeface="Calibri"/>
              </a:rPr>
              <a:t> </a:t>
            </a:r>
            <a:r>
              <a:rPr sz="3000" dirty="0">
                <a:latin typeface="Calibri"/>
                <a:cs typeface="Calibri"/>
              </a:rPr>
              <a:t>to</a:t>
            </a:r>
            <a:r>
              <a:rPr sz="3000" spc="-40" dirty="0">
                <a:latin typeface="Calibri"/>
                <a:cs typeface="Calibri"/>
              </a:rPr>
              <a:t> </a:t>
            </a:r>
            <a:r>
              <a:rPr sz="3000" dirty="0">
                <a:latin typeface="Calibri"/>
                <a:cs typeface="Calibri"/>
              </a:rPr>
              <a:t>block,</a:t>
            </a:r>
            <a:r>
              <a:rPr sz="3000" spc="-35" dirty="0">
                <a:latin typeface="Calibri"/>
                <a:cs typeface="Calibri"/>
              </a:rPr>
              <a:t> </a:t>
            </a:r>
            <a:r>
              <a:rPr sz="3000" dirty="0">
                <a:latin typeface="Calibri"/>
                <a:cs typeface="Calibri"/>
              </a:rPr>
              <a:t>until</a:t>
            </a:r>
            <a:r>
              <a:rPr sz="3000" spc="-45" dirty="0">
                <a:latin typeface="Calibri"/>
                <a:cs typeface="Calibri"/>
              </a:rPr>
              <a:t> </a:t>
            </a:r>
            <a:r>
              <a:rPr sz="3000" spc="-10" dirty="0">
                <a:latin typeface="Calibri"/>
                <a:cs typeface="Calibri"/>
              </a:rPr>
              <a:t>another </a:t>
            </a:r>
            <a:r>
              <a:rPr sz="3000" dirty="0">
                <a:latin typeface="Calibri"/>
                <a:cs typeface="Calibri"/>
              </a:rPr>
              <a:t>process</a:t>
            </a:r>
            <a:r>
              <a:rPr sz="3000" spc="-100" dirty="0">
                <a:latin typeface="Calibri"/>
                <a:cs typeface="Calibri"/>
              </a:rPr>
              <a:t> </a:t>
            </a:r>
            <a:r>
              <a:rPr sz="3000" dirty="0">
                <a:latin typeface="Calibri"/>
                <a:cs typeface="Calibri"/>
              </a:rPr>
              <a:t>wakes</a:t>
            </a:r>
            <a:r>
              <a:rPr sz="3000" spc="-95" dirty="0">
                <a:latin typeface="Calibri"/>
                <a:cs typeface="Calibri"/>
              </a:rPr>
              <a:t> </a:t>
            </a:r>
            <a:r>
              <a:rPr sz="3000" dirty="0">
                <a:latin typeface="Calibri"/>
                <a:cs typeface="Calibri"/>
              </a:rPr>
              <a:t>it</a:t>
            </a:r>
            <a:r>
              <a:rPr sz="3000" spc="-95" dirty="0">
                <a:latin typeface="Calibri"/>
                <a:cs typeface="Calibri"/>
              </a:rPr>
              <a:t> </a:t>
            </a:r>
            <a:r>
              <a:rPr sz="3000" spc="-25" dirty="0">
                <a:latin typeface="Calibri"/>
                <a:cs typeface="Calibri"/>
              </a:rPr>
              <a:t>up.</a:t>
            </a:r>
            <a:endParaRPr sz="3000">
              <a:latin typeface="Calibri"/>
              <a:cs typeface="Calibri"/>
            </a:endParaRP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xfrm>
            <a:off x="535940" y="228600"/>
            <a:ext cx="8303260" cy="505908"/>
          </a:xfrm>
          <a:prstGeom prst="rect">
            <a:avLst/>
          </a:prstGeom>
        </p:spPr>
        <p:txBody>
          <a:bodyPr vert="horz" wrap="square" lIns="0" tIns="13335" rIns="0" bIns="0" rtlCol="0">
            <a:spAutoFit/>
          </a:bodyPr>
          <a:lstStyle/>
          <a:p>
            <a:pPr marL="12700" algn="ctr" rtl="0">
              <a:spcBef>
                <a:spcPts val="105"/>
              </a:spcBef>
            </a:pPr>
            <a:r>
              <a:rPr sz="3200" b="1" dirty="0">
                <a:solidFill>
                  <a:sysClr val="windowText" lastClr="000000"/>
                </a:solidFill>
                <a:latin typeface="+mj-lt"/>
                <a:cs typeface="+mj-cs"/>
              </a:rPr>
              <a:t>Sleep and week up Consumer Producer problem</a:t>
            </a:r>
          </a:p>
        </p:txBody>
      </p:sp>
      <p:sp>
        <p:nvSpPr>
          <p:cNvPr id="4" name="object 4"/>
          <p:cNvSpPr txBox="1">
            <a:spLocks noGrp="1"/>
          </p:cNvSpPr>
          <p:nvPr>
            <p:ph type="ftr" sz="quarter" idx="5"/>
          </p:nvPr>
        </p:nvSpPr>
        <p:spPr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12700">
              <a:lnSpc>
                <a:spcPts val="1240"/>
              </a:lnSpc>
            </a:pPr>
            <a:r>
              <a:rPr lang="pl-PL"/>
              <a:t>By Dr. Binod Kr. Adhikari</a:t>
            </a:r>
            <a:endParaRPr spc="-10" dirty="0"/>
          </a:p>
        </p:txBody>
      </p:sp>
      <p:sp>
        <p:nvSpPr>
          <p:cNvPr id="3" name="object 3"/>
          <p:cNvSpPr txBox="1"/>
          <p:nvPr/>
        </p:nvSpPr>
        <p:spPr>
          <a:xfrm>
            <a:off x="535940" y="1447800"/>
            <a:ext cx="8074659" cy="4102735"/>
          </a:xfrm>
          <a:prstGeom prst="rect">
            <a:avLst/>
          </a:prstGeom>
        </p:spPr>
        <p:txBody>
          <a:bodyPr vert="horz" wrap="square" lIns="0" tIns="104139" rIns="0" bIns="0" rtlCol="0">
            <a:spAutoFit/>
          </a:bodyPr>
          <a:lstStyle/>
          <a:p>
            <a:pPr marL="356235" indent="-343535" algn="just">
              <a:lnSpc>
                <a:spcPct val="100000"/>
              </a:lnSpc>
              <a:spcBef>
                <a:spcPts val="819"/>
              </a:spcBef>
              <a:buFont typeface="Arial"/>
              <a:buChar char="•"/>
              <a:tabLst>
                <a:tab pos="356235" algn="l"/>
              </a:tabLst>
            </a:pPr>
            <a:r>
              <a:rPr sz="3000" spc="-20" dirty="0">
                <a:latin typeface="Calibri"/>
                <a:cs typeface="Calibri"/>
              </a:rPr>
              <a:t>Two</a:t>
            </a:r>
            <a:r>
              <a:rPr sz="3000" spc="-120" dirty="0">
                <a:latin typeface="Calibri"/>
                <a:cs typeface="Calibri"/>
              </a:rPr>
              <a:t> </a:t>
            </a:r>
            <a:r>
              <a:rPr sz="3000" dirty="0">
                <a:latin typeface="Calibri"/>
                <a:cs typeface="Calibri"/>
              </a:rPr>
              <a:t>process</a:t>
            </a:r>
            <a:r>
              <a:rPr sz="3000" spc="-105" dirty="0">
                <a:latin typeface="Calibri"/>
                <a:cs typeface="Calibri"/>
              </a:rPr>
              <a:t> </a:t>
            </a:r>
            <a:r>
              <a:rPr sz="3000" i="1" dirty="0">
                <a:solidFill>
                  <a:srgbClr val="00B050"/>
                </a:solidFill>
                <a:latin typeface="Calibri"/>
                <a:cs typeface="Calibri"/>
              </a:rPr>
              <a:t>share</a:t>
            </a:r>
            <a:r>
              <a:rPr sz="3000" i="1" spc="-114" dirty="0">
                <a:solidFill>
                  <a:srgbClr val="00B050"/>
                </a:solidFill>
                <a:latin typeface="Calibri"/>
                <a:cs typeface="Calibri"/>
              </a:rPr>
              <a:t> </a:t>
            </a:r>
            <a:r>
              <a:rPr sz="3000" i="1" dirty="0">
                <a:solidFill>
                  <a:srgbClr val="00B050"/>
                </a:solidFill>
                <a:latin typeface="Calibri"/>
                <a:cs typeface="Calibri"/>
              </a:rPr>
              <a:t>a</a:t>
            </a:r>
            <a:r>
              <a:rPr sz="3000" i="1" spc="-105" dirty="0">
                <a:solidFill>
                  <a:srgbClr val="00B050"/>
                </a:solidFill>
                <a:latin typeface="Calibri"/>
                <a:cs typeface="Calibri"/>
              </a:rPr>
              <a:t> </a:t>
            </a:r>
            <a:r>
              <a:rPr sz="3000" i="1" dirty="0">
                <a:solidFill>
                  <a:srgbClr val="00B050"/>
                </a:solidFill>
                <a:latin typeface="Calibri"/>
                <a:cs typeface="Calibri"/>
              </a:rPr>
              <a:t>common,</a:t>
            </a:r>
            <a:r>
              <a:rPr sz="3000" i="1" spc="-105" dirty="0">
                <a:solidFill>
                  <a:srgbClr val="00B050"/>
                </a:solidFill>
                <a:latin typeface="Calibri"/>
                <a:cs typeface="Calibri"/>
              </a:rPr>
              <a:t> </a:t>
            </a:r>
            <a:r>
              <a:rPr sz="3000" i="1" dirty="0">
                <a:solidFill>
                  <a:srgbClr val="00B050"/>
                </a:solidFill>
                <a:latin typeface="Calibri"/>
                <a:cs typeface="Calibri"/>
              </a:rPr>
              <a:t>fixed</a:t>
            </a:r>
            <a:r>
              <a:rPr sz="3000" i="1" spc="-100" dirty="0">
                <a:solidFill>
                  <a:srgbClr val="00B050"/>
                </a:solidFill>
                <a:latin typeface="Calibri"/>
                <a:cs typeface="Calibri"/>
              </a:rPr>
              <a:t> </a:t>
            </a:r>
            <a:r>
              <a:rPr sz="3000" i="1" dirty="0">
                <a:solidFill>
                  <a:srgbClr val="00B050"/>
                </a:solidFill>
                <a:latin typeface="Calibri"/>
                <a:cs typeface="Calibri"/>
              </a:rPr>
              <a:t>sized</a:t>
            </a:r>
            <a:r>
              <a:rPr sz="3000" i="1" spc="-95" dirty="0">
                <a:solidFill>
                  <a:srgbClr val="00B050"/>
                </a:solidFill>
                <a:latin typeface="Calibri"/>
                <a:cs typeface="Calibri"/>
              </a:rPr>
              <a:t> </a:t>
            </a:r>
            <a:r>
              <a:rPr sz="3000" i="1" spc="-10" dirty="0">
                <a:solidFill>
                  <a:srgbClr val="00B050"/>
                </a:solidFill>
                <a:latin typeface="Calibri"/>
                <a:cs typeface="Calibri"/>
              </a:rPr>
              <a:t>buffer</a:t>
            </a:r>
            <a:r>
              <a:rPr sz="3000" spc="-10" dirty="0">
                <a:latin typeface="Calibri"/>
                <a:cs typeface="Calibri"/>
              </a:rPr>
              <a:t>.</a:t>
            </a:r>
            <a:endParaRPr sz="3000" dirty="0">
              <a:latin typeface="Calibri"/>
              <a:cs typeface="Calibri"/>
            </a:endParaRPr>
          </a:p>
          <a:p>
            <a:pPr marL="355600" marR="8255" indent="-342900" algn="just">
              <a:lnSpc>
                <a:spcPct val="100000"/>
              </a:lnSpc>
              <a:spcBef>
                <a:spcPts val="720"/>
              </a:spcBef>
              <a:buFont typeface="Arial"/>
              <a:buChar char="•"/>
              <a:tabLst>
                <a:tab pos="355600" algn="l"/>
              </a:tabLst>
            </a:pPr>
            <a:r>
              <a:rPr sz="3000" dirty="0">
                <a:latin typeface="Calibri"/>
                <a:cs typeface="Calibri"/>
              </a:rPr>
              <a:t>Suppose</a:t>
            </a:r>
            <a:r>
              <a:rPr sz="3000" spc="175" dirty="0">
                <a:latin typeface="Calibri"/>
                <a:cs typeface="Calibri"/>
              </a:rPr>
              <a:t>  </a:t>
            </a:r>
            <a:r>
              <a:rPr sz="3000" dirty="0">
                <a:latin typeface="Calibri"/>
                <a:cs typeface="Calibri"/>
              </a:rPr>
              <a:t>one</a:t>
            </a:r>
            <a:r>
              <a:rPr sz="3000" spc="185" dirty="0">
                <a:latin typeface="Calibri"/>
                <a:cs typeface="Calibri"/>
              </a:rPr>
              <a:t>  </a:t>
            </a:r>
            <a:r>
              <a:rPr sz="3000" dirty="0">
                <a:latin typeface="Calibri"/>
                <a:cs typeface="Calibri"/>
              </a:rPr>
              <a:t>process,</a:t>
            </a:r>
            <a:r>
              <a:rPr sz="3000" spc="180" dirty="0">
                <a:latin typeface="Calibri"/>
                <a:cs typeface="Calibri"/>
              </a:rPr>
              <a:t>  </a:t>
            </a:r>
            <a:r>
              <a:rPr sz="3000" b="1" dirty="0">
                <a:solidFill>
                  <a:srgbClr val="00B050"/>
                </a:solidFill>
                <a:latin typeface="Calibri"/>
                <a:cs typeface="Calibri"/>
              </a:rPr>
              <a:t>producer</a:t>
            </a:r>
            <a:r>
              <a:rPr sz="3000" dirty="0">
                <a:latin typeface="Calibri"/>
                <a:cs typeface="Calibri"/>
              </a:rPr>
              <a:t>,</a:t>
            </a:r>
            <a:r>
              <a:rPr sz="3000" spc="185" dirty="0">
                <a:latin typeface="Calibri"/>
                <a:cs typeface="Calibri"/>
              </a:rPr>
              <a:t>  </a:t>
            </a:r>
            <a:r>
              <a:rPr sz="3000" dirty="0">
                <a:latin typeface="Calibri"/>
                <a:cs typeface="Calibri"/>
              </a:rPr>
              <a:t>is</a:t>
            </a:r>
            <a:r>
              <a:rPr sz="3000" spc="185" dirty="0">
                <a:latin typeface="Calibri"/>
                <a:cs typeface="Calibri"/>
              </a:rPr>
              <a:t>  </a:t>
            </a:r>
            <a:r>
              <a:rPr sz="3000" spc="-10" dirty="0">
                <a:latin typeface="Calibri"/>
                <a:cs typeface="Calibri"/>
              </a:rPr>
              <a:t>generating information</a:t>
            </a:r>
            <a:r>
              <a:rPr sz="3000" spc="-55" dirty="0">
                <a:latin typeface="Calibri"/>
                <a:cs typeface="Calibri"/>
              </a:rPr>
              <a:t> </a:t>
            </a:r>
            <a:r>
              <a:rPr sz="3000" dirty="0">
                <a:latin typeface="Calibri"/>
                <a:cs typeface="Calibri"/>
              </a:rPr>
              <a:t>that</a:t>
            </a:r>
            <a:r>
              <a:rPr sz="3000" spc="-55" dirty="0">
                <a:latin typeface="Calibri"/>
                <a:cs typeface="Calibri"/>
              </a:rPr>
              <a:t> </a:t>
            </a:r>
            <a:r>
              <a:rPr sz="3000" dirty="0">
                <a:latin typeface="Calibri"/>
                <a:cs typeface="Calibri"/>
              </a:rPr>
              <a:t>the</a:t>
            </a:r>
            <a:r>
              <a:rPr sz="3000" spc="-60" dirty="0">
                <a:latin typeface="Calibri"/>
                <a:cs typeface="Calibri"/>
              </a:rPr>
              <a:t> </a:t>
            </a:r>
            <a:r>
              <a:rPr sz="3000" dirty="0">
                <a:latin typeface="Calibri"/>
                <a:cs typeface="Calibri"/>
              </a:rPr>
              <a:t>second</a:t>
            </a:r>
            <a:r>
              <a:rPr sz="3000" spc="-70" dirty="0">
                <a:latin typeface="Calibri"/>
                <a:cs typeface="Calibri"/>
              </a:rPr>
              <a:t> </a:t>
            </a:r>
            <a:r>
              <a:rPr sz="3000" dirty="0">
                <a:latin typeface="Calibri"/>
                <a:cs typeface="Calibri"/>
              </a:rPr>
              <a:t>process,</a:t>
            </a:r>
            <a:r>
              <a:rPr sz="3000" spc="-65" dirty="0">
                <a:latin typeface="Calibri"/>
                <a:cs typeface="Calibri"/>
              </a:rPr>
              <a:t> </a:t>
            </a:r>
            <a:r>
              <a:rPr sz="3000" b="1" spc="-35" dirty="0">
                <a:solidFill>
                  <a:srgbClr val="00B050"/>
                </a:solidFill>
                <a:latin typeface="Calibri"/>
                <a:cs typeface="Calibri"/>
              </a:rPr>
              <a:t>consumer</a:t>
            </a:r>
            <a:r>
              <a:rPr sz="3000" spc="-35" dirty="0">
                <a:latin typeface="Calibri"/>
                <a:cs typeface="Calibri"/>
              </a:rPr>
              <a:t>,</a:t>
            </a:r>
            <a:r>
              <a:rPr sz="3000" spc="-60" dirty="0">
                <a:latin typeface="Calibri"/>
                <a:cs typeface="Calibri"/>
              </a:rPr>
              <a:t> </a:t>
            </a:r>
            <a:r>
              <a:rPr sz="3000" spc="-25" dirty="0">
                <a:latin typeface="Calibri"/>
                <a:cs typeface="Calibri"/>
              </a:rPr>
              <a:t>is </a:t>
            </a:r>
            <a:r>
              <a:rPr sz="3000" spc="-10" dirty="0">
                <a:latin typeface="Calibri"/>
                <a:cs typeface="Calibri"/>
              </a:rPr>
              <a:t>using.</a:t>
            </a:r>
            <a:endParaRPr sz="3000" dirty="0">
              <a:latin typeface="Calibri"/>
              <a:cs typeface="Calibri"/>
            </a:endParaRPr>
          </a:p>
          <a:p>
            <a:pPr marL="756285" marR="5080" indent="-287020" algn="just">
              <a:lnSpc>
                <a:spcPct val="100000"/>
              </a:lnSpc>
              <a:spcBef>
                <a:spcPts val="655"/>
              </a:spcBef>
            </a:pPr>
            <a:r>
              <a:rPr sz="2600" dirty="0">
                <a:solidFill>
                  <a:srgbClr val="00AFEF"/>
                </a:solidFill>
                <a:latin typeface="Arial"/>
                <a:cs typeface="Arial"/>
              </a:rPr>
              <a:t>–</a:t>
            </a:r>
            <a:r>
              <a:rPr sz="2600" spc="55" dirty="0">
                <a:solidFill>
                  <a:srgbClr val="00AFEF"/>
                </a:solidFill>
                <a:latin typeface="Arial"/>
                <a:cs typeface="Arial"/>
              </a:rPr>
              <a:t> </a:t>
            </a:r>
            <a:r>
              <a:rPr sz="2600" dirty="0">
                <a:solidFill>
                  <a:srgbClr val="00AFEF"/>
                </a:solidFill>
                <a:latin typeface="Calibri"/>
                <a:cs typeface="Calibri"/>
              </a:rPr>
              <a:t>Their</a:t>
            </a:r>
            <a:r>
              <a:rPr sz="2600" spc="505" dirty="0">
                <a:solidFill>
                  <a:srgbClr val="00AFEF"/>
                </a:solidFill>
                <a:latin typeface="Calibri"/>
                <a:cs typeface="Calibri"/>
              </a:rPr>
              <a:t> </a:t>
            </a:r>
            <a:r>
              <a:rPr sz="2600" dirty="0">
                <a:solidFill>
                  <a:srgbClr val="FF0000"/>
                </a:solidFill>
                <a:latin typeface="Calibri"/>
                <a:cs typeface="Calibri"/>
              </a:rPr>
              <a:t>speed</a:t>
            </a:r>
            <a:r>
              <a:rPr sz="2600" spc="509" dirty="0">
                <a:solidFill>
                  <a:srgbClr val="00AFEF"/>
                </a:solidFill>
                <a:latin typeface="Calibri"/>
                <a:cs typeface="Calibri"/>
              </a:rPr>
              <a:t> </a:t>
            </a:r>
            <a:r>
              <a:rPr sz="2600" dirty="0">
                <a:solidFill>
                  <a:srgbClr val="00AFEF"/>
                </a:solidFill>
                <a:latin typeface="Calibri"/>
                <a:cs typeface="Calibri"/>
              </a:rPr>
              <a:t>may</a:t>
            </a:r>
            <a:r>
              <a:rPr sz="2600" spc="505" dirty="0">
                <a:solidFill>
                  <a:srgbClr val="00AFEF"/>
                </a:solidFill>
                <a:latin typeface="Calibri"/>
                <a:cs typeface="Calibri"/>
              </a:rPr>
              <a:t> </a:t>
            </a:r>
            <a:r>
              <a:rPr sz="2600" dirty="0">
                <a:solidFill>
                  <a:srgbClr val="00AFEF"/>
                </a:solidFill>
                <a:latin typeface="Calibri"/>
                <a:cs typeface="Calibri"/>
              </a:rPr>
              <a:t>be</a:t>
            </a:r>
            <a:r>
              <a:rPr sz="2600" spc="495" dirty="0">
                <a:solidFill>
                  <a:srgbClr val="00AFEF"/>
                </a:solidFill>
                <a:latin typeface="Calibri"/>
                <a:cs typeface="Calibri"/>
              </a:rPr>
              <a:t> </a:t>
            </a:r>
            <a:r>
              <a:rPr sz="2600" dirty="0">
                <a:solidFill>
                  <a:srgbClr val="00AFEF"/>
                </a:solidFill>
                <a:latin typeface="Calibri"/>
                <a:cs typeface="Calibri"/>
              </a:rPr>
              <a:t>mismatched,</a:t>
            </a:r>
            <a:r>
              <a:rPr sz="2600" spc="500" dirty="0">
                <a:solidFill>
                  <a:srgbClr val="00AFEF"/>
                </a:solidFill>
                <a:latin typeface="Calibri"/>
                <a:cs typeface="Calibri"/>
              </a:rPr>
              <a:t> </a:t>
            </a:r>
            <a:r>
              <a:rPr sz="2600" dirty="0">
                <a:solidFill>
                  <a:srgbClr val="00AFEF"/>
                </a:solidFill>
                <a:latin typeface="Calibri"/>
                <a:cs typeface="Calibri"/>
              </a:rPr>
              <a:t>if</a:t>
            </a:r>
            <a:r>
              <a:rPr sz="2600" spc="505" dirty="0">
                <a:solidFill>
                  <a:srgbClr val="00AFEF"/>
                </a:solidFill>
                <a:latin typeface="Calibri"/>
                <a:cs typeface="Calibri"/>
              </a:rPr>
              <a:t> </a:t>
            </a:r>
            <a:r>
              <a:rPr sz="2600" dirty="0">
                <a:solidFill>
                  <a:srgbClr val="00AFEF"/>
                </a:solidFill>
                <a:latin typeface="Calibri"/>
                <a:cs typeface="Calibri"/>
              </a:rPr>
              <a:t>producer</a:t>
            </a:r>
            <a:r>
              <a:rPr sz="2600" spc="509" dirty="0">
                <a:solidFill>
                  <a:srgbClr val="00AFEF"/>
                </a:solidFill>
                <a:latin typeface="Calibri"/>
                <a:cs typeface="Calibri"/>
              </a:rPr>
              <a:t> </a:t>
            </a:r>
            <a:r>
              <a:rPr sz="2600" spc="-10" dirty="0">
                <a:solidFill>
                  <a:srgbClr val="00AFEF"/>
                </a:solidFill>
                <a:latin typeface="Calibri"/>
                <a:cs typeface="Calibri"/>
              </a:rPr>
              <a:t>insert </a:t>
            </a:r>
            <a:r>
              <a:rPr sz="2600" dirty="0">
                <a:solidFill>
                  <a:srgbClr val="00AFEF"/>
                </a:solidFill>
                <a:latin typeface="Calibri"/>
                <a:cs typeface="Calibri"/>
              </a:rPr>
              <a:t>item</a:t>
            </a:r>
            <a:r>
              <a:rPr sz="2600" spc="420" dirty="0">
                <a:solidFill>
                  <a:srgbClr val="00AFEF"/>
                </a:solidFill>
                <a:latin typeface="Calibri"/>
                <a:cs typeface="Calibri"/>
              </a:rPr>
              <a:t> </a:t>
            </a:r>
            <a:r>
              <a:rPr sz="2600" dirty="0">
                <a:solidFill>
                  <a:srgbClr val="00AFEF"/>
                </a:solidFill>
                <a:latin typeface="Calibri"/>
                <a:cs typeface="Calibri"/>
              </a:rPr>
              <a:t>rapidly</a:t>
            </a:r>
            <a:r>
              <a:rPr sz="2600" spc="430" dirty="0">
                <a:solidFill>
                  <a:srgbClr val="00AFEF"/>
                </a:solidFill>
                <a:latin typeface="Calibri"/>
                <a:cs typeface="Calibri"/>
              </a:rPr>
              <a:t> </a:t>
            </a:r>
            <a:r>
              <a:rPr sz="2600" dirty="0">
                <a:solidFill>
                  <a:srgbClr val="00AFEF"/>
                </a:solidFill>
                <a:latin typeface="Calibri"/>
                <a:cs typeface="Calibri"/>
              </a:rPr>
              <a:t>the</a:t>
            </a:r>
            <a:r>
              <a:rPr sz="2600" spc="425" dirty="0">
                <a:solidFill>
                  <a:srgbClr val="00AFEF"/>
                </a:solidFill>
                <a:latin typeface="Calibri"/>
                <a:cs typeface="Calibri"/>
              </a:rPr>
              <a:t> </a:t>
            </a:r>
            <a:r>
              <a:rPr sz="2600" dirty="0">
                <a:solidFill>
                  <a:srgbClr val="00AFEF"/>
                </a:solidFill>
                <a:latin typeface="Calibri"/>
                <a:cs typeface="Calibri"/>
              </a:rPr>
              <a:t>buffer</a:t>
            </a:r>
            <a:r>
              <a:rPr sz="2600" spc="445" dirty="0">
                <a:solidFill>
                  <a:srgbClr val="00AFEF"/>
                </a:solidFill>
                <a:latin typeface="Calibri"/>
                <a:cs typeface="Calibri"/>
              </a:rPr>
              <a:t> </a:t>
            </a:r>
            <a:r>
              <a:rPr sz="2600" dirty="0">
                <a:solidFill>
                  <a:srgbClr val="00AFEF"/>
                </a:solidFill>
                <a:latin typeface="Calibri"/>
                <a:cs typeface="Calibri"/>
              </a:rPr>
              <a:t>will</a:t>
            </a:r>
            <a:r>
              <a:rPr sz="2600" spc="440" dirty="0">
                <a:solidFill>
                  <a:srgbClr val="00AFEF"/>
                </a:solidFill>
                <a:latin typeface="Calibri"/>
                <a:cs typeface="Calibri"/>
              </a:rPr>
              <a:t> </a:t>
            </a:r>
            <a:r>
              <a:rPr sz="2600" dirty="0">
                <a:solidFill>
                  <a:srgbClr val="00AFEF"/>
                </a:solidFill>
                <a:latin typeface="Calibri"/>
                <a:cs typeface="Calibri"/>
              </a:rPr>
              <a:t>full</a:t>
            </a:r>
            <a:r>
              <a:rPr sz="2600" spc="425" dirty="0">
                <a:solidFill>
                  <a:srgbClr val="00AFEF"/>
                </a:solidFill>
                <a:latin typeface="Calibri"/>
                <a:cs typeface="Calibri"/>
              </a:rPr>
              <a:t> </a:t>
            </a:r>
            <a:r>
              <a:rPr sz="2600" dirty="0">
                <a:solidFill>
                  <a:srgbClr val="00AFEF"/>
                </a:solidFill>
                <a:latin typeface="Calibri"/>
                <a:cs typeface="Calibri"/>
              </a:rPr>
              <a:t>and</a:t>
            </a:r>
            <a:r>
              <a:rPr sz="2600" spc="440" dirty="0">
                <a:solidFill>
                  <a:srgbClr val="00AFEF"/>
                </a:solidFill>
                <a:latin typeface="Calibri"/>
                <a:cs typeface="Calibri"/>
              </a:rPr>
              <a:t> </a:t>
            </a:r>
            <a:r>
              <a:rPr sz="2600" dirty="0">
                <a:solidFill>
                  <a:srgbClr val="00AFEF"/>
                </a:solidFill>
                <a:latin typeface="Calibri"/>
                <a:cs typeface="Calibri"/>
              </a:rPr>
              <a:t>go</a:t>
            </a:r>
            <a:r>
              <a:rPr sz="2600" spc="434" dirty="0">
                <a:solidFill>
                  <a:srgbClr val="00AFEF"/>
                </a:solidFill>
                <a:latin typeface="Calibri"/>
                <a:cs typeface="Calibri"/>
              </a:rPr>
              <a:t> </a:t>
            </a:r>
            <a:r>
              <a:rPr sz="2600" dirty="0">
                <a:solidFill>
                  <a:srgbClr val="00AFEF"/>
                </a:solidFill>
                <a:latin typeface="Calibri"/>
                <a:cs typeface="Calibri"/>
              </a:rPr>
              <a:t>to</a:t>
            </a:r>
            <a:r>
              <a:rPr sz="2600" spc="434" dirty="0">
                <a:solidFill>
                  <a:srgbClr val="00AFEF"/>
                </a:solidFill>
                <a:latin typeface="Calibri"/>
                <a:cs typeface="Calibri"/>
              </a:rPr>
              <a:t> </a:t>
            </a:r>
            <a:r>
              <a:rPr sz="2600" dirty="0">
                <a:solidFill>
                  <a:srgbClr val="00AFEF"/>
                </a:solidFill>
                <a:latin typeface="Calibri"/>
                <a:cs typeface="Calibri"/>
              </a:rPr>
              <a:t>the</a:t>
            </a:r>
            <a:r>
              <a:rPr sz="2600" spc="425" dirty="0">
                <a:solidFill>
                  <a:srgbClr val="00AFEF"/>
                </a:solidFill>
                <a:latin typeface="Calibri"/>
                <a:cs typeface="Calibri"/>
              </a:rPr>
              <a:t> </a:t>
            </a:r>
            <a:r>
              <a:rPr sz="2600" spc="-10" dirty="0">
                <a:solidFill>
                  <a:srgbClr val="00AFEF"/>
                </a:solidFill>
                <a:latin typeface="Calibri"/>
                <a:cs typeface="Calibri"/>
              </a:rPr>
              <a:t>sleep </a:t>
            </a:r>
            <a:r>
              <a:rPr sz="2600" dirty="0">
                <a:solidFill>
                  <a:srgbClr val="00AFEF"/>
                </a:solidFill>
                <a:latin typeface="Calibri"/>
                <a:cs typeface="Calibri"/>
              </a:rPr>
              <a:t>until</a:t>
            </a:r>
            <a:r>
              <a:rPr sz="2600" spc="85" dirty="0">
                <a:solidFill>
                  <a:srgbClr val="00AFEF"/>
                </a:solidFill>
                <a:latin typeface="Calibri"/>
                <a:cs typeface="Calibri"/>
              </a:rPr>
              <a:t> </a:t>
            </a:r>
            <a:r>
              <a:rPr sz="2600" dirty="0">
                <a:solidFill>
                  <a:srgbClr val="00AFEF"/>
                </a:solidFill>
                <a:latin typeface="Calibri"/>
                <a:cs typeface="Calibri"/>
              </a:rPr>
              <a:t>consumer</a:t>
            </a:r>
            <a:r>
              <a:rPr sz="2600" spc="85" dirty="0">
                <a:solidFill>
                  <a:srgbClr val="00AFEF"/>
                </a:solidFill>
                <a:latin typeface="Calibri"/>
                <a:cs typeface="Calibri"/>
              </a:rPr>
              <a:t> </a:t>
            </a:r>
            <a:r>
              <a:rPr sz="2600" dirty="0">
                <a:solidFill>
                  <a:srgbClr val="00AFEF"/>
                </a:solidFill>
                <a:latin typeface="Calibri"/>
                <a:cs typeface="Calibri"/>
              </a:rPr>
              <a:t>consumes</a:t>
            </a:r>
            <a:r>
              <a:rPr sz="2600" spc="75" dirty="0">
                <a:solidFill>
                  <a:srgbClr val="00AFEF"/>
                </a:solidFill>
                <a:latin typeface="Calibri"/>
                <a:cs typeface="Calibri"/>
              </a:rPr>
              <a:t> </a:t>
            </a:r>
            <a:r>
              <a:rPr sz="2600" dirty="0">
                <a:solidFill>
                  <a:srgbClr val="00AFEF"/>
                </a:solidFill>
                <a:latin typeface="Calibri"/>
                <a:cs typeface="Calibri"/>
              </a:rPr>
              <a:t>some</a:t>
            </a:r>
            <a:r>
              <a:rPr sz="2600" spc="65" dirty="0">
                <a:solidFill>
                  <a:srgbClr val="00AFEF"/>
                </a:solidFill>
                <a:latin typeface="Calibri"/>
                <a:cs typeface="Calibri"/>
              </a:rPr>
              <a:t> </a:t>
            </a:r>
            <a:r>
              <a:rPr sz="2600" dirty="0">
                <a:solidFill>
                  <a:srgbClr val="00AFEF"/>
                </a:solidFill>
                <a:latin typeface="Calibri"/>
                <a:cs typeface="Calibri"/>
              </a:rPr>
              <a:t>item,</a:t>
            </a:r>
            <a:r>
              <a:rPr sz="2600" spc="70" dirty="0">
                <a:solidFill>
                  <a:srgbClr val="00AFEF"/>
                </a:solidFill>
                <a:latin typeface="Calibri"/>
                <a:cs typeface="Calibri"/>
              </a:rPr>
              <a:t> </a:t>
            </a:r>
            <a:r>
              <a:rPr sz="2600" dirty="0">
                <a:solidFill>
                  <a:srgbClr val="00AFEF"/>
                </a:solidFill>
                <a:latin typeface="Calibri"/>
                <a:cs typeface="Calibri"/>
              </a:rPr>
              <a:t>while</a:t>
            </a:r>
            <a:r>
              <a:rPr sz="2600" spc="75" dirty="0">
                <a:solidFill>
                  <a:srgbClr val="00AFEF"/>
                </a:solidFill>
                <a:latin typeface="Calibri"/>
                <a:cs typeface="Calibri"/>
              </a:rPr>
              <a:t> </a:t>
            </a:r>
            <a:r>
              <a:rPr sz="2600" spc="-10" dirty="0">
                <a:solidFill>
                  <a:srgbClr val="00AFEF"/>
                </a:solidFill>
                <a:latin typeface="Calibri"/>
                <a:cs typeface="Calibri"/>
              </a:rPr>
              <a:t>consumer </a:t>
            </a:r>
            <a:r>
              <a:rPr sz="2600" dirty="0">
                <a:solidFill>
                  <a:srgbClr val="00AFEF"/>
                </a:solidFill>
                <a:latin typeface="Calibri"/>
                <a:cs typeface="Calibri"/>
              </a:rPr>
              <a:t>consumes</a:t>
            </a:r>
            <a:r>
              <a:rPr sz="2600" spc="590" dirty="0">
                <a:solidFill>
                  <a:srgbClr val="00AFEF"/>
                </a:solidFill>
                <a:latin typeface="Calibri"/>
                <a:cs typeface="Calibri"/>
              </a:rPr>
              <a:t> </a:t>
            </a:r>
            <a:r>
              <a:rPr sz="2600" dirty="0">
                <a:solidFill>
                  <a:srgbClr val="00AFEF"/>
                </a:solidFill>
                <a:latin typeface="Calibri"/>
                <a:cs typeface="Calibri"/>
              </a:rPr>
              <a:t>rapidly,</a:t>
            </a:r>
            <a:r>
              <a:rPr sz="2600" spc="595" dirty="0">
                <a:solidFill>
                  <a:srgbClr val="00AFEF"/>
                </a:solidFill>
                <a:latin typeface="Calibri"/>
                <a:cs typeface="Calibri"/>
              </a:rPr>
              <a:t> </a:t>
            </a:r>
            <a:r>
              <a:rPr sz="2600" dirty="0">
                <a:solidFill>
                  <a:srgbClr val="00AFEF"/>
                </a:solidFill>
                <a:latin typeface="Calibri"/>
                <a:cs typeface="Calibri"/>
              </a:rPr>
              <a:t>the</a:t>
            </a:r>
            <a:r>
              <a:rPr sz="2600" spc="585" dirty="0">
                <a:solidFill>
                  <a:srgbClr val="00AFEF"/>
                </a:solidFill>
                <a:latin typeface="Calibri"/>
                <a:cs typeface="Calibri"/>
              </a:rPr>
              <a:t> </a:t>
            </a:r>
            <a:r>
              <a:rPr sz="2600" dirty="0">
                <a:solidFill>
                  <a:srgbClr val="00AFEF"/>
                </a:solidFill>
                <a:latin typeface="Calibri"/>
                <a:cs typeface="Calibri"/>
              </a:rPr>
              <a:t>buffer</a:t>
            </a:r>
            <a:r>
              <a:rPr sz="2600" spc="600" dirty="0">
                <a:solidFill>
                  <a:srgbClr val="00AFEF"/>
                </a:solidFill>
                <a:latin typeface="Calibri"/>
                <a:cs typeface="Calibri"/>
              </a:rPr>
              <a:t> </a:t>
            </a:r>
            <a:r>
              <a:rPr sz="2600" dirty="0">
                <a:solidFill>
                  <a:srgbClr val="00AFEF"/>
                </a:solidFill>
                <a:latin typeface="Calibri"/>
                <a:cs typeface="Calibri"/>
              </a:rPr>
              <a:t>will</a:t>
            </a:r>
            <a:r>
              <a:rPr sz="2600" spc="600" dirty="0">
                <a:solidFill>
                  <a:srgbClr val="00AFEF"/>
                </a:solidFill>
                <a:latin typeface="Calibri"/>
                <a:cs typeface="Calibri"/>
              </a:rPr>
              <a:t> </a:t>
            </a:r>
            <a:r>
              <a:rPr sz="2600" dirty="0">
                <a:solidFill>
                  <a:srgbClr val="00AFEF"/>
                </a:solidFill>
                <a:latin typeface="Calibri"/>
                <a:cs typeface="Calibri"/>
              </a:rPr>
              <a:t>empty</a:t>
            </a:r>
            <a:r>
              <a:rPr sz="2600" spc="590" dirty="0">
                <a:solidFill>
                  <a:srgbClr val="00AFEF"/>
                </a:solidFill>
                <a:latin typeface="Calibri"/>
                <a:cs typeface="Calibri"/>
              </a:rPr>
              <a:t> </a:t>
            </a:r>
            <a:r>
              <a:rPr sz="2600" dirty="0">
                <a:solidFill>
                  <a:srgbClr val="00AFEF"/>
                </a:solidFill>
                <a:latin typeface="Calibri"/>
                <a:cs typeface="Calibri"/>
              </a:rPr>
              <a:t>and</a:t>
            </a:r>
            <a:r>
              <a:rPr sz="2600" spc="595" dirty="0">
                <a:solidFill>
                  <a:srgbClr val="00AFEF"/>
                </a:solidFill>
                <a:latin typeface="Calibri"/>
                <a:cs typeface="Calibri"/>
              </a:rPr>
              <a:t> </a:t>
            </a:r>
            <a:r>
              <a:rPr sz="2600" dirty="0">
                <a:solidFill>
                  <a:srgbClr val="00AFEF"/>
                </a:solidFill>
                <a:latin typeface="Calibri"/>
                <a:cs typeface="Calibri"/>
              </a:rPr>
              <a:t>go</a:t>
            </a:r>
            <a:r>
              <a:rPr sz="2600" spc="595" dirty="0">
                <a:solidFill>
                  <a:srgbClr val="00AFEF"/>
                </a:solidFill>
                <a:latin typeface="Calibri"/>
                <a:cs typeface="Calibri"/>
              </a:rPr>
              <a:t> </a:t>
            </a:r>
            <a:r>
              <a:rPr sz="2600" spc="-25" dirty="0">
                <a:solidFill>
                  <a:srgbClr val="00AFEF"/>
                </a:solidFill>
                <a:latin typeface="Calibri"/>
                <a:cs typeface="Calibri"/>
              </a:rPr>
              <a:t>to </a:t>
            </a:r>
            <a:r>
              <a:rPr sz="2600" dirty="0">
                <a:solidFill>
                  <a:srgbClr val="00AFEF"/>
                </a:solidFill>
                <a:latin typeface="Calibri"/>
                <a:cs typeface="Calibri"/>
              </a:rPr>
              <a:t>sleep</a:t>
            </a:r>
            <a:r>
              <a:rPr sz="2600" spc="-65" dirty="0">
                <a:solidFill>
                  <a:srgbClr val="00AFEF"/>
                </a:solidFill>
                <a:latin typeface="Calibri"/>
                <a:cs typeface="Calibri"/>
              </a:rPr>
              <a:t> </a:t>
            </a:r>
            <a:r>
              <a:rPr sz="2600" dirty="0">
                <a:solidFill>
                  <a:srgbClr val="00AFEF"/>
                </a:solidFill>
                <a:latin typeface="Calibri"/>
                <a:cs typeface="Calibri"/>
              </a:rPr>
              <a:t>until</a:t>
            </a:r>
            <a:r>
              <a:rPr sz="2600" spc="-35" dirty="0">
                <a:solidFill>
                  <a:srgbClr val="00AFEF"/>
                </a:solidFill>
                <a:latin typeface="Calibri"/>
                <a:cs typeface="Calibri"/>
              </a:rPr>
              <a:t> </a:t>
            </a:r>
            <a:r>
              <a:rPr sz="2600" dirty="0">
                <a:solidFill>
                  <a:srgbClr val="00AFEF"/>
                </a:solidFill>
                <a:latin typeface="Calibri"/>
                <a:cs typeface="Calibri"/>
              </a:rPr>
              <a:t>producer</a:t>
            </a:r>
            <a:r>
              <a:rPr sz="2600" spc="-55" dirty="0">
                <a:solidFill>
                  <a:srgbClr val="00AFEF"/>
                </a:solidFill>
                <a:latin typeface="Calibri"/>
                <a:cs typeface="Calibri"/>
              </a:rPr>
              <a:t> </a:t>
            </a:r>
            <a:r>
              <a:rPr sz="2600" dirty="0">
                <a:solidFill>
                  <a:srgbClr val="00AFEF"/>
                </a:solidFill>
                <a:latin typeface="Calibri"/>
                <a:cs typeface="Calibri"/>
              </a:rPr>
              <a:t>put</a:t>
            </a:r>
            <a:r>
              <a:rPr sz="2600" spc="-35" dirty="0">
                <a:solidFill>
                  <a:srgbClr val="00AFEF"/>
                </a:solidFill>
                <a:latin typeface="Calibri"/>
                <a:cs typeface="Calibri"/>
              </a:rPr>
              <a:t> </a:t>
            </a:r>
            <a:r>
              <a:rPr sz="2600" dirty="0">
                <a:solidFill>
                  <a:srgbClr val="00AFEF"/>
                </a:solidFill>
                <a:latin typeface="Calibri"/>
                <a:cs typeface="Calibri"/>
              </a:rPr>
              <a:t>something</a:t>
            </a:r>
            <a:r>
              <a:rPr sz="2600" spc="-50" dirty="0">
                <a:solidFill>
                  <a:srgbClr val="00AFEF"/>
                </a:solidFill>
                <a:latin typeface="Calibri"/>
                <a:cs typeface="Calibri"/>
              </a:rPr>
              <a:t> </a:t>
            </a:r>
            <a:r>
              <a:rPr sz="2600" dirty="0">
                <a:solidFill>
                  <a:srgbClr val="00AFEF"/>
                </a:solidFill>
                <a:latin typeface="Calibri"/>
                <a:cs typeface="Calibri"/>
              </a:rPr>
              <a:t>in</a:t>
            </a:r>
            <a:r>
              <a:rPr sz="2600" spc="-25" dirty="0">
                <a:solidFill>
                  <a:srgbClr val="00AFEF"/>
                </a:solidFill>
                <a:latin typeface="Calibri"/>
                <a:cs typeface="Calibri"/>
              </a:rPr>
              <a:t> </a:t>
            </a:r>
            <a:r>
              <a:rPr sz="2600" dirty="0">
                <a:solidFill>
                  <a:srgbClr val="00AFEF"/>
                </a:solidFill>
                <a:latin typeface="Calibri"/>
                <a:cs typeface="Calibri"/>
              </a:rPr>
              <a:t>the</a:t>
            </a:r>
            <a:r>
              <a:rPr sz="2600" spc="-50" dirty="0">
                <a:solidFill>
                  <a:srgbClr val="00AFEF"/>
                </a:solidFill>
                <a:latin typeface="Calibri"/>
                <a:cs typeface="Calibri"/>
              </a:rPr>
              <a:t> </a:t>
            </a:r>
            <a:r>
              <a:rPr sz="2600" spc="-10" dirty="0">
                <a:solidFill>
                  <a:srgbClr val="00AFEF"/>
                </a:solidFill>
                <a:latin typeface="Calibri"/>
                <a:cs typeface="Calibri"/>
              </a:rPr>
              <a:t>buffer.</a:t>
            </a:r>
            <a:endParaRPr sz="2600" dirty="0">
              <a:latin typeface="Calibri"/>
              <a:cs typeface="Calibri"/>
            </a:endParaRP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13335" rIns="0" bIns="0" rtlCol="0">
            <a:spAutoFit/>
          </a:bodyPr>
          <a:lstStyle/>
          <a:p>
            <a:pPr marL="12700" algn="ctr" rtl="0">
              <a:spcBef>
                <a:spcPts val="105"/>
              </a:spcBef>
            </a:pPr>
            <a:r>
              <a:rPr sz="3200" b="1" dirty="0">
                <a:solidFill>
                  <a:sysClr val="windowText" lastClr="000000"/>
                </a:solidFill>
                <a:latin typeface="+mj-lt"/>
                <a:cs typeface="+mj-cs"/>
              </a:rPr>
              <a:t>Conti.</a:t>
            </a:r>
          </a:p>
        </p:txBody>
      </p:sp>
      <p:sp>
        <p:nvSpPr>
          <p:cNvPr id="3" name="object 3"/>
          <p:cNvSpPr txBox="1"/>
          <p:nvPr/>
        </p:nvSpPr>
        <p:spPr>
          <a:xfrm>
            <a:off x="725170" y="1371600"/>
            <a:ext cx="6971030" cy="478726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 marR="5080">
              <a:lnSpc>
                <a:spcPct val="100000"/>
              </a:lnSpc>
              <a:spcBef>
                <a:spcPts val="100"/>
              </a:spcBef>
            </a:pPr>
            <a:r>
              <a:rPr sz="2700" dirty="0">
                <a:latin typeface="Calibri"/>
                <a:cs typeface="Calibri"/>
              </a:rPr>
              <a:t>#define</a:t>
            </a:r>
            <a:r>
              <a:rPr sz="2700" spc="-40" dirty="0">
                <a:latin typeface="Calibri"/>
                <a:cs typeface="Calibri"/>
              </a:rPr>
              <a:t> </a:t>
            </a:r>
            <a:r>
              <a:rPr sz="2700" dirty="0">
                <a:latin typeface="Calibri"/>
                <a:cs typeface="Calibri"/>
              </a:rPr>
              <a:t>N</a:t>
            </a:r>
            <a:r>
              <a:rPr sz="2700" spc="-10" dirty="0">
                <a:latin typeface="Calibri"/>
                <a:cs typeface="Calibri"/>
              </a:rPr>
              <a:t> </a:t>
            </a:r>
            <a:r>
              <a:rPr sz="2700" dirty="0">
                <a:latin typeface="Calibri"/>
                <a:cs typeface="Calibri"/>
              </a:rPr>
              <a:t>=</a:t>
            </a:r>
            <a:r>
              <a:rPr sz="2700" spc="-10" dirty="0">
                <a:latin typeface="Calibri"/>
                <a:cs typeface="Calibri"/>
              </a:rPr>
              <a:t> </a:t>
            </a:r>
            <a:r>
              <a:rPr sz="2700" dirty="0">
                <a:latin typeface="Calibri"/>
                <a:cs typeface="Calibri"/>
              </a:rPr>
              <a:t>100</a:t>
            </a:r>
            <a:r>
              <a:rPr sz="2700" spc="-25" dirty="0">
                <a:latin typeface="Calibri"/>
                <a:cs typeface="Calibri"/>
              </a:rPr>
              <a:t> </a:t>
            </a:r>
            <a:r>
              <a:rPr sz="2700" dirty="0">
                <a:latin typeface="Calibri"/>
                <a:cs typeface="Calibri"/>
              </a:rPr>
              <a:t>/*</a:t>
            </a:r>
            <a:r>
              <a:rPr sz="2700" spc="-10" dirty="0">
                <a:latin typeface="Calibri"/>
                <a:cs typeface="Calibri"/>
              </a:rPr>
              <a:t> </a:t>
            </a:r>
            <a:r>
              <a:rPr sz="2700" dirty="0">
                <a:latin typeface="Calibri"/>
                <a:cs typeface="Calibri"/>
              </a:rPr>
              <a:t>number</a:t>
            </a:r>
            <a:r>
              <a:rPr sz="2700" spc="-30" dirty="0">
                <a:latin typeface="Calibri"/>
                <a:cs typeface="Calibri"/>
              </a:rPr>
              <a:t> </a:t>
            </a:r>
            <a:r>
              <a:rPr sz="2700" dirty="0">
                <a:latin typeface="Calibri"/>
                <a:cs typeface="Calibri"/>
              </a:rPr>
              <a:t>of</a:t>
            </a:r>
            <a:r>
              <a:rPr sz="2700" spc="-15" dirty="0">
                <a:latin typeface="Calibri"/>
                <a:cs typeface="Calibri"/>
              </a:rPr>
              <a:t> </a:t>
            </a:r>
            <a:r>
              <a:rPr sz="2700" dirty="0">
                <a:latin typeface="Calibri"/>
                <a:cs typeface="Calibri"/>
              </a:rPr>
              <a:t>slots</a:t>
            </a:r>
            <a:r>
              <a:rPr sz="2700" spc="-25" dirty="0">
                <a:latin typeface="Calibri"/>
                <a:cs typeface="Calibri"/>
              </a:rPr>
              <a:t> </a:t>
            </a:r>
            <a:r>
              <a:rPr sz="2700" dirty="0">
                <a:latin typeface="Calibri"/>
                <a:cs typeface="Calibri"/>
              </a:rPr>
              <a:t>in</a:t>
            </a:r>
            <a:r>
              <a:rPr sz="2700" spc="-15" dirty="0">
                <a:latin typeface="Calibri"/>
                <a:cs typeface="Calibri"/>
              </a:rPr>
              <a:t> </a:t>
            </a:r>
            <a:r>
              <a:rPr sz="2700" dirty="0">
                <a:latin typeface="Calibri"/>
                <a:cs typeface="Calibri"/>
              </a:rPr>
              <a:t>the</a:t>
            </a:r>
            <a:r>
              <a:rPr sz="2700" spc="-30" dirty="0">
                <a:latin typeface="Calibri"/>
                <a:cs typeface="Calibri"/>
              </a:rPr>
              <a:t> </a:t>
            </a:r>
            <a:r>
              <a:rPr sz="2700" spc="-10" dirty="0">
                <a:latin typeface="Calibri"/>
                <a:cs typeface="Calibri"/>
              </a:rPr>
              <a:t>buffer*/ </a:t>
            </a:r>
            <a:r>
              <a:rPr sz="2700" dirty="0">
                <a:latin typeface="Calibri"/>
                <a:cs typeface="Calibri"/>
              </a:rPr>
              <a:t>int</a:t>
            </a:r>
            <a:r>
              <a:rPr sz="2700" spc="-35" dirty="0">
                <a:latin typeface="Calibri"/>
                <a:cs typeface="Calibri"/>
              </a:rPr>
              <a:t> </a:t>
            </a:r>
            <a:r>
              <a:rPr sz="2700" dirty="0">
                <a:latin typeface="Calibri"/>
                <a:cs typeface="Calibri"/>
              </a:rPr>
              <a:t>count</a:t>
            </a:r>
            <a:r>
              <a:rPr sz="2700" spc="-35" dirty="0">
                <a:latin typeface="Calibri"/>
                <a:cs typeface="Calibri"/>
              </a:rPr>
              <a:t> </a:t>
            </a:r>
            <a:r>
              <a:rPr sz="2700" dirty="0">
                <a:latin typeface="Calibri"/>
                <a:cs typeface="Calibri"/>
              </a:rPr>
              <a:t>=</a:t>
            </a:r>
            <a:r>
              <a:rPr sz="2700" spc="-25" dirty="0">
                <a:latin typeface="Calibri"/>
                <a:cs typeface="Calibri"/>
              </a:rPr>
              <a:t> </a:t>
            </a:r>
            <a:r>
              <a:rPr sz="2700" dirty="0">
                <a:latin typeface="Calibri"/>
                <a:cs typeface="Calibri"/>
              </a:rPr>
              <a:t>0;</a:t>
            </a:r>
            <a:r>
              <a:rPr sz="2700" spc="-15" dirty="0">
                <a:latin typeface="Calibri"/>
                <a:cs typeface="Calibri"/>
              </a:rPr>
              <a:t> </a:t>
            </a:r>
            <a:r>
              <a:rPr sz="2700" dirty="0">
                <a:latin typeface="Calibri"/>
                <a:cs typeface="Calibri"/>
              </a:rPr>
              <a:t>/*</a:t>
            </a:r>
            <a:r>
              <a:rPr sz="2700" spc="-25" dirty="0">
                <a:latin typeface="Calibri"/>
                <a:cs typeface="Calibri"/>
              </a:rPr>
              <a:t> </a:t>
            </a:r>
            <a:r>
              <a:rPr sz="2700" dirty="0">
                <a:latin typeface="Calibri"/>
                <a:cs typeface="Calibri"/>
              </a:rPr>
              <a:t>number</a:t>
            </a:r>
            <a:r>
              <a:rPr sz="2700" spc="-40" dirty="0">
                <a:latin typeface="Calibri"/>
                <a:cs typeface="Calibri"/>
              </a:rPr>
              <a:t> </a:t>
            </a:r>
            <a:r>
              <a:rPr sz="2700" dirty="0">
                <a:latin typeface="Calibri"/>
                <a:cs typeface="Calibri"/>
              </a:rPr>
              <a:t>of</a:t>
            </a:r>
            <a:r>
              <a:rPr sz="2700" spc="-15" dirty="0">
                <a:latin typeface="Calibri"/>
                <a:cs typeface="Calibri"/>
              </a:rPr>
              <a:t> </a:t>
            </a:r>
            <a:r>
              <a:rPr sz="2700" dirty="0">
                <a:latin typeface="Calibri"/>
                <a:cs typeface="Calibri"/>
              </a:rPr>
              <a:t>item</a:t>
            </a:r>
            <a:r>
              <a:rPr sz="2700" spc="-25" dirty="0">
                <a:latin typeface="Calibri"/>
                <a:cs typeface="Calibri"/>
              </a:rPr>
              <a:t> </a:t>
            </a:r>
            <a:r>
              <a:rPr sz="2700" dirty="0">
                <a:latin typeface="Calibri"/>
                <a:cs typeface="Calibri"/>
              </a:rPr>
              <a:t>in</a:t>
            </a:r>
            <a:r>
              <a:rPr sz="2700" spc="-25" dirty="0">
                <a:latin typeface="Calibri"/>
                <a:cs typeface="Calibri"/>
              </a:rPr>
              <a:t> </a:t>
            </a:r>
            <a:r>
              <a:rPr sz="2700" dirty="0">
                <a:latin typeface="Calibri"/>
                <a:cs typeface="Calibri"/>
              </a:rPr>
              <a:t>the</a:t>
            </a:r>
            <a:r>
              <a:rPr sz="2700" spc="-35" dirty="0">
                <a:latin typeface="Calibri"/>
                <a:cs typeface="Calibri"/>
              </a:rPr>
              <a:t> </a:t>
            </a:r>
            <a:r>
              <a:rPr sz="2700" spc="-10" dirty="0">
                <a:latin typeface="Calibri"/>
                <a:cs typeface="Calibri"/>
              </a:rPr>
              <a:t>buffer*/</a:t>
            </a:r>
            <a:endParaRPr sz="2700" dirty="0">
              <a:latin typeface="Calibri"/>
              <a:cs typeface="Calibri"/>
            </a:endParaRPr>
          </a:p>
          <a:p>
            <a:pPr marL="12700">
              <a:lnSpc>
                <a:spcPct val="100000"/>
              </a:lnSpc>
              <a:spcBef>
                <a:spcPts val="3244"/>
              </a:spcBef>
            </a:pPr>
            <a:r>
              <a:rPr sz="2700" dirty="0">
                <a:latin typeface="Calibri"/>
                <a:cs typeface="Calibri"/>
              </a:rPr>
              <a:t>void</a:t>
            </a:r>
            <a:r>
              <a:rPr sz="2700" spc="-55" dirty="0">
                <a:latin typeface="Calibri"/>
                <a:cs typeface="Calibri"/>
              </a:rPr>
              <a:t> </a:t>
            </a:r>
            <a:r>
              <a:rPr sz="2700" spc="-10" dirty="0">
                <a:latin typeface="Calibri"/>
                <a:cs typeface="Calibri"/>
              </a:rPr>
              <a:t>producer(void)</a:t>
            </a:r>
            <a:endParaRPr sz="2700" dirty="0">
              <a:latin typeface="Calibri"/>
              <a:cs typeface="Calibri"/>
            </a:endParaRPr>
          </a:p>
          <a:p>
            <a:pPr marL="1384300">
              <a:lnSpc>
                <a:spcPct val="100000"/>
              </a:lnSpc>
              <a:spcBef>
                <a:spcPts val="40"/>
              </a:spcBef>
            </a:pPr>
            <a:r>
              <a:rPr sz="1700" spc="-50" dirty="0">
                <a:latin typeface="Calibri"/>
                <a:cs typeface="Calibri"/>
              </a:rPr>
              <a:t>{</a:t>
            </a:r>
            <a:endParaRPr sz="1700" dirty="0">
              <a:latin typeface="Calibri"/>
              <a:cs typeface="Calibri"/>
            </a:endParaRPr>
          </a:p>
          <a:p>
            <a:pPr marL="1384300" marR="4504690">
              <a:lnSpc>
                <a:spcPct val="100000"/>
              </a:lnSpc>
            </a:pPr>
            <a:r>
              <a:rPr sz="1700" dirty="0">
                <a:latin typeface="Calibri"/>
                <a:cs typeface="Calibri"/>
              </a:rPr>
              <a:t>int</a:t>
            </a:r>
            <a:r>
              <a:rPr sz="1700" spc="-35" dirty="0">
                <a:latin typeface="Calibri"/>
                <a:cs typeface="Calibri"/>
              </a:rPr>
              <a:t> </a:t>
            </a:r>
            <a:r>
              <a:rPr sz="1700" spc="-20" dirty="0">
                <a:latin typeface="Calibri"/>
                <a:cs typeface="Calibri"/>
              </a:rPr>
              <a:t>item; </a:t>
            </a:r>
            <a:r>
              <a:rPr sz="1700" spc="-10" dirty="0">
                <a:latin typeface="Calibri"/>
                <a:cs typeface="Calibri"/>
              </a:rPr>
              <a:t>while(TRUE)</a:t>
            </a:r>
            <a:endParaRPr sz="1700" dirty="0">
              <a:latin typeface="Calibri"/>
              <a:cs typeface="Calibri"/>
            </a:endParaRPr>
          </a:p>
          <a:p>
            <a:pPr marL="1384300">
              <a:lnSpc>
                <a:spcPct val="100000"/>
              </a:lnSpc>
            </a:pPr>
            <a:r>
              <a:rPr sz="1700" dirty="0">
                <a:latin typeface="Calibri"/>
                <a:cs typeface="Calibri"/>
              </a:rPr>
              <a:t>{</a:t>
            </a:r>
            <a:r>
              <a:rPr sz="1700" spc="-30" dirty="0">
                <a:latin typeface="Calibri"/>
                <a:cs typeface="Calibri"/>
              </a:rPr>
              <a:t> </a:t>
            </a:r>
            <a:r>
              <a:rPr sz="1700" dirty="0">
                <a:latin typeface="Calibri"/>
                <a:cs typeface="Calibri"/>
              </a:rPr>
              <a:t>/*</a:t>
            </a:r>
            <a:r>
              <a:rPr sz="1700" spc="-20" dirty="0">
                <a:latin typeface="Calibri"/>
                <a:cs typeface="Calibri"/>
              </a:rPr>
              <a:t> </a:t>
            </a:r>
            <a:r>
              <a:rPr sz="1700" dirty="0">
                <a:latin typeface="Calibri"/>
                <a:cs typeface="Calibri"/>
              </a:rPr>
              <a:t>repeat</a:t>
            </a:r>
            <a:r>
              <a:rPr sz="1700" spc="-45" dirty="0">
                <a:latin typeface="Calibri"/>
                <a:cs typeface="Calibri"/>
              </a:rPr>
              <a:t> </a:t>
            </a:r>
            <a:r>
              <a:rPr sz="1700" spc="-10" dirty="0">
                <a:latin typeface="Calibri"/>
                <a:cs typeface="Calibri"/>
              </a:rPr>
              <a:t>forever*/</a:t>
            </a:r>
            <a:endParaRPr sz="1700" dirty="0">
              <a:latin typeface="Calibri"/>
              <a:cs typeface="Calibri"/>
            </a:endParaRPr>
          </a:p>
          <a:p>
            <a:pPr marL="2298700">
              <a:lnSpc>
                <a:spcPct val="100000"/>
              </a:lnSpc>
            </a:pPr>
            <a:r>
              <a:rPr sz="1700" dirty="0">
                <a:latin typeface="Calibri"/>
                <a:cs typeface="Calibri"/>
              </a:rPr>
              <a:t>item</a:t>
            </a:r>
            <a:r>
              <a:rPr sz="1700" spc="-30" dirty="0">
                <a:latin typeface="Calibri"/>
                <a:cs typeface="Calibri"/>
              </a:rPr>
              <a:t> </a:t>
            </a:r>
            <a:r>
              <a:rPr sz="1700" dirty="0">
                <a:latin typeface="Calibri"/>
                <a:cs typeface="Calibri"/>
              </a:rPr>
              <a:t>= </a:t>
            </a:r>
            <a:r>
              <a:rPr sz="1700" spc="-10" dirty="0">
                <a:latin typeface="Calibri"/>
                <a:cs typeface="Calibri"/>
              </a:rPr>
              <a:t>produce_item();</a:t>
            </a:r>
            <a:r>
              <a:rPr sz="1700" spc="-65" dirty="0">
                <a:latin typeface="Calibri"/>
                <a:cs typeface="Calibri"/>
              </a:rPr>
              <a:t> </a:t>
            </a:r>
            <a:r>
              <a:rPr sz="1700" spc="-10" dirty="0">
                <a:latin typeface="Calibri"/>
                <a:cs typeface="Calibri"/>
              </a:rPr>
              <a:t>/*generate</a:t>
            </a:r>
            <a:r>
              <a:rPr sz="1700" spc="-40" dirty="0">
                <a:latin typeface="Calibri"/>
                <a:cs typeface="Calibri"/>
              </a:rPr>
              <a:t> </a:t>
            </a:r>
            <a:r>
              <a:rPr sz="1700" dirty="0">
                <a:latin typeface="Calibri"/>
                <a:cs typeface="Calibri"/>
              </a:rPr>
              <a:t>next</a:t>
            </a:r>
            <a:r>
              <a:rPr sz="1700" spc="-20" dirty="0">
                <a:latin typeface="Calibri"/>
                <a:cs typeface="Calibri"/>
              </a:rPr>
              <a:t> </a:t>
            </a:r>
            <a:r>
              <a:rPr sz="1700" spc="-10" dirty="0">
                <a:latin typeface="Calibri"/>
                <a:cs typeface="Calibri"/>
              </a:rPr>
              <a:t>item*/</a:t>
            </a:r>
            <a:endParaRPr sz="1700" dirty="0">
              <a:latin typeface="Calibri"/>
              <a:cs typeface="Calibri"/>
            </a:endParaRPr>
          </a:p>
          <a:p>
            <a:pPr marL="2298700">
              <a:lnSpc>
                <a:spcPct val="100000"/>
              </a:lnSpc>
            </a:pPr>
            <a:r>
              <a:rPr sz="1700" dirty="0">
                <a:latin typeface="Calibri"/>
                <a:cs typeface="Calibri"/>
              </a:rPr>
              <a:t>if</a:t>
            </a:r>
            <a:r>
              <a:rPr sz="1700" spc="-45" dirty="0">
                <a:latin typeface="Calibri"/>
                <a:cs typeface="Calibri"/>
              </a:rPr>
              <a:t> </a:t>
            </a:r>
            <a:r>
              <a:rPr sz="1700" dirty="0">
                <a:latin typeface="Calibri"/>
                <a:cs typeface="Calibri"/>
              </a:rPr>
              <a:t>(count</a:t>
            </a:r>
            <a:r>
              <a:rPr sz="1700" spc="-50" dirty="0">
                <a:latin typeface="Calibri"/>
                <a:cs typeface="Calibri"/>
              </a:rPr>
              <a:t> </a:t>
            </a:r>
            <a:r>
              <a:rPr sz="1700" dirty="0">
                <a:latin typeface="Calibri"/>
                <a:cs typeface="Calibri"/>
              </a:rPr>
              <a:t>==</a:t>
            </a:r>
            <a:r>
              <a:rPr sz="1700" spc="-25" dirty="0">
                <a:latin typeface="Calibri"/>
                <a:cs typeface="Calibri"/>
              </a:rPr>
              <a:t> N)</a:t>
            </a:r>
            <a:endParaRPr sz="1700" dirty="0">
              <a:latin typeface="Calibri"/>
              <a:cs typeface="Calibri"/>
            </a:endParaRPr>
          </a:p>
          <a:p>
            <a:pPr marL="2298700" marR="995044" indent="276225">
              <a:lnSpc>
                <a:spcPct val="100000"/>
              </a:lnSpc>
            </a:pPr>
            <a:r>
              <a:rPr sz="1700" dirty="0">
                <a:latin typeface="Calibri"/>
                <a:cs typeface="Calibri"/>
              </a:rPr>
              <a:t>sleep();</a:t>
            </a:r>
            <a:r>
              <a:rPr sz="1700" spc="-65" dirty="0">
                <a:latin typeface="Calibri"/>
                <a:cs typeface="Calibri"/>
              </a:rPr>
              <a:t> </a:t>
            </a:r>
            <a:r>
              <a:rPr sz="1700" dirty="0">
                <a:latin typeface="Calibri"/>
                <a:cs typeface="Calibri"/>
              </a:rPr>
              <a:t>/*if</a:t>
            </a:r>
            <a:r>
              <a:rPr sz="1700" spc="-20" dirty="0">
                <a:latin typeface="Calibri"/>
                <a:cs typeface="Calibri"/>
              </a:rPr>
              <a:t> </a:t>
            </a:r>
            <a:r>
              <a:rPr sz="1700" dirty="0">
                <a:latin typeface="Calibri"/>
                <a:cs typeface="Calibri"/>
              </a:rPr>
              <a:t>buffer</a:t>
            </a:r>
            <a:r>
              <a:rPr sz="1700" spc="-20" dirty="0">
                <a:latin typeface="Calibri"/>
                <a:cs typeface="Calibri"/>
              </a:rPr>
              <a:t> </a:t>
            </a:r>
            <a:r>
              <a:rPr sz="1700" dirty="0">
                <a:latin typeface="Calibri"/>
                <a:cs typeface="Calibri"/>
              </a:rPr>
              <a:t>is</a:t>
            </a:r>
            <a:r>
              <a:rPr sz="1700" spc="-40" dirty="0">
                <a:latin typeface="Calibri"/>
                <a:cs typeface="Calibri"/>
              </a:rPr>
              <a:t> </a:t>
            </a:r>
            <a:r>
              <a:rPr sz="1700" dirty="0">
                <a:latin typeface="Calibri"/>
                <a:cs typeface="Calibri"/>
              </a:rPr>
              <a:t>full</a:t>
            </a:r>
            <a:r>
              <a:rPr sz="1700" spc="-30" dirty="0">
                <a:latin typeface="Calibri"/>
                <a:cs typeface="Calibri"/>
              </a:rPr>
              <a:t> </a:t>
            </a:r>
            <a:r>
              <a:rPr sz="1700" dirty="0">
                <a:latin typeface="Calibri"/>
                <a:cs typeface="Calibri"/>
              </a:rPr>
              <a:t>go</a:t>
            </a:r>
            <a:r>
              <a:rPr sz="1700" spc="-25" dirty="0">
                <a:latin typeface="Calibri"/>
                <a:cs typeface="Calibri"/>
              </a:rPr>
              <a:t> </a:t>
            </a:r>
            <a:r>
              <a:rPr sz="1700" dirty="0">
                <a:latin typeface="Calibri"/>
                <a:cs typeface="Calibri"/>
              </a:rPr>
              <a:t>to</a:t>
            </a:r>
            <a:r>
              <a:rPr sz="1700" spc="-20" dirty="0">
                <a:latin typeface="Calibri"/>
                <a:cs typeface="Calibri"/>
              </a:rPr>
              <a:t> </a:t>
            </a:r>
            <a:r>
              <a:rPr sz="1700" spc="-10" dirty="0">
                <a:latin typeface="Calibri"/>
                <a:cs typeface="Calibri"/>
              </a:rPr>
              <a:t>sleep*/ insert_item(item);</a:t>
            </a:r>
            <a:r>
              <a:rPr sz="1700" spc="-65" dirty="0">
                <a:latin typeface="Calibri"/>
                <a:cs typeface="Calibri"/>
              </a:rPr>
              <a:t> </a:t>
            </a:r>
            <a:r>
              <a:rPr sz="1700" dirty="0">
                <a:latin typeface="Calibri"/>
                <a:cs typeface="Calibri"/>
              </a:rPr>
              <a:t>/*</a:t>
            </a:r>
            <a:r>
              <a:rPr sz="1700" spc="5" dirty="0">
                <a:latin typeface="Calibri"/>
                <a:cs typeface="Calibri"/>
              </a:rPr>
              <a:t> </a:t>
            </a:r>
            <a:r>
              <a:rPr sz="1700" dirty="0">
                <a:latin typeface="Calibri"/>
                <a:cs typeface="Calibri"/>
              </a:rPr>
              <a:t>put</a:t>
            </a:r>
            <a:r>
              <a:rPr sz="1700" spc="-30" dirty="0">
                <a:latin typeface="Calibri"/>
                <a:cs typeface="Calibri"/>
              </a:rPr>
              <a:t> </a:t>
            </a:r>
            <a:r>
              <a:rPr sz="1700" dirty="0">
                <a:latin typeface="Calibri"/>
                <a:cs typeface="Calibri"/>
              </a:rPr>
              <a:t>item</a:t>
            </a:r>
            <a:r>
              <a:rPr sz="1700" spc="-10" dirty="0">
                <a:latin typeface="Calibri"/>
                <a:cs typeface="Calibri"/>
              </a:rPr>
              <a:t> </a:t>
            </a:r>
            <a:r>
              <a:rPr sz="1700" dirty="0">
                <a:latin typeface="Calibri"/>
                <a:cs typeface="Calibri"/>
              </a:rPr>
              <a:t>in</a:t>
            </a:r>
            <a:r>
              <a:rPr sz="1700" spc="-15" dirty="0">
                <a:latin typeface="Calibri"/>
                <a:cs typeface="Calibri"/>
              </a:rPr>
              <a:t> </a:t>
            </a:r>
            <a:r>
              <a:rPr sz="1700" spc="-10" dirty="0">
                <a:latin typeface="Calibri"/>
                <a:cs typeface="Calibri"/>
              </a:rPr>
              <a:t>buffer</a:t>
            </a:r>
            <a:r>
              <a:rPr sz="1700" spc="-25" dirty="0">
                <a:latin typeface="Calibri"/>
                <a:cs typeface="Calibri"/>
              </a:rPr>
              <a:t> */ </a:t>
            </a:r>
            <a:r>
              <a:rPr sz="1700" dirty="0">
                <a:latin typeface="Calibri"/>
                <a:cs typeface="Calibri"/>
              </a:rPr>
              <a:t>count</a:t>
            </a:r>
            <a:r>
              <a:rPr sz="1700" spc="-50" dirty="0">
                <a:latin typeface="Calibri"/>
                <a:cs typeface="Calibri"/>
              </a:rPr>
              <a:t> </a:t>
            </a:r>
            <a:r>
              <a:rPr sz="1700" dirty="0">
                <a:latin typeface="Calibri"/>
                <a:cs typeface="Calibri"/>
              </a:rPr>
              <a:t>=</a:t>
            </a:r>
            <a:r>
              <a:rPr sz="1700" spc="-15" dirty="0">
                <a:latin typeface="Calibri"/>
                <a:cs typeface="Calibri"/>
              </a:rPr>
              <a:t> </a:t>
            </a:r>
            <a:r>
              <a:rPr sz="1700" dirty="0">
                <a:latin typeface="Calibri"/>
                <a:cs typeface="Calibri"/>
              </a:rPr>
              <a:t>count</a:t>
            </a:r>
            <a:r>
              <a:rPr sz="1700" spc="-40" dirty="0">
                <a:latin typeface="Calibri"/>
                <a:cs typeface="Calibri"/>
              </a:rPr>
              <a:t> </a:t>
            </a:r>
            <a:r>
              <a:rPr sz="1700" dirty="0">
                <a:latin typeface="Calibri"/>
                <a:cs typeface="Calibri"/>
              </a:rPr>
              <a:t>+1;</a:t>
            </a:r>
            <a:r>
              <a:rPr sz="1700" spc="-15" dirty="0">
                <a:latin typeface="Calibri"/>
                <a:cs typeface="Calibri"/>
              </a:rPr>
              <a:t> </a:t>
            </a:r>
            <a:r>
              <a:rPr sz="1700" spc="-10" dirty="0">
                <a:latin typeface="Calibri"/>
                <a:cs typeface="Calibri"/>
              </a:rPr>
              <a:t>/*increment</a:t>
            </a:r>
            <a:r>
              <a:rPr sz="1700" spc="-50" dirty="0">
                <a:latin typeface="Calibri"/>
                <a:cs typeface="Calibri"/>
              </a:rPr>
              <a:t> </a:t>
            </a:r>
            <a:r>
              <a:rPr sz="1700" dirty="0">
                <a:latin typeface="Calibri"/>
                <a:cs typeface="Calibri"/>
              </a:rPr>
              <a:t>count</a:t>
            </a:r>
            <a:r>
              <a:rPr sz="1700" spc="-40" dirty="0">
                <a:latin typeface="Calibri"/>
                <a:cs typeface="Calibri"/>
              </a:rPr>
              <a:t> </a:t>
            </a:r>
            <a:r>
              <a:rPr sz="1700" spc="-35" dirty="0">
                <a:latin typeface="Calibri"/>
                <a:cs typeface="Calibri"/>
              </a:rPr>
              <a:t>*/</a:t>
            </a:r>
            <a:endParaRPr sz="1700" dirty="0">
              <a:latin typeface="Calibri"/>
              <a:cs typeface="Calibri"/>
            </a:endParaRPr>
          </a:p>
          <a:p>
            <a:pPr marL="2574925" marR="2645410" indent="-276225">
              <a:lnSpc>
                <a:spcPct val="100000"/>
              </a:lnSpc>
              <a:spcBef>
                <a:spcPts val="5"/>
              </a:spcBef>
            </a:pPr>
            <a:r>
              <a:rPr sz="1700" dirty="0">
                <a:latin typeface="Calibri"/>
                <a:cs typeface="Calibri"/>
              </a:rPr>
              <a:t>if</a:t>
            </a:r>
            <a:r>
              <a:rPr sz="1700" spc="-45" dirty="0">
                <a:latin typeface="Calibri"/>
                <a:cs typeface="Calibri"/>
              </a:rPr>
              <a:t> </a:t>
            </a:r>
            <a:r>
              <a:rPr sz="1700" dirty="0">
                <a:latin typeface="Calibri"/>
                <a:cs typeface="Calibri"/>
              </a:rPr>
              <a:t>(count</a:t>
            </a:r>
            <a:r>
              <a:rPr sz="1700" spc="-50" dirty="0">
                <a:latin typeface="Calibri"/>
                <a:cs typeface="Calibri"/>
              </a:rPr>
              <a:t> </a:t>
            </a:r>
            <a:r>
              <a:rPr sz="1700" dirty="0">
                <a:latin typeface="Calibri"/>
                <a:cs typeface="Calibri"/>
              </a:rPr>
              <a:t>==</a:t>
            </a:r>
            <a:r>
              <a:rPr sz="1700" spc="-25" dirty="0">
                <a:latin typeface="Calibri"/>
                <a:cs typeface="Calibri"/>
              </a:rPr>
              <a:t> 1) </a:t>
            </a:r>
            <a:r>
              <a:rPr sz="1700" spc="-10" dirty="0">
                <a:latin typeface="Calibri"/>
                <a:cs typeface="Calibri"/>
              </a:rPr>
              <a:t>wakeup(consumer);</a:t>
            </a:r>
            <a:endParaRPr sz="1700" dirty="0">
              <a:latin typeface="Calibri"/>
              <a:cs typeface="Calibri"/>
            </a:endParaRPr>
          </a:p>
          <a:p>
            <a:pPr marL="2298700">
              <a:lnSpc>
                <a:spcPct val="100000"/>
              </a:lnSpc>
            </a:pPr>
            <a:r>
              <a:rPr sz="1700" dirty="0">
                <a:latin typeface="Calibri"/>
                <a:cs typeface="Calibri"/>
              </a:rPr>
              <a:t>/*</a:t>
            </a:r>
            <a:r>
              <a:rPr sz="1700" spc="-55" dirty="0">
                <a:latin typeface="Calibri"/>
                <a:cs typeface="Calibri"/>
              </a:rPr>
              <a:t> </a:t>
            </a:r>
            <a:r>
              <a:rPr sz="1700" dirty="0">
                <a:latin typeface="Calibri"/>
                <a:cs typeface="Calibri"/>
              </a:rPr>
              <a:t>was</a:t>
            </a:r>
            <a:r>
              <a:rPr sz="1700" spc="-55" dirty="0">
                <a:latin typeface="Calibri"/>
                <a:cs typeface="Calibri"/>
              </a:rPr>
              <a:t> </a:t>
            </a:r>
            <a:r>
              <a:rPr sz="1700" dirty="0">
                <a:latin typeface="Calibri"/>
                <a:cs typeface="Calibri"/>
              </a:rPr>
              <a:t>buffer</a:t>
            </a:r>
            <a:r>
              <a:rPr sz="1700" spc="-55" dirty="0">
                <a:latin typeface="Calibri"/>
                <a:cs typeface="Calibri"/>
              </a:rPr>
              <a:t> </a:t>
            </a:r>
            <a:r>
              <a:rPr sz="1700" spc="-10" dirty="0">
                <a:latin typeface="Calibri"/>
                <a:cs typeface="Calibri"/>
              </a:rPr>
              <a:t>empty*/</a:t>
            </a:r>
            <a:endParaRPr sz="1700" dirty="0">
              <a:latin typeface="Calibri"/>
              <a:cs typeface="Calibri"/>
            </a:endParaRPr>
          </a:p>
        </p:txBody>
      </p:sp>
      <p:sp>
        <p:nvSpPr>
          <p:cNvPr id="4" name="object 4"/>
          <p:cNvSpPr txBox="1"/>
          <p:nvPr/>
        </p:nvSpPr>
        <p:spPr>
          <a:xfrm>
            <a:off x="2268220" y="6019800"/>
            <a:ext cx="93980" cy="28511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700" spc="-50" dirty="0">
                <a:latin typeface="Calibri"/>
                <a:cs typeface="Calibri"/>
              </a:rPr>
              <a:t>}</a:t>
            </a:r>
            <a:endParaRPr sz="1700" dirty="0">
              <a:latin typeface="Calibri"/>
              <a:cs typeface="Calibri"/>
            </a:endParaRPr>
          </a:p>
        </p:txBody>
      </p:sp>
      <p:sp>
        <p:nvSpPr>
          <p:cNvPr id="7" name="Footer Placeholder 6">
            <a:extLst>
              <a:ext uri="{FF2B5EF4-FFF2-40B4-BE49-F238E27FC236}">
                <a16:creationId xmlns:a16="http://schemas.microsoft.com/office/drawing/2014/main" id="{02B468F0-1899-461C-87C0-FAA33DBB560F}"/>
              </a:ext>
            </a:extLst>
          </p:cNvPr>
          <p:cNvSpPr>
            <a:spLocks noGrp="1"/>
          </p:cNvSpPr>
          <p:nvPr>
            <p:ph type="ftr" sz="quarter" idx="5"/>
          </p:nvPr>
        </p:nvSpPr>
        <p:spPr>
          <a:xfrm>
            <a:off x="3200400" y="6604452"/>
            <a:ext cx="2540127" cy="156068"/>
          </a:xfrm>
        </p:spPr>
        <p:txBody>
          <a:bodyPr/>
          <a:lstStyle/>
          <a:p>
            <a:pPr marL="12700">
              <a:lnSpc>
                <a:spcPts val="1240"/>
              </a:lnSpc>
            </a:pPr>
            <a:r>
              <a:rPr lang="pl-PL" dirty="0"/>
              <a:t>By Dr. Binod Kr. Adhikari</a:t>
            </a:r>
            <a:endParaRPr lang="en-US" spc="-10" dirty="0"/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13335" rIns="0" bIns="0" rtlCol="0">
            <a:spAutoFit/>
          </a:bodyPr>
          <a:lstStyle/>
          <a:p>
            <a:pPr marL="12700" algn="ctr" rtl="0">
              <a:spcBef>
                <a:spcPts val="105"/>
              </a:spcBef>
            </a:pPr>
            <a:r>
              <a:rPr sz="3200" b="1" dirty="0">
                <a:solidFill>
                  <a:sysClr val="windowText" lastClr="000000"/>
                </a:solidFill>
                <a:latin typeface="+mj-lt"/>
                <a:cs typeface="+mj-cs"/>
              </a:rPr>
              <a:t>Cont……</a:t>
            </a:r>
          </a:p>
        </p:txBody>
      </p:sp>
      <p:sp>
        <p:nvSpPr>
          <p:cNvPr id="4" name="object 4"/>
          <p:cNvSpPr txBox="1">
            <a:spLocks noGrp="1"/>
          </p:cNvSpPr>
          <p:nvPr>
            <p:ph type="ftr" sz="quarter" idx="5"/>
          </p:nvPr>
        </p:nvSpPr>
        <p:spPr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12700">
              <a:lnSpc>
                <a:spcPts val="1240"/>
              </a:lnSpc>
            </a:pPr>
            <a:r>
              <a:rPr lang="pl-PL"/>
              <a:t>By Dr. Binod Kr. Adhikari</a:t>
            </a:r>
            <a:endParaRPr spc="-10" dirty="0"/>
          </a:p>
        </p:txBody>
      </p:sp>
      <p:sp>
        <p:nvSpPr>
          <p:cNvPr id="3" name="object 3"/>
          <p:cNvSpPr txBox="1"/>
          <p:nvPr/>
        </p:nvSpPr>
        <p:spPr>
          <a:xfrm>
            <a:off x="1450594" y="1555445"/>
            <a:ext cx="5829300" cy="421767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sz="2200" dirty="0">
                <a:latin typeface="Calibri"/>
                <a:cs typeface="Calibri"/>
              </a:rPr>
              <a:t>void</a:t>
            </a:r>
            <a:r>
              <a:rPr sz="2200" spc="-55" dirty="0">
                <a:latin typeface="Calibri"/>
                <a:cs typeface="Calibri"/>
              </a:rPr>
              <a:t> </a:t>
            </a:r>
            <a:r>
              <a:rPr sz="2200" spc="-10" dirty="0">
                <a:latin typeface="Calibri"/>
                <a:cs typeface="Calibri"/>
              </a:rPr>
              <a:t>consumer(void)</a:t>
            </a:r>
            <a:endParaRPr sz="2200">
              <a:latin typeface="Calibri"/>
              <a:cs typeface="Calibri"/>
            </a:endParaRPr>
          </a:p>
          <a:p>
            <a:pPr marL="12700">
              <a:lnSpc>
                <a:spcPct val="100000"/>
              </a:lnSpc>
              <a:spcBef>
                <a:spcPts val="5"/>
              </a:spcBef>
            </a:pPr>
            <a:r>
              <a:rPr sz="2200" spc="-50" dirty="0">
                <a:latin typeface="Calibri"/>
                <a:cs typeface="Calibri"/>
              </a:rPr>
              <a:t>{</a:t>
            </a:r>
            <a:endParaRPr sz="2200">
              <a:latin typeface="Calibri"/>
              <a:cs typeface="Calibri"/>
            </a:endParaRPr>
          </a:p>
          <a:p>
            <a:pPr marL="469900" marR="4156075">
              <a:lnSpc>
                <a:spcPct val="100000"/>
              </a:lnSpc>
              <a:spcBef>
                <a:spcPts val="10"/>
              </a:spcBef>
            </a:pPr>
            <a:r>
              <a:rPr sz="1900" dirty="0">
                <a:latin typeface="Calibri"/>
                <a:cs typeface="Calibri"/>
              </a:rPr>
              <a:t>int</a:t>
            </a:r>
            <a:r>
              <a:rPr sz="1900" spc="-60" dirty="0">
                <a:latin typeface="Calibri"/>
                <a:cs typeface="Calibri"/>
              </a:rPr>
              <a:t> </a:t>
            </a:r>
            <a:r>
              <a:rPr sz="1900" spc="-10" dirty="0">
                <a:latin typeface="Calibri"/>
                <a:cs typeface="Calibri"/>
              </a:rPr>
              <a:t>item; while(TRUE)</a:t>
            </a:r>
            <a:endParaRPr sz="1900">
              <a:latin typeface="Calibri"/>
              <a:cs typeface="Calibri"/>
            </a:endParaRPr>
          </a:p>
          <a:p>
            <a:pPr marL="469900">
              <a:lnSpc>
                <a:spcPct val="100000"/>
              </a:lnSpc>
            </a:pPr>
            <a:r>
              <a:rPr sz="1900" dirty="0">
                <a:latin typeface="Calibri"/>
                <a:cs typeface="Calibri"/>
              </a:rPr>
              <a:t>{</a:t>
            </a:r>
            <a:r>
              <a:rPr sz="1900" spc="-55" dirty="0">
                <a:latin typeface="Calibri"/>
                <a:cs typeface="Calibri"/>
              </a:rPr>
              <a:t> </a:t>
            </a:r>
            <a:r>
              <a:rPr sz="1900" dirty="0">
                <a:latin typeface="Calibri"/>
                <a:cs typeface="Calibri"/>
              </a:rPr>
              <a:t>/*</a:t>
            </a:r>
            <a:r>
              <a:rPr sz="1900" spc="-40" dirty="0">
                <a:latin typeface="Calibri"/>
                <a:cs typeface="Calibri"/>
              </a:rPr>
              <a:t> </a:t>
            </a:r>
            <a:r>
              <a:rPr sz="1900" dirty="0">
                <a:latin typeface="Calibri"/>
                <a:cs typeface="Calibri"/>
              </a:rPr>
              <a:t>repeat</a:t>
            </a:r>
            <a:r>
              <a:rPr sz="1900" spc="-40" dirty="0">
                <a:latin typeface="Calibri"/>
                <a:cs typeface="Calibri"/>
              </a:rPr>
              <a:t> </a:t>
            </a:r>
            <a:r>
              <a:rPr sz="1900" spc="-10" dirty="0">
                <a:latin typeface="Calibri"/>
                <a:cs typeface="Calibri"/>
              </a:rPr>
              <a:t>forever*/</a:t>
            </a:r>
            <a:endParaRPr sz="1900">
              <a:latin typeface="Calibri"/>
              <a:cs typeface="Calibri"/>
            </a:endParaRPr>
          </a:p>
          <a:p>
            <a:pPr marL="927100">
              <a:lnSpc>
                <a:spcPct val="100000"/>
              </a:lnSpc>
              <a:spcBef>
                <a:spcPts val="5"/>
              </a:spcBef>
            </a:pPr>
            <a:r>
              <a:rPr sz="1900" dirty="0">
                <a:latin typeface="Calibri"/>
                <a:cs typeface="Calibri"/>
              </a:rPr>
              <a:t>if(count</a:t>
            </a:r>
            <a:r>
              <a:rPr sz="1900" spc="-65" dirty="0">
                <a:latin typeface="Calibri"/>
                <a:cs typeface="Calibri"/>
              </a:rPr>
              <a:t> </a:t>
            </a:r>
            <a:r>
              <a:rPr sz="1900" dirty="0">
                <a:latin typeface="Calibri"/>
                <a:cs typeface="Calibri"/>
              </a:rPr>
              <a:t>==</a:t>
            </a:r>
            <a:r>
              <a:rPr sz="1900" spc="-65" dirty="0">
                <a:latin typeface="Calibri"/>
                <a:cs typeface="Calibri"/>
              </a:rPr>
              <a:t> </a:t>
            </a:r>
            <a:r>
              <a:rPr sz="1900" spc="-25" dirty="0">
                <a:latin typeface="Calibri"/>
                <a:cs typeface="Calibri"/>
              </a:rPr>
              <a:t>0)</a:t>
            </a:r>
            <a:endParaRPr sz="1900">
              <a:latin typeface="Calibri"/>
              <a:cs typeface="Calibri"/>
            </a:endParaRPr>
          </a:p>
          <a:p>
            <a:pPr marL="1155700">
              <a:lnSpc>
                <a:spcPct val="100000"/>
              </a:lnSpc>
            </a:pPr>
            <a:r>
              <a:rPr sz="1900" dirty="0">
                <a:latin typeface="Calibri"/>
                <a:cs typeface="Calibri"/>
              </a:rPr>
              <a:t>sleep();</a:t>
            </a:r>
            <a:r>
              <a:rPr sz="1900" spc="-45" dirty="0">
                <a:latin typeface="Calibri"/>
                <a:cs typeface="Calibri"/>
              </a:rPr>
              <a:t> </a:t>
            </a:r>
            <a:r>
              <a:rPr sz="1900" dirty="0">
                <a:latin typeface="Calibri"/>
                <a:cs typeface="Calibri"/>
              </a:rPr>
              <a:t>/*</a:t>
            </a:r>
            <a:r>
              <a:rPr sz="1900" spc="-40" dirty="0">
                <a:latin typeface="Calibri"/>
                <a:cs typeface="Calibri"/>
              </a:rPr>
              <a:t> </a:t>
            </a:r>
            <a:r>
              <a:rPr sz="1900" dirty="0">
                <a:latin typeface="Calibri"/>
                <a:cs typeface="Calibri"/>
              </a:rPr>
              <a:t>if</a:t>
            </a:r>
            <a:r>
              <a:rPr sz="1900" spc="-55" dirty="0">
                <a:latin typeface="Calibri"/>
                <a:cs typeface="Calibri"/>
              </a:rPr>
              <a:t> </a:t>
            </a:r>
            <a:r>
              <a:rPr sz="1900" spc="-10" dirty="0">
                <a:latin typeface="Calibri"/>
                <a:cs typeface="Calibri"/>
              </a:rPr>
              <a:t>buffer</a:t>
            </a:r>
            <a:r>
              <a:rPr sz="1900" spc="-25" dirty="0">
                <a:latin typeface="Calibri"/>
                <a:cs typeface="Calibri"/>
              </a:rPr>
              <a:t> </a:t>
            </a:r>
            <a:r>
              <a:rPr sz="1900" dirty="0">
                <a:latin typeface="Calibri"/>
                <a:cs typeface="Calibri"/>
              </a:rPr>
              <a:t>is</a:t>
            </a:r>
            <a:r>
              <a:rPr sz="1900" spc="-45" dirty="0">
                <a:latin typeface="Calibri"/>
                <a:cs typeface="Calibri"/>
              </a:rPr>
              <a:t> </a:t>
            </a:r>
            <a:r>
              <a:rPr sz="1900" dirty="0">
                <a:latin typeface="Calibri"/>
                <a:cs typeface="Calibri"/>
              </a:rPr>
              <a:t>empty</a:t>
            </a:r>
            <a:r>
              <a:rPr sz="1900" spc="-25" dirty="0">
                <a:latin typeface="Calibri"/>
                <a:cs typeface="Calibri"/>
              </a:rPr>
              <a:t> </a:t>
            </a:r>
            <a:r>
              <a:rPr sz="1900" dirty="0">
                <a:latin typeface="Calibri"/>
                <a:cs typeface="Calibri"/>
              </a:rPr>
              <a:t>go</a:t>
            </a:r>
            <a:r>
              <a:rPr sz="1900" spc="-45" dirty="0">
                <a:latin typeface="Calibri"/>
                <a:cs typeface="Calibri"/>
              </a:rPr>
              <a:t> </a:t>
            </a:r>
            <a:r>
              <a:rPr sz="1900" dirty="0">
                <a:latin typeface="Calibri"/>
                <a:cs typeface="Calibri"/>
              </a:rPr>
              <a:t>to</a:t>
            </a:r>
            <a:r>
              <a:rPr sz="1900" spc="-35" dirty="0">
                <a:latin typeface="Calibri"/>
                <a:cs typeface="Calibri"/>
              </a:rPr>
              <a:t> </a:t>
            </a:r>
            <a:r>
              <a:rPr sz="1900" spc="-10" dirty="0">
                <a:latin typeface="Calibri"/>
                <a:cs typeface="Calibri"/>
              </a:rPr>
              <a:t>sleep*/</a:t>
            </a:r>
            <a:endParaRPr sz="1900">
              <a:latin typeface="Calibri"/>
              <a:cs typeface="Calibri"/>
            </a:endParaRPr>
          </a:p>
          <a:p>
            <a:pPr marL="927100" marR="5080">
              <a:lnSpc>
                <a:spcPct val="100000"/>
              </a:lnSpc>
            </a:pPr>
            <a:r>
              <a:rPr sz="1900" dirty="0">
                <a:latin typeface="Calibri"/>
                <a:cs typeface="Calibri"/>
              </a:rPr>
              <a:t>item</a:t>
            </a:r>
            <a:r>
              <a:rPr sz="1900" spc="-60" dirty="0">
                <a:latin typeface="Calibri"/>
                <a:cs typeface="Calibri"/>
              </a:rPr>
              <a:t> </a:t>
            </a:r>
            <a:r>
              <a:rPr sz="1900" dirty="0">
                <a:latin typeface="Calibri"/>
                <a:cs typeface="Calibri"/>
              </a:rPr>
              <a:t>=</a:t>
            </a:r>
            <a:r>
              <a:rPr sz="1900" spc="-40" dirty="0">
                <a:latin typeface="Calibri"/>
                <a:cs typeface="Calibri"/>
              </a:rPr>
              <a:t> </a:t>
            </a:r>
            <a:r>
              <a:rPr sz="1900" spc="-10" dirty="0">
                <a:latin typeface="Calibri"/>
                <a:cs typeface="Calibri"/>
              </a:rPr>
              <a:t>remove_item(); /*take</a:t>
            </a:r>
            <a:r>
              <a:rPr sz="1900" spc="-40" dirty="0">
                <a:latin typeface="Calibri"/>
                <a:cs typeface="Calibri"/>
              </a:rPr>
              <a:t> </a:t>
            </a:r>
            <a:r>
              <a:rPr sz="1900" dirty="0">
                <a:latin typeface="Calibri"/>
                <a:cs typeface="Calibri"/>
              </a:rPr>
              <a:t>item</a:t>
            </a:r>
            <a:r>
              <a:rPr sz="1900" spc="-35" dirty="0">
                <a:latin typeface="Calibri"/>
                <a:cs typeface="Calibri"/>
              </a:rPr>
              <a:t> </a:t>
            </a:r>
            <a:r>
              <a:rPr sz="1900" dirty="0">
                <a:latin typeface="Calibri"/>
                <a:cs typeface="Calibri"/>
              </a:rPr>
              <a:t>out</a:t>
            </a:r>
            <a:r>
              <a:rPr sz="1900" spc="-50" dirty="0">
                <a:latin typeface="Calibri"/>
                <a:cs typeface="Calibri"/>
              </a:rPr>
              <a:t> </a:t>
            </a:r>
            <a:r>
              <a:rPr sz="1900" dirty="0">
                <a:latin typeface="Calibri"/>
                <a:cs typeface="Calibri"/>
              </a:rPr>
              <a:t>of</a:t>
            </a:r>
            <a:r>
              <a:rPr sz="1900" spc="-65" dirty="0">
                <a:latin typeface="Calibri"/>
                <a:cs typeface="Calibri"/>
              </a:rPr>
              <a:t> </a:t>
            </a:r>
            <a:r>
              <a:rPr sz="1900" spc="-10" dirty="0">
                <a:latin typeface="Calibri"/>
                <a:cs typeface="Calibri"/>
              </a:rPr>
              <a:t>buffer*/ </a:t>
            </a:r>
            <a:r>
              <a:rPr sz="1900" dirty="0">
                <a:latin typeface="Calibri"/>
                <a:cs typeface="Calibri"/>
              </a:rPr>
              <a:t>count</a:t>
            </a:r>
            <a:r>
              <a:rPr sz="1900" spc="-55" dirty="0">
                <a:latin typeface="Calibri"/>
                <a:cs typeface="Calibri"/>
              </a:rPr>
              <a:t> </a:t>
            </a:r>
            <a:r>
              <a:rPr sz="1900" dirty="0">
                <a:latin typeface="Calibri"/>
                <a:cs typeface="Calibri"/>
              </a:rPr>
              <a:t>=</a:t>
            </a:r>
            <a:r>
              <a:rPr sz="1900" spc="-40" dirty="0">
                <a:latin typeface="Calibri"/>
                <a:cs typeface="Calibri"/>
              </a:rPr>
              <a:t> </a:t>
            </a:r>
            <a:r>
              <a:rPr sz="1900" dirty="0">
                <a:latin typeface="Calibri"/>
                <a:cs typeface="Calibri"/>
              </a:rPr>
              <a:t>count</a:t>
            </a:r>
            <a:r>
              <a:rPr sz="1900" spc="-45" dirty="0">
                <a:latin typeface="Calibri"/>
                <a:cs typeface="Calibri"/>
              </a:rPr>
              <a:t> </a:t>
            </a:r>
            <a:r>
              <a:rPr sz="1900" spc="-25" dirty="0">
                <a:latin typeface="Calibri"/>
                <a:cs typeface="Calibri"/>
              </a:rPr>
              <a:t>-</a:t>
            </a:r>
            <a:r>
              <a:rPr sz="1900" dirty="0">
                <a:latin typeface="Calibri"/>
                <a:cs typeface="Calibri"/>
              </a:rPr>
              <a:t>1;</a:t>
            </a:r>
            <a:r>
              <a:rPr sz="1900" spc="-15" dirty="0">
                <a:latin typeface="Calibri"/>
                <a:cs typeface="Calibri"/>
              </a:rPr>
              <a:t> </a:t>
            </a:r>
            <a:r>
              <a:rPr sz="1900" spc="-10" dirty="0">
                <a:latin typeface="Calibri"/>
                <a:cs typeface="Calibri"/>
              </a:rPr>
              <a:t>/*decrement</a:t>
            </a:r>
            <a:r>
              <a:rPr sz="1900" spc="-45" dirty="0">
                <a:latin typeface="Calibri"/>
                <a:cs typeface="Calibri"/>
              </a:rPr>
              <a:t> </a:t>
            </a:r>
            <a:r>
              <a:rPr sz="1900" spc="-10" dirty="0">
                <a:latin typeface="Calibri"/>
                <a:cs typeface="Calibri"/>
              </a:rPr>
              <a:t>count*/</a:t>
            </a:r>
            <a:endParaRPr sz="1900">
              <a:latin typeface="Calibri"/>
              <a:cs typeface="Calibri"/>
            </a:endParaRPr>
          </a:p>
          <a:p>
            <a:pPr marL="927100">
              <a:lnSpc>
                <a:spcPct val="100000"/>
              </a:lnSpc>
            </a:pPr>
            <a:r>
              <a:rPr sz="1900" dirty="0">
                <a:latin typeface="Calibri"/>
                <a:cs typeface="Calibri"/>
              </a:rPr>
              <a:t>if</a:t>
            </a:r>
            <a:r>
              <a:rPr sz="1900" spc="-50" dirty="0">
                <a:latin typeface="Calibri"/>
                <a:cs typeface="Calibri"/>
              </a:rPr>
              <a:t> </a:t>
            </a:r>
            <a:r>
              <a:rPr sz="1900" dirty="0">
                <a:latin typeface="Calibri"/>
                <a:cs typeface="Calibri"/>
              </a:rPr>
              <a:t>(count</a:t>
            </a:r>
            <a:r>
              <a:rPr sz="1900" spc="-40" dirty="0">
                <a:latin typeface="Calibri"/>
                <a:cs typeface="Calibri"/>
              </a:rPr>
              <a:t> </a:t>
            </a:r>
            <a:r>
              <a:rPr sz="1900" dirty="0">
                <a:latin typeface="Calibri"/>
                <a:cs typeface="Calibri"/>
              </a:rPr>
              <a:t>==</a:t>
            </a:r>
            <a:r>
              <a:rPr sz="1900" spc="-25" dirty="0">
                <a:latin typeface="Calibri"/>
                <a:cs typeface="Calibri"/>
              </a:rPr>
              <a:t> </a:t>
            </a:r>
            <a:r>
              <a:rPr sz="1900" spc="-20" dirty="0">
                <a:latin typeface="Calibri"/>
                <a:cs typeface="Calibri"/>
              </a:rPr>
              <a:t>N-</a:t>
            </a:r>
            <a:r>
              <a:rPr sz="1900" spc="-25" dirty="0">
                <a:latin typeface="Calibri"/>
                <a:cs typeface="Calibri"/>
              </a:rPr>
              <a:t>1)</a:t>
            </a:r>
            <a:endParaRPr sz="1900">
              <a:latin typeface="Calibri"/>
              <a:cs typeface="Calibri"/>
            </a:endParaRPr>
          </a:p>
          <a:p>
            <a:pPr marL="927100" marR="701675" indent="280035">
              <a:lnSpc>
                <a:spcPct val="100000"/>
              </a:lnSpc>
            </a:pPr>
            <a:r>
              <a:rPr sz="1900" spc="-10" dirty="0">
                <a:latin typeface="Calibri"/>
                <a:cs typeface="Calibri"/>
              </a:rPr>
              <a:t>wakeup(producer);</a:t>
            </a:r>
            <a:r>
              <a:rPr sz="1900" spc="-35" dirty="0">
                <a:latin typeface="Calibri"/>
                <a:cs typeface="Calibri"/>
              </a:rPr>
              <a:t> </a:t>
            </a:r>
            <a:r>
              <a:rPr sz="1900" dirty="0">
                <a:latin typeface="Calibri"/>
                <a:cs typeface="Calibri"/>
              </a:rPr>
              <a:t>/*was</a:t>
            </a:r>
            <a:r>
              <a:rPr sz="1900" spc="-75" dirty="0">
                <a:latin typeface="Calibri"/>
                <a:cs typeface="Calibri"/>
              </a:rPr>
              <a:t> </a:t>
            </a:r>
            <a:r>
              <a:rPr sz="1900" spc="-10" dirty="0">
                <a:latin typeface="Calibri"/>
                <a:cs typeface="Calibri"/>
              </a:rPr>
              <a:t>buffer</a:t>
            </a:r>
            <a:r>
              <a:rPr sz="1900" spc="-60" dirty="0">
                <a:latin typeface="Calibri"/>
                <a:cs typeface="Calibri"/>
              </a:rPr>
              <a:t> </a:t>
            </a:r>
            <a:r>
              <a:rPr sz="1900" dirty="0">
                <a:latin typeface="Calibri"/>
                <a:cs typeface="Calibri"/>
              </a:rPr>
              <a:t>full</a:t>
            </a:r>
            <a:r>
              <a:rPr sz="1900" spc="-70" dirty="0">
                <a:latin typeface="Calibri"/>
                <a:cs typeface="Calibri"/>
              </a:rPr>
              <a:t> </a:t>
            </a:r>
            <a:r>
              <a:rPr sz="1900" spc="-25" dirty="0">
                <a:latin typeface="Calibri"/>
                <a:cs typeface="Calibri"/>
              </a:rPr>
              <a:t>?*/ </a:t>
            </a:r>
            <a:r>
              <a:rPr sz="1900" spc="-10" dirty="0">
                <a:latin typeface="Calibri"/>
                <a:cs typeface="Calibri"/>
              </a:rPr>
              <a:t>consume_item();</a:t>
            </a:r>
            <a:r>
              <a:rPr sz="1900" spc="-60" dirty="0">
                <a:latin typeface="Calibri"/>
                <a:cs typeface="Calibri"/>
              </a:rPr>
              <a:t> </a:t>
            </a:r>
            <a:r>
              <a:rPr sz="1900" dirty="0">
                <a:latin typeface="Calibri"/>
                <a:cs typeface="Calibri"/>
              </a:rPr>
              <a:t>/*print</a:t>
            </a:r>
            <a:r>
              <a:rPr sz="1900" spc="-40" dirty="0">
                <a:latin typeface="Calibri"/>
                <a:cs typeface="Calibri"/>
              </a:rPr>
              <a:t> </a:t>
            </a:r>
            <a:r>
              <a:rPr sz="1900" spc="-10" dirty="0">
                <a:latin typeface="Calibri"/>
                <a:cs typeface="Calibri"/>
              </a:rPr>
              <a:t>item*/</a:t>
            </a:r>
            <a:endParaRPr sz="1900">
              <a:latin typeface="Calibri"/>
              <a:cs typeface="Calibri"/>
            </a:endParaRPr>
          </a:p>
          <a:p>
            <a:pPr marL="927100">
              <a:lnSpc>
                <a:spcPts val="2275"/>
              </a:lnSpc>
            </a:pPr>
            <a:r>
              <a:rPr sz="1900" spc="-50" dirty="0">
                <a:latin typeface="Calibri"/>
                <a:cs typeface="Calibri"/>
              </a:rPr>
              <a:t>}</a:t>
            </a:r>
            <a:endParaRPr sz="1900">
              <a:latin typeface="Calibri"/>
              <a:cs typeface="Calibri"/>
            </a:endParaRPr>
          </a:p>
          <a:p>
            <a:pPr marL="12700">
              <a:lnSpc>
                <a:spcPts val="2635"/>
              </a:lnSpc>
            </a:pPr>
            <a:r>
              <a:rPr sz="2200" spc="-50" dirty="0">
                <a:latin typeface="Calibri"/>
                <a:cs typeface="Calibri"/>
              </a:rPr>
              <a:t>}</a:t>
            </a:r>
            <a:endParaRPr sz="2200">
              <a:latin typeface="Calibri"/>
              <a:cs typeface="Calibri"/>
            </a:endParaRPr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xfrm>
            <a:off x="0" y="228600"/>
            <a:ext cx="9144000" cy="505908"/>
          </a:xfrm>
          <a:prstGeom prst="rect">
            <a:avLst/>
          </a:prstGeom>
        </p:spPr>
        <p:txBody>
          <a:bodyPr vert="horz" wrap="square" lIns="0" tIns="13335" rIns="0" bIns="0" rtlCol="0">
            <a:spAutoFit/>
          </a:bodyPr>
          <a:lstStyle/>
          <a:p>
            <a:pPr marL="12700" algn="ctr" rtl="0">
              <a:spcBef>
                <a:spcPts val="105"/>
              </a:spcBef>
            </a:pPr>
            <a:r>
              <a:rPr sz="3200" b="1" dirty="0">
                <a:solidFill>
                  <a:sysClr val="windowText" lastClr="000000"/>
                </a:solidFill>
                <a:latin typeface="+mj-lt"/>
                <a:cs typeface="+mj-cs"/>
              </a:rPr>
              <a:t>Producer Consumer with weak up and sleep signals</a:t>
            </a:r>
          </a:p>
        </p:txBody>
      </p:sp>
      <p:sp>
        <p:nvSpPr>
          <p:cNvPr id="3" name="object 3"/>
          <p:cNvSpPr txBox="1">
            <a:spLocks noGrp="1"/>
          </p:cNvSpPr>
          <p:nvPr>
            <p:ph type="body" idx="1"/>
          </p:nvPr>
        </p:nvSpPr>
        <p:spPr>
          <a:xfrm>
            <a:off x="737108" y="1295400"/>
            <a:ext cx="7669783" cy="380936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354965" indent="-342265">
              <a:lnSpc>
                <a:spcPct val="100000"/>
              </a:lnSpc>
              <a:spcBef>
                <a:spcPts val="100"/>
              </a:spcBef>
              <a:buFont typeface="Arial"/>
              <a:buChar char="•"/>
              <a:tabLst>
                <a:tab pos="354965" algn="l"/>
              </a:tabLst>
            </a:pPr>
            <a:r>
              <a:rPr sz="2700" spc="-10" dirty="0"/>
              <a:t>Problem:</a:t>
            </a:r>
            <a:endParaRPr sz="2700" dirty="0"/>
          </a:p>
          <a:p>
            <a:pPr marL="755650" lvl="1" indent="-285750">
              <a:lnSpc>
                <a:spcPct val="100000"/>
              </a:lnSpc>
              <a:spcBef>
                <a:spcPts val="15"/>
              </a:spcBef>
              <a:buFont typeface="Arial"/>
              <a:buChar char="–"/>
              <a:tabLst>
                <a:tab pos="755650" algn="l"/>
              </a:tabLst>
            </a:pPr>
            <a:r>
              <a:rPr sz="2400" dirty="0">
                <a:latin typeface="Calibri"/>
                <a:cs typeface="Calibri"/>
              </a:rPr>
              <a:t>leads</a:t>
            </a:r>
            <a:r>
              <a:rPr sz="2400" spc="-45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to</a:t>
            </a:r>
            <a:r>
              <a:rPr sz="2400" spc="-45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race</a:t>
            </a:r>
            <a:r>
              <a:rPr sz="2400" spc="-40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as</a:t>
            </a:r>
            <a:r>
              <a:rPr sz="2400" spc="-30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in</a:t>
            </a:r>
            <a:r>
              <a:rPr sz="2400" spc="-35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Lock</a:t>
            </a:r>
            <a:r>
              <a:rPr sz="2400" spc="-45" dirty="0">
                <a:latin typeface="Calibri"/>
                <a:cs typeface="Calibri"/>
              </a:rPr>
              <a:t> </a:t>
            </a:r>
            <a:r>
              <a:rPr sz="2400" spc="-10" dirty="0">
                <a:latin typeface="Calibri"/>
                <a:cs typeface="Calibri"/>
              </a:rPr>
              <a:t>variable.</a:t>
            </a:r>
            <a:endParaRPr sz="2400" dirty="0">
              <a:latin typeface="Calibri"/>
              <a:cs typeface="Calibri"/>
            </a:endParaRPr>
          </a:p>
          <a:p>
            <a:pPr marL="755650" lvl="1" indent="-285750">
              <a:lnSpc>
                <a:spcPct val="100000"/>
              </a:lnSpc>
              <a:buFont typeface="Arial"/>
              <a:buChar char="–"/>
              <a:tabLst>
                <a:tab pos="755650" algn="l"/>
              </a:tabLst>
            </a:pPr>
            <a:r>
              <a:rPr sz="2400" b="1" dirty="0">
                <a:latin typeface="Calibri"/>
                <a:cs typeface="Calibri"/>
              </a:rPr>
              <a:t>What</a:t>
            </a:r>
            <a:r>
              <a:rPr sz="2400" b="1" spc="-80" dirty="0">
                <a:latin typeface="Calibri"/>
                <a:cs typeface="Calibri"/>
              </a:rPr>
              <a:t> </a:t>
            </a:r>
            <a:r>
              <a:rPr sz="2400" b="1" dirty="0">
                <a:latin typeface="Calibri"/>
                <a:cs typeface="Calibri"/>
              </a:rPr>
              <a:t>happen</a:t>
            </a:r>
            <a:r>
              <a:rPr sz="2400" b="1" spc="-70" dirty="0">
                <a:latin typeface="Calibri"/>
                <a:cs typeface="Calibri"/>
              </a:rPr>
              <a:t> </a:t>
            </a:r>
            <a:r>
              <a:rPr sz="2400" b="1" spc="-25" dirty="0">
                <a:latin typeface="Calibri"/>
                <a:cs typeface="Calibri"/>
              </a:rPr>
              <a:t>if</a:t>
            </a:r>
            <a:endParaRPr sz="2400" dirty="0">
              <a:latin typeface="Calibri"/>
              <a:cs typeface="Calibri"/>
            </a:endParaRPr>
          </a:p>
          <a:p>
            <a:pPr marL="1153795" marR="5080" lvl="2" indent="-226695" algn="just">
              <a:lnSpc>
                <a:spcPts val="1920"/>
              </a:lnSpc>
              <a:spcBef>
                <a:spcPts val="480"/>
              </a:spcBef>
              <a:buFont typeface="Arial"/>
              <a:buChar char="•"/>
              <a:tabLst>
                <a:tab pos="1155700" algn="l"/>
              </a:tabLst>
            </a:pPr>
            <a:r>
              <a:rPr sz="2000" dirty="0">
                <a:latin typeface="Calibri"/>
                <a:cs typeface="Calibri"/>
              </a:rPr>
              <a:t>When</a:t>
            </a:r>
            <a:r>
              <a:rPr sz="2000" spc="380" dirty="0">
                <a:latin typeface="Calibri"/>
                <a:cs typeface="Calibri"/>
              </a:rPr>
              <a:t> </a:t>
            </a:r>
            <a:r>
              <a:rPr sz="2000" dirty="0">
                <a:latin typeface="Calibri"/>
                <a:cs typeface="Calibri"/>
              </a:rPr>
              <a:t>the</a:t>
            </a:r>
            <a:r>
              <a:rPr sz="2000" spc="380" dirty="0">
                <a:latin typeface="Calibri"/>
                <a:cs typeface="Calibri"/>
              </a:rPr>
              <a:t> </a:t>
            </a:r>
            <a:r>
              <a:rPr sz="2000" dirty="0">
                <a:latin typeface="Calibri"/>
                <a:cs typeface="Calibri"/>
              </a:rPr>
              <a:t>buffer</a:t>
            </a:r>
            <a:r>
              <a:rPr sz="2000" spc="390" dirty="0">
                <a:latin typeface="Calibri"/>
                <a:cs typeface="Calibri"/>
              </a:rPr>
              <a:t> </a:t>
            </a:r>
            <a:r>
              <a:rPr sz="2000" dirty="0">
                <a:latin typeface="Calibri"/>
                <a:cs typeface="Calibri"/>
              </a:rPr>
              <a:t>is</a:t>
            </a:r>
            <a:r>
              <a:rPr sz="2000" spc="390" dirty="0">
                <a:latin typeface="Calibri"/>
                <a:cs typeface="Calibri"/>
              </a:rPr>
              <a:t> </a:t>
            </a:r>
            <a:r>
              <a:rPr sz="2000" dirty="0">
                <a:latin typeface="Calibri"/>
                <a:cs typeface="Calibri"/>
              </a:rPr>
              <a:t>empty,</a:t>
            </a:r>
            <a:r>
              <a:rPr sz="2000" spc="375" dirty="0">
                <a:latin typeface="Calibri"/>
                <a:cs typeface="Calibri"/>
              </a:rPr>
              <a:t> </a:t>
            </a:r>
            <a:r>
              <a:rPr sz="2000" dirty="0">
                <a:latin typeface="Calibri"/>
                <a:cs typeface="Calibri"/>
              </a:rPr>
              <a:t>the</a:t>
            </a:r>
            <a:r>
              <a:rPr sz="2000" spc="395" dirty="0">
                <a:latin typeface="Calibri"/>
                <a:cs typeface="Calibri"/>
              </a:rPr>
              <a:t> </a:t>
            </a:r>
            <a:r>
              <a:rPr sz="2000" dirty="0">
                <a:latin typeface="Calibri"/>
                <a:cs typeface="Calibri"/>
              </a:rPr>
              <a:t>consumer</a:t>
            </a:r>
            <a:r>
              <a:rPr sz="2000" spc="380" dirty="0">
                <a:latin typeface="Calibri"/>
                <a:cs typeface="Calibri"/>
              </a:rPr>
              <a:t> </a:t>
            </a:r>
            <a:r>
              <a:rPr sz="2000" dirty="0">
                <a:latin typeface="Calibri"/>
                <a:cs typeface="Calibri"/>
              </a:rPr>
              <a:t>just</a:t>
            </a:r>
            <a:r>
              <a:rPr sz="2000" spc="390" dirty="0">
                <a:latin typeface="Calibri"/>
                <a:cs typeface="Calibri"/>
              </a:rPr>
              <a:t> </a:t>
            </a:r>
            <a:r>
              <a:rPr sz="2000" dirty="0">
                <a:latin typeface="Calibri"/>
                <a:cs typeface="Calibri"/>
              </a:rPr>
              <a:t>reads</a:t>
            </a:r>
            <a:r>
              <a:rPr sz="2000" spc="390" dirty="0">
                <a:latin typeface="Calibri"/>
                <a:cs typeface="Calibri"/>
              </a:rPr>
              <a:t> </a:t>
            </a:r>
            <a:r>
              <a:rPr sz="2000" dirty="0">
                <a:latin typeface="Calibri"/>
                <a:cs typeface="Calibri"/>
              </a:rPr>
              <a:t>count</a:t>
            </a:r>
            <a:r>
              <a:rPr sz="2000" spc="390" dirty="0">
                <a:latin typeface="Calibri"/>
                <a:cs typeface="Calibri"/>
              </a:rPr>
              <a:t> </a:t>
            </a:r>
            <a:r>
              <a:rPr sz="2000" spc="-25" dirty="0">
                <a:latin typeface="Calibri"/>
                <a:cs typeface="Calibri"/>
              </a:rPr>
              <a:t>and 	</a:t>
            </a:r>
            <a:r>
              <a:rPr sz="2000" dirty="0">
                <a:latin typeface="Calibri"/>
                <a:cs typeface="Calibri"/>
              </a:rPr>
              <a:t>quantum</a:t>
            </a:r>
            <a:r>
              <a:rPr sz="2000" spc="315" dirty="0">
                <a:latin typeface="Calibri"/>
                <a:cs typeface="Calibri"/>
              </a:rPr>
              <a:t> </a:t>
            </a:r>
            <a:r>
              <a:rPr sz="2000" dirty="0">
                <a:latin typeface="Calibri"/>
                <a:cs typeface="Calibri"/>
              </a:rPr>
              <a:t>is</a:t>
            </a:r>
            <a:r>
              <a:rPr sz="2000" spc="330" dirty="0">
                <a:latin typeface="Calibri"/>
                <a:cs typeface="Calibri"/>
              </a:rPr>
              <a:t> </a:t>
            </a:r>
            <a:r>
              <a:rPr sz="2000" dirty="0">
                <a:latin typeface="Calibri"/>
                <a:cs typeface="Calibri"/>
              </a:rPr>
              <a:t>expired,</a:t>
            </a:r>
            <a:r>
              <a:rPr sz="2000" spc="330" dirty="0">
                <a:latin typeface="Calibri"/>
                <a:cs typeface="Calibri"/>
              </a:rPr>
              <a:t> </a:t>
            </a:r>
            <a:r>
              <a:rPr sz="2000" dirty="0">
                <a:latin typeface="Calibri"/>
                <a:cs typeface="Calibri"/>
              </a:rPr>
              <a:t>the</a:t>
            </a:r>
            <a:r>
              <a:rPr sz="2000" spc="335" dirty="0">
                <a:latin typeface="Calibri"/>
                <a:cs typeface="Calibri"/>
              </a:rPr>
              <a:t> </a:t>
            </a:r>
            <a:r>
              <a:rPr sz="2000" dirty="0">
                <a:latin typeface="Calibri"/>
                <a:cs typeface="Calibri"/>
              </a:rPr>
              <a:t>producer</a:t>
            </a:r>
            <a:r>
              <a:rPr sz="2000" spc="325" dirty="0">
                <a:latin typeface="Calibri"/>
                <a:cs typeface="Calibri"/>
              </a:rPr>
              <a:t> </a:t>
            </a:r>
            <a:r>
              <a:rPr sz="2000" dirty="0">
                <a:latin typeface="Calibri"/>
                <a:cs typeface="Calibri"/>
              </a:rPr>
              <a:t>inserts</a:t>
            </a:r>
            <a:r>
              <a:rPr sz="2000" spc="330" dirty="0">
                <a:latin typeface="Calibri"/>
                <a:cs typeface="Calibri"/>
              </a:rPr>
              <a:t> </a:t>
            </a:r>
            <a:r>
              <a:rPr sz="2000" dirty="0">
                <a:latin typeface="Calibri"/>
                <a:cs typeface="Calibri"/>
              </a:rPr>
              <a:t>an</a:t>
            </a:r>
            <a:r>
              <a:rPr sz="2000" spc="340" dirty="0">
                <a:latin typeface="Calibri"/>
                <a:cs typeface="Calibri"/>
              </a:rPr>
              <a:t> </a:t>
            </a:r>
            <a:r>
              <a:rPr sz="2000" dirty="0">
                <a:latin typeface="Calibri"/>
                <a:cs typeface="Calibri"/>
              </a:rPr>
              <a:t>item</a:t>
            </a:r>
            <a:r>
              <a:rPr sz="2000" spc="340" dirty="0">
                <a:latin typeface="Calibri"/>
                <a:cs typeface="Calibri"/>
              </a:rPr>
              <a:t> </a:t>
            </a:r>
            <a:r>
              <a:rPr sz="2000" dirty="0">
                <a:latin typeface="Calibri"/>
                <a:cs typeface="Calibri"/>
              </a:rPr>
              <a:t>in</a:t>
            </a:r>
            <a:r>
              <a:rPr sz="2000" spc="335" dirty="0">
                <a:latin typeface="Calibri"/>
                <a:cs typeface="Calibri"/>
              </a:rPr>
              <a:t> </a:t>
            </a:r>
            <a:r>
              <a:rPr sz="2000" dirty="0">
                <a:latin typeface="Calibri"/>
                <a:cs typeface="Calibri"/>
              </a:rPr>
              <a:t>the</a:t>
            </a:r>
            <a:r>
              <a:rPr sz="2000" spc="335" dirty="0">
                <a:latin typeface="Calibri"/>
                <a:cs typeface="Calibri"/>
              </a:rPr>
              <a:t> </a:t>
            </a:r>
            <a:r>
              <a:rPr sz="2000" spc="-10" dirty="0">
                <a:latin typeface="Calibri"/>
                <a:cs typeface="Calibri"/>
              </a:rPr>
              <a:t>buffer, 	increments</a:t>
            </a:r>
            <a:r>
              <a:rPr sz="2000" spc="-40" dirty="0">
                <a:latin typeface="Calibri"/>
                <a:cs typeface="Calibri"/>
              </a:rPr>
              <a:t> </a:t>
            </a:r>
            <a:r>
              <a:rPr sz="2000" dirty="0">
                <a:latin typeface="Calibri"/>
                <a:cs typeface="Calibri"/>
              </a:rPr>
              <a:t>count</a:t>
            </a:r>
            <a:r>
              <a:rPr sz="2000" spc="-40" dirty="0">
                <a:latin typeface="Calibri"/>
                <a:cs typeface="Calibri"/>
              </a:rPr>
              <a:t> </a:t>
            </a:r>
            <a:r>
              <a:rPr sz="2000" dirty="0">
                <a:latin typeface="Calibri"/>
                <a:cs typeface="Calibri"/>
              </a:rPr>
              <a:t>and</a:t>
            </a:r>
            <a:r>
              <a:rPr sz="2000" spc="-55" dirty="0">
                <a:latin typeface="Calibri"/>
                <a:cs typeface="Calibri"/>
              </a:rPr>
              <a:t> </a:t>
            </a:r>
            <a:r>
              <a:rPr sz="2000" spc="-10" dirty="0">
                <a:latin typeface="Calibri"/>
                <a:cs typeface="Calibri"/>
              </a:rPr>
              <a:t>wake</a:t>
            </a:r>
            <a:r>
              <a:rPr sz="2000" spc="-35" dirty="0">
                <a:latin typeface="Calibri"/>
                <a:cs typeface="Calibri"/>
              </a:rPr>
              <a:t> </a:t>
            </a:r>
            <a:r>
              <a:rPr sz="2000" dirty="0">
                <a:latin typeface="Calibri"/>
                <a:cs typeface="Calibri"/>
              </a:rPr>
              <a:t>up</a:t>
            </a:r>
            <a:r>
              <a:rPr sz="2000" spc="-60" dirty="0">
                <a:latin typeface="Calibri"/>
                <a:cs typeface="Calibri"/>
              </a:rPr>
              <a:t> </a:t>
            </a:r>
            <a:r>
              <a:rPr sz="2000" spc="-10" dirty="0">
                <a:latin typeface="Calibri"/>
                <a:cs typeface="Calibri"/>
              </a:rPr>
              <a:t>consumer.</a:t>
            </a:r>
            <a:endParaRPr sz="2000" dirty="0">
              <a:latin typeface="Calibri"/>
              <a:cs typeface="Calibri"/>
            </a:endParaRPr>
          </a:p>
          <a:p>
            <a:pPr marL="1153795" marR="5080" lvl="2" indent="-226695" algn="just">
              <a:lnSpc>
                <a:spcPts val="1920"/>
              </a:lnSpc>
              <a:spcBef>
                <a:spcPts val="480"/>
              </a:spcBef>
              <a:buFont typeface="Arial"/>
              <a:buChar char="•"/>
              <a:tabLst>
                <a:tab pos="1155700" algn="l"/>
              </a:tabLst>
            </a:pPr>
            <a:r>
              <a:rPr sz="2000" dirty="0">
                <a:latin typeface="Calibri"/>
                <a:cs typeface="Calibri"/>
              </a:rPr>
              <a:t>The</a:t>
            </a:r>
            <a:r>
              <a:rPr sz="2000" spc="335" dirty="0">
                <a:latin typeface="Calibri"/>
                <a:cs typeface="Calibri"/>
              </a:rPr>
              <a:t> </a:t>
            </a:r>
            <a:r>
              <a:rPr sz="2000" dirty="0">
                <a:latin typeface="Calibri"/>
                <a:cs typeface="Calibri"/>
              </a:rPr>
              <a:t>consumer</a:t>
            </a:r>
            <a:r>
              <a:rPr sz="2000" spc="330" dirty="0">
                <a:latin typeface="Calibri"/>
                <a:cs typeface="Calibri"/>
              </a:rPr>
              <a:t> </a:t>
            </a:r>
            <a:r>
              <a:rPr sz="2000" dirty="0">
                <a:latin typeface="Calibri"/>
                <a:cs typeface="Calibri"/>
              </a:rPr>
              <a:t>not</a:t>
            </a:r>
            <a:r>
              <a:rPr sz="2000" spc="330" dirty="0">
                <a:latin typeface="Calibri"/>
                <a:cs typeface="Calibri"/>
              </a:rPr>
              <a:t> </a:t>
            </a:r>
            <a:r>
              <a:rPr sz="2000" dirty="0">
                <a:latin typeface="Calibri"/>
                <a:cs typeface="Calibri"/>
              </a:rPr>
              <a:t>yet</a:t>
            </a:r>
            <a:r>
              <a:rPr sz="2000" spc="345" dirty="0">
                <a:latin typeface="Calibri"/>
                <a:cs typeface="Calibri"/>
              </a:rPr>
              <a:t> </a:t>
            </a:r>
            <a:r>
              <a:rPr sz="2000" dirty="0">
                <a:latin typeface="Calibri"/>
                <a:cs typeface="Calibri"/>
              </a:rPr>
              <a:t>asleep,</a:t>
            </a:r>
            <a:r>
              <a:rPr sz="2000" spc="345" dirty="0">
                <a:latin typeface="Calibri"/>
                <a:cs typeface="Calibri"/>
              </a:rPr>
              <a:t> </a:t>
            </a:r>
            <a:r>
              <a:rPr sz="2000" dirty="0">
                <a:latin typeface="Calibri"/>
                <a:cs typeface="Calibri"/>
              </a:rPr>
              <a:t>so</a:t>
            </a:r>
            <a:r>
              <a:rPr sz="2000" spc="340" dirty="0">
                <a:latin typeface="Calibri"/>
                <a:cs typeface="Calibri"/>
              </a:rPr>
              <a:t> </a:t>
            </a:r>
            <a:r>
              <a:rPr sz="2000" dirty="0">
                <a:latin typeface="Calibri"/>
                <a:cs typeface="Calibri"/>
              </a:rPr>
              <a:t>the</a:t>
            </a:r>
            <a:r>
              <a:rPr sz="2000" spc="340" dirty="0">
                <a:latin typeface="Calibri"/>
                <a:cs typeface="Calibri"/>
              </a:rPr>
              <a:t> </a:t>
            </a:r>
            <a:r>
              <a:rPr sz="2000" dirty="0">
                <a:latin typeface="Calibri"/>
                <a:cs typeface="Calibri"/>
              </a:rPr>
              <a:t>wakeup</a:t>
            </a:r>
            <a:r>
              <a:rPr sz="2000" spc="350" dirty="0">
                <a:latin typeface="Calibri"/>
                <a:cs typeface="Calibri"/>
              </a:rPr>
              <a:t> </a:t>
            </a:r>
            <a:r>
              <a:rPr sz="2000" dirty="0">
                <a:latin typeface="Calibri"/>
                <a:cs typeface="Calibri"/>
              </a:rPr>
              <a:t>signal</a:t>
            </a:r>
            <a:r>
              <a:rPr sz="2000" spc="340" dirty="0">
                <a:latin typeface="Calibri"/>
                <a:cs typeface="Calibri"/>
              </a:rPr>
              <a:t> </a:t>
            </a:r>
            <a:r>
              <a:rPr sz="2000" dirty="0">
                <a:latin typeface="Calibri"/>
                <a:cs typeface="Calibri"/>
              </a:rPr>
              <a:t>is</a:t>
            </a:r>
            <a:r>
              <a:rPr sz="2000" spc="335" dirty="0">
                <a:latin typeface="Calibri"/>
                <a:cs typeface="Calibri"/>
              </a:rPr>
              <a:t> </a:t>
            </a:r>
            <a:r>
              <a:rPr sz="2000" dirty="0">
                <a:latin typeface="Calibri"/>
                <a:cs typeface="Calibri"/>
              </a:rPr>
              <a:t>lost,</a:t>
            </a:r>
            <a:r>
              <a:rPr sz="2000" spc="345" dirty="0">
                <a:latin typeface="Calibri"/>
                <a:cs typeface="Calibri"/>
              </a:rPr>
              <a:t> </a:t>
            </a:r>
            <a:r>
              <a:rPr sz="2000" spc="-25" dirty="0">
                <a:latin typeface="Calibri"/>
                <a:cs typeface="Calibri"/>
              </a:rPr>
              <a:t>the 	</a:t>
            </a:r>
            <a:r>
              <a:rPr sz="2000" dirty="0">
                <a:latin typeface="Calibri"/>
                <a:cs typeface="Calibri"/>
              </a:rPr>
              <a:t>consumer</a:t>
            </a:r>
            <a:r>
              <a:rPr sz="2000" spc="210" dirty="0">
                <a:latin typeface="Calibri"/>
                <a:cs typeface="Calibri"/>
              </a:rPr>
              <a:t> </a:t>
            </a:r>
            <a:r>
              <a:rPr sz="2000" dirty="0">
                <a:latin typeface="Calibri"/>
                <a:cs typeface="Calibri"/>
              </a:rPr>
              <a:t>has</a:t>
            </a:r>
            <a:r>
              <a:rPr sz="2000" spc="235" dirty="0">
                <a:latin typeface="Calibri"/>
                <a:cs typeface="Calibri"/>
              </a:rPr>
              <a:t> </a:t>
            </a:r>
            <a:r>
              <a:rPr sz="2000" dirty="0">
                <a:latin typeface="Calibri"/>
                <a:cs typeface="Calibri"/>
              </a:rPr>
              <a:t>the</a:t>
            </a:r>
            <a:r>
              <a:rPr sz="2000" spc="220" dirty="0">
                <a:latin typeface="Calibri"/>
                <a:cs typeface="Calibri"/>
              </a:rPr>
              <a:t> </a:t>
            </a:r>
            <a:r>
              <a:rPr sz="2000" dirty="0">
                <a:latin typeface="Calibri"/>
                <a:cs typeface="Calibri"/>
              </a:rPr>
              <a:t>count</a:t>
            </a:r>
            <a:r>
              <a:rPr sz="2000" spc="210" dirty="0">
                <a:latin typeface="Calibri"/>
                <a:cs typeface="Calibri"/>
              </a:rPr>
              <a:t> </a:t>
            </a:r>
            <a:r>
              <a:rPr sz="2000" dirty="0">
                <a:latin typeface="Calibri"/>
                <a:cs typeface="Calibri"/>
              </a:rPr>
              <a:t>value</a:t>
            </a:r>
            <a:r>
              <a:rPr sz="2000" spc="215" dirty="0">
                <a:latin typeface="Calibri"/>
                <a:cs typeface="Calibri"/>
              </a:rPr>
              <a:t> </a:t>
            </a:r>
            <a:r>
              <a:rPr sz="2000" dirty="0">
                <a:latin typeface="Calibri"/>
                <a:cs typeface="Calibri"/>
              </a:rPr>
              <a:t>0</a:t>
            </a:r>
            <a:r>
              <a:rPr sz="2000" spc="229" dirty="0">
                <a:latin typeface="Calibri"/>
                <a:cs typeface="Calibri"/>
              </a:rPr>
              <a:t> </a:t>
            </a:r>
            <a:r>
              <a:rPr sz="2000" dirty="0">
                <a:latin typeface="Calibri"/>
                <a:cs typeface="Calibri"/>
              </a:rPr>
              <a:t>from</a:t>
            </a:r>
            <a:r>
              <a:rPr sz="2000" spc="210" dirty="0">
                <a:latin typeface="Calibri"/>
                <a:cs typeface="Calibri"/>
              </a:rPr>
              <a:t> </a:t>
            </a:r>
            <a:r>
              <a:rPr sz="2000" dirty="0">
                <a:latin typeface="Calibri"/>
                <a:cs typeface="Calibri"/>
              </a:rPr>
              <a:t>the</a:t>
            </a:r>
            <a:r>
              <a:rPr sz="2000" spc="225" dirty="0">
                <a:latin typeface="Calibri"/>
                <a:cs typeface="Calibri"/>
              </a:rPr>
              <a:t> </a:t>
            </a:r>
            <a:r>
              <a:rPr sz="2000" dirty="0">
                <a:latin typeface="Calibri"/>
                <a:cs typeface="Calibri"/>
              </a:rPr>
              <a:t>last</a:t>
            </a:r>
            <a:r>
              <a:rPr sz="2000" spc="220" dirty="0">
                <a:latin typeface="Calibri"/>
                <a:cs typeface="Calibri"/>
              </a:rPr>
              <a:t> </a:t>
            </a:r>
            <a:r>
              <a:rPr sz="2000" dirty="0">
                <a:latin typeface="Calibri"/>
                <a:cs typeface="Calibri"/>
              </a:rPr>
              <a:t>read</a:t>
            </a:r>
            <a:r>
              <a:rPr sz="2000" spc="225" dirty="0">
                <a:latin typeface="Calibri"/>
                <a:cs typeface="Calibri"/>
              </a:rPr>
              <a:t> </a:t>
            </a:r>
            <a:r>
              <a:rPr sz="2000" dirty="0">
                <a:latin typeface="Calibri"/>
                <a:cs typeface="Calibri"/>
              </a:rPr>
              <a:t>so</a:t>
            </a:r>
            <a:r>
              <a:rPr sz="2000" spc="225" dirty="0">
                <a:latin typeface="Calibri"/>
                <a:cs typeface="Calibri"/>
              </a:rPr>
              <a:t> </a:t>
            </a:r>
            <a:r>
              <a:rPr sz="2000" dirty="0">
                <a:latin typeface="Calibri"/>
                <a:cs typeface="Calibri"/>
              </a:rPr>
              <a:t>go</a:t>
            </a:r>
            <a:r>
              <a:rPr sz="2000" spc="220" dirty="0">
                <a:latin typeface="Calibri"/>
                <a:cs typeface="Calibri"/>
              </a:rPr>
              <a:t> </a:t>
            </a:r>
            <a:r>
              <a:rPr sz="2000" dirty="0">
                <a:latin typeface="Calibri"/>
                <a:cs typeface="Calibri"/>
              </a:rPr>
              <a:t>to</a:t>
            </a:r>
            <a:r>
              <a:rPr sz="2000" spc="220" dirty="0">
                <a:latin typeface="Calibri"/>
                <a:cs typeface="Calibri"/>
              </a:rPr>
              <a:t> </a:t>
            </a:r>
            <a:r>
              <a:rPr sz="2000" spc="-25" dirty="0">
                <a:latin typeface="Calibri"/>
                <a:cs typeface="Calibri"/>
              </a:rPr>
              <a:t>the 	</a:t>
            </a:r>
            <a:r>
              <a:rPr sz="2000" spc="-10" dirty="0">
                <a:latin typeface="Calibri"/>
                <a:cs typeface="Calibri"/>
              </a:rPr>
              <a:t>sleep.</a:t>
            </a:r>
            <a:endParaRPr sz="2000" dirty="0">
              <a:latin typeface="Calibri"/>
              <a:cs typeface="Calibri"/>
            </a:endParaRPr>
          </a:p>
          <a:p>
            <a:pPr marL="1153795" lvl="2" indent="-226695" algn="just">
              <a:lnSpc>
                <a:spcPts val="2160"/>
              </a:lnSpc>
              <a:spcBef>
                <a:spcPts val="20"/>
              </a:spcBef>
              <a:buFont typeface="Arial"/>
              <a:buChar char="•"/>
              <a:tabLst>
                <a:tab pos="1153795" algn="l"/>
              </a:tabLst>
            </a:pPr>
            <a:r>
              <a:rPr sz="2000" dirty="0">
                <a:latin typeface="Calibri"/>
                <a:cs typeface="Calibri"/>
              </a:rPr>
              <a:t>Producer</a:t>
            </a:r>
            <a:r>
              <a:rPr sz="2000" spc="195" dirty="0">
                <a:latin typeface="Calibri"/>
                <a:cs typeface="Calibri"/>
              </a:rPr>
              <a:t> </a:t>
            </a:r>
            <a:r>
              <a:rPr sz="2000" dirty="0">
                <a:latin typeface="Calibri"/>
                <a:cs typeface="Calibri"/>
              </a:rPr>
              <a:t>keeps</a:t>
            </a:r>
            <a:r>
              <a:rPr sz="2000" spc="200" dirty="0">
                <a:latin typeface="Calibri"/>
                <a:cs typeface="Calibri"/>
              </a:rPr>
              <a:t> </a:t>
            </a:r>
            <a:r>
              <a:rPr sz="2000" dirty="0">
                <a:latin typeface="Calibri"/>
                <a:cs typeface="Calibri"/>
              </a:rPr>
              <a:t>on</a:t>
            </a:r>
            <a:r>
              <a:rPr sz="2000" spc="195" dirty="0">
                <a:latin typeface="Calibri"/>
                <a:cs typeface="Calibri"/>
              </a:rPr>
              <a:t> </a:t>
            </a:r>
            <a:r>
              <a:rPr sz="2000" dirty="0">
                <a:latin typeface="Calibri"/>
                <a:cs typeface="Calibri"/>
              </a:rPr>
              <a:t>producing</a:t>
            </a:r>
            <a:r>
              <a:rPr sz="2000" spc="204" dirty="0">
                <a:latin typeface="Calibri"/>
                <a:cs typeface="Calibri"/>
              </a:rPr>
              <a:t> </a:t>
            </a:r>
            <a:r>
              <a:rPr sz="2000" dirty="0">
                <a:latin typeface="Calibri"/>
                <a:cs typeface="Calibri"/>
              </a:rPr>
              <a:t>and</a:t>
            </a:r>
            <a:r>
              <a:rPr sz="2000" spc="195" dirty="0">
                <a:latin typeface="Calibri"/>
                <a:cs typeface="Calibri"/>
              </a:rPr>
              <a:t> </a:t>
            </a:r>
            <a:r>
              <a:rPr sz="2000" dirty="0">
                <a:latin typeface="Calibri"/>
                <a:cs typeface="Calibri"/>
              </a:rPr>
              <a:t>fill</a:t>
            </a:r>
            <a:r>
              <a:rPr sz="2000" spc="200" dirty="0">
                <a:latin typeface="Calibri"/>
                <a:cs typeface="Calibri"/>
              </a:rPr>
              <a:t> </a:t>
            </a:r>
            <a:r>
              <a:rPr sz="2000" dirty="0">
                <a:latin typeface="Calibri"/>
                <a:cs typeface="Calibri"/>
              </a:rPr>
              <a:t>the</a:t>
            </a:r>
            <a:r>
              <a:rPr sz="2000" spc="200" dirty="0">
                <a:latin typeface="Calibri"/>
                <a:cs typeface="Calibri"/>
              </a:rPr>
              <a:t> </a:t>
            </a:r>
            <a:r>
              <a:rPr sz="2000" dirty="0">
                <a:latin typeface="Calibri"/>
                <a:cs typeface="Calibri"/>
              </a:rPr>
              <a:t>buffer</a:t>
            </a:r>
            <a:r>
              <a:rPr sz="2000" spc="200" dirty="0">
                <a:latin typeface="Calibri"/>
                <a:cs typeface="Calibri"/>
              </a:rPr>
              <a:t> </a:t>
            </a:r>
            <a:r>
              <a:rPr sz="2000" dirty="0">
                <a:latin typeface="Calibri"/>
                <a:cs typeface="Calibri"/>
              </a:rPr>
              <a:t>and</a:t>
            </a:r>
            <a:r>
              <a:rPr sz="2000" spc="185" dirty="0">
                <a:latin typeface="Calibri"/>
                <a:cs typeface="Calibri"/>
              </a:rPr>
              <a:t> </a:t>
            </a:r>
            <a:r>
              <a:rPr sz="2000" dirty="0">
                <a:latin typeface="Calibri"/>
                <a:cs typeface="Calibri"/>
              </a:rPr>
              <a:t>go</a:t>
            </a:r>
            <a:r>
              <a:rPr sz="2000" spc="180" dirty="0">
                <a:latin typeface="Calibri"/>
                <a:cs typeface="Calibri"/>
              </a:rPr>
              <a:t> </a:t>
            </a:r>
            <a:r>
              <a:rPr sz="2000" dirty="0">
                <a:latin typeface="Calibri"/>
                <a:cs typeface="Calibri"/>
              </a:rPr>
              <a:t>to</a:t>
            </a:r>
            <a:r>
              <a:rPr sz="2000" spc="200" dirty="0">
                <a:latin typeface="Calibri"/>
                <a:cs typeface="Calibri"/>
              </a:rPr>
              <a:t> </a:t>
            </a:r>
            <a:r>
              <a:rPr sz="2000" spc="-10" dirty="0">
                <a:latin typeface="Calibri"/>
                <a:cs typeface="Calibri"/>
              </a:rPr>
              <a:t>sleep,</a:t>
            </a:r>
            <a:endParaRPr sz="2000" dirty="0">
              <a:latin typeface="Calibri"/>
              <a:cs typeface="Calibri"/>
            </a:endParaRPr>
          </a:p>
          <a:p>
            <a:pPr marL="1155700" algn="just">
              <a:lnSpc>
                <a:spcPts val="2160"/>
              </a:lnSpc>
            </a:pPr>
            <a:r>
              <a:rPr sz="2000" dirty="0"/>
              <a:t>both</a:t>
            </a:r>
            <a:r>
              <a:rPr sz="2000" spc="-55" dirty="0"/>
              <a:t> </a:t>
            </a:r>
            <a:r>
              <a:rPr sz="2000" dirty="0"/>
              <a:t>will</a:t>
            </a:r>
            <a:r>
              <a:rPr sz="2000" spc="-25" dirty="0"/>
              <a:t> </a:t>
            </a:r>
            <a:r>
              <a:rPr sz="2000" dirty="0"/>
              <a:t>sleep</a:t>
            </a:r>
            <a:r>
              <a:rPr sz="2000" spc="-15" dirty="0"/>
              <a:t> </a:t>
            </a:r>
            <a:r>
              <a:rPr sz="2000" spc="-10" dirty="0"/>
              <a:t>forever.</a:t>
            </a:r>
            <a:endParaRPr sz="2000" dirty="0"/>
          </a:p>
          <a:p>
            <a:pPr>
              <a:lnSpc>
                <a:spcPct val="100000"/>
              </a:lnSpc>
              <a:spcBef>
                <a:spcPts val="555"/>
              </a:spcBef>
            </a:pPr>
            <a:endParaRPr sz="2000" dirty="0"/>
          </a:p>
          <a:p>
            <a:pPr marL="355600" marR="5080" indent="-342900">
              <a:lnSpc>
                <a:spcPts val="2590"/>
              </a:lnSpc>
            </a:pPr>
            <a:r>
              <a:rPr sz="2700" dirty="0"/>
              <a:t>Think:</a:t>
            </a:r>
            <a:r>
              <a:rPr sz="2700" spc="20" dirty="0"/>
              <a:t> </a:t>
            </a:r>
            <a:r>
              <a:rPr sz="2700" dirty="0"/>
              <a:t>If</a:t>
            </a:r>
            <a:r>
              <a:rPr sz="2700" spc="30" dirty="0"/>
              <a:t> </a:t>
            </a:r>
            <a:r>
              <a:rPr sz="2700" dirty="0"/>
              <a:t>we</a:t>
            </a:r>
            <a:r>
              <a:rPr sz="2700" spc="25" dirty="0"/>
              <a:t> </a:t>
            </a:r>
            <a:r>
              <a:rPr sz="2700" dirty="0"/>
              <a:t>were</a:t>
            </a:r>
            <a:r>
              <a:rPr sz="2700" spc="20" dirty="0"/>
              <a:t> </a:t>
            </a:r>
            <a:r>
              <a:rPr sz="2700" dirty="0"/>
              <a:t>able</a:t>
            </a:r>
            <a:r>
              <a:rPr sz="2700" spc="15" dirty="0"/>
              <a:t> </a:t>
            </a:r>
            <a:r>
              <a:rPr sz="2700" dirty="0"/>
              <a:t>to</a:t>
            </a:r>
            <a:r>
              <a:rPr sz="2700" spc="20" dirty="0"/>
              <a:t> </a:t>
            </a:r>
            <a:r>
              <a:rPr sz="2700" dirty="0"/>
              <a:t>save</a:t>
            </a:r>
            <a:r>
              <a:rPr sz="2700" spc="25" dirty="0"/>
              <a:t> </a:t>
            </a:r>
            <a:r>
              <a:rPr sz="2700" dirty="0"/>
              <a:t>the</a:t>
            </a:r>
            <a:r>
              <a:rPr sz="2700" spc="25" dirty="0"/>
              <a:t> </a:t>
            </a:r>
            <a:r>
              <a:rPr sz="2700" dirty="0"/>
              <a:t>wakeup</a:t>
            </a:r>
            <a:r>
              <a:rPr sz="2700" spc="15" dirty="0"/>
              <a:t> </a:t>
            </a:r>
            <a:r>
              <a:rPr sz="2700" dirty="0"/>
              <a:t>signal</a:t>
            </a:r>
            <a:r>
              <a:rPr sz="2700" spc="25" dirty="0"/>
              <a:t> </a:t>
            </a:r>
            <a:r>
              <a:rPr sz="2700" dirty="0"/>
              <a:t>that</a:t>
            </a:r>
            <a:r>
              <a:rPr sz="2700" spc="15" dirty="0"/>
              <a:t> </a:t>
            </a:r>
            <a:r>
              <a:rPr sz="2700" spc="-25" dirty="0"/>
              <a:t>was </a:t>
            </a:r>
            <a:r>
              <a:rPr sz="2700" spc="-10" dirty="0"/>
              <a:t>lost........(semaphores)</a:t>
            </a:r>
            <a:endParaRPr sz="2700" dirty="0"/>
          </a:p>
        </p:txBody>
      </p:sp>
      <p:sp>
        <p:nvSpPr>
          <p:cNvPr id="4" name="object 4"/>
          <p:cNvSpPr txBox="1">
            <a:spLocks noGrp="1"/>
          </p:cNvSpPr>
          <p:nvPr>
            <p:ph type="ftr" sz="quarter" idx="5"/>
          </p:nvPr>
        </p:nvSpPr>
        <p:spPr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12700">
              <a:lnSpc>
                <a:spcPts val="1240"/>
              </a:lnSpc>
            </a:pPr>
            <a:r>
              <a:rPr lang="pl-PL"/>
              <a:t>By Dr. Binod Kr. Adhikari</a:t>
            </a:r>
            <a:endParaRPr spc="-10" dirty="0"/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13335" rIns="0" bIns="0" rtlCol="0">
            <a:spAutoFit/>
          </a:bodyPr>
          <a:lstStyle/>
          <a:p>
            <a:pPr marL="12700" algn="ctr" rtl="0">
              <a:spcBef>
                <a:spcPts val="105"/>
              </a:spcBef>
            </a:pPr>
            <a:r>
              <a:rPr sz="3200" b="1" dirty="0">
                <a:solidFill>
                  <a:sysClr val="windowText" lastClr="000000"/>
                </a:solidFill>
                <a:latin typeface="+mj-lt"/>
                <a:cs typeface="+mj-cs"/>
              </a:rPr>
              <a:t>Semaphores</a:t>
            </a:r>
          </a:p>
        </p:txBody>
      </p:sp>
      <p:sp>
        <p:nvSpPr>
          <p:cNvPr id="4" name="object 4"/>
          <p:cNvSpPr txBox="1">
            <a:spLocks noGrp="1"/>
          </p:cNvSpPr>
          <p:nvPr>
            <p:ph type="ftr" sz="quarter" idx="5"/>
          </p:nvPr>
        </p:nvSpPr>
        <p:spPr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12700">
              <a:lnSpc>
                <a:spcPts val="1240"/>
              </a:lnSpc>
            </a:pPr>
            <a:r>
              <a:rPr lang="pl-PL"/>
              <a:t>By Dr. Binod Kr. Adhikari</a:t>
            </a:r>
            <a:endParaRPr spc="-10" dirty="0"/>
          </a:p>
        </p:txBody>
      </p:sp>
      <p:sp>
        <p:nvSpPr>
          <p:cNvPr id="3" name="object 3"/>
          <p:cNvSpPr txBox="1"/>
          <p:nvPr/>
        </p:nvSpPr>
        <p:spPr>
          <a:xfrm>
            <a:off x="535940" y="1555445"/>
            <a:ext cx="8074659" cy="472821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354965" indent="-342265">
              <a:lnSpc>
                <a:spcPts val="2375"/>
              </a:lnSpc>
              <a:spcBef>
                <a:spcPts val="95"/>
              </a:spcBef>
              <a:buFont typeface="Arial"/>
              <a:buChar char="•"/>
              <a:tabLst>
                <a:tab pos="354965" algn="l"/>
              </a:tabLst>
            </a:pPr>
            <a:r>
              <a:rPr sz="2200" dirty="0">
                <a:latin typeface="Calibri"/>
                <a:cs typeface="Calibri"/>
              </a:rPr>
              <a:t>E.</a:t>
            </a:r>
            <a:r>
              <a:rPr sz="2200" spc="220" dirty="0">
                <a:latin typeface="Calibri"/>
                <a:cs typeface="Calibri"/>
              </a:rPr>
              <a:t> </a:t>
            </a:r>
            <a:r>
              <a:rPr sz="2200" dirty="0">
                <a:latin typeface="Calibri"/>
                <a:cs typeface="Calibri"/>
              </a:rPr>
              <a:t>W.</a:t>
            </a:r>
            <a:r>
              <a:rPr sz="2200" spc="235" dirty="0">
                <a:latin typeface="Calibri"/>
                <a:cs typeface="Calibri"/>
              </a:rPr>
              <a:t> </a:t>
            </a:r>
            <a:r>
              <a:rPr sz="2200" dirty="0">
                <a:latin typeface="Calibri"/>
                <a:cs typeface="Calibri"/>
              </a:rPr>
              <a:t>Dijkstra</a:t>
            </a:r>
            <a:r>
              <a:rPr sz="2200" spc="220" dirty="0">
                <a:latin typeface="Calibri"/>
                <a:cs typeface="Calibri"/>
              </a:rPr>
              <a:t> </a:t>
            </a:r>
            <a:r>
              <a:rPr sz="2200" dirty="0">
                <a:latin typeface="Calibri"/>
                <a:cs typeface="Calibri"/>
              </a:rPr>
              <a:t>(1965)</a:t>
            </a:r>
            <a:r>
              <a:rPr sz="2200" spc="220" dirty="0">
                <a:latin typeface="Calibri"/>
                <a:cs typeface="Calibri"/>
              </a:rPr>
              <a:t> </a:t>
            </a:r>
            <a:r>
              <a:rPr sz="2200" dirty="0">
                <a:latin typeface="Calibri"/>
                <a:cs typeface="Calibri"/>
              </a:rPr>
              <a:t>suggested</a:t>
            </a:r>
            <a:r>
              <a:rPr sz="2200" spc="220" dirty="0">
                <a:latin typeface="Calibri"/>
                <a:cs typeface="Calibri"/>
              </a:rPr>
              <a:t> </a:t>
            </a:r>
            <a:r>
              <a:rPr sz="2200" dirty="0">
                <a:latin typeface="Calibri"/>
                <a:cs typeface="Calibri"/>
              </a:rPr>
              <a:t>using</a:t>
            </a:r>
            <a:r>
              <a:rPr sz="2200" spc="229" dirty="0">
                <a:latin typeface="Calibri"/>
                <a:cs typeface="Calibri"/>
              </a:rPr>
              <a:t> </a:t>
            </a:r>
            <a:r>
              <a:rPr sz="2200" dirty="0">
                <a:latin typeface="Calibri"/>
                <a:cs typeface="Calibri"/>
              </a:rPr>
              <a:t>an</a:t>
            </a:r>
            <a:r>
              <a:rPr sz="2200" spc="220" dirty="0">
                <a:latin typeface="Calibri"/>
                <a:cs typeface="Calibri"/>
              </a:rPr>
              <a:t> </a:t>
            </a:r>
            <a:r>
              <a:rPr sz="2200" dirty="0">
                <a:latin typeface="Calibri"/>
                <a:cs typeface="Calibri"/>
              </a:rPr>
              <a:t>integer</a:t>
            </a:r>
            <a:r>
              <a:rPr sz="2200" spc="225" dirty="0">
                <a:latin typeface="Calibri"/>
                <a:cs typeface="Calibri"/>
              </a:rPr>
              <a:t> </a:t>
            </a:r>
            <a:r>
              <a:rPr sz="2200" dirty="0">
                <a:latin typeface="Calibri"/>
                <a:cs typeface="Calibri"/>
              </a:rPr>
              <a:t>variable</a:t>
            </a:r>
            <a:r>
              <a:rPr sz="2200" spc="225" dirty="0">
                <a:latin typeface="Calibri"/>
                <a:cs typeface="Calibri"/>
              </a:rPr>
              <a:t> </a:t>
            </a:r>
            <a:r>
              <a:rPr sz="2200" dirty="0">
                <a:latin typeface="Calibri"/>
                <a:cs typeface="Calibri"/>
              </a:rPr>
              <a:t>to</a:t>
            </a:r>
            <a:r>
              <a:rPr sz="2200" spc="235" dirty="0">
                <a:latin typeface="Calibri"/>
                <a:cs typeface="Calibri"/>
              </a:rPr>
              <a:t> </a:t>
            </a:r>
            <a:r>
              <a:rPr sz="2200" spc="-10" dirty="0">
                <a:latin typeface="Calibri"/>
                <a:cs typeface="Calibri"/>
              </a:rPr>
              <a:t>count</a:t>
            </a:r>
            <a:endParaRPr sz="2200" dirty="0">
              <a:latin typeface="Calibri"/>
              <a:cs typeface="Calibri"/>
            </a:endParaRPr>
          </a:p>
          <a:p>
            <a:pPr marL="355600">
              <a:lnSpc>
                <a:spcPts val="2375"/>
              </a:lnSpc>
            </a:pPr>
            <a:r>
              <a:rPr sz="2200" dirty="0">
                <a:latin typeface="Calibri"/>
                <a:cs typeface="Calibri"/>
              </a:rPr>
              <a:t>the</a:t>
            </a:r>
            <a:r>
              <a:rPr sz="2200" spc="-45" dirty="0">
                <a:latin typeface="Calibri"/>
                <a:cs typeface="Calibri"/>
              </a:rPr>
              <a:t> </a:t>
            </a:r>
            <a:r>
              <a:rPr sz="2200" dirty="0">
                <a:latin typeface="Calibri"/>
                <a:cs typeface="Calibri"/>
              </a:rPr>
              <a:t>number</a:t>
            </a:r>
            <a:r>
              <a:rPr sz="2200" spc="-40" dirty="0">
                <a:latin typeface="Calibri"/>
                <a:cs typeface="Calibri"/>
              </a:rPr>
              <a:t> </a:t>
            </a:r>
            <a:r>
              <a:rPr sz="2200" dirty="0">
                <a:latin typeface="Calibri"/>
                <a:cs typeface="Calibri"/>
              </a:rPr>
              <a:t>of</a:t>
            </a:r>
            <a:r>
              <a:rPr sz="2200" spc="-35" dirty="0">
                <a:latin typeface="Calibri"/>
                <a:cs typeface="Calibri"/>
              </a:rPr>
              <a:t> </a:t>
            </a:r>
            <a:r>
              <a:rPr sz="2200" spc="-10" dirty="0">
                <a:latin typeface="Calibri"/>
                <a:cs typeface="Calibri"/>
              </a:rPr>
              <a:t>wakeups,</a:t>
            </a:r>
            <a:r>
              <a:rPr sz="2200" spc="-25" dirty="0">
                <a:latin typeface="Calibri"/>
                <a:cs typeface="Calibri"/>
              </a:rPr>
              <a:t> </a:t>
            </a:r>
            <a:r>
              <a:rPr sz="2200" dirty="0">
                <a:latin typeface="Calibri"/>
                <a:cs typeface="Calibri"/>
              </a:rPr>
              <a:t>called</a:t>
            </a:r>
            <a:r>
              <a:rPr sz="2200" spc="-45" dirty="0">
                <a:latin typeface="Calibri"/>
                <a:cs typeface="Calibri"/>
              </a:rPr>
              <a:t> </a:t>
            </a:r>
            <a:r>
              <a:rPr sz="2200" dirty="0">
                <a:latin typeface="Calibri"/>
                <a:cs typeface="Calibri"/>
              </a:rPr>
              <a:t>a</a:t>
            </a:r>
            <a:r>
              <a:rPr sz="2200" spc="-45" dirty="0">
                <a:latin typeface="Calibri"/>
                <a:cs typeface="Calibri"/>
              </a:rPr>
              <a:t> </a:t>
            </a:r>
            <a:r>
              <a:rPr sz="2200" spc="-10" dirty="0">
                <a:latin typeface="Calibri"/>
                <a:cs typeface="Calibri"/>
              </a:rPr>
              <a:t>semaphore.</a:t>
            </a:r>
            <a:endParaRPr sz="2200" dirty="0">
              <a:latin typeface="Calibri"/>
              <a:cs typeface="Calibri"/>
            </a:endParaRPr>
          </a:p>
          <a:p>
            <a:pPr marL="355600" marR="5080" indent="-342900">
              <a:lnSpc>
                <a:spcPct val="80000"/>
              </a:lnSpc>
              <a:spcBef>
                <a:spcPts val="530"/>
              </a:spcBef>
              <a:buChar char="•"/>
              <a:tabLst>
                <a:tab pos="355600" algn="l"/>
                <a:tab pos="417830" algn="l"/>
              </a:tabLst>
            </a:pPr>
            <a:r>
              <a:rPr sz="2200" dirty="0">
                <a:latin typeface="Arial"/>
                <a:cs typeface="Arial"/>
              </a:rPr>
              <a:t>	</a:t>
            </a:r>
            <a:r>
              <a:rPr sz="2200" dirty="0">
                <a:latin typeface="Calibri"/>
                <a:cs typeface="Calibri"/>
              </a:rPr>
              <a:t>It</a:t>
            </a:r>
            <a:r>
              <a:rPr sz="2200" spc="325" dirty="0">
                <a:latin typeface="Calibri"/>
                <a:cs typeface="Calibri"/>
              </a:rPr>
              <a:t> </a:t>
            </a:r>
            <a:r>
              <a:rPr sz="2200" dirty="0">
                <a:latin typeface="Calibri"/>
                <a:cs typeface="Calibri"/>
              </a:rPr>
              <a:t>could</a:t>
            </a:r>
            <a:r>
              <a:rPr sz="2200" spc="310" dirty="0">
                <a:latin typeface="Calibri"/>
                <a:cs typeface="Calibri"/>
              </a:rPr>
              <a:t> </a:t>
            </a:r>
            <a:r>
              <a:rPr sz="2200" dirty="0">
                <a:latin typeface="Calibri"/>
                <a:cs typeface="Calibri"/>
              </a:rPr>
              <a:t>have</a:t>
            </a:r>
            <a:r>
              <a:rPr sz="2200" spc="320" dirty="0">
                <a:latin typeface="Calibri"/>
                <a:cs typeface="Calibri"/>
              </a:rPr>
              <a:t> </a:t>
            </a:r>
            <a:r>
              <a:rPr sz="2200" dirty="0">
                <a:solidFill>
                  <a:srgbClr val="00B050"/>
                </a:solidFill>
                <a:latin typeface="Calibri"/>
                <a:cs typeface="Calibri"/>
              </a:rPr>
              <a:t>the</a:t>
            </a:r>
            <a:r>
              <a:rPr sz="2200" spc="320" dirty="0">
                <a:solidFill>
                  <a:srgbClr val="00B050"/>
                </a:solidFill>
                <a:latin typeface="Calibri"/>
                <a:cs typeface="Calibri"/>
              </a:rPr>
              <a:t> </a:t>
            </a:r>
            <a:r>
              <a:rPr sz="2200" dirty="0">
                <a:solidFill>
                  <a:srgbClr val="00B050"/>
                </a:solidFill>
                <a:latin typeface="Calibri"/>
                <a:cs typeface="Calibri"/>
              </a:rPr>
              <a:t>value</a:t>
            </a:r>
            <a:r>
              <a:rPr sz="2200" spc="325" dirty="0">
                <a:solidFill>
                  <a:srgbClr val="00B050"/>
                </a:solidFill>
                <a:latin typeface="Calibri"/>
                <a:cs typeface="Calibri"/>
              </a:rPr>
              <a:t> </a:t>
            </a:r>
            <a:r>
              <a:rPr sz="2200" dirty="0">
                <a:solidFill>
                  <a:srgbClr val="00B050"/>
                </a:solidFill>
                <a:latin typeface="Calibri"/>
                <a:cs typeface="Calibri"/>
              </a:rPr>
              <a:t>0,</a:t>
            </a:r>
            <a:r>
              <a:rPr sz="2200" spc="320" dirty="0">
                <a:solidFill>
                  <a:srgbClr val="00B050"/>
                </a:solidFill>
                <a:latin typeface="Calibri"/>
                <a:cs typeface="Calibri"/>
              </a:rPr>
              <a:t> </a:t>
            </a:r>
            <a:r>
              <a:rPr sz="2200" dirty="0">
                <a:solidFill>
                  <a:srgbClr val="00B050"/>
                </a:solidFill>
                <a:latin typeface="Calibri"/>
                <a:cs typeface="Calibri"/>
              </a:rPr>
              <a:t>indicating</a:t>
            </a:r>
            <a:r>
              <a:rPr sz="2200" spc="315" dirty="0">
                <a:solidFill>
                  <a:srgbClr val="00B050"/>
                </a:solidFill>
                <a:latin typeface="Calibri"/>
                <a:cs typeface="Calibri"/>
              </a:rPr>
              <a:t> </a:t>
            </a:r>
            <a:r>
              <a:rPr sz="2200" dirty="0">
                <a:solidFill>
                  <a:srgbClr val="00B050"/>
                </a:solidFill>
                <a:latin typeface="Calibri"/>
                <a:cs typeface="Calibri"/>
              </a:rPr>
              <a:t>no</a:t>
            </a:r>
            <a:r>
              <a:rPr sz="2200" spc="320" dirty="0">
                <a:solidFill>
                  <a:srgbClr val="00B050"/>
                </a:solidFill>
                <a:latin typeface="Calibri"/>
                <a:cs typeface="Calibri"/>
              </a:rPr>
              <a:t> </a:t>
            </a:r>
            <a:r>
              <a:rPr sz="2200" dirty="0">
                <a:solidFill>
                  <a:srgbClr val="00B050"/>
                </a:solidFill>
                <a:latin typeface="Calibri"/>
                <a:cs typeface="Calibri"/>
              </a:rPr>
              <a:t>wakeups</a:t>
            </a:r>
            <a:r>
              <a:rPr sz="2200" spc="340" dirty="0">
                <a:solidFill>
                  <a:srgbClr val="00B050"/>
                </a:solidFill>
                <a:latin typeface="Calibri"/>
                <a:cs typeface="Calibri"/>
              </a:rPr>
              <a:t> </a:t>
            </a:r>
            <a:r>
              <a:rPr sz="2200" dirty="0">
                <a:solidFill>
                  <a:srgbClr val="00B050"/>
                </a:solidFill>
                <a:latin typeface="Calibri"/>
                <a:cs typeface="Calibri"/>
              </a:rPr>
              <a:t>w</a:t>
            </a:r>
            <a:r>
              <a:rPr lang="en-US" sz="2200" dirty="0">
                <a:solidFill>
                  <a:srgbClr val="00B050"/>
                </a:solidFill>
                <a:latin typeface="Calibri"/>
                <a:cs typeface="Calibri"/>
              </a:rPr>
              <a:t>e</a:t>
            </a:r>
            <a:r>
              <a:rPr sz="2200" dirty="0">
                <a:solidFill>
                  <a:srgbClr val="00B050"/>
                </a:solidFill>
                <a:latin typeface="Calibri"/>
                <a:cs typeface="Calibri"/>
              </a:rPr>
              <a:t>re</a:t>
            </a:r>
            <a:r>
              <a:rPr sz="2200" spc="310" dirty="0">
                <a:solidFill>
                  <a:srgbClr val="00B050"/>
                </a:solidFill>
                <a:latin typeface="Calibri"/>
                <a:cs typeface="Calibri"/>
              </a:rPr>
              <a:t> </a:t>
            </a:r>
            <a:r>
              <a:rPr sz="2200" dirty="0">
                <a:solidFill>
                  <a:srgbClr val="00B050"/>
                </a:solidFill>
                <a:latin typeface="Calibri"/>
                <a:cs typeface="Calibri"/>
              </a:rPr>
              <a:t>saved</a:t>
            </a:r>
            <a:r>
              <a:rPr sz="2200" dirty="0">
                <a:latin typeface="Calibri"/>
                <a:cs typeface="Calibri"/>
              </a:rPr>
              <a:t>,</a:t>
            </a:r>
            <a:r>
              <a:rPr sz="2200" spc="315" dirty="0">
                <a:latin typeface="Calibri"/>
                <a:cs typeface="Calibri"/>
              </a:rPr>
              <a:t> </a:t>
            </a:r>
            <a:r>
              <a:rPr sz="2200" spc="-25" dirty="0">
                <a:latin typeface="Calibri"/>
                <a:cs typeface="Calibri"/>
              </a:rPr>
              <a:t>or </a:t>
            </a:r>
            <a:r>
              <a:rPr sz="2200" dirty="0">
                <a:latin typeface="Calibri"/>
                <a:cs typeface="Calibri"/>
              </a:rPr>
              <a:t>some</a:t>
            </a:r>
            <a:r>
              <a:rPr sz="2200" spc="-50" dirty="0">
                <a:latin typeface="Calibri"/>
                <a:cs typeface="Calibri"/>
              </a:rPr>
              <a:t> </a:t>
            </a:r>
            <a:r>
              <a:rPr sz="2200" dirty="0">
                <a:latin typeface="Calibri"/>
                <a:cs typeface="Calibri"/>
              </a:rPr>
              <a:t>positive</a:t>
            </a:r>
            <a:r>
              <a:rPr sz="2200" spc="-55" dirty="0">
                <a:latin typeface="Calibri"/>
                <a:cs typeface="Calibri"/>
              </a:rPr>
              <a:t> </a:t>
            </a:r>
            <a:r>
              <a:rPr sz="2200" dirty="0">
                <a:latin typeface="Calibri"/>
                <a:cs typeface="Calibri"/>
              </a:rPr>
              <a:t>value</a:t>
            </a:r>
            <a:r>
              <a:rPr sz="2200" spc="-55" dirty="0">
                <a:latin typeface="Calibri"/>
                <a:cs typeface="Calibri"/>
              </a:rPr>
              <a:t> </a:t>
            </a:r>
            <a:r>
              <a:rPr sz="2200" dirty="0">
                <a:latin typeface="Calibri"/>
                <a:cs typeface="Calibri"/>
              </a:rPr>
              <a:t>if</a:t>
            </a:r>
            <a:r>
              <a:rPr sz="2200" spc="-45" dirty="0">
                <a:latin typeface="Calibri"/>
                <a:cs typeface="Calibri"/>
              </a:rPr>
              <a:t> </a:t>
            </a:r>
            <a:r>
              <a:rPr sz="2200" dirty="0">
                <a:latin typeface="Calibri"/>
                <a:cs typeface="Calibri"/>
              </a:rPr>
              <a:t>one</a:t>
            </a:r>
            <a:r>
              <a:rPr sz="2200" spc="-50" dirty="0">
                <a:latin typeface="Calibri"/>
                <a:cs typeface="Calibri"/>
              </a:rPr>
              <a:t> </a:t>
            </a:r>
            <a:r>
              <a:rPr sz="2200" dirty="0">
                <a:latin typeface="Calibri"/>
                <a:cs typeface="Calibri"/>
              </a:rPr>
              <a:t>or</a:t>
            </a:r>
            <a:r>
              <a:rPr sz="2200" spc="-55" dirty="0">
                <a:latin typeface="Calibri"/>
                <a:cs typeface="Calibri"/>
              </a:rPr>
              <a:t> </a:t>
            </a:r>
            <a:r>
              <a:rPr sz="2200" dirty="0">
                <a:latin typeface="Calibri"/>
                <a:cs typeface="Calibri"/>
              </a:rPr>
              <a:t>more</a:t>
            </a:r>
            <a:r>
              <a:rPr sz="2200" spc="-50" dirty="0">
                <a:latin typeface="Calibri"/>
                <a:cs typeface="Calibri"/>
              </a:rPr>
              <a:t> </a:t>
            </a:r>
            <a:r>
              <a:rPr sz="2200" spc="-10" dirty="0">
                <a:latin typeface="Calibri"/>
                <a:cs typeface="Calibri"/>
              </a:rPr>
              <a:t>wakeups</a:t>
            </a:r>
            <a:r>
              <a:rPr sz="2200" spc="-45" dirty="0">
                <a:latin typeface="Calibri"/>
                <a:cs typeface="Calibri"/>
              </a:rPr>
              <a:t> </a:t>
            </a:r>
            <a:r>
              <a:rPr sz="2200" dirty="0">
                <a:latin typeface="Calibri"/>
                <a:cs typeface="Calibri"/>
              </a:rPr>
              <a:t>were</a:t>
            </a:r>
            <a:r>
              <a:rPr sz="2200" spc="-35" dirty="0">
                <a:latin typeface="Calibri"/>
                <a:cs typeface="Calibri"/>
              </a:rPr>
              <a:t> </a:t>
            </a:r>
            <a:r>
              <a:rPr sz="2200" spc="-10" dirty="0">
                <a:latin typeface="Calibri"/>
                <a:cs typeface="Calibri"/>
              </a:rPr>
              <a:t>pending.</a:t>
            </a:r>
            <a:endParaRPr sz="2200" dirty="0">
              <a:latin typeface="Calibri"/>
              <a:cs typeface="Calibri"/>
            </a:endParaRPr>
          </a:p>
          <a:p>
            <a:pPr>
              <a:lnSpc>
                <a:spcPct val="100000"/>
              </a:lnSpc>
              <a:spcBef>
                <a:spcPts val="484"/>
              </a:spcBef>
              <a:buFont typeface="Arial"/>
              <a:buChar char="•"/>
            </a:pPr>
            <a:endParaRPr sz="2200" dirty="0">
              <a:latin typeface="Calibri"/>
              <a:cs typeface="Calibri"/>
            </a:endParaRPr>
          </a:p>
          <a:p>
            <a:pPr marL="355600" marR="6350" indent="-342900">
              <a:lnSpc>
                <a:spcPct val="80000"/>
              </a:lnSpc>
              <a:buFont typeface="Arial"/>
              <a:buChar char="•"/>
              <a:tabLst>
                <a:tab pos="355600" algn="l"/>
              </a:tabLst>
            </a:pPr>
            <a:r>
              <a:rPr sz="2200" b="1" dirty="0">
                <a:latin typeface="Calibri"/>
                <a:cs typeface="Calibri"/>
              </a:rPr>
              <a:t>Operations:</a:t>
            </a:r>
            <a:r>
              <a:rPr sz="2200" b="1" spc="40" dirty="0">
                <a:latin typeface="Calibri"/>
                <a:cs typeface="Calibri"/>
              </a:rPr>
              <a:t> </a:t>
            </a:r>
            <a:r>
              <a:rPr sz="2200" b="1" dirty="0">
                <a:latin typeface="Calibri"/>
                <a:cs typeface="Calibri"/>
              </a:rPr>
              <a:t>Down</a:t>
            </a:r>
            <a:r>
              <a:rPr sz="2200" b="1" spc="35" dirty="0">
                <a:latin typeface="Calibri"/>
                <a:cs typeface="Calibri"/>
              </a:rPr>
              <a:t> </a:t>
            </a:r>
            <a:r>
              <a:rPr sz="2200" dirty="0">
                <a:latin typeface="Calibri"/>
                <a:cs typeface="Calibri"/>
              </a:rPr>
              <a:t>and</a:t>
            </a:r>
            <a:r>
              <a:rPr sz="2200" spc="40" dirty="0">
                <a:latin typeface="Calibri"/>
                <a:cs typeface="Calibri"/>
              </a:rPr>
              <a:t> </a:t>
            </a:r>
            <a:r>
              <a:rPr sz="2200" b="1" dirty="0">
                <a:latin typeface="Calibri"/>
                <a:cs typeface="Calibri"/>
              </a:rPr>
              <a:t>Up</a:t>
            </a:r>
            <a:r>
              <a:rPr sz="2200" b="1" spc="20" dirty="0">
                <a:latin typeface="Calibri"/>
                <a:cs typeface="Calibri"/>
              </a:rPr>
              <a:t> </a:t>
            </a:r>
            <a:r>
              <a:rPr sz="2200" dirty="0">
                <a:latin typeface="Calibri"/>
                <a:cs typeface="Calibri"/>
              </a:rPr>
              <a:t>(originally</a:t>
            </a:r>
            <a:r>
              <a:rPr sz="2200" spc="35" dirty="0">
                <a:latin typeface="Calibri"/>
                <a:cs typeface="Calibri"/>
              </a:rPr>
              <a:t> </a:t>
            </a:r>
            <a:r>
              <a:rPr sz="2200" dirty="0">
                <a:latin typeface="Calibri"/>
                <a:cs typeface="Calibri"/>
              </a:rPr>
              <a:t>he</a:t>
            </a:r>
            <a:r>
              <a:rPr sz="2200" spc="40" dirty="0">
                <a:latin typeface="Calibri"/>
                <a:cs typeface="Calibri"/>
              </a:rPr>
              <a:t> </a:t>
            </a:r>
            <a:r>
              <a:rPr sz="2200" dirty="0">
                <a:latin typeface="Calibri"/>
                <a:cs typeface="Calibri"/>
              </a:rPr>
              <a:t>proposed</a:t>
            </a:r>
            <a:r>
              <a:rPr sz="2200" spc="35" dirty="0">
                <a:latin typeface="Calibri"/>
                <a:cs typeface="Calibri"/>
              </a:rPr>
              <a:t> </a:t>
            </a:r>
            <a:r>
              <a:rPr sz="2200" dirty="0">
                <a:latin typeface="Calibri"/>
                <a:cs typeface="Calibri"/>
              </a:rPr>
              <a:t>P</a:t>
            </a:r>
            <a:r>
              <a:rPr sz="2200" spc="40" dirty="0">
                <a:latin typeface="Calibri"/>
                <a:cs typeface="Calibri"/>
              </a:rPr>
              <a:t> </a:t>
            </a:r>
            <a:r>
              <a:rPr sz="2200" dirty="0">
                <a:latin typeface="Calibri"/>
                <a:cs typeface="Calibri"/>
              </a:rPr>
              <a:t>and</a:t>
            </a:r>
            <a:r>
              <a:rPr sz="2200" spc="40" dirty="0">
                <a:latin typeface="Calibri"/>
                <a:cs typeface="Calibri"/>
              </a:rPr>
              <a:t> </a:t>
            </a:r>
            <a:r>
              <a:rPr sz="2200" dirty="0">
                <a:latin typeface="Calibri"/>
                <a:cs typeface="Calibri"/>
              </a:rPr>
              <a:t>V</a:t>
            </a:r>
            <a:r>
              <a:rPr sz="2200" spc="40" dirty="0">
                <a:latin typeface="Calibri"/>
                <a:cs typeface="Calibri"/>
              </a:rPr>
              <a:t> </a:t>
            </a:r>
            <a:r>
              <a:rPr sz="2200" dirty="0">
                <a:latin typeface="Calibri"/>
                <a:cs typeface="Calibri"/>
              </a:rPr>
              <a:t>in</a:t>
            </a:r>
            <a:r>
              <a:rPr sz="2200" spc="35" dirty="0">
                <a:latin typeface="Calibri"/>
                <a:cs typeface="Calibri"/>
              </a:rPr>
              <a:t> </a:t>
            </a:r>
            <a:r>
              <a:rPr sz="2200" spc="-10" dirty="0">
                <a:latin typeface="Calibri"/>
                <a:cs typeface="Calibri"/>
              </a:rPr>
              <a:t>Dutch </a:t>
            </a:r>
            <a:r>
              <a:rPr sz="2200" dirty="0">
                <a:latin typeface="Calibri"/>
                <a:cs typeface="Calibri"/>
              </a:rPr>
              <a:t>and</a:t>
            </a:r>
            <a:r>
              <a:rPr sz="2200" spc="-65" dirty="0">
                <a:latin typeface="Calibri"/>
                <a:cs typeface="Calibri"/>
              </a:rPr>
              <a:t> </a:t>
            </a:r>
            <a:r>
              <a:rPr sz="2200" dirty="0">
                <a:latin typeface="Calibri"/>
                <a:cs typeface="Calibri"/>
              </a:rPr>
              <a:t>sometimes</a:t>
            </a:r>
            <a:r>
              <a:rPr sz="2200" spc="-15" dirty="0">
                <a:latin typeface="Calibri"/>
                <a:cs typeface="Calibri"/>
              </a:rPr>
              <a:t> </a:t>
            </a:r>
            <a:r>
              <a:rPr sz="2200" dirty="0">
                <a:latin typeface="Calibri"/>
                <a:cs typeface="Calibri"/>
              </a:rPr>
              <a:t>known</a:t>
            </a:r>
            <a:r>
              <a:rPr sz="2200" spc="-40" dirty="0">
                <a:latin typeface="Calibri"/>
                <a:cs typeface="Calibri"/>
              </a:rPr>
              <a:t> </a:t>
            </a:r>
            <a:r>
              <a:rPr sz="2200" dirty="0">
                <a:latin typeface="Calibri"/>
                <a:cs typeface="Calibri"/>
              </a:rPr>
              <a:t>as</a:t>
            </a:r>
            <a:r>
              <a:rPr sz="2200" spc="-50" dirty="0">
                <a:latin typeface="Calibri"/>
                <a:cs typeface="Calibri"/>
              </a:rPr>
              <a:t> </a:t>
            </a:r>
            <a:r>
              <a:rPr sz="2200" dirty="0">
                <a:latin typeface="Calibri"/>
                <a:cs typeface="Calibri"/>
              </a:rPr>
              <a:t>wait</a:t>
            </a:r>
            <a:r>
              <a:rPr sz="2200" spc="-45" dirty="0">
                <a:latin typeface="Calibri"/>
                <a:cs typeface="Calibri"/>
              </a:rPr>
              <a:t> </a:t>
            </a:r>
            <a:r>
              <a:rPr sz="2200" dirty="0">
                <a:latin typeface="Calibri"/>
                <a:cs typeface="Calibri"/>
              </a:rPr>
              <a:t>and</a:t>
            </a:r>
            <a:r>
              <a:rPr sz="2200" spc="-50" dirty="0">
                <a:latin typeface="Calibri"/>
                <a:cs typeface="Calibri"/>
              </a:rPr>
              <a:t> </a:t>
            </a:r>
            <a:r>
              <a:rPr sz="2200" spc="-10" dirty="0">
                <a:latin typeface="Calibri"/>
                <a:cs typeface="Calibri"/>
              </a:rPr>
              <a:t>signal)</a:t>
            </a:r>
            <a:endParaRPr sz="2200" dirty="0">
              <a:latin typeface="Calibri"/>
              <a:cs typeface="Calibri"/>
            </a:endParaRPr>
          </a:p>
          <a:p>
            <a:pPr marL="756285" lvl="1" indent="-286385">
              <a:lnSpc>
                <a:spcPct val="100000"/>
              </a:lnSpc>
              <a:spcBef>
                <a:spcPts val="5"/>
              </a:spcBef>
              <a:buFont typeface="Arial"/>
              <a:buChar char="–"/>
              <a:tabLst>
                <a:tab pos="756285" algn="l"/>
              </a:tabLst>
            </a:pPr>
            <a:r>
              <a:rPr sz="2000" dirty="0">
                <a:latin typeface="Calibri"/>
                <a:cs typeface="Calibri"/>
              </a:rPr>
              <a:t>Down:</a:t>
            </a:r>
            <a:r>
              <a:rPr sz="2000" spc="-90" dirty="0">
                <a:latin typeface="Calibri"/>
                <a:cs typeface="Calibri"/>
              </a:rPr>
              <a:t> </a:t>
            </a:r>
            <a:r>
              <a:rPr sz="2000" dirty="0">
                <a:latin typeface="Calibri"/>
                <a:cs typeface="Calibri"/>
              </a:rPr>
              <a:t>checks</a:t>
            </a:r>
            <a:r>
              <a:rPr sz="2000" spc="-30" dirty="0">
                <a:latin typeface="Calibri"/>
                <a:cs typeface="Calibri"/>
              </a:rPr>
              <a:t> </a:t>
            </a:r>
            <a:r>
              <a:rPr sz="2000" dirty="0">
                <a:latin typeface="Calibri"/>
                <a:cs typeface="Calibri"/>
              </a:rPr>
              <a:t>if</a:t>
            </a:r>
            <a:r>
              <a:rPr sz="2000" spc="-40" dirty="0">
                <a:latin typeface="Calibri"/>
                <a:cs typeface="Calibri"/>
              </a:rPr>
              <a:t> </a:t>
            </a:r>
            <a:r>
              <a:rPr sz="2000" dirty="0">
                <a:latin typeface="Calibri"/>
                <a:cs typeface="Calibri"/>
              </a:rPr>
              <a:t>the</a:t>
            </a:r>
            <a:r>
              <a:rPr sz="2000" spc="-50" dirty="0">
                <a:latin typeface="Calibri"/>
                <a:cs typeface="Calibri"/>
              </a:rPr>
              <a:t> </a:t>
            </a:r>
            <a:r>
              <a:rPr sz="2000" dirty="0">
                <a:latin typeface="Calibri"/>
                <a:cs typeface="Calibri"/>
              </a:rPr>
              <a:t>value</a:t>
            </a:r>
            <a:r>
              <a:rPr sz="2000" spc="-45" dirty="0">
                <a:latin typeface="Calibri"/>
                <a:cs typeface="Calibri"/>
              </a:rPr>
              <a:t> </a:t>
            </a:r>
            <a:r>
              <a:rPr sz="2000" spc="-10" dirty="0">
                <a:latin typeface="Calibri"/>
                <a:cs typeface="Calibri"/>
              </a:rPr>
              <a:t>greater</a:t>
            </a:r>
            <a:r>
              <a:rPr sz="2000" spc="-35" dirty="0">
                <a:latin typeface="Calibri"/>
                <a:cs typeface="Calibri"/>
              </a:rPr>
              <a:t> </a:t>
            </a:r>
            <a:r>
              <a:rPr sz="2000" dirty="0">
                <a:latin typeface="Calibri"/>
                <a:cs typeface="Calibri"/>
              </a:rPr>
              <a:t>than</a:t>
            </a:r>
            <a:r>
              <a:rPr sz="2000" spc="-45" dirty="0">
                <a:latin typeface="Calibri"/>
                <a:cs typeface="Calibri"/>
              </a:rPr>
              <a:t> </a:t>
            </a:r>
            <a:r>
              <a:rPr sz="2000" spc="-50" dirty="0">
                <a:latin typeface="Calibri"/>
                <a:cs typeface="Calibri"/>
              </a:rPr>
              <a:t>0</a:t>
            </a:r>
            <a:endParaRPr sz="2000" dirty="0">
              <a:latin typeface="Calibri"/>
              <a:cs typeface="Calibri"/>
            </a:endParaRPr>
          </a:p>
          <a:p>
            <a:pPr marL="756285" marR="5715" lvl="1" indent="-287020">
              <a:lnSpc>
                <a:spcPts val="1920"/>
              </a:lnSpc>
              <a:spcBef>
                <a:spcPts val="465"/>
              </a:spcBef>
              <a:buChar char="–"/>
              <a:tabLst>
                <a:tab pos="756285" algn="l"/>
                <a:tab pos="812800" algn="l"/>
                <a:tab pos="1407160" algn="l"/>
                <a:tab pos="2713355" algn="l"/>
                <a:tab pos="3237865" algn="l"/>
                <a:tab pos="3967479" algn="l"/>
                <a:tab pos="4536440" algn="l"/>
                <a:tab pos="5205730" algn="l"/>
                <a:tab pos="5778500" algn="l"/>
                <a:tab pos="6615430" algn="l"/>
                <a:tab pos="7673340" algn="l"/>
              </a:tabLst>
            </a:pPr>
            <a:r>
              <a:rPr sz="2000" dirty="0">
                <a:latin typeface="Arial"/>
                <a:cs typeface="Arial"/>
              </a:rPr>
              <a:t>	</a:t>
            </a:r>
            <a:r>
              <a:rPr sz="2000" spc="-20" dirty="0">
                <a:latin typeface="Calibri"/>
                <a:cs typeface="Calibri"/>
              </a:rPr>
              <a:t>yes-</a:t>
            </a:r>
            <a:r>
              <a:rPr sz="2000" dirty="0">
                <a:latin typeface="Calibri"/>
                <a:cs typeface="Calibri"/>
              </a:rPr>
              <a:t>	</a:t>
            </a:r>
            <a:r>
              <a:rPr sz="2000" spc="-10" dirty="0">
                <a:latin typeface="Calibri"/>
                <a:cs typeface="Calibri"/>
              </a:rPr>
              <a:t>decrement</a:t>
            </a:r>
            <a:r>
              <a:rPr sz="2000" dirty="0">
                <a:latin typeface="Calibri"/>
                <a:cs typeface="Calibri"/>
              </a:rPr>
              <a:t>	</a:t>
            </a:r>
            <a:r>
              <a:rPr sz="2000" spc="-25" dirty="0">
                <a:latin typeface="Calibri"/>
                <a:cs typeface="Calibri"/>
              </a:rPr>
              <a:t>the</a:t>
            </a:r>
            <a:r>
              <a:rPr sz="2000" dirty="0">
                <a:latin typeface="Calibri"/>
                <a:cs typeface="Calibri"/>
              </a:rPr>
              <a:t>	</a:t>
            </a:r>
            <a:r>
              <a:rPr sz="2000" spc="-10" dirty="0">
                <a:latin typeface="Calibri"/>
                <a:cs typeface="Calibri"/>
              </a:rPr>
              <a:t>value</a:t>
            </a:r>
            <a:r>
              <a:rPr sz="2000" dirty="0">
                <a:latin typeface="Calibri"/>
                <a:cs typeface="Calibri"/>
              </a:rPr>
              <a:t>	</a:t>
            </a:r>
            <a:r>
              <a:rPr sz="2000" spc="-10" dirty="0">
                <a:latin typeface="Calibri"/>
                <a:cs typeface="Calibri"/>
              </a:rPr>
              <a:t>(i.e.</a:t>
            </a:r>
            <a:r>
              <a:rPr sz="2000" dirty="0">
                <a:latin typeface="Calibri"/>
                <a:cs typeface="Calibri"/>
              </a:rPr>
              <a:t>	</a:t>
            </a:r>
            <a:r>
              <a:rPr sz="2000" spc="-20" dirty="0">
                <a:latin typeface="Calibri"/>
                <a:cs typeface="Calibri"/>
              </a:rPr>
              <a:t>Uses</a:t>
            </a:r>
            <a:r>
              <a:rPr sz="2000" dirty="0">
                <a:latin typeface="Calibri"/>
                <a:cs typeface="Calibri"/>
              </a:rPr>
              <a:t>	</a:t>
            </a:r>
            <a:r>
              <a:rPr sz="2000" spc="-25" dirty="0">
                <a:latin typeface="Calibri"/>
                <a:cs typeface="Calibri"/>
              </a:rPr>
              <a:t>one</a:t>
            </a:r>
            <a:r>
              <a:rPr sz="2000" dirty="0">
                <a:latin typeface="Calibri"/>
                <a:cs typeface="Calibri"/>
              </a:rPr>
              <a:t>	</a:t>
            </a:r>
            <a:r>
              <a:rPr sz="2000" spc="-10" dirty="0">
                <a:latin typeface="Calibri"/>
                <a:cs typeface="Calibri"/>
              </a:rPr>
              <a:t>stored</a:t>
            </a:r>
            <a:r>
              <a:rPr sz="2000" dirty="0">
                <a:latin typeface="Calibri"/>
                <a:cs typeface="Calibri"/>
              </a:rPr>
              <a:t>	</a:t>
            </a:r>
            <a:r>
              <a:rPr sz="2000" spc="-10" dirty="0">
                <a:latin typeface="Calibri"/>
                <a:cs typeface="Calibri"/>
              </a:rPr>
              <a:t>wakeup)</a:t>
            </a:r>
            <a:r>
              <a:rPr sz="2000" dirty="0">
                <a:latin typeface="Calibri"/>
                <a:cs typeface="Calibri"/>
              </a:rPr>
              <a:t>	</a:t>
            </a:r>
            <a:r>
              <a:rPr sz="2000" spc="-25" dirty="0">
                <a:latin typeface="Calibri"/>
                <a:cs typeface="Calibri"/>
              </a:rPr>
              <a:t>and </a:t>
            </a:r>
            <a:r>
              <a:rPr sz="2000" spc="-10" dirty="0">
                <a:latin typeface="Calibri"/>
                <a:cs typeface="Calibri"/>
              </a:rPr>
              <a:t>continues.</a:t>
            </a:r>
            <a:endParaRPr sz="2000" dirty="0">
              <a:latin typeface="Calibri"/>
              <a:cs typeface="Calibri"/>
            </a:endParaRPr>
          </a:p>
          <a:p>
            <a:pPr marL="756285" lvl="1" indent="-286385">
              <a:lnSpc>
                <a:spcPts val="2395"/>
              </a:lnSpc>
              <a:spcBef>
                <a:spcPts val="20"/>
              </a:spcBef>
              <a:buFont typeface="Arial"/>
              <a:buChar char="–"/>
              <a:tabLst>
                <a:tab pos="756285" algn="l"/>
              </a:tabLst>
            </a:pPr>
            <a:r>
              <a:rPr sz="2000" dirty="0">
                <a:latin typeface="Calibri"/>
                <a:cs typeface="Calibri"/>
              </a:rPr>
              <a:t>No-</a:t>
            </a:r>
            <a:r>
              <a:rPr sz="2000" spc="-70" dirty="0">
                <a:latin typeface="Calibri"/>
                <a:cs typeface="Calibri"/>
              </a:rPr>
              <a:t> </a:t>
            </a:r>
            <a:r>
              <a:rPr sz="2000" dirty="0">
                <a:latin typeface="Calibri"/>
                <a:cs typeface="Calibri"/>
              </a:rPr>
              <a:t>process</a:t>
            </a:r>
            <a:r>
              <a:rPr sz="2000" spc="-30" dirty="0">
                <a:latin typeface="Calibri"/>
                <a:cs typeface="Calibri"/>
              </a:rPr>
              <a:t> </a:t>
            </a:r>
            <a:r>
              <a:rPr sz="2000" dirty="0">
                <a:latin typeface="Calibri"/>
                <a:cs typeface="Calibri"/>
              </a:rPr>
              <a:t>is</a:t>
            </a:r>
            <a:r>
              <a:rPr sz="2000" spc="-25" dirty="0">
                <a:latin typeface="Calibri"/>
                <a:cs typeface="Calibri"/>
              </a:rPr>
              <a:t> </a:t>
            </a:r>
            <a:r>
              <a:rPr sz="2000" dirty="0">
                <a:latin typeface="Calibri"/>
                <a:cs typeface="Calibri"/>
              </a:rPr>
              <a:t>put</a:t>
            </a:r>
            <a:r>
              <a:rPr sz="2000" spc="-55" dirty="0">
                <a:latin typeface="Calibri"/>
                <a:cs typeface="Calibri"/>
              </a:rPr>
              <a:t> </a:t>
            </a:r>
            <a:r>
              <a:rPr sz="2000" dirty="0">
                <a:latin typeface="Calibri"/>
                <a:cs typeface="Calibri"/>
              </a:rPr>
              <a:t>to</a:t>
            </a:r>
            <a:r>
              <a:rPr sz="2000" spc="-40" dirty="0">
                <a:latin typeface="Calibri"/>
                <a:cs typeface="Calibri"/>
              </a:rPr>
              <a:t> </a:t>
            </a:r>
            <a:r>
              <a:rPr sz="2000" dirty="0">
                <a:latin typeface="Calibri"/>
                <a:cs typeface="Calibri"/>
              </a:rPr>
              <a:t>sleep</a:t>
            </a:r>
            <a:r>
              <a:rPr sz="2000" spc="-20" dirty="0">
                <a:latin typeface="Calibri"/>
                <a:cs typeface="Calibri"/>
              </a:rPr>
              <a:t> </a:t>
            </a:r>
            <a:r>
              <a:rPr sz="2000" dirty="0">
                <a:latin typeface="Calibri"/>
                <a:cs typeface="Calibri"/>
              </a:rPr>
              <a:t>without</a:t>
            </a:r>
            <a:r>
              <a:rPr sz="2000" spc="-45" dirty="0">
                <a:latin typeface="Calibri"/>
                <a:cs typeface="Calibri"/>
              </a:rPr>
              <a:t> </a:t>
            </a:r>
            <a:r>
              <a:rPr sz="2000" dirty="0">
                <a:latin typeface="Calibri"/>
                <a:cs typeface="Calibri"/>
              </a:rPr>
              <a:t>completing</a:t>
            </a:r>
            <a:r>
              <a:rPr sz="2000" spc="-55" dirty="0">
                <a:latin typeface="Calibri"/>
                <a:cs typeface="Calibri"/>
              </a:rPr>
              <a:t> </a:t>
            </a:r>
            <a:r>
              <a:rPr sz="2000" spc="-10" dirty="0">
                <a:latin typeface="Calibri"/>
                <a:cs typeface="Calibri"/>
              </a:rPr>
              <a:t>down.</a:t>
            </a:r>
            <a:endParaRPr sz="2000" dirty="0">
              <a:latin typeface="Calibri"/>
              <a:cs typeface="Calibri"/>
            </a:endParaRPr>
          </a:p>
          <a:p>
            <a:pPr marL="355600" marR="6350" indent="-342900">
              <a:lnSpc>
                <a:spcPts val="2110"/>
              </a:lnSpc>
              <a:spcBef>
                <a:spcPts val="509"/>
              </a:spcBef>
              <a:buChar char="•"/>
              <a:tabLst>
                <a:tab pos="355600" algn="l"/>
                <a:tab pos="417830" algn="l"/>
              </a:tabLst>
            </a:pPr>
            <a:r>
              <a:rPr sz="2200" dirty="0">
                <a:latin typeface="Arial"/>
                <a:cs typeface="Arial"/>
              </a:rPr>
              <a:t>	</a:t>
            </a:r>
            <a:r>
              <a:rPr sz="2200" b="1" dirty="0">
                <a:latin typeface="Calibri"/>
                <a:cs typeface="Calibri"/>
              </a:rPr>
              <a:t>Checking</a:t>
            </a:r>
            <a:r>
              <a:rPr sz="2200" b="1" spc="459" dirty="0">
                <a:latin typeface="Calibri"/>
                <a:cs typeface="Calibri"/>
              </a:rPr>
              <a:t> </a:t>
            </a:r>
            <a:r>
              <a:rPr sz="2200" b="1" dirty="0">
                <a:latin typeface="Calibri"/>
                <a:cs typeface="Calibri"/>
              </a:rPr>
              <a:t>value,</a:t>
            </a:r>
            <a:r>
              <a:rPr sz="2200" b="1" spc="445" dirty="0">
                <a:latin typeface="Calibri"/>
                <a:cs typeface="Calibri"/>
              </a:rPr>
              <a:t> </a:t>
            </a:r>
            <a:r>
              <a:rPr sz="2200" b="1" dirty="0">
                <a:latin typeface="Calibri"/>
                <a:cs typeface="Calibri"/>
              </a:rPr>
              <a:t>changing</a:t>
            </a:r>
            <a:r>
              <a:rPr sz="2200" b="1" spc="459" dirty="0">
                <a:latin typeface="Calibri"/>
                <a:cs typeface="Calibri"/>
              </a:rPr>
              <a:t> </a:t>
            </a:r>
            <a:r>
              <a:rPr sz="2200" b="1" dirty="0">
                <a:latin typeface="Calibri"/>
                <a:cs typeface="Calibri"/>
              </a:rPr>
              <a:t>it,</a:t>
            </a:r>
            <a:r>
              <a:rPr sz="2200" b="1" spc="455" dirty="0">
                <a:latin typeface="Calibri"/>
                <a:cs typeface="Calibri"/>
              </a:rPr>
              <a:t> </a:t>
            </a:r>
            <a:r>
              <a:rPr sz="2200" b="1" dirty="0">
                <a:latin typeface="Calibri"/>
                <a:cs typeface="Calibri"/>
              </a:rPr>
              <a:t>and</a:t>
            </a:r>
            <a:r>
              <a:rPr sz="2200" b="1" spc="450" dirty="0">
                <a:latin typeface="Calibri"/>
                <a:cs typeface="Calibri"/>
              </a:rPr>
              <a:t> </a:t>
            </a:r>
            <a:r>
              <a:rPr sz="2200" b="1" dirty="0">
                <a:latin typeface="Calibri"/>
                <a:cs typeface="Calibri"/>
              </a:rPr>
              <a:t>possibly</a:t>
            </a:r>
            <a:r>
              <a:rPr sz="2200" b="1" spc="455" dirty="0">
                <a:latin typeface="Calibri"/>
                <a:cs typeface="Calibri"/>
              </a:rPr>
              <a:t> </a:t>
            </a:r>
            <a:r>
              <a:rPr sz="2200" b="1" dirty="0">
                <a:latin typeface="Calibri"/>
                <a:cs typeface="Calibri"/>
              </a:rPr>
              <a:t>going</a:t>
            </a:r>
            <a:r>
              <a:rPr sz="2200" b="1" spc="455" dirty="0">
                <a:latin typeface="Calibri"/>
                <a:cs typeface="Calibri"/>
              </a:rPr>
              <a:t> </a:t>
            </a:r>
            <a:r>
              <a:rPr sz="2200" b="1" dirty="0">
                <a:latin typeface="Calibri"/>
                <a:cs typeface="Calibri"/>
              </a:rPr>
              <a:t>to</a:t>
            </a:r>
            <a:r>
              <a:rPr sz="2200" b="1" spc="450" dirty="0">
                <a:latin typeface="Calibri"/>
                <a:cs typeface="Calibri"/>
              </a:rPr>
              <a:t> </a:t>
            </a:r>
            <a:r>
              <a:rPr sz="2200" b="1" dirty="0">
                <a:latin typeface="Calibri"/>
                <a:cs typeface="Calibri"/>
              </a:rPr>
              <a:t>sleep,</a:t>
            </a:r>
            <a:r>
              <a:rPr sz="2200" b="1" spc="450" dirty="0">
                <a:latin typeface="Calibri"/>
                <a:cs typeface="Calibri"/>
              </a:rPr>
              <a:t> </a:t>
            </a:r>
            <a:r>
              <a:rPr sz="2200" b="1" dirty="0">
                <a:latin typeface="Calibri"/>
                <a:cs typeface="Calibri"/>
              </a:rPr>
              <a:t>is</a:t>
            </a:r>
            <a:r>
              <a:rPr sz="2200" b="1" spc="475" dirty="0">
                <a:latin typeface="Calibri"/>
                <a:cs typeface="Calibri"/>
              </a:rPr>
              <a:t> </a:t>
            </a:r>
            <a:r>
              <a:rPr sz="2200" b="1" spc="-25" dirty="0">
                <a:latin typeface="Calibri"/>
                <a:cs typeface="Calibri"/>
              </a:rPr>
              <a:t>all </a:t>
            </a:r>
            <a:r>
              <a:rPr sz="2200" b="1" dirty="0">
                <a:latin typeface="Calibri"/>
                <a:cs typeface="Calibri"/>
              </a:rPr>
              <a:t>done</a:t>
            </a:r>
            <a:r>
              <a:rPr sz="2200" b="1" spc="-35" dirty="0">
                <a:latin typeface="Calibri"/>
                <a:cs typeface="Calibri"/>
              </a:rPr>
              <a:t> </a:t>
            </a:r>
            <a:r>
              <a:rPr sz="2200" b="1" dirty="0">
                <a:latin typeface="Calibri"/>
                <a:cs typeface="Calibri"/>
              </a:rPr>
              <a:t>as</a:t>
            </a:r>
            <a:r>
              <a:rPr sz="2200" b="1" spc="-30" dirty="0">
                <a:latin typeface="Calibri"/>
                <a:cs typeface="Calibri"/>
              </a:rPr>
              <a:t> </a:t>
            </a:r>
            <a:r>
              <a:rPr sz="2200" b="1" dirty="0">
                <a:latin typeface="Calibri"/>
                <a:cs typeface="Calibri"/>
              </a:rPr>
              <a:t>single</a:t>
            </a:r>
            <a:r>
              <a:rPr sz="2200" b="1" spc="-30" dirty="0">
                <a:latin typeface="Calibri"/>
                <a:cs typeface="Calibri"/>
              </a:rPr>
              <a:t> </a:t>
            </a:r>
            <a:r>
              <a:rPr sz="2200" b="1" spc="-10" dirty="0">
                <a:latin typeface="Calibri"/>
                <a:cs typeface="Calibri"/>
              </a:rPr>
              <a:t>action.</a:t>
            </a:r>
            <a:endParaRPr sz="2200" dirty="0">
              <a:latin typeface="Calibri"/>
              <a:cs typeface="Calibri"/>
            </a:endParaRPr>
          </a:p>
          <a:p>
            <a:pPr marL="754380" marR="6350" lvl="1" indent="-285115" algn="just">
              <a:lnSpc>
                <a:spcPts val="1920"/>
              </a:lnSpc>
              <a:spcBef>
                <a:spcPts val="490"/>
              </a:spcBef>
              <a:buFont typeface="Arial"/>
              <a:buChar char="–"/>
              <a:tabLst>
                <a:tab pos="756285" algn="l"/>
              </a:tabLst>
            </a:pPr>
            <a:r>
              <a:rPr sz="2000" dirty="0">
                <a:latin typeface="Calibri"/>
                <a:cs typeface="Calibri"/>
              </a:rPr>
              <a:t>Up:</a:t>
            </a:r>
            <a:r>
              <a:rPr sz="2000" spc="330" dirty="0">
                <a:latin typeface="Calibri"/>
                <a:cs typeface="Calibri"/>
              </a:rPr>
              <a:t> </a:t>
            </a:r>
            <a:r>
              <a:rPr sz="2000" dirty="0">
                <a:latin typeface="Calibri"/>
                <a:cs typeface="Calibri"/>
              </a:rPr>
              <a:t>increments</a:t>
            </a:r>
            <a:r>
              <a:rPr sz="2000" spc="330" dirty="0">
                <a:latin typeface="Calibri"/>
                <a:cs typeface="Calibri"/>
              </a:rPr>
              <a:t> </a:t>
            </a:r>
            <a:r>
              <a:rPr sz="2000" dirty="0">
                <a:latin typeface="Calibri"/>
                <a:cs typeface="Calibri"/>
              </a:rPr>
              <a:t>the</a:t>
            </a:r>
            <a:r>
              <a:rPr sz="2000" spc="330" dirty="0">
                <a:latin typeface="Calibri"/>
                <a:cs typeface="Calibri"/>
              </a:rPr>
              <a:t> </a:t>
            </a:r>
            <a:r>
              <a:rPr sz="2000" dirty="0">
                <a:latin typeface="Calibri"/>
                <a:cs typeface="Calibri"/>
              </a:rPr>
              <a:t>value;</a:t>
            </a:r>
            <a:r>
              <a:rPr sz="2000" spc="325" dirty="0">
                <a:latin typeface="Calibri"/>
                <a:cs typeface="Calibri"/>
              </a:rPr>
              <a:t> </a:t>
            </a:r>
            <a:r>
              <a:rPr sz="2000" dirty="0">
                <a:latin typeface="Calibri"/>
                <a:cs typeface="Calibri"/>
              </a:rPr>
              <a:t>if</a:t>
            </a:r>
            <a:r>
              <a:rPr sz="2000" spc="335" dirty="0">
                <a:latin typeface="Calibri"/>
                <a:cs typeface="Calibri"/>
              </a:rPr>
              <a:t> </a:t>
            </a:r>
            <a:r>
              <a:rPr sz="2000" dirty="0">
                <a:latin typeface="Calibri"/>
                <a:cs typeface="Calibri"/>
              </a:rPr>
              <a:t>one</a:t>
            </a:r>
            <a:r>
              <a:rPr sz="2000" spc="320" dirty="0">
                <a:latin typeface="Calibri"/>
                <a:cs typeface="Calibri"/>
              </a:rPr>
              <a:t> </a:t>
            </a:r>
            <a:r>
              <a:rPr sz="2000" dirty="0">
                <a:latin typeface="Calibri"/>
                <a:cs typeface="Calibri"/>
              </a:rPr>
              <a:t>or</a:t>
            </a:r>
            <a:r>
              <a:rPr sz="2000" spc="330" dirty="0">
                <a:latin typeface="Calibri"/>
                <a:cs typeface="Calibri"/>
              </a:rPr>
              <a:t> </a:t>
            </a:r>
            <a:r>
              <a:rPr sz="2000" dirty="0">
                <a:latin typeface="Calibri"/>
                <a:cs typeface="Calibri"/>
              </a:rPr>
              <a:t>more</a:t>
            </a:r>
            <a:r>
              <a:rPr sz="2000" spc="320" dirty="0">
                <a:latin typeface="Calibri"/>
                <a:cs typeface="Calibri"/>
              </a:rPr>
              <a:t> </a:t>
            </a:r>
            <a:r>
              <a:rPr sz="2000" dirty="0">
                <a:latin typeface="Calibri"/>
                <a:cs typeface="Calibri"/>
              </a:rPr>
              <a:t>processes</a:t>
            </a:r>
            <a:r>
              <a:rPr sz="2000" spc="330" dirty="0">
                <a:latin typeface="Calibri"/>
                <a:cs typeface="Calibri"/>
              </a:rPr>
              <a:t> </a:t>
            </a:r>
            <a:r>
              <a:rPr sz="2000" dirty="0">
                <a:latin typeface="Calibri"/>
                <a:cs typeface="Calibri"/>
              </a:rPr>
              <a:t>were</a:t>
            </a:r>
            <a:r>
              <a:rPr sz="2000" spc="330" dirty="0">
                <a:latin typeface="Calibri"/>
                <a:cs typeface="Calibri"/>
              </a:rPr>
              <a:t> </a:t>
            </a:r>
            <a:r>
              <a:rPr sz="2000" spc="-10" dirty="0">
                <a:latin typeface="Calibri"/>
                <a:cs typeface="Calibri"/>
              </a:rPr>
              <a:t>sleeping, 	</a:t>
            </a:r>
            <a:r>
              <a:rPr sz="2000" dirty="0">
                <a:latin typeface="Calibri"/>
                <a:cs typeface="Calibri"/>
              </a:rPr>
              <a:t>unable</a:t>
            </a:r>
            <a:r>
              <a:rPr sz="2000" spc="-35" dirty="0">
                <a:latin typeface="Calibri"/>
                <a:cs typeface="Calibri"/>
              </a:rPr>
              <a:t> </a:t>
            </a:r>
            <a:r>
              <a:rPr sz="2000" dirty="0">
                <a:latin typeface="Calibri"/>
                <a:cs typeface="Calibri"/>
              </a:rPr>
              <a:t>to</a:t>
            </a:r>
            <a:r>
              <a:rPr sz="2000" spc="-40" dirty="0">
                <a:latin typeface="Calibri"/>
                <a:cs typeface="Calibri"/>
              </a:rPr>
              <a:t> </a:t>
            </a:r>
            <a:r>
              <a:rPr sz="2000" dirty="0">
                <a:latin typeface="Calibri"/>
                <a:cs typeface="Calibri"/>
              </a:rPr>
              <a:t>complete</a:t>
            </a:r>
            <a:r>
              <a:rPr sz="2000" spc="-25" dirty="0">
                <a:latin typeface="Calibri"/>
                <a:cs typeface="Calibri"/>
              </a:rPr>
              <a:t> </a:t>
            </a:r>
            <a:r>
              <a:rPr sz="2000" dirty="0">
                <a:latin typeface="Calibri"/>
                <a:cs typeface="Calibri"/>
              </a:rPr>
              <a:t>earlier</a:t>
            </a:r>
            <a:r>
              <a:rPr sz="2000" spc="-25" dirty="0">
                <a:latin typeface="Calibri"/>
                <a:cs typeface="Calibri"/>
              </a:rPr>
              <a:t> </a:t>
            </a:r>
            <a:r>
              <a:rPr sz="2000" dirty="0">
                <a:latin typeface="Calibri"/>
                <a:cs typeface="Calibri"/>
              </a:rPr>
              <a:t>down</a:t>
            </a:r>
            <a:r>
              <a:rPr sz="2000" spc="-40" dirty="0">
                <a:latin typeface="Calibri"/>
                <a:cs typeface="Calibri"/>
              </a:rPr>
              <a:t> </a:t>
            </a:r>
            <a:r>
              <a:rPr sz="2000" dirty="0">
                <a:latin typeface="Calibri"/>
                <a:cs typeface="Calibri"/>
              </a:rPr>
              <a:t>operation,</a:t>
            </a:r>
            <a:r>
              <a:rPr sz="2000" spc="-20" dirty="0">
                <a:latin typeface="Calibri"/>
                <a:cs typeface="Calibri"/>
              </a:rPr>
              <a:t> </a:t>
            </a:r>
            <a:r>
              <a:rPr sz="2000" dirty="0">
                <a:latin typeface="Calibri"/>
                <a:cs typeface="Calibri"/>
              </a:rPr>
              <a:t>one</a:t>
            </a:r>
            <a:r>
              <a:rPr sz="2000" spc="-30" dirty="0">
                <a:latin typeface="Calibri"/>
                <a:cs typeface="Calibri"/>
              </a:rPr>
              <a:t> </a:t>
            </a:r>
            <a:r>
              <a:rPr sz="2000" dirty="0">
                <a:latin typeface="Calibri"/>
                <a:cs typeface="Calibri"/>
              </a:rPr>
              <a:t>of</a:t>
            </a:r>
            <a:r>
              <a:rPr sz="2000" spc="-40" dirty="0">
                <a:latin typeface="Calibri"/>
                <a:cs typeface="Calibri"/>
              </a:rPr>
              <a:t> </a:t>
            </a:r>
            <a:r>
              <a:rPr sz="2000" dirty="0">
                <a:latin typeface="Calibri"/>
                <a:cs typeface="Calibri"/>
              </a:rPr>
              <a:t>them</a:t>
            </a:r>
            <a:r>
              <a:rPr sz="2000" spc="-25" dirty="0">
                <a:latin typeface="Calibri"/>
                <a:cs typeface="Calibri"/>
              </a:rPr>
              <a:t> </a:t>
            </a:r>
            <a:r>
              <a:rPr sz="2000" dirty="0">
                <a:latin typeface="Calibri"/>
                <a:cs typeface="Calibri"/>
              </a:rPr>
              <a:t>is</a:t>
            </a:r>
            <a:r>
              <a:rPr sz="2000" spc="-30" dirty="0">
                <a:latin typeface="Calibri"/>
                <a:cs typeface="Calibri"/>
              </a:rPr>
              <a:t> </a:t>
            </a:r>
            <a:r>
              <a:rPr sz="2000" dirty="0">
                <a:latin typeface="Calibri"/>
                <a:cs typeface="Calibri"/>
              </a:rPr>
              <a:t>chosen</a:t>
            </a:r>
            <a:r>
              <a:rPr sz="2000" spc="-25" dirty="0">
                <a:latin typeface="Calibri"/>
                <a:cs typeface="Calibri"/>
              </a:rPr>
              <a:t> and 	</a:t>
            </a:r>
            <a:r>
              <a:rPr sz="2000" dirty="0">
                <a:latin typeface="Calibri"/>
                <a:cs typeface="Calibri"/>
              </a:rPr>
              <a:t>is</a:t>
            </a:r>
            <a:r>
              <a:rPr sz="2000" spc="-50" dirty="0">
                <a:latin typeface="Calibri"/>
                <a:cs typeface="Calibri"/>
              </a:rPr>
              <a:t> </a:t>
            </a:r>
            <a:r>
              <a:rPr sz="2000" dirty="0">
                <a:latin typeface="Calibri"/>
                <a:cs typeface="Calibri"/>
              </a:rPr>
              <a:t>allowed</a:t>
            </a:r>
            <a:r>
              <a:rPr sz="2000" spc="-55" dirty="0">
                <a:latin typeface="Calibri"/>
                <a:cs typeface="Calibri"/>
              </a:rPr>
              <a:t> </a:t>
            </a:r>
            <a:r>
              <a:rPr sz="2000" dirty="0">
                <a:latin typeface="Calibri"/>
                <a:cs typeface="Calibri"/>
              </a:rPr>
              <a:t>to</a:t>
            </a:r>
            <a:r>
              <a:rPr sz="2000" spc="-50" dirty="0">
                <a:latin typeface="Calibri"/>
                <a:cs typeface="Calibri"/>
              </a:rPr>
              <a:t> </a:t>
            </a:r>
            <a:r>
              <a:rPr sz="2000" dirty="0">
                <a:latin typeface="Calibri"/>
                <a:cs typeface="Calibri"/>
              </a:rPr>
              <a:t>complete</a:t>
            </a:r>
            <a:r>
              <a:rPr sz="2000" spc="-45" dirty="0">
                <a:latin typeface="Calibri"/>
                <a:cs typeface="Calibri"/>
              </a:rPr>
              <a:t> </a:t>
            </a:r>
            <a:r>
              <a:rPr sz="2000" dirty="0">
                <a:latin typeface="Calibri"/>
                <a:cs typeface="Calibri"/>
              </a:rPr>
              <a:t>its</a:t>
            </a:r>
            <a:r>
              <a:rPr sz="2000" spc="-45" dirty="0">
                <a:latin typeface="Calibri"/>
                <a:cs typeface="Calibri"/>
              </a:rPr>
              <a:t> </a:t>
            </a:r>
            <a:r>
              <a:rPr sz="2000" spc="-10" dirty="0">
                <a:latin typeface="Calibri"/>
                <a:cs typeface="Calibri"/>
              </a:rPr>
              <a:t>down.</a:t>
            </a:r>
            <a:endParaRPr sz="2000" dirty="0">
              <a:latin typeface="Calibri"/>
              <a:cs typeface="Calibri"/>
            </a:endParaRPr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13335" rIns="0" bIns="0" rtlCol="0">
            <a:spAutoFit/>
          </a:bodyPr>
          <a:lstStyle/>
          <a:p>
            <a:pPr marL="12700" algn="ctr" rtl="0">
              <a:spcBef>
                <a:spcPts val="105"/>
              </a:spcBef>
            </a:pPr>
            <a:r>
              <a:rPr sz="3200" b="1" dirty="0">
                <a:solidFill>
                  <a:sysClr val="windowText" lastClr="000000"/>
                </a:solidFill>
                <a:latin typeface="+mj-lt"/>
                <a:cs typeface="+mj-cs"/>
              </a:rPr>
              <a:t>Semaphore Operations</a:t>
            </a:r>
          </a:p>
        </p:txBody>
      </p:sp>
      <p:sp>
        <p:nvSpPr>
          <p:cNvPr id="4" name="object 4"/>
          <p:cNvSpPr txBox="1">
            <a:spLocks noGrp="1"/>
          </p:cNvSpPr>
          <p:nvPr>
            <p:ph type="ftr" sz="quarter" idx="5"/>
          </p:nvPr>
        </p:nvSpPr>
        <p:spPr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12700">
              <a:lnSpc>
                <a:spcPts val="1240"/>
              </a:lnSpc>
            </a:pPr>
            <a:r>
              <a:rPr lang="pl-PL"/>
              <a:t>By Dr. Binod Kr. Adhikari</a:t>
            </a:r>
            <a:endParaRPr spc="-10" dirty="0"/>
          </a:p>
        </p:txBody>
      </p:sp>
      <p:sp>
        <p:nvSpPr>
          <p:cNvPr id="3" name="object 3"/>
          <p:cNvSpPr txBox="1"/>
          <p:nvPr/>
        </p:nvSpPr>
        <p:spPr>
          <a:xfrm>
            <a:off x="535940" y="1561541"/>
            <a:ext cx="4815205" cy="4295140"/>
          </a:xfrm>
          <a:prstGeom prst="rect">
            <a:avLst/>
          </a:prstGeom>
        </p:spPr>
        <p:txBody>
          <a:bodyPr vert="horz" wrap="square" lIns="0" tIns="1333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5"/>
              </a:spcBef>
            </a:pPr>
            <a:r>
              <a:rPr sz="2000" dirty="0">
                <a:latin typeface="Calibri"/>
                <a:cs typeface="Calibri"/>
              </a:rPr>
              <a:t>void</a:t>
            </a:r>
            <a:r>
              <a:rPr sz="2000" spc="-65" dirty="0">
                <a:latin typeface="Calibri"/>
                <a:cs typeface="Calibri"/>
              </a:rPr>
              <a:t> </a:t>
            </a:r>
            <a:r>
              <a:rPr sz="2000" b="1" spc="-10" dirty="0">
                <a:latin typeface="Calibri"/>
                <a:cs typeface="Calibri"/>
              </a:rPr>
              <a:t>down</a:t>
            </a:r>
            <a:r>
              <a:rPr sz="2000" spc="-10" dirty="0">
                <a:latin typeface="Calibri"/>
                <a:cs typeface="Calibri"/>
              </a:rPr>
              <a:t>(S)</a:t>
            </a:r>
            <a:endParaRPr sz="2000" dirty="0">
              <a:latin typeface="Calibri"/>
              <a:cs typeface="Calibri"/>
            </a:endParaRPr>
          </a:p>
          <a:p>
            <a:pPr marL="12700">
              <a:lnSpc>
                <a:spcPct val="100000"/>
              </a:lnSpc>
              <a:spcBef>
                <a:spcPts val="5"/>
              </a:spcBef>
            </a:pPr>
            <a:r>
              <a:rPr sz="2000" spc="-50" dirty="0">
                <a:latin typeface="Calibri"/>
                <a:cs typeface="Calibri"/>
              </a:rPr>
              <a:t>{</a:t>
            </a:r>
            <a:endParaRPr sz="2000" dirty="0">
              <a:latin typeface="Calibri"/>
              <a:cs typeface="Calibri"/>
            </a:endParaRPr>
          </a:p>
          <a:p>
            <a:pPr marL="355600">
              <a:lnSpc>
                <a:spcPct val="100000"/>
              </a:lnSpc>
            </a:pPr>
            <a:r>
              <a:rPr sz="2000" dirty="0">
                <a:latin typeface="Calibri"/>
                <a:cs typeface="Calibri"/>
              </a:rPr>
              <a:t>if(S&gt;</a:t>
            </a:r>
            <a:r>
              <a:rPr sz="2000" spc="-50" dirty="0">
                <a:latin typeface="Calibri"/>
                <a:cs typeface="Calibri"/>
              </a:rPr>
              <a:t> </a:t>
            </a:r>
            <a:r>
              <a:rPr sz="2000" spc="-25" dirty="0">
                <a:latin typeface="Calibri"/>
                <a:cs typeface="Calibri"/>
              </a:rPr>
              <a:t>0)</a:t>
            </a:r>
            <a:endParaRPr sz="2000" dirty="0">
              <a:latin typeface="Calibri"/>
              <a:cs typeface="Calibri"/>
            </a:endParaRPr>
          </a:p>
          <a:p>
            <a:pPr marL="927100">
              <a:lnSpc>
                <a:spcPct val="100000"/>
              </a:lnSpc>
            </a:pPr>
            <a:r>
              <a:rPr sz="2000" spc="-10" dirty="0">
                <a:latin typeface="Calibri"/>
                <a:cs typeface="Calibri"/>
              </a:rPr>
              <a:t>S--</a:t>
            </a:r>
            <a:r>
              <a:rPr sz="2000" spc="-50" dirty="0">
                <a:latin typeface="Calibri"/>
                <a:cs typeface="Calibri"/>
              </a:rPr>
              <a:t>;</a:t>
            </a:r>
            <a:endParaRPr sz="2000" dirty="0">
              <a:latin typeface="Calibri"/>
              <a:cs typeface="Calibri"/>
            </a:endParaRPr>
          </a:p>
          <a:p>
            <a:pPr marL="355600">
              <a:lnSpc>
                <a:spcPct val="100000"/>
              </a:lnSpc>
            </a:pPr>
            <a:r>
              <a:rPr sz="2000" spc="-20" dirty="0">
                <a:latin typeface="Calibri"/>
                <a:cs typeface="Calibri"/>
              </a:rPr>
              <a:t>else</a:t>
            </a:r>
            <a:endParaRPr sz="2000" dirty="0">
              <a:latin typeface="Calibri"/>
              <a:cs typeface="Calibri"/>
            </a:endParaRPr>
          </a:p>
          <a:p>
            <a:pPr marL="410209">
              <a:lnSpc>
                <a:spcPct val="100000"/>
              </a:lnSpc>
            </a:pPr>
            <a:r>
              <a:rPr sz="2000" dirty="0">
                <a:latin typeface="Calibri"/>
                <a:cs typeface="Calibri"/>
              </a:rPr>
              <a:t>sleep();</a:t>
            </a:r>
            <a:r>
              <a:rPr sz="2000" spc="-50" dirty="0">
                <a:latin typeface="Calibri"/>
                <a:cs typeface="Calibri"/>
              </a:rPr>
              <a:t> </a:t>
            </a:r>
            <a:r>
              <a:rPr sz="2000" dirty="0">
                <a:latin typeface="Calibri"/>
                <a:cs typeface="Calibri"/>
              </a:rPr>
              <a:t>//wait</a:t>
            </a:r>
            <a:r>
              <a:rPr sz="2000" spc="-65" dirty="0">
                <a:latin typeface="Calibri"/>
                <a:cs typeface="Calibri"/>
              </a:rPr>
              <a:t> </a:t>
            </a:r>
            <a:r>
              <a:rPr sz="2000" dirty="0">
                <a:latin typeface="Calibri"/>
                <a:cs typeface="Calibri"/>
              </a:rPr>
              <a:t>until</a:t>
            </a:r>
            <a:r>
              <a:rPr sz="2000" spc="-70" dirty="0">
                <a:latin typeface="Calibri"/>
                <a:cs typeface="Calibri"/>
              </a:rPr>
              <a:t> </a:t>
            </a:r>
            <a:r>
              <a:rPr sz="2000" spc="-25" dirty="0">
                <a:latin typeface="Calibri"/>
                <a:cs typeface="Calibri"/>
              </a:rPr>
              <a:t>s&gt;0</a:t>
            </a:r>
            <a:endParaRPr sz="2000" dirty="0">
              <a:latin typeface="Calibri"/>
              <a:cs typeface="Calibri"/>
            </a:endParaRPr>
          </a:p>
          <a:p>
            <a:pPr marL="12700">
              <a:lnSpc>
                <a:spcPct val="100000"/>
              </a:lnSpc>
            </a:pPr>
            <a:r>
              <a:rPr sz="2000" spc="-50" dirty="0">
                <a:latin typeface="Calibri"/>
                <a:cs typeface="Calibri"/>
              </a:rPr>
              <a:t>}</a:t>
            </a:r>
            <a:endParaRPr sz="2000" dirty="0">
              <a:latin typeface="Calibri"/>
              <a:cs typeface="Calibri"/>
            </a:endParaRPr>
          </a:p>
          <a:p>
            <a:pPr marL="12700">
              <a:lnSpc>
                <a:spcPct val="100000"/>
              </a:lnSpc>
            </a:pPr>
            <a:r>
              <a:rPr sz="2000" dirty="0">
                <a:latin typeface="Calibri"/>
                <a:cs typeface="Calibri"/>
              </a:rPr>
              <a:t>void</a:t>
            </a:r>
            <a:r>
              <a:rPr sz="2000" spc="-40" dirty="0">
                <a:latin typeface="Calibri"/>
                <a:cs typeface="Calibri"/>
              </a:rPr>
              <a:t> </a:t>
            </a:r>
            <a:r>
              <a:rPr sz="2000" b="1" dirty="0">
                <a:latin typeface="Calibri"/>
                <a:cs typeface="Calibri"/>
              </a:rPr>
              <a:t>up</a:t>
            </a:r>
            <a:r>
              <a:rPr sz="2000" b="1" spc="-25" dirty="0">
                <a:latin typeface="Calibri"/>
                <a:cs typeface="Calibri"/>
              </a:rPr>
              <a:t> </a:t>
            </a:r>
            <a:r>
              <a:rPr sz="2000" spc="-25" dirty="0">
                <a:latin typeface="Calibri"/>
                <a:cs typeface="Calibri"/>
              </a:rPr>
              <a:t>(S)</a:t>
            </a:r>
            <a:endParaRPr sz="2000" dirty="0">
              <a:latin typeface="Calibri"/>
              <a:cs typeface="Calibri"/>
            </a:endParaRPr>
          </a:p>
          <a:p>
            <a:pPr marL="12700">
              <a:lnSpc>
                <a:spcPct val="100000"/>
              </a:lnSpc>
            </a:pPr>
            <a:r>
              <a:rPr sz="2000" spc="-50" dirty="0">
                <a:latin typeface="Calibri"/>
                <a:cs typeface="Calibri"/>
              </a:rPr>
              <a:t>{</a:t>
            </a:r>
            <a:endParaRPr sz="2000" dirty="0">
              <a:latin typeface="Calibri"/>
              <a:cs typeface="Calibri"/>
            </a:endParaRPr>
          </a:p>
          <a:p>
            <a:pPr marL="927100" marR="5080" indent="-572135">
              <a:lnSpc>
                <a:spcPct val="100000"/>
              </a:lnSpc>
              <a:spcBef>
                <a:spcPts val="5"/>
              </a:spcBef>
            </a:pPr>
            <a:r>
              <a:rPr sz="2000" dirty="0">
                <a:latin typeface="Calibri"/>
                <a:cs typeface="Calibri"/>
              </a:rPr>
              <a:t>if(one</a:t>
            </a:r>
            <a:r>
              <a:rPr sz="2000" spc="-65" dirty="0">
                <a:latin typeface="Calibri"/>
                <a:cs typeface="Calibri"/>
              </a:rPr>
              <a:t> </a:t>
            </a:r>
            <a:r>
              <a:rPr sz="2000" dirty="0">
                <a:latin typeface="Calibri"/>
                <a:cs typeface="Calibri"/>
              </a:rPr>
              <a:t>or</a:t>
            </a:r>
            <a:r>
              <a:rPr sz="2000" spc="-40" dirty="0">
                <a:latin typeface="Calibri"/>
                <a:cs typeface="Calibri"/>
              </a:rPr>
              <a:t> </a:t>
            </a:r>
            <a:r>
              <a:rPr sz="2000" dirty="0">
                <a:latin typeface="Calibri"/>
                <a:cs typeface="Calibri"/>
              </a:rPr>
              <a:t>more</a:t>
            </a:r>
            <a:r>
              <a:rPr sz="2000" spc="-45" dirty="0">
                <a:latin typeface="Calibri"/>
                <a:cs typeface="Calibri"/>
              </a:rPr>
              <a:t> </a:t>
            </a:r>
            <a:r>
              <a:rPr sz="2000" dirty="0">
                <a:latin typeface="Calibri"/>
                <a:cs typeface="Calibri"/>
              </a:rPr>
              <a:t>processes</a:t>
            </a:r>
            <a:r>
              <a:rPr sz="2000" spc="-30" dirty="0">
                <a:latin typeface="Calibri"/>
                <a:cs typeface="Calibri"/>
              </a:rPr>
              <a:t> </a:t>
            </a:r>
            <a:r>
              <a:rPr sz="2000" dirty="0">
                <a:latin typeface="Calibri"/>
                <a:cs typeface="Calibri"/>
              </a:rPr>
              <a:t>are</a:t>
            </a:r>
            <a:r>
              <a:rPr sz="2000" spc="-40" dirty="0">
                <a:latin typeface="Calibri"/>
                <a:cs typeface="Calibri"/>
              </a:rPr>
              <a:t> </a:t>
            </a:r>
            <a:r>
              <a:rPr sz="2000" dirty="0">
                <a:latin typeface="Calibri"/>
                <a:cs typeface="Calibri"/>
              </a:rPr>
              <a:t>sleeping</a:t>
            </a:r>
            <a:r>
              <a:rPr sz="2000" spc="-35" dirty="0">
                <a:latin typeface="Calibri"/>
                <a:cs typeface="Calibri"/>
              </a:rPr>
              <a:t> </a:t>
            </a:r>
            <a:r>
              <a:rPr sz="2000" dirty="0">
                <a:latin typeface="Calibri"/>
                <a:cs typeface="Calibri"/>
              </a:rPr>
              <a:t>on</a:t>
            </a:r>
            <a:r>
              <a:rPr sz="2000" spc="-40" dirty="0">
                <a:latin typeface="Calibri"/>
                <a:cs typeface="Calibri"/>
              </a:rPr>
              <a:t> </a:t>
            </a:r>
            <a:r>
              <a:rPr sz="2000" spc="-25" dirty="0">
                <a:latin typeface="Calibri"/>
                <a:cs typeface="Calibri"/>
              </a:rPr>
              <a:t>S) </a:t>
            </a:r>
            <a:r>
              <a:rPr sz="2000" dirty="0">
                <a:latin typeface="Calibri"/>
                <a:cs typeface="Calibri"/>
              </a:rPr>
              <a:t>one</a:t>
            </a:r>
            <a:r>
              <a:rPr sz="2000" spc="-60" dirty="0">
                <a:latin typeface="Calibri"/>
                <a:cs typeface="Calibri"/>
              </a:rPr>
              <a:t> </a:t>
            </a:r>
            <a:r>
              <a:rPr sz="2000" dirty="0">
                <a:latin typeface="Calibri"/>
                <a:cs typeface="Calibri"/>
              </a:rPr>
              <a:t>of</a:t>
            </a:r>
            <a:r>
              <a:rPr sz="2000" spc="-45" dirty="0">
                <a:latin typeface="Calibri"/>
                <a:cs typeface="Calibri"/>
              </a:rPr>
              <a:t> </a:t>
            </a:r>
            <a:r>
              <a:rPr sz="2000" dirty="0">
                <a:latin typeface="Calibri"/>
                <a:cs typeface="Calibri"/>
              </a:rPr>
              <a:t>these</a:t>
            </a:r>
            <a:r>
              <a:rPr sz="2000" spc="-35" dirty="0">
                <a:latin typeface="Calibri"/>
                <a:cs typeface="Calibri"/>
              </a:rPr>
              <a:t> </a:t>
            </a:r>
            <a:r>
              <a:rPr sz="2000" dirty="0">
                <a:latin typeface="Calibri"/>
                <a:cs typeface="Calibri"/>
              </a:rPr>
              <a:t>process</a:t>
            </a:r>
            <a:r>
              <a:rPr sz="2000" spc="-30" dirty="0">
                <a:latin typeface="Calibri"/>
                <a:cs typeface="Calibri"/>
              </a:rPr>
              <a:t> </a:t>
            </a:r>
            <a:r>
              <a:rPr sz="2000" dirty="0">
                <a:latin typeface="Calibri"/>
                <a:cs typeface="Calibri"/>
              </a:rPr>
              <a:t>is</a:t>
            </a:r>
            <a:r>
              <a:rPr sz="2000" spc="-30" dirty="0">
                <a:latin typeface="Calibri"/>
                <a:cs typeface="Calibri"/>
              </a:rPr>
              <a:t> </a:t>
            </a:r>
            <a:r>
              <a:rPr sz="2000" spc="-10" dirty="0">
                <a:latin typeface="Calibri"/>
                <a:cs typeface="Calibri"/>
              </a:rPr>
              <a:t>proceed;</a:t>
            </a:r>
            <a:endParaRPr sz="2000" dirty="0">
              <a:latin typeface="Calibri"/>
              <a:cs typeface="Calibri"/>
            </a:endParaRPr>
          </a:p>
          <a:p>
            <a:pPr marL="355600">
              <a:lnSpc>
                <a:spcPct val="100000"/>
              </a:lnSpc>
            </a:pPr>
            <a:r>
              <a:rPr sz="2000" spc="-20" dirty="0">
                <a:latin typeface="Calibri"/>
                <a:cs typeface="Calibri"/>
              </a:rPr>
              <a:t>else</a:t>
            </a:r>
            <a:endParaRPr sz="2000" dirty="0">
              <a:latin typeface="Calibri"/>
              <a:cs typeface="Calibri"/>
            </a:endParaRPr>
          </a:p>
          <a:p>
            <a:pPr marL="697230">
              <a:lnSpc>
                <a:spcPct val="100000"/>
              </a:lnSpc>
            </a:pPr>
            <a:r>
              <a:rPr sz="2000" spc="-20" dirty="0">
                <a:latin typeface="Calibri"/>
                <a:cs typeface="Calibri"/>
              </a:rPr>
              <a:t>S++;</a:t>
            </a:r>
            <a:endParaRPr sz="2000" dirty="0">
              <a:latin typeface="Calibri"/>
              <a:cs typeface="Calibri"/>
            </a:endParaRPr>
          </a:p>
          <a:p>
            <a:pPr marL="12700">
              <a:lnSpc>
                <a:spcPct val="100000"/>
              </a:lnSpc>
            </a:pPr>
            <a:r>
              <a:rPr sz="2000" spc="-50" dirty="0">
                <a:latin typeface="Calibri"/>
                <a:cs typeface="Calibri"/>
              </a:rPr>
              <a:t>}</a:t>
            </a:r>
            <a:endParaRPr sz="2000" dirty="0">
              <a:latin typeface="Calibri"/>
              <a:cs typeface="Calibri"/>
            </a:endParaRPr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13335" rIns="0" bIns="0" rtlCol="0">
            <a:spAutoFit/>
          </a:bodyPr>
          <a:lstStyle/>
          <a:p>
            <a:pPr marL="12700" algn="ctr" rtl="0">
              <a:spcBef>
                <a:spcPts val="105"/>
              </a:spcBef>
            </a:pPr>
            <a:r>
              <a:rPr sz="3200" b="1" dirty="0">
                <a:solidFill>
                  <a:sysClr val="windowText" lastClr="000000"/>
                </a:solidFill>
                <a:latin typeface="+mj-lt"/>
                <a:cs typeface="+mj-cs"/>
              </a:rPr>
              <a:t>Semaphore: Discussions</a:t>
            </a:r>
          </a:p>
        </p:txBody>
      </p:sp>
      <p:sp>
        <p:nvSpPr>
          <p:cNvPr id="3" name="object 3"/>
          <p:cNvSpPr txBox="1">
            <a:spLocks noGrp="1"/>
          </p:cNvSpPr>
          <p:nvPr>
            <p:ph type="body" idx="1"/>
          </p:nvPr>
        </p:nvSpPr>
        <p:spPr>
          <a:prstGeom prst="rect">
            <a:avLst/>
          </a:prstGeom>
        </p:spPr>
        <p:txBody>
          <a:bodyPr vert="horz" wrap="square" lIns="0" tIns="67945" rIns="0" bIns="0" rtlCol="0">
            <a:spAutoFit/>
          </a:bodyPr>
          <a:lstStyle/>
          <a:p>
            <a:pPr marL="354330" marR="5080" indent="-341630" algn="just">
              <a:lnSpc>
                <a:spcPts val="3460"/>
              </a:lnSpc>
              <a:spcBef>
                <a:spcPts val="535"/>
              </a:spcBef>
              <a:buFont typeface="Arial"/>
              <a:buChar char="•"/>
              <a:tabLst>
                <a:tab pos="355600" algn="l"/>
              </a:tabLst>
            </a:pPr>
            <a:r>
              <a:rPr dirty="0"/>
              <a:t>To</a:t>
            </a:r>
            <a:r>
              <a:rPr spc="70" dirty="0"/>
              <a:t> </a:t>
            </a:r>
            <a:r>
              <a:rPr dirty="0"/>
              <a:t>avoid</a:t>
            </a:r>
            <a:r>
              <a:rPr spc="70" dirty="0"/>
              <a:t> </a:t>
            </a:r>
            <a:r>
              <a:rPr dirty="0"/>
              <a:t>busy</a:t>
            </a:r>
            <a:r>
              <a:rPr spc="75" dirty="0"/>
              <a:t> </a:t>
            </a:r>
            <a:r>
              <a:rPr dirty="0"/>
              <a:t>waiting,</a:t>
            </a:r>
            <a:r>
              <a:rPr spc="75" dirty="0"/>
              <a:t> </a:t>
            </a:r>
            <a:r>
              <a:rPr dirty="0"/>
              <a:t>a</a:t>
            </a:r>
            <a:r>
              <a:rPr spc="75" dirty="0"/>
              <a:t> </a:t>
            </a:r>
            <a:r>
              <a:rPr dirty="0"/>
              <a:t>semaphore</a:t>
            </a:r>
            <a:r>
              <a:rPr spc="60" dirty="0"/>
              <a:t> </a:t>
            </a:r>
            <a:r>
              <a:rPr dirty="0"/>
              <a:t>may</a:t>
            </a:r>
            <a:r>
              <a:rPr spc="80" dirty="0"/>
              <a:t> </a:t>
            </a:r>
            <a:r>
              <a:rPr spc="-20" dirty="0"/>
              <a:t>have 	</a:t>
            </a:r>
            <a:r>
              <a:rPr dirty="0"/>
              <a:t>an</a:t>
            </a:r>
            <a:r>
              <a:rPr spc="-55" dirty="0"/>
              <a:t> </a:t>
            </a:r>
            <a:r>
              <a:rPr dirty="0"/>
              <a:t>associated</a:t>
            </a:r>
            <a:r>
              <a:rPr spc="-45" dirty="0"/>
              <a:t> </a:t>
            </a:r>
            <a:r>
              <a:rPr dirty="0"/>
              <a:t>waiting</a:t>
            </a:r>
            <a:r>
              <a:rPr spc="-35" dirty="0"/>
              <a:t> </a:t>
            </a:r>
            <a:r>
              <a:rPr dirty="0"/>
              <a:t>queue</a:t>
            </a:r>
            <a:r>
              <a:rPr spc="-55" dirty="0"/>
              <a:t> </a:t>
            </a:r>
            <a:r>
              <a:rPr dirty="0"/>
              <a:t>of</a:t>
            </a:r>
            <a:r>
              <a:rPr spc="-60" dirty="0"/>
              <a:t> </a:t>
            </a:r>
            <a:r>
              <a:rPr spc="-10" dirty="0"/>
              <a:t>process.</a:t>
            </a:r>
          </a:p>
          <a:p>
            <a:pPr marL="355600" marR="8255" indent="-342900" algn="just">
              <a:lnSpc>
                <a:spcPct val="90000"/>
              </a:lnSpc>
              <a:spcBef>
                <a:spcPts val="715"/>
              </a:spcBef>
              <a:buFont typeface="Arial"/>
              <a:buChar char="•"/>
              <a:tabLst>
                <a:tab pos="355600" algn="l"/>
              </a:tabLst>
            </a:pPr>
            <a:r>
              <a:rPr dirty="0"/>
              <a:t>If</a:t>
            </a:r>
            <a:r>
              <a:rPr spc="405" dirty="0"/>
              <a:t>  </a:t>
            </a:r>
            <a:r>
              <a:rPr dirty="0"/>
              <a:t>process</a:t>
            </a:r>
            <a:r>
              <a:rPr spc="409" dirty="0"/>
              <a:t>  </a:t>
            </a:r>
            <a:r>
              <a:rPr dirty="0"/>
              <a:t>does</a:t>
            </a:r>
            <a:r>
              <a:rPr spc="405" dirty="0"/>
              <a:t>  </a:t>
            </a:r>
            <a:r>
              <a:rPr dirty="0"/>
              <a:t>a</a:t>
            </a:r>
            <a:r>
              <a:rPr spc="409" dirty="0"/>
              <a:t>  </a:t>
            </a:r>
            <a:r>
              <a:rPr dirty="0"/>
              <a:t>down</a:t>
            </a:r>
            <a:r>
              <a:rPr spc="405" dirty="0"/>
              <a:t>  </a:t>
            </a:r>
            <a:r>
              <a:rPr dirty="0"/>
              <a:t>operation</a:t>
            </a:r>
            <a:r>
              <a:rPr spc="415" dirty="0"/>
              <a:t>  </a:t>
            </a:r>
            <a:r>
              <a:rPr dirty="0"/>
              <a:t>on</a:t>
            </a:r>
            <a:r>
              <a:rPr spc="409" dirty="0"/>
              <a:t>  </a:t>
            </a:r>
            <a:r>
              <a:rPr spc="-50" dirty="0"/>
              <a:t>a </a:t>
            </a:r>
            <a:r>
              <a:rPr dirty="0"/>
              <a:t>semaphore</a:t>
            </a:r>
            <a:r>
              <a:rPr spc="-10" dirty="0"/>
              <a:t> </a:t>
            </a:r>
            <a:r>
              <a:rPr dirty="0"/>
              <a:t>which</a:t>
            </a:r>
            <a:r>
              <a:rPr spc="-5" dirty="0"/>
              <a:t> </a:t>
            </a:r>
            <a:r>
              <a:rPr dirty="0"/>
              <a:t>is</a:t>
            </a:r>
            <a:r>
              <a:rPr spc="-20" dirty="0"/>
              <a:t> </a:t>
            </a:r>
            <a:r>
              <a:rPr dirty="0"/>
              <a:t>zero,</a:t>
            </a:r>
            <a:r>
              <a:rPr spc="-10" dirty="0"/>
              <a:t> </a:t>
            </a:r>
            <a:r>
              <a:rPr dirty="0"/>
              <a:t>the</a:t>
            </a:r>
            <a:r>
              <a:rPr spc="-10" dirty="0"/>
              <a:t> </a:t>
            </a:r>
            <a:r>
              <a:rPr dirty="0"/>
              <a:t>process</a:t>
            </a:r>
            <a:r>
              <a:rPr spc="-20" dirty="0"/>
              <a:t> </a:t>
            </a:r>
            <a:r>
              <a:rPr dirty="0"/>
              <a:t>is</a:t>
            </a:r>
            <a:r>
              <a:rPr spc="-10" dirty="0"/>
              <a:t> added </a:t>
            </a:r>
            <a:r>
              <a:rPr dirty="0"/>
              <a:t>to</a:t>
            </a:r>
            <a:r>
              <a:rPr spc="-50" dirty="0"/>
              <a:t> </a:t>
            </a:r>
            <a:r>
              <a:rPr dirty="0"/>
              <a:t>the</a:t>
            </a:r>
            <a:r>
              <a:rPr spc="-55" dirty="0"/>
              <a:t> </a:t>
            </a:r>
            <a:r>
              <a:rPr spc="-25" dirty="0"/>
              <a:t>semaphore’s</a:t>
            </a:r>
            <a:r>
              <a:rPr spc="-65" dirty="0"/>
              <a:t> </a:t>
            </a:r>
            <a:r>
              <a:rPr spc="-10" dirty="0"/>
              <a:t>queue.</a:t>
            </a:r>
          </a:p>
          <a:p>
            <a:pPr marL="354330" marR="5080" indent="-341630" algn="just">
              <a:lnSpc>
                <a:spcPct val="90000"/>
              </a:lnSpc>
              <a:spcBef>
                <a:spcPts val="770"/>
              </a:spcBef>
              <a:buFont typeface="Arial"/>
              <a:buChar char="•"/>
              <a:tabLst>
                <a:tab pos="355600" algn="l"/>
              </a:tabLst>
            </a:pPr>
            <a:r>
              <a:rPr dirty="0"/>
              <a:t>When</a:t>
            </a:r>
            <a:r>
              <a:rPr spc="395" dirty="0"/>
              <a:t>   </a:t>
            </a:r>
            <a:r>
              <a:rPr dirty="0"/>
              <a:t>another</a:t>
            </a:r>
            <a:r>
              <a:rPr spc="395" dirty="0"/>
              <a:t>   </a:t>
            </a:r>
            <a:r>
              <a:rPr dirty="0"/>
              <a:t>process</a:t>
            </a:r>
            <a:r>
              <a:rPr spc="395" dirty="0"/>
              <a:t>   </a:t>
            </a:r>
            <a:r>
              <a:rPr dirty="0"/>
              <a:t>increments</a:t>
            </a:r>
            <a:r>
              <a:rPr spc="400" dirty="0"/>
              <a:t>   </a:t>
            </a:r>
            <a:r>
              <a:rPr spc="-25" dirty="0"/>
              <a:t>the 	</a:t>
            </a:r>
            <a:r>
              <a:rPr dirty="0"/>
              <a:t>semaphore</a:t>
            </a:r>
            <a:r>
              <a:rPr spc="450" dirty="0"/>
              <a:t> </a:t>
            </a:r>
            <a:r>
              <a:rPr dirty="0"/>
              <a:t>by</a:t>
            </a:r>
            <a:r>
              <a:rPr spc="450" dirty="0"/>
              <a:t> </a:t>
            </a:r>
            <a:r>
              <a:rPr dirty="0"/>
              <a:t>doing</a:t>
            </a:r>
            <a:r>
              <a:rPr spc="445" dirty="0"/>
              <a:t> </a:t>
            </a:r>
            <a:r>
              <a:rPr dirty="0"/>
              <a:t>up</a:t>
            </a:r>
            <a:r>
              <a:rPr spc="440" dirty="0"/>
              <a:t> </a:t>
            </a:r>
            <a:r>
              <a:rPr dirty="0"/>
              <a:t>operation</a:t>
            </a:r>
            <a:r>
              <a:rPr spc="440" dirty="0"/>
              <a:t> </a:t>
            </a:r>
            <a:r>
              <a:rPr dirty="0"/>
              <a:t>and</a:t>
            </a:r>
            <a:r>
              <a:rPr spc="455" dirty="0"/>
              <a:t> </a:t>
            </a:r>
            <a:r>
              <a:rPr spc="-10" dirty="0"/>
              <a:t>there 	</a:t>
            </a:r>
            <a:r>
              <a:rPr dirty="0"/>
              <a:t>are</a:t>
            </a:r>
            <a:r>
              <a:rPr spc="645" dirty="0"/>
              <a:t> </a:t>
            </a:r>
            <a:r>
              <a:rPr dirty="0"/>
              <a:t>task</a:t>
            </a:r>
            <a:r>
              <a:rPr spc="635" dirty="0"/>
              <a:t> </a:t>
            </a:r>
            <a:r>
              <a:rPr dirty="0"/>
              <a:t>in</a:t>
            </a:r>
            <a:r>
              <a:rPr spc="650" dirty="0"/>
              <a:t> </a:t>
            </a:r>
            <a:r>
              <a:rPr dirty="0"/>
              <a:t>the</a:t>
            </a:r>
            <a:r>
              <a:rPr spc="650" dirty="0"/>
              <a:t> </a:t>
            </a:r>
            <a:r>
              <a:rPr dirty="0"/>
              <a:t>queue,</a:t>
            </a:r>
            <a:r>
              <a:rPr spc="635" dirty="0"/>
              <a:t> </a:t>
            </a:r>
            <a:r>
              <a:rPr dirty="0"/>
              <a:t>one</a:t>
            </a:r>
            <a:r>
              <a:rPr spc="640" dirty="0"/>
              <a:t> </a:t>
            </a:r>
            <a:r>
              <a:rPr dirty="0"/>
              <a:t>is</a:t>
            </a:r>
            <a:r>
              <a:rPr spc="655" dirty="0"/>
              <a:t> </a:t>
            </a:r>
            <a:r>
              <a:rPr dirty="0"/>
              <a:t>taken</a:t>
            </a:r>
            <a:r>
              <a:rPr spc="645" dirty="0"/>
              <a:t> </a:t>
            </a:r>
            <a:r>
              <a:rPr dirty="0"/>
              <a:t>off</a:t>
            </a:r>
            <a:r>
              <a:rPr spc="645" dirty="0"/>
              <a:t> </a:t>
            </a:r>
            <a:r>
              <a:rPr spc="-25" dirty="0"/>
              <a:t>and 	</a:t>
            </a:r>
            <a:r>
              <a:rPr spc="-10" dirty="0"/>
              <a:t>resumed.</a:t>
            </a:r>
          </a:p>
        </p:txBody>
      </p:sp>
      <p:sp>
        <p:nvSpPr>
          <p:cNvPr id="4" name="object 4"/>
          <p:cNvSpPr txBox="1">
            <a:spLocks noGrp="1"/>
          </p:cNvSpPr>
          <p:nvPr>
            <p:ph type="ftr" sz="quarter" idx="5"/>
          </p:nvPr>
        </p:nvSpPr>
        <p:spPr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12700">
              <a:lnSpc>
                <a:spcPts val="1240"/>
              </a:lnSpc>
            </a:pPr>
            <a:r>
              <a:rPr lang="pl-PL"/>
              <a:t>By Dr. Binod Kr. Adhikari</a:t>
            </a:r>
            <a:endParaRPr spc="-10" dirty="0"/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xfrm>
            <a:off x="535940" y="228600"/>
            <a:ext cx="8379460" cy="505908"/>
          </a:xfrm>
          <a:prstGeom prst="rect">
            <a:avLst/>
          </a:prstGeom>
        </p:spPr>
        <p:txBody>
          <a:bodyPr vert="horz" wrap="square" lIns="0" tIns="13335" rIns="0" bIns="0" rtlCol="0">
            <a:spAutoFit/>
          </a:bodyPr>
          <a:lstStyle/>
          <a:p>
            <a:pPr marL="12700" algn="ctr" rtl="0">
              <a:spcBef>
                <a:spcPts val="105"/>
              </a:spcBef>
            </a:pPr>
            <a:r>
              <a:rPr sz="3200" b="1" dirty="0">
                <a:solidFill>
                  <a:sysClr val="windowText" lastClr="000000"/>
                </a:solidFill>
                <a:latin typeface="+mj-lt"/>
                <a:cs typeface="+mj-cs"/>
              </a:rPr>
              <a:t>Consumer producer using Semaphore</a:t>
            </a:r>
          </a:p>
        </p:txBody>
      </p:sp>
      <p:sp>
        <p:nvSpPr>
          <p:cNvPr id="3" name="object 3"/>
          <p:cNvSpPr txBox="1"/>
          <p:nvPr/>
        </p:nvSpPr>
        <p:spPr>
          <a:xfrm>
            <a:off x="1054099" y="1220516"/>
            <a:ext cx="5460365" cy="466979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 marR="1464310" algn="just">
              <a:lnSpc>
                <a:spcPct val="120200"/>
              </a:lnSpc>
              <a:spcBef>
                <a:spcPts val="100"/>
              </a:spcBef>
            </a:pPr>
            <a:r>
              <a:rPr sz="1600" dirty="0">
                <a:latin typeface="Calibri"/>
                <a:cs typeface="Calibri"/>
              </a:rPr>
              <a:t>#define</a:t>
            </a:r>
            <a:r>
              <a:rPr sz="1600" spc="-50" dirty="0">
                <a:latin typeface="Calibri"/>
                <a:cs typeface="Calibri"/>
              </a:rPr>
              <a:t> </a:t>
            </a:r>
            <a:r>
              <a:rPr sz="1600" dirty="0">
                <a:latin typeface="Calibri"/>
                <a:cs typeface="Calibri"/>
              </a:rPr>
              <a:t>N</a:t>
            </a:r>
            <a:r>
              <a:rPr sz="1600" spc="-20" dirty="0">
                <a:latin typeface="Calibri"/>
                <a:cs typeface="Calibri"/>
              </a:rPr>
              <a:t> </a:t>
            </a:r>
            <a:r>
              <a:rPr sz="1600" dirty="0">
                <a:latin typeface="Calibri"/>
                <a:cs typeface="Calibri"/>
              </a:rPr>
              <a:t>100</a:t>
            </a:r>
            <a:r>
              <a:rPr sz="1600" spc="-20" dirty="0">
                <a:latin typeface="Calibri"/>
                <a:cs typeface="Calibri"/>
              </a:rPr>
              <a:t> </a:t>
            </a:r>
            <a:r>
              <a:rPr sz="1600" dirty="0">
                <a:latin typeface="Calibri"/>
                <a:cs typeface="Calibri"/>
              </a:rPr>
              <a:t>/*number</a:t>
            </a:r>
            <a:r>
              <a:rPr sz="1600" spc="-5" dirty="0">
                <a:latin typeface="Calibri"/>
                <a:cs typeface="Calibri"/>
              </a:rPr>
              <a:t> </a:t>
            </a:r>
            <a:r>
              <a:rPr sz="1600" dirty="0">
                <a:latin typeface="Calibri"/>
                <a:cs typeface="Calibri"/>
              </a:rPr>
              <a:t>of</a:t>
            </a:r>
            <a:r>
              <a:rPr sz="1600" spc="-40" dirty="0">
                <a:latin typeface="Calibri"/>
                <a:cs typeface="Calibri"/>
              </a:rPr>
              <a:t> </a:t>
            </a:r>
            <a:r>
              <a:rPr sz="1600" dirty="0">
                <a:latin typeface="Calibri"/>
                <a:cs typeface="Calibri"/>
              </a:rPr>
              <a:t>slots</a:t>
            </a:r>
            <a:r>
              <a:rPr sz="1600" spc="-35" dirty="0">
                <a:latin typeface="Calibri"/>
                <a:cs typeface="Calibri"/>
              </a:rPr>
              <a:t> </a:t>
            </a:r>
            <a:r>
              <a:rPr sz="1600" dirty="0">
                <a:latin typeface="Calibri"/>
                <a:cs typeface="Calibri"/>
              </a:rPr>
              <a:t>in</a:t>
            </a:r>
            <a:r>
              <a:rPr sz="1600" spc="-35" dirty="0">
                <a:latin typeface="Calibri"/>
                <a:cs typeface="Calibri"/>
              </a:rPr>
              <a:t> </a:t>
            </a:r>
            <a:r>
              <a:rPr sz="1600" spc="-10" dirty="0">
                <a:latin typeface="Calibri"/>
                <a:cs typeface="Calibri"/>
              </a:rPr>
              <a:t>buffer*/ </a:t>
            </a:r>
            <a:r>
              <a:rPr sz="1600" dirty="0">
                <a:latin typeface="Calibri"/>
                <a:cs typeface="Calibri"/>
              </a:rPr>
              <a:t>typedef</a:t>
            </a:r>
            <a:r>
              <a:rPr sz="1600" spc="-65" dirty="0">
                <a:latin typeface="Calibri"/>
                <a:cs typeface="Calibri"/>
              </a:rPr>
              <a:t> </a:t>
            </a:r>
            <a:r>
              <a:rPr sz="1600" dirty="0">
                <a:latin typeface="Calibri"/>
                <a:cs typeface="Calibri"/>
              </a:rPr>
              <a:t>int</a:t>
            </a:r>
            <a:r>
              <a:rPr sz="1600" spc="-70" dirty="0">
                <a:latin typeface="Calibri"/>
                <a:cs typeface="Calibri"/>
              </a:rPr>
              <a:t> </a:t>
            </a:r>
            <a:r>
              <a:rPr sz="1600" dirty="0">
                <a:latin typeface="Calibri"/>
                <a:cs typeface="Calibri"/>
              </a:rPr>
              <a:t>semaphore;</a:t>
            </a:r>
            <a:r>
              <a:rPr sz="1600" spc="-50" dirty="0">
                <a:latin typeface="Calibri"/>
                <a:cs typeface="Calibri"/>
              </a:rPr>
              <a:t> </a:t>
            </a:r>
            <a:r>
              <a:rPr sz="1600" dirty="0">
                <a:latin typeface="Calibri"/>
                <a:cs typeface="Calibri"/>
              </a:rPr>
              <a:t>/*defining</a:t>
            </a:r>
            <a:r>
              <a:rPr sz="1600" spc="-80" dirty="0">
                <a:latin typeface="Calibri"/>
                <a:cs typeface="Calibri"/>
              </a:rPr>
              <a:t> </a:t>
            </a:r>
            <a:r>
              <a:rPr sz="1600" spc="-10" dirty="0">
                <a:latin typeface="Calibri"/>
                <a:cs typeface="Calibri"/>
              </a:rPr>
              <a:t>semaphore*/</a:t>
            </a:r>
            <a:endParaRPr sz="1600" dirty="0">
              <a:latin typeface="Calibri"/>
              <a:cs typeface="Calibri"/>
            </a:endParaRPr>
          </a:p>
          <a:p>
            <a:pPr marL="12700" marR="1104900" algn="just">
              <a:lnSpc>
                <a:spcPct val="120000"/>
              </a:lnSpc>
            </a:pPr>
            <a:r>
              <a:rPr sz="1600" dirty="0">
                <a:latin typeface="Calibri"/>
                <a:cs typeface="Calibri"/>
              </a:rPr>
              <a:t>semaphore</a:t>
            </a:r>
            <a:r>
              <a:rPr sz="1600" spc="-20" dirty="0">
                <a:latin typeface="Calibri"/>
                <a:cs typeface="Calibri"/>
              </a:rPr>
              <a:t> </a:t>
            </a:r>
            <a:r>
              <a:rPr sz="1600" dirty="0">
                <a:latin typeface="Calibri"/>
                <a:cs typeface="Calibri"/>
              </a:rPr>
              <a:t>mutex</a:t>
            </a:r>
            <a:r>
              <a:rPr sz="1600" spc="-40" dirty="0">
                <a:latin typeface="Calibri"/>
                <a:cs typeface="Calibri"/>
              </a:rPr>
              <a:t> </a:t>
            </a:r>
            <a:r>
              <a:rPr sz="1600" dirty="0">
                <a:latin typeface="Calibri"/>
                <a:cs typeface="Calibri"/>
              </a:rPr>
              <a:t>=</a:t>
            </a:r>
            <a:r>
              <a:rPr sz="1600" spc="-45" dirty="0">
                <a:latin typeface="Calibri"/>
                <a:cs typeface="Calibri"/>
              </a:rPr>
              <a:t> </a:t>
            </a:r>
            <a:r>
              <a:rPr sz="1600" dirty="0">
                <a:latin typeface="Calibri"/>
                <a:cs typeface="Calibri"/>
              </a:rPr>
              <a:t>1;</a:t>
            </a:r>
            <a:r>
              <a:rPr sz="1600" spc="-25" dirty="0">
                <a:latin typeface="Calibri"/>
                <a:cs typeface="Calibri"/>
              </a:rPr>
              <a:t> </a:t>
            </a:r>
            <a:r>
              <a:rPr sz="1600" dirty="0">
                <a:latin typeface="Calibri"/>
                <a:cs typeface="Calibri"/>
              </a:rPr>
              <a:t>/*</a:t>
            </a:r>
            <a:r>
              <a:rPr sz="1600" spc="-40" dirty="0">
                <a:latin typeface="Calibri"/>
                <a:cs typeface="Calibri"/>
              </a:rPr>
              <a:t> </a:t>
            </a:r>
            <a:r>
              <a:rPr sz="1600" spc="-10" dirty="0">
                <a:latin typeface="Calibri"/>
                <a:cs typeface="Calibri"/>
              </a:rPr>
              <a:t>control</a:t>
            </a:r>
            <a:r>
              <a:rPr sz="1600" spc="-30" dirty="0">
                <a:latin typeface="Calibri"/>
                <a:cs typeface="Calibri"/>
              </a:rPr>
              <a:t> </a:t>
            </a:r>
            <a:r>
              <a:rPr sz="1600" dirty="0">
                <a:latin typeface="Calibri"/>
                <a:cs typeface="Calibri"/>
              </a:rPr>
              <a:t>access</a:t>
            </a:r>
            <a:r>
              <a:rPr sz="1600" spc="-30" dirty="0">
                <a:latin typeface="Calibri"/>
                <a:cs typeface="Calibri"/>
              </a:rPr>
              <a:t> </a:t>
            </a:r>
            <a:r>
              <a:rPr sz="1600" dirty="0">
                <a:latin typeface="Calibri"/>
                <a:cs typeface="Calibri"/>
              </a:rPr>
              <a:t>to</a:t>
            </a:r>
            <a:r>
              <a:rPr sz="1600" spc="-35" dirty="0">
                <a:latin typeface="Calibri"/>
                <a:cs typeface="Calibri"/>
              </a:rPr>
              <a:t> </a:t>
            </a:r>
            <a:r>
              <a:rPr sz="1600" dirty="0">
                <a:latin typeface="Calibri"/>
                <a:cs typeface="Calibri"/>
              </a:rPr>
              <a:t>the</a:t>
            </a:r>
            <a:r>
              <a:rPr sz="1600" spc="-45" dirty="0">
                <a:latin typeface="Calibri"/>
                <a:cs typeface="Calibri"/>
              </a:rPr>
              <a:t> </a:t>
            </a:r>
            <a:r>
              <a:rPr sz="1600" dirty="0">
                <a:latin typeface="Calibri"/>
                <a:cs typeface="Calibri"/>
              </a:rPr>
              <a:t>CR</a:t>
            </a:r>
            <a:r>
              <a:rPr sz="1600" spc="-30" dirty="0">
                <a:latin typeface="Calibri"/>
                <a:cs typeface="Calibri"/>
              </a:rPr>
              <a:t> </a:t>
            </a:r>
            <a:r>
              <a:rPr sz="1600" spc="-25" dirty="0">
                <a:latin typeface="Calibri"/>
                <a:cs typeface="Calibri"/>
              </a:rPr>
              <a:t>*/ </a:t>
            </a:r>
            <a:r>
              <a:rPr sz="1600" dirty="0">
                <a:latin typeface="Calibri"/>
                <a:cs typeface="Calibri"/>
              </a:rPr>
              <a:t>semaphore</a:t>
            </a:r>
            <a:r>
              <a:rPr sz="1600" spc="-35" dirty="0">
                <a:latin typeface="Calibri"/>
                <a:cs typeface="Calibri"/>
              </a:rPr>
              <a:t> </a:t>
            </a:r>
            <a:r>
              <a:rPr sz="1600" dirty="0">
                <a:latin typeface="Calibri"/>
                <a:cs typeface="Calibri"/>
              </a:rPr>
              <a:t>empty</a:t>
            </a:r>
            <a:r>
              <a:rPr sz="1600" spc="-45" dirty="0">
                <a:latin typeface="Calibri"/>
                <a:cs typeface="Calibri"/>
              </a:rPr>
              <a:t> </a:t>
            </a:r>
            <a:r>
              <a:rPr sz="1600" dirty="0">
                <a:latin typeface="Calibri"/>
                <a:cs typeface="Calibri"/>
              </a:rPr>
              <a:t>=</a:t>
            </a:r>
            <a:r>
              <a:rPr sz="1600" spc="-40" dirty="0">
                <a:latin typeface="Calibri"/>
                <a:cs typeface="Calibri"/>
              </a:rPr>
              <a:t> </a:t>
            </a:r>
            <a:r>
              <a:rPr sz="1600" dirty="0">
                <a:latin typeface="Calibri"/>
                <a:cs typeface="Calibri"/>
              </a:rPr>
              <a:t>N</a:t>
            </a:r>
            <a:r>
              <a:rPr sz="1600" spc="-40" dirty="0">
                <a:latin typeface="Calibri"/>
                <a:cs typeface="Calibri"/>
              </a:rPr>
              <a:t> </a:t>
            </a:r>
            <a:r>
              <a:rPr sz="1600" spc="-10" dirty="0">
                <a:latin typeface="Calibri"/>
                <a:cs typeface="Calibri"/>
              </a:rPr>
              <a:t>/*counts</a:t>
            </a:r>
            <a:r>
              <a:rPr sz="1600" spc="-40" dirty="0">
                <a:latin typeface="Calibri"/>
                <a:cs typeface="Calibri"/>
              </a:rPr>
              <a:t> </a:t>
            </a:r>
            <a:r>
              <a:rPr sz="1600" dirty="0">
                <a:latin typeface="Calibri"/>
                <a:cs typeface="Calibri"/>
              </a:rPr>
              <a:t>empty</a:t>
            </a:r>
            <a:r>
              <a:rPr sz="1600" spc="-35" dirty="0">
                <a:latin typeface="Calibri"/>
                <a:cs typeface="Calibri"/>
              </a:rPr>
              <a:t> </a:t>
            </a:r>
            <a:r>
              <a:rPr sz="1600" dirty="0">
                <a:latin typeface="Calibri"/>
                <a:cs typeface="Calibri"/>
              </a:rPr>
              <a:t>buffer</a:t>
            </a:r>
            <a:r>
              <a:rPr sz="1600" spc="-55" dirty="0">
                <a:latin typeface="Calibri"/>
                <a:cs typeface="Calibri"/>
              </a:rPr>
              <a:t> </a:t>
            </a:r>
            <a:r>
              <a:rPr sz="1600" spc="-10" dirty="0">
                <a:latin typeface="Calibri"/>
                <a:cs typeface="Calibri"/>
              </a:rPr>
              <a:t>slots*/ </a:t>
            </a:r>
            <a:r>
              <a:rPr sz="1600" dirty="0">
                <a:latin typeface="Calibri"/>
                <a:cs typeface="Calibri"/>
              </a:rPr>
              <a:t>semaphore</a:t>
            </a:r>
            <a:r>
              <a:rPr sz="1600" spc="-20" dirty="0">
                <a:latin typeface="Calibri"/>
                <a:cs typeface="Calibri"/>
              </a:rPr>
              <a:t> </a:t>
            </a:r>
            <a:r>
              <a:rPr sz="1600" dirty="0">
                <a:latin typeface="Calibri"/>
                <a:cs typeface="Calibri"/>
              </a:rPr>
              <a:t>full</a:t>
            </a:r>
            <a:r>
              <a:rPr sz="1600" spc="-55" dirty="0">
                <a:latin typeface="Calibri"/>
                <a:cs typeface="Calibri"/>
              </a:rPr>
              <a:t> </a:t>
            </a:r>
            <a:r>
              <a:rPr sz="1600" dirty="0">
                <a:latin typeface="Calibri"/>
                <a:cs typeface="Calibri"/>
              </a:rPr>
              <a:t>=</a:t>
            </a:r>
            <a:r>
              <a:rPr sz="1600" spc="-30" dirty="0">
                <a:latin typeface="Calibri"/>
                <a:cs typeface="Calibri"/>
              </a:rPr>
              <a:t> </a:t>
            </a:r>
            <a:r>
              <a:rPr sz="1600" dirty="0">
                <a:latin typeface="Calibri"/>
                <a:cs typeface="Calibri"/>
              </a:rPr>
              <a:t>0;</a:t>
            </a:r>
            <a:r>
              <a:rPr sz="1600" spc="-35" dirty="0">
                <a:latin typeface="Calibri"/>
                <a:cs typeface="Calibri"/>
              </a:rPr>
              <a:t> </a:t>
            </a:r>
            <a:r>
              <a:rPr sz="1600" spc="-10" dirty="0">
                <a:latin typeface="Calibri"/>
                <a:cs typeface="Calibri"/>
              </a:rPr>
              <a:t>/counts</a:t>
            </a:r>
            <a:r>
              <a:rPr sz="1600" spc="-35" dirty="0">
                <a:latin typeface="Calibri"/>
                <a:cs typeface="Calibri"/>
              </a:rPr>
              <a:t> </a:t>
            </a:r>
            <a:r>
              <a:rPr sz="1600" dirty="0">
                <a:latin typeface="Calibri"/>
                <a:cs typeface="Calibri"/>
              </a:rPr>
              <a:t>full</a:t>
            </a:r>
            <a:r>
              <a:rPr sz="1600" spc="-55" dirty="0">
                <a:latin typeface="Calibri"/>
                <a:cs typeface="Calibri"/>
              </a:rPr>
              <a:t> </a:t>
            </a:r>
            <a:r>
              <a:rPr sz="1600" dirty="0">
                <a:latin typeface="Calibri"/>
                <a:cs typeface="Calibri"/>
              </a:rPr>
              <a:t>buffer</a:t>
            </a:r>
            <a:r>
              <a:rPr sz="1600" spc="-40" dirty="0">
                <a:latin typeface="Calibri"/>
                <a:cs typeface="Calibri"/>
              </a:rPr>
              <a:t> </a:t>
            </a:r>
            <a:r>
              <a:rPr sz="1600" spc="-10" dirty="0">
                <a:latin typeface="Calibri"/>
                <a:cs typeface="Calibri"/>
              </a:rPr>
              <a:t>slots*/</a:t>
            </a:r>
            <a:endParaRPr sz="1600" dirty="0">
              <a:latin typeface="Calibri"/>
              <a:cs typeface="Calibri"/>
            </a:endParaRPr>
          </a:p>
          <a:p>
            <a:pPr marL="469900">
              <a:lnSpc>
                <a:spcPct val="100000"/>
              </a:lnSpc>
              <a:spcBef>
                <a:spcPts val="520"/>
              </a:spcBef>
            </a:pPr>
            <a:r>
              <a:rPr sz="2400" dirty="0">
                <a:latin typeface="Calibri"/>
                <a:cs typeface="Calibri"/>
              </a:rPr>
              <a:t>void</a:t>
            </a:r>
            <a:r>
              <a:rPr sz="2400" spc="-60" dirty="0">
                <a:latin typeface="Calibri"/>
                <a:cs typeface="Calibri"/>
              </a:rPr>
              <a:t> </a:t>
            </a:r>
            <a:r>
              <a:rPr sz="2400" spc="-10" dirty="0">
                <a:latin typeface="Calibri"/>
                <a:cs typeface="Calibri"/>
              </a:rPr>
              <a:t>producer(void)</a:t>
            </a:r>
            <a:endParaRPr sz="2400" dirty="0">
              <a:latin typeface="Calibri"/>
              <a:cs typeface="Calibri"/>
            </a:endParaRPr>
          </a:p>
          <a:p>
            <a:pPr marL="469900">
              <a:lnSpc>
                <a:spcPct val="100000"/>
              </a:lnSpc>
              <a:spcBef>
                <a:spcPts val="575"/>
              </a:spcBef>
            </a:pPr>
            <a:r>
              <a:rPr sz="2400" spc="-50" dirty="0">
                <a:latin typeface="Calibri"/>
                <a:cs typeface="Calibri"/>
              </a:rPr>
              <a:t>{</a:t>
            </a:r>
            <a:endParaRPr sz="2400" dirty="0">
              <a:latin typeface="Calibri"/>
              <a:cs typeface="Calibri"/>
            </a:endParaRPr>
          </a:p>
          <a:p>
            <a:pPr marL="927100">
              <a:lnSpc>
                <a:spcPct val="100000"/>
              </a:lnSpc>
              <a:spcBef>
                <a:spcPts val="470"/>
              </a:spcBef>
            </a:pPr>
            <a:r>
              <a:rPr sz="1800" dirty="0">
                <a:latin typeface="Calibri"/>
                <a:cs typeface="Calibri"/>
              </a:rPr>
              <a:t>int</a:t>
            </a:r>
            <a:r>
              <a:rPr sz="1800" spc="-30" dirty="0">
                <a:latin typeface="Calibri"/>
                <a:cs typeface="Calibri"/>
              </a:rPr>
              <a:t> </a:t>
            </a:r>
            <a:r>
              <a:rPr sz="1800" spc="-10" dirty="0">
                <a:latin typeface="Calibri"/>
                <a:cs typeface="Calibri"/>
              </a:rPr>
              <a:t>item;</a:t>
            </a:r>
            <a:endParaRPr sz="1800" dirty="0">
              <a:latin typeface="Calibri"/>
              <a:cs typeface="Calibri"/>
            </a:endParaRPr>
          </a:p>
          <a:p>
            <a:pPr marL="927100">
              <a:lnSpc>
                <a:spcPct val="100000"/>
              </a:lnSpc>
              <a:spcBef>
                <a:spcPts val="434"/>
              </a:spcBef>
            </a:pPr>
            <a:r>
              <a:rPr sz="1800" spc="-10" dirty="0">
                <a:latin typeface="Calibri"/>
                <a:cs typeface="Calibri"/>
              </a:rPr>
              <a:t>while(TRUE){</a:t>
            </a:r>
            <a:r>
              <a:rPr sz="1800" spc="-25" dirty="0">
                <a:latin typeface="Calibri"/>
                <a:cs typeface="Calibri"/>
              </a:rPr>
              <a:t> </a:t>
            </a:r>
            <a:r>
              <a:rPr sz="1800" dirty="0">
                <a:latin typeface="Calibri"/>
                <a:cs typeface="Calibri"/>
              </a:rPr>
              <a:t>/*repeat</a:t>
            </a:r>
            <a:r>
              <a:rPr sz="1800" spc="-40" dirty="0">
                <a:latin typeface="Calibri"/>
                <a:cs typeface="Calibri"/>
              </a:rPr>
              <a:t> </a:t>
            </a:r>
            <a:r>
              <a:rPr sz="1800" spc="-10" dirty="0">
                <a:latin typeface="Calibri"/>
                <a:cs typeface="Calibri"/>
              </a:rPr>
              <a:t>forever</a:t>
            </a:r>
            <a:r>
              <a:rPr sz="1800" spc="-55" dirty="0">
                <a:latin typeface="Calibri"/>
                <a:cs typeface="Calibri"/>
              </a:rPr>
              <a:t> </a:t>
            </a:r>
            <a:r>
              <a:rPr sz="1800" spc="-25" dirty="0">
                <a:latin typeface="Calibri"/>
                <a:cs typeface="Calibri"/>
              </a:rPr>
              <a:t>*/</a:t>
            </a:r>
            <a:endParaRPr sz="1800" dirty="0">
              <a:latin typeface="Calibri"/>
              <a:cs typeface="Calibri"/>
            </a:endParaRPr>
          </a:p>
          <a:p>
            <a:pPr marL="927100" marR="5080">
              <a:lnSpc>
                <a:spcPct val="120000"/>
              </a:lnSpc>
            </a:pPr>
            <a:r>
              <a:rPr sz="1800" dirty="0">
                <a:latin typeface="Calibri"/>
                <a:cs typeface="Calibri"/>
              </a:rPr>
              <a:t>item</a:t>
            </a:r>
            <a:r>
              <a:rPr sz="1800" spc="-40" dirty="0">
                <a:latin typeface="Calibri"/>
                <a:cs typeface="Calibri"/>
              </a:rPr>
              <a:t> </a:t>
            </a:r>
            <a:r>
              <a:rPr sz="1800" dirty="0">
                <a:latin typeface="Calibri"/>
                <a:cs typeface="Calibri"/>
              </a:rPr>
              <a:t>=</a:t>
            </a:r>
            <a:r>
              <a:rPr sz="1800" spc="-40" dirty="0">
                <a:latin typeface="Calibri"/>
                <a:cs typeface="Calibri"/>
              </a:rPr>
              <a:t> </a:t>
            </a:r>
            <a:r>
              <a:rPr sz="1800" spc="-10" dirty="0">
                <a:latin typeface="Calibri"/>
                <a:cs typeface="Calibri"/>
              </a:rPr>
              <a:t>produce_item();</a:t>
            </a:r>
            <a:r>
              <a:rPr sz="1800" dirty="0">
                <a:latin typeface="Calibri"/>
                <a:cs typeface="Calibri"/>
              </a:rPr>
              <a:t> </a:t>
            </a:r>
            <a:r>
              <a:rPr sz="1800" spc="-10" dirty="0">
                <a:latin typeface="Calibri"/>
                <a:cs typeface="Calibri"/>
              </a:rPr>
              <a:t>/*generate</a:t>
            </a:r>
            <a:r>
              <a:rPr sz="1800" spc="-30" dirty="0">
                <a:latin typeface="Calibri"/>
                <a:cs typeface="Calibri"/>
              </a:rPr>
              <a:t> </a:t>
            </a:r>
            <a:r>
              <a:rPr sz="1800" dirty="0">
                <a:latin typeface="Calibri"/>
                <a:cs typeface="Calibri"/>
              </a:rPr>
              <a:t>something</a:t>
            </a:r>
            <a:r>
              <a:rPr sz="1800" spc="-40" dirty="0">
                <a:latin typeface="Calibri"/>
                <a:cs typeface="Calibri"/>
              </a:rPr>
              <a:t> </a:t>
            </a:r>
            <a:r>
              <a:rPr sz="1800" spc="-25" dirty="0">
                <a:latin typeface="Calibri"/>
                <a:cs typeface="Calibri"/>
              </a:rPr>
              <a:t>*/ </a:t>
            </a:r>
            <a:r>
              <a:rPr sz="1800" spc="-10" dirty="0">
                <a:latin typeface="Calibri"/>
                <a:cs typeface="Calibri"/>
              </a:rPr>
              <a:t>down(empty);</a:t>
            </a:r>
            <a:r>
              <a:rPr sz="1800" spc="-15" dirty="0">
                <a:latin typeface="Calibri"/>
                <a:cs typeface="Calibri"/>
              </a:rPr>
              <a:t> </a:t>
            </a:r>
            <a:r>
              <a:rPr sz="1800" spc="-10" dirty="0">
                <a:latin typeface="Calibri"/>
                <a:cs typeface="Calibri"/>
              </a:rPr>
              <a:t>/*decrement</a:t>
            </a:r>
            <a:r>
              <a:rPr sz="1800" spc="-25" dirty="0">
                <a:latin typeface="Calibri"/>
                <a:cs typeface="Calibri"/>
              </a:rPr>
              <a:t> </a:t>
            </a:r>
            <a:r>
              <a:rPr sz="1800" dirty="0">
                <a:latin typeface="Calibri"/>
                <a:cs typeface="Calibri"/>
              </a:rPr>
              <a:t>empty</a:t>
            </a:r>
            <a:r>
              <a:rPr sz="1800" spc="-35" dirty="0">
                <a:latin typeface="Calibri"/>
                <a:cs typeface="Calibri"/>
              </a:rPr>
              <a:t> </a:t>
            </a:r>
            <a:r>
              <a:rPr sz="1800" spc="-10" dirty="0">
                <a:latin typeface="Calibri"/>
                <a:cs typeface="Calibri"/>
              </a:rPr>
              <a:t>count*/ down(mutex);</a:t>
            </a:r>
            <a:r>
              <a:rPr sz="1800" spc="-35" dirty="0">
                <a:latin typeface="Calibri"/>
                <a:cs typeface="Calibri"/>
              </a:rPr>
              <a:t> </a:t>
            </a:r>
            <a:r>
              <a:rPr sz="1800" dirty="0">
                <a:latin typeface="Calibri"/>
                <a:cs typeface="Calibri"/>
              </a:rPr>
              <a:t>/*enter</a:t>
            </a:r>
            <a:r>
              <a:rPr sz="1800" spc="-45" dirty="0">
                <a:latin typeface="Calibri"/>
                <a:cs typeface="Calibri"/>
              </a:rPr>
              <a:t> </a:t>
            </a:r>
            <a:r>
              <a:rPr sz="1800" dirty="0">
                <a:latin typeface="Calibri"/>
                <a:cs typeface="Calibri"/>
              </a:rPr>
              <a:t>CR</a:t>
            </a:r>
            <a:r>
              <a:rPr sz="1800" spc="-60" dirty="0">
                <a:latin typeface="Calibri"/>
                <a:cs typeface="Calibri"/>
              </a:rPr>
              <a:t> </a:t>
            </a:r>
            <a:r>
              <a:rPr sz="1800" spc="-25" dirty="0">
                <a:latin typeface="Calibri"/>
                <a:cs typeface="Calibri"/>
              </a:rPr>
              <a:t>*/</a:t>
            </a:r>
            <a:endParaRPr sz="1800" dirty="0">
              <a:latin typeface="Calibri"/>
              <a:cs typeface="Calibri"/>
            </a:endParaRPr>
          </a:p>
          <a:p>
            <a:pPr marL="927100" marR="659130">
              <a:lnSpc>
                <a:spcPct val="120000"/>
              </a:lnSpc>
            </a:pPr>
            <a:r>
              <a:rPr sz="1800" spc="-10" dirty="0">
                <a:latin typeface="Calibri"/>
                <a:cs typeface="Calibri"/>
              </a:rPr>
              <a:t>insert_item(); </a:t>
            </a:r>
            <a:r>
              <a:rPr sz="1800" dirty="0">
                <a:latin typeface="Calibri"/>
                <a:cs typeface="Calibri"/>
              </a:rPr>
              <a:t>/*</a:t>
            </a:r>
            <a:r>
              <a:rPr sz="1800" spc="-15" dirty="0">
                <a:latin typeface="Calibri"/>
                <a:cs typeface="Calibri"/>
              </a:rPr>
              <a:t> </a:t>
            </a:r>
            <a:r>
              <a:rPr sz="1800" dirty="0">
                <a:latin typeface="Calibri"/>
                <a:cs typeface="Calibri"/>
              </a:rPr>
              <a:t>put</a:t>
            </a:r>
            <a:r>
              <a:rPr sz="1800" spc="-20" dirty="0">
                <a:latin typeface="Calibri"/>
                <a:cs typeface="Calibri"/>
              </a:rPr>
              <a:t> </a:t>
            </a:r>
            <a:r>
              <a:rPr sz="1800" dirty="0">
                <a:latin typeface="Calibri"/>
                <a:cs typeface="Calibri"/>
              </a:rPr>
              <a:t>new</a:t>
            </a:r>
            <a:r>
              <a:rPr sz="1800" spc="-25" dirty="0">
                <a:latin typeface="Calibri"/>
                <a:cs typeface="Calibri"/>
              </a:rPr>
              <a:t> </a:t>
            </a:r>
            <a:r>
              <a:rPr sz="1800" dirty="0">
                <a:latin typeface="Calibri"/>
                <a:cs typeface="Calibri"/>
              </a:rPr>
              <a:t>item</a:t>
            </a:r>
            <a:r>
              <a:rPr sz="1800" spc="-15" dirty="0">
                <a:latin typeface="Calibri"/>
                <a:cs typeface="Calibri"/>
              </a:rPr>
              <a:t> </a:t>
            </a:r>
            <a:r>
              <a:rPr sz="1800" dirty="0">
                <a:latin typeface="Calibri"/>
                <a:cs typeface="Calibri"/>
              </a:rPr>
              <a:t>in</a:t>
            </a:r>
            <a:r>
              <a:rPr sz="1800" spc="-15" dirty="0">
                <a:latin typeface="Calibri"/>
                <a:cs typeface="Calibri"/>
              </a:rPr>
              <a:t> </a:t>
            </a:r>
            <a:r>
              <a:rPr sz="1800" spc="-10" dirty="0">
                <a:latin typeface="Calibri"/>
                <a:cs typeface="Calibri"/>
              </a:rPr>
              <a:t>buffer*/ up(mutex);</a:t>
            </a:r>
            <a:r>
              <a:rPr sz="1800" spc="-25" dirty="0">
                <a:latin typeface="Calibri"/>
                <a:cs typeface="Calibri"/>
              </a:rPr>
              <a:t> </a:t>
            </a:r>
            <a:r>
              <a:rPr sz="1800" dirty="0">
                <a:latin typeface="Calibri"/>
                <a:cs typeface="Calibri"/>
              </a:rPr>
              <a:t>/*</a:t>
            </a:r>
            <a:r>
              <a:rPr sz="1800" spc="-40" dirty="0">
                <a:latin typeface="Calibri"/>
                <a:cs typeface="Calibri"/>
              </a:rPr>
              <a:t> </a:t>
            </a:r>
            <a:r>
              <a:rPr sz="1800" dirty="0">
                <a:latin typeface="Calibri"/>
                <a:cs typeface="Calibri"/>
              </a:rPr>
              <a:t>leave</a:t>
            </a:r>
            <a:r>
              <a:rPr sz="1800" spc="-40" dirty="0">
                <a:latin typeface="Calibri"/>
                <a:cs typeface="Calibri"/>
              </a:rPr>
              <a:t> </a:t>
            </a:r>
            <a:r>
              <a:rPr sz="1800" spc="-20" dirty="0">
                <a:latin typeface="Calibri"/>
                <a:cs typeface="Calibri"/>
              </a:rPr>
              <a:t>CR*/</a:t>
            </a:r>
            <a:endParaRPr sz="1800" dirty="0">
              <a:latin typeface="Calibri"/>
              <a:cs typeface="Calibri"/>
            </a:endParaRPr>
          </a:p>
        </p:txBody>
      </p:sp>
      <p:sp>
        <p:nvSpPr>
          <p:cNvPr id="4" name="object 4"/>
          <p:cNvSpPr txBox="1"/>
          <p:nvPr/>
        </p:nvSpPr>
        <p:spPr>
          <a:xfrm>
            <a:off x="1925986" y="5815099"/>
            <a:ext cx="4567492" cy="29972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38100">
              <a:lnSpc>
                <a:spcPct val="100000"/>
              </a:lnSpc>
              <a:spcBef>
                <a:spcPts val="100"/>
              </a:spcBef>
            </a:pPr>
            <a:r>
              <a:rPr sz="1800" dirty="0">
                <a:latin typeface="Calibri"/>
                <a:cs typeface="Calibri"/>
              </a:rPr>
              <a:t>up(full);</a:t>
            </a:r>
            <a:r>
              <a:rPr sz="1800" spc="50" dirty="0">
                <a:latin typeface="Calibri"/>
                <a:cs typeface="Calibri"/>
              </a:rPr>
              <a:t> </a:t>
            </a:r>
            <a:r>
              <a:rPr sz="1800" spc="-10" dirty="0">
                <a:latin typeface="Calibri"/>
                <a:cs typeface="Calibri"/>
              </a:rPr>
              <a:t>/</a:t>
            </a:r>
            <a:r>
              <a:rPr lang="en-IN" sz="1800" spc="-10" dirty="0">
                <a:latin typeface="Calibri"/>
                <a:cs typeface="Calibri"/>
              </a:rPr>
              <a:t>*increment</a:t>
            </a:r>
            <a:r>
              <a:rPr lang="en-IN" sz="1800" spc="35" dirty="0">
                <a:latin typeface="Calibri"/>
                <a:cs typeface="Calibri"/>
              </a:rPr>
              <a:t> </a:t>
            </a:r>
            <a:r>
              <a:rPr lang="en-IN" sz="1800" spc="-25" dirty="0" err="1">
                <a:latin typeface="Calibri"/>
                <a:cs typeface="Calibri"/>
              </a:rPr>
              <a:t>c</a:t>
            </a:r>
            <a:r>
              <a:rPr lang="en-IN" sz="1800" spc="-570" dirty="0" err="1">
                <a:latin typeface="Calibri"/>
                <a:cs typeface="Calibri"/>
              </a:rPr>
              <a:t>o</a:t>
            </a:r>
            <a:r>
              <a:rPr lang="en-IN" sz="1800" spc="-142" baseline="-30092" dirty="0" err="1">
                <a:solidFill>
                  <a:srgbClr val="888888"/>
                </a:solidFill>
                <a:latin typeface="Calibri"/>
                <a:cs typeface="Calibri"/>
              </a:rPr>
              <a:t>B</a:t>
            </a:r>
            <a:r>
              <a:rPr lang="en-IN" sz="1800" spc="-880" dirty="0" err="1">
                <a:latin typeface="Calibri"/>
                <a:cs typeface="Calibri"/>
              </a:rPr>
              <a:t>u</a:t>
            </a:r>
            <a:r>
              <a:rPr lang="en-IN" sz="1800" baseline="-30092" dirty="0" err="1">
                <a:solidFill>
                  <a:srgbClr val="888888"/>
                </a:solidFill>
                <a:latin typeface="Calibri"/>
                <a:cs typeface="Calibri"/>
              </a:rPr>
              <a:t>y</a:t>
            </a:r>
            <a:r>
              <a:rPr lang="en-IN" sz="1800" baseline="-30092" dirty="0">
                <a:solidFill>
                  <a:srgbClr val="888888"/>
                </a:solidFill>
                <a:latin typeface="Calibri"/>
                <a:cs typeface="Calibri"/>
              </a:rPr>
              <a:t> </a:t>
            </a:r>
            <a:r>
              <a:rPr lang="en-IN" sz="1800" spc="-982" baseline="-30092" dirty="0" err="1">
                <a:solidFill>
                  <a:srgbClr val="888888"/>
                </a:solidFill>
                <a:latin typeface="Calibri"/>
                <a:cs typeface="Calibri"/>
              </a:rPr>
              <a:t>A</a:t>
            </a:r>
            <a:r>
              <a:rPr lang="en-IN" sz="1800" spc="-335" dirty="0" err="1">
                <a:latin typeface="Calibri"/>
                <a:cs typeface="Calibri"/>
              </a:rPr>
              <a:t>n</a:t>
            </a:r>
            <a:r>
              <a:rPr lang="en-IN" sz="1800" spc="-270" baseline="-30092" dirty="0" err="1">
                <a:solidFill>
                  <a:srgbClr val="888888"/>
                </a:solidFill>
                <a:latin typeface="Calibri"/>
                <a:cs typeface="Calibri"/>
              </a:rPr>
              <a:t>s</a:t>
            </a:r>
            <a:r>
              <a:rPr lang="en-IN" sz="1800" spc="-455" dirty="0" err="1">
                <a:latin typeface="Calibri"/>
                <a:cs typeface="Calibri"/>
              </a:rPr>
              <a:t>t</a:t>
            </a:r>
            <a:r>
              <a:rPr lang="en-IN" sz="1800" spc="-44" baseline="-30092" dirty="0" err="1">
                <a:solidFill>
                  <a:srgbClr val="888888"/>
                </a:solidFill>
                <a:latin typeface="Calibri"/>
                <a:cs typeface="Calibri"/>
              </a:rPr>
              <a:t>s</a:t>
            </a:r>
            <a:r>
              <a:rPr lang="en-IN" sz="1800" spc="-22" baseline="-30092" dirty="0" err="1">
                <a:solidFill>
                  <a:srgbClr val="888888"/>
                </a:solidFill>
                <a:latin typeface="Calibri"/>
                <a:cs typeface="Calibri"/>
              </a:rPr>
              <a:t>t</a:t>
            </a:r>
            <a:r>
              <a:rPr lang="en-IN" sz="1800" spc="-465" baseline="-30092" dirty="0" err="1">
                <a:solidFill>
                  <a:srgbClr val="888888"/>
                </a:solidFill>
                <a:latin typeface="Calibri"/>
                <a:cs typeface="Calibri"/>
              </a:rPr>
              <a:t>.</a:t>
            </a:r>
            <a:r>
              <a:rPr lang="en-IN" sz="1800" spc="-380" dirty="0" err="1">
                <a:latin typeface="Calibri"/>
                <a:cs typeface="Calibri"/>
              </a:rPr>
              <a:t>o</a:t>
            </a:r>
            <a:r>
              <a:rPr lang="en-IN" sz="1800" spc="-419" baseline="-30092" dirty="0" err="1">
                <a:solidFill>
                  <a:srgbClr val="888888"/>
                </a:solidFill>
                <a:latin typeface="Calibri"/>
                <a:cs typeface="Calibri"/>
              </a:rPr>
              <a:t>P</a:t>
            </a:r>
            <a:r>
              <a:rPr lang="en-IN" sz="1800" spc="-305" dirty="0" err="1">
                <a:latin typeface="Calibri"/>
                <a:cs typeface="Calibri"/>
              </a:rPr>
              <a:t>f</a:t>
            </a:r>
            <a:r>
              <a:rPr lang="en-IN" sz="1800" spc="-44" baseline="-30092" dirty="0" err="1">
                <a:solidFill>
                  <a:srgbClr val="888888"/>
                </a:solidFill>
                <a:latin typeface="Calibri"/>
                <a:cs typeface="Calibri"/>
              </a:rPr>
              <a:t>r</a:t>
            </a:r>
            <a:r>
              <a:rPr lang="en-IN" sz="1800" spc="-540" baseline="-30092" dirty="0" err="1">
                <a:solidFill>
                  <a:srgbClr val="888888"/>
                </a:solidFill>
                <a:latin typeface="Calibri"/>
                <a:cs typeface="Calibri"/>
              </a:rPr>
              <a:t>o</a:t>
            </a:r>
            <a:r>
              <a:rPr lang="en-IN" sz="1800" spc="-225" dirty="0" err="1">
                <a:latin typeface="Calibri"/>
                <a:cs typeface="Calibri"/>
              </a:rPr>
              <a:t>f</a:t>
            </a:r>
            <a:r>
              <a:rPr lang="en-IN" sz="1800" spc="-247" baseline="-30092" dirty="0" err="1">
                <a:solidFill>
                  <a:srgbClr val="888888"/>
                </a:solidFill>
                <a:latin typeface="Calibri"/>
                <a:cs typeface="Calibri"/>
              </a:rPr>
              <a:t>f</a:t>
            </a:r>
            <a:r>
              <a:rPr lang="en-IN" sz="1800" spc="-890" dirty="0" err="1">
                <a:latin typeface="Calibri"/>
                <a:cs typeface="Calibri"/>
              </a:rPr>
              <a:t>u</a:t>
            </a:r>
            <a:r>
              <a:rPr lang="en-IN" sz="1800" spc="-15" baseline="-30092" dirty="0">
                <a:solidFill>
                  <a:srgbClr val="888888"/>
                </a:solidFill>
                <a:latin typeface="Calibri"/>
                <a:cs typeface="Calibri"/>
              </a:rPr>
              <a:t>.</a:t>
            </a:r>
            <a:r>
              <a:rPr lang="en-IN" sz="1800" spc="7" baseline="-30092" dirty="0">
                <a:solidFill>
                  <a:srgbClr val="888888"/>
                </a:solidFill>
                <a:latin typeface="Calibri"/>
                <a:cs typeface="Calibri"/>
              </a:rPr>
              <a:t> </a:t>
            </a:r>
            <a:r>
              <a:rPr lang="en-IN" sz="1800" spc="-300" baseline="-30092" dirty="0" err="1">
                <a:solidFill>
                  <a:srgbClr val="888888"/>
                </a:solidFill>
                <a:latin typeface="Calibri"/>
                <a:cs typeface="Calibri"/>
              </a:rPr>
              <a:t>T</a:t>
            </a:r>
            <a:r>
              <a:rPr lang="en-IN" sz="1800" spc="-200" dirty="0" err="1">
                <a:latin typeface="Calibri"/>
                <a:cs typeface="Calibri"/>
              </a:rPr>
              <a:t>l</a:t>
            </a:r>
            <a:r>
              <a:rPr lang="en-IN" sz="1800" spc="-300" baseline="-30092" dirty="0" err="1">
                <a:solidFill>
                  <a:srgbClr val="888888"/>
                </a:solidFill>
                <a:latin typeface="Calibri"/>
                <a:cs typeface="Calibri"/>
              </a:rPr>
              <a:t>e</a:t>
            </a:r>
            <a:r>
              <a:rPr lang="en-IN" sz="1800" spc="-200" dirty="0" err="1">
                <a:latin typeface="Calibri"/>
                <a:cs typeface="Calibri"/>
              </a:rPr>
              <a:t>l</a:t>
            </a:r>
            <a:r>
              <a:rPr lang="en-IN" sz="1800" spc="-300" baseline="-30092" dirty="0" err="1">
                <a:solidFill>
                  <a:srgbClr val="888888"/>
                </a:solidFill>
                <a:latin typeface="Calibri"/>
                <a:cs typeface="Calibri"/>
              </a:rPr>
              <a:t>j</a:t>
            </a:r>
            <a:r>
              <a:rPr lang="en-IN" sz="1800" spc="-104" baseline="-30092" dirty="0">
                <a:solidFill>
                  <a:srgbClr val="888888"/>
                </a:solidFill>
                <a:latin typeface="Calibri"/>
                <a:cs typeface="Calibri"/>
              </a:rPr>
              <a:t> </a:t>
            </a:r>
            <a:r>
              <a:rPr lang="en-IN" sz="1800" spc="-595" dirty="0" err="1">
                <a:latin typeface="Calibri"/>
                <a:cs typeface="Calibri"/>
              </a:rPr>
              <a:t>s</a:t>
            </a:r>
            <a:r>
              <a:rPr lang="en-IN" sz="1800" spc="-15" baseline="-30092" dirty="0" err="1">
                <a:solidFill>
                  <a:srgbClr val="888888"/>
                </a:solidFill>
                <a:latin typeface="Calibri"/>
                <a:cs typeface="Calibri"/>
              </a:rPr>
              <a:t>B</a:t>
            </a:r>
            <a:r>
              <a:rPr lang="en-IN" sz="1800" spc="-360" dirty="0" err="1">
                <a:latin typeface="Calibri"/>
                <a:cs typeface="Calibri"/>
              </a:rPr>
              <a:t>l</a:t>
            </a:r>
            <a:r>
              <a:rPr lang="en-IN" sz="1800" spc="-262" baseline="-30092" dirty="0" err="1">
                <a:solidFill>
                  <a:srgbClr val="888888"/>
                </a:solidFill>
                <a:latin typeface="Calibri"/>
                <a:cs typeface="Calibri"/>
              </a:rPr>
              <a:t>a</a:t>
            </a:r>
            <a:r>
              <a:rPr lang="en-IN" sz="1800" spc="-745" dirty="0" err="1">
                <a:latin typeface="Calibri"/>
                <a:cs typeface="Calibri"/>
              </a:rPr>
              <a:t>o</a:t>
            </a:r>
            <a:r>
              <a:rPr lang="en-IN" sz="1800" spc="44" baseline="-30092" dirty="0" err="1">
                <a:solidFill>
                  <a:srgbClr val="888888"/>
                </a:solidFill>
                <a:latin typeface="Calibri"/>
                <a:cs typeface="Calibri"/>
              </a:rPr>
              <a:t>h</a:t>
            </a:r>
            <a:r>
              <a:rPr lang="en-IN" sz="1800" spc="-652" baseline="-30092" dirty="0" err="1">
                <a:solidFill>
                  <a:srgbClr val="888888"/>
                </a:solidFill>
                <a:latin typeface="Calibri"/>
                <a:cs typeface="Calibri"/>
              </a:rPr>
              <a:t>a</a:t>
            </a:r>
            <a:r>
              <a:rPr lang="en-IN" sz="1800" spc="-130" dirty="0" err="1">
                <a:latin typeface="Calibri"/>
                <a:cs typeface="Calibri"/>
              </a:rPr>
              <a:t>t</a:t>
            </a:r>
            <a:r>
              <a:rPr lang="en-IN" sz="1800" spc="-690" baseline="-30092" dirty="0" err="1">
                <a:solidFill>
                  <a:srgbClr val="888888"/>
                </a:solidFill>
                <a:latin typeface="Calibri"/>
                <a:cs typeface="Calibri"/>
              </a:rPr>
              <a:t>d</a:t>
            </a:r>
            <a:r>
              <a:rPr lang="en-IN" sz="1800" spc="-190" dirty="0" err="1">
                <a:latin typeface="Calibri"/>
                <a:cs typeface="Calibri"/>
              </a:rPr>
              <a:t>s</a:t>
            </a:r>
            <a:r>
              <a:rPr lang="en-IN" sz="1800" spc="-592" baseline="-30092" dirty="0" err="1">
                <a:solidFill>
                  <a:srgbClr val="888888"/>
                </a:solidFill>
                <a:latin typeface="Calibri"/>
                <a:cs typeface="Calibri"/>
              </a:rPr>
              <a:t>u</a:t>
            </a:r>
            <a:r>
              <a:rPr lang="en-IN" sz="1800" spc="-459" dirty="0">
                <a:latin typeface="Calibri"/>
                <a:cs typeface="Calibri"/>
              </a:rPr>
              <a:t>*</a:t>
            </a:r>
            <a:r>
              <a:rPr lang="en-IN" sz="1800" spc="127" baseline="-30092" dirty="0">
                <a:solidFill>
                  <a:srgbClr val="888888"/>
                </a:solidFill>
                <a:latin typeface="Calibri"/>
                <a:cs typeface="Calibri"/>
              </a:rPr>
              <a:t>r</a:t>
            </a:r>
            <a:r>
              <a:rPr lang="en-IN" sz="1800" spc="-505" dirty="0">
                <a:latin typeface="Calibri"/>
                <a:cs typeface="Calibri"/>
              </a:rPr>
              <a:t>/</a:t>
            </a:r>
            <a:r>
              <a:rPr lang="en-IN" sz="1800" spc="30" baseline="-30092" dirty="0">
                <a:solidFill>
                  <a:srgbClr val="888888"/>
                </a:solidFill>
                <a:latin typeface="Calibri"/>
                <a:cs typeface="Calibri"/>
              </a:rPr>
              <a:t>S</a:t>
            </a:r>
            <a:endParaRPr sz="1800" baseline="-30092" dirty="0">
              <a:latin typeface="Calibri"/>
              <a:cs typeface="Calibri"/>
            </a:endParaRPr>
          </a:p>
        </p:txBody>
      </p:sp>
      <p:sp>
        <p:nvSpPr>
          <p:cNvPr id="5" name="object 5"/>
          <p:cNvSpPr txBox="1"/>
          <p:nvPr/>
        </p:nvSpPr>
        <p:spPr>
          <a:xfrm>
            <a:off x="1402080" y="6237043"/>
            <a:ext cx="121920" cy="39179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2400" spc="-50" dirty="0">
                <a:latin typeface="Calibri"/>
                <a:cs typeface="Calibri"/>
              </a:rPr>
              <a:t>}</a:t>
            </a:r>
            <a:endParaRPr sz="2400">
              <a:latin typeface="Calibri"/>
              <a:cs typeface="Calibri"/>
            </a:endParaRPr>
          </a:p>
        </p:txBody>
      </p:sp>
      <p:sp>
        <p:nvSpPr>
          <p:cNvPr id="6" name="object 6"/>
          <p:cNvSpPr txBox="1"/>
          <p:nvPr/>
        </p:nvSpPr>
        <p:spPr>
          <a:xfrm>
            <a:off x="8426957" y="6427114"/>
            <a:ext cx="180975" cy="208279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200" spc="-25" dirty="0">
                <a:solidFill>
                  <a:srgbClr val="888888"/>
                </a:solidFill>
                <a:latin typeface="Calibri"/>
                <a:cs typeface="Calibri"/>
              </a:rPr>
              <a:t>53</a:t>
            </a:r>
            <a:endParaRPr sz="1200">
              <a:latin typeface="Calibri"/>
              <a:cs typeface="Calibri"/>
            </a:endParaRPr>
          </a:p>
        </p:txBody>
      </p:sp>
      <p:sp>
        <p:nvSpPr>
          <p:cNvPr id="7" name="Footer Placeholder 6">
            <a:extLst>
              <a:ext uri="{FF2B5EF4-FFF2-40B4-BE49-F238E27FC236}">
                <a16:creationId xmlns:a16="http://schemas.microsoft.com/office/drawing/2014/main" id="{8DD696F2-60F6-4316-B608-5866BBF04E5C}"/>
              </a:ext>
            </a:extLst>
          </p:cNvPr>
          <p:cNvSpPr>
            <a:spLocks noGrp="1"/>
          </p:cNvSpPr>
          <p:nvPr>
            <p:ph type="ftr" sz="quarter" idx="5"/>
          </p:nvPr>
        </p:nvSpPr>
        <p:spPr>
          <a:xfrm>
            <a:off x="5410200" y="6473332"/>
            <a:ext cx="2540127" cy="156068"/>
          </a:xfrm>
        </p:spPr>
        <p:txBody>
          <a:bodyPr/>
          <a:lstStyle/>
          <a:p>
            <a:pPr marL="12700">
              <a:lnSpc>
                <a:spcPts val="1240"/>
              </a:lnSpc>
            </a:pPr>
            <a:r>
              <a:rPr lang="pl-PL" dirty="0"/>
              <a:t>By Dr. Binod Kr. Adhikari</a:t>
            </a:r>
            <a:endParaRPr lang="en-US" spc="-10" dirty="0"/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xfrm>
            <a:off x="535940" y="228600"/>
            <a:ext cx="8007477" cy="505908"/>
          </a:xfrm>
          <a:prstGeom prst="rect">
            <a:avLst/>
          </a:prstGeom>
        </p:spPr>
        <p:txBody>
          <a:bodyPr vert="horz" wrap="square" lIns="0" tIns="13335" rIns="0" bIns="0" rtlCol="0">
            <a:spAutoFit/>
          </a:bodyPr>
          <a:lstStyle/>
          <a:p>
            <a:pPr marL="12700" algn="ctr" rtl="0">
              <a:spcBef>
                <a:spcPts val="105"/>
              </a:spcBef>
            </a:pPr>
            <a:r>
              <a:rPr sz="3200" b="1" dirty="0">
                <a:solidFill>
                  <a:sysClr val="windowText" lastClr="000000"/>
                </a:solidFill>
                <a:latin typeface="+mj-lt"/>
                <a:cs typeface="+mj-cs"/>
              </a:rPr>
              <a:t>Consumer producer using Semaphore</a:t>
            </a:r>
          </a:p>
        </p:txBody>
      </p:sp>
      <p:sp>
        <p:nvSpPr>
          <p:cNvPr id="4" name="object 4"/>
          <p:cNvSpPr txBox="1">
            <a:spLocks noGrp="1"/>
          </p:cNvSpPr>
          <p:nvPr>
            <p:ph type="ftr" sz="quarter" idx="5"/>
          </p:nvPr>
        </p:nvSpPr>
        <p:spPr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12700">
              <a:lnSpc>
                <a:spcPts val="1240"/>
              </a:lnSpc>
            </a:pPr>
            <a:r>
              <a:rPr lang="pl-PL"/>
              <a:t>By Dr. Binod Kr. Adhikari</a:t>
            </a:r>
            <a:endParaRPr spc="-10" dirty="0"/>
          </a:p>
        </p:txBody>
      </p:sp>
      <p:sp>
        <p:nvSpPr>
          <p:cNvPr id="3" name="object 3"/>
          <p:cNvSpPr txBox="1"/>
          <p:nvPr/>
        </p:nvSpPr>
        <p:spPr>
          <a:xfrm>
            <a:off x="535940" y="1528394"/>
            <a:ext cx="6368415" cy="441579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3000" dirty="0">
                <a:latin typeface="Times New Roman"/>
                <a:cs typeface="Times New Roman"/>
              </a:rPr>
              <a:t>void</a:t>
            </a:r>
            <a:r>
              <a:rPr sz="3000" spc="-50" dirty="0">
                <a:latin typeface="Times New Roman"/>
                <a:cs typeface="Times New Roman"/>
              </a:rPr>
              <a:t> </a:t>
            </a:r>
            <a:r>
              <a:rPr sz="3000" spc="-10" dirty="0">
                <a:latin typeface="Times New Roman"/>
                <a:cs typeface="Times New Roman"/>
              </a:rPr>
              <a:t>consumer(void)</a:t>
            </a:r>
            <a:endParaRPr sz="3000">
              <a:latin typeface="Times New Roman"/>
              <a:cs typeface="Times New Roman"/>
            </a:endParaRPr>
          </a:p>
          <a:p>
            <a:pPr marL="12700">
              <a:lnSpc>
                <a:spcPct val="100000"/>
              </a:lnSpc>
            </a:pPr>
            <a:r>
              <a:rPr sz="3000" spc="-50" dirty="0">
                <a:latin typeface="Times New Roman"/>
                <a:cs typeface="Times New Roman"/>
              </a:rPr>
              <a:t>{</a:t>
            </a:r>
            <a:endParaRPr sz="3000">
              <a:latin typeface="Times New Roman"/>
              <a:cs typeface="Times New Roman"/>
            </a:endParaRPr>
          </a:p>
          <a:p>
            <a:pPr marL="927100">
              <a:lnSpc>
                <a:spcPct val="100000"/>
              </a:lnSpc>
              <a:spcBef>
                <a:spcPts val="35"/>
              </a:spcBef>
            </a:pPr>
            <a:r>
              <a:rPr sz="2200" dirty="0">
                <a:latin typeface="Times New Roman"/>
                <a:cs typeface="Times New Roman"/>
              </a:rPr>
              <a:t>int</a:t>
            </a:r>
            <a:r>
              <a:rPr sz="2200" spc="-30" dirty="0">
                <a:latin typeface="Times New Roman"/>
                <a:cs typeface="Times New Roman"/>
              </a:rPr>
              <a:t> </a:t>
            </a:r>
            <a:r>
              <a:rPr sz="2200" spc="-10" dirty="0">
                <a:latin typeface="Times New Roman"/>
                <a:cs typeface="Times New Roman"/>
              </a:rPr>
              <a:t>item;</a:t>
            </a:r>
            <a:endParaRPr sz="2200">
              <a:latin typeface="Times New Roman"/>
              <a:cs typeface="Times New Roman"/>
            </a:endParaRPr>
          </a:p>
          <a:p>
            <a:pPr marL="927100" marR="1273810">
              <a:lnSpc>
                <a:spcPct val="100000"/>
              </a:lnSpc>
            </a:pPr>
            <a:r>
              <a:rPr sz="2200" dirty="0">
                <a:latin typeface="Times New Roman"/>
                <a:cs typeface="Times New Roman"/>
              </a:rPr>
              <a:t>while(TRUE){</a:t>
            </a:r>
            <a:r>
              <a:rPr sz="2200" spc="-95" dirty="0">
                <a:latin typeface="Times New Roman"/>
                <a:cs typeface="Times New Roman"/>
              </a:rPr>
              <a:t> </a:t>
            </a:r>
            <a:r>
              <a:rPr sz="2200" dirty="0">
                <a:latin typeface="Times New Roman"/>
                <a:cs typeface="Times New Roman"/>
              </a:rPr>
              <a:t>/*repeat</a:t>
            </a:r>
            <a:r>
              <a:rPr sz="2200" spc="-105" dirty="0">
                <a:latin typeface="Times New Roman"/>
                <a:cs typeface="Times New Roman"/>
              </a:rPr>
              <a:t> </a:t>
            </a:r>
            <a:r>
              <a:rPr sz="2200" spc="-10" dirty="0">
                <a:latin typeface="Times New Roman"/>
                <a:cs typeface="Times New Roman"/>
              </a:rPr>
              <a:t>forever*/ </a:t>
            </a:r>
            <a:r>
              <a:rPr sz="2200" dirty="0">
                <a:latin typeface="Times New Roman"/>
                <a:cs typeface="Times New Roman"/>
              </a:rPr>
              <a:t>down(full);</a:t>
            </a:r>
            <a:r>
              <a:rPr sz="2200" spc="-80" dirty="0">
                <a:latin typeface="Times New Roman"/>
                <a:cs typeface="Times New Roman"/>
              </a:rPr>
              <a:t> </a:t>
            </a:r>
            <a:r>
              <a:rPr sz="2200" dirty="0">
                <a:latin typeface="Times New Roman"/>
                <a:cs typeface="Times New Roman"/>
              </a:rPr>
              <a:t>/*decrement</a:t>
            </a:r>
            <a:r>
              <a:rPr sz="2200" spc="-50" dirty="0">
                <a:latin typeface="Times New Roman"/>
                <a:cs typeface="Times New Roman"/>
              </a:rPr>
              <a:t> </a:t>
            </a:r>
            <a:r>
              <a:rPr sz="2200" dirty="0">
                <a:latin typeface="Times New Roman"/>
                <a:cs typeface="Times New Roman"/>
              </a:rPr>
              <a:t>full</a:t>
            </a:r>
            <a:r>
              <a:rPr sz="2200" spc="-80" dirty="0">
                <a:latin typeface="Times New Roman"/>
                <a:cs typeface="Times New Roman"/>
              </a:rPr>
              <a:t> </a:t>
            </a:r>
            <a:r>
              <a:rPr sz="2200" dirty="0">
                <a:latin typeface="Times New Roman"/>
                <a:cs typeface="Times New Roman"/>
              </a:rPr>
              <a:t>count</a:t>
            </a:r>
            <a:r>
              <a:rPr sz="2200" spc="-75" dirty="0">
                <a:latin typeface="Times New Roman"/>
                <a:cs typeface="Times New Roman"/>
              </a:rPr>
              <a:t> </a:t>
            </a:r>
            <a:r>
              <a:rPr sz="2200" spc="-25" dirty="0">
                <a:latin typeface="Times New Roman"/>
                <a:cs typeface="Times New Roman"/>
              </a:rPr>
              <a:t>*/ </a:t>
            </a:r>
            <a:r>
              <a:rPr sz="2200" dirty="0">
                <a:latin typeface="Times New Roman"/>
                <a:cs typeface="Times New Roman"/>
              </a:rPr>
              <a:t>down(mutex);</a:t>
            </a:r>
            <a:r>
              <a:rPr sz="2200" spc="-100" dirty="0">
                <a:latin typeface="Times New Roman"/>
                <a:cs typeface="Times New Roman"/>
              </a:rPr>
              <a:t> </a:t>
            </a:r>
            <a:r>
              <a:rPr sz="2200" dirty="0">
                <a:latin typeface="Times New Roman"/>
                <a:cs typeface="Times New Roman"/>
              </a:rPr>
              <a:t>/*enter</a:t>
            </a:r>
            <a:r>
              <a:rPr sz="2200" spc="-85" dirty="0">
                <a:latin typeface="Times New Roman"/>
                <a:cs typeface="Times New Roman"/>
              </a:rPr>
              <a:t> </a:t>
            </a:r>
            <a:r>
              <a:rPr sz="2200" spc="-20" dirty="0">
                <a:latin typeface="Times New Roman"/>
                <a:cs typeface="Times New Roman"/>
              </a:rPr>
              <a:t>CR*/</a:t>
            </a:r>
            <a:endParaRPr sz="2200">
              <a:latin typeface="Times New Roman"/>
              <a:cs typeface="Times New Roman"/>
            </a:endParaRPr>
          </a:p>
          <a:p>
            <a:pPr marL="927100">
              <a:lnSpc>
                <a:spcPct val="100000"/>
              </a:lnSpc>
            </a:pPr>
            <a:r>
              <a:rPr sz="2200" dirty="0">
                <a:latin typeface="Times New Roman"/>
                <a:cs typeface="Times New Roman"/>
              </a:rPr>
              <a:t>item</a:t>
            </a:r>
            <a:r>
              <a:rPr sz="2200" spc="-60" dirty="0">
                <a:latin typeface="Times New Roman"/>
                <a:cs typeface="Times New Roman"/>
              </a:rPr>
              <a:t> </a:t>
            </a:r>
            <a:r>
              <a:rPr sz="2200" dirty="0">
                <a:latin typeface="Times New Roman"/>
                <a:cs typeface="Times New Roman"/>
              </a:rPr>
              <a:t>=</a:t>
            </a:r>
            <a:r>
              <a:rPr sz="2200" spc="-55" dirty="0">
                <a:latin typeface="Times New Roman"/>
                <a:cs typeface="Times New Roman"/>
              </a:rPr>
              <a:t> </a:t>
            </a:r>
            <a:r>
              <a:rPr sz="2200" dirty="0">
                <a:latin typeface="Times New Roman"/>
                <a:cs typeface="Times New Roman"/>
              </a:rPr>
              <a:t>remove_item();</a:t>
            </a:r>
            <a:r>
              <a:rPr sz="2200" spc="-20" dirty="0">
                <a:latin typeface="Times New Roman"/>
                <a:cs typeface="Times New Roman"/>
              </a:rPr>
              <a:t> </a:t>
            </a:r>
            <a:r>
              <a:rPr sz="2200" dirty="0">
                <a:latin typeface="Times New Roman"/>
                <a:cs typeface="Times New Roman"/>
              </a:rPr>
              <a:t>/*take</a:t>
            </a:r>
            <a:r>
              <a:rPr sz="2200" spc="-60" dirty="0">
                <a:latin typeface="Times New Roman"/>
                <a:cs typeface="Times New Roman"/>
              </a:rPr>
              <a:t> </a:t>
            </a:r>
            <a:r>
              <a:rPr sz="2200" dirty="0">
                <a:latin typeface="Times New Roman"/>
                <a:cs typeface="Times New Roman"/>
              </a:rPr>
              <a:t>item</a:t>
            </a:r>
            <a:r>
              <a:rPr sz="2200" spc="-55" dirty="0">
                <a:latin typeface="Times New Roman"/>
                <a:cs typeface="Times New Roman"/>
              </a:rPr>
              <a:t> </a:t>
            </a:r>
            <a:r>
              <a:rPr sz="2200" dirty="0">
                <a:latin typeface="Times New Roman"/>
                <a:cs typeface="Times New Roman"/>
              </a:rPr>
              <a:t>from</a:t>
            </a:r>
            <a:r>
              <a:rPr sz="2200" spc="-50" dirty="0">
                <a:latin typeface="Times New Roman"/>
                <a:cs typeface="Times New Roman"/>
              </a:rPr>
              <a:t> </a:t>
            </a:r>
            <a:r>
              <a:rPr sz="2200" spc="-10" dirty="0">
                <a:latin typeface="Times New Roman"/>
                <a:cs typeface="Times New Roman"/>
              </a:rPr>
              <a:t>buffer*/</a:t>
            </a:r>
            <a:endParaRPr sz="2200">
              <a:latin typeface="Times New Roman"/>
              <a:cs typeface="Times New Roman"/>
            </a:endParaRPr>
          </a:p>
          <a:p>
            <a:pPr marL="927100">
              <a:lnSpc>
                <a:spcPct val="100000"/>
              </a:lnSpc>
              <a:spcBef>
                <a:spcPts val="5"/>
              </a:spcBef>
            </a:pPr>
            <a:r>
              <a:rPr sz="2200" dirty="0">
                <a:latin typeface="Times New Roman"/>
                <a:cs typeface="Times New Roman"/>
              </a:rPr>
              <a:t>up(mutex);</a:t>
            </a:r>
            <a:r>
              <a:rPr sz="2200" spc="-95" dirty="0">
                <a:latin typeface="Times New Roman"/>
                <a:cs typeface="Times New Roman"/>
              </a:rPr>
              <a:t> </a:t>
            </a:r>
            <a:r>
              <a:rPr sz="2200" dirty="0">
                <a:latin typeface="Times New Roman"/>
                <a:cs typeface="Times New Roman"/>
              </a:rPr>
              <a:t>/*leave</a:t>
            </a:r>
            <a:r>
              <a:rPr sz="2200" spc="-105" dirty="0">
                <a:latin typeface="Times New Roman"/>
                <a:cs typeface="Times New Roman"/>
              </a:rPr>
              <a:t> </a:t>
            </a:r>
            <a:r>
              <a:rPr sz="2200" spc="-20" dirty="0">
                <a:latin typeface="Times New Roman"/>
                <a:cs typeface="Times New Roman"/>
              </a:rPr>
              <a:t>CR*/</a:t>
            </a:r>
            <a:endParaRPr sz="2200">
              <a:latin typeface="Times New Roman"/>
              <a:cs typeface="Times New Roman"/>
            </a:endParaRPr>
          </a:p>
          <a:p>
            <a:pPr marL="927100" marR="228600">
              <a:lnSpc>
                <a:spcPct val="100000"/>
              </a:lnSpc>
            </a:pPr>
            <a:r>
              <a:rPr sz="2200" dirty="0">
                <a:latin typeface="Times New Roman"/>
                <a:cs typeface="Times New Roman"/>
              </a:rPr>
              <a:t>up(empty);</a:t>
            </a:r>
            <a:r>
              <a:rPr sz="2200" spc="-85" dirty="0">
                <a:latin typeface="Times New Roman"/>
                <a:cs typeface="Times New Roman"/>
              </a:rPr>
              <a:t> </a:t>
            </a:r>
            <a:r>
              <a:rPr sz="2200" dirty="0">
                <a:latin typeface="Times New Roman"/>
                <a:cs typeface="Times New Roman"/>
              </a:rPr>
              <a:t>/*increment</a:t>
            </a:r>
            <a:r>
              <a:rPr sz="2200" spc="-50" dirty="0">
                <a:latin typeface="Times New Roman"/>
                <a:cs typeface="Times New Roman"/>
              </a:rPr>
              <a:t> </a:t>
            </a:r>
            <a:r>
              <a:rPr sz="2200" dirty="0">
                <a:latin typeface="Times New Roman"/>
                <a:cs typeface="Times New Roman"/>
              </a:rPr>
              <a:t>count</a:t>
            </a:r>
            <a:r>
              <a:rPr sz="2200" spc="-75" dirty="0">
                <a:latin typeface="Times New Roman"/>
                <a:cs typeface="Times New Roman"/>
              </a:rPr>
              <a:t> </a:t>
            </a:r>
            <a:r>
              <a:rPr sz="2200" dirty="0">
                <a:latin typeface="Times New Roman"/>
                <a:cs typeface="Times New Roman"/>
              </a:rPr>
              <a:t>of</a:t>
            </a:r>
            <a:r>
              <a:rPr sz="2200" spc="-70" dirty="0">
                <a:latin typeface="Times New Roman"/>
                <a:cs typeface="Times New Roman"/>
              </a:rPr>
              <a:t> </a:t>
            </a:r>
            <a:r>
              <a:rPr sz="2200" dirty="0">
                <a:latin typeface="Times New Roman"/>
                <a:cs typeface="Times New Roman"/>
              </a:rPr>
              <a:t>empty</a:t>
            </a:r>
            <a:r>
              <a:rPr sz="2200" spc="-55" dirty="0">
                <a:latin typeface="Times New Roman"/>
                <a:cs typeface="Times New Roman"/>
              </a:rPr>
              <a:t> </a:t>
            </a:r>
            <a:r>
              <a:rPr sz="2200" spc="-10" dirty="0">
                <a:latin typeface="Times New Roman"/>
                <a:cs typeface="Times New Roman"/>
              </a:rPr>
              <a:t>slots*/ </a:t>
            </a:r>
            <a:r>
              <a:rPr sz="2200" dirty="0">
                <a:latin typeface="Times New Roman"/>
                <a:cs typeface="Times New Roman"/>
              </a:rPr>
              <a:t>consume_item();</a:t>
            </a:r>
            <a:r>
              <a:rPr sz="2200" spc="-85" dirty="0">
                <a:latin typeface="Times New Roman"/>
                <a:cs typeface="Times New Roman"/>
              </a:rPr>
              <a:t> </a:t>
            </a:r>
            <a:r>
              <a:rPr sz="2200" dirty="0">
                <a:latin typeface="Times New Roman"/>
                <a:cs typeface="Times New Roman"/>
              </a:rPr>
              <a:t>/*print</a:t>
            </a:r>
            <a:r>
              <a:rPr sz="2200" spc="-120" dirty="0">
                <a:latin typeface="Times New Roman"/>
                <a:cs typeface="Times New Roman"/>
              </a:rPr>
              <a:t> </a:t>
            </a:r>
            <a:r>
              <a:rPr sz="2200" spc="-10" dirty="0">
                <a:latin typeface="Times New Roman"/>
                <a:cs typeface="Times New Roman"/>
              </a:rPr>
              <a:t>item*/</a:t>
            </a:r>
            <a:endParaRPr sz="2200">
              <a:latin typeface="Times New Roman"/>
              <a:cs typeface="Times New Roman"/>
            </a:endParaRPr>
          </a:p>
          <a:p>
            <a:pPr marL="927100">
              <a:lnSpc>
                <a:spcPts val="2625"/>
              </a:lnSpc>
            </a:pPr>
            <a:r>
              <a:rPr sz="2200" spc="-50" dirty="0">
                <a:latin typeface="Times New Roman"/>
                <a:cs typeface="Times New Roman"/>
              </a:rPr>
              <a:t>}</a:t>
            </a:r>
            <a:endParaRPr sz="2200">
              <a:latin typeface="Times New Roman"/>
              <a:cs typeface="Times New Roman"/>
            </a:endParaRPr>
          </a:p>
          <a:p>
            <a:pPr marL="12700">
              <a:lnSpc>
                <a:spcPts val="3585"/>
              </a:lnSpc>
            </a:pPr>
            <a:r>
              <a:rPr sz="3000" spc="-50" dirty="0">
                <a:latin typeface="Times New Roman"/>
                <a:cs typeface="Times New Roman"/>
              </a:rPr>
              <a:t>}</a:t>
            </a:r>
            <a:endParaRPr sz="3000">
              <a:latin typeface="Times New Roman"/>
              <a:cs typeface="Times New Roman"/>
            </a:endParaRPr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13335" rIns="0" bIns="0" rtlCol="0">
            <a:spAutoFit/>
          </a:bodyPr>
          <a:lstStyle/>
          <a:p>
            <a:pPr marL="12700" algn="ctr" rtl="0">
              <a:spcBef>
                <a:spcPts val="105"/>
              </a:spcBef>
            </a:pPr>
            <a:r>
              <a:rPr sz="3200" b="1" dirty="0">
                <a:solidFill>
                  <a:sysClr val="windowText" lastClr="000000"/>
                </a:solidFill>
                <a:latin typeface="+mj-lt"/>
                <a:cs typeface="+mj-cs"/>
              </a:rPr>
              <a:t>Semaphore’s attraction</a:t>
            </a:r>
          </a:p>
        </p:txBody>
      </p:sp>
      <p:sp>
        <p:nvSpPr>
          <p:cNvPr id="4" name="object 4"/>
          <p:cNvSpPr txBox="1">
            <a:spLocks noGrp="1"/>
          </p:cNvSpPr>
          <p:nvPr>
            <p:ph type="ftr" sz="quarter" idx="5"/>
          </p:nvPr>
        </p:nvSpPr>
        <p:spPr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12700">
              <a:lnSpc>
                <a:spcPts val="1240"/>
              </a:lnSpc>
            </a:pPr>
            <a:r>
              <a:rPr lang="pl-PL"/>
              <a:t>By Dr. Binod Kr. Adhikari</a:t>
            </a:r>
            <a:endParaRPr spc="-10" dirty="0"/>
          </a:p>
        </p:txBody>
      </p:sp>
      <p:sp>
        <p:nvSpPr>
          <p:cNvPr id="3" name="object 3"/>
          <p:cNvSpPr txBox="1"/>
          <p:nvPr/>
        </p:nvSpPr>
        <p:spPr>
          <a:xfrm>
            <a:off x="535940" y="1520984"/>
            <a:ext cx="7672705" cy="3640099"/>
          </a:xfrm>
          <a:prstGeom prst="rect">
            <a:avLst/>
          </a:prstGeom>
        </p:spPr>
        <p:txBody>
          <a:bodyPr vert="horz" wrap="square" lIns="0" tIns="112395" rIns="0" bIns="0" rtlCol="0">
            <a:spAutoFit/>
          </a:bodyPr>
          <a:lstStyle/>
          <a:p>
            <a:pPr marL="354965" indent="-342265">
              <a:lnSpc>
                <a:spcPct val="100000"/>
              </a:lnSpc>
              <a:spcBef>
                <a:spcPts val="885"/>
              </a:spcBef>
              <a:buFont typeface="Arial"/>
              <a:buChar char="•"/>
              <a:tabLst>
                <a:tab pos="354965" algn="l"/>
              </a:tabLst>
            </a:pPr>
            <a:r>
              <a:rPr sz="3200" dirty="0">
                <a:latin typeface="Times New Roman"/>
                <a:cs typeface="Times New Roman"/>
              </a:rPr>
              <a:t>The</a:t>
            </a:r>
            <a:r>
              <a:rPr lang="en-US" sz="3200" dirty="0">
                <a:latin typeface="Times New Roman"/>
                <a:cs typeface="Times New Roman"/>
              </a:rPr>
              <a:t>y</a:t>
            </a:r>
            <a:r>
              <a:rPr sz="3200" spc="-35" dirty="0">
                <a:latin typeface="Times New Roman"/>
                <a:cs typeface="Times New Roman"/>
              </a:rPr>
              <a:t> </a:t>
            </a:r>
            <a:r>
              <a:rPr sz="3200" dirty="0">
                <a:latin typeface="Times New Roman"/>
                <a:cs typeface="Times New Roman"/>
              </a:rPr>
              <a:t>have</a:t>
            </a:r>
            <a:r>
              <a:rPr sz="3200" spc="-15" dirty="0">
                <a:latin typeface="Times New Roman"/>
                <a:cs typeface="Times New Roman"/>
              </a:rPr>
              <a:t> </a:t>
            </a:r>
            <a:r>
              <a:rPr sz="3200" dirty="0">
                <a:latin typeface="Times New Roman"/>
                <a:cs typeface="Times New Roman"/>
              </a:rPr>
              <a:t>the</a:t>
            </a:r>
            <a:r>
              <a:rPr sz="3200" spc="-5" dirty="0">
                <a:latin typeface="Times New Roman"/>
                <a:cs typeface="Times New Roman"/>
              </a:rPr>
              <a:t> </a:t>
            </a:r>
            <a:r>
              <a:rPr sz="3200" dirty="0">
                <a:latin typeface="Times New Roman"/>
                <a:cs typeface="Times New Roman"/>
              </a:rPr>
              <a:t>following</a:t>
            </a:r>
            <a:r>
              <a:rPr sz="3200" spc="-40" dirty="0">
                <a:latin typeface="Times New Roman"/>
                <a:cs typeface="Times New Roman"/>
              </a:rPr>
              <a:t> </a:t>
            </a:r>
            <a:r>
              <a:rPr sz="3200" dirty="0">
                <a:latin typeface="Times New Roman"/>
                <a:cs typeface="Times New Roman"/>
              </a:rPr>
              <a:t>attractive</a:t>
            </a:r>
            <a:r>
              <a:rPr sz="3200" spc="-25" dirty="0">
                <a:latin typeface="Times New Roman"/>
                <a:cs typeface="Times New Roman"/>
              </a:rPr>
              <a:t> </a:t>
            </a:r>
            <a:r>
              <a:rPr sz="3200" spc="-10" dirty="0">
                <a:latin typeface="Times New Roman"/>
                <a:cs typeface="Times New Roman"/>
              </a:rPr>
              <a:t>properties</a:t>
            </a:r>
            <a:endParaRPr sz="3200" dirty="0">
              <a:latin typeface="Times New Roman"/>
              <a:cs typeface="Times New Roman"/>
            </a:endParaRPr>
          </a:p>
          <a:p>
            <a:pPr marL="756285" lvl="1" indent="-286385">
              <a:lnSpc>
                <a:spcPct val="100000"/>
              </a:lnSpc>
              <a:spcBef>
                <a:spcPts val="675"/>
              </a:spcBef>
              <a:buFont typeface="Arial"/>
              <a:buChar char="–"/>
              <a:tabLst>
                <a:tab pos="756285" algn="l"/>
              </a:tabLst>
            </a:pPr>
            <a:r>
              <a:rPr sz="2800" dirty="0">
                <a:solidFill>
                  <a:srgbClr val="00B050"/>
                </a:solidFill>
                <a:latin typeface="Times New Roman"/>
                <a:cs typeface="Times New Roman"/>
              </a:rPr>
              <a:t>Machine</a:t>
            </a:r>
            <a:r>
              <a:rPr sz="2800" spc="-50" dirty="0">
                <a:solidFill>
                  <a:srgbClr val="00B050"/>
                </a:solidFill>
                <a:latin typeface="Times New Roman"/>
                <a:cs typeface="Times New Roman"/>
              </a:rPr>
              <a:t> </a:t>
            </a:r>
            <a:r>
              <a:rPr sz="2800" spc="-10" dirty="0">
                <a:solidFill>
                  <a:srgbClr val="00B050"/>
                </a:solidFill>
                <a:latin typeface="Times New Roman"/>
                <a:cs typeface="Times New Roman"/>
              </a:rPr>
              <a:t>independent</a:t>
            </a:r>
            <a:endParaRPr sz="2800" dirty="0">
              <a:solidFill>
                <a:srgbClr val="00B050"/>
              </a:solidFill>
              <a:latin typeface="Times New Roman"/>
              <a:cs typeface="Times New Roman"/>
            </a:endParaRPr>
          </a:p>
          <a:p>
            <a:pPr marL="756285" lvl="1" indent="-286385">
              <a:lnSpc>
                <a:spcPct val="100000"/>
              </a:lnSpc>
              <a:spcBef>
                <a:spcPts val="670"/>
              </a:spcBef>
              <a:buFont typeface="Arial"/>
              <a:buChar char="–"/>
              <a:tabLst>
                <a:tab pos="756285" algn="l"/>
              </a:tabLst>
            </a:pPr>
            <a:r>
              <a:rPr sz="2800" b="1" spc="-10" dirty="0">
                <a:solidFill>
                  <a:srgbClr val="00B050"/>
                </a:solidFill>
                <a:latin typeface="Times New Roman"/>
                <a:cs typeface="Times New Roman"/>
              </a:rPr>
              <a:t>Simple</a:t>
            </a:r>
            <a:endParaRPr sz="2800" b="1" dirty="0">
              <a:solidFill>
                <a:srgbClr val="00B050"/>
              </a:solidFill>
              <a:latin typeface="Times New Roman"/>
              <a:cs typeface="Times New Roman"/>
            </a:endParaRPr>
          </a:p>
          <a:p>
            <a:pPr marL="756285" lvl="1" indent="-286385">
              <a:lnSpc>
                <a:spcPct val="100000"/>
              </a:lnSpc>
              <a:spcBef>
                <a:spcPts val="675"/>
              </a:spcBef>
              <a:buFont typeface="Arial"/>
              <a:buChar char="–"/>
              <a:tabLst>
                <a:tab pos="756285" algn="l"/>
              </a:tabLst>
            </a:pPr>
            <a:r>
              <a:rPr sz="2800" b="1" dirty="0">
                <a:solidFill>
                  <a:srgbClr val="00B050"/>
                </a:solidFill>
                <a:latin typeface="Times New Roman"/>
                <a:cs typeface="Times New Roman"/>
              </a:rPr>
              <a:t>Powerful</a:t>
            </a:r>
            <a:r>
              <a:rPr sz="2800" dirty="0">
                <a:latin typeface="Times New Roman"/>
                <a:cs typeface="Times New Roman"/>
              </a:rPr>
              <a:t>:</a:t>
            </a:r>
            <a:r>
              <a:rPr sz="2800" spc="-70" dirty="0">
                <a:latin typeface="Times New Roman"/>
                <a:cs typeface="Times New Roman"/>
              </a:rPr>
              <a:t> </a:t>
            </a:r>
            <a:r>
              <a:rPr sz="2800" dirty="0">
                <a:latin typeface="Times New Roman"/>
                <a:cs typeface="Times New Roman"/>
              </a:rPr>
              <a:t>provide</a:t>
            </a:r>
            <a:r>
              <a:rPr sz="2800" spc="-80" dirty="0">
                <a:latin typeface="Times New Roman"/>
                <a:cs typeface="Times New Roman"/>
              </a:rPr>
              <a:t> </a:t>
            </a:r>
            <a:r>
              <a:rPr sz="2800" dirty="0">
                <a:latin typeface="Times New Roman"/>
                <a:cs typeface="Times New Roman"/>
              </a:rPr>
              <a:t>exclusion</a:t>
            </a:r>
            <a:r>
              <a:rPr sz="2800" spc="-75" dirty="0">
                <a:latin typeface="Times New Roman"/>
                <a:cs typeface="Times New Roman"/>
              </a:rPr>
              <a:t> </a:t>
            </a:r>
            <a:r>
              <a:rPr sz="2800" dirty="0">
                <a:latin typeface="Times New Roman"/>
                <a:cs typeface="Times New Roman"/>
              </a:rPr>
              <a:t>and</a:t>
            </a:r>
            <a:r>
              <a:rPr sz="2800" spc="-60" dirty="0">
                <a:latin typeface="Times New Roman"/>
                <a:cs typeface="Times New Roman"/>
              </a:rPr>
              <a:t> </a:t>
            </a:r>
            <a:r>
              <a:rPr sz="2800" spc="-10" dirty="0">
                <a:latin typeface="Times New Roman"/>
                <a:cs typeface="Times New Roman"/>
              </a:rPr>
              <a:t>waiting</a:t>
            </a:r>
            <a:endParaRPr sz="2800" dirty="0">
              <a:latin typeface="Times New Roman"/>
              <a:cs typeface="Times New Roman"/>
            </a:endParaRPr>
          </a:p>
          <a:p>
            <a:pPr marL="756285" lvl="1" indent="-286385">
              <a:lnSpc>
                <a:spcPct val="100000"/>
              </a:lnSpc>
              <a:spcBef>
                <a:spcPts val="670"/>
              </a:spcBef>
              <a:buFont typeface="Arial"/>
              <a:buChar char="–"/>
              <a:tabLst>
                <a:tab pos="756285" algn="l"/>
              </a:tabLst>
            </a:pPr>
            <a:r>
              <a:rPr sz="2800" b="1" spc="-40" dirty="0">
                <a:solidFill>
                  <a:srgbClr val="00B050"/>
                </a:solidFill>
                <a:latin typeface="Times New Roman"/>
                <a:cs typeface="Times New Roman"/>
              </a:rPr>
              <a:t>Work</a:t>
            </a:r>
            <a:r>
              <a:rPr sz="2800" b="1" spc="-80" dirty="0">
                <a:solidFill>
                  <a:srgbClr val="00B050"/>
                </a:solidFill>
                <a:latin typeface="Times New Roman"/>
                <a:cs typeface="Times New Roman"/>
              </a:rPr>
              <a:t> </a:t>
            </a:r>
            <a:r>
              <a:rPr sz="2800" b="1" dirty="0">
                <a:solidFill>
                  <a:srgbClr val="00B050"/>
                </a:solidFill>
                <a:latin typeface="Times New Roman"/>
                <a:cs typeface="Times New Roman"/>
              </a:rPr>
              <a:t>with</a:t>
            </a:r>
            <a:r>
              <a:rPr sz="2800" b="1" spc="-75" dirty="0">
                <a:solidFill>
                  <a:srgbClr val="00B050"/>
                </a:solidFill>
                <a:latin typeface="Times New Roman"/>
                <a:cs typeface="Times New Roman"/>
              </a:rPr>
              <a:t> </a:t>
            </a:r>
            <a:r>
              <a:rPr sz="2800" b="1" dirty="0">
                <a:solidFill>
                  <a:srgbClr val="00B050"/>
                </a:solidFill>
                <a:latin typeface="Times New Roman"/>
                <a:cs typeface="Times New Roman"/>
              </a:rPr>
              <a:t>many</a:t>
            </a:r>
            <a:r>
              <a:rPr sz="2800" b="1" spc="-60" dirty="0">
                <a:solidFill>
                  <a:srgbClr val="00B050"/>
                </a:solidFill>
                <a:latin typeface="Times New Roman"/>
                <a:cs typeface="Times New Roman"/>
              </a:rPr>
              <a:t> </a:t>
            </a:r>
            <a:r>
              <a:rPr sz="2800" b="1" spc="-10" dirty="0">
                <a:solidFill>
                  <a:srgbClr val="00B050"/>
                </a:solidFill>
                <a:latin typeface="Times New Roman"/>
                <a:cs typeface="Times New Roman"/>
              </a:rPr>
              <a:t>process</a:t>
            </a:r>
            <a:endParaRPr sz="2800" b="1" dirty="0">
              <a:solidFill>
                <a:srgbClr val="00B050"/>
              </a:solidFill>
              <a:latin typeface="Times New Roman"/>
              <a:cs typeface="Times New Roman"/>
            </a:endParaRPr>
          </a:p>
          <a:p>
            <a:pPr marL="755015" marR="5080" lvl="1" indent="-285750">
              <a:lnSpc>
                <a:spcPct val="100000"/>
              </a:lnSpc>
              <a:spcBef>
                <a:spcPts val="675"/>
              </a:spcBef>
              <a:buFont typeface="Arial"/>
              <a:buChar char="–"/>
              <a:tabLst>
                <a:tab pos="756285" algn="l"/>
              </a:tabLst>
            </a:pPr>
            <a:r>
              <a:rPr sz="2800" dirty="0">
                <a:latin typeface="Times New Roman"/>
                <a:cs typeface="Times New Roman"/>
              </a:rPr>
              <a:t>Can</a:t>
            </a:r>
            <a:r>
              <a:rPr sz="2800" spc="-45" dirty="0">
                <a:latin typeface="Times New Roman"/>
                <a:cs typeface="Times New Roman"/>
              </a:rPr>
              <a:t> </a:t>
            </a:r>
            <a:r>
              <a:rPr sz="2800" dirty="0">
                <a:latin typeface="Times New Roman"/>
                <a:cs typeface="Times New Roman"/>
              </a:rPr>
              <a:t>ask</a:t>
            </a:r>
            <a:r>
              <a:rPr sz="2800" spc="-30" dirty="0">
                <a:latin typeface="Times New Roman"/>
                <a:cs typeface="Times New Roman"/>
              </a:rPr>
              <a:t> </a:t>
            </a:r>
            <a:r>
              <a:rPr sz="2800" dirty="0">
                <a:latin typeface="Times New Roman"/>
                <a:cs typeface="Times New Roman"/>
              </a:rPr>
              <a:t>for</a:t>
            </a:r>
            <a:r>
              <a:rPr sz="2800" spc="-20" dirty="0">
                <a:latin typeface="Times New Roman"/>
                <a:cs typeface="Times New Roman"/>
              </a:rPr>
              <a:t> </a:t>
            </a:r>
            <a:r>
              <a:rPr sz="2800" dirty="0">
                <a:latin typeface="Times New Roman"/>
                <a:cs typeface="Times New Roman"/>
              </a:rPr>
              <a:t>many</a:t>
            </a:r>
            <a:r>
              <a:rPr sz="2800" spc="-25" dirty="0">
                <a:latin typeface="Times New Roman"/>
                <a:cs typeface="Times New Roman"/>
              </a:rPr>
              <a:t> </a:t>
            </a:r>
            <a:r>
              <a:rPr sz="2800" dirty="0">
                <a:latin typeface="Times New Roman"/>
                <a:cs typeface="Times New Roman"/>
              </a:rPr>
              <a:t>resources</a:t>
            </a:r>
            <a:r>
              <a:rPr sz="2800" spc="-30" dirty="0">
                <a:latin typeface="Times New Roman"/>
                <a:cs typeface="Times New Roman"/>
              </a:rPr>
              <a:t> </a:t>
            </a:r>
            <a:r>
              <a:rPr sz="2800" dirty="0">
                <a:latin typeface="Times New Roman"/>
                <a:cs typeface="Times New Roman"/>
              </a:rPr>
              <a:t>simultaneously</a:t>
            </a:r>
            <a:r>
              <a:rPr sz="2800" spc="-45" dirty="0">
                <a:latin typeface="Times New Roman"/>
                <a:cs typeface="Times New Roman"/>
              </a:rPr>
              <a:t> </a:t>
            </a:r>
            <a:r>
              <a:rPr sz="2800" spc="-20" dirty="0">
                <a:latin typeface="Times New Roman"/>
                <a:cs typeface="Times New Roman"/>
              </a:rPr>
              <a:t>with 	</a:t>
            </a:r>
            <a:r>
              <a:rPr sz="2800" dirty="0">
                <a:latin typeface="Times New Roman"/>
                <a:cs typeface="Times New Roman"/>
              </a:rPr>
              <a:t>multiple</a:t>
            </a:r>
            <a:r>
              <a:rPr sz="2800" spc="-70" dirty="0">
                <a:latin typeface="Times New Roman"/>
                <a:cs typeface="Times New Roman"/>
              </a:rPr>
              <a:t> </a:t>
            </a:r>
            <a:r>
              <a:rPr sz="2800" dirty="0">
                <a:latin typeface="Times New Roman"/>
                <a:cs typeface="Times New Roman"/>
              </a:rPr>
              <a:t>down</a:t>
            </a:r>
            <a:r>
              <a:rPr sz="2800" spc="-35" dirty="0">
                <a:latin typeface="Times New Roman"/>
                <a:cs typeface="Times New Roman"/>
              </a:rPr>
              <a:t> </a:t>
            </a:r>
            <a:r>
              <a:rPr sz="2800" spc="-10" dirty="0">
                <a:latin typeface="Times New Roman"/>
                <a:cs typeface="Times New Roman"/>
              </a:rPr>
              <a:t>operations</a:t>
            </a:r>
            <a:endParaRPr sz="2800" dirty="0">
              <a:latin typeface="Times New Roman"/>
              <a:cs typeface="Times New Roman"/>
            </a:endParaRPr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13335" rIns="0" bIns="0" rtlCol="0">
            <a:spAutoFit/>
          </a:bodyPr>
          <a:lstStyle/>
          <a:p>
            <a:pPr marL="12700" algn="ctr" rtl="0">
              <a:spcBef>
                <a:spcPts val="105"/>
              </a:spcBef>
            </a:pPr>
            <a:r>
              <a:rPr sz="3200" b="1" dirty="0">
                <a:solidFill>
                  <a:sysClr val="windowText" lastClr="000000"/>
                </a:solidFill>
                <a:latin typeface="+mj-lt"/>
                <a:cs typeface="+mj-cs"/>
              </a:rPr>
              <a:t>Message Passing</a:t>
            </a:r>
          </a:p>
        </p:txBody>
      </p:sp>
      <p:sp>
        <p:nvSpPr>
          <p:cNvPr id="4" name="object 4"/>
          <p:cNvSpPr txBox="1">
            <a:spLocks noGrp="1"/>
          </p:cNvSpPr>
          <p:nvPr>
            <p:ph type="ftr" sz="quarter" idx="5"/>
          </p:nvPr>
        </p:nvSpPr>
        <p:spPr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12700">
              <a:lnSpc>
                <a:spcPts val="1240"/>
              </a:lnSpc>
            </a:pPr>
            <a:r>
              <a:rPr lang="pl-PL"/>
              <a:t>By Dr. Binod Kr. Adhikari</a:t>
            </a:r>
            <a:endParaRPr spc="-10" dirty="0"/>
          </a:p>
        </p:txBody>
      </p:sp>
      <p:sp>
        <p:nvSpPr>
          <p:cNvPr id="3" name="object 3"/>
          <p:cNvSpPr txBox="1"/>
          <p:nvPr/>
        </p:nvSpPr>
        <p:spPr>
          <a:xfrm>
            <a:off x="535940" y="1561541"/>
            <a:ext cx="7959725" cy="3746500"/>
          </a:xfrm>
          <a:prstGeom prst="rect">
            <a:avLst/>
          </a:prstGeom>
        </p:spPr>
        <p:txBody>
          <a:bodyPr vert="horz" wrap="square" lIns="0" tIns="13335" rIns="0" bIns="0" rtlCol="0">
            <a:spAutoFit/>
          </a:bodyPr>
          <a:lstStyle/>
          <a:p>
            <a:pPr marL="342265" marR="537210" indent="-342265" algn="r">
              <a:lnSpc>
                <a:spcPts val="2160"/>
              </a:lnSpc>
              <a:spcBef>
                <a:spcPts val="105"/>
              </a:spcBef>
              <a:buFont typeface="Arial"/>
              <a:buChar char="•"/>
              <a:tabLst>
                <a:tab pos="342265" algn="l"/>
              </a:tabLst>
            </a:pPr>
            <a:r>
              <a:rPr sz="2000" dirty="0">
                <a:latin typeface="Calibri"/>
                <a:cs typeface="Calibri"/>
              </a:rPr>
              <a:t>With</a:t>
            </a:r>
            <a:r>
              <a:rPr sz="2000" spc="-60" dirty="0">
                <a:latin typeface="Calibri"/>
                <a:cs typeface="Calibri"/>
              </a:rPr>
              <a:t> </a:t>
            </a:r>
            <a:r>
              <a:rPr sz="2000" dirty="0">
                <a:latin typeface="Calibri"/>
                <a:cs typeface="Calibri"/>
              </a:rPr>
              <a:t>the</a:t>
            </a:r>
            <a:r>
              <a:rPr sz="2000" spc="-50" dirty="0">
                <a:latin typeface="Calibri"/>
                <a:cs typeface="Calibri"/>
              </a:rPr>
              <a:t> </a:t>
            </a:r>
            <a:r>
              <a:rPr sz="2000" dirty="0">
                <a:latin typeface="Calibri"/>
                <a:cs typeface="Calibri"/>
              </a:rPr>
              <a:t>trend</a:t>
            </a:r>
            <a:r>
              <a:rPr sz="2000" spc="-35" dirty="0">
                <a:latin typeface="Calibri"/>
                <a:cs typeface="Calibri"/>
              </a:rPr>
              <a:t> </a:t>
            </a:r>
            <a:r>
              <a:rPr sz="2000" dirty="0">
                <a:latin typeface="Calibri"/>
                <a:cs typeface="Calibri"/>
              </a:rPr>
              <a:t>of</a:t>
            </a:r>
            <a:r>
              <a:rPr sz="2000" spc="-45" dirty="0">
                <a:latin typeface="Calibri"/>
                <a:cs typeface="Calibri"/>
              </a:rPr>
              <a:t> </a:t>
            </a:r>
            <a:r>
              <a:rPr sz="2000" spc="-10" dirty="0">
                <a:latin typeface="Calibri"/>
                <a:cs typeface="Calibri"/>
              </a:rPr>
              <a:t>distributed</a:t>
            </a:r>
            <a:r>
              <a:rPr sz="2000" spc="-35" dirty="0">
                <a:latin typeface="Calibri"/>
                <a:cs typeface="Calibri"/>
              </a:rPr>
              <a:t> </a:t>
            </a:r>
            <a:r>
              <a:rPr sz="2000" dirty="0">
                <a:latin typeface="Calibri"/>
                <a:cs typeface="Calibri"/>
              </a:rPr>
              <a:t>operating</a:t>
            </a:r>
            <a:r>
              <a:rPr sz="2000" spc="-45" dirty="0">
                <a:latin typeface="Calibri"/>
                <a:cs typeface="Calibri"/>
              </a:rPr>
              <a:t> </a:t>
            </a:r>
            <a:r>
              <a:rPr sz="2000" spc="-10" dirty="0">
                <a:latin typeface="Calibri"/>
                <a:cs typeface="Calibri"/>
              </a:rPr>
              <a:t>system,</a:t>
            </a:r>
            <a:r>
              <a:rPr sz="2000" spc="-25" dirty="0">
                <a:latin typeface="Calibri"/>
                <a:cs typeface="Calibri"/>
              </a:rPr>
              <a:t> </a:t>
            </a:r>
            <a:r>
              <a:rPr sz="2000" dirty="0">
                <a:latin typeface="Calibri"/>
                <a:cs typeface="Calibri"/>
              </a:rPr>
              <a:t>many</a:t>
            </a:r>
            <a:r>
              <a:rPr sz="2000" spc="-40" dirty="0">
                <a:latin typeface="Calibri"/>
                <a:cs typeface="Calibri"/>
              </a:rPr>
              <a:t> </a:t>
            </a:r>
            <a:r>
              <a:rPr sz="2000" dirty="0">
                <a:latin typeface="Calibri"/>
                <a:cs typeface="Calibri"/>
              </a:rPr>
              <a:t>OS</a:t>
            </a:r>
            <a:r>
              <a:rPr sz="2000" spc="-45" dirty="0">
                <a:latin typeface="Calibri"/>
                <a:cs typeface="Calibri"/>
              </a:rPr>
              <a:t> </a:t>
            </a:r>
            <a:r>
              <a:rPr sz="2000" dirty="0">
                <a:latin typeface="Calibri"/>
                <a:cs typeface="Calibri"/>
              </a:rPr>
              <a:t>are</a:t>
            </a:r>
            <a:r>
              <a:rPr sz="2000" spc="-40" dirty="0">
                <a:latin typeface="Calibri"/>
                <a:cs typeface="Calibri"/>
              </a:rPr>
              <a:t> </a:t>
            </a:r>
            <a:r>
              <a:rPr sz="2000" dirty="0">
                <a:latin typeface="Calibri"/>
                <a:cs typeface="Calibri"/>
              </a:rPr>
              <a:t>used</a:t>
            </a:r>
            <a:r>
              <a:rPr sz="2000" spc="-50" dirty="0">
                <a:latin typeface="Calibri"/>
                <a:cs typeface="Calibri"/>
              </a:rPr>
              <a:t> </a:t>
            </a:r>
            <a:r>
              <a:rPr sz="2000" spc="-25" dirty="0">
                <a:latin typeface="Calibri"/>
                <a:cs typeface="Calibri"/>
              </a:rPr>
              <a:t>to</a:t>
            </a:r>
            <a:endParaRPr sz="2000" dirty="0">
              <a:latin typeface="Calibri"/>
              <a:cs typeface="Calibri"/>
            </a:endParaRPr>
          </a:p>
          <a:p>
            <a:pPr marR="481965" algn="r">
              <a:lnSpc>
                <a:spcPts val="2160"/>
              </a:lnSpc>
            </a:pPr>
            <a:r>
              <a:rPr sz="2000" spc="-10" dirty="0">
                <a:latin typeface="Calibri"/>
                <a:cs typeface="Calibri"/>
              </a:rPr>
              <a:t>communicate</a:t>
            </a:r>
            <a:r>
              <a:rPr sz="2000" spc="-75" dirty="0">
                <a:latin typeface="Calibri"/>
                <a:cs typeface="Calibri"/>
              </a:rPr>
              <a:t> </a:t>
            </a:r>
            <a:r>
              <a:rPr sz="2000" dirty="0">
                <a:latin typeface="Calibri"/>
                <a:cs typeface="Calibri"/>
              </a:rPr>
              <a:t>through</a:t>
            </a:r>
            <a:r>
              <a:rPr sz="2000" spc="-85" dirty="0">
                <a:latin typeface="Calibri"/>
                <a:cs typeface="Calibri"/>
              </a:rPr>
              <a:t> </a:t>
            </a:r>
            <a:r>
              <a:rPr sz="2000" spc="-10" dirty="0">
                <a:latin typeface="Calibri"/>
                <a:cs typeface="Calibri"/>
              </a:rPr>
              <a:t>Internet,</a:t>
            </a:r>
            <a:r>
              <a:rPr sz="2000" spc="-60" dirty="0">
                <a:latin typeface="Calibri"/>
                <a:cs typeface="Calibri"/>
              </a:rPr>
              <a:t> </a:t>
            </a:r>
            <a:r>
              <a:rPr sz="2000" spc="-10" dirty="0">
                <a:latin typeface="Calibri"/>
                <a:cs typeface="Calibri"/>
              </a:rPr>
              <a:t>intranet,</a:t>
            </a:r>
            <a:r>
              <a:rPr sz="2000" spc="-50" dirty="0">
                <a:latin typeface="Calibri"/>
                <a:cs typeface="Calibri"/>
              </a:rPr>
              <a:t> </a:t>
            </a:r>
            <a:r>
              <a:rPr sz="2000" dirty="0">
                <a:latin typeface="Calibri"/>
                <a:cs typeface="Calibri"/>
              </a:rPr>
              <a:t>remote</a:t>
            </a:r>
            <a:r>
              <a:rPr sz="2000" spc="-60" dirty="0">
                <a:latin typeface="Calibri"/>
                <a:cs typeface="Calibri"/>
              </a:rPr>
              <a:t> </a:t>
            </a:r>
            <a:r>
              <a:rPr sz="2000" dirty="0">
                <a:latin typeface="Calibri"/>
                <a:cs typeface="Calibri"/>
              </a:rPr>
              <a:t>data</a:t>
            </a:r>
            <a:r>
              <a:rPr sz="2000" spc="-65" dirty="0">
                <a:latin typeface="Calibri"/>
                <a:cs typeface="Calibri"/>
              </a:rPr>
              <a:t> </a:t>
            </a:r>
            <a:r>
              <a:rPr sz="2000" dirty="0">
                <a:latin typeface="Calibri"/>
                <a:cs typeface="Calibri"/>
              </a:rPr>
              <a:t>processing</a:t>
            </a:r>
            <a:r>
              <a:rPr sz="2000" spc="-55" dirty="0">
                <a:latin typeface="Calibri"/>
                <a:cs typeface="Calibri"/>
              </a:rPr>
              <a:t> </a:t>
            </a:r>
            <a:r>
              <a:rPr sz="2000" spc="-20" dirty="0">
                <a:latin typeface="Calibri"/>
                <a:cs typeface="Calibri"/>
              </a:rPr>
              <a:t>etc.</a:t>
            </a:r>
            <a:endParaRPr sz="2000" dirty="0">
              <a:latin typeface="Calibri"/>
              <a:cs typeface="Calibri"/>
            </a:endParaRPr>
          </a:p>
          <a:p>
            <a:pPr marL="354965" indent="-342265">
              <a:lnSpc>
                <a:spcPct val="100000"/>
              </a:lnSpc>
              <a:spcBef>
                <a:spcPts val="2400"/>
              </a:spcBef>
              <a:buFont typeface="Arial"/>
              <a:buChar char="•"/>
              <a:tabLst>
                <a:tab pos="354965" algn="l"/>
              </a:tabLst>
            </a:pPr>
            <a:r>
              <a:rPr sz="2000" dirty="0">
                <a:latin typeface="Calibri"/>
                <a:cs typeface="Calibri"/>
              </a:rPr>
              <a:t>Inter</a:t>
            </a:r>
            <a:r>
              <a:rPr sz="2000" spc="-65" dirty="0">
                <a:latin typeface="Calibri"/>
                <a:cs typeface="Calibri"/>
              </a:rPr>
              <a:t> </a:t>
            </a:r>
            <a:r>
              <a:rPr sz="2000" dirty="0">
                <a:latin typeface="Calibri"/>
                <a:cs typeface="Calibri"/>
              </a:rPr>
              <a:t>process</a:t>
            </a:r>
            <a:r>
              <a:rPr sz="2000" spc="-45" dirty="0">
                <a:latin typeface="Calibri"/>
                <a:cs typeface="Calibri"/>
              </a:rPr>
              <a:t> </a:t>
            </a:r>
            <a:r>
              <a:rPr sz="2000" spc="-10" dirty="0">
                <a:latin typeface="Calibri"/>
                <a:cs typeface="Calibri"/>
              </a:rPr>
              <a:t>communication</a:t>
            </a:r>
            <a:r>
              <a:rPr sz="2000" spc="-75" dirty="0">
                <a:latin typeface="Calibri"/>
                <a:cs typeface="Calibri"/>
              </a:rPr>
              <a:t> </a:t>
            </a:r>
            <a:r>
              <a:rPr sz="2000" dirty="0">
                <a:latin typeface="Calibri"/>
                <a:cs typeface="Calibri"/>
              </a:rPr>
              <a:t>based</a:t>
            </a:r>
            <a:r>
              <a:rPr sz="2000" spc="-50" dirty="0">
                <a:latin typeface="Calibri"/>
                <a:cs typeface="Calibri"/>
              </a:rPr>
              <a:t> </a:t>
            </a:r>
            <a:r>
              <a:rPr sz="2000" dirty="0">
                <a:latin typeface="Calibri"/>
                <a:cs typeface="Calibri"/>
              </a:rPr>
              <a:t>on</a:t>
            </a:r>
            <a:r>
              <a:rPr sz="2000" spc="-50" dirty="0">
                <a:latin typeface="Calibri"/>
                <a:cs typeface="Calibri"/>
              </a:rPr>
              <a:t> </a:t>
            </a:r>
            <a:r>
              <a:rPr sz="2000" dirty="0">
                <a:latin typeface="Calibri"/>
                <a:cs typeface="Calibri"/>
              </a:rPr>
              <a:t>two</a:t>
            </a:r>
            <a:r>
              <a:rPr sz="2000" spc="-60" dirty="0">
                <a:latin typeface="Calibri"/>
                <a:cs typeface="Calibri"/>
              </a:rPr>
              <a:t> </a:t>
            </a:r>
            <a:r>
              <a:rPr sz="2000" dirty="0">
                <a:latin typeface="Calibri"/>
                <a:cs typeface="Calibri"/>
              </a:rPr>
              <a:t>primitives</a:t>
            </a:r>
            <a:r>
              <a:rPr sz="2000" spc="-25" dirty="0">
                <a:latin typeface="Calibri"/>
                <a:cs typeface="Calibri"/>
              </a:rPr>
              <a:t> </a:t>
            </a:r>
            <a:r>
              <a:rPr sz="2000" spc="-10" dirty="0">
                <a:latin typeface="Calibri"/>
                <a:cs typeface="Calibri"/>
              </a:rPr>
              <a:t>operations:</a:t>
            </a:r>
            <a:endParaRPr sz="2000" dirty="0">
              <a:latin typeface="Calibri"/>
              <a:cs typeface="Calibri"/>
            </a:endParaRPr>
          </a:p>
          <a:p>
            <a:pPr marL="806450" lvl="1" indent="-336550">
              <a:lnSpc>
                <a:spcPct val="100000"/>
              </a:lnSpc>
              <a:spcBef>
                <a:spcPts val="10"/>
              </a:spcBef>
              <a:buFont typeface="Arial"/>
              <a:buChar char="–"/>
              <a:tabLst>
                <a:tab pos="806450" algn="l"/>
              </a:tabLst>
            </a:pPr>
            <a:r>
              <a:rPr sz="1800" b="1" spc="-20" dirty="0">
                <a:solidFill>
                  <a:srgbClr val="00B050"/>
                </a:solidFill>
                <a:latin typeface="Calibri"/>
                <a:cs typeface="Calibri"/>
              </a:rPr>
              <a:t>send</a:t>
            </a:r>
            <a:endParaRPr sz="1800" b="1" dirty="0">
              <a:solidFill>
                <a:srgbClr val="00B050"/>
              </a:solidFill>
              <a:latin typeface="Calibri"/>
              <a:cs typeface="Calibri"/>
            </a:endParaRPr>
          </a:p>
          <a:p>
            <a:pPr marL="806450" lvl="1" indent="-336550">
              <a:lnSpc>
                <a:spcPct val="100000"/>
              </a:lnSpc>
              <a:buFont typeface="Arial"/>
              <a:buChar char="–"/>
              <a:tabLst>
                <a:tab pos="806450" algn="l"/>
              </a:tabLst>
            </a:pPr>
            <a:r>
              <a:rPr sz="1800" b="1" dirty="0">
                <a:solidFill>
                  <a:srgbClr val="00B050"/>
                </a:solidFill>
                <a:latin typeface="Calibri"/>
                <a:cs typeface="Calibri"/>
              </a:rPr>
              <a:t>and</a:t>
            </a:r>
            <a:r>
              <a:rPr sz="1800" b="1" spc="-30" dirty="0">
                <a:solidFill>
                  <a:srgbClr val="00B050"/>
                </a:solidFill>
                <a:latin typeface="Calibri"/>
                <a:cs typeface="Calibri"/>
              </a:rPr>
              <a:t> </a:t>
            </a:r>
            <a:r>
              <a:rPr sz="1800" b="1" spc="-10" dirty="0">
                <a:solidFill>
                  <a:srgbClr val="00B050"/>
                </a:solidFill>
                <a:latin typeface="Calibri"/>
                <a:cs typeface="Calibri"/>
              </a:rPr>
              <a:t>receive.</a:t>
            </a:r>
            <a:endParaRPr sz="1800" b="1" dirty="0">
              <a:solidFill>
                <a:srgbClr val="00B050"/>
              </a:solidFill>
              <a:latin typeface="Calibri"/>
              <a:cs typeface="Calibri"/>
            </a:endParaRPr>
          </a:p>
          <a:p>
            <a:pPr lvl="1">
              <a:lnSpc>
                <a:spcPct val="100000"/>
              </a:lnSpc>
              <a:spcBef>
                <a:spcPts val="195"/>
              </a:spcBef>
              <a:buFont typeface="Arial"/>
              <a:buChar char="–"/>
            </a:pPr>
            <a:endParaRPr sz="1800" dirty="0">
              <a:latin typeface="Calibri"/>
              <a:cs typeface="Calibri"/>
            </a:endParaRPr>
          </a:p>
          <a:p>
            <a:pPr marL="354965" indent="-342265">
              <a:lnSpc>
                <a:spcPct val="100000"/>
              </a:lnSpc>
              <a:buFont typeface="Arial"/>
              <a:buChar char="•"/>
              <a:tabLst>
                <a:tab pos="354965" algn="l"/>
              </a:tabLst>
            </a:pPr>
            <a:r>
              <a:rPr sz="2000" dirty="0">
                <a:latin typeface="Calibri"/>
                <a:cs typeface="Calibri"/>
              </a:rPr>
              <a:t>The</a:t>
            </a:r>
            <a:r>
              <a:rPr sz="2000" spc="-55" dirty="0">
                <a:latin typeface="Calibri"/>
                <a:cs typeface="Calibri"/>
              </a:rPr>
              <a:t> </a:t>
            </a:r>
            <a:r>
              <a:rPr sz="2000" spc="-10" dirty="0">
                <a:latin typeface="Calibri"/>
                <a:cs typeface="Calibri"/>
              </a:rPr>
              <a:t>general</a:t>
            </a:r>
            <a:r>
              <a:rPr sz="2000" spc="-60" dirty="0">
                <a:latin typeface="Calibri"/>
                <a:cs typeface="Calibri"/>
              </a:rPr>
              <a:t> </a:t>
            </a:r>
            <a:r>
              <a:rPr sz="2000" spc="-10" dirty="0">
                <a:latin typeface="Calibri"/>
                <a:cs typeface="Calibri"/>
              </a:rPr>
              <a:t>syntax</a:t>
            </a:r>
            <a:r>
              <a:rPr sz="2000" spc="-40" dirty="0">
                <a:latin typeface="Calibri"/>
                <a:cs typeface="Calibri"/>
              </a:rPr>
              <a:t> </a:t>
            </a:r>
            <a:r>
              <a:rPr sz="2000" dirty="0">
                <a:latin typeface="Calibri"/>
                <a:cs typeface="Calibri"/>
              </a:rPr>
              <a:t>for</a:t>
            </a:r>
            <a:r>
              <a:rPr sz="2000" spc="-70" dirty="0">
                <a:latin typeface="Calibri"/>
                <a:cs typeface="Calibri"/>
              </a:rPr>
              <a:t> </a:t>
            </a:r>
            <a:r>
              <a:rPr sz="2000" dirty="0">
                <a:latin typeface="Calibri"/>
                <a:cs typeface="Calibri"/>
              </a:rPr>
              <a:t>these</a:t>
            </a:r>
            <a:r>
              <a:rPr sz="2000" spc="-35" dirty="0">
                <a:latin typeface="Calibri"/>
                <a:cs typeface="Calibri"/>
              </a:rPr>
              <a:t> </a:t>
            </a:r>
            <a:r>
              <a:rPr sz="2000" spc="-10" dirty="0">
                <a:latin typeface="Calibri"/>
                <a:cs typeface="Calibri"/>
              </a:rPr>
              <a:t>operations</a:t>
            </a:r>
            <a:r>
              <a:rPr sz="2000" spc="-45" dirty="0">
                <a:latin typeface="Calibri"/>
                <a:cs typeface="Calibri"/>
              </a:rPr>
              <a:t> </a:t>
            </a:r>
            <a:r>
              <a:rPr sz="2000" dirty="0">
                <a:latin typeface="Calibri"/>
                <a:cs typeface="Calibri"/>
              </a:rPr>
              <a:t>looks</a:t>
            </a:r>
            <a:r>
              <a:rPr sz="2000" spc="-45" dirty="0">
                <a:latin typeface="Calibri"/>
                <a:cs typeface="Calibri"/>
              </a:rPr>
              <a:t> </a:t>
            </a:r>
            <a:r>
              <a:rPr sz="2000" spc="-20" dirty="0">
                <a:latin typeface="Calibri"/>
                <a:cs typeface="Calibri"/>
              </a:rPr>
              <a:t>like</a:t>
            </a:r>
            <a:endParaRPr sz="2000" dirty="0">
              <a:latin typeface="Calibri"/>
              <a:cs typeface="Calibri"/>
            </a:endParaRPr>
          </a:p>
          <a:p>
            <a:pPr marL="756285" lvl="1" indent="-286385">
              <a:lnSpc>
                <a:spcPct val="100000"/>
              </a:lnSpc>
              <a:spcBef>
                <a:spcPts val="10"/>
              </a:spcBef>
              <a:buFont typeface="Arial"/>
              <a:buChar char="–"/>
              <a:tabLst>
                <a:tab pos="756285" algn="l"/>
              </a:tabLst>
            </a:pPr>
            <a:r>
              <a:rPr sz="1800" spc="-10" dirty="0">
                <a:solidFill>
                  <a:srgbClr val="00B050"/>
                </a:solidFill>
                <a:latin typeface="Calibri"/>
                <a:cs typeface="Calibri"/>
              </a:rPr>
              <a:t>send(destination,</a:t>
            </a:r>
            <a:r>
              <a:rPr sz="1800" dirty="0">
                <a:solidFill>
                  <a:srgbClr val="00B050"/>
                </a:solidFill>
                <a:latin typeface="Calibri"/>
                <a:cs typeface="Calibri"/>
              </a:rPr>
              <a:t> </a:t>
            </a:r>
            <a:r>
              <a:rPr sz="1800" spc="-10" dirty="0">
                <a:solidFill>
                  <a:srgbClr val="00B050"/>
                </a:solidFill>
                <a:latin typeface="Calibri"/>
                <a:cs typeface="Calibri"/>
              </a:rPr>
              <a:t>&amp;message);</a:t>
            </a:r>
            <a:endParaRPr sz="1800" dirty="0">
              <a:solidFill>
                <a:srgbClr val="00B050"/>
              </a:solidFill>
              <a:latin typeface="Calibri"/>
              <a:cs typeface="Calibri"/>
            </a:endParaRPr>
          </a:p>
          <a:p>
            <a:pPr marL="756285" lvl="1" indent="-286385">
              <a:lnSpc>
                <a:spcPct val="100000"/>
              </a:lnSpc>
              <a:buFont typeface="Arial"/>
              <a:buChar char="–"/>
              <a:tabLst>
                <a:tab pos="756285" algn="l"/>
              </a:tabLst>
            </a:pPr>
            <a:r>
              <a:rPr sz="1800" spc="-10" dirty="0">
                <a:solidFill>
                  <a:srgbClr val="00B050"/>
                </a:solidFill>
                <a:latin typeface="Calibri"/>
                <a:cs typeface="Calibri"/>
              </a:rPr>
              <a:t>receive(source,</a:t>
            </a:r>
            <a:r>
              <a:rPr sz="1800" spc="-40" dirty="0">
                <a:solidFill>
                  <a:srgbClr val="00B050"/>
                </a:solidFill>
                <a:latin typeface="Calibri"/>
                <a:cs typeface="Calibri"/>
              </a:rPr>
              <a:t> </a:t>
            </a:r>
            <a:r>
              <a:rPr sz="1800" spc="-10" dirty="0">
                <a:solidFill>
                  <a:srgbClr val="00B050"/>
                </a:solidFill>
                <a:latin typeface="Calibri"/>
                <a:cs typeface="Calibri"/>
              </a:rPr>
              <a:t>&amp;message);</a:t>
            </a:r>
            <a:endParaRPr sz="1800" dirty="0">
              <a:solidFill>
                <a:srgbClr val="00B050"/>
              </a:solidFill>
              <a:latin typeface="Calibri"/>
              <a:cs typeface="Calibri"/>
            </a:endParaRPr>
          </a:p>
          <a:p>
            <a:pPr lvl="1">
              <a:lnSpc>
                <a:spcPct val="100000"/>
              </a:lnSpc>
              <a:spcBef>
                <a:spcPts val="660"/>
              </a:spcBef>
              <a:buFont typeface="Arial"/>
              <a:buChar char="–"/>
            </a:pPr>
            <a:endParaRPr sz="1800" dirty="0">
              <a:latin typeface="Calibri"/>
              <a:cs typeface="Calibri"/>
            </a:endParaRPr>
          </a:p>
          <a:p>
            <a:pPr marL="355600" marR="5080" indent="-342900">
              <a:lnSpc>
                <a:spcPts val="1920"/>
              </a:lnSpc>
              <a:buFont typeface="Arial"/>
              <a:buChar char="•"/>
              <a:tabLst>
                <a:tab pos="355600" algn="l"/>
              </a:tabLst>
            </a:pPr>
            <a:r>
              <a:rPr sz="2000" dirty="0">
                <a:latin typeface="Calibri"/>
                <a:cs typeface="Calibri"/>
              </a:rPr>
              <a:t>The</a:t>
            </a:r>
            <a:r>
              <a:rPr sz="2000" spc="-50" dirty="0">
                <a:latin typeface="Calibri"/>
                <a:cs typeface="Calibri"/>
              </a:rPr>
              <a:t> </a:t>
            </a:r>
            <a:r>
              <a:rPr sz="2000" dirty="0">
                <a:latin typeface="Calibri"/>
                <a:cs typeface="Calibri"/>
              </a:rPr>
              <a:t>send</a:t>
            </a:r>
            <a:r>
              <a:rPr sz="2000" spc="-45" dirty="0">
                <a:latin typeface="Calibri"/>
                <a:cs typeface="Calibri"/>
              </a:rPr>
              <a:t> </a:t>
            </a:r>
            <a:r>
              <a:rPr sz="2000" dirty="0">
                <a:latin typeface="Calibri"/>
                <a:cs typeface="Calibri"/>
              </a:rPr>
              <a:t>and</a:t>
            </a:r>
            <a:r>
              <a:rPr sz="2000" spc="-45" dirty="0">
                <a:latin typeface="Calibri"/>
                <a:cs typeface="Calibri"/>
              </a:rPr>
              <a:t> </a:t>
            </a:r>
            <a:r>
              <a:rPr sz="2000" spc="-10" dirty="0">
                <a:latin typeface="Calibri"/>
                <a:cs typeface="Calibri"/>
              </a:rPr>
              <a:t>receive</a:t>
            </a:r>
            <a:r>
              <a:rPr sz="2000" spc="-25" dirty="0">
                <a:latin typeface="Calibri"/>
                <a:cs typeface="Calibri"/>
              </a:rPr>
              <a:t> </a:t>
            </a:r>
            <a:r>
              <a:rPr sz="2000" dirty="0">
                <a:latin typeface="Calibri"/>
                <a:cs typeface="Calibri"/>
              </a:rPr>
              <a:t>calls</a:t>
            </a:r>
            <a:r>
              <a:rPr sz="2000" spc="-30" dirty="0">
                <a:latin typeface="Calibri"/>
                <a:cs typeface="Calibri"/>
              </a:rPr>
              <a:t> </a:t>
            </a:r>
            <a:r>
              <a:rPr sz="2000" dirty="0">
                <a:latin typeface="Calibri"/>
                <a:cs typeface="Calibri"/>
              </a:rPr>
              <a:t>are</a:t>
            </a:r>
            <a:r>
              <a:rPr sz="2000" spc="-40" dirty="0">
                <a:latin typeface="Calibri"/>
                <a:cs typeface="Calibri"/>
              </a:rPr>
              <a:t> </a:t>
            </a:r>
            <a:r>
              <a:rPr sz="2000" dirty="0">
                <a:latin typeface="Calibri"/>
                <a:cs typeface="Calibri"/>
              </a:rPr>
              <a:t>normally</a:t>
            </a:r>
            <a:r>
              <a:rPr sz="2000" spc="-35" dirty="0">
                <a:latin typeface="Calibri"/>
                <a:cs typeface="Calibri"/>
              </a:rPr>
              <a:t> </a:t>
            </a:r>
            <a:r>
              <a:rPr sz="2000" spc="-10" dirty="0">
                <a:latin typeface="Calibri"/>
                <a:cs typeface="Calibri"/>
              </a:rPr>
              <a:t>implemented</a:t>
            </a:r>
            <a:r>
              <a:rPr sz="2000" spc="-30" dirty="0">
                <a:latin typeface="Calibri"/>
                <a:cs typeface="Calibri"/>
              </a:rPr>
              <a:t> </a:t>
            </a:r>
            <a:r>
              <a:rPr sz="2000" dirty="0">
                <a:latin typeface="Calibri"/>
                <a:cs typeface="Calibri"/>
              </a:rPr>
              <a:t>as</a:t>
            </a:r>
            <a:r>
              <a:rPr sz="2000" spc="-25" dirty="0">
                <a:latin typeface="Calibri"/>
                <a:cs typeface="Calibri"/>
              </a:rPr>
              <a:t> </a:t>
            </a:r>
            <a:r>
              <a:rPr sz="2000" dirty="0">
                <a:latin typeface="Calibri"/>
                <a:cs typeface="Calibri"/>
              </a:rPr>
              <a:t>operating</a:t>
            </a:r>
            <a:r>
              <a:rPr sz="2000" spc="-60" dirty="0">
                <a:latin typeface="Calibri"/>
                <a:cs typeface="Calibri"/>
              </a:rPr>
              <a:t> </a:t>
            </a:r>
            <a:r>
              <a:rPr sz="2000" spc="-10" dirty="0">
                <a:latin typeface="Calibri"/>
                <a:cs typeface="Calibri"/>
              </a:rPr>
              <a:t>system </a:t>
            </a:r>
            <a:r>
              <a:rPr sz="2000" dirty="0">
                <a:latin typeface="Calibri"/>
                <a:cs typeface="Calibri"/>
              </a:rPr>
              <a:t>calls</a:t>
            </a:r>
            <a:r>
              <a:rPr sz="2000" spc="-50" dirty="0">
                <a:latin typeface="Calibri"/>
                <a:cs typeface="Calibri"/>
              </a:rPr>
              <a:t> </a:t>
            </a:r>
            <a:r>
              <a:rPr sz="2000" dirty="0">
                <a:latin typeface="Calibri"/>
                <a:cs typeface="Calibri"/>
              </a:rPr>
              <a:t>accessible</a:t>
            </a:r>
            <a:r>
              <a:rPr sz="2000" spc="-40" dirty="0">
                <a:latin typeface="Calibri"/>
                <a:cs typeface="Calibri"/>
              </a:rPr>
              <a:t> </a:t>
            </a:r>
            <a:r>
              <a:rPr sz="2000" dirty="0">
                <a:latin typeface="Calibri"/>
                <a:cs typeface="Calibri"/>
              </a:rPr>
              <a:t>from</a:t>
            </a:r>
            <a:r>
              <a:rPr sz="2000" spc="-45" dirty="0">
                <a:latin typeface="Calibri"/>
                <a:cs typeface="Calibri"/>
              </a:rPr>
              <a:t> </a:t>
            </a:r>
            <a:r>
              <a:rPr sz="2000" dirty="0">
                <a:latin typeface="Calibri"/>
                <a:cs typeface="Calibri"/>
              </a:rPr>
              <a:t>many</a:t>
            </a:r>
            <a:r>
              <a:rPr sz="2000" spc="-65" dirty="0">
                <a:latin typeface="Calibri"/>
                <a:cs typeface="Calibri"/>
              </a:rPr>
              <a:t> </a:t>
            </a:r>
            <a:r>
              <a:rPr sz="2000" spc="-10" dirty="0">
                <a:latin typeface="Calibri"/>
                <a:cs typeface="Calibri"/>
              </a:rPr>
              <a:t>programming</a:t>
            </a:r>
            <a:r>
              <a:rPr sz="2000" spc="-50" dirty="0">
                <a:latin typeface="Calibri"/>
                <a:cs typeface="Calibri"/>
              </a:rPr>
              <a:t> </a:t>
            </a:r>
            <a:r>
              <a:rPr sz="2000" dirty="0">
                <a:latin typeface="Calibri"/>
                <a:cs typeface="Calibri"/>
              </a:rPr>
              <a:t>language</a:t>
            </a:r>
            <a:r>
              <a:rPr sz="2000" spc="-85" dirty="0">
                <a:latin typeface="Calibri"/>
                <a:cs typeface="Calibri"/>
              </a:rPr>
              <a:t> </a:t>
            </a:r>
            <a:r>
              <a:rPr sz="2000" spc="-10" dirty="0">
                <a:latin typeface="Calibri"/>
                <a:cs typeface="Calibri"/>
              </a:rPr>
              <a:t>environments.</a:t>
            </a:r>
            <a:endParaRPr sz="2000" dirty="0">
              <a:latin typeface="Calibri"/>
              <a:cs typeface="Calibri"/>
            </a:endParaRPr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xfrm>
            <a:off x="535940" y="191846"/>
            <a:ext cx="8379460" cy="505908"/>
          </a:xfrm>
          <a:prstGeom prst="rect">
            <a:avLst/>
          </a:prstGeom>
        </p:spPr>
        <p:txBody>
          <a:bodyPr vert="horz" wrap="square" lIns="0" tIns="13335" rIns="0" bIns="0" rtlCol="0">
            <a:spAutoFit/>
          </a:bodyPr>
          <a:lstStyle/>
          <a:p>
            <a:pPr marL="12700" algn="ctr" rtl="0">
              <a:spcBef>
                <a:spcPts val="105"/>
              </a:spcBef>
            </a:pPr>
            <a:r>
              <a:rPr sz="3200" b="1" dirty="0">
                <a:solidFill>
                  <a:sysClr val="windowText" lastClr="000000"/>
                </a:solidFill>
                <a:latin typeface="+mj-lt"/>
                <a:cs typeface="+mj-cs"/>
              </a:rPr>
              <a:t>Producer-Consumer with Message Passing</a:t>
            </a:r>
          </a:p>
        </p:txBody>
      </p:sp>
      <p:sp>
        <p:nvSpPr>
          <p:cNvPr id="3" name="object 3"/>
          <p:cNvSpPr txBox="1"/>
          <p:nvPr/>
        </p:nvSpPr>
        <p:spPr>
          <a:xfrm>
            <a:off x="1220470" y="1132479"/>
            <a:ext cx="5755640" cy="2760980"/>
          </a:xfrm>
          <a:prstGeom prst="rect">
            <a:avLst/>
          </a:prstGeom>
        </p:spPr>
        <p:txBody>
          <a:bodyPr vert="horz" wrap="square" lIns="0" tIns="15367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210"/>
              </a:spcBef>
            </a:pPr>
            <a:r>
              <a:rPr sz="1800" dirty="0">
                <a:latin typeface="Calibri"/>
                <a:cs typeface="Calibri"/>
              </a:rPr>
              <a:t>#define</a:t>
            </a:r>
            <a:r>
              <a:rPr sz="1800" spc="-35" dirty="0">
                <a:latin typeface="Calibri"/>
                <a:cs typeface="Calibri"/>
              </a:rPr>
              <a:t> </a:t>
            </a:r>
            <a:r>
              <a:rPr sz="1800" dirty="0">
                <a:latin typeface="Calibri"/>
                <a:cs typeface="Calibri"/>
              </a:rPr>
              <a:t>N</a:t>
            </a:r>
            <a:r>
              <a:rPr sz="1800" spc="-30" dirty="0">
                <a:latin typeface="Calibri"/>
                <a:cs typeface="Calibri"/>
              </a:rPr>
              <a:t> </a:t>
            </a:r>
            <a:r>
              <a:rPr sz="1800" dirty="0">
                <a:latin typeface="Calibri"/>
                <a:cs typeface="Calibri"/>
              </a:rPr>
              <a:t>100</a:t>
            </a:r>
            <a:r>
              <a:rPr sz="1800" spc="-30" dirty="0">
                <a:latin typeface="Calibri"/>
                <a:cs typeface="Calibri"/>
              </a:rPr>
              <a:t> </a:t>
            </a:r>
            <a:r>
              <a:rPr sz="1800" dirty="0">
                <a:latin typeface="Calibri"/>
                <a:cs typeface="Calibri"/>
              </a:rPr>
              <a:t>/*number</a:t>
            </a:r>
            <a:r>
              <a:rPr sz="1800" spc="-25" dirty="0">
                <a:latin typeface="Calibri"/>
                <a:cs typeface="Calibri"/>
              </a:rPr>
              <a:t> </a:t>
            </a:r>
            <a:r>
              <a:rPr sz="1800" dirty="0">
                <a:latin typeface="Calibri"/>
                <a:cs typeface="Calibri"/>
              </a:rPr>
              <a:t>of</a:t>
            </a:r>
            <a:r>
              <a:rPr sz="1800" spc="-25" dirty="0">
                <a:latin typeface="Calibri"/>
                <a:cs typeface="Calibri"/>
              </a:rPr>
              <a:t> </a:t>
            </a:r>
            <a:r>
              <a:rPr sz="1800" dirty="0">
                <a:latin typeface="Calibri"/>
                <a:cs typeface="Calibri"/>
              </a:rPr>
              <a:t>slots</a:t>
            </a:r>
            <a:r>
              <a:rPr sz="1800" spc="-40" dirty="0">
                <a:latin typeface="Calibri"/>
                <a:cs typeface="Calibri"/>
              </a:rPr>
              <a:t> </a:t>
            </a:r>
            <a:r>
              <a:rPr sz="1800" dirty="0">
                <a:latin typeface="Calibri"/>
                <a:cs typeface="Calibri"/>
              </a:rPr>
              <a:t>in</a:t>
            </a:r>
            <a:r>
              <a:rPr sz="1800" spc="-20" dirty="0">
                <a:latin typeface="Calibri"/>
                <a:cs typeface="Calibri"/>
              </a:rPr>
              <a:t> </a:t>
            </a:r>
            <a:r>
              <a:rPr sz="1800" dirty="0">
                <a:latin typeface="Calibri"/>
                <a:cs typeface="Calibri"/>
              </a:rPr>
              <a:t>the</a:t>
            </a:r>
            <a:r>
              <a:rPr sz="1800" spc="-20" dirty="0">
                <a:latin typeface="Calibri"/>
                <a:cs typeface="Calibri"/>
              </a:rPr>
              <a:t> </a:t>
            </a:r>
            <a:r>
              <a:rPr sz="1800" spc="-10" dirty="0">
                <a:latin typeface="Calibri"/>
                <a:cs typeface="Calibri"/>
              </a:rPr>
              <a:t>buffer*/</a:t>
            </a:r>
            <a:endParaRPr sz="1800" dirty="0">
              <a:latin typeface="Calibri"/>
              <a:cs typeface="Calibri"/>
            </a:endParaRPr>
          </a:p>
          <a:p>
            <a:pPr marL="927100">
              <a:lnSpc>
                <a:spcPct val="100000"/>
              </a:lnSpc>
              <a:spcBef>
                <a:spcPts val="985"/>
              </a:spcBef>
            </a:pPr>
            <a:r>
              <a:rPr sz="1600" dirty="0">
                <a:latin typeface="Times New Roman"/>
                <a:cs typeface="Times New Roman"/>
              </a:rPr>
              <a:t>void</a:t>
            </a:r>
            <a:r>
              <a:rPr sz="1600" spc="-45" dirty="0">
                <a:latin typeface="Times New Roman"/>
                <a:cs typeface="Times New Roman"/>
              </a:rPr>
              <a:t> </a:t>
            </a:r>
            <a:r>
              <a:rPr sz="1600" spc="-10" dirty="0">
                <a:latin typeface="Times New Roman"/>
                <a:cs typeface="Times New Roman"/>
              </a:rPr>
              <a:t>producer(void)</a:t>
            </a:r>
            <a:endParaRPr sz="1600" dirty="0">
              <a:latin typeface="Times New Roman"/>
              <a:cs typeface="Times New Roman"/>
            </a:endParaRPr>
          </a:p>
          <a:p>
            <a:pPr marL="927100">
              <a:lnSpc>
                <a:spcPct val="100000"/>
              </a:lnSpc>
            </a:pPr>
            <a:r>
              <a:rPr sz="1600" dirty="0">
                <a:latin typeface="Times New Roman"/>
                <a:cs typeface="Times New Roman"/>
              </a:rPr>
              <a:t>{</a:t>
            </a:r>
            <a:r>
              <a:rPr sz="1600" spc="-30" dirty="0">
                <a:latin typeface="Times New Roman"/>
                <a:cs typeface="Times New Roman"/>
              </a:rPr>
              <a:t> </a:t>
            </a:r>
            <a:r>
              <a:rPr sz="1600" dirty="0">
                <a:latin typeface="Times New Roman"/>
                <a:cs typeface="Times New Roman"/>
              </a:rPr>
              <a:t>int </a:t>
            </a:r>
            <a:r>
              <a:rPr sz="1600" spc="-20" dirty="0">
                <a:latin typeface="Times New Roman"/>
                <a:cs typeface="Times New Roman"/>
              </a:rPr>
              <a:t>item;</a:t>
            </a:r>
            <a:endParaRPr sz="1600" dirty="0">
              <a:latin typeface="Times New Roman"/>
              <a:cs typeface="Times New Roman"/>
            </a:endParaRPr>
          </a:p>
          <a:p>
            <a:pPr marL="927100" marR="2262505">
              <a:lnSpc>
                <a:spcPct val="100000"/>
              </a:lnSpc>
            </a:pPr>
            <a:r>
              <a:rPr sz="1600" dirty="0">
                <a:latin typeface="Times New Roman"/>
                <a:cs typeface="Times New Roman"/>
              </a:rPr>
              <a:t>message</a:t>
            </a:r>
            <a:r>
              <a:rPr sz="1600" spc="-60" dirty="0">
                <a:latin typeface="Times New Roman"/>
                <a:cs typeface="Times New Roman"/>
              </a:rPr>
              <a:t> </a:t>
            </a:r>
            <a:r>
              <a:rPr sz="1600" dirty="0">
                <a:latin typeface="Times New Roman"/>
                <a:cs typeface="Times New Roman"/>
              </a:rPr>
              <a:t>m;</a:t>
            </a:r>
            <a:r>
              <a:rPr sz="1600" spc="-45" dirty="0">
                <a:latin typeface="Times New Roman"/>
                <a:cs typeface="Times New Roman"/>
              </a:rPr>
              <a:t> </a:t>
            </a:r>
            <a:r>
              <a:rPr sz="1600" dirty="0">
                <a:latin typeface="Times New Roman"/>
                <a:cs typeface="Times New Roman"/>
              </a:rPr>
              <a:t>/*message</a:t>
            </a:r>
            <a:r>
              <a:rPr sz="1600" spc="-45" dirty="0">
                <a:latin typeface="Times New Roman"/>
                <a:cs typeface="Times New Roman"/>
              </a:rPr>
              <a:t> </a:t>
            </a:r>
            <a:r>
              <a:rPr sz="1600" spc="-10" dirty="0">
                <a:latin typeface="Times New Roman"/>
                <a:cs typeface="Times New Roman"/>
              </a:rPr>
              <a:t>buffer*/ </a:t>
            </a:r>
            <a:r>
              <a:rPr sz="1600" dirty="0">
                <a:latin typeface="Times New Roman"/>
                <a:cs typeface="Times New Roman"/>
              </a:rPr>
              <a:t>while</a:t>
            </a:r>
            <a:r>
              <a:rPr sz="1600" spc="-40" dirty="0">
                <a:latin typeface="Times New Roman"/>
                <a:cs typeface="Times New Roman"/>
              </a:rPr>
              <a:t> </a:t>
            </a:r>
            <a:r>
              <a:rPr sz="1600" spc="-10" dirty="0">
                <a:latin typeface="Times New Roman"/>
                <a:cs typeface="Times New Roman"/>
              </a:rPr>
              <a:t>(TRUE){</a:t>
            </a:r>
            <a:endParaRPr sz="1600" dirty="0">
              <a:latin typeface="Times New Roman"/>
              <a:cs typeface="Times New Roman"/>
            </a:endParaRPr>
          </a:p>
          <a:p>
            <a:pPr marL="927100" marR="5080">
              <a:lnSpc>
                <a:spcPct val="100000"/>
              </a:lnSpc>
            </a:pPr>
            <a:r>
              <a:rPr sz="1600" dirty="0">
                <a:latin typeface="Times New Roman"/>
                <a:cs typeface="Times New Roman"/>
              </a:rPr>
              <a:t>item</a:t>
            </a:r>
            <a:r>
              <a:rPr sz="1600" spc="-55" dirty="0">
                <a:latin typeface="Times New Roman"/>
                <a:cs typeface="Times New Roman"/>
              </a:rPr>
              <a:t> </a:t>
            </a:r>
            <a:r>
              <a:rPr sz="1600" dirty="0">
                <a:latin typeface="Times New Roman"/>
                <a:cs typeface="Times New Roman"/>
              </a:rPr>
              <a:t>=</a:t>
            </a:r>
            <a:r>
              <a:rPr sz="1600" spc="-65" dirty="0">
                <a:latin typeface="Times New Roman"/>
                <a:cs typeface="Times New Roman"/>
              </a:rPr>
              <a:t> </a:t>
            </a:r>
            <a:r>
              <a:rPr sz="1600" dirty="0">
                <a:latin typeface="Times New Roman"/>
                <a:cs typeface="Times New Roman"/>
              </a:rPr>
              <a:t>produce_item();</a:t>
            </a:r>
            <a:r>
              <a:rPr sz="1600" spc="-25" dirty="0">
                <a:latin typeface="Times New Roman"/>
                <a:cs typeface="Times New Roman"/>
              </a:rPr>
              <a:t> </a:t>
            </a:r>
            <a:r>
              <a:rPr sz="1600" dirty="0">
                <a:latin typeface="Times New Roman"/>
                <a:cs typeface="Times New Roman"/>
              </a:rPr>
              <a:t>/*generate</a:t>
            </a:r>
            <a:r>
              <a:rPr sz="1600" spc="-40" dirty="0">
                <a:latin typeface="Times New Roman"/>
                <a:cs typeface="Times New Roman"/>
              </a:rPr>
              <a:t> </a:t>
            </a:r>
            <a:r>
              <a:rPr sz="1600" dirty="0">
                <a:latin typeface="Times New Roman"/>
                <a:cs typeface="Times New Roman"/>
              </a:rPr>
              <a:t>something</a:t>
            </a:r>
            <a:r>
              <a:rPr sz="1600" spc="-35" dirty="0">
                <a:latin typeface="Times New Roman"/>
                <a:cs typeface="Times New Roman"/>
              </a:rPr>
              <a:t> </a:t>
            </a:r>
            <a:r>
              <a:rPr sz="1600" spc="-25" dirty="0">
                <a:latin typeface="Times New Roman"/>
                <a:cs typeface="Times New Roman"/>
              </a:rPr>
              <a:t>*/ </a:t>
            </a:r>
            <a:r>
              <a:rPr sz="1600" spc="-10" dirty="0">
                <a:latin typeface="Times New Roman"/>
                <a:cs typeface="Times New Roman"/>
              </a:rPr>
              <a:t>receive(consumer,</a:t>
            </a:r>
            <a:r>
              <a:rPr sz="1600" spc="-5" dirty="0">
                <a:latin typeface="Times New Roman"/>
                <a:cs typeface="Times New Roman"/>
              </a:rPr>
              <a:t> </a:t>
            </a:r>
            <a:r>
              <a:rPr sz="1600" dirty="0">
                <a:latin typeface="Times New Roman"/>
                <a:cs typeface="Times New Roman"/>
              </a:rPr>
              <a:t>&amp;m);</a:t>
            </a:r>
            <a:r>
              <a:rPr sz="1600" spc="-5" dirty="0">
                <a:latin typeface="Times New Roman"/>
                <a:cs typeface="Times New Roman"/>
              </a:rPr>
              <a:t> </a:t>
            </a:r>
            <a:r>
              <a:rPr sz="1600" dirty="0">
                <a:latin typeface="Times New Roman"/>
                <a:cs typeface="Times New Roman"/>
              </a:rPr>
              <a:t>/*wait</a:t>
            </a:r>
            <a:r>
              <a:rPr sz="1600" spc="-20" dirty="0">
                <a:latin typeface="Times New Roman"/>
                <a:cs typeface="Times New Roman"/>
              </a:rPr>
              <a:t> </a:t>
            </a:r>
            <a:r>
              <a:rPr sz="1600" dirty="0">
                <a:latin typeface="Times New Roman"/>
                <a:cs typeface="Times New Roman"/>
              </a:rPr>
              <a:t>for</a:t>
            </a:r>
            <a:r>
              <a:rPr sz="1600" spc="-35" dirty="0">
                <a:latin typeface="Times New Roman"/>
                <a:cs typeface="Times New Roman"/>
              </a:rPr>
              <a:t> </a:t>
            </a:r>
            <a:r>
              <a:rPr sz="1600" dirty="0">
                <a:latin typeface="Times New Roman"/>
                <a:cs typeface="Times New Roman"/>
              </a:rPr>
              <a:t>an</a:t>
            </a:r>
            <a:r>
              <a:rPr sz="1600" spc="-40" dirty="0">
                <a:latin typeface="Times New Roman"/>
                <a:cs typeface="Times New Roman"/>
              </a:rPr>
              <a:t> </a:t>
            </a:r>
            <a:r>
              <a:rPr sz="1600" dirty="0">
                <a:latin typeface="Times New Roman"/>
                <a:cs typeface="Times New Roman"/>
              </a:rPr>
              <a:t>empty</a:t>
            </a:r>
            <a:r>
              <a:rPr sz="1600" spc="10" dirty="0">
                <a:latin typeface="Times New Roman"/>
                <a:cs typeface="Times New Roman"/>
              </a:rPr>
              <a:t> </a:t>
            </a:r>
            <a:r>
              <a:rPr sz="1600" dirty="0">
                <a:latin typeface="Times New Roman"/>
                <a:cs typeface="Times New Roman"/>
              </a:rPr>
              <a:t>to</a:t>
            </a:r>
            <a:r>
              <a:rPr sz="1600" spc="-40" dirty="0">
                <a:latin typeface="Times New Roman"/>
                <a:cs typeface="Times New Roman"/>
              </a:rPr>
              <a:t> </a:t>
            </a:r>
            <a:r>
              <a:rPr sz="1600" spc="-10" dirty="0">
                <a:latin typeface="Times New Roman"/>
                <a:cs typeface="Times New Roman"/>
              </a:rPr>
              <a:t>arrive*/ build_message(&amp;m,</a:t>
            </a:r>
            <a:r>
              <a:rPr sz="1600" dirty="0">
                <a:latin typeface="Times New Roman"/>
                <a:cs typeface="Times New Roman"/>
              </a:rPr>
              <a:t> item);</a:t>
            </a:r>
            <a:r>
              <a:rPr sz="1600" spc="5" dirty="0">
                <a:latin typeface="Times New Roman"/>
                <a:cs typeface="Times New Roman"/>
              </a:rPr>
              <a:t> </a:t>
            </a:r>
            <a:r>
              <a:rPr sz="1600" dirty="0">
                <a:latin typeface="Times New Roman"/>
                <a:cs typeface="Times New Roman"/>
              </a:rPr>
              <a:t>/*construct</a:t>
            </a:r>
            <a:r>
              <a:rPr sz="1600" spc="-25" dirty="0">
                <a:latin typeface="Times New Roman"/>
                <a:cs typeface="Times New Roman"/>
              </a:rPr>
              <a:t> </a:t>
            </a:r>
            <a:r>
              <a:rPr sz="1600" dirty="0">
                <a:latin typeface="Times New Roman"/>
                <a:cs typeface="Times New Roman"/>
              </a:rPr>
              <a:t>a</a:t>
            </a:r>
            <a:r>
              <a:rPr sz="1600" spc="-35" dirty="0">
                <a:latin typeface="Times New Roman"/>
                <a:cs typeface="Times New Roman"/>
              </a:rPr>
              <a:t> </a:t>
            </a:r>
            <a:r>
              <a:rPr sz="1600" dirty="0">
                <a:latin typeface="Times New Roman"/>
                <a:cs typeface="Times New Roman"/>
              </a:rPr>
              <a:t>message</a:t>
            </a:r>
            <a:r>
              <a:rPr sz="1600" spc="-5" dirty="0">
                <a:latin typeface="Times New Roman"/>
                <a:cs typeface="Times New Roman"/>
              </a:rPr>
              <a:t> </a:t>
            </a:r>
            <a:r>
              <a:rPr sz="1600" dirty="0">
                <a:latin typeface="Times New Roman"/>
                <a:cs typeface="Times New Roman"/>
              </a:rPr>
              <a:t>to</a:t>
            </a:r>
            <a:r>
              <a:rPr sz="1600" spc="-30" dirty="0">
                <a:latin typeface="Times New Roman"/>
                <a:cs typeface="Times New Roman"/>
              </a:rPr>
              <a:t> </a:t>
            </a:r>
            <a:r>
              <a:rPr sz="1600" spc="-10" dirty="0">
                <a:latin typeface="Times New Roman"/>
                <a:cs typeface="Times New Roman"/>
              </a:rPr>
              <a:t>send*/ send(consumer,</a:t>
            </a:r>
            <a:r>
              <a:rPr sz="1600" spc="-25" dirty="0">
                <a:latin typeface="Times New Roman"/>
                <a:cs typeface="Times New Roman"/>
              </a:rPr>
              <a:t> </a:t>
            </a:r>
            <a:r>
              <a:rPr sz="1600" dirty="0">
                <a:latin typeface="Times New Roman"/>
                <a:cs typeface="Times New Roman"/>
              </a:rPr>
              <a:t>&amp;m);</a:t>
            </a:r>
            <a:r>
              <a:rPr sz="1600" spc="-15" dirty="0">
                <a:latin typeface="Times New Roman"/>
                <a:cs typeface="Times New Roman"/>
              </a:rPr>
              <a:t> </a:t>
            </a:r>
            <a:r>
              <a:rPr sz="1600" spc="-50" dirty="0">
                <a:latin typeface="Times New Roman"/>
                <a:cs typeface="Times New Roman"/>
              </a:rPr>
              <a:t>}</a:t>
            </a:r>
            <a:endParaRPr sz="1600" dirty="0">
              <a:latin typeface="Times New Roman"/>
              <a:cs typeface="Times New Roman"/>
            </a:endParaRPr>
          </a:p>
          <a:p>
            <a:pPr marL="927100">
              <a:lnSpc>
                <a:spcPct val="100000"/>
              </a:lnSpc>
            </a:pPr>
            <a:r>
              <a:rPr sz="1600" spc="-50" dirty="0">
                <a:latin typeface="Times New Roman"/>
                <a:cs typeface="Times New Roman"/>
              </a:rPr>
              <a:t>}</a:t>
            </a:r>
            <a:endParaRPr sz="1600" dirty="0">
              <a:latin typeface="Times New Roman"/>
              <a:cs typeface="Times New Roman"/>
            </a:endParaRPr>
          </a:p>
        </p:txBody>
      </p:sp>
      <p:sp>
        <p:nvSpPr>
          <p:cNvPr id="4" name="object 4"/>
          <p:cNvSpPr txBox="1"/>
          <p:nvPr/>
        </p:nvSpPr>
        <p:spPr>
          <a:xfrm>
            <a:off x="1219200" y="3810000"/>
            <a:ext cx="5010150" cy="2464435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38100">
              <a:lnSpc>
                <a:spcPct val="100000"/>
              </a:lnSpc>
              <a:spcBef>
                <a:spcPts val="95"/>
              </a:spcBef>
            </a:pPr>
            <a:r>
              <a:rPr sz="1600" dirty="0">
                <a:latin typeface="Times New Roman"/>
                <a:cs typeface="Times New Roman"/>
              </a:rPr>
              <a:t>void</a:t>
            </a:r>
            <a:r>
              <a:rPr sz="1600" spc="-45" dirty="0">
                <a:latin typeface="Times New Roman"/>
                <a:cs typeface="Times New Roman"/>
              </a:rPr>
              <a:t> </a:t>
            </a:r>
            <a:r>
              <a:rPr sz="1600" spc="-10" dirty="0">
                <a:latin typeface="Times New Roman"/>
                <a:cs typeface="Times New Roman"/>
              </a:rPr>
              <a:t>consumer(void)</a:t>
            </a:r>
            <a:endParaRPr sz="1600" dirty="0">
              <a:latin typeface="Times New Roman"/>
              <a:cs typeface="Times New Roman"/>
            </a:endParaRPr>
          </a:p>
          <a:p>
            <a:pPr marL="38100" marR="4015740">
              <a:lnSpc>
                <a:spcPct val="100000"/>
              </a:lnSpc>
            </a:pPr>
            <a:r>
              <a:rPr sz="1600" dirty="0">
                <a:latin typeface="Times New Roman"/>
                <a:cs typeface="Times New Roman"/>
              </a:rPr>
              <a:t>{</a:t>
            </a:r>
            <a:r>
              <a:rPr sz="1600" spc="-30" dirty="0">
                <a:latin typeface="Times New Roman"/>
                <a:cs typeface="Times New Roman"/>
              </a:rPr>
              <a:t> </a:t>
            </a:r>
            <a:r>
              <a:rPr sz="1600" dirty="0">
                <a:latin typeface="Times New Roman"/>
                <a:cs typeface="Times New Roman"/>
              </a:rPr>
              <a:t>int </a:t>
            </a:r>
            <a:r>
              <a:rPr sz="1600" spc="-20" dirty="0">
                <a:latin typeface="Times New Roman"/>
                <a:cs typeface="Times New Roman"/>
              </a:rPr>
              <a:t>item; </a:t>
            </a:r>
            <a:r>
              <a:rPr sz="1600" dirty="0">
                <a:latin typeface="Times New Roman"/>
                <a:cs typeface="Times New Roman"/>
              </a:rPr>
              <a:t>message</a:t>
            </a:r>
            <a:r>
              <a:rPr sz="1600" spc="-75" dirty="0">
                <a:latin typeface="Times New Roman"/>
                <a:cs typeface="Times New Roman"/>
              </a:rPr>
              <a:t> </a:t>
            </a:r>
            <a:r>
              <a:rPr sz="1600" spc="-25" dirty="0">
                <a:latin typeface="Times New Roman"/>
                <a:cs typeface="Times New Roman"/>
              </a:rPr>
              <a:t>m;</a:t>
            </a:r>
            <a:endParaRPr sz="1600" dirty="0">
              <a:latin typeface="Times New Roman"/>
              <a:cs typeface="Times New Roman"/>
            </a:endParaRPr>
          </a:p>
          <a:p>
            <a:pPr marL="38100">
              <a:lnSpc>
                <a:spcPct val="100000"/>
              </a:lnSpc>
            </a:pPr>
            <a:r>
              <a:rPr sz="1600" dirty="0">
                <a:latin typeface="Times New Roman"/>
                <a:cs typeface="Times New Roman"/>
              </a:rPr>
              <a:t>for(i</a:t>
            </a:r>
            <a:r>
              <a:rPr sz="1600" spc="-25" dirty="0">
                <a:latin typeface="Times New Roman"/>
                <a:cs typeface="Times New Roman"/>
              </a:rPr>
              <a:t> </a:t>
            </a:r>
            <a:r>
              <a:rPr sz="1600" dirty="0">
                <a:latin typeface="Times New Roman"/>
                <a:cs typeface="Times New Roman"/>
              </a:rPr>
              <a:t>=</a:t>
            </a:r>
            <a:r>
              <a:rPr sz="1600" spc="-30" dirty="0">
                <a:latin typeface="Times New Roman"/>
                <a:cs typeface="Times New Roman"/>
              </a:rPr>
              <a:t> </a:t>
            </a:r>
            <a:r>
              <a:rPr sz="1600" dirty="0">
                <a:latin typeface="Times New Roman"/>
                <a:cs typeface="Times New Roman"/>
              </a:rPr>
              <a:t>0;</a:t>
            </a:r>
            <a:r>
              <a:rPr sz="1600" spc="-15" dirty="0">
                <a:latin typeface="Times New Roman"/>
                <a:cs typeface="Times New Roman"/>
              </a:rPr>
              <a:t> </a:t>
            </a:r>
            <a:r>
              <a:rPr sz="1600" dirty="0">
                <a:latin typeface="Times New Roman"/>
                <a:cs typeface="Times New Roman"/>
              </a:rPr>
              <a:t>i&lt;N;</a:t>
            </a:r>
            <a:r>
              <a:rPr sz="1600" spc="-25" dirty="0">
                <a:latin typeface="Times New Roman"/>
                <a:cs typeface="Times New Roman"/>
              </a:rPr>
              <a:t> </a:t>
            </a:r>
            <a:r>
              <a:rPr sz="1600" dirty="0">
                <a:latin typeface="Times New Roman"/>
                <a:cs typeface="Times New Roman"/>
              </a:rPr>
              <a:t>i++)</a:t>
            </a:r>
            <a:r>
              <a:rPr sz="1600" spc="-15" dirty="0">
                <a:latin typeface="Times New Roman"/>
                <a:cs typeface="Times New Roman"/>
              </a:rPr>
              <a:t> </a:t>
            </a:r>
            <a:r>
              <a:rPr sz="1600" spc="-10" dirty="0">
                <a:latin typeface="Times New Roman"/>
                <a:cs typeface="Times New Roman"/>
              </a:rPr>
              <a:t>send(producer,</a:t>
            </a:r>
            <a:r>
              <a:rPr sz="1600" spc="-25" dirty="0">
                <a:latin typeface="Times New Roman"/>
                <a:cs typeface="Times New Roman"/>
              </a:rPr>
              <a:t> </a:t>
            </a:r>
            <a:r>
              <a:rPr sz="1600" dirty="0">
                <a:latin typeface="Times New Roman"/>
                <a:cs typeface="Times New Roman"/>
              </a:rPr>
              <a:t>&amp;m);</a:t>
            </a:r>
            <a:r>
              <a:rPr sz="1600" spc="5" dirty="0">
                <a:latin typeface="Times New Roman"/>
                <a:cs typeface="Times New Roman"/>
              </a:rPr>
              <a:t> </a:t>
            </a:r>
            <a:r>
              <a:rPr sz="1600" dirty="0">
                <a:latin typeface="Times New Roman"/>
                <a:cs typeface="Times New Roman"/>
              </a:rPr>
              <a:t>/*send</a:t>
            </a:r>
            <a:r>
              <a:rPr sz="1600" spc="-20" dirty="0">
                <a:latin typeface="Times New Roman"/>
                <a:cs typeface="Times New Roman"/>
              </a:rPr>
              <a:t> </a:t>
            </a:r>
            <a:r>
              <a:rPr sz="1600" dirty="0">
                <a:latin typeface="Times New Roman"/>
                <a:cs typeface="Times New Roman"/>
              </a:rPr>
              <a:t>N</a:t>
            </a:r>
            <a:r>
              <a:rPr sz="1600" spc="-30" dirty="0">
                <a:latin typeface="Times New Roman"/>
                <a:cs typeface="Times New Roman"/>
              </a:rPr>
              <a:t> </a:t>
            </a:r>
            <a:r>
              <a:rPr sz="1600" spc="-10" dirty="0">
                <a:latin typeface="Times New Roman"/>
                <a:cs typeface="Times New Roman"/>
              </a:rPr>
              <a:t>empties*/</a:t>
            </a:r>
            <a:endParaRPr sz="1600" dirty="0">
              <a:latin typeface="Times New Roman"/>
              <a:cs typeface="Times New Roman"/>
            </a:endParaRPr>
          </a:p>
          <a:p>
            <a:pPr marL="38100">
              <a:lnSpc>
                <a:spcPct val="100000"/>
              </a:lnSpc>
            </a:pPr>
            <a:r>
              <a:rPr sz="1600" spc="-10" dirty="0">
                <a:latin typeface="Times New Roman"/>
                <a:cs typeface="Times New Roman"/>
              </a:rPr>
              <a:t>while(TRUE){</a:t>
            </a:r>
            <a:endParaRPr sz="1600" dirty="0">
              <a:latin typeface="Times New Roman"/>
              <a:cs typeface="Times New Roman"/>
            </a:endParaRPr>
          </a:p>
          <a:p>
            <a:pPr marL="38100" marR="285115">
              <a:lnSpc>
                <a:spcPct val="100000"/>
              </a:lnSpc>
            </a:pPr>
            <a:r>
              <a:rPr sz="1600" spc="-10" dirty="0">
                <a:latin typeface="Times New Roman"/>
                <a:cs typeface="Times New Roman"/>
              </a:rPr>
              <a:t>receive(producer,</a:t>
            </a:r>
            <a:r>
              <a:rPr sz="1600" spc="-15" dirty="0">
                <a:latin typeface="Times New Roman"/>
                <a:cs typeface="Times New Roman"/>
              </a:rPr>
              <a:t> </a:t>
            </a:r>
            <a:r>
              <a:rPr sz="1600" dirty="0">
                <a:latin typeface="Times New Roman"/>
                <a:cs typeface="Times New Roman"/>
              </a:rPr>
              <a:t>&amp;m); /*</a:t>
            </a:r>
            <a:r>
              <a:rPr sz="1600" spc="-50" dirty="0">
                <a:latin typeface="Times New Roman"/>
                <a:cs typeface="Times New Roman"/>
              </a:rPr>
              <a:t> </a:t>
            </a:r>
            <a:r>
              <a:rPr sz="1600" dirty="0">
                <a:latin typeface="Times New Roman"/>
                <a:cs typeface="Times New Roman"/>
              </a:rPr>
              <a:t>get</a:t>
            </a:r>
            <a:r>
              <a:rPr sz="1600" spc="-40" dirty="0">
                <a:latin typeface="Times New Roman"/>
                <a:cs typeface="Times New Roman"/>
              </a:rPr>
              <a:t> </a:t>
            </a:r>
            <a:r>
              <a:rPr sz="1600" dirty="0">
                <a:latin typeface="Times New Roman"/>
                <a:cs typeface="Times New Roman"/>
              </a:rPr>
              <a:t>message</a:t>
            </a:r>
            <a:r>
              <a:rPr sz="1600" spc="-10" dirty="0">
                <a:latin typeface="Times New Roman"/>
                <a:cs typeface="Times New Roman"/>
              </a:rPr>
              <a:t> </a:t>
            </a:r>
            <a:r>
              <a:rPr sz="1600" dirty="0">
                <a:latin typeface="Times New Roman"/>
                <a:cs typeface="Times New Roman"/>
              </a:rPr>
              <a:t>containing</a:t>
            </a:r>
            <a:r>
              <a:rPr sz="1600" spc="-35" dirty="0">
                <a:latin typeface="Times New Roman"/>
                <a:cs typeface="Times New Roman"/>
              </a:rPr>
              <a:t> </a:t>
            </a:r>
            <a:r>
              <a:rPr sz="1600" spc="-10" dirty="0">
                <a:latin typeface="Times New Roman"/>
                <a:cs typeface="Times New Roman"/>
              </a:rPr>
              <a:t>item*/ </a:t>
            </a:r>
            <a:r>
              <a:rPr sz="1600" dirty="0">
                <a:latin typeface="Times New Roman"/>
                <a:cs typeface="Times New Roman"/>
              </a:rPr>
              <a:t>item</a:t>
            </a:r>
            <a:r>
              <a:rPr sz="1600" spc="-30" dirty="0">
                <a:latin typeface="Times New Roman"/>
                <a:cs typeface="Times New Roman"/>
              </a:rPr>
              <a:t> </a:t>
            </a:r>
            <a:r>
              <a:rPr sz="1600" dirty="0">
                <a:latin typeface="Times New Roman"/>
                <a:cs typeface="Times New Roman"/>
              </a:rPr>
              <a:t>=</a:t>
            </a:r>
            <a:r>
              <a:rPr sz="1600" spc="-35" dirty="0">
                <a:latin typeface="Times New Roman"/>
                <a:cs typeface="Times New Roman"/>
              </a:rPr>
              <a:t> </a:t>
            </a:r>
            <a:r>
              <a:rPr sz="1600" dirty="0">
                <a:latin typeface="Times New Roman"/>
                <a:cs typeface="Times New Roman"/>
              </a:rPr>
              <a:t>extract_item(&amp;m);</a:t>
            </a:r>
            <a:r>
              <a:rPr sz="1600" spc="10" dirty="0">
                <a:latin typeface="Times New Roman"/>
                <a:cs typeface="Times New Roman"/>
              </a:rPr>
              <a:t> </a:t>
            </a:r>
            <a:r>
              <a:rPr sz="1600" dirty="0">
                <a:latin typeface="Times New Roman"/>
                <a:cs typeface="Times New Roman"/>
              </a:rPr>
              <a:t>/*</a:t>
            </a:r>
            <a:r>
              <a:rPr sz="1600" spc="-35" dirty="0">
                <a:latin typeface="Times New Roman"/>
                <a:cs typeface="Times New Roman"/>
              </a:rPr>
              <a:t> </a:t>
            </a:r>
            <a:r>
              <a:rPr sz="1600" dirty="0">
                <a:latin typeface="Times New Roman"/>
                <a:cs typeface="Times New Roman"/>
              </a:rPr>
              <a:t>extract</a:t>
            </a:r>
            <a:r>
              <a:rPr sz="1600" spc="-10" dirty="0">
                <a:latin typeface="Times New Roman"/>
                <a:cs typeface="Times New Roman"/>
              </a:rPr>
              <a:t> </a:t>
            </a:r>
            <a:r>
              <a:rPr sz="1600" dirty="0">
                <a:latin typeface="Times New Roman"/>
                <a:cs typeface="Times New Roman"/>
              </a:rPr>
              <a:t>item</a:t>
            </a:r>
            <a:r>
              <a:rPr sz="1600" spc="-30" dirty="0">
                <a:latin typeface="Times New Roman"/>
                <a:cs typeface="Times New Roman"/>
              </a:rPr>
              <a:t> </a:t>
            </a:r>
            <a:r>
              <a:rPr sz="1600" dirty="0">
                <a:latin typeface="Times New Roman"/>
                <a:cs typeface="Times New Roman"/>
              </a:rPr>
              <a:t>from</a:t>
            </a:r>
            <a:r>
              <a:rPr sz="1600" spc="-20" dirty="0">
                <a:latin typeface="Times New Roman"/>
                <a:cs typeface="Times New Roman"/>
              </a:rPr>
              <a:t> </a:t>
            </a:r>
            <a:r>
              <a:rPr sz="1600" spc="-10" dirty="0">
                <a:latin typeface="Times New Roman"/>
                <a:cs typeface="Times New Roman"/>
              </a:rPr>
              <a:t>message*/ send(producer,</a:t>
            </a:r>
            <a:r>
              <a:rPr sz="1600" spc="-40" dirty="0">
                <a:latin typeface="Times New Roman"/>
                <a:cs typeface="Times New Roman"/>
              </a:rPr>
              <a:t> </a:t>
            </a:r>
            <a:r>
              <a:rPr sz="1600" dirty="0">
                <a:latin typeface="Times New Roman"/>
                <a:cs typeface="Times New Roman"/>
              </a:rPr>
              <a:t>&amp;m); /*</a:t>
            </a:r>
            <a:r>
              <a:rPr sz="1600" spc="-40" dirty="0">
                <a:latin typeface="Times New Roman"/>
                <a:cs typeface="Times New Roman"/>
              </a:rPr>
              <a:t> </a:t>
            </a:r>
            <a:r>
              <a:rPr sz="1600" dirty="0">
                <a:latin typeface="Times New Roman"/>
                <a:cs typeface="Times New Roman"/>
              </a:rPr>
              <a:t>send</a:t>
            </a:r>
            <a:r>
              <a:rPr sz="1600" spc="-25" dirty="0">
                <a:latin typeface="Times New Roman"/>
                <a:cs typeface="Times New Roman"/>
              </a:rPr>
              <a:t> </a:t>
            </a:r>
            <a:r>
              <a:rPr sz="1600" dirty="0">
                <a:latin typeface="Times New Roman"/>
                <a:cs typeface="Times New Roman"/>
              </a:rPr>
              <a:t>back</a:t>
            </a:r>
            <a:r>
              <a:rPr sz="1600" spc="-45" dirty="0">
                <a:latin typeface="Times New Roman"/>
                <a:cs typeface="Times New Roman"/>
              </a:rPr>
              <a:t> </a:t>
            </a:r>
            <a:r>
              <a:rPr sz="1600" dirty="0">
                <a:latin typeface="Times New Roman"/>
                <a:cs typeface="Times New Roman"/>
              </a:rPr>
              <a:t>empty</a:t>
            </a:r>
            <a:r>
              <a:rPr sz="1600" spc="5" dirty="0">
                <a:latin typeface="Times New Roman"/>
                <a:cs typeface="Times New Roman"/>
              </a:rPr>
              <a:t> </a:t>
            </a:r>
            <a:r>
              <a:rPr sz="1600" spc="-10" dirty="0">
                <a:latin typeface="Times New Roman"/>
                <a:cs typeface="Times New Roman"/>
              </a:rPr>
              <a:t>reply*/ consume_item(item);</a:t>
            </a:r>
            <a:r>
              <a:rPr sz="1600" spc="150" dirty="0">
                <a:latin typeface="Times New Roman"/>
                <a:cs typeface="Times New Roman"/>
              </a:rPr>
              <a:t> </a:t>
            </a:r>
            <a:r>
              <a:rPr sz="1600" dirty="0">
                <a:latin typeface="Times New Roman"/>
                <a:cs typeface="Times New Roman"/>
              </a:rPr>
              <a:t>/*do</a:t>
            </a:r>
            <a:r>
              <a:rPr sz="1600" spc="100" dirty="0">
                <a:latin typeface="Times New Roman"/>
                <a:cs typeface="Times New Roman"/>
              </a:rPr>
              <a:t> </a:t>
            </a:r>
            <a:r>
              <a:rPr sz="1600" spc="-10" dirty="0">
                <a:latin typeface="Times New Roman"/>
                <a:cs typeface="Times New Roman"/>
              </a:rPr>
              <a:t>so</a:t>
            </a:r>
            <a:r>
              <a:rPr sz="1600" spc="-50" dirty="0">
                <a:latin typeface="Times New Roman"/>
                <a:cs typeface="Times New Roman"/>
              </a:rPr>
              <a:t>m</a:t>
            </a:r>
            <a:r>
              <a:rPr sz="1600" spc="-285" dirty="0">
                <a:latin typeface="Times New Roman"/>
                <a:cs typeface="Times New Roman"/>
              </a:rPr>
              <a:t>e</a:t>
            </a:r>
            <a:r>
              <a:rPr sz="1800" spc="-600" baseline="16203" dirty="0">
                <a:solidFill>
                  <a:srgbClr val="888888"/>
                </a:solidFill>
                <a:latin typeface="Calibri"/>
                <a:cs typeface="Calibri"/>
              </a:rPr>
              <a:t>B</a:t>
            </a:r>
            <a:r>
              <a:rPr sz="1600" spc="-90" dirty="0">
                <a:latin typeface="Times New Roman"/>
                <a:cs typeface="Times New Roman"/>
              </a:rPr>
              <a:t>t</a:t>
            </a:r>
            <a:r>
              <a:rPr sz="1800" spc="-719" baseline="16203" dirty="0">
                <a:solidFill>
                  <a:srgbClr val="888888"/>
                </a:solidFill>
                <a:latin typeface="Calibri"/>
                <a:cs typeface="Calibri"/>
              </a:rPr>
              <a:t>y</a:t>
            </a:r>
            <a:r>
              <a:rPr sz="1600" spc="-85" dirty="0">
                <a:latin typeface="Times New Roman"/>
                <a:cs typeface="Times New Roman"/>
              </a:rPr>
              <a:t>h</a:t>
            </a:r>
            <a:r>
              <a:rPr sz="1800" spc="-967" baseline="16203" dirty="0">
                <a:solidFill>
                  <a:srgbClr val="888888"/>
                </a:solidFill>
                <a:latin typeface="Calibri"/>
                <a:cs typeface="Calibri"/>
              </a:rPr>
              <a:t>A</a:t>
            </a:r>
            <a:r>
              <a:rPr sz="1600" spc="-10" dirty="0">
                <a:latin typeface="Times New Roman"/>
                <a:cs typeface="Times New Roman"/>
              </a:rPr>
              <a:t>i</a:t>
            </a:r>
            <a:r>
              <a:rPr sz="1600" spc="-640" dirty="0">
                <a:latin typeface="Times New Roman"/>
                <a:cs typeface="Times New Roman"/>
              </a:rPr>
              <a:t>n</a:t>
            </a:r>
            <a:r>
              <a:rPr sz="1800" spc="-30" baseline="16203" dirty="0">
                <a:solidFill>
                  <a:srgbClr val="888888"/>
                </a:solidFill>
                <a:latin typeface="Calibri"/>
                <a:cs typeface="Calibri"/>
              </a:rPr>
              <a:t>s</a:t>
            </a:r>
            <a:r>
              <a:rPr sz="1800" spc="-502" baseline="16203" dirty="0">
                <a:solidFill>
                  <a:srgbClr val="888888"/>
                </a:solidFill>
                <a:latin typeface="Calibri"/>
                <a:cs typeface="Calibri"/>
              </a:rPr>
              <a:t>s</a:t>
            </a:r>
            <a:r>
              <a:rPr sz="1600" spc="-520" dirty="0">
                <a:latin typeface="Times New Roman"/>
                <a:cs typeface="Times New Roman"/>
              </a:rPr>
              <a:t>g</a:t>
            </a:r>
            <a:r>
              <a:rPr sz="1800" spc="-15" baseline="16203" dirty="0">
                <a:solidFill>
                  <a:srgbClr val="888888"/>
                </a:solidFill>
                <a:latin typeface="Calibri"/>
                <a:cs typeface="Calibri"/>
              </a:rPr>
              <a:t>t.</a:t>
            </a:r>
            <a:r>
              <a:rPr sz="1800" spc="30" baseline="16203" dirty="0">
                <a:solidFill>
                  <a:srgbClr val="888888"/>
                </a:solidFill>
                <a:latin typeface="Calibri"/>
                <a:cs typeface="Calibri"/>
              </a:rPr>
              <a:t> </a:t>
            </a:r>
            <a:r>
              <a:rPr sz="1600" spc="-1115" dirty="0">
                <a:latin typeface="Times New Roman"/>
                <a:cs typeface="Times New Roman"/>
              </a:rPr>
              <a:t>w</a:t>
            </a:r>
            <a:r>
              <a:rPr sz="1800" spc="-15" baseline="16203" dirty="0">
                <a:solidFill>
                  <a:srgbClr val="888888"/>
                </a:solidFill>
                <a:latin typeface="Calibri"/>
                <a:cs typeface="Calibri"/>
              </a:rPr>
              <a:t>P</a:t>
            </a:r>
            <a:r>
              <a:rPr sz="1800" spc="-44" baseline="16203" dirty="0">
                <a:solidFill>
                  <a:srgbClr val="888888"/>
                </a:solidFill>
                <a:latin typeface="Calibri"/>
                <a:cs typeface="Calibri"/>
              </a:rPr>
              <a:t>r</a:t>
            </a:r>
            <a:r>
              <a:rPr sz="1800" spc="-862" baseline="16203" dirty="0">
                <a:solidFill>
                  <a:srgbClr val="888888"/>
                </a:solidFill>
                <a:latin typeface="Calibri"/>
                <a:cs typeface="Calibri"/>
              </a:rPr>
              <a:t>o</a:t>
            </a:r>
            <a:r>
              <a:rPr sz="1600" spc="-10" dirty="0">
                <a:latin typeface="Times New Roman"/>
                <a:cs typeface="Times New Roman"/>
              </a:rPr>
              <a:t>i</a:t>
            </a:r>
            <a:r>
              <a:rPr sz="1600" spc="-355" dirty="0">
                <a:latin typeface="Times New Roman"/>
                <a:cs typeface="Times New Roman"/>
              </a:rPr>
              <a:t>t</a:t>
            </a:r>
            <a:r>
              <a:rPr sz="1800" spc="-135" baseline="16203" dirty="0">
                <a:solidFill>
                  <a:srgbClr val="888888"/>
                </a:solidFill>
                <a:latin typeface="Calibri"/>
                <a:cs typeface="Calibri"/>
              </a:rPr>
              <a:t>f</a:t>
            </a:r>
            <a:r>
              <a:rPr sz="1800" spc="-405" baseline="16203" dirty="0">
                <a:solidFill>
                  <a:srgbClr val="888888"/>
                </a:solidFill>
                <a:latin typeface="Calibri"/>
                <a:cs typeface="Calibri"/>
              </a:rPr>
              <a:t>.</a:t>
            </a:r>
            <a:r>
              <a:rPr sz="1600" spc="-300" dirty="0">
                <a:latin typeface="Times New Roman"/>
                <a:cs typeface="Times New Roman"/>
              </a:rPr>
              <a:t>h</a:t>
            </a:r>
            <a:r>
              <a:rPr sz="1800" spc="-179" baseline="16203" dirty="0">
                <a:solidFill>
                  <a:srgbClr val="888888"/>
                </a:solidFill>
                <a:latin typeface="Calibri"/>
                <a:cs typeface="Calibri"/>
              </a:rPr>
              <a:t>T</a:t>
            </a:r>
            <a:r>
              <a:rPr sz="1800" spc="-615" baseline="16203" dirty="0">
                <a:solidFill>
                  <a:srgbClr val="888888"/>
                </a:solidFill>
                <a:latin typeface="Calibri"/>
                <a:cs typeface="Calibri"/>
              </a:rPr>
              <a:t>e</a:t>
            </a:r>
            <a:r>
              <a:rPr sz="1600" spc="-70" dirty="0">
                <a:latin typeface="Times New Roman"/>
                <a:cs typeface="Times New Roman"/>
              </a:rPr>
              <a:t>i</a:t>
            </a:r>
            <a:r>
              <a:rPr sz="1800" spc="-382" baseline="16203" dirty="0">
                <a:solidFill>
                  <a:srgbClr val="888888"/>
                </a:solidFill>
                <a:latin typeface="Calibri"/>
                <a:cs typeface="Calibri"/>
              </a:rPr>
              <a:t>j</a:t>
            </a:r>
            <a:r>
              <a:rPr sz="1600" spc="-10" dirty="0">
                <a:latin typeface="Times New Roman"/>
                <a:cs typeface="Times New Roman"/>
              </a:rPr>
              <a:t>t</a:t>
            </a:r>
            <a:r>
              <a:rPr sz="1600" spc="-660" dirty="0">
                <a:latin typeface="Times New Roman"/>
                <a:cs typeface="Times New Roman"/>
              </a:rPr>
              <a:t>e</a:t>
            </a:r>
            <a:r>
              <a:rPr sz="1800" spc="-22" baseline="16203" dirty="0">
                <a:solidFill>
                  <a:srgbClr val="888888"/>
                </a:solidFill>
                <a:latin typeface="Calibri"/>
                <a:cs typeface="Calibri"/>
              </a:rPr>
              <a:t>B</a:t>
            </a:r>
            <a:r>
              <a:rPr sz="1600" spc="-1270" dirty="0">
                <a:latin typeface="Times New Roman"/>
                <a:cs typeface="Times New Roman"/>
              </a:rPr>
              <a:t>m</a:t>
            </a:r>
            <a:r>
              <a:rPr sz="1800" spc="-22" baseline="16203" dirty="0">
                <a:solidFill>
                  <a:srgbClr val="888888"/>
                </a:solidFill>
                <a:latin typeface="Calibri"/>
                <a:cs typeface="Calibri"/>
              </a:rPr>
              <a:t>a</a:t>
            </a:r>
            <a:r>
              <a:rPr sz="1800" spc="-7" baseline="16203" dirty="0">
                <a:solidFill>
                  <a:srgbClr val="888888"/>
                </a:solidFill>
                <a:latin typeface="Calibri"/>
                <a:cs typeface="Calibri"/>
              </a:rPr>
              <a:t>h</a:t>
            </a:r>
            <a:r>
              <a:rPr sz="1800" spc="-892" baseline="16203" dirty="0">
                <a:solidFill>
                  <a:srgbClr val="888888"/>
                </a:solidFill>
                <a:latin typeface="Calibri"/>
                <a:cs typeface="Calibri"/>
              </a:rPr>
              <a:t>a</a:t>
            </a:r>
            <a:r>
              <a:rPr sz="1600" spc="-240" dirty="0">
                <a:latin typeface="Times New Roman"/>
                <a:cs typeface="Times New Roman"/>
              </a:rPr>
              <a:t>*</a:t>
            </a:r>
            <a:r>
              <a:rPr sz="1800" spc="-622" baseline="16203" dirty="0">
                <a:solidFill>
                  <a:srgbClr val="888888"/>
                </a:solidFill>
                <a:latin typeface="Calibri"/>
                <a:cs typeface="Calibri"/>
              </a:rPr>
              <a:t>d</a:t>
            </a:r>
            <a:r>
              <a:rPr sz="1600" spc="-55" dirty="0">
                <a:latin typeface="Times New Roman"/>
                <a:cs typeface="Times New Roman"/>
              </a:rPr>
              <a:t>/</a:t>
            </a:r>
            <a:r>
              <a:rPr sz="1800" spc="-15" baseline="16203" dirty="0">
                <a:solidFill>
                  <a:srgbClr val="888888"/>
                </a:solidFill>
                <a:latin typeface="Calibri"/>
                <a:cs typeface="Calibri"/>
              </a:rPr>
              <a:t>ur</a:t>
            </a:r>
            <a:r>
              <a:rPr sz="1800" spc="52" baseline="16203" dirty="0">
                <a:solidFill>
                  <a:srgbClr val="888888"/>
                </a:solidFill>
                <a:latin typeface="Calibri"/>
                <a:cs typeface="Calibri"/>
              </a:rPr>
              <a:t> </a:t>
            </a:r>
            <a:r>
              <a:rPr sz="1800" spc="-15" baseline="16203" dirty="0">
                <a:solidFill>
                  <a:srgbClr val="888888"/>
                </a:solidFill>
                <a:latin typeface="Calibri"/>
                <a:cs typeface="Calibri"/>
              </a:rPr>
              <a:t>Shahi</a:t>
            </a:r>
            <a:endParaRPr sz="1800" baseline="16203" dirty="0">
              <a:latin typeface="Calibri"/>
              <a:cs typeface="Calibri"/>
            </a:endParaRPr>
          </a:p>
          <a:p>
            <a:pPr marL="38100">
              <a:lnSpc>
                <a:spcPct val="100000"/>
              </a:lnSpc>
              <a:spcBef>
                <a:spcPts val="5"/>
              </a:spcBef>
            </a:pPr>
            <a:r>
              <a:rPr sz="1600" spc="-50" dirty="0">
                <a:latin typeface="Times New Roman"/>
                <a:cs typeface="Times New Roman"/>
              </a:rPr>
              <a:t>}</a:t>
            </a:r>
            <a:endParaRPr sz="1600" dirty="0">
              <a:latin typeface="Times New Roman"/>
              <a:cs typeface="Times New Roman"/>
            </a:endParaRPr>
          </a:p>
        </p:txBody>
      </p:sp>
      <p:sp>
        <p:nvSpPr>
          <p:cNvPr id="5" name="object 5"/>
          <p:cNvSpPr txBox="1"/>
          <p:nvPr/>
        </p:nvSpPr>
        <p:spPr>
          <a:xfrm>
            <a:off x="8426957" y="6427114"/>
            <a:ext cx="180975" cy="208279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200" spc="-25" dirty="0">
                <a:solidFill>
                  <a:srgbClr val="888888"/>
                </a:solidFill>
                <a:latin typeface="Calibri"/>
                <a:cs typeface="Calibri"/>
              </a:rPr>
              <a:t>57</a:t>
            </a:r>
            <a:endParaRPr sz="1200">
              <a:latin typeface="Calibri"/>
              <a:cs typeface="Calibri"/>
            </a:endParaRPr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7B4F24E8-AF0E-48BF-9079-A506B66242D6}"/>
              </a:ext>
            </a:extLst>
          </p:cNvPr>
          <p:cNvSpPr>
            <a:spLocks noGrp="1"/>
          </p:cNvSpPr>
          <p:nvPr>
            <p:ph type="ftr" sz="quarter" idx="5"/>
          </p:nvPr>
        </p:nvSpPr>
        <p:spPr/>
        <p:txBody>
          <a:bodyPr/>
          <a:lstStyle/>
          <a:p>
            <a:pPr marL="12700">
              <a:lnSpc>
                <a:spcPts val="1240"/>
              </a:lnSpc>
            </a:pPr>
            <a:r>
              <a:rPr lang="pl-PL"/>
              <a:t>By Dr. Binod Kr. Adhikari</a:t>
            </a:r>
            <a:endParaRPr lang="en-US" spc="-10" dirty="0"/>
          </a:p>
        </p:txBody>
      </p:sp>
    </p:spTree>
  </p:cSld>
  <p:clrMapOvr>
    <a:masterClrMapping/>
  </p:clrMapOvr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13335" rIns="0" bIns="0" rtlCol="0">
            <a:spAutoFit/>
          </a:bodyPr>
          <a:lstStyle/>
          <a:p>
            <a:pPr marL="12700" algn="ctr" rtl="0">
              <a:spcBef>
                <a:spcPts val="105"/>
              </a:spcBef>
            </a:pPr>
            <a:r>
              <a:rPr sz="3200" b="1" dirty="0">
                <a:solidFill>
                  <a:sysClr val="windowText" lastClr="000000"/>
                </a:solidFill>
                <a:latin typeface="+mj-lt"/>
                <a:cs typeface="+mj-cs"/>
              </a:rPr>
              <a:t>Message passing</a:t>
            </a:r>
          </a:p>
        </p:txBody>
      </p:sp>
      <p:sp>
        <p:nvSpPr>
          <p:cNvPr id="4" name="object 4"/>
          <p:cNvSpPr txBox="1">
            <a:spLocks noGrp="1"/>
          </p:cNvSpPr>
          <p:nvPr>
            <p:ph type="ftr" sz="quarter" idx="5"/>
          </p:nvPr>
        </p:nvSpPr>
        <p:spPr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12700">
              <a:lnSpc>
                <a:spcPts val="1240"/>
              </a:lnSpc>
            </a:pPr>
            <a:r>
              <a:rPr lang="pl-PL"/>
              <a:t>By Dr. Binod Kr. Adhikari</a:t>
            </a:r>
            <a:endParaRPr spc="-10" dirty="0"/>
          </a:p>
        </p:txBody>
      </p:sp>
      <p:sp>
        <p:nvSpPr>
          <p:cNvPr id="3" name="object 3"/>
          <p:cNvSpPr txBox="1"/>
          <p:nvPr/>
        </p:nvSpPr>
        <p:spPr>
          <a:xfrm>
            <a:off x="535940" y="1556969"/>
            <a:ext cx="7809230" cy="439166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354965" indent="-342265">
              <a:lnSpc>
                <a:spcPct val="100000"/>
              </a:lnSpc>
              <a:spcBef>
                <a:spcPts val="95"/>
              </a:spcBef>
              <a:buFont typeface="Arial"/>
              <a:buChar char="•"/>
              <a:tabLst>
                <a:tab pos="354965" algn="l"/>
              </a:tabLst>
            </a:pPr>
            <a:r>
              <a:rPr sz="2200" dirty="0">
                <a:latin typeface="Times New Roman"/>
                <a:cs typeface="Times New Roman"/>
              </a:rPr>
              <a:t>No</a:t>
            </a:r>
            <a:r>
              <a:rPr sz="2200" spc="-35" dirty="0">
                <a:latin typeface="Times New Roman"/>
                <a:cs typeface="Times New Roman"/>
              </a:rPr>
              <a:t> </a:t>
            </a:r>
            <a:r>
              <a:rPr sz="2200" dirty="0">
                <a:latin typeface="Times New Roman"/>
                <a:cs typeface="Times New Roman"/>
              </a:rPr>
              <a:t>shared</a:t>
            </a:r>
            <a:r>
              <a:rPr sz="2200" spc="-25" dirty="0">
                <a:latin typeface="Times New Roman"/>
                <a:cs typeface="Times New Roman"/>
              </a:rPr>
              <a:t> </a:t>
            </a:r>
            <a:r>
              <a:rPr sz="2200" spc="-10" dirty="0">
                <a:latin typeface="Times New Roman"/>
                <a:cs typeface="Times New Roman"/>
              </a:rPr>
              <a:t>memory.</a:t>
            </a:r>
            <a:endParaRPr sz="2200">
              <a:latin typeface="Times New Roman"/>
              <a:cs typeface="Times New Roman"/>
            </a:endParaRPr>
          </a:p>
          <a:p>
            <a:pPr>
              <a:lnSpc>
                <a:spcPct val="100000"/>
              </a:lnSpc>
              <a:spcBef>
                <a:spcPts val="640"/>
              </a:spcBef>
              <a:buFont typeface="Arial"/>
              <a:buChar char="•"/>
            </a:pPr>
            <a:endParaRPr sz="2200">
              <a:latin typeface="Times New Roman"/>
              <a:cs typeface="Times New Roman"/>
            </a:endParaRPr>
          </a:p>
          <a:p>
            <a:pPr marL="355600" marR="204470" indent="-342900">
              <a:lnSpc>
                <a:spcPct val="80000"/>
              </a:lnSpc>
              <a:spcBef>
                <a:spcPts val="5"/>
              </a:spcBef>
              <a:buFont typeface="Arial"/>
              <a:buChar char="•"/>
              <a:tabLst>
                <a:tab pos="355600" algn="l"/>
              </a:tabLst>
            </a:pPr>
            <a:r>
              <a:rPr sz="2200" dirty="0">
                <a:latin typeface="Times New Roman"/>
                <a:cs typeface="Times New Roman"/>
              </a:rPr>
              <a:t>Messages</a:t>
            </a:r>
            <a:r>
              <a:rPr sz="2200" spc="-75" dirty="0">
                <a:latin typeface="Times New Roman"/>
                <a:cs typeface="Times New Roman"/>
              </a:rPr>
              <a:t> </a:t>
            </a:r>
            <a:r>
              <a:rPr sz="2200" dirty="0">
                <a:latin typeface="Times New Roman"/>
                <a:cs typeface="Times New Roman"/>
              </a:rPr>
              <a:t>sent</a:t>
            </a:r>
            <a:r>
              <a:rPr sz="2200" spc="-55" dirty="0">
                <a:latin typeface="Times New Roman"/>
                <a:cs typeface="Times New Roman"/>
              </a:rPr>
              <a:t> </a:t>
            </a:r>
            <a:r>
              <a:rPr sz="2200" dirty="0">
                <a:latin typeface="Times New Roman"/>
                <a:cs typeface="Times New Roman"/>
              </a:rPr>
              <a:t>but</a:t>
            </a:r>
            <a:r>
              <a:rPr sz="2200" spc="-50" dirty="0">
                <a:latin typeface="Times New Roman"/>
                <a:cs typeface="Times New Roman"/>
              </a:rPr>
              <a:t> </a:t>
            </a:r>
            <a:r>
              <a:rPr sz="2200" dirty="0">
                <a:latin typeface="Times New Roman"/>
                <a:cs typeface="Times New Roman"/>
              </a:rPr>
              <a:t>not</a:t>
            </a:r>
            <a:r>
              <a:rPr sz="2200" spc="-60" dirty="0">
                <a:latin typeface="Times New Roman"/>
                <a:cs typeface="Times New Roman"/>
              </a:rPr>
              <a:t> </a:t>
            </a:r>
            <a:r>
              <a:rPr sz="2200" dirty="0">
                <a:latin typeface="Times New Roman"/>
                <a:cs typeface="Times New Roman"/>
              </a:rPr>
              <a:t>yet</a:t>
            </a:r>
            <a:r>
              <a:rPr sz="2200" spc="-60" dirty="0">
                <a:latin typeface="Times New Roman"/>
                <a:cs typeface="Times New Roman"/>
              </a:rPr>
              <a:t> </a:t>
            </a:r>
            <a:r>
              <a:rPr sz="2200" dirty="0">
                <a:latin typeface="Times New Roman"/>
                <a:cs typeface="Times New Roman"/>
              </a:rPr>
              <a:t>received</a:t>
            </a:r>
            <a:r>
              <a:rPr sz="2200" spc="-40" dirty="0">
                <a:latin typeface="Times New Roman"/>
                <a:cs typeface="Times New Roman"/>
              </a:rPr>
              <a:t> </a:t>
            </a:r>
            <a:r>
              <a:rPr sz="2200" dirty="0">
                <a:latin typeface="Times New Roman"/>
                <a:cs typeface="Times New Roman"/>
              </a:rPr>
              <a:t>are</a:t>
            </a:r>
            <a:r>
              <a:rPr sz="2200" spc="-45" dirty="0">
                <a:latin typeface="Times New Roman"/>
                <a:cs typeface="Times New Roman"/>
              </a:rPr>
              <a:t> </a:t>
            </a:r>
            <a:r>
              <a:rPr sz="2200" dirty="0">
                <a:latin typeface="Times New Roman"/>
                <a:cs typeface="Times New Roman"/>
              </a:rPr>
              <a:t>buffered</a:t>
            </a:r>
            <a:r>
              <a:rPr sz="2200" spc="-55" dirty="0">
                <a:latin typeface="Times New Roman"/>
                <a:cs typeface="Times New Roman"/>
              </a:rPr>
              <a:t> </a:t>
            </a:r>
            <a:r>
              <a:rPr sz="2200" dirty="0">
                <a:latin typeface="Times New Roman"/>
                <a:cs typeface="Times New Roman"/>
              </a:rPr>
              <a:t>automatically</a:t>
            </a:r>
            <a:r>
              <a:rPr sz="2200" spc="-25" dirty="0">
                <a:latin typeface="Times New Roman"/>
                <a:cs typeface="Times New Roman"/>
              </a:rPr>
              <a:t> by </a:t>
            </a:r>
            <a:r>
              <a:rPr sz="2200" dirty="0">
                <a:latin typeface="Times New Roman"/>
                <a:cs typeface="Times New Roman"/>
              </a:rPr>
              <a:t>OS,</a:t>
            </a:r>
            <a:r>
              <a:rPr sz="2200" spc="-25" dirty="0">
                <a:latin typeface="Times New Roman"/>
                <a:cs typeface="Times New Roman"/>
              </a:rPr>
              <a:t> </a:t>
            </a:r>
            <a:r>
              <a:rPr sz="2200" dirty="0">
                <a:latin typeface="Times New Roman"/>
                <a:cs typeface="Times New Roman"/>
              </a:rPr>
              <a:t>it</a:t>
            </a:r>
            <a:r>
              <a:rPr sz="2200" spc="-25" dirty="0">
                <a:latin typeface="Times New Roman"/>
                <a:cs typeface="Times New Roman"/>
              </a:rPr>
              <a:t> </a:t>
            </a:r>
            <a:r>
              <a:rPr sz="2200" dirty="0">
                <a:latin typeface="Times New Roman"/>
                <a:cs typeface="Times New Roman"/>
              </a:rPr>
              <a:t>can</a:t>
            </a:r>
            <a:r>
              <a:rPr sz="2200" spc="-25" dirty="0">
                <a:latin typeface="Times New Roman"/>
                <a:cs typeface="Times New Roman"/>
              </a:rPr>
              <a:t> </a:t>
            </a:r>
            <a:r>
              <a:rPr sz="2200" dirty="0">
                <a:latin typeface="Times New Roman"/>
                <a:cs typeface="Times New Roman"/>
              </a:rPr>
              <a:t>save</a:t>
            </a:r>
            <a:r>
              <a:rPr sz="2200" spc="-20" dirty="0">
                <a:latin typeface="Times New Roman"/>
                <a:cs typeface="Times New Roman"/>
              </a:rPr>
              <a:t> </a:t>
            </a:r>
            <a:r>
              <a:rPr sz="2200" dirty="0">
                <a:latin typeface="Times New Roman"/>
                <a:cs typeface="Times New Roman"/>
              </a:rPr>
              <a:t>N</a:t>
            </a:r>
            <a:r>
              <a:rPr sz="2200" spc="-20" dirty="0">
                <a:latin typeface="Times New Roman"/>
                <a:cs typeface="Times New Roman"/>
              </a:rPr>
              <a:t> </a:t>
            </a:r>
            <a:r>
              <a:rPr sz="2200" spc="-10" dirty="0">
                <a:latin typeface="Times New Roman"/>
                <a:cs typeface="Times New Roman"/>
              </a:rPr>
              <a:t>messages.</a:t>
            </a:r>
            <a:endParaRPr sz="2200">
              <a:latin typeface="Times New Roman"/>
              <a:cs typeface="Times New Roman"/>
            </a:endParaRPr>
          </a:p>
          <a:p>
            <a:pPr marL="354965" indent="-342265">
              <a:lnSpc>
                <a:spcPts val="2375"/>
              </a:lnSpc>
              <a:buFont typeface="Arial"/>
              <a:buChar char="•"/>
              <a:tabLst>
                <a:tab pos="354965" algn="l"/>
              </a:tabLst>
            </a:pPr>
            <a:r>
              <a:rPr sz="2200" dirty="0">
                <a:latin typeface="Times New Roman"/>
                <a:cs typeface="Times New Roman"/>
              </a:rPr>
              <a:t>The</a:t>
            </a:r>
            <a:r>
              <a:rPr sz="2200" spc="-45" dirty="0">
                <a:latin typeface="Times New Roman"/>
                <a:cs typeface="Times New Roman"/>
              </a:rPr>
              <a:t> </a:t>
            </a:r>
            <a:r>
              <a:rPr sz="2200" dirty="0">
                <a:latin typeface="Times New Roman"/>
                <a:cs typeface="Times New Roman"/>
              </a:rPr>
              <a:t>total</a:t>
            </a:r>
            <a:r>
              <a:rPr sz="2200" spc="-35" dirty="0">
                <a:latin typeface="Times New Roman"/>
                <a:cs typeface="Times New Roman"/>
              </a:rPr>
              <a:t> </a:t>
            </a:r>
            <a:r>
              <a:rPr sz="2200" dirty="0">
                <a:latin typeface="Times New Roman"/>
                <a:cs typeface="Times New Roman"/>
              </a:rPr>
              <a:t>number</a:t>
            </a:r>
            <a:r>
              <a:rPr sz="2200" spc="-25" dirty="0">
                <a:latin typeface="Times New Roman"/>
                <a:cs typeface="Times New Roman"/>
              </a:rPr>
              <a:t> </a:t>
            </a:r>
            <a:r>
              <a:rPr sz="2200" dirty="0">
                <a:latin typeface="Times New Roman"/>
                <a:cs typeface="Times New Roman"/>
              </a:rPr>
              <a:t>of</a:t>
            </a:r>
            <a:r>
              <a:rPr sz="2200" spc="-35" dirty="0">
                <a:latin typeface="Times New Roman"/>
                <a:cs typeface="Times New Roman"/>
              </a:rPr>
              <a:t> </a:t>
            </a:r>
            <a:r>
              <a:rPr sz="2200" dirty="0">
                <a:latin typeface="Times New Roman"/>
                <a:cs typeface="Times New Roman"/>
              </a:rPr>
              <a:t>messages</a:t>
            </a:r>
            <a:r>
              <a:rPr sz="2200" spc="-15" dirty="0">
                <a:latin typeface="Times New Roman"/>
                <a:cs typeface="Times New Roman"/>
              </a:rPr>
              <a:t> </a:t>
            </a:r>
            <a:r>
              <a:rPr sz="2200" dirty="0">
                <a:latin typeface="Times New Roman"/>
                <a:cs typeface="Times New Roman"/>
              </a:rPr>
              <a:t>in</a:t>
            </a:r>
            <a:r>
              <a:rPr sz="2200" spc="-40" dirty="0">
                <a:latin typeface="Times New Roman"/>
                <a:cs typeface="Times New Roman"/>
              </a:rPr>
              <a:t> </a:t>
            </a:r>
            <a:r>
              <a:rPr sz="2200" dirty="0">
                <a:latin typeface="Times New Roman"/>
                <a:cs typeface="Times New Roman"/>
              </a:rPr>
              <a:t>the</a:t>
            </a:r>
            <a:r>
              <a:rPr sz="2200" spc="-40" dirty="0">
                <a:latin typeface="Times New Roman"/>
                <a:cs typeface="Times New Roman"/>
              </a:rPr>
              <a:t> </a:t>
            </a:r>
            <a:r>
              <a:rPr sz="2200" dirty="0">
                <a:latin typeface="Times New Roman"/>
                <a:cs typeface="Times New Roman"/>
              </a:rPr>
              <a:t>system</a:t>
            </a:r>
            <a:r>
              <a:rPr sz="2200" spc="-55" dirty="0">
                <a:latin typeface="Times New Roman"/>
                <a:cs typeface="Times New Roman"/>
              </a:rPr>
              <a:t> </a:t>
            </a:r>
            <a:r>
              <a:rPr sz="2200" dirty="0">
                <a:latin typeface="Times New Roman"/>
                <a:cs typeface="Times New Roman"/>
              </a:rPr>
              <a:t>remains</a:t>
            </a:r>
            <a:r>
              <a:rPr sz="2200" spc="-20" dirty="0">
                <a:latin typeface="Times New Roman"/>
                <a:cs typeface="Times New Roman"/>
              </a:rPr>
              <a:t> </a:t>
            </a:r>
            <a:r>
              <a:rPr sz="2200" dirty="0">
                <a:latin typeface="Times New Roman"/>
                <a:cs typeface="Times New Roman"/>
              </a:rPr>
              <a:t>constant,</a:t>
            </a:r>
            <a:r>
              <a:rPr sz="2200" spc="-35" dirty="0">
                <a:latin typeface="Times New Roman"/>
                <a:cs typeface="Times New Roman"/>
              </a:rPr>
              <a:t> </a:t>
            </a:r>
            <a:r>
              <a:rPr sz="2200" spc="-25" dirty="0">
                <a:latin typeface="Times New Roman"/>
                <a:cs typeface="Times New Roman"/>
              </a:rPr>
              <a:t>so</a:t>
            </a:r>
            <a:endParaRPr sz="2200">
              <a:latin typeface="Times New Roman"/>
              <a:cs typeface="Times New Roman"/>
            </a:endParaRPr>
          </a:p>
          <a:p>
            <a:pPr marL="355600">
              <a:lnSpc>
                <a:spcPts val="2375"/>
              </a:lnSpc>
            </a:pPr>
            <a:r>
              <a:rPr sz="2200" dirty="0">
                <a:latin typeface="Times New Roman"/>
                <a:cs typeface="Times New Roman"/>
              </a:rPr>
              <a:t>they</a:t>
            </a:r>
            <a:r>
              <a:rPr sz="2200" spc="-70" dirty="0">
                <a:latin typeface="Times New Roman"/>
                <a:cs typeface="Times New Roman"/>
              </a:rPr>
              <a:t> </a:t>
            </a:r>
            <a:r>
              <a:rPr sz="2200" dirty="0">
                <a:latin typeface="Times New Roman"/>
                <a:cs typeface="Times New Roman"/>
              </a:rPr>
              <a:t>can</a:t>
            </a:r>
            <a:r>
              <a:rPr sz="2200" spc="-50" dirty="0">
                <a:latin typeface="Times New Roman"/>
                <a:cs typeface="Times New Roman"/>
              </a:rPr>
              <a:t> </a:t>
            </a:r>
            <a:r>
              <a:rPr sz="2200" dirty="0">
                <a:latin typeface="Times New Roman"/>
                <a:cs typeface="Times New Roman"/>
              </a:rPr>
              <a:t>be</a:t>
            </a:r>
            <a:r>
              <a:rPr sz="2200" spc="-45" dirty="0">
                <a:latin typeface="Times New Roman"/>
                <a:cs typeface="Times New Roman"/>
              </a:rPr>
              <a:t> </a:t>
            </a:r>
            <a:r>
              <a:rPr sz="2200" dirty="0">
                <a:latin typeface="Times New Roman"/>
                <a:cs typeface="Times New Roman"/>
              </a:rPr>
              <a:t>stored</a:t>
            </a:r>
            <a:r>
              <a:rPr sz="2200" spc="-40" dirty="0">
                <a:latin typeface="Times New Roman"/>
                <a:cs typeface="Times New Roman"/>
              </a:rPr>
              <a:t> </a:t>
            </a:r>
            <a:r>
              <a:rPr sz="2200" dirty="0">
                <a:latin typeface="Times New Roman"/>
                <a:cs typeface="Times New Roman"/>
              </a:rPr>
              <a:t>in</a:t>
            </a:r>
            <a:r>
              <a:rPr sz="2200" spc="-40" dirty="0">
                <a:latin typeface="Times New Roman"/>
                <a:cs typeface="Times New Roman"/>
              </a:rPr>
              <a:t> </a:t>
            </a:r>
            <a:r>
              <a:rPr sz="2200" dirty="0">
                <a:latin typeface="Times New Roman"/>
                <a:cs typeface="Times New Roman"/>
              </a:rPr>
              <a:t>given</a:t>
            </a:r>
            <a:r>
              <a:rPr sz="2200" spc="-50" dirty="0">
                <a:latin typeface="Times New Roman"/>
                <a:cs typeface="Times New Roman"/>
              </a:rPr>
              <a:t> </a:t>
            </a:r>
            <a:r>
              <a:rPr sz="2200" dirty="0">
                <a:latin typeface="Times New Roman"/>
                <a:cs typeface="Times New Roman"/>
              </a:rPr>
              <a:t>amount</a:t>
            </a:r>
            <a:r>
              <a:rPr sz="2200" spc="-45" dirty="0">
                <a:latin typeface="Times New Roman"/>
                <a:cs typeface="Times New Roman"/>
              </a:rPr>
              <a:t> </a:t>
            </a:r>
            <a:r>
              <a:rPr sz="2200" dirty="0">
                <a:latin typeface="Times New Roman"/>
                <a:cs typeface="Times New Roman"/>
              </a:rPr>
              <a:t>of</a:t>
            </a:r>
            <a:r>
              <a:rPr sz="2200" spc="-45" dirty="0">
                <a:latin typeface="Times New Roman"/>
                <a:cs typeface="Times New Roman"/>
              </a:rPr>
              <a:t> </a:t>
            </a:r>
            <a:r>
              <a:rPr sz="2200" dirty="0">
                <a:latin typeface="Times New Roman"/>
                <a:cs typeface="Times New Roman"/>
              </a:rPr>
              <a:t>memory known</a:t>
            </a:r>
            <a:r>
              <a:rPr sz="2200" spc="-50" dirty="0">
                <a:latin typeface="Times New Roman"/>
                <a:cs typeface="Times New Roman"/>
              </a:rPr>
              <a:t> </a:t>
            </a:r>
            <a:r>
              <a:rPr sz="2200" dirty="0">
                <a:latin typeface="Times New Roman"/>
                <a:cs typeface="Times New Roman"/>
              </a:rPr>
              <a:t>in</a:t>
            </a:r>
            <a:r>
              <a:rPr sz="2200" spc="-50" dirty="0">
                <a:latin typeface="Times New Roman"/>
                <a:cs typeface="Times New Roman"/>
              </a:rPr>
              <a:t> </a:t>
            </a:r>
            <a:r>
              <a:rPr sz="2200" spc="-10" dirty="0">
                <a:latin typeface="Times New Roman"/>
                <a:cs typeface="Times New Roman"/>
              </a:rPr>
              <a:t>advance.</a:t>
            </a:r>
            <a:endParaRPr sz="2200">
              <a:latin typeface="Times New Roman"/>
              <a:cs typeface="Times New Roman"/>
            </a:endParaRPr>
          </a:p>
          <a:p>
            <a:pPr>
              <a:lnSpc>
                <a:spcPct val="100000"/>
              </a:lnSpc>
              <a:spcBef>
                <a:spcPts val="110"/>
              </a:spcBef>
            </a:pPr>
            <a:endParaRPr sz="2200">
              <a:latin typeface="Times New Roman"/>
              <a:cs typeface="Times New Roman"/>
            </a:endParaRPr>
          </a:p>
          <a:p>
            <a:pPr marL="354965" indent="-342265">
              <a:lnSpc>
                <a:spcPct val="100000"/>
              </a:lnSpc>
              <a:buFont typeface="Arial"/>
              <a:buChar char="•"/>
              <a:tabLst>
                <a:tab pos="354965" algn="l"/>
              </a:tabLst>
            </a:pPr>
            <a:r>
              <a:rPr sz="2200" dirty="0">
                <a:latin typeface="Times New Roman"/>
                <a:cs typeface="Times New Roman"/>
              </a:rPr>
              <a:t>Implementing</a:t>
            </a:r>
            <a:r>
              <a:rPr sz="2200" spc="-35" dirty="0">
                <a:latin typeface="Times New Roman"/>
                <a:cs typeface="Times New Roman"/>
              </a:rPr>
              <a:t> </a:t>
            </a:r>
            <a:r>
              <a:rPr sz="2200" dirty="0">
                <a:latin typeface="Times New Roman"/>
                <a:cs typeface="Times New Roman"/>
              </a:rPr>
              <a:t>Message</a:t>
            </a:r>
            <a:r>
              <a:rPr sz="2200" spc="-65" dirty="0">
                <a:latin typeface="Times New Roman"/>
                <a:cs typeface="Times New Roman"/>
              </a:rPr>
              <a:t> </a:t>
            </a:r>
            <a:r>
              <a:rPr sz="2200" dirty="0">
                <a:latin typeface="Times New Roman"/>
                <a:cs typeface="Times New Roman"/>
              </a:rPr>
              <a:t>Passing</a:t>
            </a:r>
            <a:r>
              <a:rPr sz="2200" spc="-50" dirty="0">
                <a:latin typeface="Times New Roman"/>
                <a:cs typeface="Times New Roman"/>
              </a:rPr>
              <a:t> </a:t>
            </a:r>
            <a:r>
              <a:rPr sz="2200" dirty="0">
                <a:latin typeface="Times New Roman"/>
                <a:cs typeface="Times New Roman"/>
              </a:rPr>
              <a:t>can</a:t>
            </a:r>
            <a:r>
              <a:rPr sz="2200" spc="-65" dirty="0">
                <a:latin typeface="Times New Roman"/>
                <a:cs typeface="Times New Roman"/>
              </a:rPr>
              <a:t> </a:t>
            </a:r>
            <a:r>
              <a:rPr sz="2200" dirty="0">
                <a:latin typeface="Times New Roman"/>
                <a:cs typeface="Times New Roman"/>
              </a:rPr>
              <a:t>be</a:t>
            </a:r>
            <a:r>
              <a:rPr sz="2200" spc="-70" dirty="0">
                <a:latin typeface="Times New Roman"/>
                <a:cs typeface="Times New Roman"/>
              </a:rPr>
              <a:t> </a:t>
            </a:r>
            <a:r>
              <a:rPr sz="2200" spc="-10" dirty="0">
                <a:latin typeface="Times New Roman"/>
                <a:cs typeface="Times New Roman"/>
              </a:rPr>
              <a:t>with:</a:t>
            </a:r>
            <a:endParaRPr sz="2200">
              <a:latin typeface="Times New Roman"/>
              <a:cs typeface="Times New Roman"/>
            </a:endParaRPr>
          </a:p>
          <a:p>
            <a:pPr marL="756285" lvl="1" indent="-286385">
              <a:lnSpc>
                <a:spcPct val="100000"/>
              </a:lnSpc>
              <a:spcBef>
                <a:spcPts val="10"/>
              </a:spcBef>
              <a:buFont typeface="Arial"/>
              <a:buChar char="–"/>
              <a:tabLst>
                <a:tab pos="756285" algn="l"/>
              </a:tabLst>
            </a:pPr>
            <a:r>
              <a:rPr sz="2000" dirty="0">
                <a:latin typeface="Times New Roman"/>
                <a:cs typeface="Times New Roman"/>
              </a:rPr>
              <a:t>Direct</a:t>
            </a:r>
            <a:r>
              <a:rPr sz="2000" spc="-45" dirty="0">
                <a:latin typeface="Times New Roman"/>
                <a:cs typeface="Times New Roman"/>
              </a:rPr>
              <a:t> </a:t>
            </a:r>
            <a:r>
              <a:rPr sz="2000" dirty="0">
                <a:latin typeface="Times New Roman"/>
                <a:cs typeface="Times New Roman"/>
              </a:rPr>
              <a:t>addressing:</a:t>
            </a:r>
            <a:r>
              <a:rPr sz="2000" spc="-60" dirty="0">
                <a:latin typeface="Times New Roman"/>
                <a:cs typeface="Times New Roman"/>
              </a:rPr>
              <a:t> </a:t>
            </a:r>
            <a:r>
              <a:rPr sz="2000" dirty="0">
                <a:latin typeface="Times New Roman"/>
                <a:cs typeface="Times New Roman"/>
              </a:rPr>
              <a:t>provide</a:t>
            </a:r>
            <a:r>
              <a:rPr sz="2000" spc="-50" dirty="0">
                <a:latin typeface="Times New Roman"/>
                <a:cs typeface="Times New Roman"/>
              </a:rPr>
              <a:t> </a:t>
            </a:r>
            <a:r>
              <a:rPr sz="2000" dirty="0">
                <a:latin typeface="Times New Roman"/>
                <a:cs typeface="Times New Roman"/>
              </a:rPr>
              <a:t>ID</a:t>
            </a:r>
            <a:r>
              <a:rPr sz="2000" spc="-5" dirty="0">
                <a:latin typeface="Times New Roman"/>
                <a:cs typeface="Times New Roman"/>
              </a:rPr>
              <a:t> </a:t>
            </a:r>
            <a:r>
              <a:rPr sz="2000" dirty="0">
                <a:latin typeface="Times New Roman"/>
                <a:cs typeface="Times New Roman"/>
              </a:rPr>
              <a:t>of</a:t>
            </a:r>
            <a:r>
              <a:rPr sz="2000" spc="-10" dirty="0">
                <a:latin typeface="Times New Roman"/>
                <a:cs typeface="Times New Roman"/>
              </a:rPr>
              <a:t> destination.</a:t>
            </a:r>
            <a:endParaRPr sz="2000">
              <a:latin typeface="Times New Roman"/>
              <a:cs typeface="Times New Roman"/>
            </a:endParaRPr>
          </a:p>
          <a:p>
            <a:pPr marL="756285" lvl="1" indent="-286385">
              <a:lnSpc>
                <a:spcPct val="100000"/>
              </a:lnSpc>
              <a:buFont typeface="Arial"/>
              <a:buChar char="–"/>
              <a:tabLst>
                <a:tab pos="756285" algn="l"/>
              </a:tabLst>
            </a:pPr>
            <a:r>
              <a:rPr sz="2000" dirty="0">
                <a:latin typeface="Times New Roman"/>
                <a:cs typeface="Times New Roman"/>
              </a:rPr>
              <a:t>Indirect</a:t>
            </a:r>
            <a:r>
              <a:rPr sz="2000" spc="-60" dirty="0">
                <a:latin typeface="Times New Roman"/>
                <a:cs typeface="Times New Roman"/>
              </a:rPr>
              <a:t> </a:t>
            </a:r>
            <a:r>
              <a:rPr sz="2000" dirty="0">
                <a:latin typeface="Times New Roman"/>
                <a:cs typeface="Times New Roman"/>
              </a:rPr>
              <a:t>addressing:</a:t>
            </a:r>
            <a:r>
              <a:rPr sz="2000" spc="-60" dirty="0">
                <a:latin typeface="Times New Roman"/>
                <a:cs typeface="Times New Roman"/>
              </a:rPr>
              <a:t> </a:t>
            </a:r>
            <a:r>
              <a:rPr sz="2000" dirty="0">
                <a:latin typeface="Times New Roman"/>
                <a:cs typeface="Times New Roman"/>
              </a:rPr>
              <a:t>Send</a:t>
            </a:r>
            <a:r>
              <a:rPr sz="2000" spc="-5" dirty="0">
                <a:latin typeface="Times New Roman"/>
                <a:cs typeface="Times New Roman"/>
              </a:rPr>
              <a:t> </a:t>
            </a:r>
            <a:r>
              <a:rPr sz="2000" dirty="0">
                <a:latin typeface="Times New Roman"/>
                <a:cs typeface="Times New Roman"/>
              </a:rPr>
              <a:t>to</a:t>
            </a:r>
            <a:r>
              <a:rPr sz="2000" spc="-5" dirty="0">
                <a:latin typeface="Times New Roman"/>
                <a:cs typeface="Times New Roman"/>
              </a:rPr>
              <a:t> </a:t>
            </a:r>
            <a:r>
              <a:rPr sz="2000" dirty="0">
                <a:latin typeface="Times New Roman"/>
                <a:cs typeface="Times New Roman"/>
              </a:rPr>
              <a:t>a</a:t>
            </a:r>
            <a:r>
              <a:rPr sz="2000" spc="5" dirty="0">
                <a:latin typeface="Times New Roman"/>
                <a:cs typeface="Times New Roman"/>
              </a:rPr>
              <a:t> </a:t>
            </a:r>
            <a:r>
              <a:rPr sz="2000" spc="-10" dirty="0">
                <a:latin typeface="Times New Roman"/>
                <a:cs typeface="Times New Roman"/>
              </a:rPr>
              <a:t>mailbox.</a:t>
            </a:r>
            <a:endParaRPr sz="2000">
              <a:latin typeface="Times New Roman"/>
              <a:cs typeface="Times New Roman"/>
            </a:endParaRPr>
          </a:p>
          <a:p>
            <a:pPr lvl="1">
              <a:lnSpc>
                <a:spcPct val="100000"/>
              </a:lnSpc>
              <a:spcBef>
                <a:spcPts val="844"/>
              </a:spcBef>
              <a:buFont typeface="Arial"/>
              <a:buChar char="–"/>
            </a:pPr>
            <a:endParaRPr sz="2000">
              <a:latin typeface="Times New Roman"/>
              <a:cs typeface="Times New Roman"/>
            </a:endParaRPr>
          </a:p>
          <a:p>
            <a:pPr marL="355600" marR="5080" indent="-342900">
              <a:lnSpc>
                <a:spcPts val="2110"/>
              </a:lnSpc>
              <a:buFont typeface="Arial"/>
              <a:buChar char="•"/>
              <a:tabLst>
                <a:tab pos="355600" algn="l"/>
              </a:tabLst>
            </a:pPr>
            <a:r>
              <a:rPr sz="2200" b="1" dirty="0">
                <a:latin typeface="Times New Roman"/>
                <a:cs typeface="Times New Roman"/>
              </a:rPr>
              <a:t>Mail</a:t>
            </a:r>
            <a:r>
              <a:rPr sz="2200" b="1" spc="-55" dirty="0">
                <a:latin typeface="Times New Roman"/>
                <a:cs typeface="Times New Roman"/>
              </a:rPr>
              <a:t> </a:t>
            </a:r>
            <a:r>
              <a:rPr sz="2200" b="1" dirty="0">
                <a:latin typeface="Times New Roman"/>
                <a:cs typeface="Times New Roman"/>
              </a:rPr>
              <a:t>box</a:t>
            </a:r>
            <a:r>
              <a:rPr sz="2200" dirty="0">
                <a:latin typeface="Times New Roman"/>
                <a:cs typeface="Times New Roman"/>
              </a:rPr>
              <a:t>:</a:t>
            </a:r>
            <a:r>
              <a:rPr sz="2200" spc="-40" dirty="0">
                <a:latin typeface="Times New Roman"/>
                <a:cs typeface="Times New Roman"/>
              </a:rPr>
              <a:t> </a:t>
            </a:r>
            <a:r>
              <a:rPr sz="2200" dirty="0">
                <a:latin typeface="Times New Roman"/>
                <a:cs typeface="Times New Roman"/>
              </a:rPr>
              <a:t>It</a:t>
            </a:r>
            <a:r>
              <a:rPr sz="2200" spc="-35" dirty="0">
                <a:latin typeface="Times New Roman"/>
                <a:cs typeface="Times New Roman"/>
              </a:rPr>
              <a:t> </a:t>
            </a:r>
            <a:r>
              <a:rPr sz="2200" dirty="0">
                <a:latin typeface="Times New Roman"/>
                <a:cs typeface="Times New Roman"/>
              </a:rPr>
              <a:t>is</a:t>
            </a:r>
            <a:r>
              <a:rPr sz="2200" spc="-40" dirty="0">
                <a:latin typeface="Times New Roman"/>
                <a:cs typeface="Times New Roman"/>
              </a:rPr>
              <a:t> </a:t>
            </a:r>
            <a:r>
              <a:rPr sz="2200" dirty="0">
                <a:latin typeface="Times New Roman"/>
                <a:cs typeface="Times New Roman"/>
              </a:rPr>
              <a:t>a</a:t>
            </a:r>
            <a:r>
              <a:rPr sz="2200" spc="-40" dirty="0">
                <a:latin typeface="Times New Roman"/>
                <a:cs typeface="Times New Roman"/>
              </a:rPr>
              <a:t> </a:t>
            </a:r>
            <a:r>
              <a:rPr sz="2200" dirty="0">
                <a:latin typeface="Times New Roman"/>
                <a:cs typeface="Times New Roman"/>
              </a:rPr>
              <a:t>message</a:t>
            </a:r>
            <a:r>
              <a:rPr sz="2200" spc="-15" dirty="0">
                <a:latin typeface="Times New Roman"/>
                <a:cs typeface="Times New Roman"/>
              </a:rPr>
              <a:t> </a:t>
            </a:r>
            <a:r>
              <a:rPr sz="2200" dirty="0">
                <a:latin typeface="Times New Roman"/>
                <a:cs typeface="Times New Roman"/>
              </a:rPr>
              <a:t>queue</a:t>
            </a:r>
            <a:r>
              <a:rPr sz="2200" spc="-45" dirty="0">
                <a:latin typeface="Times New Roman"/>
                <a:cs typeface="Times New Roman"/>
              </a:rPr>
              <a:t> </a:t>
            </a:r>
            <a:r>
              <a:rPr sz="2200" dirty="0">
                <a:latin typeface="Times New Roman"/>
                <a:cs typeface="Times New Roman"/>
              </a:rPr>
              <a:t>that</a:t>
            </a:r>
            <a:r>
              <a:rPr sz="2200" spc="-40" dirty="0">
                <a:latin typeface="Times New Roman"/>
                <a:cs typeface="Times New Roman"/>
              </a:rPr>
              <a:t> </a:t>
            </a:r>
            <a:r>
              <a:rPr sz="2200" dirty="0">
                <a:latin typeface="Times New Roman"/>
                <a:cs typeface="Times New Roman"/>
              </a:rPr>
              <a:t>can</a:t>
            </a:r>
            <a:r>
              <a:rPr sz="2200" spc="-40" dirty="0">
                <a:latin typeface="Times New Roman"/>
                <a:cs typeface="Times New Roman"/>
              </a:rPr>
              <a:t> </a:t>
            </a:r>
            <a:r>
              <a:rPr sz="2200" dirty="0">
                <a:latin typeface="Times New Roman"/>
                <a:cs typeface="Times New Roman"/>
              </a:rPr>
              <a:t>share</a:t>
            </a:r>
            <a:r>
              <a:rPr sz="2200" spc="-40" dirty="0">
                <a:latin typeface="Times New Roman"/>
                <a:cs typeface="Times New Roman"/>
              </a:rPr>
              <a:t> </a:t>
            </a:r>
            <a:r>
              <a:rPr sz="2200" dirty="0">
                <a:latin typeface="Times New Roman"/>
                <a:cs typeface="Times New Roman"/>
              </a:rPr>
              <a:t>by</a:t>
            </a:r>
            <a:r>
              <a:rPr sz="2200" spc="-40" dirty="0">
                <a:latin typeface="Times New Roman"/>
                <a:cs typeface="Times New Roman"/>
              </a:rPr>
              <a:t> </a:t>
            </a:r>
            <a:r>
              <a:rPr sz="2200" dirty="0">
                <a:latin typeface="Times New Roman"/>
                <a:cs typeface="Times New Roman"/>
              </a:rPr>
              <a:t>multiple</a:t>
            </a:r>
            <a:r>
              <a:rPr sz="2200" spc="-25" dirty="0">
                <a:latin typeface="Times New Roman"/>
                <a:cs typeface="Times New Roman"/>
              </a:rPr>
              <a:t> </a:t>
            </a:r>
            <a:r>
              <a:rPr sz="2200" spc="-10" dirty="0">
                <a:latin typeface="Times New Roman"/>
                <a:cs typeface="Times New Roman"/>
              </a:rPr>
              <a:t>senders </a:t>
            </a:r>
            <a:r>
              <a:rPr sz="2200" dirty="0">
                <a:latin typeface="Times New Roman"/>
                <a:cs typeface="Times New Roman"/>
              </a:rPr>
              <a:t>and</a:t>
            </a:r>
            <a:r>
              <a:rPr sz="2200" spc="-70" dirty="0">
                <a:latin typeface="Times New Roman"/>
                <a:cs typeface="Times New Roman"/>
              </a:rPr>
              <a:t> </a:t>
            </a:r>
            <a:r>
              <a:rPr sz="2200" dirty="0">
                <a:latin typeface="Times New Roman"/>
                <a:cs typeface="Times New Roman"/>
              </a:rPr>
              <a:t>receivers,</a:t>
            </a:r>
            <a:r>
              <a:rPr sz="2200" spc="-35" dirty="0">
                <a:latin typeface="Times New Roman"/>
                <a:cs typeface="Times New Roman"/>
              </a:rPr>
              <a:t> </a:t>
            </a:r>
            <a:r>
              <a:rPr sz="2200" dirty="0">
                <a:latin typeface="Times New Roman"/>
                <a:cs typeface="Times New Roman"/>
              </a:rPr>
              <a:t>senders</a:t>
            </a:r>
            <a:r>
              <a:rPr sz="2200" spc="-65" dirty="0">
                <a:latin typeface="Times New Roman"/>
                <a:cs typeface="Times New Roman"/>
              </a:rPr>
              <a:t> </a:t>
            </a:r>
            <a:r>
              <a:rPr sz="2200" dirty="0">
                <a:latin typeface="Times New Roman"/>
                <a:cs typeface="Times New Roman"/>
              </a:rPr>
              <a:t>sends</a:t>
            </a:r>
            <a:r>
              <a:rPr sz="2200" spc="-60" dirty="0">
                <a:latin typeface="Times New Roman"/>
                <a:cs typeface="Times New Roman"/>
              </a:rPr>
              <a:t> </a:t>
            </a:r>
            <a:r>
              <a:rPr sz="2200" dirty="0">
                <a:latin typeface="Times New Roman"/>
                <a:cs typeface="Times New Roman"/>
              </a:rPr>
              <a:t>the</a:t>
            </a:r>
            <a:r>
              <a:rPr sz="2200" spc="-55" dirty="0">
                <a:latin typeface="Times New Roman"/>
                <a:cs typeface="Times New Roman"/>
              </a:rPr>
              <a:t> </a:t>
            </a:r>
            <a:r>
              <a:rPr sz="2200" dirty="0">
                <a:latin typeface="Times New Roman"/>
                <a:cs typeface="Times New Roman"/>
              </a:rPr>
              <a:t>message</a:t>
            </a:r>
            <a:r>
              <a:rPr sz="2200" spc="-35" dirty="0">
                <a:latin typeface="Times New Roman"/>
                <a:cs typeface="Times New Roman"/>
              </a:rPr>
              <a:t> </a:t>
            </a:r>
            <a:r>
              <a:rPr sz="2200" dirty="0">
                <a:latin typeface="Times New Roman"/>
                <a:cs typeface="Times New Roman"/>
              </a:rPr>
              <a:t>to</a:t>
            </a:r>
            <a:r>
              <a:rPr sz="2200" spc="-55" dirty="0">
                <a:latin typeface="Times New Roman"/>
                <a:cs typeface="Times New Roman"/>
              </a:rPr>
              <a:t> </a:t>
            </a:r>
            <a:r>
              <a:rPr sz="2200" dirty="0">
                <a:latin typeface="Times New Roman"/>
                <a:cs typeface="Times New Roman"/>
              </a:rPr>
              <a:t>the</a:t>
            </a:r>
            <a:r>
              <a:rPr sz="2200" spc="-50" dirty="0">
                <a:latin typeface="Times New Roman"/>
                <a:cs typeface="Times New Roman"/>
              </a:rPr>
              <a:t> </a:t>
            </a:r>
            <a:r>
              <a:rPr sz="2200" dirty="0">
                <a:latin typeface="Times New Roman"/>
                <a:cs typeface="Times New Roman"/>
              </a:rPr>
              <a:t>mailbox</a:t>
            </a:r>
            <a:r>
              <a:rPr sz="2200" spc="-35" dirty="0">
                <a:latin typeface="Times New Roman"/>
                <a:cs typeface="Times New Roman"/>
              </a:rPr>
              <a:t> </a:t>
            </a:r>
            <a:r>
              <a:rPr sz="2200" dirty="0">
                <a:latin typeface="Times New Roman"/>
                <a:cs typeface="Times New Roman"/>
              </a:rPr>
              <a:t>while</a:t>
            </a:r>
            <a:r>
              <a:rPr sz="2200" spc="-55" dirty="0">
                <a:latin typeface="Times New Roman"/>
                <a:cs typeface="Times New Roman"/>
              </a:rPr>
              <a:t> </a:t>
            </a:r>
            <a:r>
              <a:rPr sz="2200" spc="-25" dirty="0">
                <a:latin typeface="Times New Roman"/>
                <a:cs typeface="Times New Roman"/>
              </a:rPr>
              <a:t>the </a:t>
            </a:r>
            <a:r>
              <a:rPr sz="2200" dirty="0">
                <a:latin typeface="Times New Roman"/>
                <a:cs typeface="Times New Roman"/>
              </a:rPr>
              <a:t>receiver</a:t>
            </a:r>
            <a:r>
              <a:rPr sz="2200" spc="-55" dirty="0">
                <a:latin typeface="Times New Roman"/>
                <a:cs typeface="Times New Roman"/>
              </a:rPr>
              <a:t> </a:t>
            </a:r>
            <a:r>
              <a:rPr sz="2200" dirty="0">
                <a:latin typeface="Times New Roman"/>
                <a:cs typeface="Times New Roman"/>
              </a:rPr>
              <a:t>pick</a:t>
            </a:r>
            <a:r>
              <a:rPr sz="2200" spc="-45" dirty="0">
                <a:latin typeface="Times New Roman"/>
                <a:cs typeface="Times New Roman"/>
              </a:rPr>
              <a:t> </a:t>
            </a:r>
            <a:r>
              <a:rPr sz="2200" dirty="0">
                <a:latin typeface="Times New Roman"/>
                <a:cs typeface="Times New Roman"/>
              </a:rPr>
              <a:t>ups</a:t>
            </a:r>
            <a:r>
              <a:rPr sz="2200" spc="-60" dirty="0">
                <a:latin typeface="Times New Roman"/>
                <a:cs typeface="Times New Roman"/>
              </a:rPr>
              <a:t> </a:t>
            </a:r>
            <a:r>
              <a:rPr sz="2200" dirty="0">
                <a:latin typeface="Times New Roman"/>
                <a:cs typeface="Times New Roman"/>
              </a:rPr>
              <a:t>the</a:t>
            </a:r>
            <a:r>
              <a:rPr sz="2200" spc="-50" dirty="0">
                <a:latin typeface="Times New Roman"/>
                <a:cs typeface="Times New Roman"/>
              </a:rPr>
              <a:t> </a:t>
            </a:r>
            <a:r>
              <a:rPr sz="2200" dirty="0">
                <a:latin typeface="Times New Roman"/>
                <a:cs typeface="Times New Roman"/>
              </a:rPr>
              <a:t>message</a:t>
            </a:r>
            <a:r>
              <a:rPr sz="2200" spc="-35" dirty="0">
                <a:latin typeface="Times New Roman"/>
                <a:cs typeface="Times New Roman"/>
              </a:rPr>
              <a:t> </a:t>
            </a:r>
            <a:r>
              <a:rPr sz="2200" dirty="0">
                <a:latin typeface="Times New Roman"/>
                <a:cs typeface="Times New Roman"/>
              </a:rPr>
              <a:t>from</a:t>
            </a:r>
            <a:r>
              <a:rPr sz="2200" spc="-40" dirty="0">
                <a:latin typeface="Times New Roman"/>
                <a:cs typeface="Times New Roman"/>
              </a:rPr>
              <a:t> </a:t>
            </a:r>
            <a:r>
              <a:rPr sz="2200" dirty="0">
                <a:latin typeface="Times New Roman"/>
                <a:cs typeface="Times New Roman"/>
              </a:rPr>
              <a:t>the</a:t>
            </a:r>
            <a:r>
              <a:rPr sz="2200" spc="-50" dirty="0">
                <a:latin typeface="Times New Roman"/>
                <a:cs typeface="Times New Roman"/>
              </a:rPr>
              <a:t> </a:t>
            </a:r>
            <a:r>
              <a:rPr sz="2200" spc="-10" dirty="0">
                <a:latin typeface="Times New Roman"/>
                <a:cs typeface="Times New Roman"/>
              </a:rPr>
              <a:t>mailbox.</a:t>
            </a:r>
            <a:endParaRPr sz="2200">
              <a:latin typeface="Times New Roman"/>
              <a:cs typeface="Times New Roman"/>
            </a:endParaRPr>
          </a:p>
        </p:txBody>
      </p:sp>
    </p:spTree>
  </p:cSld>
  <p:clrMapOvr>
    <a:masterClrMapping/>
  </p:clrMapOvr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xfrm>
            <a:off x="3519678" y="461594"/>
            <a:ext cx="2104390" cy="697230"/>
          </a:xfrm>
          <a:prstGeom prst="rect">
            <a:avLst/>
          </a:prstGeom>
        </p:spPr>
        <p:txBody>
          <a:bodyPr vert="horz" wrap="square" lIns="0" tIns="13335" rIns="0" bIns="0" rtlCol="0">
            <a:spAutoFit/>
          </a:bodyPr>
          <a:lstStyle/>
          <a:p>
            <a:pPr marL="12700" algn="ctr" rtl="0">
              <a:spcBef>
                <a:spcPts val="105"/>
              </a:spcBef>
            </a:pPr>
            <a:r>
              <a:rPr sz="3200" b="1" dirty="0">
                <a:solidFill>
                  <a:sysClr val="windowText" lastClr="000000"/>
                </a:solidFill>
                <a:latin typeface="+mj-lt"/>
                <a:cs typeface="+mj-cs"/>
              </a:rPr>
              <a:t>Monitors</a:t>
            </a:r>
          </a:p>
        </p:txBody>
      </p:sp>
      <p:sp>
        <p:nvSpPr>
          <p:cNvPr id="4" name="object 4"/>
          <p:cNvSpPr txBox="1">
            <a:spLocks noGrp="1"/>
          </p:cNvSpPr>
          <p:nvPr>
            <p:ph type="ftr" sz="quarter" idx="5"/>
          </p:nvPr>
        </p:nvSpPr>
        <p:spPr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12700">
              <a:lnSpc>
                <a:spcPts val="1240"/>
              </a:lnSpc>
            </a:pPr>
            <a:r>
              <a:rPr lang="pl-PL"/>
              <a:t>By Dr. Binod Kr. Adhikari</a:t>
            </a:r>
            <a:endParaRPr spc="-10" dirty="0"/>
          </a:p>
        </p:txBody>
      </p:sp>
      <p:sp>
        <p:nvSpPr>
          <p:cNvPr id="3" name="object 3"/>
          <p:cNvSpPr txBox="1"/>
          <p:nvPr/>
        </p:nvSpPr>
        <p:spPr>
          <a:xfrm>
            <a:off x="535940" y="1528394"/>
            <a:ext cx="8072755" cy="414147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356235" indent="-343535" algn="just">
              <a:lnSpc>
                <a:spcPct val="100000"/>
              </a:lnSpc>
              <a:spcBef>
                <a:spcPts val="100"/>
              </a:spcBef>
              <a:buFont typeface="Arial"/>
              <a:buChar char="•"/>
              <a:tabLst>
                <a:tab pos="356235" algn="l"/>
              </a:tabLst>
            </a:pPr>
            <a:r>
              <a:rPr sz="3000" dirty="0">
                <a:latin typeface="Times New Roman"/>
                <a:cs typeface="Times New Roman"/>
              </a:rPr>
              <a:t>Higher</a:t>
            </a:r>
            <a:r>
              <a:rPr sz="3000" spc="-80" dirty="0">
                <a:latin typeface="Times New Roman"/>
                <a:cs typeface="Times New Roman"/>
              </a:rPr>
              <a:t> </a:t>
            </a:r>
            <a:r>
              <a:rPr sz="3000" dirty="0">
                <a:latin typeface="Times New Roman"/>
                <a:cs typeface="Times New Roman"/>
              </a:rPr>
              <a:t>level</a:t>
            </a:r>
            <a:r>
              <a:rPr sz="3000" spc="-40" dirty="0">
                <a:latin typeface="Times New Roman"/>
                <a:cs typeface="Times New Roman"/>
              </a:rPr>
              <a:t> </a:t>
            </a:r>
            <a:r>
              <a:rPr sz="3000" dirty="0">
                <a:latin typeface="Times New Roman"/>
                <a:cs typeface="Times New Roman"/>
              </a:rPr>
              <a:t>synchronization</a:t>
            </a:r>
            <a:r>
              <a:rPr sz="3000" spc="-20" dirty="0">
                <a:latin typeface="Times New Roman"/>
                <a:cs typeface="Times New Roman"/>
              </a:rPr>
              <a:t> </a:t>
            </a:r>
            <a:r>
              <a:rPr sz="3000" spc="-10" dirty="0">
                <a:latin typeface="Times New Roman"/>
                <a:cs typeface="Times New Roman"/>
              </a:rPr>
              <a:t>primitive.</a:t>
            </a:r>
            <a:endParaRPr sz="3000" dirty="0">
              <a:latin typeface="Times New Roman"/>
              <a:cs typeface="Times New Roman"/>
            </a:endParaRPr>
          </a:p>
          <a:p>
            <a:pPr marL="355600" marR="6350" indent="-342900" algn="just">
              <a:lnSpc>
                <a:spcPts val="2880"/>
              </a:lnSpc>
              <a:spcBef>
                <a:spcPts val="695"/>
              </a:spcBef>
              <a:buFont typeface="Arial"/>
              <a:buChar char="•"/>
              <a:tabLst>
                <a:tab pos="355600" algn="l"/>
              </a:tabLst>
            </a:pPr>
            <a:r>
              <a:rPr sz="3000" dirty="0">
                <a:latin typeface="Times New Roman"/>
                <a:cs typeface="Times New Roman"/>
              </a:rPr>
              <a:t>A</a:t>
            </a:r>
            <a:r>
              <a:rPr sz="3000" spc="300" dirty="0">
                <a:latin typeface="Times New Roman"/>
                <a:cs typeface="Times New Roman"/>
              </a:rPr>
              <a:t> </a:t>
            </a:r>
            <a:r>
              <a:rPr sz="3000" dirty="0">
                <a:latin typeface="Times New Roman"/>
                <a:cs typeface="Times New Roman"/>
              </a:rPr>
              <a:t>monitor</a:t>
            </a:r>
            <a:r>
              <a:rPr sz="3000" spc="455" dirty="0">
                <a:latin typeface="Times New Roman"/>
                <a:cs typeface="Times New Roman"/>
              </a:rPr>
              <a:t> </a:t>
            </a:r>
            <a:r>
              <a:rPr sz="3000" dirty="0">
                <a:latin typeface="Times New Roman"/>
                <a:cs typeface="Times New Roman"/>
              </a:rPr>
              <a:t>is</a:t>
            </a:r>
            <a:r>
              <a:rPr sz="3000" spc="455" dirty="0">
                <a:latin typeface="Times New Roman"/>
                <a:cs typeface="Times New Roman"/>
              </a:rPr>
              <a:t> </a:t>
            </a:r>
            <a:r>
              <a:rPr sz="3000" dirty="0">
                <a:latin typeface="Times New Roman"/>
                <a:cs typeface="Times New Roman"/>
              </a:rPr>
              <a:t>a</a:t>
            </a:r>
            <a:r>
              <a:rPr sz="3000" spc="455" dirty="0">
                <a:latin typeface="Times New Roman"/>
                <a:cs typeface="Times New Roman"/>
              </a:rPr>
              <a:t> </a:t>
            </a:r>
            <a:r>
              <a:rPr sz="3000" dirty="0">
                <a:solidFill>
                  <a:schemeClr val="accent6">
                    <a:lumMod val="75000"/>
                  </a:schemeClr>
                </a:solidFill>
                <a:latin typeface="Times New Roman"/>
                <a:cs typeface="Times New Roman"/>
              </a:rPr>
              <a:t>programming</a:t>
            </a:r>
            <a:r>
              <a:rPr sz="3000" spc="459" dirty="0">
                <a:solidFill>
                  <a:schemeClr val="accent6">
                    <a:lumMod val="75000"/>
                  </a:schemeClr>
                </a:solidFill>
                <a:latin typeface="Times New Roman"/>
                <a:cs typeface="Times New Roman"/>
              </a:rPr>
              <a:t> </a:t>
            </a:r>
            <a:r>
              <a:rPr sz="3000" dirty="0">
                <a:solidFill>
                  <a:schemeClr val="accent6">
                    <a:lumMod val="75000"/>
                  </a:schemeClr>
                </a:solidFill>
                <a:latin typeface="Times New Roman"/>
                <a:cs typeface="Times New Roman"/>
              </a:rPr>
              <a:t>language</a:t>
            </a:r>
            <a:r>
              <a:rPr sz="3000" spc="455" dirty="0">
                <a:solidFill>
                  <a:schemeClr val="accent6">
                    <a:lumMod val="75000"/>
                  </a:schemeClr>
                </a:solidFill>
                <a:latin typeface="Times New Roman"/>
                <a:cs typeface="Times New Roman"/>
              </a:rPr>
              <a:t> </a:t>
            </a:r>
            <a:r>
              <a:rPr sz="3000" spc="-10" dirty="0">
                <a:solidFill>
                  <a:schemeClr val="accent6">
                    <a:lumMod val="75000"/>
                  </a:schemeClr>
                </a:solidFill>
                <a:latin typeface="Times New Roman"/>
                <a:cs typeface="Times New Roman"/>
              </a:rPr>
              <a:t>construct </a:t>
            </a:r>
            <a:r>
              <a:rPr sz="3000" dirty="0">
                <a:latin typeface="Times New Roman"/>
                <a:cs typeface="Times New Roman"/>
              </a:rPr>
              <a:t>that</a:t>
            </a:r>
            <a:r>
              <a:rPr sz="3000" spc="-80" dirty="0">
                <a:latin typeface="Times New Roman"/>
                <a:cs typeface="Times New Roman"/>
              </a:rPr>
              <a:t> </a:t>
            </a:r>
            <a:r>
              <a:rPr sz="3000" dirty="0">
                <a:latin typeface="Times New Roman"/>
                <a:cs typeface="Times New Roman"/>
              </a:rPr>
              <a:t>guarantees</a:t>
            </a:r>
            <a:r>
              <a:rPr sz="3000" spc="-65" dirty="0">
                <a:latin typeface="Times New Roman"/>
                <a:cs typeface="Times New Roman"/>
              </a:rPr>
              <a:t> </a:t>
            </a:r>
            <a:r>
              <a:rPr sz="3000" dirty="0">
                <a:latin typeface="Times New Roman"/>
                <a:cs typeface="Times New Roman"/>
              </a:rPr>
              <a:t>appropriate</a:t>
            </a:r>
            <a:r>
              <a:rPr sz="3000" spc="-55" dirty="0">
                <a:latin typeface="Times New Roman"/>
                <a:cs typeface="Times New Roman"/>
              </a:rPr>
              <a:t> </a:t>
            </a:r>
            <a:r>
              <a:rPr sz="3000" dirty="0">
                <a:latin typeface="Times New Roman"/>
                <a:cs typeface="Times New Roman"/>
              </a:rPr>
              <a:t>access</a:t>
            </a:r>
            <a:r>
              <a:rPr sz="3000" spc="-70" dirty="0">
                <a:latin typeface="Times New Roman"/>
                <a:cs typeface="Times New Roman"/>
              </a:rPr>
              <a:t> </a:t>
            </a:r>
            <a:r>
              <a:rPr sz="3000" dirty="0">
                <a:latin typeface="Times New Roman"/>
                <a:cs typeface="Times New Roman"/>
              </a:rPr>
              <a:t>to</a:t>
            </a:r>
            <a:r>
              <a:rPr sz="3000" spc="-80" dirty="0">
                <a:latin typeface="Times New Roman"/>
                <a:cs typeface="Times New Roman"/>
              </a:rPr>
              <a:t> </a:t>
            </a:r>
            <a:r>
              <a:rPr sz="3000" dirty="0">
                <a:latin typeface="Times New Roman"/>
                <a:cs typeface="Times New Roman"/>
              </a:rPr>
              <a:t>the</a:t>
            </a:r>
            <a:r>
              <a:rPr sz="3000" spc="-70" dirty="0">
                <a:latin typeface="Times New Roman"/>
                <a:cs typeface="Times New Roman"/>
              </a:rPr>
              <a:t> </a:t>
            </a:r>
            <a:r>
              <a:rPr sz="3000" spc="-25" dirty="0">
                <a:latin typeface="Times New Roman"/>
                <a:cs typeface="Times New Roman"/>
              </a:rPr>
              <a:t>CR.</a:t>
            </a:r>
            <a:endParaRPr sz="3000" dirty="0">
              <a:latin typeface="Times New Roman"/>
              <a:cs typeface="Times New Roman"/>
            </a:endParaRPr>
          </a:p>
          <a:p>
            <a:pPr marL="355600" marR="6350" indent="-342900" algn="just">
              <a:lnSpc>
                <a:spcPct val="80000"/>
              </a:lnSpc>
              <a:spcBef>
                <a:spcPts val="750"/>
              </a:spcBef>
              <a:buFont typeface="Arial"/>
              <a:buChar char="•"/>
              <a:tabLst>
                <a:tab pos="355600" algn="l"/>
                <a:tab pos="452120" algn="l"/>
              </a:tabLst>
            </a:pPr>
            <a:r>
              <a:rPr sz="3000" dirty="0">
                <a:latin typeface="Times New Roman"/>
                <a:cs typeface="Times New Roman"/>
              </a:rPr>
              <a:t>	It</a:t>
            </a:r>
            <a:r>
              <a:rPr sz="3000" spc="505" dirty="0">
                <a:latin typeface="Times New Roman"/>
                <a:cs typeface="Times New Roman"/>
              </a:rPr>
              <a:t> </a:t>
            </a:r>
            <a:r>
              <a:rPr sz="3000" dirty="0">
                <a:latin typeface="Times New Roman"/>
                <a:cs typeface="Times New Roman"/>
              </a:rPr>
              <a:t>is</a:t>
            </a:r>
            <a:r>
              <a:rPr sz="3000" spc="509" dirty="0">
                <a:latin typeface="Times New Roman"/>
                <a:cs typeface="Times New Roman"/>
              </a:rPr>
              <a:t> </a:t>
            </a:r>
            <a:r>
              <a:rPr sz="3000" dirty="0">
                <a:latin typeface="Times New Roman"/>
                <a:cs typeface="Times New Roman"/>
              </a:rPr>
              <a:t>a</a:t>
            </a:r>
            <a:r>
              <a:rPr sz="3000" spc="509" dirty="0">
                <a:latin typeface="Times New Roman"/>
                <a:cs typeface="Times New Roman"/>
              </a:rPr>
              <a:t> </a:t>
            </a:r>
            <a:r>
              <a:rPr sz="3000" dirty="0">
                <a:latin typeface="Times New Roman"/>
                <a:cs typeface="Times New Roman"/>
              </a:rPr>
              <a:t>collection</a:t>
            </a:r>
            <a:r>
              <a:rPr sz="3000" spc="505" dirty="0">
                <a:latin typeface="Times New Roman"/>
                <a:cs typeface="Times New Roman"/>
              </a:rPr>
              <a:t> </a:t>
            </a:r>
            <a:r>
              <a:rPr sz="3000" dirty="0">
                <a:latin typeface="Times New Roman"/>
                <a:cs typeface="Times New Roman"/>
              </a:rPr>
              <a:t>of</a:t>
            </a:r>
            <a:r>
              <a:rPr sz="3000" spc="509" dirty="0">
                <a:latin typeface="Times New Roman"/>
                <a:cs typeface="Times New Roman"/>
              </a:rPr>
              <a:t> </a:t>
            </a:r>
            <a:r>
              <a:rPr sz="3000" dirty="0">
                <a:solidFill>
                  <a:srgbClr val="00B050"/>
                </a:solidFill>
                <a:latin typeface="Times New Roman"/>
                <a:cs typeface="Times New Roman"/>
              </a:rPr>
              <a:t>procedures,</a:t>
            </a:r>
            <a:r>
              <a:rPr sz="3000" spc="515" dirty="0">
                <a:solidFill>
                  <a:srgbClr val="00B050"/>
                </a:solidFill>
                <a:latin typeface="Times New Roman"/>
                <a:cs typeface="Times New Roman"/>
              </a:rPr>
              <a:t> </a:t>
            </a:r>
            <a:r>
              <a:rPr sz="3000" dirty="0">
                <a:solidFill>
                  <a:srgbClr val="00B050"/>
                </a:solidFill>
                <a:latin typeface="Times New Roman"/>
                <a:cs typeface="Times New Roman"/>
              </a:rPr>
              <a:t>variables</a:t>
            </a:r>
            <a:r>
              <a:rPr sz="3000" spc="515" dirty="0">
                <a:solidFill>
                  <a:srgbClr val="00B050"/>
                </a:solidFill>
                <a:latin typeface="Times New Roman"/>
                <a:cs typeface="Times New Roman"/>
              </a:rPr>
              <a:t> </a:t>
            </a:r>
            <a:r>
              <a:rPr sz="3000" dirty="0">
                <a:solidFill>
                  <a:srgbClr val="00B050"/>
                </a:solidFill>
                <a:latin typeface="Times New Roman"/>
                <a:cs typeface="Times New Roman"/>
              </a:rPr>
              <a:t>,</a:t>
            </a:r>
            <a:r>
              <a:rPr sz="3000" spc="520" dirty="0">
                <a:solidFill>
                  <a:srgbClr val="00B050"/>
                </a:solidFill>
                <a:latin typeface="Times New Roman"/>
                <a:cs typeface="Times New Roman"/>
              </a:rPr>
              <a:t> </a:t>
            </a:r>
            <a:r>
              <a:rPr sz="3000" spc="-25" dirty="0">
                <a:solidFill>
                  <a:srgbClr val="00B050"/>
                </a:solidFill>
                <a:latin typeface="Times New Roman"/>
                <a:cs typeface="Times New Roman"/>
              </a:rPr>
              <a:t>and </a:t>
            </a:r>
            <a:r>
              <a:rPr sz="3000" dirty="0">
                <a:solidFill>
                  <a:srgbClr val="00B050"/>
                </a:solidFill>
                <a:latin typeface="Times New Roman"/>
                <a:cs typeface="Times New Roman"/>
              </a:rPr>
              <a:t>data</a:t>
            </a:r>
            <a:r>
              <a:rPr sz="3000" spc="365" dirty="0">
                <a:solidFill>
                  <a:srgbClr val="00B050"/>
                </a:solidFill>
                <a:latin typeface="Times New Roman"/>
                <a:cs typeface="Times New Roman"/>
              </a:rPr>
              <a:t> </a:t>
            </a:r>
            <a:r>
              <a:rPr sz="3000" dirty="0">
                <a:solidFill>
                  <a:srgbClr val="00B050"/>
                </a:solidFill>
                <a:latin typeface="Times New Roman"/>
                <a:cs typeface="Times New Roman"/>
              </a:rPr>
              <a:t>structures</a:t>
            </a:r>
            <a:r>
              <a:rPr sz="3000" spc="370" dirty="0">
                <a:solidFill>
                  <a:srgbClr val="00B050"/>
                </a:solidFill>
                <a:latin typeface="Times New Roman"/>
                <a:cs typeface="Times New Roman"/>
              </a:rPr>
              <a:t> </a:t>
            </a:r>
            <a:r>
              <a:rPr sz="3000" dirty="0">
                <a:latin typeface="Times New Roman"/>
                <a:cs typeface="Times New Roman"/>
              </a:rPr>
              <a:t>that</a:t>
            </a:r>
            <a:r>
              <a:rPr sz="3000" spc="370" dirty="0">
                <a:latin typeface="Times New Roman"/>
                <a:cs typeface="Times New Roman"/>
              </a:rPr>
              <a:t> </a:t>
            </a:r>
            <a:r>
              <a:rPr sz="3000" dirty="0">
                <a:latin typeface="Times New Roman"/>
                <a:cs typeface="Times New Roman"/>
              </a:rPr>
              <a:t>are</a:t>
            </a:r>
            <a:r>
              <a:rPr sz="3000" spc="375" dirty="0">
                <a:latin typeface="Times New Roman"/>
                <a:cs typeface="Times New Roman"/>
              </a:rPr>
              <a:t> </a:t>
            </a:r>
            <a:r>
              <a:rPr sz="3000" dirty="0">
                <a:latin typeface="Times New Roman"/>
                <a:cs typeface="Times New Roman"/>
              </a:rPr>
              <a:t>all</a:t>
            </a:r>
            <a:r>
              <a:rPr sz="3000" spc="360" dirty="0">
                <a:latin typeface="Times New Roman"/>
                <a:cs typeface="Times New Roman"/>
              </a:rPr>
              <a:t> </a:t>
            </a:r>
            <a:r>
              <a:rPr sz="3000" dirty="0">
                <a:latin typeface="Times New Roman"/>
                <a:cs typeface="Times New Roman"/>
              </a:rPr>
              <a:t>grouped</a:t>
            </a:r>
            <a:r>
              <a:rPr sz="3000" spc="365" dirty="0">
                <a:latin typeface="Times New Roman"/>
                <a:cs typeface="Times New Roman"/>
              </a:rPr>
              <a:t> </a:t>
            </a:r>
            <a:r>
              <a:rPr sz="3000" dirty="0">
                <a:latin typeface="Times New Roman"/>
                <a:cs typeface="Times New Roman"/>
              </a:rPr>
              <a:t>together</a:t>
            </a:r>
            <a:r>
              <a:rPr sz="3000" spc="375" dirty="0">
                <a:latin typeface="Times New Roman"/>
                <a:cs typeface="Times New Roman"/>
              </a:rPr>
              <a:t> </a:t>
            </a:r>
            <a:r>
              <a:rPr sz="3000" dirty="0">
                <a:latin typeface="Times New Roman"/>
                <a:cs typeface="Times New Roman"/>
              </a:rPr>
              <a:t>in</a:t>
            </a:r>
            <a:r>
              <a:rPr sz="3000" spc="375" dirty="0">
                <a:latin typeface="Times New Roman"/>
                <a:cs typeface="Times New Roman"/>
              </a:rPr>
              <a:t> </a:t>
            </a:r>
            <a:r>
              <a:rPr sz="3000" spc="-50" dirty="0">
                <a:latin typeface="Times New Roman"/>
                <a:cs typeface="Times New Roman"/>
              </a:rPr>
              <a:t>a </a:t>
            </a:r>
            <a:r>
              <a:rPr sz="3000" dirty="0">
                <a:latin typeface="Times New Roman"/>
                <a:cs typeface="Times New Roman"/>
              </a:rPr>
              <a:t>special</a:t>
            </a:r>
            <a:r>
              <a:rPr sz="3000" spc="-55" dirty="0">
                <a:latin typeface="Times New Roman"/>
                <a:cs typeface="Times New Roman"/>
              </a:rPr>
              <a:t> </a:t>
            </a:r>
            <a:r>
              <a:rPr sz="3000" dirty="0">
                <a:latin typeface="Times New Roman"/>
                <a:cs typeface="Times New Roman"/>
              </a:rPr>
              <a:t>kinds</a:t>
            </a:r>
            <a:r>
              <a:rPr sz="3000" spc="-40" dirty="0">
                <a:latin typeface="Times New Roman"/>
                <a:cs typeface="Times New Roman"/>
              </a:rPr>
              <a:t> </a:t>
            </a:r>
            <a:r>
              <a:rPr sz="3000" dirty="0">
                <a:latin typeface="Times New Roman"/>
                <a:cs typeface="Times New Roman"/>
              </a:rPr>
              <a:t>of</a:t>
            </a:r>
            <a:r>
              <a:rPr sz="3000" spc="-60" dirty="0">
                <a:latin typeface="Times New Roman"/>
                <a:cs typeface="Times New Roman"/>
              </a:rPr>
              <a:t> </a:t>
            </a:r>
            <a:r>
              <a:rPr sz="3000" dirty="0">
                <a:solidFill>
                  <a:srgbClr val="00B050"/>
                </a:solidFill>
                <a:latin typeface="Times New Roman"/>
                <a:cs typeface="Times New Roman"/>
              </a:rPr>
              <a:t>module</a:t>
            </a:r>
            <a:r>
              <a:rPr sz="3000" spc="-30" dirty="0">
                <a:solidFill>
                  <a:srgbClr val="00B050"/>
                </a:solidFill>
                <a:latin typeface="Times New Roman"/>
                <a:cs typeface="Times New Roman"/>
              </a:rPr>
              <a:t> </a:t>
            </a:r>
            <a:r>
              <a:rPr sz="3000" dirty="0">
                <a:solidFill>
                  <a:srgbClr val="00B050"/>
                </a:solidFill>
                <a:latin typeface="Times New Roman"/>
                <a:cs typeface="Times New Roman"/>
              </a:rPr>
              <a:t>or</a:t>
            </a:r>
            <a:r>
              <a:rPr sz="3000" spc="-45" dirty="0">
                <a:solidFill>
                  <a:srgbClr val="00B050"/>
                </a:solidFill>
                <a:latin typeface="Times New Roman"/>
                <a:cs typeface="Times New Roman"/>
              </a:rPr>
              <a:t> </a:t>
            </a:r>
            <a:r>
              <a:rPr sz="3000" spc="-10" dirty="0">
                <a:solidFill>
                  <a:srgbClr val="00B050"/>
                </a:solidFill>
                <a:latin typeface="Times New Roman"/>
                <a:cs typeface="Times New Roman"/>
              </a:rPr>
              <a:t>package</a:t>
            </a:r>
            <a:r>
              <a:rPr sz="3000" spc="-10" dirty="0">
                <a:latin typeface="Times New Roman"/>
                <a:cs typeface="Times New Roman"/>
              </a:rPr>
              <a:t>.</a:t>
            </a:r>
            <a:endParaRPr sz="3000" dirty="0">
              <a:latin typeface="Times New Roman"/>
              <a:cs typeface="Times New Roman"/>
            </a:endParaRPr>
          </a:p>
          <a:p>
            <a:pPr marL="355600" marR="5715" indent="-342900" algn="just">
              <a:lnSpc>
                <a:spcPct val="80000"/>
              </a:lnSpc>
              <a:spcBef>
                <a:spcPts val="720"/>
              </a:spcBef>
              <a:buFont typeface="Arial"/>
              <a:buChar char="•"/>
              <a:tabLst>
                <a:tab pos="355600" algn="l"/>
              </a:tabLst>
            </a:pPr>
            <a:r>
              <a:rPr sz="3000" dirty="0">
                <a:latin typeface="Times New Roman"/>
                <a:cs typeface="Times New Roman"/>
              </a:rPr>
              <a:t>Processes</a:t>
            </a:r>
            <a:r>
              <a:rPr sz="3000" spc="280" dirty="0">
                <a:latin typeface="Times New Roman"/>
                <a:cs typeface="Times New Roman"/>
              </a:rPr>
              <a:t> </a:t>
            </a:r>
            <a:r>
              <a:rPr sz="3000" dirty="0">
                <a:latin typeface="Times New Roman"/>
                <a:cs typeface="Times New Roman"/>
              </a:rPr>
              <a:t>that</a:t>
            </a:r>
            <a:r>
              <a:rPr sz="3000" spc="270" dirty="0">
                <a:latin typeface="Times New Roman"/>
                <a:cs typeface="Times New Roman"/>
              </a:rPr>
              <a:t> </a:t>
            </a:r>
            <a:r>
              <a:rPr sz="3000" dirty="0">
                <a:latin typeface="Times New Roman"/>
                <a:cs typeface="Times New Roman"/>
              </a:rPr>
              <a:t>wish</a:t>
            </a:r>
            <a:r>
              <a:rPr sz="3000" spc="270" dirty="0">
                <a:latin typeface="Times New Roman"/>
                <a:cs typeface="Times New Roman"/>
              </a:rPr>
              <a:t> </a:t>
            </a:r>
            <a:r>
              <a:rPr sz="3000" dirty="0">
                <a:latin typeface="Times New Roman"/>
                <a:cs typeface="Times New Roman"/>
              </a:rPr>
              <a:t>to</a:t>
            </a:r>
            <a:r>
              <a:rPr sz="3000" spc="270" dirty="0">
                <a:latin typeface="Times New Roman"/>
                <a:cs typeface="Times New Roman"/>
              </a:rPr>
              <a:t> </a:t>
            </a:r>
            <a:r>
              <a:rPr sz="3000" dirty="0">
                <a:latin typeface="Times New Roman"/>
                <a:cs typeface="Times New Roman"/>
              </a:rPr>
              <a:t>access</a:t>
            </a:r>
            <a:r>
              <a:rPr sz="3000" spc="270" dirty="0">
                <a:latin typeface="Times New Roman"/>
                <a:cs typeface="Times New Roman"/>
              </a:rPr>
              <a:t> </a:t>
            </a:r>
            <a:r>
              <a:rPr sz="3000" dirty="0">
                <a:latin typeface="Times New Roman"/>
                <a:cs typeface="Times New Roman"/>
              </a:rPr>
              <a:t>the</a:t>
            </a:r>
            <a:r>
              <a:rPr sz="3000" spc="265" dirty="0">
                <a:latin typeface="Times New Roman"/>
                <a:cs typeface="Times New Roman"/>
              </a:rPr>
              <a:t> </a:t>
            </a:r>
            <a:r>
              <a:rPr sz="3000" dirty="0">
                <a:latin typeface="Times New Roman"/>
                <a:cs typeface="Times New Roman"/>
              </a:rPr>
              <a:t>shared</a:t>
            </a:r>
            <a:r>
              <a:rPr sz="3000" spc="275" dirty="0">
                <a:latin typeface="Times New Roman"/>
                <a:cs typeface="Times New Roman"/>
              </a:rPr>
              <a:t> </a:t>
            </a:r>
            <a:r>
              <a:rPr sz="3000" dirty="0">
                <a:latin typeface="Times New Roman"/>
                <a:cs typeface="Times New Roman"/>
              </a:rPr>
              <a:t>data,</a:t>
            </a:r>
            <a:r>
              <a:rPr sz="3000" spc="290" dirty="0">
                <a:latin typeface="Times New Roman"/>
                <a:cs typeface="Times New Roman"/>
              </a:rPr>
              <a:t> </a:t>
            </a:r>
            <a:r>
              <a:rPr sz="3000" spc="-25" dirty="0">
                <a:latin typeface="Times New Roman"/>
                <a:cs typeface="Times New Roman"/>
              </a:rPr>
              <a:t>do </a:t>
            </a:r>
            <a:r>
              <a:rPr sz="3000" dirty="0">
                <a:latin typeface="Times New Roman"/>
                <a:cs typeface="Times New Roman"/>
              </a:rPr>
              <a:t>through</a:t>
            </a:r>
            <a:r>
              <a:rPr sz="3000" spc="-60" dirty="0">
                <a:latin typeface="Times New Roman"/>
                <a:cs typeface="Times New Roman"/>
              </a:rPr>
              <a:t> </a:t>
            </a:r>
            <a:r>
              <a:rPr sz="3000" dirty="0">
                <a:latin typeface="Times New Roman"/>
                <a:cs typeface="Times New Roman"/>
              </a:rPr>
              <a:t>the</a:t>
            </a:r>
            <a:r>
              <a:rPr sz="3000" spc="-65" dirty="0">
                <a:latin typeface="Times New Roman"/>
                <a:cs typeface="Times New Roman"/>
              </a:rPr>
              <a:t> </a:t>
            </a:r>
            <a:r>
              <a:rPr sz="3000" dirty="0">
                <a:latin typeface="Times New Roman"/>
                <a:cs typeface="Times New Roman"/>
              </a:rPr>
              <a:t>execution</a:t>
            </a:r>
            <a:r>
              <a:rPr sz="3000" spc="-25" dirty="0">
                <a:latin typeface="Times New Roman"/>
                <a:cs typeface="Times New Roman"/>
              </a:rPr>
              <a:t> </a:t>
            </a:r>
            <a:r>
              <a:rPr sz="3000" dirty="0">
                <a:latin typeface="Times New Roman"/>
                <a:cs typeface="Times New Roman"/>
              </a:rPr>
              <a:t>of</a:t>
            </a:r>
            <a:r>
              <a:rPr sz="3000" spc="-60" dirty="0">
                <a:latin typeface="Times New Roman"/>
                <a:cs typeface="Times New Roman"/>
              </a:rPr>
              <a:t> </a:t>
            </a:r>
            <a:r>
              <a:rPr sz="3000" dirty="0">
                <a:latin typeface="Times New Roman"/>
                <a:cs typeface="Times New Roman"/>
              </a:rPr>
              <a:t>monitor</a:t>
            </a:r>
            <a:r>
              <a:rPr sz="3000" spc="-45" dirty="0">
                <a:latin typeface="Times New Roman"/>
                <a:cs typeface="Times New Roman"/>
              </a:rPr>
              <a:t> </a:t>
            </a:r>
            <a:r>
              <a:rPr sz="3000" spc="-10" dirty="0">
                <a:latin typeface="Times New Roman"/>
                <a:cs typeface="Times New Roman"/>
              </a:rPr>
              <a:t>functions.</a:t>
            </a:r>
            <a:endParaRPr sz="3000" dirty="0">
              <a:latin typeface="Times New Roman"/>
              <a:cs typeface="Times New Roman"/>
            </a:endParaRPr>
          </a:p>
          <a:p>
            <a:pPr marL="355600" marR="5080" indent="-342900" algn="just">
              <a:lnSpc>
                <a:spcPts val="2880"/>
              </a:lnSpc>
              <a:spcBef>
                <a:spcPts val="695"/>
              </a:spcBef>
              <a:buFont typeface="Arial"/>
              <a:buChar char="•"/>
              <a:tabLst>
                <a:tab pos="355600" algn="l"/>
              </a:tabLst>
            </a:pPr>
            <a:r>
              <a:rPr sz="3000" dirty="0">
                <a:latin typeface="Times New Roman"/>
                <a:cs typeface="Times New Roman"/>
              </a:rPr>
              <a:t>Only</a:t>
            </a:r>
            <a:r>
              <a:rPr sz="3000" spc="509" dirty="0">
                <a:latin typeface="Times New Roman"/>
                <a:cs typeface="Times New Roman"/>
              </a:rPr>
              <a:t> </a:t>
            </a:r>
            <a:r>
              <a:rPr sz="3000" dirty="0">
                <a:solidFill>
                  <a:srgbClr val="00B050"/>
                </a:solidFill>
                <a:latin typeface="Times New Roman"/>
                <a:cs typeface="Times New Roman"/>
              </a:rPr>
              <a:t>one</a:t>
            </a:r>
            <a:r>
              <a:rPr sz="3000" spc="505" dirty="0">
                <a:solidFill>
                  <a:srgbClr val="00B050"/>
                </a:solidFill>
                <a:latin typeface="Times New Roman"/>
                <a:cs typeface="Times New Roman"/>
              </a:rPr>
              <a:t> </a:t>
            </a:r>
            <a:r>
              <a:rPr sz="3000" dirty="0">
                <a:solidFill>
                  <a:srgbClr val="00B050"/>
                </a:solidFill>
                <a:latin typeface="Times New Roman"/>
                <a:cs typeface="Times New Roman"/>
              </a:rPr>
              <a:t>process</a:t>
            </a:r>
            <a:r>
              <a:rPr sz="3000" spc="515" dirty="0">
                <a:solidFill>
                  <a:srgbClr val="00B050"/>
                </a:solidFill>
                <a:latin typeface="Times New Roman"/>
                <a:cs typeface="Times New Roman"/>
              </a:rPr>
              <a:t> </a:t>
            </a:r>
            <a:r>
              <a:rPr sz="3000" dirty="0">
                <a:solidFill>
                  <a:srgbClr val="00B050"/>
                </a:solidFill>
                <a:latin typeface="Times New Roman"/>
                <a:cs typeface="Times New Roman"/>
              </a:rPr>
              <a:t>can</a:t>
            </a:r>
            <a:r>
              <a:rPr sz="3000" spc="505" dirty="0">
                <a:solidFill>
                  <a:srgbClr val="00B050"/>
                </a:solidFill>
                <a:latin typeface="Times New Roman"/>
                <a:cs typeface="Times New Roman"/>
              </a:rPr>
              <a:t> </a:t>
            </a:r>
            <a:r>
              <a:rPr sz="3000" dirty="0">
                <a:solidFill>
                  <a:srgbClr val="00B050"/>
                </a:solidFill>
                <a:latin typeface="Times New Roman"/>
                <a:cs typeface="Times New Roman"/>
              </a:rPr>
              <a:t>be</a:t>
            </a:r>
            <a:r>
              <a:rPr sz="3000" spc="509" dirty="0">
                <a:solidFill>
                  <a:srgbClr val="00B050"/>
                </a:solidFill>
                <a:latin typeface="Times New Roman"/>
                <a:cs typeface="Times New Roman"/>
              </a:rPr>
              <a:t> </a:t>
            </a:r>
            <a:r>
              <a:rPr sz="3000" dirty="0">
                <a:solidFill>
                  <a:srgbClr val="00B050"/>
                </a:solidFill>
                <a:latin typeface="Times New Roman"/>
                <a:cs typeface="Times New Roman"/>
              </a:rPr>
              <a:t>active</a:t>
            </a:r>
            <a:r>
              <a:rPr sz="3000" spc="525" dirty="0">
                <a:solidFill>
                  <a:srgbClr val="00B050"/>
                </a:solidFill>
                <a:latin typeface="Times New Roman"/>
                <a:cs typeface="Times New Roman"/>
              </a:rPr>
              <a:t> </a:t>
            </a:r>
            <a:r>
              <a:rPr sz="3000" dirty="0">
                <a:solidFill>
                  <a:srgbClr val="00B050"/>
                </a:solidFill>
                <a:latin typeface="Times New Roman"/>
                <a:cs typeface="Times New Roman"/>
              </a:rPr>
              <a:t>in</a:t>
            </a:r>
            <a:r>
              <a:rPr sz="3000" spc="505" dirty="0">
                <a:solidFill>
                  <a:srgbClr val="00B050"/>
                </a:solidFill>
                <a:latin typeface="Times New Roman"/>
                <a:cs typeface="Times New Roman"/>
              </a:rPr>
              <a:t> </a:t>
            </a:r>
            <a:r>
              <a:rPr sz="3000" dirty="0">
                <a:solidFill>
                  <a:srgbClr val="00B050"/>
                </a:solidFill>
                <a:latin typeface="Times New Roman"/>
                <a:cs typeface="Times New Roman"/>
              </a:rPr>
              <a:t>a</a:t>
            </a:r>
            <a:r>
              <a:rPr sz="3000" spc="520" dirty="0">
                <a:solidFill>
                  <a:srgbClr val="00B050"/>
                </a:solidFill>
                <a:latin typeface="Times New Roman"/>
                <a:cs typeface="Times New Roman"/>
              </a:rPr>
              <a:t> </a:t>
            </a:r>
            <a:r>
              <a:rPr sz="3000" dirty="0">
                <a:solidFill>
                  <a:srgbClr val="00B050"/>
                </a:solidFill>
                <a:latin typeface="Times New Roman"/>
                <a:cs typeface="Times New Roman"/>
              </a:rPr>
              <a:t>monitor</a:t>
            </a:r>
            <a:r>
              <a:rPr sz="3000" spc="509" dirty="0">
                <a:solidFill>
                  <a:srgbClr val="00B050"/>
                </a:solidFill>
                <a:latin typeface="Times New Roman"/>
                <a:cs typeface="Times New Roman"/>
              </a:rPr>
              <a:t> </a:t>
            </a:r>
            <a:r>
              <a:rPr sz="3000" spc="-25" dirty="0">
                <a:solidFill>
                  <a:srgbClr val="00B050"/>
                </a:solidFill>
                <a:latin typeface="Times New Roman"/>
                <a:cs typeface="Times New Roman"/>
              </a:rPr>
              <a:t>at </a:t>
            </a:r>
            <a:r>
              <a:rPr sz="3000" dirty="0">
                <a:solidFill>
                  <a:srgbClr val="00B050"/>
                </a:solidFill>
                <a:latin typeface="Times New Roman"/>
                <a:cs typeface="Times New Roman"/>
              </a:rPr>
              <a:t>any</a:t>
            </a:r>
            <a:r>
              <a:rPr sz="3000" spc="-60" dirty="0">
                <a:solidFill>
                  <a:srgbClr val="00B050"/>
                </a:solidFill>
                <a:latin typeface="Times New Roman"/>
                <a:cs typeface="Times New Roman"/>
              </a:rPr>
              <a:t> </a:t>
            </a:r>
            <a:r>
              <a:rPr sz="3000" spc="-10" dirty="0">
                <a:solidFill>
                  <a:srgbClr val="00B050"/>
                </a:solidFill>
                <a:latin typeface="Times New Roman"/>
                <a:cs typeface="Times New Roman"/>
              </a:rPr>
              <a:t>instant.</a:t>
            </a:r>
            <a:endParaRPr sz="3000" dirty="0">
              <a:solidFill>
                <a:srgbClr val="00B050"/>
              </a:solidFill>
              <a:latin typeface="Times New Roman"/>
              <a:cs typeface="Times New Roman"/>
            </a:endParaRPr>
          </a:p>
        </p:txBody>
      </p:sp>
    </p:spTree>
  </p:cSld>
  <p:clrMapOvr>
    <a:masterClrMapping/>
  </p:clrMapOvr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13335" rIns="0" bIns="0" rtlCol="0">
            <a:spAutoFit/>
          </a:bodyPr>
          <a:lstStyle/>
          <a:p>
            <a:pPr marL="12700" algn="ctr" rtl="0">
              <a:spcBef>
                <a:spcPts val="105"/>
              </a:spcBef>
            </a:pPr>
            <a:r>
              <a:rPr sz="3200" b="1" dirty="0">
                <a:solidFill>
                  <a:sysClr val="windowText" lastClr="000000"/>
                </a:solidFill>
                <a:latin typeface="+mj-lt"/>
                <a:cs typeface="+mj-cs"/>
              </a:rPr>
              <a:t>Monitors: discussion</a:t>
            </a:r>
          </a:p>
        </p:txBody>
      </p:sp>
      <p:sp>
        <p:nvSpPr>
          <p:cNvPr id="4" name="object 4"/>
          <p:cNvSpPr txBox="1">
            <a:spLocks noGrp="1"/>
          </p:cNvSpPr>
          <p:nvPr>
            <p:ph type="ftr" sz="quarter" idx="5"/>
          </p:nvPr>
        </p:nvSpPr>
        <p:spPr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12700">
              <a:lnSpc>
                <a:spcPts val="1240"/>
              </a:lnSpc>
            </a:pPr>
            <a:r>
              <a:rPr lang="pl-PL"/>
              <a:t>By Dr. Binod Kr. Adhikari</a:t>
            </a:r>
            <a:endParaRPr spc="-10" dirty="0"/>
          </a:p>
        </p:txBody>
      </p:sp>
      <p:sp>
        <p:nvSpPr>
          <p:cNvPr id="3" name="object 3"/>
          <p:cNvSpPr txBox="1"/>
          <p:nvPr/>
        </p:nvSpPr>
        <p:spPr>
          <a:xfrm>
            <a:off x="535940" y="1295400"/>
            <a:ext cx="8227060" cy="4468531"/>
          </a:xfrm>
          <a:prstGeom prst="rect">
            <a:avLst/>
          </a:prstGeom>
        </p:spPr>
        <p:txBody>
          <a:bodyPr vert="horz" wrap="square" lIns="0" tIns="59055" rIns="0" bIns="0" rtlCol="0">
            <a:spAutoFit/>
          </a:bodyPr>
          <a:lstStyle/>
          <a:p>
            <a:pPr marL="355600" marR="93345" indent="-342900">
              <a:lnSpc>
                <a:spcPts val="2920"/>
              </a:lnSpc>
              <a:spcBef>
                <a:spcPts val="465"/>
              </a:spcBef>
              <a:buFont typeface="Arial"/>
              <a:buChar char="•"/>
              <a:tabLst>
                <a:tab pos="355600" algn="l"/>
              </a:tabLst>
            </a:pPr>
            <a:r>
              <a:rPr sz="2700" dirty="0">
                <a:latin typeface="Times New Roman"/>
                <a:cs typeface="Times New Roman"/>
              </a:rPr>
              <a:t>A</a:t>
            </a:r>
            <a:r>
              <a:rPr sz="2700" spc="-170" dirty="0">
                <a:latin typeface="Times New Roman"/>
                <a:cs typeface="Times New Roman"/>
              </a:rPr>
              <a:t> </a:t>
            </a:r>
            <a:r>
              <a:rPr sz="2700" dirty="0">
                <a:latin typeface="Times New Roman"/>
                <a:cs typeface="Times New Roman"/>
              </a:rPr>
              <a:t>procedure</a:t>
            </a:r>
            <a:r>
              <a:rPr sz="2700" spc="-35" dirty="0">
                <a:latin typeface="Times New Roman"/>
                <a:cs typeface="Times New Roman"/>
              </a:rPr>
              <a:t> </a:t>
            </a:r>
            <a:r>
              <a:rPr sz="2700" dirty="0">
                <a:latin typeface="Times New Roman"/>
                <a:cs typeface="Times New Roman"/>
              </a:rPr>
              <a:t>defined</a:t>
            </a:r>
            <a:r>
              <a:rPr sz="2700" spc="-10" dirty="0">
                <a:latin typeface="Times New Roman"/>
                <a:cs typeface="Times New Roman"/>
              </a:rPr>
              <a:t> </a:t>
            </a:r>
            <a:r>
              <a:rPr sz="2700" dirty="0">
                <a:latin typeface="Times New Roman"/>
                <a:cs typeface="Times New Roman"/>
              </a:rPr>
              <a:t>within</a:t>
            </a:r>
            <a:r>
              <a:rPr sz="2700" spc="-20" dirty="0">
                <a:latin typeface="Times New Roman"/>
                <a:cs typeface="Times New Roman"/>
              </a:rPr>
              <a:t> </a:t>
            </a:r>
            <a:r>
              <a:rPr sz="2700" dirty="0">
                <a:latin typeface="Times New Roman"/>
                <a:cs typeface="Times New Roman"/>
              </a:rPr>
              <a:t>a monitor</a:t>
            </a:r>
            <a:r>
              <a:rPr sz="2700" spc="-35" dirty="0">
                <a:latin typeface="Times New Roman"/>
                <a:cs typeface="Times New Roman"/>
              </a:rPr>
              <a:t> </a:t>
            </a:r>
            <a:r>
              <a:rPr sz="2700" dirty="0">
                <a:latin typeface="Times New Roman"/>
                <a:cs typeface="Times New Roman"/>
              </a:rPr>
              <a:t>can</a:t>
            </a:r>
            <a:r>
              <a:rPr sz="2700" spc="-10" dirty="0">
                <a:latin typeface="Times New Roman"/>
                <a:cs typeface="Times New Roman"/>
              </a:rPr>
              <a:t> </a:t>
            </a:r>
            <a:r>
              <a:rPr sz="2700" dirty="0">
                <a:latin typeface="Times New Roman"/>
                <a:cs typeface="Times New Roman"/>
              </a:rPr>
              <a:t>access</a:t>
            </a:r>
            <a:r>
              <a:rPr sz="2700" spc="-15" dirty="0">
                <a:latin typeface="Times New Roman"/>
                <a:cs typeface="Times New Roman"/>
              </a:rPr>
              <a:t> </a:t>
            </a:r>
            <a:r>
              <a:rPr sz="2700" spc="-20" dirty="0">
                <a:latin typeface="Times New Roman"/>
                <a:cs typeface="Times New Roman"/>
              </a:rPr>
              <a:t>only </a:t>
            </a:r>
            <a:r>
              <a:rPr sz="2700" dirty="0">
                <a:latin typeface="Times New Roman"/>
                <a:cs typeface="Times New Roman"/>
              </a:rPr>
              <a:t>those</a:t>
            </a:r>
            <a:r>
              <a:rPr sz="2700" spc="-70" dirty="0">
                <a:latin typeface="Times New Roman"/>
                <a:cs typeface="Times New Roman"/>
              </a:rPr>
              <a:t> </a:t>
            </a:r>
            <a:r>
              <a:rPr sz="2700" dirty="0">
                <a:latin typeface="Times New Roman"/>
                <a:cs typeface="Times New Roman"/>
              </a:rPr>
              <a:t>variables</a:t>
            </a:r>
            <a:r>
              <a:rPr sz="2700" spc="-50" dirty="0">
                <a:latin typeface="Times New Roman"/>
                <a:cs typeface="Times New Roman"/>
              </a:rPr>
              <a:t> </a:t>
            </a:r>
            <a:r>
              <a:rPr sz="2700" dirty="0">
                <a:latin typeface="Times New Roman"/>
                <a:cs typeface="Times New Roman"/>
              </a:rPr>
              <a:t>declared</a:t>
            </a:r>
            <a:r>
              <a:rPr sz="2700" spc="-35" dirty="0">
                <a:latin typeface="Times New Roman"/>
                <a:cs typeface="Times New Roman"/>
              </a:rPr>
              <a:t> </a:t>
            </a:r>
            <a:r>
              <a:rPr sz="2700" dirty="0">
                <a:latin typeface="Times New Roman"/>
                <a:cs typeface="Times New Roman"/>
              </a:rPr>
              <a:t>locally</a:t>
            </a:r>
            <a:r>
              <a:rPr sz="2700" spc="-55" dirty="0">
                <a:latin typeface="Times New Roman"/>
                <a:cs typeface="Times New Roman"/>
              </a:rPr>
              <a:t> </a:t>
            </a:r>
            <a:r>
              <a:rPr sz="2700" dirty="0">
                <a:latin typeface="Times New Roman"/>
                <a:cs typeface="Times New Roman"/>
              </a:rPr>
              <a:t>with</a:t>
            </a:r>
            <a:r>
              <a:rPr sz="2700" spc="-40" dirty="0">
                <a:latin typeface="Times New Roman"/>
                <a:cs typeface="Times New Roman"/>
              </a:rPr>
              <a:t> </a:t>
            </a:r>
            <a:r>
              <a:rPr sz="2700" dirty="0">
                <a:latin typeface="Times New Roman"/>
                <a:cs typeface="Times New Roman"/>
              </a:rPr>
              <a:t>in</a:t>
            </a:r>
            <a:r>
              <a:rPr sz="2700" spc="-35" dirty="0">
                <a:latin typeface="Times New Roman"/>
                <a:cs typeface="Times New Roman"/>
              </a:rPr>
              <a:t> </a:t>
            </a:r>
            <a:r>
              <a:rPr sz="2700" dirty="0">
                <a:latin typeface="Times New Roman"/>
                <a:cs typeface="Times New Roman"/>
              </a:rPr>
              <a:t>the</a:t>
            </a:r>
            <a:r>
              <a:rPr sz="2700" spc="-45" dirty="0">
                <a:latin typeface="Times New Roman"/>
                <a:cs typeface="Times New Roman"/>
              </a:rPr>
              <a:t> </a:t>
            </a:r>
            <a:r>
              <a:rPr sz="2700" spc="-10" dirty="0">
                <a:latin typeface="Times New Roman"/>
                <a:cs typeface="Times New Roman"/>
              </a:rPr>
              <a:t>monitors.</a:t>
            </a:r>
            <a:endParaRPr sz="2700" dirty="0">
              <a:latin typeface="Times New Roman"/>
              <a:cs typeface="Times New Roman"/>
            </a:endParaRPr>
          </a:p>
          <a:p>
            <a:pPr marL="355600" marR="199390" indent="-342900">
              <a:lnSpc>
                <a:spcPts val="2920"/>
              </a:lnSpc>
              <a:spcBef>
                <a:spcPts val="640"/>
              </a:spcBef>
              <a:buFont typeface="Arial"/>
              <a:buChar char="•"/>
              <a:tabLst>
                <a:tab pos="355600" algn="l"/>
              </a:tabLst>
            </a:pPr>
            <a:r>
              <a:rPr sz="2700" dirty="0">
                <a:latin typeface="Times New Roman"/>
                <a:cs typeface="Times New Roman"/>
              </a:rPr>
              <a:t>A</a:t>
            </a:r>
            <a:r>
              <a:rPr sz="2700" spc="-170" dirty="0">
                <a:latin typeface="Times New Roman"/>
                <a:cs typeface="Times New Roman"/>
              </a:rPr>
              <a:t> </a:t>
            </a:r>
            <a:r>
              <a:rPr sz="2700" b="1" dirty="0">
                <a:latin typeface="Times New Roman"/>
                <a:cs typeface="Times New Roman"/>
              </a:rPr>
              <a:t>monitor</a:t>
            </a:r>
            <a:r>
              <a:rPr sz="2700" b="1" spc="-30" dirty="0">
                <a:latin typeface="Times New Roman"/>
                <a:cs typeface="Times New Roman"/>
              </a:rPr>
              <a:t> </a:t>
            </a:r>
            <a:r>
              <a:rPr sz="2700" dirty="0">
                <a:latin typeface="Times New Roman"/>
                <a:cs typeface="Times New Roman"/>
              </a:rPr>
              <a:t>is</a:t>
            </a:r>
            <a:r>
              <a:rPr sz="2700" spc="-30" dirty="0">
                <a:latin typeface="Times New Roman"/>
                <a:cs typeface="Times New Roman"/>
              </a:rPr>
              <a:t> </a:t>
            </a:r>
            <a:r>
              <a:rPr sz="2700" dirty="0">
                <a:latin typeface="Times New Roman"/>
                <a:cs typeface="Times New Roman"/>
              </a:rPr>
              <a:t>an</a:t>
            </a:r>
            <a:r>
              <a:rPr sz="2700" spc="-15" dirty="0">
                <a:latin typeface="Times New Roman"/>
                <a:cs typeface="Times New Roman"/>
              </a:rPr>
              <a:t> </a:t>
            </a:r>
            <a:r>
              <a:rPr sz="2700" dirty="0">
                <a:latin typeface="Times New Roman"/>
                <a:cs typeface="Times New Roman"/>
              </a:rPr>
              <a:t>object</a:t>
            </a:r>
            <a:r>
              <a:rPr sz="2700" spc="-40" dirty="0">
                <a:latin typeface="Times New Roman"/>
                <a:cs typeface="Times New Roman"/>
              </a:rPr>
              <a:t> </a:t>
            </a:r>
            <a:r>
              <a:rPr sz="2700" dirty="0">
                <a:latin typeface="Times New Roman"/>
                <a:cs typeface="Times New Roman"/>
              </a:rPr>
              <a:t>or</a:t>
            </a:r>
            <a:r>
              <a:rPr sz="2700" spc="-15" dirty="0">
                <a:latin typeface="Times New Roman"/>
                <a:cs typeface="Times New Roman"/>
              </a:rPr>
              <a:t> </a:t>
            </a:r>
            <a:r>
              <a:rPr sz="2700" dirty="0">
                <a:latin typeface="Times New Roman"/>
                <a:cs typeface="Times New Roman"/>
              </a:rPr>
              <a:t>module</a:t>
            </a:r>
            <a:r>
              <a:rPr sz="2700" spc="-35" dirty="0">
                <a:latin typeface="Times New Roman"/>
                <a:cs typeface="Times New Roman"/>
              </a:rPr>
              <a:t> </a:t>
            </a:r>
            <a:r>
              <a:rPr sz="2700" dirty="0">
                <a:latin typeface="Times New Roman"/>
                <a:cs typeface="Times New Roman"/>
              </a:rPr>
              <a:t>intended</a:t>
            </a:r>
            <a:r>
              <a:rPr sz="2700" spc="-45" dirty="0">
                <a:latin typeface="Times New Roman"/>
                <a:cs typeface="Times New Roman"/>
              </a:rPr>
              <a:t> </a:t>
            </a:r>
            <a:r>
              <a:rPr sz="2700" dirty="0">
                <a:latin typeface="Times New Roman"/>
                <a:cs typeface="Times New Roman"/>
              </a:rPr>
              <a:t>to</a:t>
            </a:r>
            <a:r>
              <a:rPr sz="2700" spc="-30" dirty="0">
                <a:latin typeface="Times New Roman"/>
                <a:cs typeface="Times New Roman"/>
              </a:rPr>
              <a:t> </a:t>
            </a:r>
            <a:r>
              <a:rPr sz="2700" dirty="0">
                <a:latin typeface="Times New Roman"/>
                <a:cs typeface="Times New Roman"/>
              </a:rPr>
              <a:t>be</a:t>
            </a:r>
            <a:r>
              <a:rPr sz="2700" spc="-20" dirty="0">
                <a:latin typeface="Times New Roman"/>
                <a:cs typeface="Times New Roman"/>
              </a:rPr>
              <a:t> used </a:t>
            </a:r>
            <a:r>
              <a:rPr sz="2700" dirty="0">
                <a:latin typeface="Times New Roman"/>
                <a:cs typeface="Times New Roman"/>
              </a:rPr>
              <a:t>safely</a:t>
            </a:r>
            <a:r>
              <a:rPr sz="2700" spc="-20" dirty="0">
                <a:latin typeface="Times New Roman"/>
                <a:cs typeface="Times New Roman"/>
              </a:rPr>
              <a:t> </a:t>
            </a:r>
            <a:r>
              <a:rPr sz="2700" dirty="0">
                <a:latin typeface="Times New Roman"/>
                <a:cs typeface="Times New Roman"/>
              </a:rPr>
              <a:t>by</a:t>
            </a:r>
            <a:r>
              <a:rPr sz="2700" spc="-15" dirty="0">
                <a:latin typeface="Times New Roman"/>
                <a:cs typeface="Times New Roman"/>
              </a:rPr>
              <a:t> </a:t>
            </a:r>
            <a:r>
              <a:rPr sz="2700" dirty="0">
                <a:latin typeface="Times New Roman"/>
                <a:cs typeface="Times New Roman"/>
              </a:rPr>
              <a:t>more</a:t>
            </a:r>
            <a:r>
              <a:rPr sz="2700" spc="5" dirty="0">
                <a:latin typeface="Times New Roman"/>
                <a:cs typeface="Times New Roman"/>
              </a:rPr>
              <a:t> </a:t>
            </a:r>
            <a:r>
              <a:rPr sz="2700" dirty="0">
                <a:latin typeface="Times New Roman"/>
                <a:cs typeface="Times New Roman"/>
              </a:rPr>
              <a:t>than</a:t>
            </a:r>
            <a:r>
              <a:rPr sz="2700" spc="-15" dirty="0">
                <a:latin typeface="Times New Roman"/>
                <a:cs typeface="Times New Roman"/>
              </a:rPr>
              <a:t> </a:t>
            </a:r>
            <a:r>
              <a:rPr sz="2700" dirty="0">
                <a:latin typeface="Times New Roman"/>
                <a:cs typeface="Times New Roman"/>
              </a:rPr>
              <a:t>one</a:t>
            </a:r>
            <a:r>
              <a:rPr sz="2700" spc="-25" dirty="0">
                <a:latin typeface="Times New Roman"/>
                <a:cs typeface="Times New Roman"/>
              </a:rPr>
              <a:t> </a:t>
            </a:r>
            <a:r>
              <a:rPr sz="2700" spc="-10" dirty="0">
                <a:latin typeface="Times New Roman"/>
                <a:cs typeface="Times New Roman"/>
              </a:rPr>
              <a:t>process.</a:t>
            </a:r>
            <a:endParaRPr sz="2700" dirty="0">
              <a:latin typeface="Times New Roman"/>
              <a:cs typeface="Times New Roman"/>
            </a:endParaRPr>
          </a:p>
          <a:p>
            <a:pPr marL="355600" marR="788670" indent="-342900">
              <a:lnSpc>
                <a:spcPts val="2920"/>
              </a:lnSpc>
              <a:spcBef>
                <a:spcPts val="640"/>
              </a:spcBef>
              <a:buFont typeface="Arial"/>
              <a:buChar char="•"/>
              <a:tabLst>
                <a:tab pos="355600" algn="l"/>
              </a:tabLst>
            </a:pPr>
            <a:r>
              <a:rPr sz="2700" dirty="0">
                <a:latin typeface="Times New Roman"/>
                <a:cs typeface="Times New Roman"/>
              </a:rPr>
              <a:t>The</a:t>
            </a:r>
            <a:r>
              <a:rPr sz="2700" spc="-55" dirty="0">
                <a:latin typeface="Times New Roman"/>
                <a:cs typeface="Times New Roman"/>
              </a:rPr>
              <a:t> </a:t>
            </a:r>
            <a:r>
              <a:rPr sz="2700" dirty="0">
                <a:latin typeface="Times New Roman"/>
                <a:cs typeface="Times New Roman"/>
              </a:rPr>
              <a:t>defining</a:t>
            </a:r>
            <a:r>
              <a:rPr sz="2700" spc="-45" dirty="0">
                <a:latin typeface="Times New Roman"/>
                <a:cs typeface="Times New Roman"/>
              </a:rPr>
              <a:t> </a:t>
            </a:r>
            <a:r>
              <a:rPr sz="2700" dirty="0">
                <a:latin typeface="Times New Roman"/>
                <a:cs typeface="Times New Roman"/>
              </a:rPr>
              <a:t>characteristic</a:t>
            </a:r>
            <a:r>
              <a:rPr sz="2700" spc="-75" dirty="0">
                <a:latin typeface="Times New Roman"/>
                <a:cs typeface="Times New Roman"/>
              </a:rPr>
              <a:t> </a:t>
            </a:r>
            <a:r>
              <a:rPr sz="2700" dirty="0">
                <a:latin typeface="Times New Roman"/>
                <a:cs typeface="Times New Roman"/>
              </a:rPr>
              <a:t>of</a:t>
            </a:r>
            <a:r>
              <a:rPr sz="2700" spc="-40" dirty="0">
                <a:latin typeface="Times New Roman"/>
                <a:cs typeface="Times New Roman"/>
              </a:rPr>
              <a:t> </a:t>
            </a:r>
            <a:r>
              <a:rPr sz="2700" dirty="0">
                <a:latin typeface="Times New Roman"/>
                <a:cs typeface="Times New Roman"/>
              </a:rPr>
              <a:t>a</a:t>
            </a:r>
            <a:r>
              <a:rPr sz="2700" spc="-35" dirty="0">
                <a:latin typeface="Times New Roman"/>
                <a:cs typeface="Times New Roman"/>
              </a:rPr>
              <a:t> </a:t>
            </a:r>
            <a:r>
              <a:rPr sz="2700" dirty="0">
                <a:latin typeface="Times New Roman"/>
                <a:cs typeface="Times New Roman"/>
              </a:rPr>
              <a:t>monitor</a:t>
            </a:r>
            <a:r>
              <a:rPr sz="2700" spc="-40" dirty="0">
                <a:latin typeface="Times New Roman"/>
                <a:cs typeface="Times New Roman"/>
              </a:rPr>
              <a:t> </a:t>
            </a:r>
            <a:r>
              <a:rPr sz="2700" dirty="0">
                <a:latin typeface="Times New Roman"/>
                <a:cs typeface="Times New Roman"/>
              </a:rPr>
              <a:t>is</a:t>
            </a:r>
            <a:r>
              <a:rPr sz="2700" spc="-50" dirty="0">
                <a:latin typeface="Times New Roman"/>
                <a:cs typeface="Times New Roman"/>
              </a:rPr>
              <a:t> </a:t>
            </a:r>
            <a:r>
              <a:rPr sz="2700" dirty="0">
                <a:latin typeface="Times New Roman"/>
                <a:cs typeface="Times New Roman"/>
              </a:rPr>
              <a:t>that</a:t>
            </a:r>
            <a:r>
              <a:rPr sz="2700" spc="-50" dirty="0">
                <a:latin typeface="Times New Roman"/>
                <a:cs typeface="Times New Roman"/>
              </a:rPr>
              <a:t> </a:t>
            </a:r>
            <a:r>
              <a:rPr sz="2700" spc="-25" dirty="0">
                <a:latin typeface="Times New Roman"/>
                <a:cs typeface="Times New Roman"/>
              </a:rPr>
              <a:t>its </a:t>
            </a:r>
            <a:r>
              <a:rPr sz="2700" dirty="0">
                <a:latin typeface="Times New Roman"/>
                <a:cs typeface="Times New Roman"/>
              </a:rPr>
              <a:t>methods</a:t>
            </a:r>
            <a:r>
              <a:rPr sz="2700" spc="-75" dirty="0">
                <a:latin typeface="Times New Roman"/>
                <a:cs typeface="Times New Roman"/>
              </a:rPr>
              <a:t> </a:t>
            </a:r>
            <a:r>
              <a:rPr sz="2700" dirty="0">
                <a:latin typeface="Times New Roman"/>
                <a:cs typeface="Times New Roman"/>
              </a:rPr>
              <a:t>are</a:t>
            </a:r>
            <a:r>
              <a:rPr sz="2700" spc="-40" dirty="0">
                <a:latin typeface="Times New Roman"/>
                <a:cs typeface="Times New Roman"/>
              </a:rPr>
              <a:t> </a:t>
            </a:r>
            <a:r>
              <a:rPr sz="2700" dirty="0">
                <a:latin typeface="Times New Roman"/>
                <a:cs typeface="Times New Roman"/>
              </a:rPr>
              <a:t>executed</a:t>
            </a:r>
            <a:r>
              <a:rPr sz="2700" spc="-60" dirty="0">
                <a:latin typeface="Times New Roman"/>
                <a:cs typeface="Times New Roman"/>
              </a:rPr>
              <a:t> </a:t>
            </a:r>
            <a:r>
              <a:rPr sz="2700" dirty="0">
                <a:latin typeface="Times New Roman"/>
                <a:cs typeface="Times New Roman"/>
              </a:rPr>
              <a:t>with</a:t>
            </a:r>
            <a:r>
              <a:rPr sz="2700" spc="-35" dirty="0">
                <a:latin typeface="Times New Roman"/>
                <a:cs typeface="Times New Roman"/>
              </a:rPr>
              <a:t> </a:t>
            </a:r>
            <a:r>
              <a:rPr sz="2700" dirty="0">
                <a:latin typeface="Times New Roman"/>
                <a:cs typeface="Times New Roman"/>
              </a:rPr>
              <a:t>mutual</a:t>
            </a:r>
            <a:r>
              <a:rPr sz="2700" spc="-40" dirty="0">
                <a:latin typeface="Times New Roman"/>
                <a:cs typeface="Times New Roman"/>
              </a:rPr>
              <a:t> </a:t>
            </a:r>
            <a:r>
              <a:rPr sz="2700" spc="-10" dirty="0">
                <a:latin typeface="Times New Roman"/>
                <a:cs typeface="Times New Roman"/>
              </a:rPr>
              <a:t>exclusion.</a:t>
            </a:r>
            <a:endParaRPr sz="2700" dirty="0">
              <a:latin typeface="Times New Roman"/>
              <a:cs typeface="Times New Roman"/>
            </a:endParaRPr>
          </a:p>
          <a:p>
            <a:pPr marL="355600" marR="5080" indent="-342900">
              <a:lnSpc>
                <a:spcPct val="90000"/>
              </a:lnSpc>
              <a:spcBef>
                <a:spcPts val="605"/>
              </a:spcBef>
              <a:buFont typeface="Arial"/>
              <a:buChar char="•"/>
              <a:tabLst>
                <a:tab pos="355600" algn="l"/>
              </a:tabLst>
            </a:pPr>
            <a:r>
              <a:rPr sz="2700" dirty="0">
                <a:latin typeface="Times New Roman"/>
                <a:cs typeface="Times New Roman"/>
              </a:rPr>
              <a:t>That</a:t>
            </a:r>
            <a:r>
              <a:rPr sz="2700" spc="-20" dirty="0">
                <a:latin typeface="Times New Roman"/>
                <a:cs typeface="Times New Roman"/>
              </a:rPr>
              <a:t> </a:t>
            </a:r>
            <a:r>
              <a:rPr sz="2700" dirty="0">
                <a:latin typeface="Times New Roman"/>
                <a:cs typeface="Times New Roman"/>
              </a:rPr>
              <a:t>is,</a:t>
            </a:r>
            <a:r>
              <a:rPr sz="2700" spc="-25" dirty="0">
                <a:latin typeface="Times New Roman"/>
                <a:cs typeface="Times New Roman"/>
              </a:rPr>
              <a:t> </a:t>
            </a:r>
            <a:r>
              <a:rPr sz="2700" dirty="0">
                <a:latin typeface="Times New Roman"/>
                <a:cs typeface="Times New Roman"/>
              </a:rPr>
              <a:t>at each</a:t>
            </a:r>
            <a:r>
              <a:rPr sz="2700" spc="-5" dirty="0">
                <a:latin typeface="Times New Roman"/>
                <a:cs typeface="Times New Roman"/>
              </a:rPr>
              <a:t> </a:t>
            </a:r>
            <a:r>
              <a:rPr sz="2700" dirty="0">
                <a:latin typeface="Times New Roman"/>
                <a:cs typeface="Times New Roman"/>
              </a:rPr>
              <a:t>point</a:t>
            </a:r>
            <a:r>
              <a:rPr sz="2700" spc="-25" dirty="0">
                <a:latin typeface="Times New Roman"/>
                <a:cs typeface="Times New Roman"/>
              </a:rPr>
              <a:t> </a:t>
            </a:r>
            <a:r>
              <a:rPr sz="2700" dirty="0">
                <a:latin typeface="Times New Roman"/>
                <a:cs typeface="Times New Roman"/>
              </a:rPr>
              <a:t>in</a:t>
            </a:r>
            <a:r>
              <a:rPr sz="2700" spc="-15" dirty="0">
                <a:latin typeface="Times New Roman"/>
                <a:cs typeface="Times New Roman"/>
              </a:rPr>
              <a:t> </a:t>
            </a:r>
            <a:r>
              <a:rPr sz="2700" dirty="0">
                <a:latin typeface="Times New Roman"/>
                <a:cs typeface="Times New Roman"/>
              </a:rPr>
              <a:t>time,</a:t>
            </a:r>
            <a:r>
              <a:rPr sz="2700" spc="-5" dirty="0">
                <a:latin typeface="Times New Roman"/>
                <a:cs typeface="Times New Roman"/>
              </a:rPr>
              <a:t> </a:t>
            </a:r>
            <a:r>
              <a:rPr sz="2700" dirty="0">
                <a:latin typeface="Times New Roman"/>
                <a:cs typeface="Times New Roman"/>
              </a:rPr>
              <a:t>at most</a:t>
            </a:r>
            <a:r>
              <a:rPr sz="2700" spc="-5" dirty="0">
                <a:latin typeface="Times New Roman"/>
                <a:cs typeface="Times New Roman"/>
              </a:rPr>
              <a:t> </a:t>
            </a:r>
            <a:r>
              <a:rPr sz="2700" dirty="0">
                <a:latin typeface="Times New Roman"/>
                <a:cs typeface="Times New Roman"/>
              </a:rPr>
              <a:t>one</a:t>
            </a:r>
            <a:r>
              <a:rPr sz="2700" spc="-20" dirty="0">
                <a:latin typeface="Times New Roman"/>
                <a:cs typeface="Times New Roman"/>
              </a:rPr>
              <a:t> </a:t>
            </a:r>
            <a:r>
              <a:rPr sz="2700" dirty="0">
                <a:latin typeface="Times New Roman"/>
                <a:cs typeface="Times New Roman"/>
              </a:rPr>
              <a:t>process</a:t>
            </a:r>
            <a:r>
              <a:rPr sz="2700" spc="-25" dirty="0">
                <a:latin typeface="Times New Roman"/>
                <a:cs typeface="Times New Roman"/>
              </a:rPr>
              <a:t> may </a:t>
            </a:r>
            <a:r>
              <a:rPr sz="2700" dirty="0">
                <a:latin typeface="Times New Roman"/>
                <a:cs typeface="Times New Roman"/>
              </a:rPr>
              <a:t>be</a:t>
            </a:r>
            <a:r>
              <a:rPr sz="2700" spc="-30" dirty="0">
                <a:latin typeface="Times New Roman"/>
                <a:cs typeface="Times New Roman"/>
              </a:rPr>
              <a:t> </a:t>
            </a:r>
            <a:r>
              <a:rPr sz="2700" dirty="0">
                <a:latin typeface="Times New Roman"/>
                <a:cs typeface="Times New Roman"/>
              </a:rPr>
              <a:t>executing</a:t>
            </a:r>
            <a:r>
              <a:rPr sz="2700" spc="-65" dirty="0">
                <a:latin typeface="Times New Roman"/>
                <a:cs typeface="Times New Roman"/>
              </a:rPr>
              <a:t> </a:t>
            </a:r>
            <a:r>
              <a:rPr sz="2700" dirty="0">
                <a:latin typeface="Times New Roman"/>
                <a:cs typeface="Times New Roman"/>
              </a:rPr>
              <a:t>any</a:t>
            </a:r>
            <a:r>
              <a:rPr sz="2700" spc="-40" dirty="0">
                <a:latin typeface="Times New Roman"/>
                <a:cs typeface="Times New Roman"/>
              </a:rPr>
              <a:t> </a:t>
            </a:r>
            <a:r>
              <a:rPr sz="2700" dirty="0">
                <a:latin typeface="Times New Roman"/>
                <a:cs typeface="Times New Roman"/>
              </a:rPr>
              <a:t>of</a:t>
            </a:r>
            <a:r>
              <a:rPr sz="2700" spc="-30" dirty="0">
                <a:latin typeface="Times New Roman"/>
                <a:cs typeface="Times New Roman"/>
              </a:rPr>
              <a:t> </a:t>
            </a:r>
            <a:r>
              <a:rPr sz="2700" dirty="0">
                <a:latin typeface="Times New Roman"/>
                <a:cs typeface="Times New Roman"/>
              </a:rPr>
              <a:t>its</a:t>
            </a:r>
            <a:r>
              <a:rPr sz="2700" spc="-40" dirty="0">
                <a:latin typeface="Times New Roman"/>
                <a:cs typeface="Times New Roman"/>
              </a:rPr>
              <a:t> </a:t>
            </a:r>
            <a:r>
              <a:rPr sz="2700" dirty="0">
                <a:latin typeface="Times New Roman"/>
                <a:cs typeface="Times New Roman"/>
              </a:rPr>
              <a:t>methods.</a:t>
            </a:r>
            <a:r>
              <a:rPr sz="2700" spc="-85" dirty="0">
                <a:latin typeface="Times New Roman"/>
                <a:cs typeface="Times New Roman"/>
              </a:rPr>
              <a:t> </a:t>
            </a:r>
            <a:endParaRPr lang="en-US" sz="2700" spc="-85" dirty="0">
              <a:latin typeface="Times New Roman"/>
              <a:cs typeface="Times New Roman"/>
            </a:endParaRPr>
          </a:p>
          <a:p>
            <a:pPr marL="355600" marR="5080" indent="-342900">
              <a:lnSpc>
                <a:spcPct val="90000"/>
              </a:lnSpc>
              <a:spcBef>
                <a:spcPts val="605"/>
              </a:spcBef>
              <a:buFont typeface="Arial"/>
              <a:buChar char="•"/>
              <a:tabLst>
                <a:tab pos="355600" algn="l"/>
              </a:tabLst>
            </a:pPr>
            <a:r>
              <a:rPr sz="2700" dirty="0">
                <a:latin typeface="Times New Roman"/>
                <a:cs typeface="Times New Roman"/>
              </a:rPr>
              <a:t>This</a:t>
            </a:r>
            <a:r>
              <a:rPr sz="2700" spc="-40" dirty="0">
                <a:latin typeface="Times New Roman"/>
                <a:cs typeface="Times New Roman"/>
              </a:rPr>
              <a:t> </a:t>
            </a:r>
            <a:r>
              <a:rPr sz="2700" dirty="0">
                <a:latin typeface="Times New Roman"/>
                <a:cs typeface="Times New Roman"/>
              </a:rPr>
              <a:t>mutual</a:t>
            </a:r>
            <a:r>
              <a:rPr sz="2700" spc="-35" dirty="0">
                <a:latin typeface="Times New Roman"/>
                <a:cs typeface="Times New Roman"/>
              </a:rPr>
              <a:t> </a:t>
            </a:r>
            <a:r>
              <a:rPr sz="2700" spc="-10" dirty="0">
                <a:latin typeface="Times New Roman"/>
                <a:cs typeface="Times New Roman"/>
              </a:rPr>
              <a:t>exclusion </a:t>
            </a:r>
            <a:r>
              <a:rPr sz="2700" dirty="0">
                <a:latin typeface="Times New Roman"/>
                <a:cs typeface="Times New Roman"/>
              </a:rPr>
              <a:t>greatly</a:t>
            </a:r>
            <a:r>
              <a:rPr sz="2700" spc="-75" dirty="0">
                <a:latin typeface="Times New Roman"/>
                <a:cs typeface="Times New Roman"/>
              </a:rPr>
              <a:t> </a:t>
            </a:r>
            <a:r>
              <a:rPr sz="2700" dirty="0">
                <a:latin typeface="Times New Roman"/>
                <a:cs typeface="Times New Roman"/>
              </a:rPr>
              <a:t>simplifies</a:t>
            </a:r>
            <a:r>
              <a:rPr sz="2700" spc="-55" dirty="0">
                <a:latin typeface="Times New Roman"/>
                <a:cs typeface="Times New Roman"/>
              </a:rPr>
              <a:t> </a:t>
            </a:r>
            <a:r>
              <a:rPr sz="2700" dirty="0">
                <a:latin typeface="Times New Roman"/>
                <a:cs typeface="Times New Roman"/>
              </a:rPr>
              <a:t>reasoning</a:t>
            </a:r>
            <a:r>
              <a:rPr sz="2700" spc="-75" dirty="0">
                <a:latin typeface="Times New Roman"/>
                <a:cs typeface="Times New Roman"/>
              </a:rPr>
              <a:t> </a:t>
            </a:r>
            <a:r>
              <a:rPr sz="2700" dirty="0">
                <a:latin typeface="Times New Roman"/>
                <a:cs typeface="Times New Roman"/>
              </a:rPr>
              <a:t>about</a:t>
            </a:r>
            <a:r>
              <a:rPr sz="2700" spc="-50" dirty="0">
                <a:latin typeface="Times New Roman"/>
                <a:cs typeface="Times New Roman"/>
              </a:rPr>
              <a:t> </a:t>
            </a:r>
            <a:r>
              <a:rPr sz="2700" dirty="0">
                <a:latin typeface="Times New Roman"/>
                <a:cs typeface="Times New Roman"/>
              </a:rPr>
              <a:t>the</a:t>
            </a:r>
            <a:r>
              <a:rPr sz="2700" spc="-55" dirty="0">
                <a:latin typeface="Times New Roman"/>
                <a:cs typeface="Times New Roman"/>
              </a:rPr>
              <a:t> </a:t>
            </a:r>
            <a:r>
              <a:rPr sz="2700" spc="-10" dirty="0">
                <a:latin typeface="Times New Roman"/>
                <a:cs typeface="Times New Roman"/>
              </a:rPr>
              <a:t>implementation </a:t>
            </a:r>
            <a:r>
              <a:rPr sz="2700" dirty="0">
                <a:latin typeface="Times New Roman"/>
                <a:cs typeface="Times New Roman"/>
              </a:rPr>
              <a:t>of</a:t>
            </a:r>
            <a:r>
              <a:rPr sz="2700" spc="-30" dirty="0">
                <a:latin typeface="Times New Roman"/>
                <a:cs typeface="Times New Roman"/>
              </a:rPr>
              <a:t> </a:t>
            </a:r>
            <a:r>
              <a:rPr sz="2700" dirty="0">
                <a:latin typeface="Times New Roman"/>
                <a:cs typeface="Times New Roman"/>
              </a:rPr>
              <a:t>monitors</a:t>
            </a:r>
            <a:r>
              <a:rPr sz="2700" spc="-20" dirty="0">
                <a:latin typeface="Times New Roman"/>
                <a:cs typeface="Times New Roman"/>
              </a:rPr>
              <a:t> </a:t>
            </a:r>
            <a:r>
              <a:rPr sz="2700" dirty="0">
                <a:latin typeface="Times New Roman"/>
                <a:cs typeface="Times New Roman"/>
              </a:rPr>
              <a:t>compared</a:t>
            </a:r>
            <a:r>
              <a:rPr sz="2700" spc="5" dirty="0">
                <a:latin typeface="Times New Roman"/>
                <a:cs typeface="Times New Roman"/>
              </a:rPr>
              <a:t> </a:t>
            </a:r>
            <a:r>
              <a:rPr sz="2700" dirty="0">
                <a:latin typeface="Times New Roman"/>
                <a:cs typeface="Times New Roman"/>
              </a:rPr>
              <a:t>to</a:t>
            </a:r>
            <a:r>
              <a:rPr sz="2700" spc="-20" dirty="0">
                <a:latin typeface="Times New Roman"/>
                <a:cs typeface="Times New Roman"/>
              </a:rPr>
              <a:t> </a:t>
            </a:r>
            <a:r>
              <a:rPr sz="2700" dirty="0">
                <a:latin typeface="Times New Roman"/>
                <a:cs typeface="Times New Roman"/>
              </a:rPr>
              <a:t>reasoning</a:t>
            </a:r>
            <a:r>
              <a:rPr sz="2700" spc="-35" dirty="0">
                <a:latin typeface="Times New Roman"/>
                <a:cs typeface="Times New Roman"/>
              </a:rPr>
              <a:t> </a:t>
            </a:r>
            <a:r>
              <a:rPr sz="2700" dirty="0">
                <a:latin typeface="Times New Roman"/>
                <a:cs typeface="Times New Roman"/>
              </a:rPr>
              <a:t>about</a:t>
            </a:r>
            <a:r>
              <a:rPr sz="2700" spc="-10" dirty="0">
                <a:latin typeface="Times New Roman"/>
                <a:cs typeface="Times New Roman"/>
              </a:rPr>
              <a:t> </a:t>
            </a:r>
            <a:r>
              <a:rPr sz="2700" dirty="0">
                <a:latin typeface="Times New Roman"/>
                <a:cs typeface="Times New Roman"/>
              </a:rPr>
              <a:t>parallel</a:t>
            </a:r>
            <a:r>
              <a:rPr sz="2700" spc="-20" dirty="0">
                <a:latin typeface="Times New Roman"/>
                <a:cs typeface="Times New Roman"/>
              </a:rPr>
              <a:t> code </a:t>
            </a:r>
            <a:r>
              <a:rPr sz="2700" dirty="0">
                <a:latin typeface="Times New Roman"/>
                <a:cs typeface="Times New Roman"/>
              </a:rPr>
              <a:t>that</a:t>
            </a:r>
            <a:r>
              <a:rPr sz="2700" spc="-55" dirty="0">
                <a:latin typeface="Times New Roman"/>
                <a:cs typeface="Times New Roman"/>
              </a:rPr>
              <a:t> </a:t>
            </a:r>
            <a:r>
              <a:rPr sz="2700" dirty="0">
                <a:latin typeface="Times New Roman"/>
                <a:cs typeface="Times New Roman"/>
              </a:rPr>
              <a:t>updates</a:t>
            </a:r>
            <a:r>
              <a:rPr sz="2700" spc="-50" dirty="0">
                <a:latin typeface="Times New Roman"/>
                <a:cs typeface="Times New Roman"/>
              </a:rPr>
              <a:t> </a:t>
            </a:r>
            <a:r>
              <a:rPr sz="2700" dirty="0">
                <a:latin typeface="Times New Roman"/>
                <a:cs typeface="Times New Roman"/>
              </a:rPr>
              <a:t>a</a:t>
            </a:r>
            <a:r>
              <a:rPr sz="2700" spc="-25" dirty="0">
                <a:latin typeface="Times New Roman"/>
                <a:cs typeface="Times New Roman"/>
              </a:rPr>
              <a:t> </a:t>
            </a:r>
            <a:r>
              <a:rPr sz="2700" dirty="0">
                <a:latin typeface="Times New Roman"/>
                <a:cs typeface="Times New Roman"/>
              </a:rPr>
              <a:t>data</a:t>
            </a:r>
            <a:r>
              <a:rPr sz="2700" spc="-45" dirty="0">
                <a:latin typeface="Times New Roman"/>
                <a:cs typeface="Times New Roman"/>
              </a:rPr>
              <a:t> </a:t>
            </a:r>
            <a:r>
              <a:rPr sz="2700" spc="-10" dirty="0">
                <a:latin typeface="Times New Roman"/>
                <a:cs typeface="Times New Roman"/>
              </a:rPr>
              <a:t>structure.</a:t>
            </a:r>
            <a:endParaRPr sz="2700" dirty="0">
              <a:latin typeface="Times New Roman"/>
              <a:cs typeface="Times New Roman"/>
            </a:endParaRPr>
          </a:p>
        </p:txBody>
      </p:sp>
    </p:spTree>
  </p:cSld>
  <p:clrMapOvr>
    <a:masterClrMapping/>
  </p:clrMapOvr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13335" rIns="0" bIns="0" rtlCol="0">
            <a:spAutoFit/>
          </a:bodyPr>
          <a:lstStyle/>
          <a:p>
            <a:pPr marL="12700" algn="ctr" rtl="0">
              <a:spcBef>
                <a:spcPts val="105"/>
              </a:spcBef>
            </a:pPr>
            <a:r>
              <a:rPr sz="3200" b="1" dirty="0">
                <a:solidFill>
                  <a:sysClr val="windowText" lastClr="000000"/>
                </a:solidFill>
                <a:latin typeface="+mj-lt"/>
                <a:cs typeface="+mj-cs"/>
              </a:rPr>
              <a:t>The Syntax of Monitors</a:t>
            </a:r>
          </a:p>
        </p:txBody>
      </p:sp>
      <p:sp>
        <p:nvSpPr>
          <p:cNvPr id="4" name="object 4"/>
          <p:cNvSpPr txBox="1">
            <a:spLocks noGrp="1"/>
          </p:cNvSpPr>
          <p:nvPr>
            <p:ph type="ftr" sz="quarter" idx="5"/>
          </p:nvPr>
        </p:nvSpPr>
        <p:spPr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12700">
              <a:lnSpc>
                <a:spcPts val="1240"/>
              </a:lnSpc>
            </a:pPr>
            <a:r>
              <a:rPr lang="pl-PL"/>
              <a:t>By Dr. Binod Kr. Adhikari</a:t>
            </a:r>
            <a:endParaRPr spc="-10" dirty="0"/>
          </a:p>
        </p:txBody>
      </p:sp>
      <p:sp>
        <p:nvSpPr>
          <p:cNvPr id="3" name="object 3"/>
          <p:cNvSpPr txBox="1"/>
          <p:nvPr/>
        </p:nvSpPr>
        <p:spPr>
          <a:xfrm>
            <a:off x="535940" y="1539062"/>
            <a:ext cx="4292600" cy="414147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2700" dirty="0">
                <a:latin typeface="Times New Roman"/>
                <a:cs typeface="Times New Roman"/>
              </a:rPr>
              <a:t>Monitor</a:t>
            </a:r>
            <a:r>
              <a:rPr sz="2700" spc="-45" dirty="0">
                <a:latin typeface="Times New Roman"/>
                <a:cs typeface="Times New Roman"/>
              </a:rPr>
              <a:t> </a:t>
            </a:r>
            <a:r>
              <a:rPr sz="2700" spc="-10" dirty="0">
                <a:latin typeface="Times New Roman"/>
                <a:cs typeface="Times New Roman"/>
              </a:rPr>
              <a:t>monitor_name</a:t>
            </a:r>
            <a:endParaRPr sz="2700">
              <a:latin typeface="Times New Roman"/>
              <a:cs typeface="Times New Roman"/>
            </a:endParaRPr>
          </a:p>
          <a:p>
            <a:pPr marL="12700">
              <a:lnSpc>
                <a:spcPct val="100000"/>
              </a:lnSpc>
            </a:pPr>
            <a:r>
              <a:rPr sz="2700" spc="-50" dirty="0">
                <a:latin typeface="Times New Roman"/>
                <a:cs typeface="Times New Roman"/>
              </a:rPr>
              <a:t>{</a:t>
            </a:r>
            <a:endParaRPr sz="2700">
              <a:latin typeface="Times New Roman"/>
              <a:cs typeface="Times New Roman"/>
            </a:endParaRPr>
          </a:p>
          <a:p>
            <a:pPr marL="355600" marR="5080">
              <a:lnSpc>
                <a:spcPct val="100000"/>
              </a:lnSpc>
            </a:pPr>
            <a:r>
              <a:rPr sz="2700" dirty="0">
                <a:latin typeface="Times New Roman"/>
                <a:cs typeface="Times New Roman"/>
              </a:rPr>
              <a:t>shared</a:t>
            </a:r>
            <a:r>
              <a:rPr sz="2700" spc="-85" dirty="0">
                <a:latin typeface="Times New Roman"/>
                <a:cs typeface="Times New Roman"/>
              </a:rPr>
              <a:t> </a:t>
            </a:r>
            <a:r>
              <a:rPr sz="2700" dirty="0">
                <a:latin typeface="Times New Roman"/>
                <a:cs typeface="Times New Roman"/>
              </a:rPr>
              <a:t>variable</a:t>
            </a:r>
            <a:r>
              <a:rPr sz="2700" spc="-80" dirty="0">
                <a:latin typeface="Times New Roman"/>
                <a:cs typeface="Times New Roman"/>
              </a:rPr>
              <a:t> </a:t>
            </a:r>
            <a:r>
              <a:rPr sz="2700" spc="-10" dirty="0">
                <a:latin typeface="Times New Roman"/>
                <a:cs typeface="Times New Roman"/>
              </a:rPr>
              <a:t>declarations; </a:t>
            </a:r>
            <a:r>
              <a:rPr sz="2700" dirty="0">
                <a:latin typeface="Times New Roman"/>
                <a:cs typeface="Times New Roman"/>
              </a:rPr>
              <a:t>procedure</a:t>
            </a:r>
            <a:r>
              <a:rPr sz="2700" spc="-60" dirty="0">
                <a:latin typeface="Times New Roman"/>
                <a:cs typeface="Times New Roman"/>
              </a:rPr>
              <a:t> </a:t>
            </a:r>
            <a:r>
              <a:rPr sz="2700" dirty="0">
                <a:latin typeface="Times New Roman"/>
                <a:cs typeface="Times New Roman"/>
              </a:rPr>
              <a:t>p1(){</a:t>
            </a:r>
            <a:r>
              <a:rPr sz="2700" spc="-25" dirty="0">
                <a:latin typeface="Times New Roman"/>
                <a:cs typeface="Times New Roman"/>
              </a:rPr>
              <a:t> </a:t>
            </a:r>
            <a:r>
              <a:rPr sz="2700" dirty="0">
                <a:latin typeface="Times New Roman"/>
                <a:cs typeface="Times New Roman"/>
              </a:rPr>
              <a:t>.....</a:t>
            </a:r>
            <a:r>
              <a:rPr sz="2700" spc="-20" dirty="0">
                <a:latin typeface="Times New Roman"/>
                <a:cs typeface="Times New Roman"/>
              </a:rPr>
              <a:t> </a:t>
            </a:r>
            <a:r>
              <a:rPr sz="2700" spc="-50" dirty="0">
                <a:latin typeface="Times New Roman"/>
                <a:cs typeface="Times New Roman"/>
              </a:rPr>
              <a:t>}</a:t>
            </a:r>
            <a:endParaRPr sz="2700">
              <a:latin typeface="Times New Roman"/>
              <a:cs typeface="Times New Roman"/>
            </a:endParaRPr>
          </a:p>
          <a:p>
            <a:pPr marL="355600">
              <a:lnSpc>
                <a:spcPct val="100000"/>
              </a:lnSpc>
              <a:spcBef>
                <a:spcPts val="5"/>
              </a:spcBef>
            </a:pPr>
            <a:r>
              <a:rPr sz="2700" dirty="0">
                <a:latin typeface="Times New Roman"/>
                <a:cs typeface="Times New Roman"/>
              </a:rPr>
              <a:t>procedure</a:t>
            </a:r>
            <a:r>
              <a:rPr sz="2700" spc="-80" dirty="0">
                <a:latin typeface="Times New Roman"/>
                <a:cs typeface="Times New Roman"/>
              </a:rPr>
              <a:t> </a:t>
            </a:r>
            <a:r>
              <a:rPr sz="2700" dirty="0">
                <a:latin typeface="Times New Roman"/>
                <a:cs typeface="Times New Roman"/>
              </a:rPr>
              <a:t>p2(){</a:t>
            </a:r>
            <a:r>
              <a:rPr sz="2700" spc="-45" dirty="0">
                <a:latin typeface="Times New Roman"/>
                <a:cs typeface="Times New Roman"/>
              </a:rPr>
              <a:t> </a:t>
            </a:r>
            <a:r>
              <a:rPr sz="2700" dirty="0">
                <a:latin typeface="Times New Roman"/>
                <a:cs typeface="Times New Roman"/>
              </a:rPr>
              <a:t>....</a:t>
            </a:r>
            <a:r>
              <a:rPr sz="2700" spc="-45" dirty="0">
                <a:latin typeface="Times New Roman"/>
                <a:cs typeface="Times New Roman"/>
              </a:rPr>
              <a:t> </a:t>
            </a:r>
            <a:r>
              <a:rPr sz="2700" spc="-50" dirty="0">
                <a:latin typeface="Times New Roman"/>
                <a:cs typeface="Times New Roman"/>
              </a:rPr>
              <a:t>}</a:t>
            </a:r>
            <a:endParaRPr sz="2700">
              <a:latin typeface="Times New Roman"/>
              <a:cs typeface="Times New Roman"/>
            </a:endParaRPr>
          </a:p>
          <a:p>
            <a:pPr marL="355600">
              <a:lnSpc>
                <a:spcPct val="100000"/>
              </a:lnSpc>
            </a:pPr>
            <a:r>
              <a:rPr sz="2700" dirty="0">
                <a:latin typeface="Times New Roman"/>
                <a:cs typeface="Times New Roman"/>
              </a:rPr>
              <a:t>....</a:t>
            </a:r>
            <a:r>
              <a:rPr sz="2700" spc="-25" dirty="0">
                <a:latin typeface="Times New Roman"/>
                <a:cs typeface="Times New Roman"/>
              </a:rPr>
              <a:t> </a:t>
            </a:r>
            <a:r>
              <a:rPr sz="2700" spc="-50" dirty="0">
                <a:latin typeface="Times New Roman"/>
                <a:cs typeface="Times New Roman"/>
              </a:rPr>
              <a:t>.</a:t>
            </a:r>
            <a:endParaRPr sz="2700">
              <a:latin typeface="Times New Roman"/>
              <a:cs typeface="Times New Roman"/>
            </a:endParaRPr>
          </a:p>
          <a:p>
            <a:pPr marL="355600">
              <a:lnSpc>
                <a:spcPct val="100000"/>
              </a:lnSpc>
            </a:pPr>
            <a:r>
              <a:rPr sz="2700" dirty="0">
                <a:latin typeface="Times New Roman"/>
                <a:cs typeface="Times New Roman"/>
              </a:rPr>
              <a:t>procedure</a:t>
            </a:r>
            <a:r>
              <a:rPr sz="2700" spc="-60" dirty="0">
                <a:latin typeface="Times New Roman"/>
                <a:cs typeface="Times New Roman"/>
              </a:rPr>
              <a:t> </a:t>
            </a:r>
            <a:r>
              <a:rPr sz="2700" dirty="0">
                <a:latin typeface="Times New Roman"/>
                <a:cs typeface="Times New Roman"/>
              </a:rPr>
              <a:t>pn(){</a:t>
            </a:r>
            <a:r>
              <a:rPr sz="2700" spc="-20" dirty="0">
                <a:latin typeface="Times New Roman"/>
                <a:cs typeface="Times New Roman"/>
              </a:rPr>
              <a:t> ...}</a:t>
            </a:r>
            <a:endParaRPr sz="2700">
              <a:latin typeface="Times New Roman"/>
              <a:cs typeface="Times New Roman"/>
            </a:endParaRPr>
          </a:p>
          <a:p>
            <a:pPr>
              <a:lnSpc>
                <a:spcPct val="100000"/>
              </a:lnSpc>
              <a:spcBef>
                <a:spcPts val="135"/>
              </a:spcBef>
            </a:pPr>
            <a:endParaRPr sz="2700">
              <a:latin typeface="Times New Roman"/>
              <a:cs typeface="Times New Roman"/>
            </a:endParaRPr>
          </a:p>
          <a:p>
            <a:pPr marL="355600">
              <a:lnSpc>
                <a:spcPct val="100000"/>
              </a:lnSpc>
            </a:pPr>
            <a:r>
              <a:rPr sz="2700" dirty="0">
                <a:latin typeface="Times New Roman"/>
                <a:cs typeface="Times New Roman"/>
              </a:rPr>
              <a:t>{initialization</a:t>
            </a:r>
            <a:r>
              <a:rPr sz="2700" spc="-165" dirty="0">
                <a:latin typeface="Times New Roman"/>
                <a:cs typeface="Times New Roman"/>
              </a:rPr>
              <a:t> </a:t>
            </a:r>
            <a:r>
              <a:rPr sz="2700" spc="-10" dirty="0">
                <a:latin typeface="Times New Roman"/>
                <a:cs typeface="Times New Roman"/>
              </a:rPr>
              <a:t>code;}</a:t>
            </a:r>
            <a:endParaRPr sz="2700">
              <a:latin typeface="Times New Roman"/>
              <a:cs typeface="Times New Roman"/>
            </a:endParaRPr>
          </a:p>
          <a:p>
            <a:pPr marL="12700">
              <a:lnSpc>
                <a:spcPct val="100000"/>
              </a:lnSpc>
              <a:spcBef>
                <a:spcPts val="5"/>
              </a:spcBef>
            </a:pPr>
            <a:r>
              <a:rPr sz="2700" spc="-50" dirty="0">
                <a:latin typeface="Times New Roman"/>
                <a:cs typeface="Times New Roman"/>
              </a:rPr>
              <a:t>}</a:t>
            </a:r>
            <a:endParaRPr sz="2700">
              <a:latin typeface="Times New Roman"/>
              <a:cs typeface="Times New Roman"/>
            </a:endParaRPr>
          </a:p>
        </p:txBody>
      </p:sp>
    </p:spTree>
  </p:cSld>
  <p:clrMapOvr>
    <a:masterClrMapping/>
  </p:clrMapOvr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13335" rIns="0" bIns="0" rtlCol="0">
            <a:spAutoFit/>
          </a:bodyPr>
          <a:lstStyle/>
          <a:p>
            <a:pPr marL="12700" algn="ctr" rtl="0">
              <a:spcBef>
                <a:spcPts val="105"/>
              </a:spcBef>
            </a:pPr>
            <a:r>
              <a:rPr sz="3200" b="1" dirty="0">
                <a:solidFill>
                  <a:sysClr val="windowText" lastClr="000000"/>
                </a:solidFill>
                <a:latin typeface="+mj-lt"/>
                <a:cs typeface="+mj-cs"/>
              </a:rPr>
              <a:t>Homework 3</a:t>
            </a:r>
          </a:p>
        </p:txBody>
      </p:sp>
      <p:sp>
        <p:nvSpPr>
          <p:cNvPr id="4" name="object 4"/>
          <p:cNvSpPr txBox="1">
            <a:spLocks noGrp="1"/>
          </p:cNvSpPr>
          <p:nvPr>
            <p:ph type="ftr" sz="quarter" idx="5"/>
          </p:nvPr>
        </p:nvSpPr>
        <p:spPr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12700">
              <a:lnSpc>
                <a:spcPts val="1240"/>
              </a:lnSpc>
            </a:pPr>
            <a:r>
              <a:rPr lang="pl-PL"/>
              <a:t>By Dr. Binod Kr. Adhikari</a:t>
            </a:r>
            <a:endParaRPr spc="-10" dirty="0"/>
          </a:p>
        </p:txBody>
      </p:sp>
      <p:sp>
        <p:nvSpPr>
          <p:cNvPr id="3" name="object 3"/>
          <p:cNvSpPr txBox="1"/>
          <p:nvPr/>
        </p:nvSpPr>
        <p:spPr>
          <a:xfrm>
            <a:off x="535940" y="1295400"/>
            <a:ext cx="8072755" cy="4415790"/>
          </a:xfrm>
          <a:prstGeom prst="rect">
            <a:avLst/>
          </a:prstGeom>
        </p:spPr>
        <p:txBody>
          <a:bodyPr vert="horz" wrap="square" lIns="0" tIns="110490" rIns="0" bIns="0" rtlCol="0">
            <a:spAutoFit/>
          </a:bodyPr>
          <a:lstStyle/>
          <a:p>
            <a:pPr marL="354965" indent="-342265">
              <a:lnSpc>
                <a:spcPct val="100000"/>
              </a:lnSpc>
              <a:spcBef>
                <a:spcPts val="870"/>
              </a:spcBef>
              <a:buFont typeface="Arial"/>
              <a:buChar char="•"/>
              <a:tabLst>
                <a:tab pos="354965" algn="l"/>
              </a:tabLst>
            </a:pPr>
            <a:r>
              <a:rPr sz="3200" dirty="0">
                <a:latin typeface="Times New Roman"/>
                <a:cs typeface="Times New Roman"/>
              </a:rPr>
              <a:t>Discuss</a:t>
            </a:r>
            <a:r>
              <a:rPr sz="3200" spc="-35" dirty="0">
                <a:latin typeface="Times New Roman"/>
                <a:cs typeface="Times New Roman"/>
              </a:rPr>
              <a:t> </a:t>
            </a:r>
            <a:r>
              <a:rPr sz="3200" dirty="0">
                <a:latin typeface="Times New Roman"/>
                <a:cs typeface="Times New Roman"/>
              </a:rPr>
              <a:t>intercrosses</a:t>
            </a:r>
            <a:r>
              <a:rPr sz="3200" spc="-40" dirty="0">
                <a:latin typeface="Times New Roman"/>
                <a:cs typeface="Times New Roman"/>
              </a:rPr>
              <a:t> </a:t>
            </a:r>
            <a:r>
              <a:rPr sz="3200" dirty="0">
                <a:latin typeface="Times New Roman"/>
                <a:cs typeface="Times New Roman"/>
              </a:rPr>
              <a:t>communication</a:t>
            </a:r>
            <a:r>
              <a:rPr sz="3200" spc="-70" dirty="0">
                <a:latin typeface="Times New Roman"/>
                <a:cs typeface="Times New Roman"/>
              </a:rPr>
              <a:t> </a:t>
            </a:r>
            <a:r>
              <a:rPr sz="3200" dirty="0">
                <a:latin typeface="Times New Roman"/>
                <a:cs typeface="Times New Roman"/>
              </a:rPr>
              <a:t>in</a:t>
            </a:r>
            <a:r>
              <a:rPr sz="3200" spc="-25" dirty="0">
                <a:latin typeface="Times New Roman"/>
                <a:cs typeface="Times New Roman"/>
              </a:rPr>
              <a:t> </a:t>
            </a:r>
            <a:r>
              <a:rPr sz="3200" spc="-10" dirty="0">
                <a:latin typeface="Times New Roman"/>
                <a:cs typeface="Times New Roman"/>
              </a:rPr>
              <a:t>details</a:t>
            </a:r>
            <a:endParaRPr sz="3200" dirty="0">
              <a:latin typeface="Times New Roman"/>
              <a:cs typeface="Times New Roman"/>
            </a:endParaRPr>
          </a:p>
          <a:p>
            <a:pPr marL="355600" marR="5080" indent="-342900">
              <a:lnSpc>
                <a:spcPct val="100000"/>
              </a:lnSpc>
              <a:spcBef>
                <a:spcPts val="765"/>
              </a:spcBef>
              <a:buFont typeface="Arial"/>
              <a:buChar char="•"/>
              <a:tabLst>
                <a:tab pos="355600" algn="l"/>
                <a:tab pos="1471295" algn="l"/>
                <a:tab pos="1974214" algn="l"/>
                <a:tab pos="3336925" algn="l"/>
                <a:tab pos="4722495" algn="l"/>
                <a:tab pos="5543550" algn="l"/>
                <a:tab pos="6906895" algn="l"/>
              </a:tabLst>
            </a:pPr>
            <a:r>
              <a:rPr sz="3200" spc="-20" dirty="0">
                <a:latin typeface="Times New Roman"/>
                <a:cs typeface="Times New Roman"/>
              </a:rPr>
              <a:t>What</a:t>
            </a:r>
            <a:r>
              <a:rPr sz="3200" dirty="0">
                <a:latin typeface="Times New Roman"/>
                <a:cs typeface="Times New Roman"/>
              </a:rPr>
              <a:t>	</a:t>
            </a:r>
            <a:r>
              <a:rPr sz="3200" spc="-25" dirty="0">
                <a:latin typeface="Times New Roman"/>
                <a:cs typeface="Times New Roman"/>
              </a:rPr>
              <a:t>is</a:t>
            </a:r>
            <a:r>
              <a:rPr sz="3200" dirty="0">
                <a:latin typeface="Times New Roman"/>
                <a:cs typeface="Times New Roman"/>
              </a:rPr>
              <a:t>	</a:t>
            </a:r>
            <a:r>
              <a:rPr sz="3200" spc="-10" dirty="0">
                <a:latin typeface="Times New Roman"/>
                <a:cs typeface="Times New Roman"/>
              </a:rPr>
              <a:t>critical</a:t>
            </a:r>
            <a:r>
              <a:rPr sz="3200" dirty="0">
                <a:latin typeface="Times New Roman"/>
                <a:cs typeface="Times New Roman"/>
              </a:rPr>
              <a:t>	</a:t>
            </a:r>
            <a:r>
              <a:rPr sz="3200" spc="-10" dirty="0">
                <a:latin typeface="Times New Roman"/>
                <a:cs typeface="Times New Roman"/>
              </a:rPr>
              <a:t>section</a:t>
            </a:r>
            <a:r>
              <a:rPr sz="3200" dirty="0">
                <a:latin typeface="Times New Roman"/>
                <a:cs typeface="Times New Roman"/>
              </a:rPr>
              <a:t>	</a:t>
            </a:r>
            <a:r>
              <a:rPr sz="3200" spc="-25" dirty="0">
                <a:latin typeface="Times New Roman"/>
                <a:cs typeface="Times New Roman"/>
              </a:rPr>
              <a:t>and</a:t>
            </a:r>
            <a:r>
              <a:rPr sz="3200" dirty="0">
                <a:latin typeface="Times New Roman"/>
                <a:cs typeface="Times New Roman"/>
              </a:rPr>
              <a:t>	</a:t>
            </a:r>
            <a:r>
              <a:rPr sz="3200" spc="-10" dirty="0">
                <a:latin typeface="Times New Roman"/>
                <a:cs typeface="Times New Roman"/>
              </a:rPr>
              <a:t>critical</a:t>
            </a:r>
            <a:r>
              <a:rPr sz="3200" dirty="0">
                <a:latin typeface="Times New Roman"/>
                <a:cs typeface="Times New Roman"/>
              </a:rPr>
              <a:t>	</a:t>
            </a:r>
            <a:r>
              <a:rPr sz="3200" spc="-10" dirty="0">
                <a:latin typeface="Times New Roman"/>
                <a:cs typeface="Times New Roman"/>
              </a:rPr>
              <a:t>section problem?</a:t>
            </a:r>
            <a:endParaRPr sz="3200" dirty="0">
              <a:latin typeface="Times New Roman"/>
              <a:cs typeface="Times New Roman"/>
            </a:endParaRPr>
          </a:p>
          <a:p>
            <a:pPr marL="354965" indent="-342265">
              <a:lnSpc>
                <a:spcPct val="100000"/>
              </a:lnSpc>
              <a:spcBef>
                <a:spcPts val="770"/>
              </a:spcBef>
              <a:buFont typeface="Arial"/>
              <a:buChar char="•"/>
              <a:tabLst>
                <a:tab pos="354965" algn="l"/>
              </a:tabLst>
            </a:pPr>
            <a:r>
              <a:rPr sz="3200" dirty="0">
                <a:latin typeface="Times New Roman"/>
                <a:cs typeface="Times New Roman"/>
              </a:rPr>
              <a:t>What</a:t>
            </a:r>
            <a:r>
              <a:rPr sz="3200" spc="-95" dirty="0">
                <a:latin typeface="Times New Roman"/>
                <a:cs typeface="Times New Roman"/>
              </a:rPr>
              <a:t> </a:t>
            </a:r>
            <a:r>
              <a:rPr sz="3200" dirty="0">
                <a:latin typeface="Times New Roman"/>
                <a:cs typeface="Times New Roman"/>
              </a:rPr>
              <a:t>are</a:t>
            </a:r>
            <a:r>
              <a:rPr sz="3200" spc="-70" dirty="0">
                <a:latin typeface="Times New Roman"/>
                <a:cs typeface="Times New Roman"/>
              </a:rPr>
              <a:t> </a:t>
            </a:r>
            <a:r>
              <a:rPr sz="3200" dirty="0">
                <a:latin typeface="Times New Roman"/>
                <a:cs typeface="Times New Roman"/>
              </a:rPr>
              <a:t>semaphores?</a:t>
            </a:r>
            <a:r>
              <a:rPr sz="3200" spc="-105" dirty="0">
                <a:latin typeface="Times New Roman"/>
                <a:cs typeface="Times New Roman"/>
              </a:rPr>
              <a:t> </a:t>
            </a:r>
            <a:r>
              <a:rPr sz="3200" spc="-10" dirty="0">
                <a:latin typeface="Times New Roman"/>
                <a:cs typeface="Times New Roman"/>
              </a:rPr>
              <a:t>Explain.</a:t>
            </a:r>
            <a:endParaRPr sz="3200" dirty="0">
              <a:latin typeface="Times New Roman"/>
              <a:cs typeface="Times New Roman"/>
            </a:endParaRPr>
          </a:p>
          <a:p>
            <a:pPr marL="354965" indent="-342265">
              <a:lnSpc>
                <a:spcPct val="100000"/>
              </a:lnSpc>
              <a:spcBef>
                <a:spcPts val="770"/>
              </a:spcBef>
              <a:buFont typeface="Arial"/>
              <a:buChar char="•"/>
              <a:tabLst>
                <a:tab pos="354965" algn="l"/>
              </a:tabLst>
            </a:pPr>
            <a:r>
              <a:rPr sz="3200" dirty="0">
                <a:latin typeface="Times New Roman"/>
                <a:cs typeface="Times New Roman"/>
              </a:rPr>
              <a:t>What</a:t>
            </a:r>
            <a:r>
              <a:rPr sz="3200" spc="-50" dirty="0">
                <a:latin typeface="Times New Roman"/>
                <a:cs typeface="Times New Roman"/>
              </a:rPr>
              <a:t> </a:t>
            </a:r>
            <a:r>
              <a:rPr sz="3200" dirty="0">
                <a:latin typeface="Times New Roman"/>
                <a:cs typeface="Times New Roman"/>
              </a:rPr>
              <a:t>are</a:t>
            </a:r>
            <a:r>
              <a:rPr sz="3200" spc="-30" dirty="0">
                <a:latin typeface="Times New Roman"/>
                <a:cs typeface="Times New Roman"/>
              </a:rPr>
              <a:t> </a:t>
            </a:r>
            <a:r>
              <a:rPr sz="3200" dirty="0">
                <a:latin typeface="Times New Roman"/>
                <a:cs typeface="Times New Roman"/>
              </a:rPr>
              <a:t>monitors?</a:t>
            </a:r>
            <a:r>
              <a:rPr sz="3200" spc="-60" dirty="0">
                <a:latin typeface="Times New Roman"/>
                <a:cs typeface="Times New Roman"/>
              </a:rPr>
              <a:t> </a:t>
            </a:r>
            <a:r>
              <a:rPr sz="3200" spc="-10" dirty="0">
                <a:latin typeface="Times New Roman"/>
                <a:cs typeface="Times New Roman"/>
              </a:rPr>
              <a:t>Explains</a:t>
            </a:r>
            <a:endParaRPr sz="3200" dirty="0">
              <a:latin typeface="Times New Roman"/>
              <a:cs typeface="Times New Roman"/>
            </a:endParaRPr>
          </a:p>
          <a:p>
            <a:pPr marL="355600" marR="5080" indent="-342900" algn="just">
              <a:lnSpc>
                <a:spcPct val="100000"/>
              </a:lnSpc>
              <a:spcBef>
                <a:spcPts val="770"/>
              </a:spcBef>
              <a:buFont typeface="Arial"/>
              <a:buChar char="•"/>
              <a:tabLst>
                <a:tab pos="355600" algn="l"/>
              </a:tabLst>
            </a:pPr>
            <a:r>
              <a:rPr sz="3200" dirty="0">
                <a:latin typeface="Times New Roman"/>
                <a:cs typeface="Times New Roman"/>
              </a:rPr>
              <a:t>Show</a:t>
            </a:r>
            <a:r>
              <a:rPr sz="3200" spc="60" dirty="0">
                <a:latin typeface="Times New Roman"/>
                <a:cs typeface="Times New Roman"/>
              </a:rPr>
              <a:t> </a:t>
            </a:r>
            <a:r>
              <a:rPr sz="3200" dirty="0">
                <a:latin typeface="Times New Roman"/>
                <a:cs typeface="Times New Roman"/>
              </a:rPr>
              <a:t>the</a:t>
            </a:r>
            <a:r>
              <a:rPr sz="3200" spc="65" dirty="0">
                <a:latin typeface="Times New Roman"/>
                <a:cs typeface="Times New Roman"/>
              </a:rPr>
              <a:t> </a:t>
            </a:r>
            <a:r>
              <a:rPr sz="3200" dirty="0">
                <a:latin typeface="Times New Roman"/>
                <a:cs typeface="Times New Roman"/>
              </a:rPr>
              <a:t>Peterson's</a:t>
            </a:r>
            <a:r>
              <a:rPr sz="3200" spc="65" dirty="0">
                <a:latin typeface="Times New Roman"/>
                <a:cs typeface="Times New Roman"/>
              </a:rPr>
              <a:t> </a:t>
            </a:r>
            <a:r>
              <a:rPr sz="3200" dirty="0">
                <a:latin typeface="Times New Roman"/>
                <a:cs typeface="Times New Roman"/>
              </a:rPr>
              <a:t>algorithm</a:t>
            </a:r>
            <a:r>
              <a:rPr sz="3200" spc="60" dirty="0">
                <a:latin typeface="Times New Roman"/>
                <a:cs typeface="Times New Roman"/>
              </a:rPr>
              <a:t> </a:t>
            </a:r>
            <a:r>
              <a:rPr sz="3200" dirty="0">
                <a:latin typeface="Times New Roman"/>
                <a:cs typeface="Times New Roman"/>
              </a:rPr>
              <a:t>preserve</a:t>
            </a:r>
            <a:r>
              <a:rPr sz="3200" spc="55" dirty="0">
                <a:latin typeface="Times New Roman"/>
                <a:cs typeface="Times New Roman"/>
              </a:rPr>
              <a:t> </a:t>
            </a:r>
            <a:r>
              <a:rPr sz="3200" spc="-10" dirty="0">
                <a:latin typeface="Times New Roman"/>
                <a:cs typeface="Times New Roman"/>
              </a:rPr>
              <a:t>mutual </a:t>
            </a:r>
            <a:r>
              <a:rPr sz="3200" dirty="0">
                <a:latin typeface="Times New Roman"/>
                <a:cs typeface="Times New Roman"/>
              </a:rPr>
              <a:t>exclusion,</a:t>
            </a:r>
            <a:r>
              <a:rPr sz="3200" spc="605" dirty="0">
                <a:latin typeface="Times New Roman"/>
                <a:cs typeface="Times New Roman"/>
              </a:rPr>
              <a:t>   </a:t>
            </a:r>
            <a:r>
              <a:rPr sz="3200" dirty="0">
                <a:latin typeface="Times New Roman"/>
                <a:cs typeface="Times New Roman"/>
              </a:rPr>
              <a:t>indefinite</a:t>
            </a:r>
            <a:r>
              <a:rPr sz="3200" spc="605" dirty="0">
                <a:latin typeface="Times New Roman"/>
                <a:cs typeface="Times New Roman"/>
              </a:rPr>
              <a:t>   </a:t>
            </a:r>
            <a:r>
              <a:rPr sz="3200" dirty="0">
                <a:latin typeface="Times New Roman"/>
                <a:cs typeface="Times New Roman"/>
              </a:rPr>
              <a:t>postponement</a:t>
            </a:r>
            <a:r>
              <a:rPr sz="3200" spc="605" dirty="0">
                <a:latin typeface="Times New Roman"/>
                <a:cs typeface="Times New Roman"/>
              </a:rPr>
              <a:t>   </a:t>
            </a:r>
            <a:r>
              <a:rPr sz="3200" spc="-25" dirty="0">
                <a:latin typeface="Times New Roman"/>
                <a:cs typeface="Times New Roman"/>
              </a:rPr>
              <a:t>and </a:t>
            </a:r>
            <a:r>
              <a:rPr sz="3200" dirty="0">
                <a:latin typeface="Times New Roman"/>
                <a:cs typeface="Times New Roman"/>
              </a:rPr>
              <a:t>progress</a:t>
            </a:r>
            <a:r>
              <a:rPr sz="3200" spc="-55" dirty="0">
                <a:latin typeface="Times New Roman"/>
                <a:cs typeface="Times New Roman"/>
              </a:rPr>
              <a:t> </a:t>
            </a:r>
            <a:r>
              <a:rPr sz="3200" spc="-10" dirty="0">
                <a:latin typeface="Times New Roman"/>
                <a:cs typeface="Times New Roman"/>
              </a:rPr>
              <a:t>(deadlock)</a:t>
            </a:r>
            <a:endParaRPr sz="3200" dirty="0">
              <a:latin typeface="Times New Roman"/>
              <a:cs typeface="Times New Roman"/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Theme1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Theme1" id="{62ED3D57-7CB9-4B79-9B8C-3BA51CAF23E1}" vid="{EA3A27B3-C107-4B35-93FF-A1803CF2777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Theme1</Template>
  <TotalTime>11945</TotalTime>
  <Words>4681</Words>
  <Application>Microsoft Office PowerPoint</Application>
  <PresentationFormat>On-screen Show (4:3)</PresentationFormat>
  <Paragraphs>487</Paragraphs>
  <Slides>62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62</vt:i4>
      </vt:variant>
    </vt:vector>
  </HeadingPairs>
  <TitlesOfParts>
    <vt:vector size="66" baseType="lpstr">
      <vt:lpstr>Arial</vt:lpstr>
      <vt:lpstr>Calibri</vt:lpstr>
      <vt:lpstr>Times New Roman</vt:lpstr>
      <vt:lpstr>Theme1</vt:lpstr>
      <vt:lpstr>Unit 1.1 Process Management</vt:lpstr>
      <vt:lpstr>Objectives</vt:lpstr>
      <vt:lpstr>Process Concept</vt:lpstr>
      <vt:lpstr>Process Model</vt:lpstr>
      <vt:lpstr>Uni-programming Model</vt:lpstr>
      <vt:lpstr>Multiprogramming Mode</vt:lpstr>
      <vt:lpstr>Multiprocessing Model</vt:lpstr>
      <vt:lpstr>Process States diagram</vt:lpstr>
      <vt:lpstr>Process States</vt:lpstr>
      <vt:lpstr>Process Control Block</vt:lpstr>
      <vt:lpstr>PCB</vt:lpstr>
      <vt:lpstr>Operation on process</vt:lpstr>
      <vt:lpstr>Process Creation</vt:lpstr>
      <vt:lpstr>Process Termination</vt:lpstr>
      <vt:lpstr>Process Scheduling</vt:lpstr>
      <vt:lpstr>Context Switch</vt:lpstr>
      <vt:lpstr>Thread</vt:lpstr>
      <vt:lpstr>Thread and Process</vt:lpstr>
      <vt:lpstr>Thread and process</vt:lpstr>
      <vt:lpstr>IPC(Inter Process Communication)</vt:lpstr>
      <vt:lpstr>IPC models</vt:lpstr>
      <vt:lpstr>Massage Passing</vt:lpstr>
      <vt:lpstr>Shared Memory</vt:lpstr>
      <vt:lpstr>Massage passing Vs Sharing Memory</vt:lpstr>
      <vt:lpstr>Process Synchronization</vt:lpstr>
      <vt:lpstr>Race Condition</vt:lpstr>
      <vt:lpstr>Race Condition?</vt:lpstr>
      <vt:lpstr>Solution to Race condition</vt:lpstr>
      <vt:lpstr>PowerPoint Presentation</vt:lpstr>
      <vt:lpstr>Critical-Section Problem</vt:lpstr>
      <vt:lpstr>Critical-Section Problem</vt:lpstr>
      <vt:lpstr>Critical-Section Problem</vt:lpstr>
      <vt:lpstr>Critical Section diagram (with mutual exclusion)</vt:lpstr>
      <vt:lpstr>Solution 1(Busy waiting) Interrupt Disabling</vt:lpstr>
      <vt:lpstr>Facts about Disabling Interrupts</vt:lpstr>
      <vt:lpstr>Solution 2(Busy waiting) Lock Variables</vt:lpstr>
      <vt:lpstr>Facts</vt:lpstr>
      <vt:lpstr>Strict Alternation</vt:lpstr>
      <vt:lpstr>PowerPoint Presentation</vt:lpstr>
      <vt:lpstr>Facts</vt:lpstr>
      <vt:lpstr>Peterson’s solution</vt:lpstr>
      <vt:lpstr>Facts about Petersons</vt:lpstr>
      <vt:lpstr>Hardware Assistance(TSL)</vt:lpstr>
      <vt:lpstr>TSL instruction</vt:lpstr>
      <vt:lpstr>Alternate to Busy waiting</vt:lpstr>
      <vt:lpstr>Sleep and week up Consumer Producer problem</vt:lpstr>
      <vt:lpstr>Conti.</vt:lpstr>
      <vt:lpstr>Cont……</vt:lpstr>
      <vt:lpstr>Producer Consumer with weak up and sleep signals</vt:lpstr>
      <vt:lpstr>Semaphores</vt:lpstr>
      <vt:lpstr>Semaphore Operations</vt:lpstr>
      <vt:lpstr>Semaphore: Discussions</vt:lpstr>
      <vt:lpstr>Consumer producer using Semaphore</vt:lpstr>
      <vt:lpstr>Consumer producer using Semaphore</vt:lpstr>
      <vt:lpstr>Semaphore’s attraction</vt:lpstr>
      <vt:lpstr>Message Passing</vt:lpstr>
      <vt:lpstr>Producer-Consumer with Message Passing</vt:lpstr>
      <vt:lpstr>Message passing</vt:lpstr>
      <vt:lpstr>Monitors</vt:lpstr>
      <vt:lpstr>Monitors: discussion</vt:lpstr>
      <vt:lpstr>The Syntax of Monitors</vt:lpstr>
      <vt:lpstr>Homework 3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Process Management</dc:title>
  <dc:creator>bishal</dc:creator>
  <cp:lastModifiedBy>Yujan Basnet</cp:lastModifiedBy>
  <cp:revision>16</cp:revision>
  <dcterms:created xsi:type="dcterms:W3CDTF">2024-03-08T16:14:06Z</dcterms:created>
  <dcterms:modified xsi:type="dcterms:W3CDTF">2025-06-19T22:34:58Z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reated">
    <vt:filetime>2018-04-18T00:00:00Z</vt:filetime>
  </property>
  <property fmtid="{D5CDD505-2E9C-101B-9397-08002B2CF9AE}" pid="3" name="Creator">
    <vt:lpwstr>Microsoft® Office PowerPoint® 2007</vt:lpwstr>
  </property>
  <property fmtid="{D5CDD505-2E9C-101B-9397-08002B2CF9AE}" pid="4" name="LastSaved">
    <vt:filetime>2024-03-08T00:00:00Z</vt:filetime>
  </property>
  <property fmtid="{D5CDD505-2E9C-101B-9397-08002B2CF9AE}" pid="5" name="Producer">
    <vt:lpwstr>Microsoft® Office PowerPoint® 2007</vt:lpwstr>
  </property>
</Properties>
</file>